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3" r:id="rId1"/>
  </p:sldMasterIdLst>
  <p:notesMasterIdLst>
    <p:notesMasterId r:id="rId37"/>
  </p:notesMasterIdLst>
  <p:sldIdLst>
    <p:sldId id="256" r:id="rId2"/>
    <p:sldId id="361" r:id="rId3"/>
    <p:sldId id="323" r:id="rId4"/>
    <p:sldId id="362" r:id="rId5"/>
    <p:sldId id="363" r:id="rId6"/>
    <p:sldId id="324" r:id="rId7"/>
    <p:sldId id="325" r:id="rId8"/>
    <p:sldId id="326" r:id="rId9"/>
    <p:sldId id="327" r:id="rId10"/>
    <p:sldId id="328" r:id="rId11"/>
    <p:sldId id="329" r:id="rId12"/>
    <p:sldId id="330" r:id="rId13"/>
    <p:sldId id="331" r:id="rId14"/>
    <p:sldId id="332" r:id="rId15"/>
    <p:sldId id="335" r:id="rId16"/>
    <p:sldId id="336" r:id="rId17"/>
    <p:sldId id="337" r:id="rId18"/>
    <p:sldId id="338" r:id="rId19"/>
    <p:sldId id="339" r:id="rId20"/>
    <p:sldId id="340" r:id="rId21"/>
    <p:sldId id="341" r:id="rId22"/>
    <p:sldId id="359" r:id="rId23"/>
    <p:sldId id="342" r:id="rId24"/>
    <p:sldId id="344" r:id="rId25"/>
    <p:sldId id="360" r:id="rId26"/>
    <p:sldId id="345" r:id="rId27"/>
    <p:sldId id="350" r:id="rId28"/>
    <p:sldId id="351" r:id="rId29"/>
    <p:sldId id="352" r:id="rId30"/>
    <p:sldId id="353" r:id="rId31"/>
    <p:sldId id="354" r:id="rId32"/>
    <p:sldId id="355" r:id="rId33"/>
    <p:sldId id="356" r:id="rId34"/>
    <p:sldId id="357" r:id="rId35"/>
    <p:sldId id="262" r:id="rId36"/>
  </p:sldIdLst>
  <p:sldSz cx="12192000" cy="6858000"/>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74" autoAdjust="0"/>
    <p:restoredTop sz="93002" autoAdjust="0"/>
  </p:normalViewPr>
  <p:slideViewPr>
    <p:cSldViewPr snapToGrid="0">
      <p:cViewPr varScale="1">
        <p:scale>
          <a:sx n="67" d="100"/>
          <a:sy n="67" d="100"/>
        </p:scale>
        <p:origin x="960"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7D3C8957-F087-4D71-ABEF-5B7D1500B924}" type="datetimeFigureOut">
              <a:rPr lang="en-IE" smtClean="0"/>
              <a:t>28/09/2021</a:t>
            </a:fld>
            <a:endParaRPr lang="en-IE"/>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1D213B00-8A62-4D90-AD6A-0226518EC3CC}" type="slidenum">
              <a:rPr lang="en-IE" smtClean="0"/>
              <a:t>‹#›</a:t>
            </a:fld>
            <a:endParaRPr lang="en-IE"/>
          </a:p>
        </p:txBody>
      </p:sp>
    </p:spTree>
    <p:extLst>
      <p:ext uri="{BB962C8B-B14F-4D97-AF65-F5344CB8AC3E}">
        <p14:creationId xmlns:p14="http://schemas.microsoft.com/office/powerpoint/2010/main" val="41552510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8" Type="http://schemas.openxmlformats.org/officeDocument/2006/relationships/hyperlink" Target="http://www.businessdictionary.com/definition/result.html" TargetMode="External"/><Relationship Id="rId3" Type="http://schemas.openxmlformats.org/officeDocument/2006/relationships/hyperlink" Target="http://www.businessdictionary.com/definition/interview.html" TargetMode="External"/><Relationship Id="rId7" Type="http://schemas.openxmlformats.org/officeDocument/2006/relationships/hyperlink" Target="http://www.businessdictionary.com/definition/applicant.html" TargetMode="External"/><Relationship Id="rId2" Type="http://schemas.openxmlformats.org/officeDocument/2006/relationships/slide" Target="../slides/slide25.xml"/><Relationship Id="rId1" Type="http://schemas.openxmlformats.org/officeDocument/2006/relationships/notesMaster" Target="../notesMasters/notesMaster1.xml"/><Relationship Id="rId6" Type="http://schemas.openxmlformats.org/officeDocument/2006/relationships/hyperlink" Target="http://www.businessdictionary.com/definition/error.html" TargetMode="External"/><Relationship Id="rId5" Type="http://schemas.openxmlformats.org/officeDocument/2006/relationships/hyperlink" Target="http://www.businessdictionary.com/definition/process.html" TargetMode="External"/><Relationship Id="rId4" Type="http://schemas.openxmlformats.org/officeDocument/2006/relationships/hyperlink" Target="http://www.businessdictionary.com/definition/performance-appraisal.html" TargetMode="Externa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https://www.youtube.com/watch?v=VkrrVozZR2c - NB</a:t>
            </a:r>
          </a:p>
          <a:p>
            <a:endParaRPr lang="en-IE" dirty="0"/>
          </a:p>
        </p:txBody>
      </p:sp>
      <p:sp>
        <p:nvSpPr>
          <p:cNvPr id="4" name="Slide Number Placeholder 3"/>
          <p:cNvSpPr>
            <a:spLocks noGrp="1"/>
          </p:cNvSpPr>
          <p:nvPr>
            <p:ph type="sldNum" sz="quarter" idx="10"/>
          </p:nvPr>
        </p:nvSpPr>
        <p:spPr/>
        <p:txBody>
          <a:bodyPr/>
          <a:lstStyle/>
          <a:p>
            <a:fld id="{1D213B00-8A62-4D90-AD6A-0226518EC3CC}" type="slidenum">
              <a:rPr lang="en-IE" smtClean="0"/>
              <a:t>1</a:t>
            </a:fld>
            <a:endParaRPr lang="en-IE"/>
          </a:p>
        </p:txBody>
      </p:sp>
    </p:spTree>
    <p:extLst>
      <p:ext uri="{BB962C8B-B14F-4D97-AF65-F5344CB8AC3E}">
        <p14:creationId xmlns:p14="http://schemas.microsoft.com/office/powerpoint/2010/main" val="1297809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Identify the main features of the process of perception. </a:t>
            </a:r>
            <a:endParaRPr lang="en-US" dirty="0"/>
          </a:p>
          <a:p>
            <a:r>
              <a:rPr lang="en-US" sz="1200" kern="1200" dirty="0">
                <a:solidFill>
                  <a:schemeClr val="tx1"/>
                </a:solidFill>
                <a:effectLst/>
                <a:latin typeface="+mn-lt"/>
                <a:ea typeface="+mn-ea"/>
                <a:cs typeface="+mn-cs"/>
              </a:rPr>
              <a:t>People behave according to how they perceive the world, not in response to ‘reality’. </a:t>
            </a:r>
          </a:p>
          <a:p>
            <a:r>
              <a:rPr lang="en-US" sz="1200" kern="1200" dirty="0">
                <a:solidFill>
                  <a:schemeClr val="tx1"/>
                </a:solidFill>
                <a:effectLst/>
                <a:latin typeface="+mn-lt"/>
                <a:ea typeface="+mn-ea"/>
                <a:cs typeface="+mn-cs"/>
              </a:rPr>
              <a:t>The perceptual process involves the interpretation of sensory input in the light of past </a:t>
            </a:r>
          </a:p>
          <a:p>
            <a:r>
              <a:rPr lang="en-US" sz="1200" kern="1200" dirty="0">
                <a:solidFill>
                  <a:schemeClr val="tx1"/>
                </a:solidFill>
                <a:effectLst/>
                <a:latin typeface="+mn-lt"/>
                <a:ea typeface="+mn-ea"/>
                <a:cs typeface="+mn-cs"/>
              </a:rPr>
              <a:t>experience, and our store of knowledge, beliefs, expectations and motives. </a:t>
            </a:r>
          </a:p>
          <a:p>
            <a:r>
              <a:rPr lang="en-US" sz="1200" kern="1200" dirty="0">
                <a:solidFill>
                  <a:schemeClr val="tx1"/>
                </a:solidFill>
                <a:effectLst/>
                <a:latin typeface="+mn-lt"/>
                <a:ea typeface="+mn-ea"/>
                <a:cs typeface="+mn-cs"/>
              </a:rPr>
              <a:t>2. Distinguish between the bottom-up processing of sensory information and the top-down interpretation of that information. </a:t>
            </a:r>
            <a:endParaRPr lang="en-US" dirty="0"/>
          </a:p>
          <a:p>
            <a:r>
              <a:rPr lang="en-US" sz="1200" kern="1200" dirty="0">
                <a:solidFill>
                  <a:schemeClr val="tx1"/>
                </a:solidFill>
                <a:effectLst/>
                <a:latin typeface="+mn-lt"/>
                <a:ea typeface="+mn-ea"/>
                <a:cs typeface="+mn-cs"/>
              </a:rPr>
              <a:t>Sensation, or bottom-up processing, determines the data to which we pay attention. </a:t>
            </a:r>
          </a:p>
          <a:p>
            <a:r>
              <a:rPr lang="en-US" sz="1200" kern="1200" dirty="0">
                <a:solidFill>
                  <a:schemeClr val="tx1"/>
                </a:solidFill>
                <a:effectLst/>
                <a:latin typeface="+mn-lt"/>
                <a:ea typeface="+mn-ea"/>
                <a:cs typeface="+mn-cs"/>
              </a:rPr>
              <a:t>Perception, or top-down processing, determines the way in which we organize and interpret </a:t>
            </a:r>
          </a:p>
          <a:p>
            <a:r>
              <a:rPr lang="en-US" sz="1200" kern="1200" dirty="0">
                <a:solidFill>
                  <a:schemeClr val="tx1"/>
                </a:solidFill>
                <a:effectLst/>
                <a:latin typeface="+mn-lt"/>
                <a:ea typeface="+mn-ea"/>
                <a:cs typeface="+mn-cs"/>
              </a:rPr>
              <a:t>perceived information in order to make </a:t>
            </a:r>
            <a:r>
              <a:rPr lang="en-US" sz="1200" kern="1200" dirty="0" err="1">
                <a:solidFill>
                  <a:schemeClr val="tx1"/>
                </a:solidFill>
                <a:effectLst/>
                <a:latin typeface="+mn-lt"/>
                <a:ea typeface="+mn-ea"/>
                <a:cs typeface="+mn-cs"/>
              </a:rPr>
              <a:t>behavioural</a:t>
            </a:r>
            <a:r>
              <a:rPr lang="en-US" sz="1200" kern="1200" dirty="0">
                <a:solidFill>
                  <a:schemeClr val="tx1"/>
                </a:solidFill>
                <a:effectLst/>
                <a:latin typeface="+mn-lt"/>
                <a:ea typeface="+mn-ea"/>
                <a:cs typeface="+mn-cs"/>
              </a:rPr>
              <a:t> choices. </a:t>
            </a:r>
          </a:p>
          <a:p>
            <a:r>
              <a:rPr lang="en-US" sz="1200" kern="1200" dirty="0">
                <a:solidFill>
                  <a:schemeClr val="tx1"/>
                </a:solidFill>
                <a:effectLst/>
                <a:latin typeface="+mn-lt"/>
                <a:ea typeface="+mn-ea"/>
                <a:cs typeface="+mn-cs"/>
              </a:rPr>
              <a:t>3. Understand the nature and implications of selective attention and perceptual organization. </a:t>
            </a:r>
            <a:endParaRPr lang="en-US" dirty="0"/>
          </a:p>
          <a:p>
            <a:r>
              <a:rPr lang="en-US" sz="1200" kern="1200" dirty="0">
                <a:solidFill>
                  <a:schemeClr val="tx1"/>
                </a:solidFill>
                <a:effectLst/>
                <a:latin typeface="+mn-lt"/>
                <a:ea typeface="+mn-ea"/>
                <a:cs typeface="+mn-cs"/>
              </a:rPr>
              <a:t>Selective attention is influenced by external factors relating to the stimulus and the context, and by internal factors such as learning, personality and motivation. </a:t>
            </a:r>
          </a:p>
          <a:p>
            <a:r>
              <a:rPr lang="en-US" sz="1200" kern="1200" dirty="0">
                <a:solidFill>
                  <a:schemeClr val="tx1"/>
                </a:solidFill>
                <a:effectLst/>
                <a:latin typeface="+mn-lt"/>
                <a:ea typeface="+mn-ea"/>
                <a:cs typeface="+mn-cs"/>
              </a:rPr>
              <a:t>The way in which we organize and interpret sensory data in meaningful ways, even when it is incomplete or ambiguous, is known as perceptual organization. </a:t>
            </a:r>
          </a:p>
          <a:p>
            <a:r>
              <a:rPr lang="en-US" sz="1200" kern="1200" dirty="0">
                <a:solidFill>
                  <a:schemeClr val="tx1"/>
                </a:solidFill>
                <a:effectLst/>
                <a:latin typeface="+mn-lt"/>
                <a:ea typeface="+mn-ea"/>
                <a:cs typeface="+mn-cs"/>
              </a:rPr>
              <a:t>4. Give examples of how </a:t>
            </a:r>
            <a:r>
              <a:rPr lang="en-US" sz="1200" kern="1200" dirty="0" err="1">
                <a:solidFill>
                  <a:schemeClr val="tx1"/>
                </a:solidFill>
                <a:effectLst/>
                <a:latin typeface="+mn-lt"/>
                <a:ea typeface="+mn-ea"/>
                <a:cs typeface="+mn-cs"/>
              </a:rPr>
              <a:t>behaviour</a:t>
            </a:r>
            <a:r>
              <a:rPr lang="en-US" sz="1200" kern="1200" dirty="0">
                <a:solidFill>
                  <a:schemeClr val="tx1"/>
                </a:solidFill>
                <a:effectLst/>
                <a:latin typeface="+mn-lt"/>
                <a:ea typeface="+mn-ea"/>
                <a:cs typeface="+mn-cs"/>
              </a:rPr>
              <a:t> is influenced by our perceptions. </a:t>
            </a:r>
            <a:endParaRPr lang="en-US" dirty="0"/>
          </a:p>
          <a:p>
            <a:r>
              <a:rPr lang="en-US" sz="1200" kern="1200" dirty="0">
                <a:solidFill>
                  <a:schemeClr val="tx1"/>
                </a:solidFill>
                <a:effectLst/>
                <a:latin typeface="+mn-lt"/>
                <a:ea typeface="+mn-ea"/>
                <a:cs typeface="+mn-cs"/>
              </a:rPr>
              <a:t>We each have our own perceptual world, an internal mental image of our environment. </a:t>
            </a:r>
          </a:p>
          <a:p>
            <a:r>
              <a:rPr lang="en-US" sz="1200" kern="1200" dirty="0">
                <a:solidFill>
                  <a:schemeClr val="tx1"/>
                </a:solidFill>
                <a:effectLst/>
                <a:latin typeface="+mn-lt"/>
                <a:ea typeface="+mn-ea"/>
                <a:cs typeface="+mn-cs"/>
              </a:rPr>
              <a:t>Supermarkets exploit an understanding of selective attention when designing store layout, </a:t>
            </a:r>
          </a:p>
          <a:p>
            <a:r>
              <a:rPr lang="en-US" sz="1200" kern="1200" dirty="0">
                <a:solidFill>
                  <a:schemeClr val="tx1"/>
                </a:solidFill>
                <a:effectLst/>
                <a:latin typeface="+mn-lt"/>
                <a:ea typeface="+mn-ea"/>
                <a:cs typeface="+mn-cs"/>
              </a:rPr>
              <a:t>when positioning goods, and in deciding which </a:t>
            </a:r>
            <a:r>
              <a:rPr lang="en-US" sz="1200" kern="1200" dirty="0" err="1">
                <a:solidFill>
                  <a:schemeClr val="tx1"/>
                </a:solidFill>
                <a:effectLst/>
                <a:latin typeface="+mn-lt"/>
                <a:ea typeface="+mn-ea"/>
                <a:cs typeface="+mn-cs"/>
              </a:rPr>
              <a:t>odours</a:t>
            </a:r>
            <a:r>
              <a:rPr lang="en-US" sz="1200" kern="1200" dirty="0">
                <a:solidFill>
                  <a:schemeClr val="tx1"/>
                </a:solidFill>
                <a:effectLst/>
                <a:latin typeface="+mn-lt"/>
                <a:ea typeface="+mn-ea"/>
                <a:cs typeface="+mn-cs"/>
              </a:rPr>
              <a:t> to use to entice customers. </a:t>
            </a:r>
          </a:p>
          <a:p>
            <a:r>
              <a:rPr lang="en-US" sz="1200" kern="1200" dirty="0">
                <a:solidFill>
                  <a:schemeClr val="tx1"/>
                </a:solidFill>
                <a:effectLst/>
                <a:latin typeface="+mn-lt"/>
                <a:ea typeface="+mn-ea"/>
                <a:cs typeface="+mn-cs"/>
              </a:rPr>
              <a:t>Different cultures lead to differences in perception and consequently in </a:t>
            </a:r>
            <a:r>
              <a:rPr lang="en-US" sz="1200" kern="1200" dirty="0" err="1">
                <a:solidFill>
                  <a:schemeClr val="tx1"/>
                </a:solidFill>
                <a:effectLst/>
                <a:latin typeface="+mn-lt"/>
                <a:ea typeface="+mn-ea"/>
                <a:cs typeface="+mn-cs"/>
              </a:rPr>
              <a:t>behaviour</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5. Explain and illustrate the main processes and problems in person perception, including false attributions, halo effects and stereotyping. </a:t>
            </a:r>
            <a:endParaRPr lang="en-US" dirty="0"/>
          </a:p>
          <a:p>
            <a:r>
              <a:rPr lang="en-US" sz="1200" kern="1200" dirty="0">
                <a:solidFill>
                  <a:schemeClr val="tx1"/>
                </a:solidFill>
                <a:effectLst/>
                <a:latin typeface="+mn-lt"/>
                <a:ea typeface="+mn-ea"/>
                <a:cs typeface="+mn-cs"/>
              </a:rPr>
              <a:t>An attribution is a belief about cause and effect. When speaking about ourselves, we tend to attribute success to personal factors and failure to external factors. When speaking about others, we tend to attribute success and failure to personality features. </a:t>
            </a:r>
          </a:p>
          <a:p>
            <a:r>
              <a:rPr lang="en-US" sz="1200" kern="1200" dirty="0">
                <a:solidFill>
                  <a:schemeClr val="tx1"/>
                </a:solidFill>
                <a:effectLst/>
                <a:latin typeface="+mn-lt"/>
                <a:ea typeface="+mn-ea"/>
                <a:cs typeface="+mn-cs"/>
              </a:rPr>
              <a:t>Making an overall </a:t>
            </a:r>
            <a:r>
              <a:rPr lang="en-US" sz="1200" kern="1200" dirty="0" err="1">
                <a:solidFill>
                  <a:schemeClr val="tx1"/>
                </a:solidFill>
                <a:effectLst/>
                <a:latin typeface="+mn-lt"/>
                <a:ea typeface="+mn-ea"/>
                <a:cs typeface="+mn-cs"/>
              </a:rPr>
              <a:t>favourable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judgement</a:t>
            </a:r>
            <a:r>
              <a:rPr lang="en-US" sz="1200" kern="1200" dirty="0">
                <a:solidFill>
                  <a:schemeClr val="tx1"/>
                </a:solidFill>
                <a:effectLst/>
                <a:latin typeface="+mn-lt"/>
                <a:ea typeface="+mn-ea"/>
                <a:cs typeface="+mn-cs"/>
              </a:rPr>
              <a:t> of someone on the basis of a single positive characteristic is known as the halo effect, which can be positive or negative. </a:t>
            </a:r>
          </a:p>
          <a:p>
            <a:r>
              <a:rPr lang="en-US" sz="1200" kern="1200" dirty="0">
                <a:solidFill>
                  <a:schemeClr val="tx1"/>
                </a:solidFill>
                <a:effectLst/>
                <a:latin typeface="+mn-lt"/>
                <a:ea typeface="+mn-ea"/>
                <a:cs typeface="+mn-cs"/>
              </a:rPr>
              <a:t>Assuming that someone possesses a set of personality traits because they belong to a particular social group is known as stereotyping. </a:t>
            </a:r>
          </a:p>
          <a:p>
            <a:r>
              <a:rPr lang="en-US" sz="1200" kern="1200" dirty="0">
                <a:solidFill>
                  <a:schemeClr val="tx1"/>
                </a:solidFill>
                <a:effectLst/>
                <a:latin typeface="+mn-lt"/>
                <a:ea typeface="+mn-ea"/>
                <a:cs typeface="+mn-cs"/>
              </a:rPr>
              <a:t>Errors in person perception can be overcome by taking more time, collecting more information, avoiding personal prejudices and through increased self-awareness. </a:t>
            </a:r>
          </a:p>
          <a:p>
            <a:r>
              <a:rPr lang="en-US" sz="1200" kern="1200" dirty="0">
                <a:solidFill>
                  <a:schemeClr val="tx1"/>
                </a:solidFill>
                <a:effectLst/>
                <a:latin typeface="+mn-lt"/>
                <a:ea typeface="+mn-ea"/>
                <a:cs typeface="+mn-cs"/>
              </a:rPr>
              <a:t>100</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Andrzej</a:t>
            </a:r>
            <a:r>
              <a:rPr lang="en-US" sz="1200" kern="1200" dirty="0">
                <a:solidFill>
                  <a:schemeClr val="tx1"/>
                </a:solidFill>
                <a:effectLst/>
                <a:latin typeface="+mn-lt"/>
                <a:ea typeface="+mn-ea"/>
                <a:cs typeface="+mn-cs"/>
              </a:rPr>
              <a:t> A. </a:t>
            </a:r>
            <a:r>
              <a:rPr lang="en-US" sz="1200" kern="1200" dirty="0" err="1">
                <a:solidFill>
                  <a:schemeClr val="tx1"/>
                </a:solidFill>
                <a:effectLst/>
                <a:latin typeface="+mn-lt"/>
                <a:ea typeface="+mn-ea"/>
                <a:cs typeface="+mn-cs"/>
              </a:rPr>
              <a:t>Huczynski</a:t>
            </a:r>
            <a:r>
              <a:rPr lang="en-US" sz="1200" kern="1200" dirty="0">
                <a:solidFill>
                  <a:schemeClr val="tx1"/>
                </a:solidFill>
                <a:effectLst/>
                <a:latin typeface="+mn-lt"/>
                <a:ea typeface="+mn-ea"/>
                <a:cs typeface="+mn-cs"/>
              </a:rPr>
              <a:t> and David A. Buchanan 2007 </a:t>
            </a:r>
          </a:p>
          <a:p>
            <a:r>
              <a:rPr lang="en-US" sz="1200" kern="1200" dirty="0" err="1">
                <a:solidFill>
                  <a:schemeClr val="tx1"/>
                </a:solidFill>
                <a:effectLst/>
                <a:latin typeface="+mn-lt"/>
                <a:ea typeface="+mn-ea"/>
                <a:cs typeface="+mn-cs"/>
              </a:rPr>
              <a:t>Andrzej</a:t>
            </a:r>
            <a:r>
              <a:rPr lang="en-US" sz="1200" kern="1200" dirty="0">
                <a:solidFill>
                  <a:schemeClr val="tx1"/>
                </a:solidFill>
                <a:effectLst/>
                <a:latin typeface="+mn-lt"/>
                <a:ea typeface="+mn-ea"/>
                <a:cs typeface="+mn-cs"/>
              </a:rPr>
              <a:t> A. </a:t>
            </a:r>
            <a:r>
              <a:rPr lang="en-US" sz="1200" kern="1200" dirty="0" err="1">
                <a:solidFill>
                  <a:schemeClr val="tx1"/>
                </a:solidFill>
                <a:effectLst/>
                <a:latin typeface="+mn-lt"/>
                <a:ea typeface="+mn-ea"/>
                <a:cs typeface="+mn-cs"/>
              </a:rPr>
              <a:t>Huczynski</a:t>
            </a:r>
            <a:r>
              <a:rPr lang="en-US" sz="1200" kern="1200" dirty="0">
                <a:solidFill>
                  <a:schemeClr val="tx1"/>
                </a:solidFill>
                <a:effectLst/>
                <a:latin typeface="+mn-lt"/>
                <a:ea typeface="+mn-ea"/>
                <a:cs typeface="+mn-cs"/>
              </a:rPr>
              <a:t> and David A. Buchanan, Organizational </a:t>
            </a:r>
            <a:r>
              <a:rPr lang="en-US" sz="1200" kern="1200" dirty="0" err="1">
                <a:solidFill>
                  <a:schemeClr val="tx1"/>
                </a:solidFill>
                <a:effectLst/>
                <a:latin typeface="+mn-lt"/>
                <a:ea typeface="+mn-ea"/>
                <a:cs typeface="+mn-cs"/>
              </a:rPr>
              <a:t>Behaviour</a:t>
            </a:r>
            <a:r>
              <a:rPr lang="en-US" sz="1200" kern="1200" dirty="0">
                <a:solidFill>
                  <a:schemeClr val="tx1"/>
                </a:solidFill>
                <a:effectLst/>
                <a:latin typeface="+mn-lt"/>
                <a:ea typeface="+mn-ea"/>
                <a:cs typeface="+mn-cs"/>
              </a:rPr>
              <a:t>, sixth edition, Instructor’s Manual 6. Explain some of the less widely appreciated sources of discrimination at work, against men </a:t>
            </a:r>
            <a:endParaRPr lang="en-US" dirty="0"/>
          </a:p>
          <a:p>
            <a:r>
              <a:rPr lang="en-US" sz="1200" kern="1200" dirty="0">
                <a:solidFill>
                  <a:schemeClr val="tx1"/>
                </a:solidFill>
                <a:effectLst/>
                <a:latin typeface="+mn-lt"/>
                <a:ea typeface="+mn-ea"/>
                <a:cs typeface="+mn-cs"/>
              </a:rPr>
              <a:t>and women, arising from characteristics of the person perception and attribution processes. </a:t>
            </a:r>
            <a:endParaRPr lang="en-US" dirty="0"/>
          </a:p>
          <a:p>
            <a:r>
              <a:rPr lang="en-US" sz="1200" kern="1200" dirty="0">
                <a:solidFill>
                  <a:schemeClr val="tx1"/>
                </a:solidFill>
                <a:effectLst/>
                <a:latin typeface="+mn-lt"/>
                <a:ea typeface="+mn-ea"/>
                <a:cs typeface="+mn-cs"/>
              </a:rPr>
              <a:t>Aspects of </a:t>
            </a:r>
            <a:r>
              <a:rPr lang="en-US" sz="1200" kern="1200" dirty="0" err="1">
                <a:solidFill>
                  <a:schemeClr val="tx1"/>
                </a:solidFill>
                <a:effectLst/>
                <a:latin typeface="+mn-lt"/>
                <a:ea typeface="+mn-ea"/>
                <a:cs typeface="+mn-cs"/>
              </a:rPr>
              <a:t>behaviour</a:t>
            </a:r>
            <a:r>
              <a:rPr lang="en-US" sz="1200" kern="1200" dirty="0">
                <a:solidFill>
                  <a:schemeClr val="tx1"/>
                </a:solidFill>
                <a:effectLst/>
                <a:latin typeface="+mn-lt"/>
                <a:ea typeface="+mn-ea"/>
                <a:cs typeface="+mn-cs"/>
              </a:rPr>
              <a:t> are attributed to appearance, leading to discrimination. You are likely to be paid less at work if you are an overweight or underweight female, a short man, a man with an overweight wife or are perceived to be unattractive. </a:t>
            </a:r>
          </a:p>
          <a:p>
            <a:r>
              <a:rPr lang="en-US" sz="1200" kern="1200" dirty="0">
                <a:solidFill>
                  <a:schemeClr val="tx1"/>
                </a:solidFill>
                <a:effectLst/>
                <a:latin typeface="+mn-lt"/>
                <a:ea typeface="+mn-ea"/>
                <a:cs typeface="+mn-cs"/>
              </a:rPr>
              <a:t>The fundamental attribution error leads us to emphasize personality and ignore context. </a:t>
            </a:r>
          </a:p>
          <a:p>
            <a:endParaRPr lang="en-IE" dirty="0"/>
          </a:p>
        </p:txBody>
      </p:sp>
      <p:sp>
        <p:nvSpPr>
          <p:cNvPr id="4" name="Slide Number Placeholder 3"/>
          <p:cNvSpPr>
            <a:spLocks noGrp="1"/>
          </p:cNvSpPr>
          <p:nvPr>
            <p:ph type="sldNum" sz="quarter" idx="10"/>
          </p:nvPr>
        </p:nvSpPr>
        <p:spPr/>
        <p:txBody>
          <a:bodyPr/>
          <a:lstStyle/>
          <a:p>
            <a:fld id="{D911ADFF-FEF5-4FA7-A700-56B08D034631}" type="slidenum">
              <a:rPr lang="en-IE" smtClean="0"/>
              <a:t>3</a:t>
            </a:fld>
            <a:endParaRPr lang="en-IE"/>
          </a:p>
        </p:txBody>
      </p:sp>
    </p:spTree>
    <p:extLst>
      <p:ext uri="{BB962C8B-B14F-4D97-AF65-F5344CB8AC3E}">
        <p14:creationId xmlns:p14="http://schemas.microsoft.com/office/powerpoint/2010/main" val="1475196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0" i="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1D213B00-8A62-4D90-AD6A-0226518EC3CC}" type="slidenum">
              <a:rPr lang="en-IE" smtClean="0"/>
              <a:t>4</a:t>
            </a:fld>
            <a:endParaRPr lang="en-IE"/>
          </a:p>
        </p:txBody>
      </p:sp>
    </p:spTree>
    <p:extLst>
      <p:ext uri="{BB962C8B-B14F-4D97-AF65-F5344CB8AC3E}">
        <p14:creationId xmlns:p14="http://schemas.microsoft.com/office/powerpoint/2010/main" val="10323545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Figure-ground confusion. </a:t>
            </a:r>
          </a:p>
          <a:p>
            <a:endParaRPr lang="en-GB" dirty="0"/>
          </a:p>
        </p:txBody>
      </p:sp>
      <p:sp>
        <p:nvSpPr>
          <p:cNvPr id="4" name="Slide Number Placeholder 3"/>
          <p:cNvSpPr>
            <a:spLocks noGrp="1"/>
          </p:cNvSpPr>
          <p:nvPr>
            <p:ph type="sldNum" sz="quarter" idx="5"/>
          </p:nvPr>
        </p:nvSpPr>
        <p:spPr/>
        <p:txBody>
          <a:bodyPr/>
          <a:lstStyle/>
          <a:p>
            <a:fld id="{1D213B00-8A62-4D90-AD6A-0226518EC3CC}" type="slidenum">
              <a:rPr lang="en-IE" smtClean="0"/>
              <a:t>5</a:t>
            </a:fld>
            <a:endParaRPr lang="en-IE"/>
          </a:p>
        </p:txBody>
      </p:sp>
    </p:spTree>
    <p:extLst>
      <p:ext uri="{BB962C8B-B14F-4D97-AF65-F5344CB8AC3E}">
        <p14:creationId xmlns:p14="http://schemas.microsoft.com/office/powerpoint/2010/main" val="29178078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68611" name="Rectangle 3"/>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GB" altLang="en-US"/>
          </a:p>
        </p:txBody>
      </p:sp>
    </p:spTree>
    <p:extLst>
      <p:ext uri="{BB962C8B-B14F-4D97-AF65-F5344CB8AC3E}">
        <p14:creationId xmlns:p14="http://schemas.microsoft.com/office/powerpoint/2010/main" val="36378418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70659" name="Rectangle 3"/>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Figure-ground perception refers to </a:t>
            </a:r>
            <a:r>
              <a:rPr lang="en-GB" sz="1200" b="1" i="0" kern="1200" dirty="0">
                <a:solidFill>
                  <a:schemeClr val="tx1"/>
                </a:solidFill>
                <a:effectLst/>
                <a:latin typeface="+mn-lt"/>
                <a:ea typeface="+mn-ea"/>
                <a:cs typeface="+mn-cs"/>
              </a:rPr>
              <a:t>the tendency of the visual system to simplify a scene into the main object</a:t>
            </a:r>
            <a:r>
              <a:rPr lang="en-GB" sz="1200" b="0" i="0" kern="1200" dirty="0">
                <a:solidFill>
                  <a:schemeClr val="tx1"/>
                </a:solidFill>
                <a:effectLst/>
                <a:latin typeface="+mn-lt"/>
                <a:ea typeface="+mn-ea"/>
                <a:cs typeface="+mn-cs"/>
              </a:rPr>
              <a:t> that we are looking at (the figure) and everything else that forms the background (or ground).</a:t>
            </a:r>
            <a:endParaRPr lang="en-GB" alt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GB"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t>– do you see chalice or two faces?</a:t>
            </a:r>
          </a:p>
          <a:p>
            <a:pPr marL="0" marR="0" indent="0" algn="l" defTabSz="914400" rtl="0" eaLnBrk="1" fontAlgn="auto" latinLnBrk="0" hangingPunct="1">
              <a:lnSpc>
                <a:spcPct val="100000"/>
              </a:lnSpc>
              <a:spcBef>
                <a:spcPts val="0"/>
              </a:spcBef>
              <a:spcAft>
                <a:spcPts val="0"/>
              </a:spcAft>
              <a:buClrTx/>
              <a:buSzTx/>
              <a:buFontTx/>
              <a:buNone/>
              <a:tabLst/>
              <a:defRPr/>
            </a:pPr>
            <a:endParaRPr lang="en-GB" alt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GB" alt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GB" altLang="en-US" dirty="0"/>
              <a:t>WHICH</a:t>
            </a:r>
            <a:r>
              <a:rPr lang="en-GB" altLang="en-US" baseline="0" dirty="0"/>
              <a:t> DO YOU SEE?</a:t>
            </a:r>
          </a:p>
          <a:p>
            <a:pPr marL="0" marR="0" indent="0" algn="l" defTabSz="914400" rtl="0" eaLnBrk="1" fontAlgn="auto" latinLnBrk="0" hangingPunct="1">
              <a:lnSpc>
                <a:spcPct val="100000"/>
              </a:lnSpc>
              <a:spcBef>
                <a:spcPts val="0"/>
              </a:spcBef>
              <a:spcAft>
                <a:spcPts val="0"/>
              </a:spcAft>
              <a:buClrTx/>
              <a:buSzTx/>
              <a:buFontTx/>
              <a:buNone/>
              <a:tabLst/>
              <a:defRPr/>
            </a:pPr>
            <a:r>
              <a:rPr lang="en-GB" altLang="en-US" baseline="0" dirty="0"/>
              <a:t>T</a:t>
            </a:r>
            <a:r>
              <a:rPr lang="en-GB" altLang="en-US" dirty="0"/>
              <a:t>his perceptual decision can be based on many cues, all of which are of a probabilistic nature. </a:t>
            </a:r>
          </a:p>
          <a:p>
            <a:pPr marL="0" marR="0" indent="0" algn="l" defTabSz="914400" rtl="0" eaLnBrk="1" fontAlgn="auto" latinLnBrk="0" hangingPunct="1">
              <a:lnSpc>
                <a:spcPct val="100000"/>
              </a:lnSpc>
              <a:spcBef>
                <a:spcPts val="0"/>
              </a:spcBef>
              <a:spcAft>
                <a:spcPts val="0"/>
              </a:spcAft>
              <a:buClrTx/>
              <a:buSzTx/>
              <a:buFontTx/>
              <a:buNone/>
              <a:tabLst/>
              <a:defRPr/>
            </a:pPr>
            <a:endParaRPr lang="en-GB" alt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GB" altLang="en-US" dirty="0"/>
              <a:t>For instance, size helps us distinguish between the figure and the ground, since smaller regions are often (but not always) figures. </a:t>
            </a:r>
          </a:p>
          <a:p>
            <a:pPr marL="0" marR="0" indent="0" algn="l" defTabSz="914400" rtl="0" eaLnBrk="1" fontAlgn="auto" latinLnBrk="0" hangingPunct="1">
              <a:lnSpc>
                <a:spcPct val="100000"/>
              </a:lnSpc>
              <a:spcBef>
                <a:spcPts val="0"/>
              </a:spcBef>
              <a:spcAft>
                <a:spcPts val="0"/>
              </a:spcAft>
              <a:buClrTx/>
              <a:buSzTx/>
              <a:buFontTx/>
              <a:buNone/>
              <a:tabLst/>
              <a:defRPr/>
            </a:pPr>
            <a:endParaRPr lang="en-GB" alt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GB" altLang="en-US" dirty="0"/>
              <a:t>Object shape can help us distinguish figure from ground, because figures tend to be convex. </a:t>
            </a:r>
          </a:p>
          <a:p>
            <a:pPr marL="0" marR="0" indent="0" algn="l" defTabSz="914400" rtl="0" eaLnBrk="1" fontAlgn="auto" latinLnBrk="0" hangingPunct="1">
              <a:lnSpc>
                <a:spcPct val="100000"/>
              </a:lnSpc>
              <a:spcBef>
                <a:spcPts val="0"/>
              </a:spcBef>
              <a:spcAft>
                <a:spcPts val="0"/>
              </a:spcAft>
              <a:buClrTx/>
              <a:buSzTx/>
              <a:buFontTx/>
              <a:buNone/>
              <a:tabLst/>
              <a:defRPr/>
            </a:pPr>
            <a:endParaRPr lang="en-GB" alt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GB" altLang="en-US" dirty="0"/>
              <a:t>Movement also helps; the figure may be moving against a static environment. </a:t>
            </a:r>
          </a:p>
          <a:p>
            <a:pPr marL="0" marR="0" indent="0" algn="l" defTabSz="914400" rtl="0" eaLnBrk="1" fontAlgn="auto" latinLnBrk="0" hangingPunct="1">
              <a:lnSpc>
                <a:spcPct val="100000"/>
              </a:lnSpc>
              <a:spcBef>
                <a:spcPts val="0"/>
              </a:spcBef>
              <a:spcAft>
                <a:spcPts val="0"/>
              </a:spcAft>
              <a:buClrTx/>
              <a:buSzTx/>
              <a:buFontTx/>
              <a:buNone/>
              <a:tabLst/>
              <a:defRPr/>
            </a:pPr>
            <a:endParaRPr lang="en-GB" alt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GB" altLang="en-US" dirty="0" err="1"/>
              <a:t>Color</a:t>
            </a:r>
            <a:r>
              <a:rPr lang="en-GB" altLang="en-US" dirty="0"/>
              <a:t> is also a cue, because the background tends to continue as one </a:t>
            </a:r>
            <a:r>
              <a:rPr lang="en-GB" altLang="en-US" dirty="0" err="1"/>
              <a:t>color</a:t>
            </a:r>
            <a:r>
              <a:rPr lang="en-GB" altLang="en-US" dirty="0"/>
              <a:t> behind potentially multiple foreground figures, whose </a:t>
            </a:r>
            <a:r>
              <a:rPr lang="en-GB" altLang="en-US" dirty="0" err="1"/>
              <a:t>colors</a:t>
            </a:r>
            <a:r>
              <a:rPr lang="en-GB" altLang="en-US" dirty="0"/>
              <a:t> may vary. </a:t>
            </a:r>
          </a:p>
          <a:p>
            <a:pPr marL="0" marR="0" indent="0" algn="l" defTabSz="914400" rtl="0" eaLnBrk="1" fontAlgn="auto" latinLnBrk="0" hangingPunct="1">
              <a:lnSpc>
                <a:spcPct val="100000"/>
              </a:lnSpc>
              <a:spcBef>
                <a:spcPts val="0"/>
              </a:spcBef>
              <a:spcAft>
                <a:spcPts val="0"/>
              </a:spcAft>
              <a:buClrTx/>
              <a:buSzTx/>
              <a:buFontTx/>
              <a:buNone/>
              <a:tabLst/>
              <a:defRPr/>
            </a:pPr>
            <a:endParaRPr lang="en-GB" alt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GB" altLang="en-US" dirty="0"/>
              <a:t>Edge assignment also helps; if the edge belongs to the figure, it defines the shape while the background exists behind the shape. </a:t>
            </a:r>
          </a:p>
          <a:p>
            <a:pPr marL="0" marR="0" indent="0" algn="l" defTabSz="914400" rtl="0" eaLnBrk="1" fontAlgn="auto" latinLnBrk="0" hangingPunct="1">
              <a:lnSpc>
                <a:spcPct val="100000"/>
              </a:lnSpc>
              <a:spcBef>
                <a:spcPts val="0"/>
              </a:spcBef>
              <a:spcAft>
                <a:spcPts val="0"/>
              </a:spcAft>
              <a:buClrTx/>
              <a:buSzTx/>
              <a:buFontTx/>
              <a:buNone/>
              <a:tabLst/>
              <a:defRPr/>
            </a:pPr>
            <a:endParaRPr lang="en-GB" alt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GB" altLang="en-US" dirty="0"/>
              <a:t>But it's at times difficult to distinguish between the two because the edge that would separate figure from ground is really part of neither, it equally defines both the figure and the background.[6]</a:t>
            </a:r>
          </a:p>
          <a:p>
            <a:pPr marL="0" marR="0" indent="0" algn="l" defTabSz="914400" rtl="0" eaLnBrk="1" fontAlgn="auto" latinLnBrk="0" hangingPunct="1">
              <a:lnSpc>
                <a:spcPct val="100000"/>
              </a:lnSpc>
              <a:spcBef>
                <a:spcPts val="0"/>
              </a:spcBef>
              <a:spcAft>
                <a:spcPts val="0"/>
              </a:spcAft>
              <a:buClrTx/>
              <a:buSzTx/>
              <a:buFontTx/>
              <a:buNone/>
              <a:tabLst/>
              <a:defRPr/>
            </a:pPr>
            <a:endParaRPr lang="en-GB" alt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GB" altLang="en-US" dirty="0"/>
              <a:t>the best that the brain can do is to take all relevant cues into account in order to generate a probabilistic best-guess.</a:t>
            </a:r>
          </a:p>
        </p:txBody>
      </p:sp>
    </p:spTree>
    <p:extLst>
      <p:ext uri="{BB962C8B-B14F-4D97-AF65-F5344CB8AC3E}">
        <p14:creationId xmlns:p14="http://schemas.microsoft.com/office/powerpoint/2010/main" val="2670194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72707" name="Rectangle 3"/>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GB" altLang="en-US" dirty="0"/>
          </a:p>
        </p:txBody>
      </p:sp>
    </p:spTree>
    <p:extLst>
      <p:ext uri="{BB962C8B-B14F-4D97-AF65-F5344CB8AC3E}">
        <p14:creationId xmlns:p14="http://schemas.microsoft.com/office/powerpoint/2010/main" val="19208104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74755" name="Rectangle 3"/>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GB" altLang="en-US" dirty="0"/>
          </a:p>
        </p:txBody>
      </p:sp>
    </p:spTree>
    <p:extLst>
      <p:ext uri="{BB962C8B-B14F-4D97-AF65-F5344CB8AC3E}">
        <p14:creationId xmlns:p14="http://schemas.microsoft.com/office/powerpoint/2010/main" val="10067179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10"/>
          </p:nvPr>
        </p:nvSpPr>
        <p:spPr/>
        <p:txBody>
          <a:bodyPr/>
          <a:lstStyle/>
          <a:p>
            <a:fld id="{D911ADFF-FEF5-4FA7-A700-56B08D034631}" type="slidenum">
              <a:rPr lang="en-IE" smtClean="0"/>
              <a:t>10</a:t>
            </a:fld>
            <a:endParaRPr lang="en-IE"/>
          </a:p>
        </p:txBody>
      </p:sp>
    </p:spTree>
    <p:extLst>
      <p:ext uri="{BB962C8B-B14F-4D97-AF65-F5344CB8AC3E}">
        <p14:creationId xmlns:p14="http://schemas.microsoft.com/office/powerpoint/2010/main" val="22808982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77827" name="Rectangle 3"/>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GB" altLang="en-US" dirty="0"/>
          </a:p>
        </p:txBody>
      </p:sp>
      <p:pic>
        <p:nvPicPr>
          <p:cNvPr id="77828"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5427" y="3061204"/>
            <a:ext cx="1505874" cy="12720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7639501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Folienbildplatzhalt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79875" name="Notizenplatzhalt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de-DE" altLang="en-US" dirty="0" err="1"/>
              <a:t>We</a:t>
            </a:r>
            <a:r>
              <a:rPr lang="de-DE" altLang="en-US" dirty="0"/>
              <a:t> </a:t>
            </a:r>
            <a:r>
              <a:rPr lang="de-DE" altLang="en-US" dirty="0" err="1"/>
              <a:t>process</a:t>
            </a:r>
            <a:r>
              <a:rPr lang="de-DE" altLang="en-US" dirty="0"/>
              <a:t> </a:t>
            </a:r>
            <a:r>
              <a:rPr lang="de-DE" altLang="en-US" dirty="0" err="1"/>
              <a:t>and</a:t>
            </a:r>
            <a:r>
              <a:rPr lang="de-DE" altLang="en-US" dirty="0"/>
              <a:t> </a:t>
            </a:r>
            <a:r>
              <a:rPr lang="de-DE" altLang="en-US" dirty="0" err="1"/>
              <a:t>interpret</a:t>
            </a:r>
            <a:r>
              <a:rPr lang="de-DE" altLang="en-US" dirty="0"/>
              <a:t> </a:t>
            </a:r>
            <a:r>
              <a:rPr lang="de-DE" altLang="en-US" dirty="0" err="1"/>
              <a:t>the</a:t>
            </a:r>
            <a:r>
              <a:rPr lang="de-DE" altLang="en-US" dirty="0"/>
              <a:t> </a:t>
            </a:r>
            <a:r>
              <a:rPr lang="de-DE" altLang="en-US" dirty="0" err="1"/>
              <a:t>incoming</a:t>
            </a:r>
            <a:r>
              <a:rPr lang="de-DE" altLang="en-US" dirty="0"/>
              <a:t> </a:t>
            </a:r>
            <a:r>
              <a:rPr lang="de-DE" altLang="en-US" dirty="0" err="1"/>
              <a:t>raw</a:t>
            </a:r>
            <a:r>
              <a:rPr lang="de-DE" altLang="en-US" dirty="0"/>
              <a:t> </a:t>
            </a:r>
            <a:r>
              <a:rPr lang="de-DE" altLang="en-US" dirty="0" err="1"/>
              <a:t>data</a:t>
            </a:r>
            <a:r>
              <a:rPr lang="de-DE" altLang="en-US" dirty="0"/>
              <a:t> in </a:t>
            </a:r>
            <a:r>
              <a:rPr lang="de-DE" altLang="en-US" dirty="0" err="1"/>
              <a:t>the</a:t>
            </a:r>
            <a:r>
              <a:rPr lang="de-DE" altLang="en-US" dirty="0"/>
              <a:t> light </a:t>
            </a:r>
            <a:r>
              <a:rPr lang="de-DE" altLang="en-US" dirty="0" err="1"/>
              <a:t>of</a:t>
            </a:r>
            <a:r>
              <a:rPr lang="de-DE" altLang="en-US" dirty="0"/>
              <a:t> </a:t>
            </a:r>
            <a:r>
              <a:rPr lang="de-DE" altLang="en-US" dirty="0" err="1"/>
              <a:t>our</a:t>
            </a:r>
            <a:r>
              <a:rPr lang="de-DE" altLang="en-US" dirty="0"/>
              <a:t> </a:t>
            </a:r>
            <a:r>
              <a:rPr lang="de-DE" altLang="en-US" dirty="0" err="1"/>
              <a:t>past</a:t>
            </a:r>
            <a:r>
              <a:rPr lang="de-DE" altLang="en-US" dirty="0"/>
              <a:t> </a:t>
            </a:r>
            <a:r>
              <a:rPr lang="de-DE" altLang="en-US" dirty="0" err="1"/>
              <a:t>experiences</a:t>
            </a:r>
            <a:r>
              <a:rPr lang="de-DE" altLang="en-US" dirty="0"/>
              <a:t>, in </a:t>
            </a:r>
            <a:r>
              <a:rPr lang="de-DE" altLang="en-US" dirty="0" err="1"/>
              <a:t>terms</a:t>
            </a:r>
            <a:r>
              <a:rPr lang="de-DE" altLang="en-US" dirty="0"/>
              <a:t> </a:t>
            </a:r>
            <a:r>
              <a:rPr lang="de-DE" altLang="en-US" dirty="0" err="1"/>
              <a:t>of</a:t>
            </a:r>
            <a:r>
              <a:rPr lang="de-DE" altLang="en-US" dirty="0"/>
              <a:t> </a:t>
            </a:r>
            <a:r>
              <a:rPr lang="de-DE" altLang="en-US" dirty="0" err="1"/>
              <a:t>our</a:t>
            </a:r>
            <a:r>
              <a:rPr lang="de-DE" altLang="en-US" dirty="0"/>
              <a:t> </a:t>
            </a:r>
            <a:r>
              <a:rPr lang="de-DE" altLang="en-US" dirty="0" err="1"/>
              <a:t>current</a:t>
            </a:r>
            <a:r>
              <a:rPr lang="de-DE" altLang="en-US" dirty="0"/>
              <a:t> </a:t>
            </a:r>
            <a:r>
              <a:rPr lang="de-DE" altLang="en-US" dirty="0" err="1"/>
              <a:t>needs</a:t>
            </a:r>
            <a:r>
              <a:rPr lang="de-DE" altLang="en-US" dirty="0"/>
              <a:t> </a:t>
            </a:r>
            <a:r>
              <a:rPr lang="de-DE" altLang="en-US" dirty="0" err="1"/>
              <a:t>and</a:t>
            </a:r>
            <a:r>
              <a:rPr lang="de-DE" altLang="en-US" dirty="0"/>
              <a:t> </a:t>
            </a:r>
            <a:r>
              <a:rPr lang="de-DE" altLang="en-US" dirty="0" err="1"/>
              <a:t>interests</a:t>
            </a:r>
            <a:r>
              <a:rPr lang="de-DE" altLang="en-US" dirty="0"/>
              <a:t>, </a:t>
            </a:r>
            <a:r>
              <a:rPr lang="de-DE" altLang="en-US" dirty="0" err="1"/>
              <a:t>and</a:t>
            </a:r>
            <a:r>
              <a:rPr lang="de-DE" altLang="en-US" dirty="0"/>
              <a:t> in </a:t>
            </a:r>
            <a:r>
              <a:rPr lang="de-DE" altLang="en-US" dirty="0" err="1"/>
              <a:t>terms</a:t>
            </a:r>
            <a:r>
              <a:rPr lang="de-DE" altLang="en-US" dirty="0"/>
              <a:t> </a:t>
            </a:r>
            <a:r>
              <a:rPr lang="de-DE" altLang="en-US" dirty="0" err="1"/>
              <a:t>of</a:t>
            </a:r>
            <a:r>
              <a:rPr lang="de-DE" altLang="en-US" dirty="0"/>
              <a:t> </a:t>
            </a:r>
            <a:r>
              <a:rPr lang="de-DE" altLang="en-US" dirty="0" err="1"/>
              <a:t>our</a:t>
            </a:r>
            <a:r>
              <a:rPr lang="de-DE" altLang="en-US" dirty="0"/>
              <a:t> </a:t>
            </a:r>
            <a:r>
              <a:rPr lang="de-DE" altLang="en-US" dirty="0" err="1"/>
              <a:t>knowledge</a:t>
            </a:r>
            <a:r>
              <a:rPr lang="de-DE" altLang="en-US" dirty="0"/>
              <a:t>, </a:t>
            </a:r>
            <a:r>
              <a:rPr lang="de-DE" altLang="en-US" dirty="0" err="1"/>
              <a:t>expectations</a:t>
            </a:r>
            <a:r>
              <a:rPr lang="de-DE" altLang="en-US" dirty="0"/>
              <a:t>, </a:t>
            </a:r>
            <a:r>
              <a:rPr lang="de-DE" altLang="en-US" dirty="0" err="1"/>
              <a:t>beliefs</a:t>
            </a:r>
            <a:r>
              <a:rPr lang="de-DE" altLang="en-US" dirty="0"/>
              <a:t> </a:t>
            </a:r>
            <a:r>
              <a:rPr lang="de-DE" altLang="en-US" dirty="0" err="1"/>
              <a:t>and</a:t>
            </a:r>
            <a:r>
              <a:rPr lang="de-DE" altLang="en-US" dirty="0"/>
              <a:t> </a:t>
            </a:r>
            <a:r>
              <a:rPr lang="de-DE" altLang="en-US" dirty="0" err="1"/>
              <a:t>motives</a:t>
            </a:r>
            <a:r>
              <a:rPr lang="de-DE" altLang="en-US" dirty="0"/>
              <a:t>.</a:t>
            </a:r>
          </a:p>
          <a:p>
            <a:endParaRPr lang="de-DE" altLang="en-US" dirty="0"/>
          </a:p>
          <a:p>
            <a:r>
              <a:rPr lang="de-DE" altLang="en-US" dirty="0" err="1"/>
              <a:t>From</a:t>
            </a:r>
            <a:r>
              <a:rPr lang="de-DE" altLang="en-US" dirty="0"/>
              <a:t> a </a:t>
            </a:r>
            <a:r>
              <a:rPr lang="de-DE" altLang="en-US" dirty="0" err="1"/>
              <a:t>psychological</a:t>
            </a:r>
            <a:r>
              <a:rPr lang="de-DE" altLang="en-US" dirty="0"/>
              <a:t> </a:t>
            </a:r>
            <a:r>
              <a:rPr lang="de-DE" altLang="en-US" dirty="0" err="1"/>
              <a:t>point</a:t>
            </a:r>
            <a:r>
              <a:rPr lang="de-DE" altLang="en-US" dirty="0"/>
              <a:t> </a:t>
            </a:r>
            <a:r>
              <a:rPr lang="de-DE" altLang="en-US" dirty="0" err="1"/>
              <a:t>of</a:t>
            </a:r>
            <a:r>
              <a:rPr lang="de-DE" altLang="en-US" dirty="0"/>
              <a:t> </a:t>
            </a:r>
            <a:r>
              <a:rPr lang="de-DE" altLang="en-US" dirty="0" err="1"/>
              <a:t>view</a:t>
            </a:r>
            <a:r>
              <a:rPr lang="de-DE" altLang="en-US" dirty="0"/>
              <a:t>, </a:t>
            </a:r>
            <a:r>
              <a:rPr lang="de-DE" altLang="en-US" dirty="0" err="1"/>
              <a:t>the</a:t>
            </a:r>
            <a:r>
              <a:rPr lang="de-DE" altLang="en-US" dirty="0"/>
              <a:t> </a:t>
            </a:r>
            <a:r>
              <a:rPr lang="de-DE" altLang="en-US" dirty="0" err="1"/>
              <a:t>processes</a:t>
            </a:r>
            <a:r>
              <a:rPr lang="de-DE" altLang="en-US" dirty="0"/>
              <a:t> </a:t>
            </a:r>
            <a:r>
              <a:rPr lang="de-DE" altLang="en-US" dirty="0" err="1"/>
              <a:t>of</a:t>
            </a:r>
            <a:r>
              <a:rPr lang="de-DE" altLang="en-US" dirty="0"/>
              <a:t> </a:t>
            </a:r>
            <a:r>
              <a:rPr lang="de-DE" altLang="en-US" dirty="0" err="1"/>
              <a:t>sensation</a:t>
            </a:r>
            <a:r>
              <a:rPr lang="de-DE" altLang="en-US" dirty="0"/>
              <a:t>, on </a:t>
            </a:r>
            <a:r>
              <a:rPr lang="de-DE" altLang="en-US" dirty="0" err="1"/>
              <a:t>the</a:t>
            </a:r>
            <a:r>
              <a:rPr lang="de-DE" altLang="en-US" dirty="0"/>
              <a:t> </a:t>
            </a:r>
            <a:r>
              <a:rPr lang="de-DE" altLang="en-US" dirty="0" err="1"/>
              <a:t>one</a:t>
            </a:r>
            <a:r>
              <a:rPr lang="de-DE" altLang="en-US" dirty="0"/>
              <a:t> </a:t>
            </a:r>
            <a:r>
              <a:rPr lang="de-DE" altLang="en-US" dirty="0" err="1"/>
              <a:t>hand</a:t>
            </a:r>
            <a:r>
              <a:rPr lang="de-DE" altLang="en-US" dirty="0"/>
              <a:t>, </a:t>
            </a:r>
            <a:r>
              <a:rPr lang="de-DE" altLang="en-US" dirty="0" err="1"/>
              <a:t>and</a:t>
            </a:r>
            <a:r>
              <a:rPr lang="de-DE" altLang="en-US" dirty="0"/>
              <a:t> </a:t>
            </a:r>
            <a:r>
              <a:rPr lang="de-DE" altLang="en-US" dirty="0" err="1"/>
              <a:t>perception</a:t>
            </a:r>
            <a:r>
              <a:rPr lang="de-DE" altLang="en-US" dirty="0"/>
              <a:t>, on </a:t>
            </a:r>
            <a:r>
              <a:rPr lang="de-DE" altLang="en-US" dirty="0" err="1"/>
              <a:t>the</a:t>
            </a:r>
            <a:r>
              <a:rPr lang="de-DE" altLang="en-US" dirty="0"/>
              <a:t> </a:t>
            </a:r>
            <a:r>
              <a:rPr lang="de-DE" altLang="en-US" dirty="0" err="1"/>
              <a:t>other</a:t>
            </a:r>
            <a:r>
              <a:rPr lang="de-DE" altLang="en-US" dirty="0"/>
              <a:t> </a:t>
            </a:r>
            <a:r>
              <a:rPr lang="de-DE" altLang="en-US" dirty="0" err="1"/>
              <a:t>hand</a:t>
            </a:r>
            <a:r>
              <a:rPr lang="de-DE" altLang="en-US" dirty="0"/>
              <a:t>, </a:t>
            </a:r>
            <a:r>
              <a:rPr lang="de-DE" altLang="en-US" dirty="0" err="1"/>
              <a:t>work</a:t>
            </a:r>
            <a:r>
              <a:rPr lang="de-DE" altLang="en-US" dirty="0"/>
              <a:t> </a:t>
            </a:r>
            <a:r>
              <a:rPr lang="de-DE" altLang="en-US" dirty="0" err="1"/>
              <a:t>together</a:t>
            </a:r>
            <a:r>
              <a:rPr lang="de-DE" altLang="en-US" dirty="0"/>
              <a:t> </a:t>
            </a:r>
            <a:r>
              <a:rPr lang="de-DE" altLang="en-US" dirty="0" err="1"/>
              <a:t>through</a:t>
            </a:r>
            <a:r>
              <a:rPr lang="de-DE" altLang="en-US" dirty="0"/>
              <a:t> </a:t>
            </a:r>
            <a:r>
              <a:rPr lang="de-DE" altLang="en-US" dirty="0" err="1"/>
              <a:t>what</a:t>
            </a:r>
            <a:r>
              <a:rPr lang="de-DE" altLang="en-US" dirty="0"/>
              <a:t> </a:t>
            </a:r>
            <a:r>
              <a:rPr lang="de-DE" altLang="en-US" dirty="0" err="1"/>
              <a:t>are</a:t>
            </a:r>
            <a:r>
              <a:rPr lang="de-DE" altLang="en-US" dirty="0"/>
              <a:t> </a:t>
            </a:r>
            <a:r>
              <a:rPr lang="de-DE" altLang="en-US" dirty="0" err="1"/>
              <a:t>respectively</a:t>
            </a:r>
            <a:r>
              <a:rPr lang="de-DE" altLang="en-US" dirty="0"/>
              <a:t> </a:t>
            </a:r>
            <a:r>
              <a:rPr lang="de-DE" altLang="en-US" dirty="0" err="1"/>
              <a:t>termed</a:t>
            </a:r>
            <a:r>
              <a:rPr lang="de-DE" altLang="en-US" dirty="0"/>
              <a:t> </a:t>
            </a:r>
            <a:r>
              <a:rPr lang="de-DE" altLang="en-US" dirty="0" err="1"/>
              <a:t>bottom-up</a:t>
            </a:r>
            <a:r>
              <a:rPr lang="de-DE" altLang="en-US" dirty="0"/>
              <a:t> </a:t>
            </a:r>
            <a:r>
              <a:rPr lang="de-DE" altLang="en-US" dirty="0" err="1"/>
              <a:t>and</a:t>
            </a:r>
            <a:r>
              <a:rPr lang="de-DE" altLang="en-US" dirty="0"/>
              <a:t> top-down </a:t>
            </a:r>
            <a:r>
              <a:rPr lang="de-DE" altLang="en-US" dirty="0" err="1"/>
              <a:t>processing</a:t>
            </a:r>
            <a:r>
              <a:rPr lang="de-DE" altLang="en-US" dirty="0"/>
              <a:t>. The </a:t>
            </a:r>
            <a:r>
              <a:rPr lang="de-DE" altLang="en-US" dirty="0" err="1"/>
              <a:t>bottom-up</a:t>
            </a:r>
            <a:r>
              <a:rPr lang="de-DE" altLang="en-US" dirty="0"/>
              <a:t> </a:t>
            </a:r>
            <a:r>
              <a:rPr lang="de-DE" altLang="en-US" dirty="0" err="1"/>
              <a:t>phase</a:t>
            </a:r>
            <a:r>
              <a:rPr lang="de-DE" altLang="en-US" dirty="0"/>
              <a:t> </a:t>
            </a:r>
            <a:r>
              <a:rPr lang="de-DE" altLang="en-US" dirty="0" err="1"/>
              <a:t>concerns</a:t>
            </a:r>
            <a:r>
              <a:rPr lang="de-DE" altLang="en-US" dirty="0"/>
              <a:t> </a:t>
            </a:r>
            <a:r>
              <a:rPr lang="de-DE" altLang="en-US" dirty="0" err="1"/>
              <a:t>the</a:t>
            </a:r>
            <a:r>
              <a:rPr lang="de-DE" altLang="en-US" dirty="0"/>
              <a:t> </a:t>
            </a:r>
            <a:r>
              <a:rPr lang="de-DE" altLang="en-US" dirty="0" err="1"/>
              <a:t>way</a:t>
            </a:r>
            <a:r>
              <a:rPr lang="de-DE" altLang="en-US" dirty="0"/>
              <a:t> in </a:t>
            </a:r>
            <a:r>
              <a:rPr lang="de-DE" altLang="en-US" dirty="0" err="1"/>
              <a:t>which</a:t>
            </a:r>
            <a:r>
              <a:rPr lang="de-DE" altLang="en-US" dirty="0"/>
              <a:t> </a:t>
            </a:r>
            <a:r>
              <a:rPr lang="de-DE" altLang="en-US" dirty="0" err="1"/>
              <a:t>we</a:t>
            </a:r>
            <a:r>
              <a:rPr lang="de-DE" altLang="en-US" dirty="0"/>
              <a:t> </a:t>
            </a:r>
            <a:r>
              <a:rPr lang="de-DE" altLang="en-US" dirty="0" err="1"/>
              <a:t>process</a:t>
            </a:r>
            <a:r>
              <a:rPr lang="de-DE" altLang="en-US" dirty="0"/>
              <a:t> </a:t>
            </a:r>
            <a:r>
              <a:rPr lang="de-DE" altLang="en-US" dirty="0" err="1"/>
              <a:t>the</a:t>
            </a:r>
            <a:r>
              <a:rPr lang="de-DE" altLang="en-US" dirty="0"/>
              <a:t> </a:t>
            </a:r>
            <a:r>
              <a:rPr lang="de-DE" altLang="en-US" dirty="0" err="1"/>
              <a:t>raw</a:t>
            </a:r>
            <a:r>
              <a:rPr lang="de-DE" altLang="en-US" dirty="0"/>
              <a:t> </a:t>
            </a:r>
            <a:r>
              <a:rPr lang="de-DE" altLang="en-US" dirty="0" err="1"/>
              <a:t>data</a:t>
            </a:r>
            <a:r>
              <a:rPr lang="de-DE" altLang="en-US" dirty="0"/>
              <a:t> </a:t>
            </a:r>
            <a:r>
              <a:rPr lang="de-DE" altLang="en-US" dirty="0" err="1"/>
              <a:t>received</a:t>
            </a:r>
            <a:r>
              <a:rPr lang="de-DE" altLang="en-US" dirty="0"/>
              <a:t> b </a:t>
            </a:r>
            <a:r>
              <a:rPr lang="de-DE" altLang="en-US" dirty="0" err="1"/>
              <a:t>our</a:t>
            </a:r>
            <a:r>
              <a:rPr lang="de-DE" altLang="en-US" dirty="0"/>
              <a:t> </a:t>
            </a:r>
            <a:r>
              <a:rPr lang="de-DE" altLang="en-US" dirty="0" err="1"/>
              <a:t>sensory</a:t>
            </a:r>
            <a:r>
              <a:rPr lang="de-DE" altLang="en-US" dirty="0"/>
              <a:t> </a:t>
            </a:r>
            <a:r>
              <a:rPr lang="de-DE" altLang="en-US" dirty="0" err="1"/>
              <a:t>apparatus</a:t>
            </a:r>
            <a:r>
              <a:rPr lang="de-DE" altLang="en-US" dirty="0"/>
              <a:t> =&gt; </a:t>
            </a:r>
            <a:r>
              <a:rPr lang="de-DE" altLang="en-US" dirty="0" err="1"/>
              <a:t>need</a:t>
            </a:r>
            <a:r>
              <a:rPr lang="de-DE" altLang="en-US" dirty="0"/>
              <a:t> </a:t>
            </a:r>
            <a:r>
              <a:rPr lang="de-DE" altLang="en-US" dirty="0" err="1"/>
              <a:t>for</a:t>
            </a:r>
            <a:r>
              <a:rPr lang="de-DE" altLang="en-US" dirty="0"/>
              <a:t> </a:t>
            </a:r>
            <a:r>
              <a:rPr lang="de-DE" altLang="en-US" dirty="0" err="1"/>
              <a:t>selectivity</a:t>
            </a:r>
            <a:r>
              <a:rPr lang="de-DE" altLang="en-US" dirty="0"/>
              <a:t> „COCKTAIL PARTY SYNDROM“</a:t>
            </a:r>
          </a:p>
          <a:p>
            <a:endParaRPr lang="de-DE" altLang="en-US" dirty="0"/>
          </a:p>
          <a:p>
            <a:endParaRPr lang="de-DE" altLang="en-US" dirty="0"/>
          </a:p>
        </p:txBody>
      </p:sp>
      <p:sp>
        <p:nvSpPr>
          <p:cNvPr id="79876" name="Foliennummernplatzhalt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itchFamily="34" charset="0"/>
                <a:ea typeface="MS PGothic" pitchFamily="34" charset="-128"/>
              </a:defRPr>
            </a:lvl1pPr>
            <a:lvl2pPr marL="739384" indent="-284378">
              <a:defRPr>
                <a:solidFill>
                  <a:schemeClr val="tx1"/>
                </a:solidFill>
                <a:latin typeface="Verdana" pitchFamily="34" charset="0"/>
                <a:ea typeface="MS PGothic" pitchFamily="34" charset="-128"/>
              </a:defRPr>
            </a:lvl2pPr>
            <a:lvl3pPr marL="1137514" indent="-227503">
              <a:defRPr>
                <a:solidFill>
                  <a:schemeClr val="tx1"/>
                </a:solidFill>
                <a:latin typeface="Verdana" pitchFamily="34" charset="0"/>
                <a:ea typeface="MS PGothic" pitchFamily="34" charset="-128"/>
              </a:defRPr>
            </a:lvl3pPr>
            <a:lvl4pPr marL="1592519" indent="-227503">
              <a:defRPr>
                <a:solidFill>
                  <a:schemeClr val="tx1"/>
                </a:solidFill>
                <a:latin typeface="Verdana" pitchFamily="34" charset="0"/>
                <a:ea typeface="MS PGothic" pitchFamily="34" charset="-128"/>
              </a:defRPr>
            </a:lvl4pPr>
            <a:lvl5pPr marL="2047524" indent="-227503">
              <a:defRPr>
                <a:solidFill>
                  <a:schemeClr val="tx1"/>
                </a:solidFill>
                <a:latin typeface="Verdana" pitchFamily="34" charset="0"/>
                <a:ea typeface="MS PGothic" pitchFamily="34" charset="-128"/>
              </a:defRPr>
            </a:lvl5pPr>
            <a:lvl6pPr marL="2502530" indent="-227503" eaLnBrk="0" fontAlgn="base" hangingPunct="0">
              <a:spcBef>
                <a:spcPct val="0"/>
              </a:spcBef>
              <a:spcAft>
                <a:spcPct val="0"/>
              </a:spcAft>
              <a:defRPr>
                <a:solidFill>
                  <a:schemeClr val="tx1"/>
                </a:solidFill>
                <a:latin typeface="Verdana" pitchFamily="34" charset="0"/>
                <a:ea typeface="MS PGothic" pitchFamily="34" charset="-128"/>
              </a:defRPr>
            </a:lvl6pPr>
            <a:lvl7pPr marL="2957535" indent="-227503" eaLnBrk="0" fontAlgn="base" hangingPunct="0">
              <a:spcBef>
                <a:spcPct val="0"/>
              </a:spcBef>
              <a:spcAft>
                <a:spcPct val="0"/>
              </a:spcAft>
              <a:defRPr>
                <a:solidFill>
                  <a:schemeClr val="tx1"/>
                </a:solidFill>
                <a:latin typeface="Verdana" pitchFamily="34" charset="0"/>
                <a:ea typeface="MS PGothic" pitchFamily="34" charset="-128"/>
              </a:defRPr>
            </a:lvl7pPr>
            <a:lvl8pPr marL="3412541" indent="-227503" eaLnBrk="0" fontAlgn="base" hangingPunct="0">
              <a:spcBef>
                <a:spcPct val="0"/>
              </a:spcBef>
              <a:spcAft>
                <a:spcPct val="0"/>
              </a:spcAft>
              <a:defRPr>
                <a:solidFill>
                  <a:schemeClr val="tx1"/>
                </a:solidFill>
                <a:latin typeface="Verdana" pitchFamily="34" charset="0"/>
                <a:ea typeface="MS PGothic" pitchFamily="34" charset="-128"/>
              </a:defRPr>
            </a:lvl8pPr>
            <a:lvl9pPr marL="3867546" indent="-227503" eaLnBrk="0" fontAlgn="base" hangingPunct="0">
              <a:spcBef>
                <a:spcPct val="0"/>
              </a:spcBef>
              <a:spcAft>
                <a:spcPct val="0"/>
              </a:spcAft>
              <a:defRPr>
                <a:solidFill>
                  <a:schemeClr val="tx1"/>
                </a:solidFill>
                <a:latin typeface="Verdana" pitchFamily="34" charset="0"/>
                <a:ea typeface="MS PGothic" pitchFamily="34" charset="-128"/>
              </a:defRPr>
            </a:lvl9pPr>
          </a:lstStyle>
          <a:p>
            <a:fld id="{EEF048B4-FC32-4CD3-9FFF-5A723F7B68B7}" type="slidenum">
              <a:rPr lang="de-DE" altLang="en-US"/>
              <a:pPr/>
              <a:t>12</a:t>
            </a:fld>
            <a:endParaRPr lang="de-DE" altLang="en-US"/>
          </a:p>
        </p:txBody>
      </p:sp>
    </p:spTree>
    <p:extLst>
      <p:ext uri="{BB962C8B-B14F-4D97-AF65-F5344CB8AC3E}">
        <p14:creationId xmlns:p14="http://schemas.microsoft.com/office/powerpoint/2010/main" val="19623626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81923" name="Rectangle 3"/>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altLang="en-US" dirty="0"/>
              <a:t>https://</a:t>
            </a:r>
            <a:r>
              <a:rPr lang="en-GB" altLang="en-US" dirty="0" err="1"/>
              <a:t>www.youtube.com</a:t>
            </a:r>
            <a:r>
              <a:rPr lang="en-GB" altLang="en-US" dirty="0"/>
              <a:t>/</a:t>
            </a:r>
            <a:r>
              <a:rPr lang="en-GB" altLang="en-US" dirty="0" err="1"/>
              <a:t>watch?v</a:t>
            </a:r>
            <a:r>
              <a:rPr lang="en-GB" altLang="en-US" dirty="0"/>
              <a:t>=gfvMU36fgKw</a:t>
            </a:r>
          </a:p>
          <a:p>
            <a:endParaRPr lang="en-GB" altLang="en-US" dirty="0"/>
          </a:p>
          <a:p>
            <a:r>
              <a:rPr lang="en-GB" altLang="en-US" dirty="0" err="1"/>
              <a:t>Marilon</a:t>
            </a:r>
            <a:r>
              <a:rPr lang="en-GB" altLang="en-US" baseline="0" dirty="0"/>
              <a:t> Einstein</a:t>
            </a:r>
          </a:p>
          <a:p>
            <a:endParaRPr lang="en-GB" altLang="en-US" baseline="0" dirty="0"/>
          </a:p>
          <a:p>
            <a:endParaRPr lang="en-GB" alt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https://www.youtube.com/watch?v=VT9i99D_9gI - Flashed Face Distortion Affect </a:t>
            </a:r>
            <a:r>
              <a:rPr lang="en-GB" sz="800" dirty="0"/>
              <a:t>(</a:t>
            </a:r>
            <a:r>
              <a:rPr lang="en-GB" sz="800" dirty="0" err="1"/>
              <a:t>Tangen</a:t>
            </a:r>
            <a:r>
              <a:rPr lang="en-GB" sz="800" dirty="0"/>
              <a:t> et al., 2011) </a:t>
            </a:r>
            <a:endParaRPr lang="en-GB" dirty="0"/>
          </a:p>
          <a:p>
            <a:endParaRPr lang="en-GB" altLang="en-US" dirty="0"/>
          </a:p>
        </p:txBody>
      </p:sp>
    </p:spTree>
    <p:extLst>
      <p:ext uri="{BB962C8B-B14F-4D97-AF65-F5344CB8AC3E}">
        <p14:creationId xmlns:p14="http://schemas.microsoft.com/office/powerpoint/2010/main" val="9482369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Müller-</a:t>
            </a:r>
            <a:r>
              <a:rPr lang="en-IE" dirty="0" err="1"/>
              <a:t>Lyer</a:t>
            </a:r>
            <a:r>
              <a:rPr lang="en-IE" dirty="0"/>
              <a:t> illusion</a:t>
            </a:r>
          </a:p>
        </p:txBody>
      </p:sp>
      <p:sp>
        <p:nvSpPr>
          <p:cNvPr id="4" name="Slide Number Placeholder 3"/>
          <p:cNvSpPr>
            <a:spLocks noGrp="1"/>
          </p:cNvSpPr>
          <p:nvPr>
            <p:ph type="sldNum" sz="quarter" idx="10"/>
          </p:nvPr>
        </p:nvSpPr>
        <p:spPr/>
        <p:txBody>
          <a:bodyPr/>
          <a:lstStyle/>
          <a:p>
            <a:fld id="{D911ADFF-FEF5-4FA7-A700-56B08D034631}" type="slidenum">
              <a:rPr lang="en-IE" smtClean="0"/>
              <a:t>14</a:t>
            </a:fld>
            <a:endParaRPr lang="en-IE"/>
          </a:p>
        </p:txBody>
      </p:sp>
    </p:spTree>
    <p:extLst>
      <p:ext uri="{BB962C8B-B14F-4D97-AF65-F5344CB8AC3E}">
        <p14:creationId xmlns:p14="http://schemas.microsoft.com/office/powerpoint/2010/main" val="13903551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Folienbildplatzhalt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88067" name="Notizenplatzhalt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de-DE" altLang="en-US" dirty="0"/>
              <a:t>Get people‘s attention when they are bored – display of certain products at the cash </a:t>
            </a:r>
            <a:r>
              <a:rPr lang="de-DE" altLang="en-US" dirty="0" err="1"/>
              <a:t>register</a:t>
            </a:r>
            <a:endParaRPr lang="de-DE" altLang="en-US" dirty="0"/>
          </a:p>
          <a:p>
            <a:endParaRPr lang="de-DE" altLang="en-US" dirty="0"/>
          </a:p>
          <a:p>
            <a:r>
              <a:rPr lang="de-DE" altLang="en-US" dirty="0" err="1"/>
              <a:t>Door</a:t>
            </a:r>
            <a:r>
              <a:rPr lang="de-DE" altLang="en-US" baseline="0" dirty="0"/>
              <a:t> </a:t>
            </a:r>
            <a:r>
              <a:rPr lang="de-DE" altLang="en-US" baseline="0" dirty="0" err="1"/>
              <a:t>study</a:t>
            </a:r>
            <a:endParaRPr lang="de-DE" altLang="en-US" dirty="0"/>
          </a:p>
          <a:p>
            <a:endParaRPr lang="de-DE" altLang="en-US" dirty="0"/>
          </a:p>
          <a:p>
            <a:r>
              <a:rPr lang="de-DE" altLang="en-US" dirty="0"/>
              <a:t>https://www.youtube.com/watch?v=</a:t>
            </a:r>
            <a:r>
              <a:rPr lang="de-DE" altLang="en-US" dirty="0" err="1"/>
              <a:t>FWSxSQsspiQ</a:t>
            </a:r>
            <a:endParaRPr lang="de-DE" altLang="en-US" dirty="0"/>
          </a:p>
          <a:p>
            <a:endParaRPr lang="de-DE" altLang="en-US" dirty="0"/>
          </a:p>
        </p:txBody>
      </p:sp>
      <p:sp>
        <p:nvSpPr>
          <p:cNvPr id="88068" name="Foliennummernplatzhalt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itchFamily="34" charset="0"/>
                <a:ea typeface="MS PGothic" pitchFamily="34" charset="-128"/>
              </a:defRPr>
            </a:lvl1pPr>
            <a:lvl2pPr marL="739384" indent="-284378">
              <a:defRPr>
                <a:solidFill>
                  <a:schemeClr val="tx1"/>
                </a:solidFill>
                <a:latin typeface="Verdana" pitchFamily="34" charset="0"/>
                <a:ea typeface="MS PGothic" pitchFamily="34" charset="-128"/>
              </a:defRPr>
            </a:lvl2pPr>
            <a:lvl3pPr marL="1137514" indent="-227503">
              <a:defRPr>
                <a:solidFill>
                  <a:schemeClr val="tx1"/>
                </a:solidFill>
                <a:latin typeface="Verdana" pitchFamily="34" charset="0"/>
                <a:ea typeface="MS PGothic" pitchFamily="34" charset="-128"/>
              </a:defRPr>
            </a:lvl3pPr>
            <a:lvl4pPr marL="1592519" indent="-227503">
              <a:defRPr>
                <a:solidFill>
                  <a:schemeClr val="tx1"/>
                </a:solidFill>
                <a:latin typeface="Verdana" pitchFamily="34" charset="0"/>
                <a:ea typeface="MS PGothic" pitchFamily="34" charset="-128"/>
              </a:defRPr>
            </a:lvl4pPr>
            <a:lvl5pPr marL="2047524" indent="-227503">
              <a:defRPr>
                <a:solidFill>
                  <a:schemeClr val="tx1"/>
                </a:solidFill>
                <a:latin typeface="Verdana" pitchFamily="34" charset="0"/>
                <a:ea typeface="MS PGothic" pitchFamily="34" charset="-128"/>
              </a:defRPr>
            </a:lvl5pPr>
            <a:lvl6pPr marL="2502530" indent="-227503" eaLnBrk="0" fontAlgn="base" hangingPunct="0">
              <a:spcBef>
                <a:spcPct val="0"/>
              </a:spcBef>
              <a:spcAft>
                <a:spcPct val="0"/>
              </a:spcAft>
              <a:defRPr>
                <a:solidFill>
                  <a:schemeClr val="tx1"/>
                </a:solidFill>
                <a:latin typeface="Verdana" pitchFamily="34" charset="0"/>
                <a:ea typeface="MS PGothic" pitchFamily="34" charset="-128"/>
              </a:defRPr>
            </a:lvl6pPr>
            <a:lvl7pPr marL="2957535" indent="-227503" eaLnBrk="0" fontAlgn="base" hangingPunct="0">
              <a:spcBef>
                <a:spcPct val="0"/>
              </a:spcBef>
              <a:spcAft>
                <a:spcPct val="0"/>
              </a:spcAft>
              <a:defRPr>
                <a:solidFill>
                  <a:schemeClr val="tx1"/>
                </a:solidFill>
                <a:latin typeface="Verdana" pitchFamily="34" charset="0"/>
                <a:ea typeface="MS PGothic" pitchFamily="34" charset="-128"/>
              </a:defRPr>
            </a:lvl7pPr>
            <a:lvl8pPr marL="3412541" indent="-227503" eaLnBrk="0" fontAlgn="base" hangingPunct="0">
              <a:spcBef>
                <a:spcPct val="0"/>
              </a:spcBef>
              <a:spcAft>
                <a:spcPct val="0"/>
              </a:spcAft>
              <a:defRPr>
                <a:solidFill>
                  <a:schemeClr val="tx1"/>
                </a:solidFill>
                <a:latin typeface="Verdana" pitchFamily="34" charset="0"/>
                <a:ea typeface="MS PGothic" pitchFamily="34" charset="-128"/>
              </a:defRPr>
            </a:lvl8pPr>
            <a:lvl9pPr marL="3867546" indent="-227503" eaLnBrk="0" fontAlgn="base" hangingPunct="0">
              <a:spcBef>
                <a:spcPct val="0"/>
              </a:spcBef>
              <a:spcAft>
                <a:spcPct val="0"/>
              </a:spcAft>
              <a:defRPr>
                <a:solidFill>
                  <a:schemeClr val="tx1"/>
                </a:solidFill>
                <a:latin typeface="Verdana" pitchFamily="34" charset="0"/>
                <a:ea typeface="MS PGothic" pitchFamily="34" charset="-128"/>
              </a:defRPr>
            </a:lvl9pPr>
          </a:lstStyle>
          <a:p>
            <a:fld id="{38DFB886-D3B5-444D-80B8-C492DC8098BD}" type="slidenum">
              <a:rPr lang="de-DE" altLang="en-US"/>
              <a:pPr/>
              <a:t>15</a:t>
            </a:fld>
            <a:endParaRPr lang="de-DE" altLang="en-US"/>
          </a:p>
        </p:txBody>
      </p:sp>
    </p:spTree>
    <p:extLst>
      <p:ext uri="{BB962C8B-B14F-4D97-AF65-F5344CB8AC3E}">
        <p14:creationId xmlns:p14="http://schemas.microsoft.com/office/powerpoint/2010/main" val="40774898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90115" name="Rectangle 3"/>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t>Stimulus factors - our attention is drawn more readily to stimuli</a:t>
            </a:r>
            <a:r>
              <a:rPr lang="en-US" altLang="en-US" sz="1800"/>
              <a:t> </a:t>
            </a:r>
            <a:r>
              <a:rPr lang="en-US" altLang="en-US"/>
              <a:t>that are: Large rather than small/ bright rather than dull etc</a:t>
            </a:r>
            <a:r>
              <a:rPr lang="de-DE" altLang="en-US"/>
              <a:t> </a:t>
            </a:r>
            <a:endParaRPr lang="en-US" altLang="en-US"/>
          </a:p>
          <a:p>
            <a:pPr eaLnBrk="1" hangingPunct="1"/>
            <a:r>
              <a:rPr lang="en-US" altLang="en-US"/>
              <a:t>E.g. Supermarket – The order in which a shopper looks over the goods is controlled by the order in which they are displayed. Goods at eye level are inspected first, then attention wanders to lower shelves</a:t>
            </a:r>
          </a:p>
          <a:p>
            <a:pPr eaLnBrk="1" hangingPunct="1"/>
            <a:endParaRPr lang="en-US" altLang="en-US"/>
          </a:p>
          <a:p>
            <a:r>
              <a:rPr lang="de-DE" altLang="en-US"/>
              <a:t>Context factors: </a:t>
            </a:r>
            <a:r>
              <a:rPr lang="en-US" altLang="en-US"/>
              <a:t>E.g. the word </a:t>
            </a:r>
            <a:r>
              <a:rPr lang="ja-JP" altLang="en-US"/>
              <a:t>“</a:t>
            </a:r>
            <a:r>
              <a:rPr lang="en-US" altLang="ja-JP"/>
              <a:t>terminal</a:t>
            </a:r>
            <a:r>
              <a:rPr lang="ja-JP" altLang="en-US"/>
              <a:t>”</a:t>
            </a:r>
            <a:r>
              <a:rPr lang="en-US" altLang="ja-JP"/>
              <a:t> is likely to be perceived differently in the context of a hospital, airport or computer firm</a:t>
            </a:r>
          </a:p>
          <a:p>
            <a:pPr eaLnBrk="1" hangingPunct="1"/>
            <a:endParaRPr lang="en-US" altLang="en-US"/>
          </a:p>
          <a:p>
            <a:endParaRPr lang="en-GB" altLang="en-US"/>
          </a:p>
        </p:txBody>
      </p:sp>
    </p:spTree>
    <p:extLst>
      <p:ext uri="{BB962C8B-B14F-4D97-AF65-F5344CB8AC3E}">
        <p14:creationId xmlns:p14="http://schemas.microsoft.com/office/powerpoint/2010/main" val="26197887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92163" name="Rectangle 3"/>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IE" altLang="en-US" dirty="0"/>
              <a:t>Ability: people with impaired senses (e.g., deaf people), people under time pressure </a:t>
            </a:r>
          </a:p>
          <a:p>
            <a:endParaRPr lang="en-IE" altLang="en-US" dirty="0"/>
          </a:p>
          <a:p>
            <a:r>
              <a:rPr lang="en-IE" altLang="en-US" dirty="0"/>
              <a:t>Motivation: jump out of the shower when the cell phone rings if you expect an important call (e.g. from your boyfriend) </a:t>
            </a:r>
          </a:p>
          <a:p>
            <a:endParaRPr lang="en-IE" altLang="en-US" dirty="0"/>
          </a:p>
          <a:p>
            <a:r>
              <a:rPr lang="en-IE" altLang="en-US" dirty="0"/>
              <a:t>Interests: Someone interested in politics will listen to a candidate’s speech differently than someone not interested in politics - </a:t>
            </a:r>
            <a:endParaRPr lang="en-GB" altLang="en-US" dirty="0"/>
          </a:p>
        </p:txBody>
      </p:sp>
    </p:spTree>
    <p:extLst>
      <p:ext uri="{BB962C8B-B14F-4D97-AF65-F5344CB8AC3E}">
        <p14:creationId xmlns:p14="http://schemas.microsoft.com/office/powerpoint/2010/main" val="34647540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Folienbildplatzhalt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94211" name="Notizenplatzhalt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b="1" dirty="0">
                <a:solidFill>
                  <a:srgbClr val="800000"/>
                </a:solidFill>
                <a:latin typeface="Arial" pitchFamily="34" charset="0"/>
              </a:rPr>
              <a:t>Habituation: The decrease in our perceptual response to stimuli once they have become familiar</a:t>
            </a:r>
          </a:p>
          <a:p>
            <a:endParaRPr lang="en-US" altLang="en-US" b="1" dirty="0">
              <a:solidFill>
                <a:srgbClr val="800000"/>
              </a:solidFill>
              <a:latin typeface="Arial" pitchFamily="34" charset="0"/>
            </a:endParaRPr>
          </a:p>
          <a:p>
            <a:r>
              <a:rPr lang="en-US" altLang="en-US" b="1" dirty="0">
                <a:solidFill>
                  <a:srgbClr val="800000"/>
                </a:solidFill>
                <a:latin typeface="Arial" pitchFamily="34" charset="0"/>
              </a:rPr>
              <a:t>Perceptual Filter: Individual characteristics, predispositions and preoccupations that interfere with the effective transmission and receipt of messages</a:t>
            </a:r>
          </a:p>
          <a:p>
            <a:endParaRPr lang="de-DE" altLang="en-US" dirty="0"/>
          </a:p>
          <a:p>
            <a:r>
              <a:rPr lang="de-DE" altLang="en-US" dirty="0"/>
              <a:t>Most people who speak English as a second language see all six Fx. Native English speakers ususally pick up only three or four, because they tend to miss the Fs in „of“. Native English speakers  have been conditioned – habituated – to skip the „of“ because it does not contribute to the meaning of the sentence. </a:t>
            </a:r>
          </a:p>
          <a:p>
            <a:endParaRPr lang="de-DE" altLang="en-US" dirty="0"/>
          </a:p>
          <a:p>
            <a:r>
              <a:rPr lang="de-DE" altLang="en-US" dirty="0"/>
              <a:t>Adler‘s (2002) explanation is that once we stop seeing the „ofs“ we do not see them again, even as in this example when we are looking for them. Given that we are bombarded with information, we simply screen out that which is apparently of little or no value. Our behavioral choices are determined thus not by realitiy but by what we perceive that reality to be, also called the perceptual filter. </a:t>
            </a:r>
          </a:p>
        </p:txBody>
      </p:sp>
      <p:sp>
        <p:nvSpPr>
          <p:cNvPr id="94212" name="Foliennummernplatzhalt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itchFamily="34" charset="0"/>
                <a:ea typeface="MS PGothic" pitchFamily="34" charset="-128"/>
              </a:defRPr>
            </a:lvl1pPr>
            <a:lvl2pPr marL="739384" indent="-284378">
              <a:defRPr>
                <a:solidFill>
                  <a:schemeClr val="tx1"/>
                </a:solidFill>
                <a:latin typeface="Verdana" pitchFamily="34" charset="0"/>
                <a:ea typeface="MS PGothic" pitchFamily="34" charset="-128"/>
              </a:defRPr>
            </a:lvl2pPr>
            <a:lvl3pPr marL="1137514" indent="-227503">
              <a:defRPr>
                <a:solidFill>
                  <a:schemeClr val="tx1"/>
                </a:solidFill>
                <a:latin typeface="Verdana" pitchFamily="34" charset="0"/>
                <a:ea typeface="MS PGothic" pitchFamily="34" charset="-128"/>
              </a:defRPr>
            </a:lvl3pPr>
            <a:lvl4pPr marL="1592519" indent="-227503">
              <a:defRPr>
                <a:solidFill>
                  <a:schemeClr val="tx1"/>
                </a:solidFill>
                <a:latin typeface="Verdana" pitchFamily="34" charset="0"/>
                <a:ea typeface="MS PGothic" pitchFamily="34" charset="-128"/>
              </a:defRPr>
            </a:lvl4pPr>
            <a:lvl5pPr marL="2047524" indent="-227503">
              <a:defRPr>
                <a:solidFill>
                  <a:schemeClr val="tx1"/>
                </a:solidFill>
                <a:latin typeface="Verdana" pitchFamily="34" charset="0"/>
                <a:ea typeface="MS PGothic" pitchFamily="34" charset="-128"/>
              </a:defRPr>
            </a:lvl5pPr>
            <a:lvl6pPr marL="2502530" indent="-227503" eaLnBrk="0" fontAlgn="base" hangingPunct="0">
              <a:spcBef>
                <a:spcPct val="0"/>
              </a:spcBef>
              <a:spcAft>
                <a:spcPct val="0"/>
              </a:spcAft>
              <a:defRPr>
                <a:solidFill>
                  <a:schemeClr val="tx1"/>
                </a:solidFill>
                <a:latin typeface="Verdana" pitchFamily="34" charset="0"/>
                <a:ea typeface="MS PGothic" pitchFamily="34" charset="-128"/>
              </a:defRPr>
            </a:lvl6pPr>
            <a:lvl7pPr marL="2957535" indent="-227503" eaLnBrk="0" fontAlgn="base" hangingPunct="0">
              <a:spcBef>
                <a:spcPct val="0"/>
              </a:spcBef>
              <a:spcAft>
                <a:spcPct val="0"/>
              </a:spcAft>
              <a:defRPr>
                <a:solidFill>
                  <a:schemeClr val="tx1"/>
                </a:solidFill>
                <a:latin typeface="Verdana" pitchFamily="34" charset="0"/>
                <a:ea typeface="MS PGothic" pitchFamily="34" charset="-128"/>
              </a:defRPr>
            </a:lvl7pPr>
            <a:lvl8pPr marL="3412541" indent="-227503" eaLnBrk="0" fontAlgn="base" hangingPunct="0">
              <a:spcBef>
                <a:spcPct val="0"/>
              </a:spcBef>
              <a:spcAft>
                <a:spcPct val="0"/>
              </a:spcAft>
              <a:defRPr>
                <a:solidFill>
                  <a:schemeClr val="tx1"/>
                </a:solidFill>
                <a:latin typeface="Verdana" pitchFamily="34" charset="0"/>
                <a:ea typeface="MS PGothic" pitchFamily="34" charset="-128"/>
              </a:defRPr>
            </a:lvl8pPr>
            <a:lvl9pPr marL="3867546" indent="-227503" eaLnBrk="0" fontAlgn="base" hangingPunct="0">
              <a:spcBef>
                <a:spcPct val="0"/>
              </a:spcBef>
              <a:spcAft>
                <a:spcPct val="0"/>
              </a:spcAft>
              <a:defRPr>
                <a:solidFill>
                  <a:schemeClr val="tx1"/>
                </a:solidFill>
                <a:latin typeface="Verdana" pitchFamily="34" charset="0"/>
                <a:ea typeface="MS PGothic" pitchFamily="34" charset="-128"/>
              </a:defRPr>
            </a:lvl9pPr>
          </a:lstStyle>
          <a:p>
            <a:fld id="{EA0EE819-59C8-496C-BA4D-0051CC36289A}" type="slidenum">
              <a:rPr lang="de-DE" altLang="en-US"/>
              <a:pPr/>
              <a:t>18</a:t>
            </a:fld>
            <a:endParaRPr lang="de-DE" altLang="en-US"/>
          </a:p>
        </p:txBody>
      </p:sp>
    </p:spTree>
    <p:extLst>
      <p:ext uri="{BB962C8B-B14F-4D97-AF65-F5344CB8AC3E}">
        <p14:creationId xmlns:p14="http://schemas.microsoft.com/office/powerpoint/2010/main" val="40324243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txBox="1">
            <a:spLocks noGrp="1" noChangeArrowheads="1"/>
          </p:cNvSpPr>
          <p:nvPr/>
        </p:nvSpPr>
        <p:spPr bwMode="auto">
          <a:xfrm>
            <a:off x="3852016" y="9431814"/>
            <a:ext cx="2945659" cy="4964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001" tIns="45501" rIns="91001" bIns="45501" anchor="b"/>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r"/>
            <a:fld id="{6D592A22-8342-4C05-B231-F3AD0FC7CA6B}" type="slidenum">
              <a:rPr lang="en-GB" altLang="en-US" sz="1200">
                <a:solidFill>
                  <a:srgbClr val="000000"/>
                </a:solidFill>
                <a:latin typeface="Arial" pitchFamily="34" charset="0"/>
              </a:rPr>
              <a:pPr algn="r"/>
              <a:t>19</a:t>
            </a:fld>
            <a:endParaRPr lang="en-GB" altLang="en-US" sz="1200">
              <a:solidFill>
                <a:srgbClr val="000000"/>
              </a:solidFill>
              <a:latin typeface="Arial" pitchFamily="34" charset="0"/>
            </a:endParaRPr>
          </a:p>
        </p:txBody>
      </p:sp>
      <p:sp>
        <p:nvSpPr>
          <p:cNvPr id="9625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96260" name="Rectangle 3"/>
          <p:cNvSpPr>
            <a:spLocks noGrp="1" noChangeArrowheads="1"/>
          </p:cNvSpPr>
          <p:nvPr>
            <p:ph type="body" idx="1"/>
          </p:nvPr>
        </p:nvSpPr>
        <p:spPr bwMode="auto">
          <a:xfrm>
            <a:off x="906357" y="4550437"/>
            <a:ext cx="4984962" cy="4633172"/>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GB" altLang="en-US" dirty="0">
                <a:latin typeface="Arial" pitchFamily="34" charset="0"/>
              </a:rPr>
              <a:t>If we are aware that our perceptions are dependant on many things and that often they are not accurate then we can be more tolerant of others as we try to understand how they perceive their world.</a:t>
            </a:r>
          </a:p>
          <a:p>
            <a:pPr eaLnBrk="1" hangingPunct="1"/>
            <a:r>
              <a:rPr lang="en-GB" altLang="en-US" dirty="0">
                <a:latin typeface="Arial" pitchFamily="34" charset="0"/>
              </a:rPr>
              <a:t> We can be wrong about people, events, objects, our views of the world are shaped by our experiences. </a:t>
            </a:r>
          </a:p>
          <a:p>
            <a:pPr eaLnBrk="1" hangingPunct="1"/>
            <a:r>
              <a:rPr lang="en-GB" altLang="en-US" b="1" dirty="0">
                <a:latin typeface="Arial" pitchFamily="34" charset="0"/>
              </a:rPr>
              <a:t>Why study perception? </a:t>
            </a:r>
          </a:p>
          <a:p>
            <a:pPr eaLnBrk="1" hangingPunct="1"/>
            <a:r>
              <a:rPr lang="en-GB" altLang="en-US" dirty="0">
                <a:latin typeface="Arial" pitchFamily="34" charset="0"/>
              </a:rPr>
              <a:t>To investigate the effects of brain damage with a view towards helping people adapt. </a:t>
            </a:r>
          </a:p>
          <a:p>
            <a:pPr eaLnBrk="1" hangingPunct="1"/>
            <a:r>
              <a:rPr lang="en-GB" altLang="en-US" dirty="0">
                <a:latin typeface="Arial" pitchFamily="34" charset="0"/>
              </a:rPr>
              <a:t>To learn about the development of perception.</a:t>
            </a:r>
          </a:p>
          <a:p>
            <a:pPr eaLnBrk="1" hangingPunct="1"/>
            <a:r>
              <a:rPr lang="en-GB" altLang="en-US" dirty="0">
                <a:latin typeface="Arial" pitchFamily="34" charset="0"/>
              </a:rPr>
              <a:t>For designing equipment with visual appeal and/or safety in mind.</a:t>
            </a:r>
          </a:p>
          <a:p>
            <a:pPr eaLnBrk="1" hangingPunct="1"/>
            <a:r>
              <a:rPr lang="en-GB" altLang="en-US" dirty="0">
                <a:latin typeface="Arial" pitchFamily="34" charset="0"/>
              </a:rPr>
              <a:t>In advertising to understand how we make sense of information that is presented to us. </a:t>
            </a:r>
          </a:p>
          <a:p>
            <a:pPr eaLnBrk="1" hangingPunct="1"/>
            <a:endParaRPr lang="en-GB" altLang="en-US" dirty="0">
              <a:latin typeface="Arial" pitchFamily="34" charset="0"/>
            </a:endParaRPr>
          </a:p>
          <a:p>
            <a:pPr eaLnBrk="1" hangingPunct="1"/>
            <a:r>
              <a:rPr lang="en-GB" altLang="en-US" b="1" dirty="0">
                <a:latin typeface="Arial" pitchFamily="34" charset="0"/>
              </a:rPr>
              <a:t>Summary:</a:t>
            </a:r>
            <a:r>
              <a:rPr lang="en-GB" altLang="en-US" dirty="0">
                <a:latin typeface="Arial" pitchFamily="34" charset="0"/>
              </a:rPr>
              <a:t> The ‘world’ gets into our body in the form of chemical reactions and electrical/nervous impulses. The sensory system selects, transduces, analyses, codes and transmits an unending flow of data to an information hungry and active brain. When the brain organises this into meaningful patterns it is called perception. There are many influences on perception. </a:t>
            </a:r>
          </a:p>
          <a:p>
            <a:pPr eaLnBrk="1" hangingPunct="1"/>
            <a:endParaRPr lang="en-GB" altLang="en-US" dirty="0">
              <a:latin typeface="Arial" pitchFamily="34" charset="0"/>
            </a:endParaRPr>
          </a:p>
        </p:txBody>
      </p:sp>
    </p:spTree>
    <p:extLst>
      <p:ext uri="{BB962C8B-B14F-4D97-AF65-F5344CB8AC3E}">
        <p14:creationId xmlns:p14="http://schemas.microsoft.com/office/powerpoint/2010/main" val="25815379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Folienbildplatzhalt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98307" name="Notizenplatzhalt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de-DE" altLang="en-US"/>
              <a:t>Max Wertheimer </a:t>
            </a:r>
          </a:p>
          <a:p>
            <a:endParaRPr lang="de-DE" altLang="en-US"/>
          </a:p>
          <a:p>
            <a:r>
              <a:rPr lang="de-DE" altLang="en-US"/>
              <a:t>Proximity principle: note how you see three sets of pairs rather than six blobs here</a:t>
            </a:r>
          </a:p>
          <a:p>
            <a:endParaRPr lang="de-DE" altLang="en-US"/>
          </a:p>
          <a:p>
            <a:r>
              <a:rPr lang="de-DE" altLang="en-US"/>
              <a:t>Similarity principle: note that you see four pairs here, not eight objects</a:t>
            </a:r>
          </a:p>
          <a:p>
            <a:endParaRPr lang="de-DE" altLang="en-US"/>
          </a:p>
          <a:p>
            <a:r>
              <a:rPr lang="de-DE" altLang="en-US"/>
              <a:t>I love you despite your mother</a:t>
            </a:r>
          </a:p>
        </p:txBody>
      </p:sp>
      <p:sp>
        <p:nvSpPr>
          <p:cNvPr id="98308" name="Foliennummernplatzhalt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itchFamily="34" charset="0"/>
                <a:ea typeface="MS PGothic" pitchFamily="34" charset="-128"/>
              </a:defRPr>
            </a:lvl1pPr>
            <a:lvl2pPr marL="739384" indent="-284378">
              <a:defRPr>
                <a:solidFill>
                  <a:schemeClr val="tx1"/>
                </a:solidFill>
                <a:latin typeface="Verdana" pitchFamily="34" charset="0"/>
                <a:ea typeface="MS PGothic" pitchFamily="34" charset="-128"/>
              </a:defRPr>
            </a:lvl2pPr>
            <a:lvl3pPr marL="1137514" indent="-227503">
              <a:defRPr>
                <a:solidFill>
                  <a:schemeClr val="tx1"/>
                </a:solidFill>
                <a:latin typeface="Verdana" pitchFamily="34" charset="0"/>
                <a:ea typeface="MS PGothic" pitchFamily="34" charset="-128"/>
              </a:defRPr>
            </a:lvl3pPr>
            <a:lvl4pPr marL="1592519" indent="-227503">
              <a:defRPr>
                <a:solidFill>
                  <a:schemeClr val="tx1"/>
                </a:solidFill>
                <a:latin typeface="Verdana" pitchFamily="34" charset="0"/>
                <a:ea typeface="MS PGothic" pitchFamily="34" charset="-128"/>
              </a:defRPr>
            </a:lvl4pPr>
            <a:lvl5pPr marL="2047524" indent="-227503">
              <a:defRPr>
                <a:solidFill>
                  <a:schemeClr val="tx1"/>
                </a:solidFill>
                <a:latin typeface="Verdana" pitchFamily="34" charset="0"/>
                <a:ea typeface="MS PGothic" pitchFamily="34" charset="-128"/>
              </a:defRPr>
            </a:lvl5pPr>
            <a:lvl6pPr marL="2502530" indent="-227503" eaLnBrk="0" fontAlgn="base" hangingPunct="0">
              <a:spcBef>
                <a:spcPct val="0"/>
              </a:spcBef>
              <a:spcAft>
                <a:spcPct val="0"/>
              </a:spcAft>
              <a:defRPr>
                <a:solidFill>
                  <a:schemeClr val="tx1"/>
                </a:solidFill>
                <a:latin typeface="Verdana" pitchFamily="34" charset="0"/>
                <a:ea typeface="MS PGothic" pitchFamily="34" charset="-128"/>
              </a:defRPr>
            </a:lvl6pPr>
            <a:lvl7pPr marL="2957535" indent="-227503" eaLnBrk="0" fontAlgn="base" hangingPunct="0">
              <a:spcBef>
                <a:spcPct val="0"/>
              </a:spcBef>
              <a:spcAft>
                <a:spcPct val="0"/>
              </a:spcAft>
              <a:defRPr>
                <a:solidFill>
                  <a:schemeClr val="tx1"/>
                </a:solidFill>
                <a:latin typeface="Verdana" pitchFamily="34" charset="0"/>
                <a:ea typeface="MS PGothic" pitchFamily="34" charset="-128"/>
              </a:defRPr>
            </a:lvl7pPr>
            <a:lvl8pPr marL="3412541" indent="-227503" eaLnBrk="0" fontAlgn="base" hangingPunct="0">
              <a:spcBef>
                <a:spcPct val="0"/>
              </a:spcBef>
              <a:spcAft>
                <a:spcPct val="0"/>
              </a:spcAft>
              <a:defRPr>
                <a:solidFill>
                  <a:schemeClr val="tx1"/>
                </a:solidFill>
                <a:latin typeface="Verdana" pitchFamily="34" charset="0"/>
                <a:ea typeface="MS PGothic" pitchFamily="34" charset="-128"/>
              </a:defRPr>
            </a:lvl8pPr>
            <a:lvl9pPr marL="3867546" indent="-227503" eaLnBrk="0" fontAlgn="base" hangingPunct="0">
              <a:spcBef>
                <a:spcPct val="0"/>
              </a:spcBef>
              <a:spcAft>
                <a:spcPct val="0"/>
              </a:spcAft>
              <a:defRPr>
                <a:solidFill>
                  <a:schemeClr val="tx1"/>
                </a:solidFill>
                <a:latin typeface="Verdana" pitchFamily="34" charset="0"/>
                <a:ea typeface="MS PGothic" pitchFamily="34" charset="-128"/>
              </a:defRPr>
            </a:lvl9pPr>
          </a:lstStyle>
          <a:p>
            <a:fld id="{C43207F4-2B47-48D4-9FE2-A885A9BE0328}" type="slidenum">
              <a:rPr lang="de-DE" altLang="en-US"/>
              <a:pPr/>
              <a:t>20</a:t>
            </a:fld>
            <a:endParaRPr lang="de-DE" altLang="en-US"/>
          </a:p>
        </p:txBody>
      </p:sp>
    </p:spTree>
    <p:extLst>
      <p:ext uri="{BB962C8B-B14F-4D97-AF65-F5344CB8AC3E}">
        <p14:creationId xmlns:p14="http://schemas.microsoft.com/office/powerpoint/2010/main" val="25191948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00355" name="Rectangle 3"/>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altLang="en-US" dirty="0"/>
              <a:t>Perceptual world</a:t>
            </a:r>
            <a:r>
              <a:rPr lang="en-GB" altLang="en-US" baseline="0" dirty="0"/>
              <a:t> – the individuals personal internal image, map or </a:t>
            </a:r>
            <a:r>
              <a:rPr lang="en-GB" altLang="en-US" baseline="0" dirty="0" err="1"/>
              <a:t>pircture</a:t>
            </a:r>
            <a:r>
              <a:rPr lang="en-GB" altLang="en-US" baseline="0" dirty="0"/>
              <a:t> of their social, physical and organisational environment. </a:t>
            </a:r>
          </a:p>
          <a:p>
            <a:endParaRPr lang="en-GB" altLang="en-US" baseline="0" dirty="0"/>
          </a:p>
          <a:p>
            <a:r>
              <a:rPr lang="en-GB" altLang="en-US" baseline="0" dirty="0"/>
              <a:t>Perceptual set – an individual’s predisposition to respond to people and events in a particular manner. </a:t>
            </a:r>
            <a:endParaRPr lang="en-GB" altLang="en-US" dirty="0"/>
          </a:p>
        </p:txBody>
      </p:sp>
    </p:spTree>
    <p:extLst>
      <p:ext uri="{BB962C8B-B14F-4D97-AF65-F5344CB8AC3E}">
        <p14:creationId xmlns:p14="http://schemas.microsoft.com/office/powerpoint/2010/main" val="27218137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1D213B00-8A62-4D90-AD6A-0226518EC3CC}" type="slidenum">
              <a:rPr lang="en-IE" smtClean="0"/>
              <a:t>22</a:t>
            </a:fld>
            <a:endParaRPr lang="en-IE"/>
          </a:p>
        </p:txBody>
      </p:sp>
    </p:spTree>
    <p:extLst>
      <p:ext uri="{BB962C8B-B14F-4D97-AF65-F5344CB8AC3E}">
        <p14:creationId xmlns:p14="http://schemas.microsoft.com/office/powerpoint/2010/main" val="25172833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02403" name="Rectangle 3"/>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dirty="0"/>
              <a:t>Halo effect is the process  by which the </a:t>
            </a:r>
            <a:r>
              <a:rPr lang="en-US" altLang="en-US" u="sng" dirty="0"/>
              <a:t>perception of a person is formulated on the basis of a favorable trait or impression</a:t>
            </a:r>
            <a:r>
              <a:rPr lang="en-US" altLang="en-US" dirty="0"/>
              <a:t> </a:t>
            </a:r>
          </a:p>
          <a:p>
            <a:endParaRPr lang="en-US" altLang="en-US" dirty="0"/>
          </a:p>
          <a:p>
            <a:r>
              <a:rPr lang="en-US" altLang="en-US" dirty="0"/>
              <a:t>The halo effect  </a:t>
            </a:r>
            <a:r>
              <a:rPr lang="en-US" altLang="en-US" u="sng" dirty="0"/>
              <a:t>tends to shut out</a:t>
            </a:r>
            <a:r>
              <a:rPr lang="en-US" altLang="en-US" dirty="0"/>
              <a:t> other relevant characteristics of that person</a:t>
            </a:r>
          </a:p>
          <a:p>
            <a:endParaRPr lang="en-US" altLang="en-US" dirty="0"/>
          </a:p>
          <a:p>
            <a:r>
              <a:rPr lang="en-US" altLang="en-US" dirty="0"/>
              <a:t>When an individual is found to possess one desirable trait, then that individual is automatically assumed to have many other desirable traits as well. </a:t>
            </a:r>
            <a:r>
              <a:rPr lang="en-US" altLang="en-US" u="sng" dirty="0"/>
              <a:t>A kind of an "angelic halo" surrounds the person, in the eyes of the beholder, and they can do no wrong.</a:t>
            </a:r>
            <a:r>
              <a:rPr lang="en-US" altLang="en-US" dirty="0"/>
              <a:t> If a person is bestowed with good physical beauty, then this person is also presumed to possess a host of other positive attributes as well, such as social competence, intellectual competence, and personal adjustment</a:t>
            </a:r>
          </a:p>
          <a:p>
            <a:endParaRPr lang="en-US" altLang="en-US" dirty="0"/>
          </a:p>
          <a:p>
            <a:r>
              <a:rPr lang="en-US" altLang="en-US" dirty="0"/>
              <a:t>Process can also work in reverse – this is where general judgments about a person are formulated from the perception of a negative characteristic: The candidate is seen as arriving late for an interview </a:t>
            </a:r>
          </a:p>
          <a:p>
            <a:endParaRPr lang="en-US" altLang="en-US" dirty="0"/>
          </a:p>
          <a:p>
            <a:r>
              <a:rPr lang="en-US" altLang="en-US" dirty="0"/>
              <a:t>There may be a good reason but on the basis of that one event the person may be perceived as a poor time-keeper on unreliable</a:t>
            </a:r>
            <a:endParaRPr lang="en-GB" altLang="en-US" dirty="0"/>
          </a:p>
        </p:txBody>
      </p:sp>
    </p:spTree>
    <p:extLst>
      <p:ext uri="{BB962C8B-B14F-4D97-AF65-F5344CB8AC3E}">
        <p14:creationId xmlns:p14="http://schemas.microsoft.com/office/powerpoint/2010/main" val="30555770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06499" name="Rectangle 3"/>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GB" altLang="en-US"/>
          </a:p>
        </p:txBody>
      </p:sp>
    </p:spTree>
    <p:extLst>
      <p:ext uri="{BB962C8B-B14F-4D97-AF65-F5344CB8AC3E}">
        <p14:creationId xmlns:p14="http://schemas.microsoft.com/office/powerpoint/2010/main" val="8189437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www.youtube.com</a:t>
            </a:r>
            <a:r>
              <a:rPr lang="en-US" dirty="0"/>
              <a:t>/</a:t>
            </a:r>
            <a:r>
              <a:rPr lang="en-US" dirty="0" err="1"/>
              <a:t>watch?v</a:t>
            </a:r>
            <a:r>
              <a:rPr lang="en-US" dirty="0"/>
              <a:t>=6MlshBuS9C8 – beauty bias \</a:t>
            </a:r>
          </a:p>
          <a:p>
            <a:endParaRPr lang="en-US" dirty="0"/>
          </a:p>
          <a:p>
            <a:r>
              <a:rPr lang="en-US" dirty="0"/>
              <a:t>https://</a:t>
            </a:r>
            <a:r>
              <a:rPr lang="en-US" dirty="0" err="1"/>
              <a:t>www.youtube.com</a:t>
            </a:r>
            <a:r>
              <a:rPr lang="en-US" dirty="0"/>
              <a:t>/</a:t>
            </a:r>
            <a:r>
              <a:rPr lang="en-US" dirty="0" err="1"/>
              <a:t>watch?v</a:t>
            </a:r>
            <a:r>
              <a:rPr lang="en-US" dirty="0"/>
              <a:t>=</a:t>
            </a:r>
            <a:r>
              <a:rPr lang="en-US" dirty="0" err="1"/>
              <a:t>tZvDaPBqAyg</a:t>
            </a:r>
            <a:r>
              <a:rPr lang="en-US" dirty="0"/>
              <a:t> – confirmation bias </a:t>
            </a:r>
          </a:p>
          <a:p>
            <a:endParaRPr lang="en-US" dirty="0"/>
          </a:p>
          <a:p>
            <a:r>
              <a:rPr lang="en-US" sz="1200" kern="1200" dirty="0">
                <a:solidFill>
                  <a:schemeClr val="tx1"/>
                </a:solidFill>
                <a:latin typeface="+mn-lt"/>
                <a:ea typeface="+mn-ea"/>
                <a:cs typeface="+mn-cs"/>
              </a:rPr>
              <a:t>A </a:t>
            </a:r>
            <a:r>
              <a:rPr lang="en-US" sz="1200" b="1" kern="1200" dirty="0">
                <a:solidFill>
                  <a:schemeClr val="tx1"/>
                </a:solidFill>
                <a:latin typeface="+mn-lt"/>
                <a:ea typeface="+mn-ea"/>
                <a:cs typeface="+mn-cs"/>
              </a:rPr>
              <a:t>projection error</a:t>
            </a:r>
            <a:r>
              <a:rPr lang="en-US" sz="1200" b="0" kern="1200" dirty="0">
                <a:solidFill>
                  <a:schemeClr val="tx1"/>
                </a:solidFill>
                <a:latin typeface="+mn-lt"/>
                <a:ea typeface="+mn-ea"/>
                <a:cs typeface="+mn-cs"/>
              </a:rPr>
              <a:t> is the unconscious assumption that others think, feel, judge, or perceive more or less what we do. For instance, those who drink (abstain from) alcohol tend to overestimate (underestimate) the drinking habits of others.</a:t>
            </a:r>
            <a:endParaRPr lang="en-US" dirty="0"/>
          </a:p>
          <a:p>
            <a:endParaRPr lang="en-US" dirty="0"/>
          </a:p>
          <a:p>
            <a:r>
              <a:rPr lang="en-US" sz="1200" kern="1200" dirty="0">
                <a:solidFill>
                  <a:schemeClr val="tx1"/>
                </a:solidFill>
                <a:latin typeface="+mn-lt"/>
                <a:ea typeface="+mn-ea"/>
                <a:cs typeface="+mn-cs"/>
              </a:rPr>
              <a:t>In </a:t>
            </a:r>
            <a:r>
              <a:rPr lang="en-US" sz="1200" kern="1200" dirty="0">
                <a:solidFill>
                  <a:schemeClr val="tx1"/>
                </a:solidFill>
                <a:latin typeface="+mn-lt"/>
                <a:ea typeface="+mn-ea"/>
                <a:cs typeface="+mn-cs"/>
                <a:hlinkClick r:id="rId3"/>
              </a:rPr>
              <a:t>interview or </a:t>
            </a:r>
            <a:r>
              <a:rPr lang="en-US" sz="1200" kern="1200" dirty="0">
                <a:solidFill>
                  <a:schemeClr val="tx1"/>
                </a:solidFill>
                <a:latin typeface="+mn-lt"/>
                <a:ea typeface="+mn-ea"/>
                <a:cs typeface="+mn-cs"/>
                <a:hlinkClick r:id="rId4"/>
              </a:rPr>
              <a:t>performance appraisal </a:t>
            </a:r>
            <a:r>
              <a:rPr lang="en-US" sz="1200" kern="1200" dirty="0">
                <a:solidFill>
                  <a:schemeClr val="tx1"/>
                </a:solidFill>
                <a:latin typeface="+mn-lt"/>
                <a:ea typeface="+mn-ea"/>
                <a:cs typeface="+mn-cs"/>
                <a:hlinkClick r:id="rId5"/>
              </a:rPr>
              <a:t>process, </a:t>
            </a:r>
            <a:r>
              <a:rPr lang="en-US" sz="1200" kern="1200" dirty="0">
                <a:solidFill>
                  <a:schemeClr val="tx1"/>
                </a:solidFill>
                <a:latin typeface="+mn-lt"/>
                <a:ea typeface="+mn-ea"/>
                <a:cs typeface="+mn-cs"/>
                <a:hlinkClick r:id="rId6"/>
              </a:rPr>
              <a:t>error caused by the effect of previously interviewed or appraised </a:t>
            </a:r>
            <a:r>
              <a:rPr lang="en-US" sz="1200" kern="1200" dirty="0">
                <a:solidFill>
                  <a:schemeClr val="tx1"/>
                </a:solidFill>
                <a:latin typeface="+mn-lt"/>
                <a:ea typeface="+mn-ea"/>
                <a:cs typeface="+mn-cs"/>
                <a:hlinkClick r:id="rId7"/>
              </a:rPr>
              <a:t>applicants on the interviewer. It </a:t>
            </a:r>
            <a:r>
              <a:rPr lang="en-US" sz="1200" kern="1200" dirty="0">
                <a:solidFill>
                  <a:schemeClr val="tx1"/>
                </a:solidFill>
                <a:latin typeface="+mn-lt"/>
                <a:ea typeface="+mn-ea"/>
                <a:cs typeface="+mn-cs"/>
                <a:hlinkClick r:id="rId8"/>
              </a:rPr>
              <a:t>results in a conscious or subconscious comparison of one applicant with another, and tends to exaggerate the differences between the two.</a:t>
            </a:r>
          </a:p>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C8FDBA82-FA93-4C7E-BEA2-8501AD6639FE}" type="slidenum">
              <a:rPr lang="en-IE" smtClean="0"/>
              <a:t>25</a:t>
            </a:fld>
            <a:endParaRPr lang="en-IE"/>
          </a:p>
        </p:txBody>
      </p:sp>
    </p:spTree>
    <p:extLst>
      <p:ext uri="{BB962C8B-B14F-4D97-AF65-F5344CB8AC3E}">
        <p14:creationId xmlns:p14="http://schemas.microsoft.com/office/powerpoint/2010/main" val="34118367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Folienbildplatzhalt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08547" name="Notizenplatzhalt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de-DE" altLang="en-US"/>
              <a:t>A Survey of 153 human resource managers in America identified the 20 most common errors made by applicants attenting job interviews, listed here in order of importance</a:t>
            </a:r>
          </a:p>
        </p:txBody>
      </p:sp>
      <p:sp>
        <p:nvSpPr>
          <p:cNvPr id="108548" name="Foliennummernplatzhalt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itchFamily="34" charset="0"/>
                <a:ea typeface="MS PGothic" pitchFamily="34" charset="-128"/>
              </a:defRPr>
            </a:lvl1pPr>
            <a:lvl2pPr marL="739384" indent="-284378">
              <a:defRPr>
                <a:solidFill>
                  <a:schemeClr val="tx1"/>
                </a:solidFill>
                <a:latin typeface="Verdana" pitchFamily="34" charset="0"/>
                <a:ea typeface="MS PGothic" pitchFamily="34" charset="-128"/>
              </a:defRPr>
            </a:lvl2pPr>
            <a:lvl3pPr marL="1137514" indent="-227503">
              <a:defRPr>
                <a:solidFill>
                  <a:schemeClr val="tx1"/>
                </a:solidFill>
                <a:latin typeface="Verdana" pitchFamily="34" charset="0"/>
                <a:ea typeface="MS PGothic" pitchFamily="34" charset="-128"/>
              </a:defRPr>
            </a:lvl3pPr>
            <a:lvl4pPr marL="1592519" indent="-227503">
              <a:defRPr>
                <a:solidFill>
                  <a:schemeClr val="tx1"/>
                </a:solidFill>
                <a:latin typeface="Verdana" pitchFamily="34" charset="0"/>
                <a:ea typeface="MS PGothic" pitchFamily="34" charset="-128"/>
              </a:defRPr>
            </a:lvl4pPr>
            <a:lvl5pPr marL="2047524" indent="-227503">
              <a:defRPr>
                <a:solidFill>
                  <a:schemeClr val="tx1"/>
                </a:solidFill>
                <a:latin typeface="Verdana" pitchFamily="34" charset="0"/>
                <a:ea typeface="MS PGothic" pitchFamily="34" charset="-128"/>
              </a:defRPr>
            </a:lvl5pPr>
            <a:lvl6pPr marL="2502530" indent="-227503" eaLnBrk="0" fontAlgn="base" hangingPunct="0">
              <a:spcBef>
                <a:spcPct val="0"/>
              </a:spcBef>
              <a:spcAft>
                <a:spcPct val="0"/>
              </a:spcAft>
              <a:defRPr>
                <a:solidFill>
                  <a:schemeClr val="tx1"/>
                </a:solidFill>
                <a:latin typeface="Verdana" pitchFamily="34" charset="0"/>
                <a:ea typeface="MS PGothic" pitchFamily="34" charset="-128"/>
              </a:defRPr>
            </a:lvl6pPr>
            <a:lvl7pPr marL="2957535" indent="-227503" eaLnBrk="0" fontAlgn="base" hangingPunct="0">
              <a:spcBef>
                <a:spcPct val="0"/>
              </a:spcBef>
              <a:spcAft>
                <a:spcPct val="0"/>
              </a:spcAft>
              <a:defRPr>
                <a:solidFill>
                  <a:schemeClr val="tx1"/>
                </a:solidFill>
                <a:latin typeface="Verdana" pitchFamily="34" charset="0"/>
                <a:ea typeface="MS PGothic" pitchFamily="34" charset="-128"/>
              </a:defRPr>
            </a:lvl7pPr>
            <a:lvl8pPr marL="3412541" indent="-227503" eaLnBrk="0" fontAlgn="base" hangingPunct="0">
              <a:spcBef>
                <a:spcPct val="0"/>
              </a:spcBef>
              <a:spcAft>
                <a:spcPct val="0"/>
              </a:spcAft>
              <a:defRPr>
                <a:solidFill>
                  <a:schemeClr val="tx1"/>
                </a:solidFill>
                <a:latin typeface="Verdana" pitchFamily="34" charset="0"/>
                <a:ea typeface="MS PGothic" pitchFamily="34" charset="-128"/>
              </a:defRPr>
            </a:lvl8pPr>
            <a:lvl9pPr marL="3867546" indent="-227503" eaLnBrk="0" fontAlgn="base" hangingPunct="0">
              <a:spcBef>
                <a:spcPct val="0"/>
              </a:spcBef>
              <a:spcAft>
                <a:spcPct val="0"/>
              </a:spcAft>
              <a:defRPr>
                <a:solidFill>
                  <a:schemeClr val="tx1"/>
                </a:solidFill>
                <a:latin typeface="Verdana" pitchFamily="34" charset="0"/>
                <a:ea typeface="MS PGothic" pitchFamily="34" charset="-128"/>
              </a:defRPr>
            </a:lvl9pPr>
          </a:lstStyle>
          <a:p>
            <a:fld id="{94F9C472-37E8-4A7F-8B24-A889885CC9F2}" type="slidenum">
              <a:rPr lang="de-DE" altLang="en-US"/>
              <a:pPr/>
              <a:t>26</a:t>
            </a:fld>
            <a:endParaRPr lang="de-DE" altLang="en-US"/>
          </a:p>
        </p:txBody>
      </p:sp>
    </p:spTree>
    <p:extLst>
      <p:ext uri="{BB962C8B-B14F-4D97-AF65-F5344CB8AC3E}">
        <p14:creationId xmlns:p14="http://schemas.microsoft.com/office/powerpoint/2010/main" val="16974765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Folienbildplatzhalt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10595" name="Notizenplatzhalt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de-DE" altLang="en-US"/>
              <a:t>When we meet, say an accountant, a nurse, an engineer, a lecturer, we attribute certain personality traits to them because they are accountants, nurses, engineers or lecturers. </a:t>
            </a:r>
          </a:p>
          <a:p>
            <a:endParaRPr lang="de-DE" altLang="en-US"/>
          </a:p>
          <a:p>
            <a:r>
              <a:rPr lang="de-DE" altLang="en-US"/>
              <a:t>Therefore, stereotyping is an error at the perceptual organization stage in the process of perception. </a:t>
            </a:r>
          </a:p>
          <a:p>
            <a:endParaRPr lang="de-DE" altLang="en-US"/>
          </a:p>
          <a:p>
            <a:r>
              <a:rPr lang="en-US" altLang="en-US" sz="1500" b="1"/>
              <a:t>Occupation:</a:t>
            </a:r>
            <a:r>
              <a:rPr lang="en-US" altLang="en-US" sz="1500"/>
              <a:t> lecturers are boring</a:t>
            </a:r>
          </a:p>
          <a:p>
            <a:endParaRPr lang="en-US" altLang="en-US" sz="700"/>
          </a:p>
          <a:p>
            <a:r>
              <a:rPr lang="en-US" altLang="en-US" sz="1500" b="1"/>
              <a:t>Age:</a:t>
            </a:r>
            <a:r>
              <a:rPr lang="en-US" altLang="en-US" sz="1500"/>
              <a:t> No old person wants to consider new ideas</a:t>
            </a:r>
          </a:p>
          <a:p>
            <a:endParaRPr lang="en-US" altLang="en-US" sz="700"/>
          </a:p>
          <a:p>
            <a:r>
              <a:rPr lang="en-US" altLang="en-US" sz="1500" b="1"/>
              <a:t>Physical:</a:t>
            </a:r>
            <a:r>
              <a:rPr lang="en-US" altLang="en-US" sz="1500"/>
              <a:t> all people with red hair have a fiery temperament </a:t>
            </a:r>
          </a:p>
          <a:p>
            <a:endParaRPr lang="en-US" altLang="en-US" sz="700"/>
          </a:p>
          <a:p>
            <a:r>
              <a:rPr lang="en-US" altLang="en-US" sz="1500" b="1"/>
              <a:t>Education:</a:t>
            </a:r>
            <a:r>
              <a:rPr lang="en-US" altLang="en-US" sz="1500"/>
              <a:t> All graduates are intelligent</a:t>
            </a:r>
          </a:p>
          <a:p>
            <a:endParaRPr lang="en-US" altLang="en-US" sz="700"/>
          </a:p>
          <a:p>
            <a:r>
              <a:rPr lang="en-US" altLang="en-US" sz="1500" b="1"/>
              <a:t>Social:</a:t>
            </a:r>
            <a:r>
              <a:rPr lang="en-US" altLang="en-US" sz="1500"/>
              <a:t> unemployed people are lazy</a:t>
            </a:r>
          </a:p>
          <a:p>
            <a:endParaRPr lang="en-US" altLang="en-US" sz="700"/>
          </a:p>
          <a:p>
            <a:r>
              <a:rPr lang="en-US" altLang="en-US" sz="1500" b="1"/>
              <a:t>Nationality:</a:t>
            </a:r>
            <a:r>
              <a:rPr lang="en-US" altLang="en-US" sz="1500"/>
              <a:t> Australians like cricket</a:t>
            </a:r>
            <a:endParaRPr lang="de-DE" altLang="en-US" sz="1500"/>
          </a:p>
        </p:txBody>
      </p:sp>
      <p:sp>
        <p:nvSpPr>
          <p:cNvPr id="110596" name="Foliennummernplatzhalt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itchFamily="34" charset="0"/>
                <a:ea typeface="MS PGothic" pitchFamily="34" charset="-128"/>
              </a:defRPr>
            </a:lvl1pPr>
            <a:lvl2pPr marL="739384" indent="-284378">
              <a:defRPr>
                <a:solidFill>
                  <a:schemeClr val="tx1"/>
                </a:solidFill>
                <a:latin typeface="Verdana" pitchFamily="34" charset="0"/>
                <a:ea typeface="MS PGothic" pitchFamily="34" charset="-128"/>
              </a:defRPr>
            </a:lvl2pPr>
            <a:lvl3pPr marL="1137514" indent="-227503">
              <a:defRPr>
                <a:solidFill>
                  <a:schemeClr val="tx1"/>
                </a:solidFill>
                <a:latin typeface="Verdana" pitchFamily="34" charset="0"/>
                <a:ea typeface="MS PGothic" pitchFamily="34" charset="-128"/>
              </a:defRPr>
            </a:lvl3pPr>
            <a:lvl4pPr marL="1592519" indent="-227503">
              <a:defRPr>
                <a:solidFill>
                  <a:schemeClr val="tx1"/>
                </a:solidFill>
                <a:latin typeface="Verdana" pitchFamily="34" charset="0"/>
                <a:ea typeface="MS PGothic" pitchFamily="34" charset="-128"/>
              </a:defRPr>
            </a:lvl4pPr>
            <a:lvl5pPr marL="2047524" indent="-227503">
              <a:defRPr>
                <a:solidFill>
                  <a:schemeClr val="tx1"/>
                </a:solidFill>
                <a:latin typeface="Verdana" pitchFamily="34" charset="0"/>
                <a:ea typeface="MS PGothic" pitchFamily="34" charset="-128"/>
              </a:defRPr>
            </a:lvl5pPr>
            <a:lvl6pPr marL="2502530" indent="-227503" eaLnBrk="0" fontAlgn="base" hangingPunct="0">
              <a:spcBef>
                <a:spcPct val="0"/>
              </a:spcBef>
              <a:spcAft>
                <a:spcPct val="0"/>
              </a:spcAft>
              <a:defRPr>
                <a:solidFill>
                  <a:schemeClr val="tx1"/>
                </a:solidFill>
                <a:latin typeface="Verdana" pitchFamily="34" charset="0"/>
                <a:ea typeface="MS PGothic" pitchFamily="34" charset="-128"/>
              </a:defRPr>
            </a:lvl6pPr>
            <a:lvl7pPr marL="2957535" indent="-227503" eaLnBrk="0" fontAlgn="base" hangingPunct="0">
              <a:spcBef>
                <a:spcPct val="0"/>
              </a:spcBef>
              <a:spcAft>
                <a:spcPct val="0"/>
              </a:spcAft>
              <a:defRPr>
                <a:solidFill>
                  <a:schemeClr val="tx1"/>
                </a:solidFill>
                <a:latin typeface="Verdana" pitchFamily="34" charset="0"/>
                <a:ea typeface="MS PGothic" pitchFamily="34" charset="-128"/>
              </a:defRPr>
            </a:lvl7pPr>
            <a:lvl8pPr marL="3412541" indent="-227503" eaLnBrk="0" fontAlgn="base" hangingPunct="0">
              <a:spcBef>
                <a:spcPct val="0"/>
              </a:spcBef>
              <a:spcAft>
                <a:spcPct val="0"/>
              </a:spcAft>
              <a:defRPr>
                <a:solidFill>
                  <a:schemeClr val="tx1"/>
                </a:solidFill>
                <a:latin typeface="Verdana" pitchFamily="34" charset="0"/>
                <a:ea typeface="MS PGothic" pitchFamily="34" charset="-128"/>
              </a:defRPr>
            </a:lvl8pPr>
            <a:lvl9pPr marL="3867546" indent="-227503" eaLnBrk="0" fontAlgn="base" hangingPunct="0">
              <a:spcBef>
                <a:spcPct val="0"/>
              </a:spcBef>
              <a:spcAft>
                <a:spcPct val="0"/>
              </a:spcAft>
              <a:defRPr>
                <a:solidFill>
                  <a:schemeClr val="tx1"/>
                </a:solidFill>
                <a:latin typeface="Verdana" pitchFamily="34" charset="0"/>
                <a:ea typeface="MS PGothic" pitchFamily="34" charset="-128"/>
              </a:defRPr>
            </a:lvl9pPr>
          </a:lstStyle>
          <a:p>
            <a:fld id="{9DC0A2D2-BC1A-42C3-B914-ED1B1913B5C7}" type="slidenum">
              <a:rPr lang="de-DE" altLang="en-US"/>
              <a:pPr/>
              <a:t>27</a:t>
            </a:fld>
            <a:endParaRPr lang="de-DE" altLang="en-US"/>
          </a:p>
        </p:txBody>
      </p:sp>
    </p:spTree>
    <p:extLst>
      <p:ext uri="{BB962C8B-B14F-4D97-AF65-F5344CB8AC3E}">
        <p14:creationId xmlns:p14="http://schemas.microsoft.com/office/powerpoint/2010/main" val="20702301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Folienbildplatzhalt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14691" name="Notizenplatzhalt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de-DE" altLang="en-US" dirty="0"/>
              <a:t>No only do stereotypes affect how we perceive and interpret other people‘s behaviors, they also often cause us to remember stereotype-consistent information about others better than stereotype inconsistent information. For example, Allport &amp; Postman (1947) showed participants a picture of a subway train filled with passengers. In the picture were a black man dressed in a suit and a white man holding a razor. One participant viewed the scene briefly and then described it to a second participant who had not seen it. The second person communicated the description to a third participant and so on through six rounds of communication. </a:t>
            </a:r>
          </a:p>
          <a:p>
            <a:endParaRPr lang="de-DE" altLang="en-US" dirty="0"/>
          </a:p>
          <a:p>
            <a:r>
              <a:rPr lang="de-DE" altLang="en-US" dirty="0"/>
              <a:t>The result: In more than half the sessions the final participant‘s report indicated that the black man, not the white man, held the razor. Some participants even reported that he had waved it in a threatening manner.</a:t>
            </a:r>
          </a:p>
          <a:p>
            <a:endParaRPr lang="de-DE" altLang="en-US" dirty="0"/>
          </a:p>
          <a:p>
            <a:r>
              <a:rPr lang="de-DE" altLang="en-US" dirty="0"/>
              <a:t>The distortion may occur evenin participants who have no anti-African American bias. It is a very common cultural stereotype that African Americans are hot-tempered and that they are likely to use razors and weapons. </a:t>
            </a:r>
            <a:endParaRPr lang="en-GB" altLang="en-US" dirty="0"/>
          </a:p>
        </p:txBody>
      </p:sp>
      <p:sp>
        <p:nvSpPr>
          <p:cNvPr id="114692" name="Foliennummernplatzhalt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itchFamily="34" charset="0"/>
                <a:ea typeface="MS PGothic" pitchFamily="34" charset="-128"/>
              </a:defRPr>
            </a:lvl1pPr>
            <a:lvl2pPr marL="739384" indent="-284378">
              <a:defRPr>
                <a:solidFill>
                  <a:schemeClr val="tx1"/>
                </a:solidFill>
                <a:latin typeface="Verdana" pitchFamily="34" charset="0"/>
                <a:ea typeface="MS PGothic" pitchFamily="34" charset="-128"/>
              </a:defRPr>
            </a:lvl2pPr>
            <a:lvl3pPr marL="1137514" indent="-227503">
              <a:defRPr>
                <a:solidFill>
                  <a:schemeClr val="tx1"/>
                </a:solidFill>
                <a:latin typeface="Verdana" pitchFamily="34" charset="0"/>
                <a:ea typeface="MS PGothic" pitchFamily="34" charset="-128"/>
              </a:defRPr>
            </a:lvl3pPr>
            <a:lvl4pPr marL="1592519" indent="-227503">
              <a:defRPr>
                <a:solidFill>
                  <a:schemeClr val="tx1"/>
                </a:solidFill>
                <a:latin typeface="Verdana" pitchFamily="34" charset="0"/>
                <a:ea typeface="MS PGothic" pitchFamily="34" charset="-128"/>
              </a:defRPr>
            </a:lvl4pPr>
            <a:lvl5pPr marL="2047524" indent="-227503">
              <a:defRPr>
                <a:solidFill>
                  <a:schemeClr val="tx1"/>
                </a:solidFill>
                <a:latin typeface="Verdana" pitchFamily="34" charset="0"/>
                <a:ea typeface="MS PGothic" pitchFamily="34" charset="-128"/>
              </a:defRPr>
            </a:lvl5pPr>
            <a:lvl6pPr marL="2502530" indent="-227503" eaLnBrk="0" fontAlgn="base" hangingPunct="0">
              <a:spcBef>
                <a:spcPct val="0"/>
              </a:spcBef>
              <a:spcAft>
                <a:spcPct val="0"/>
              </a:spcAft>
              <a:defRPr>
                <a:solidFill>
                  <a:schemeClr val="tx1"/>
                </a:solidFill>
                <a:latin typeface="Verdana" pitchFamily="34" charset="0"/>
                <a:ea typeface="MS PGothic" pitchFamily="34" charset="-128"/>
              </a:defRPr>
            </a:lvl6pPr>
            <a:lvl7pPr marL="2957535" indent="-227503" eaLnBrk="0" fontAlgn="base" hangingPunct="0">
              <a:spcBef>
                <a:spcPct val="0"/>
              </a:spcBef>
              <a:spcAft>
                <a:spcPct val="0"/>
              </a:spcAft>
              <a:defRPr>
                <a:solidFill>
                  <a:schemeClr val="tx1"/>
                </a:solidFill>
                <a:latin typeface="Verdana" pitchFamily="34" charset="0"/>
                <a:ea typeface="MS PGothic" pitchFamily="34" charset="-128"/>
              </a:defRPr>
            </a:lvl7pPr>
            <a:lvl8pPr marL="3412541" indent="-227503" eaLnBrk="0" fontAlgn="base" hangingPunct="0">
              <a:spcBef>
                <a:spcPct val="0"/>
              </a:spcBef>
              <a:spcAft>
                <a:spcPct val="0"/>
              </a:spcAft>
              <a:defRPr>
                <a:solidFill>
                  <a:schemeClr val="tx1"/>
                </a:solidFill>
                <a:latin typeface="Verdana" pitchFamily="34" charset="0"/>
                <a:ea typeface="MS PGothic" pitchFamily="34" charset="-128"/>
              </a:defRPr>
            </a:lvl8pPr>
            <a:lvl9pPr marL="3867546" indent="-227503" eaLnBrk="0" fontAlgn="base" hangingPunct="0">
              <a:spcBef>
                <a:spcPct val="0"/>
              </a:spcBef>
              <a:spcAft>
                <a:spcPct val="0"/>
              </a:spcAft>
              <a:defRPr>
                <a:solidFill>
                  <a:schemeClr val="tx1"/>
                </a:solidFill>
                <a:latin typeface="Verdana" pitchFamily="34" charset="0"/>
                <a:ea typeface="MS PGothic" pitchFamily="34" charset="-128"/>
              </a:defRPr>
            </a:lvl9pPr>
          </a:lstStyle>
          <a:p>
            <a:fld id="{292B2D37-13A0-46E2-99C4-61D1514BF093}" type="slidenum">
              <a:rPr lang="de-DE" altLang="en-US"/>
              <a:pPr/>
              <a:t>28</a:t>
            </a:fld>
            <a:endParaRPr lang="de-DE" altLang="en-US"/>
          </a:p>
        </p:txBody>
      </p:sp>
    </p:spTree>
    <p:extLst>
      <p:ext uri="{BB962C8B-B14F-4D97-AF65-F5344CB8AC3E}">
        <p14:creationId xmlns:p14="http://schemas.microsoft.com/office/powerpoint/2010/main" val="1114877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Folienbildplatzhalt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16739" name="Notizenplatzhalt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de-DE" altLang="en-US" dirty="0"/>
          </a:p>
        </p:txBody>
      </p:sp>
      <p:sp>
        <p:nvSpPr>
          <p:cNvPr id="116740" name="Foliennummernplatzhalter 3"/>
          <p:cNvSpPr txBox="1">
            <a:spLocks noGrp="1"/>
          </p:cNvSpPr>
          <p:nvPr/>
        </p:nvSpPr>
        <p:spPr bwMode="auto">
          <a:xfrm>
            <a:off x="3850443" y="9430091"/>
            <a:ext cx="2945659" cy="4964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001" tIns="45501" rIns="91001" bIns="45501" anchor="b"/>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r"/>
            <a:fld id="{8C355464-D88A-417B-BCA6-0F7C0447FA31}" type="slidenum">
              <a:rPr lang="de-DE" altLang="en-US" sz="1200"/>
              <a:pPr algn="r"/>
              <a:t>29</a:t>
            </a:fld>
            <a:endParaRPr lang="de-DE" altLang="en-US" sz="1200"/>
          </a:p>
        </p:txBody>
      </p:sp>
    </p:spTree>
    <p:extLst>
      <p:ext uri="{BB962C8B-B14F-4D97-AF65-F5344CB8AC3E}">
        <p14:creationId xmlns:p14="http://schemas.microsoft.com/office/powerpoint/2010/main" val="40031155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18787"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de-DE" altLang="en-US" dirty="0"/>
              <a:t>An attribution is a belief about the cause or causes of an event or an action. Why did that person bump into me? Why is my friend so successful? Why did I fail my exam?</a:t>
            </a:r>
          </a:p>
          <a:p>
            <a:endParaRPr lang="de-DE" altLang="en-US" dirty="0"/>
          </a:p>
          <a:p>
            <a:r>
              <a:rPr lang="de-DE" altLang="en-US" dirty="0"/>
              <a:t>If we understand the causes of conflict, success, or failure we may be able to adjust our behavior and other factors accordingly. Attribution is simply the process of attaching causes to the actions and events we see. </a:t>
            </a:r>
          </a:p>
          <a:p>
            <a:endParaRPr lang="de-DE" altLang="en-US" dirty="0"/>
          </a:p>
          <a:p>
            <a:endParaRPr lang="de-DE" altLang="en-US" dirty="0"/>
          </a:p>
          <a:p>
            <a:r>
              <a:rPr lang="de-DE" altLang="en-US" dirty="0"/>
              <a:t>This theory was developed in the 1950s and the 1960s by Fritz Heider (1958) and Harold Kelley (1971).</a:t>
            </a:r>
          </a:p>
          <a:p>
            <a:endParaRPr lang="de-DE" altLang="en-US" dirty="0"/>
          </a:p>
          <a:p>
            <a:r>
              <a:rPr lang="de-DE" altLang="en-US" dirty="0"/>
              <a:t>Fundamental attribution error: Assume we are dealing with an unhelpful shop assistant. Our first assumption is that the individual is at fault, rather than aspects of the setting in which they find themselves. Other explanations – individuals factors (assistant does not cope with the demands of the job as not training received), context factors (e.g., shop assistant is bitter about being made redundant due to economic problems), etc. </a:t>
            </a:r>
          </a:p>
          <a:p>
            <a:endParaRPr lang="de-DE" altLang="en-US" dirty="0"/>
          </a:p>
          <a:p>
            <a:endParaRPr lang="de-DE" altLang="en-US" dirty="0"/>
          </a:p>
          <a:p>
            <a:endParaRPr lang="en-IE" altLang="en-US" dirty="0"/>
          </a:p>
        </p:txBody>
      </p:sp>
      <p:sp>
        <p:nvSpPr>
          <p:cNvPr id="118788"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itchFamily="34" charset="0"/>
                <a:ea typeface="MS PGothic" pitchFamily="34" charset="-128"/>
              </a:defRPr>
            </a:lvl1pPr>
            <a:lvl2pPr marL="739384" indent="-284378">
              <a:defRPr>
                <a:solidFill>
                  <a:schemeClr val="tx1"/>
                </a:solidFill>
                <a:latin typeface="Verdana" pitchFamily="34" charset="0"/>
                <a:ea typeface="MS PGothic" pitchFamily="34" charset="-128"/>
              </a:defRPr>
            </a:lvl2pPr>
            <a:lvl3pPr marL="1137514" indent="-227503">
              <a:defRPr>
                <a:solidFill>
                  <a:schemeClr val="tx1"/>
                </a:solidFill>
                <a:latin typeface="Verdana" pitchFamily="34" charset="0"/>
                <a:ea typeface="MS PGothic" pitchFamily="34" charset="-128"/>
              </a:defRPr>
            </a:lvl3pPr>
            <a:lvl4pPr marL="1592519" indent="-227503">
              <a:defRPr>
                <a:solidFill>
                  <a:schemeClr val="tx1"/>
                </a:solidFill>
                <a:latin typeface="Verdana" pitchFamily="34" charset="0"/>
                <a:ea typeface="MS PGothic" pitchFamily="34" charset="-128"/>
              </a:defRPr>
            </a:lvl4pPr>
            <a:lvl5pPr marL="2047524" indent="-227503">
              <a:defRPr>
                <a:solidFill>
                  <a:schemeClr val="tx1"/>
                </a:solidFill>
                <a:latin typeface="Verdana" pitchFamily="34" charset="0"/>
                <a:ea typeface="MS PGothic" pitchFamily="34" charset="-128"/>
              </a:defRPr>
            </a:lvl5pPr>
            <a:lvl6pPr marL="2502530" indent="-227503" eaLnBrk="0" fontAlgn="base" hangingPunct="0">
              <a:spcBef>
                <a:spcPct val="0"/>
              </a:spcBef>
              <a:spcAft>
                <a:spcPct val="0"/>
              </a:spcAft>
              <a:defRPr>
                <a:solidFill>
                  <a:schemeClr val="tx1"/>
                </a:solidFill>
                <a:latin typeface="Verdana" pitchFamily="34" charset="0"/>
                <a:ea typeface="MS PGothic" pitchFamily="34" charset="-128"/>
              </a:defRPr>
            </a:lvl6pPr>
            <a:lvl7pPr marL="2957535" indent="-227503" eaLnBrk="0" fontAlgn="base" hangingPunct="0">
              <a:spcBef>
                <a:spcPct val="0"/>
              </a:spcBef>
              <a:spcAft>
                <a:spcPct val="0"/>
              </a:spcAft>
              <a:defRPr>
                <a:solidFill>
                  <a:schemeClr val="tx1"/>
                </a:solidFill>
                <a:latin typeface="Verdana" pitchFamily="34" charset="0"/>
                <a:ea typeface="MS PGothic" pitchFamily="34" charset="-128"/>
              </a:defRPr>
            </a:lvl7pPr>
            <a:lvl8pPr marL="3412541" indent="-227503" eaLnBrk="0" fontAlgn="base" hangingPunct="0">
              <a:spcBef>
                <a:spcPct val="0"/>
              </a:spcBef>
              <a:spcAft>
                <a:spcPct val="0"/>
              </a:spcAft>
              <a:defRPr>
                <a:solidFill>
                  <a:schemeClr val="tx1"/>
                </a:solidFill>
                <a:latin typeface="Verdana" pitchFamily="34" charset="0"/>
                <a:ea typeface="MS PGothic" pitchFamily="34" charset="-128"/>
              </a:defRPr>
            </a:lvl8pPr>
            <a:lvl9pPr marL="3867546" indent="-227503" eaLnBrk="0" fontAlgn="base" hangingPunct="0">
              <a:spcBef>
                <a:spcPct val="0"/>
              </a:spcBef>
              <a:spcAft>
                <a:spcPct val="0"/>
              </a:spcAft>
              <a:defRPr>
                <a:solidFill>
                  <a:schemeClr val="tx1"/>
                </a:solidFill>
                <a:latin typeface="Verdana" pitchFamily="34" charset="0"/>
                <a:ea typeface="MS PGothic" pitchFamily="34" charset="-128"/>
              </a:defRPr>
            </a:lvl9pPr>
          </a:lstStyle>
          <a:p>
            <a:fld id="{68007B5A-5667-4584-BBA9-2716C604546A}" type="slidenum">
              <a:rPr lang="de-DE" altLang="en-US"/>
              <a:pPr/>
              <a:t>30</a:t>
            </a:fld>
            <a:endParaRPr lang="de-DE" altLang="en-US"/>
          </a:p>
        </p:txBody>
      </p:sp>
    </p:spTree>
    <p:extLst>
      <p:ext uri="{BB962C8B-B14F-4D97-AF65-F5344CB8AC3E}">
        <p14:creationId xmlns:p14="http://schemas.microsoft.com/office/powerpoint/2010/main" val="27592895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Folienbildplatzhalt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20835" name="Notizenplatzhalt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de-DE" altLang="en-US"/>
          </a:p>
          <a:p>
            <a:endParaRPr lang="de-DE" altLang="en-US"/>
          </a:p>
        </p:txBody>
      </p:sp>
      <p:sp>
        <p:nvSpPr>
          <p:cNvPr id="120836" name="Foliennummernplatzhalt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itchFamily="34" charset="0"/>
                <a:ea typeface="MS PGothic" pitchFamily="34" charset="-128"/>
              </a:defRPr>
            </a:lvl1pPr>
            <a:lvl2pPr marL="739384" indent="-284378">
              <a:defRPr>
                <a:solidFill>
                  <a:schemeClr val="tx1"/>
                </a:solidFill>
                <a:latin typeface="Verdana" pitchFamily="34" charset="0"/>
                <a:ea typeface="MS PGothic" pitchFamily="34" charset="-128"/>
              </a:defRPr>
            </a:lvl2pPr>
            <a:lvl3pPr marL="1137514" indent="-227503">
              <a:defRPr>
                <a:solidFill>
                  <a:schemeClr val="tx1"/>
                </a:solidFill>
                <a:latin typeface="Verdana" pitchFamily="34" charset="0"/>
                <a:ea typeface="MS PGothic" pitchFamily="34" charset="-128"/>
              </a:defRPr>
            </a:lvl3pPr>
            <a:lvl4pPr marL="1592519" indent="-227503">
              <a:defRPr>
                <a:solidFill>
                  <a:schemeClr val="tx1"/>
                </a:solidFill>
                <a:latin typeface="Verdana" pitchFamily="34" charset="0"/>
                <a:ea typeface="MS PGothic" pitchFamily="34" charset="-128"/>
              </a:defRPr>
            </a:lvl4pPr>
            <a:lvl5pPr marL="2047524" indent="-227503">
              <a:defRPr>
                <a:solidFill>
                  <a:schemeClr val="tx1"/>
                </a:solidFill>
                <a:latin typeface="Verdana" pitchFamily="34" charset="0"/>
                <a:ea typeface="MS PGothic" pitchFamily="34" charset="-128"/>
              </a:defRPr>
            </a:lvl5pPr>
            <a:lvl6pPr marL="2502530" indent="-227503" eaLnBrk="0" fontAlgn="base" hangingPunct="0">
              <a:spcBef>
                <a:spcPct val="0"/>
              </a:spcBef>
              <a:spcAft>
                <a:spcPct val="0"/>
              </a:spcAft>
              <a:defRPr>
                <a:solidFill>
                  <a:schemeClr val="tx1"/>
                </a:solidFill>
                <a:latin typeface="Verdana" pitchFamily="34" charset="0"/>
                <a:ea typeface="MS PGothic" pitchFamily="34" charset="-128"/>
              </a:defRPr>
            </a:lvl6pPr>
            <a:lvl7pPr marL="2957535" indent="-227503" eaLnBrk="0" fontAlgn="base" hangingPunct="0">
              <a:spcBef>
                <a:spcPct val="0"/>
              </a:spcBef>
              <a:spcAft>
                <a:spcPct val="0"/>
              </a:spcAft>
              <a:defRPr>
                <a:solidFill>
                  <a:schemeClr val="tx1"/>
                </a:solidFill>
                <a:latin typeface="Verdana" pitchFamily="34" charset="0"/>
                <a:ea typeface="MS PGothic" pitchFamily="34" charset="-128"/>
              </a:defRPr>
            </a:lvl7pPr>
            <a:lvl8pPr marL="3412541" indent="-227503" eaLnBrk="0" fontAlgn="base" hangingPunct="0">
              <a:spcBef>
                <a:spcPct val="0"/>
              </a:spcBef>
              <a:spcAft>
                <a:spcPct val="0"/>
              </a:spcAft>
              <a:defRPr>
                <a:solidFill>
                  <a:schemeClr val="tx1"/>
                </a:solidFill>
                <a:latin typeface="Verdana" pitchFamily="34" charset="0"/>
                <a:ea typeface="MS PGothic" pitchFamily="34" charset="-128"/>
              </a:defRPr>
            </a:lvl8pPr>
            <a:lvl9pPr marL="3867546" indent="-227503" eaLnBrk="0" fontAlgn="base" hangingPunct="0">
              <a:spcBef>
                <a:spcPct val="0"/>
              </a:spcBef>
              <a:spcAft>
                <a:spcPct val="0"/>
              </a:spcAft>
              <a:defRPr>
                <a:solidFill>
                  <a:schemeClr val="tx1"/>
                </a:solidFill>
                <a:latin typeface="Verdana" pitchFamily="34" charset="0"/>
                <a:ea typeface="MS PGothic" pitchFamily="34" charset="-128"/>
              </a:defRPr>
            </a:lvl9pPr>
          </a:lstStyle>
          <a:p>
            <a:fld id="{57AF3ED3-1769-4720-AB91-FC8ADCBEC76C}" type="slidenum">
              <a:rPr lang="de-DE" altLang="en-US"/>
              <a:pPr/>
              <a:t>31</a:t>
            </a:fld>
            <a:endParaRPr lang="de-DE" altLang="en-US"/>
          </a:p>
        </p:txBody>
      </p:sp>
    </p:spTree>
    <p:extLst>
      <p:ext uri="{BB962C8B-B14F-4D97-AF65-F5344CB8AC3E}">
        <p14:creationId xmlns:p14="http://schemas.microsoft.com/office/powerpoint/2010/main" val="11880593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Folienbildplatzhalt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22883" name="Notizenplatzhalt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459746" indent="-459746">
              <a:lnSpc>
                <a:spcPct val="120000"/>
              </a:lnSpc>
              <a:spcBef>
                <a:spcPct val="20000"/>
              </a:spcBef>
              <a:buFont typeface="Wingdings" pitchFamily="2" charset="2"/>
              <a:buAutoNum type="arabicPeriod"/>
            </a:pPr>
            <a:r>
              <a:rPr lang="en-US" altLang="en-US">
                <a:latin typeface="Arial" pitchFamily="34" charset="0"/>
              </a:rPr>
              <a:t>Not collecting enough information about other people</a:t>
            </a:r>
          </a:p>
          <a:p>
            <a:pPr marL="459746" indent="-459746">
              <a:lnSpc>
                <a:spcPct val="120000"/>
              </a:lnSpc>
              <a:spcBef>
                <a:spcPct val="20000"/>
              </a:spcBef>
              <a:buFont typeface="Wingdings" pitchFamily="2" charset="2"/>
              <a:buAutoNum type="arabicPeriod"/>
            </a:pPr>
            <a:r>
              <a:rPr lang="en-US" altLang="en-US">
                <a:latin typeface="Arial" pitchFamily="34" charset="0"/>
              </a:rPr>
              <a:t>Basing our judgements on information that is irrelevant or insignificant</a:t>
            </a:r>
          </a:p>
          <a:p>
            <a:pPr marL="459746" indent="-459746">
              <a:lnSpc>
                <a:spcPct val="120000"/>
              </a:lnSpc>
              <a:spcBef>
                <a:spcPct val="20000"/>
              </a:spcBef>
              <a:buFont typeface="Wingdings" pitchFamily="2" charset="2"/>
              <a:buAutoNum type="arabicPeriod"/>
            </a:pPr>
            <a:r>
              <a:rPr lang="en-US" altLang="en-US">
                <a:latin typeface="Arial" pitchFamily="34" charset="0"/>
              </a:rPr>
              <a:t>Seeing what we expect to see and what we want to see, and not investigating further</a:t>
            </a:r>
          </a:p>
          <a:p>
            <a:pPr marL="459746" indent="-459746">
              <a:lnSpc>
                <a:spcPct val="120000"/>
              </a:lnSpc>
              <a:spcBef>
                <a:spcPct val="20000"/>
              </a:spcBef>
              <a:buFont typeface="Wingdings" pitchFamily="2" charset="2"/>
              <a:buAutoNum type="arabicPeriod"/>
            </a:pPr>
            <a:r>
              <a:rPr lang="en-US" altLang="en-US">
                <a:latin typeface="Arial" pitchFamily="34" charset="0"/>
              </a:rPr>
              <a:t>Allowing early information about someone to colour our judgement, despite later and contradictory information</a:t>
            </a:r>
          </a:p>
          <a:p>
            <a:pPr marL="459746" indent="-459746">
              <a:lnSpc>
                <a:spcPct val="120000"/>
              </a:lnSpc>
              <a:spcBef>
                <a:spcPct val="20000"/>
              </a:spcBef>
              <a:buFont typeface="Wingdings" pitchFamily="2" charset="2"/>
              <a:buAutoNum type="arabicPeriod"/>
            </a:pPr>
            <a:r>
              <a:rPr lang="en-US" altLang="en-US">
                <a:latin typeface="Arial" pitchFamily="34" charset="0"/>
              </a:rPr>
              <a:t>Allowing our own characteristics to influence our judgements of others</a:t>
            </a:r>
          </a:p>
          <a:p>
            <a:pPr marL="459746" indent="-459746">
              <a:lnSpc>
                <a:spcPct val="120000"/>
              </a:lnSpc>
              <a:spcBef>
                <a:spcPct val="20000"/>
              </a:spcBef>
              <a:buFont typeface="Wingdings" pitchFamily="2" charset="2"/>
              <a:buAutoNum type="arabicPeriod"/>
            </a:pPr>
            <a:r>
              <a:rPr lang="en-US" altLang="en-US">
                <a:latin typeface="Arial" pitchFamily="34" charset="0"/>
              </a:rPr>
              <a:t>Accepting stereotypes uncritically</a:t>
            </a:r>
          </a:p>
          <a:p>
            <a:pPr marL="459746" indent="-459746">
              <a:lnSpc>
                <a:spcPct val="120000"/>
              </a:lnSpc>
              <a:spcBef>
                <a:spcPct val="20000"/>
              </a:spcBef>
              <a:buFont typeface="Wingdings" pitchFamily="2" charset="2"/>
              <a:buAutoNum type="arabicPeriod"/>
            </a:pPr>
            <a:r>
              <a:rPr lang="en-US" altLang="en-US">
                <a:latin typeface="Arial" pitchFamily="34" charset="0"/>
              </a:rPr>
              <a:t>Attempting to decode non-verbal behaviour out with the context in which it appears</a:t>
            </a:r>
          </a:p>
          <a:p>
            <a:pPr marL="459746" indent="-459746">
              <a:lnSpc>
                <a:spcPct val="120000"/>
              </a:lnSpc>
              <a:spcBef>
                <a:spcPct val="20000"/>
              </a:spcBef>
              <a:buFont typeface="Wingdings" pitchFamily="2" charset="2"/>
              <a:buAutoNum type="arabicPeriod"/>
            </a:pPr>
            <a:r>
              <a:rPr lang="en-US" altLang="en-US">
                <a:latin typeface="Arial" pitchFamily="34" charset="0"/>
              </a:rPr>
              <a:t>Basing attributions on flimsy and potentially irrelevant evidence</a:t>
            </a:r>
          </a:p>
          <a:p>
            <a:pPr marL="459746" indent="-459746"/>
            <a:endParaRPr lang="de-DE" altLang="en-US"/>
          </a:p>
        </p:txBody>
      </p:sp>
      <p:sp>
        <p:nvSpPr>
          <p:cNvPr id="122884" name="Foliennummernplatzhalt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itchFamily="34" charset="0"/>
                <a:ea typeface="MS PGothic" pitchFamily="34" charset="-128"/>
              </a:defRPr>
            </a:lvl1pPr>
            <a:lvl2pPr marL="739384" indent="-284378">
              <a:defRPr>
                <a:solidFill>
                  <a:schemeClr val="tx1"/>
                </a:solidFill>
                <a:latin typeface="Verdana" pitchFamily="34" charset="0"/>
                <a:ea typeface="MS PGothic" pitchFamily="34" charset="-128"/>
              </a:defRPr>
            </a:lvl2pPr>
            <a:lvl3pPr marL="1137514" indent="-227503">
              <a:defRPr>
                <a:solidFill>
                  <a:schemeClr val="tx1"/>
                </a:solidFill>
                <a:latin typeface="Verdana" pitchFamily="34" charset="0"/>
                <a:ea typeface="MS PGothic" pitchFamily="34" charset="-128"/>
              </a:defRPr>
            </a:lvl3pPr>
            <a:lvl4pPr marL="1592519" indent="-227503">
              <a:defRPr>
                <a:solidFill>
                  <a:schemeClr val="tx1"/>
                </a:solidFill>
                <a:latin typeface="Verdana" pitchFamily="34" charset="0"/>
                <a:ea typeface="MS PGothic" pitchFamily="34" charset="-128"/>
              </a:defRPr>
            </a:lvl4pPr>
            <a:lvl5pPr marL="2047524" indent="-227503">
              <a:defRPr>
                <a:solidFill>
                  <a:schemeClr val="tx1"/>
                </a:solidFill>
                <a:latin typeface="Verdana" pitchFamily="34" charset="0"/>
                <a:ea typeface="MS PGothic" pitchFamily="34" charset="-128"/>
              </a:defRPr>
            </a:lvl5pPr>
            <a:lvl6pPr marL="2502530" indent="-227503" eaLnBrk="0" fontAlgn="base" hangingPunct="0">
              <a:spcBef>
                <a:spcPct val="0"/>
              </a:spcBef>
              <a:spcAft>
                <a:spcPct val="0"/>
              </a:spcAft>
              <a:defRPr>
                <a:solidFill>
                  <a:schemeClr val="tx1"/>
                </a:solidFill>
                <a:latin typeface="Verdana" pitchFamily="34" charset="0"/>
                <a:ea typeface="MS PGothic" pitchFamily="34" charset="-128"/>
              </a:defRPr>
            </a:lvl6pPr>
            <a:lvl7pPr marL="2957535" indent="-227503" eaLnBrk="0" fontAlgn="base" hangingPunct="0">
              <a:spcBef>
                <a:spcPct val="0"/>
              </a:spcBef>
              <a:spcAft>
                <a:spcPct val="0"/>
              </a:spcAft>
              <a:defRPr>
                <a:solidFill>
                  <a:schemeClr val="tx1"/>
                </a:solidFill>
                <a:latin typeface="Verdana" pitchFamily="34" charset="0"/>
                <a:ea typeface="MS PGothic" pitchFamily="34" charset="-128"/>
              </a:defRPr>
            </a:lvl7pPr>
            <a:lvl8pPr marL="3412541" indent="-227503" eaLnBrk="0" fontAlgn="base" hangingPunct="0">
              <a:spcBef>
                <a:spcPct val="0"/>
              </a:spcBef>
              <a:spcAft>
                <a:spcPct val="0"/>
              </a:spcAft>
              <a:defRPr>
                <a:solidFill>
                  <a:schemeClr val="tx1"/>
                </a:solidFill>
                <a:latin typeface="Verdana" pitchFamily="34" charset="0"/>
                <a:ea typeface="MS PGothic" pitchFamily="34" charset="-128"/>
              </a:defRPr>
            </a:lvl8pPr>
            <a:lvl9pPr marL="3867546" indent="-227503" eaLnBrk="0" fontAlgn="base" hangingPunct="0">
              <a:spcBef>
                <a:spcPct val="0"/>
              </a:spcBef>
              <a:spcAft>
                <a:spcPct val="0"/>
              </a:spcAft>
              <a:defRPr>
                <a:solidFill>
                  <a:schemeClr val="tx1"/>
                </a:solidFill>
                <a:latin typeface="Verdana" pitchFamily="34" charset="0"/>
                <a:ea typeface="MS PGothic" pitchFamily="34" charset="-128"/>
              </a:defRPr>
            </a:lvl9pPr>
          </a:lstStyle>
          <a:p>
            <a:fld id="{EFE46968-3B25-40C5-8CC2-F994FCBDAE5F}" type="slidenum">
              <a:rPr lang="de-DE" altLang="en-US"/>
              <a:pPr/>
              <a:t>32</a:t>
            </a:fld>
            <a:endParaRPr lang="de-DE" altLang="en-US"/>
          </a:p>
        </p:txBody>
      </p:sp>
    </p:spTree>
    <p:extLst>
      <p:ext uri="{BB962C8B-B14F-4D97-AF65-F5344CB8AC3E}">
        <p14:creationId xmlns:p14="http://schemas.microsoft.com/office/powerpoint/2010/main" val="8615167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24931" name="Rectangle 3"/>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GB" altLang="en-US"/>
          </a:p>
        </p:txBody>
      </p:sp>
    </p:spTree>
    <p:extLst>
      <p:ext uri="{BB962C8B-B14F-4D97-AF65-F5344CB8AC3E}">
        <p14:creationId xmlns:p14="http://schemas.microsoft.com/office/powerpoint/2010/main" val="40333885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26979"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dirty="0"/>
          </a:p>
        </p:txBody>
      </p:sp>
      <p:sp>
        <p:nvSpPr>
          <p:cNvPr id="126980"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Verdana" pitchFamily="34" charset="0"/>
                <a:ea typeface="MS PGothic" pitchFamily="34" charset="-128"/>
              </a:defRPr>
            </a:lvl1pPr>
            <a:lvl2pPr marL="739384" indent="-284378">
              <a:defRPr>
                <a:solidFill>
                  <a:schemeClr val="tx1"/>
                </a:solidFill>
                <a:latin typeface="Verdana" pitchFamily="34" charset="0"/>
                <a:ea typeface="MS PGothic" pitchFamily="34" charset="-128"/>
              </a:defRPr>
            </a:lvl2pPr>
            <a:lvl3pPr marL="1137514" indent="-227503">
              <a:defRPr>
                <a:solidFill>
                  <a:schemeClr val="tx1"/>
                </a:solidFill>
                <a:latin typeface="Verdana" pitchFamily="34" charset="0"/>
                <a:ea typeface="MS PGothic" pitchFamily="34" charset="-128"/>
              </a:defRPr>
            </a:lvl3pPr>
            <a:lvl4pPr marL="1592519" indent="-227503">
              <a:defRPr>
                <a:solidFill>
                  <a:schemeClr val="tx1"/>
                </a:solidFill>
                <a:latin typeface="Verdana" pitchFamily="34" charset="0"/>
                <a:ea typeface="MS PGothic" pitchFamily="34" charset="-128"/>
              </a:defRPr>
            </a:lvl4pPr>
            <a:lvl5pPr marL="2047524" indent="-227503">
              <a:defRPr>
                <a:solidFill>
                  <a:schemeClr val="tx1"/>
                </a:solidFill>
                <a:latin typeface="Verdana" pitchFamily="34" charset="0"/>
                <a:ea typeface="MS PGothic" pitchFamily="34" charset="-128"/>
              </a:defRPr>
            </a:lvl5pPr>
            <a:lvl6pPr marL="2502530" indent="-227503" eaLnBrk="0" fontAlgn="base" hangingPunct="0">
              <a:spcBef>
                <a:spcPct val="0"/>
              </a:spcBef>
              <a:spcAft>
                <a:spcPct val="0"/>
              </a:spcAft>
              <a:defRPr>
                <a:solidFill>
                  <a:schemeClr val="tx1"/>
                </a:solidFill>
                <a:latin typeface="Verdana" pitchFamily="34" charset="0"/>
                <a:ea typeface="MS PGothic" pitchFamily="34" charset="-128"/>
              </a:defRPr>
            </a:lvl6pPr>
            <a:lvl7pPr marL="2957535" indent="-227503" eaLnBrk="0" fontAlgn="base" hangingPunct="0">
              <a:spcBef>
                <a:spcPct val="0"/>
              </a:spcBef>
              <a:spcAft>
                <a:spcPct val="0"/>
              </a:spcAft>
              <a:defRPr>
                <a:solidFill>
                  <a:schemeClr val="tx1"/>
                </a:solidFill>
                <a:latin typeface="Verdana" pitchFamily="34" charset="0"/>
                <a:ea typeface="MS PGothic" pitchFamily="34" charset="-128"/>
              </a:defRPr>
            </a:lvl7pPr>
            <a:lvl8pPr marL="3412541" indent="-227503" eaLnBrk="0" fontAlgn="base" hangingPunct="0">
              <a:spcBef>
                <a:spcPct val="0"/>
              </a:spcBef>
              <a:spcAft>
                <a:spcPct val="0"/>
              </a:spcAft>
              <a:defRPr>
                <a:solidFill>
                  <a:schemeClr val="tx1"/>
                </a:solidFill>
                <a:latin typeface="Verdana" pitchFamily="34" charset="0"/>
                <a:ea typeface="MS PGothic" pitchFamily="34" charset="-128"/>
              </a:defRPr>
            </a:lvl8pPr>
            <a:lvl9pPr marL="3867546" indent="-227503" eaLnBrk="0" fontAlgn="base" hangingPunct="0">
              <a:spcBef>
                <a:spcPct val="0"/>
              </a:spcBef>
              <a:spcAft>
                <a:spcPct val="0"/>
              </a:spcAft>
              <a:defRPr>
                <a:solidFill>
                  <a:schemeClr val="tx1"/>
                </a:solidFill>
                <a:latin typeface="Verdana" pitchFamily="34" charset="0"/>
                <a:ea typeface="MS PGothic" pitchFamily="34" charset="-128"/>
              </a:defRPr>
            </a:lvl9pPr>
          </a:lstStyle>
          <a:p>
            <a:fld id="{61EBF63E-D3BB-46A9-BB33-56D0B3258A50}" type="slidenum">
              <a:rPr lang="de-DE" altLang="en-US"/>
              <a:pPr/>
              <a:t>34</a:t>
            </a:fld>
            <a:endParaRPr lang="de-DE" altLang="en-US"/>
          </a:p>
        </p:txBody>
      </p:sp>
    </p:spTree>
    <p:extLst>
      <p:ext uri="{BB962C8B-B14F-4D97-AF65-F5344CB8AC3E}">
        <p14:creationId xmlns:p14="http://schemas.microsoft.com/office/powerpoint/2010/main" val="37273072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1D213B00-8A62-4D90-AD6A-0226518EC3CC}" type="slidenum">
              <a:rPr lang="en-IE" smtClean="0"/>
              <a:t>35</a:t>
            </a:fld>
            <a:endParaRPr lang="en-IE"/>
          </a:p>
        </p:txBody>
      </p:sp>
    </p:spTree>
    <p:extLst>
      <p:ext uri="{BB962C8B-B14F-4D97-AF65-F5344CB8AC3E}">
        <p14:creationId xmlns:p14="http://schemas.microsoft.com/office/powerpoint/2010/main" val="2103090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9B96EE6-1855-4B7D-83D0-BC241FFC1C58}" type="datetimeFigureOut">
              <a:rPr lang="en-IE" smtClean="0"/>
              <a:t>28/09/2021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D266DE1C-3727-4B35-81DE-CDCD0CC6F7A3}" type="slidenum">
              <a:rPr lang="en-IE" smtClean="0"/>
              <a:t>‹#›</a:t>
            </a:fld>
            <a:endParaRPr lang="en-IE"/>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9386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B96EE6-1855-4B7D-83D0-BC241FFC1C58}" type="datetimeFigureOut">
              <a:rPr lang="en-IE" smtClean="0"/>
              <a:t>28/09/2021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D266DE1C-3727-4B35-81DE-CDCD0CC6F7A3}" type="slidenum">
              <a:rPr lang="en-IE" smtClean="0"/>
              <a:t>‹#›</a:t>
            </a:fld>
            <a:endParaRPr lang="en-IE"/>
          </a:p>
        </p:txBody>
      </p:sp>
    </p:spTree>
    <p:extLst>
      <p:ext uri="{BB962C8B-B14F-4D97-AF65-F5344CB8AC3E}">
        <p14:creationId xmlns:p14="http://schemas.microsoft.com/office/powerpoint/2010/main" val="470743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B96EE6-1855-4B7D-83D0-BC241FFC1C58}" type="datetimeFigureOut">
              <a:rPr lang="en-IE" smtClean="0"/>
              <a:t>28/09/2021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D266DE1C-3727-4B35-81DE-CDCD0CC6F7A3}" type="slidenum">
              <a:rPr lang="en-IE" smtClean="0"/>
              <a:t>‹#›</a:t>
            </a:fld>
            <a:endParaRPr lang="en-IE"/>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67759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9B96EE6-1855-4B7D-83D0-BC241FFC1C58}" type="datetimeFigureOut">
              <a:rPr lang="en-IE" smtClean="0"/>
              <a:t>28/09/2021</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D266DE1C-3727-4B35-81DE-CDCD0CC6F7A3}" type="slidenum">
              <a:rPr lang="en-IE" smtClean="0"/>
              <a:t>‹#›</a:t>
            </a:fld>
            <a:endParaRPr lang="en-IE"/>
          </a:p>
        </p:txBody>
      </p:sp>
    </p:spTree>
    <p:extLst>
      <p:ext uri="{BB962C8B-B14F-4D97-AF65-F5344CB8AC3E}">
        <p14:creationId xmlns:p14="http://schemas.microsoft.com/office/powerpoint/2010/main" val="5145825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9B96EE6-1855-4B7D-83D0-BC241FFC1C58}" type="datetimeFigureOut">
              <a:rPr lang="en-IE" smtClean="0"/>
              <a:t>28/09/2021</a:t>
            </a:fld>
            <a:endParaRPr lang="en-IE"/>
          </a:p>
        </p:txBody>
      </p:sp>
      <p:sp>
        <p:nvSpPr>
          <p:cNvPr id="8" name="Footer Placeholder 7"/>
          <p:cNvSpPr>
            <a:spLocks noGrp="1"/>
          </p:cNvSpPr>
          <p:nvPr>
            <p:ph type="ftr" sz="quarter" idx="11"/>
          </p:nvPr>
        </p:nvSpPr>
        <p:spPr/>
        <p:txBody>
          <a:bodyPr/>
          <a:lstStyle/>
          <a:p>
            <a:endParaRPr lang="en-IE"/>
          </a:p>
        </p:txBody>
      </p:sp>
      <p:sp>
        <p:nvSpPr>
          <p:cNvPr id="9" name="Slide Number Placeholder 8"/>
          <p:cNvSpPr>
            <a:spLocks noGrp="1"/>
          </p:cNvSpPr>
          <p:nvPr>
            <p:ph type="sldNum" sz="quarter" idx="12"/>
          </p:nvPr>
        </p:nvSpPr>
        <p:spPr/>
        <p:txBody>
          <a:bodyPr/>
          <a:lstStyle/>
          <a:p>
            <a:fld id="{D266DE1C-3727-4B35-81DE-CDCD0CC6F7A3}" type="slidenum">
              <a:rPr lang="en-IE" smtClean="0"/>
              <a:t>‹#›</a:t>
            </a:fld>
            <a:endParaRPr lang="en-IE"/>
          </a:p>
        </p:txBody>
      </p:sp>
    </p:spTree>
    <p:extLst>
      <p:ext uri="{BB962C8B-B14F-4D97-AF65-F5344CB8AC3E}">
        <p14:creationId xmlns:p14="http://schemas.microsoft.com/office/powerpoint/2010/main" val="2597633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9B96EE6-1855-4B7D-83D0-BC241FFC1C58}" type="datetimeFigureOut">
              <a:rPr lang="en-IE" smtClean="0"/>
              <a:t>28/09/2021</a:t>
            </a:fld>
            <a:endParaRPr lang="en-IE"/>
          </a:p>
        </p:txBody>
      </p:sp>
      <p:sp>
        <p:nvSpPr>
          <p:cNvPr id="4" name="Footer Placeholder 3"/>
          <p:cNvSpPr>
            <a:spLocks noGrp="1"/>
          </p:cNvSpPr>
          <p:nvPr>
            <p:ph type="ftr" sz="quarter" idx="11"/>
          </p:nvPr>
        </p:nvSpPr>
        <p:spPr/>
        <p:txBody>
          <a:bodyPr/>
          <a:lstStyle/>
          <a:p>
            <a:endParaRPr lang="en-IE"/>
          </a:p>
        </p:txBody>
      </p:sp>
      <p:sp>
        <p:nvSpPr>
          <p:cNvPr id="5" name="Slide Number Placeholder 4"/>
          <p:cNvSpPr>
            <a:spLocks noGrp="1"/>
          </p:cNvSpPr>
          <p:nvPr>
            <p:ph type="sldNum" sz="quarter" idx="12"/>
          </p:nvPr>
        </p:nvSpPr>
        <p:spPr/>
        <p:txBody>
          <a:bodyPr/>
          <a:lstStyle/>
          <a:p>
            <a:fld id="{D266DE1C-3727-4B35-81DE-CDCD0CC6F7A3}" type="slidenum">
              <a:rPr lang="en-IE" smtClean="0"/>
              <a:t>‹#›</a:t>
            </a:fld>
            <a:endParaRPr lang="en-IE"/>
          </a:p>
        </p:txBody>
      </p:sp>
    </p:spTree>
    <p:extLst>
      <p:ext uri="{BB962C8B-B14F-4D97-AF65-F5344CB8AC3E}">
        <p14:creationId xmlns:p14="http://schemas.microsoft.com/office/powerpoint/2010/main" val="3118669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9B96EE6-1855-4B7D-83D0-BC241FFC1C58}" type="datetimeFigureOut">
              <a:rPr lang="en-IE" smtClean="0"/>
              <a:t>28/09/2021</a:t>
            </a:fld>
            <a:endParaRPr lang="en-IE"/>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E"/>
          </a:p>
        </p:txBody>
      </p:sp>
      <p:sp>
        <p:nvSpPr>
          <p:cNvPr id="9" name="Slide Number Placeholder 8"/>
          <p:cNvSpPr>
            <a:spLocks noGrp="1"/>
          </p:cNvSpPr>
          <p:nvPr>
            <p:ph type="sldNum" sz="quarter" idx="12"/>
          </p:nvPr>
        </p:nvSpPr>
        <p:spPr/>
        <p:txBody>
          <a:bodyPr/>
          <a:lstStyle/>
          <a:p>
            <a:fld id="{D266DE1C-3727-4B35-81DE-CDCD0CC6F7A3}" type="slidenum">
              <a:rPr lang="en-IE" smtClean="0"/>
              <a:t>‹#›</a:t>
            </a:fld>
            <a:endParaRPr lang="en-IE"/>
          </a:p>
        </p:txBody>
      </p:sp>
    </p:spTree>
    <p:extLst>
      <p:ext uri="{BB962C8B-B14F-4D97-AF65-F5344CB8AC3E}">
        <p14:creationId xmlns:p14="http://schemas.microsoft.com/office/powerpoint/2010/main" val="43271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9B96EE6-1855-4B7D-83D0-BC241FFC1C58}" type="datetimeFigureOut">
              <a:rPr lang="en-IE" smtClean="0"/>
              <a:t>28/09/2021</a:t>
            </a:fld>
            <a:endParaRPr lang="en-IE"/>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E"/>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266DE1C-3727-4B35-81DE-CDCD0CC6F7A3}" type="slidenum">
              <a:rPr lang="en-IE" smtClean="0"/>
              <a:t>‹#›</a:t>
            </a:fld>
            <a:endParaRPr lang="en-IE"/>
          </a:p>
        </p:txBody>
      </p:sp>
    </p:spTree>
    <p:extLst>
      <p:ext uri="{BB962C8B-B14F-4D97-AF65-F5344CB8AC3E}">
        <p14:creationId xmlns:p14="http://schemas.microsoft.com/office/powerpoint/2010/main" val="16759659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9B96EE6-1855-4B7D-83D0-BC241FFC1C58}" type="datetimeFigureOut">
              <a:rPr lang="en-IE" smtClean="0"/>
              <a:t>28/09/2021</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D266DE1C-3727-4B35-81DE-CDCD0CC6F7A3}" type="slidenum">
              <a:rPr lang="en-IE" smtClean="0"/>
              <a:t>‹#›</a:t>
            </a:fld>
            <a:endParaRPr lang="en-IE"/>
          </a:p>
        </p:txBody>
      </p:sp>
    </p:spTree>
    <p:extLst>
      <p:ext uri="{BB962C8B-B14F-4D97-AF65-F5344CB8AC3E}">
        <p14:creationId xmlns:p14="http://schemas.microsoft.com/office/powerpoint/2010/main" val="12952310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B96EE6-1855-4B7D-83D0-BC241FFC1C58}" type="datetimeFigureOut">
              <a:rPr lang="en-IE" smtClean="0"/>
              <a:t>28/09/2021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D266DE1C-3727-4B35-81DE-CDCD0CC6F7A3}" type="slidenum">
              <a:rPr lang="en-IE" smtClean="0"/>
              <a:t>‹#›</a:t>
            </a:fld>
            <a:endParaRPr lang="en-IE"/>
          </a:p>
        </p:txBody>
      </p:sp>
    </p:spTree>
    <p:extLst>
      <p:ext uri="{BB962C8B-B14F-4D97-AF65-F5344CB8AC3E}">
        <p14:creationId xmlns:p14="http://schemas.microsoft.com/office/powerpoint/2010/main" val="31976523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B96EE6-1855-4B7D-83D0-BC241FFC1C58}" type="datetimeFigureOut">
              <a:rPr lang="en-IE" smtClean="0"/>
              <a:t>28/09/2021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D266DE1C-3727-4B35-81DE-CDCD0CC6F7A3}" type="slidenum">
              <a:rPr lang="en-IE" smtClean="0"/>
              <a:t>‹#›</a:t>
            </a:fld>
            <a:endParaRPr lang="en-IE"/>
          </a:p>
        </p:txBody>
      </p:sp>
    </p:spTree>
    <p:extLst>
      <p:ext uri="{BB962C8B-B14F-4D97-AF65-F5344CB8AC3E}">
        <p14:creationId xmlns:p14="http://schemas.microsoft.com/office/powerpoint/2010/main" val="965133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lipArtAndTx">
  <p:cSld name="Titel, ClipArt und Text">
    <p:spTree>
      <p:nvGrpSpPr>
        <p:cNvPr id="1" name=""/>
        <p:cNvGrpSpPr/>
        <p:nvPr/>
      </p:nvGrpSpPr>
      <p:grpSpPr>
        <a:xfrm>
          <a:off x="0" y="0"/>
          <a:ext cx="0" cy="0"/>
          <a:chOff x="0" y="0"/>
          <a:chExt cx="0" cy="0"/>
        </a:xfrm>
      </p:grpSpPr>
      <p:sp>
        <p:nvSpPr>
          <p:cNvPr id="2" name="Titel 1"/>
          <p:cNvSpPr>
            <a:spLocks noGrp="1"/>
          </p:cNvSpPr>
          <p:nvPr>
            <p:ph type="title"/>
          </p:nvPr>
        </p:nvSpPr>
        <p:spPr>
          <a:xfrm>
            <a:off x="609600" y="277814"/>
            <a:ext cx="10972800" cy="1139825"/>
          </a:xfrm>
        </p:spPr>
        <p:txBody>
          <a:bodyPr/>
          <a:lstStyle/>
          <a:p>
            <a:r>
              <a:rPr lang="de-DE"/>
              <a:t>Mastertitelformat bearbeiten</a:t>
            </a:r>
          </a:p>
        </p:txBody>
      </p:sp>
      <p:sp>
        <p:nvSpPr>
          <p:cNvPr id="3" name="ClipArt-Platzhalter 2"/>
          <p:cNvSpPr>
            <a:spLocks noGrp="1"/>
          </p:cNvSpPr>
          <p:nvPr>
            <p:ph type="clipArt" sz="half" idx="1"/>
          </p:nvPr>
        </p:nvSpPr>
        <p:spPr>
          <a:xfrm>
            <a:off x="609600" y="1600201"/>
            <a:ext cx="5384800" cy="4530725"/>
          </a:xfrm>
        </p:spPr>
        <p:txBody>
          <a:bodyPr rtlCol="0">
            <a:normAutofit/>
          </a:bodyPr>
          <a:lstStyle/>
          <a:p>
            <a:pPr lvl="0"/>
            <a:endParaRPr lang="de-DE" noProof="0"/>
          </a:p>
        </p:txBody>
      </p:sp>
      <p:sp>
        <p:nvSpPr>
          <p:cNvPr id="4" name="Textplatzhalter 3"/>
          <p:cNvSpPr>
            <a:spLocks noGrp="1"/>
          </p:cNvSpPr>
          <p:nvPr>
            <p:ph type="body" sz="half" idx="2"/>
          </p:nvPr>
        </p:nvSpPr>
        <p:spPr>
          <a:xfrm>
            <a:off x="6197600" y="1600201"/>
            <a:ext cx="5384800" cy="453072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a:xfrm>
            <a:off x="609600" y="6248400"/>
            <a:ext cx="2844800" cy="457200"/>
          </a:xfrm>
        </p:spPr>
        <p:txBody>
          <a:bodyPr/>
          <a:lstStyle>
            <a:lvl1pPr>
              <a:defRPr/>
            </a:lvl1pPr>
          </a:lstStyle>
          <a:p>
            <a:pPr>
              <a:defRPr/>
            </a:pPr>
            <a:endParaRPr lang="en-GB"/>
          </a:p>
        </p:txBody>
      </p:sp>
      <p:sp>
        <p:nvSpPr>
          <p:cNvPr id="6" name="Fußzeilenplatzhalter 5"/>
          <p:cNvSpPr>
            <a:spLocks noGrp="1"/>
          </p:cNvSpPr>
          <p:nvPr>
            <p:ph type="ftr" sz="quarter" idx="11"/>
          </p:nvPr>
        </p:nvSpPr>
        <p:spPr>
          <a:xfrm>
            <a:off x="4165600" y="6248400"/>
            <a:ext cx="3860800" cy="457200"/>
          </a:xfrm>
        </p:spPr>
        <p:txBody>
          <a:bodyPr/>
          <a:lstStyle>
            <a:lvl1pPr>
              <a:defRPr/>
            </a:lvl1pPr>
          </a:lstStyle>
          <a:p>
            <a:pPr>
              <a:defRPr/>
            </a:pPr>
            <a:endParaRPr lang="en-GB"/>
          </a:p>
        </p:txBody>
      </p:sp>
      <p:sp>
        <p:nvSpPr>
          <p:cNvPr id="7" name="Foliennummernplatzhalter 6"/>
          <p:cNvSpPr>
            <a:spLocks noGrp="1"/>
          </p:cNvSpPr>
          <p:nvPr>
            <p:ph type="sldNum" sz="quarter" idx="12"/>
          </p:nvPr>
        </p:nvSpPr>
        <p:spPr>
          <a:xfrm>
            <a:off x="8737600" y="6248400"/>
            <a:ext cx="2844800" cy="457200"/>
          </a:xfrm>
        </p:spPr>
        <p:txBody>
          <a:bodyPr/>
          <a:lstStyle>
            <a:lvl1pPr>
              <a:defRPr/>
            </a:lvl1pPr>
          </a:lstStyle>
          <a:p>
            <a:fld id="{76EF0F06-8F1E-469C-B6C6-1DDC4A11F5B4}" type="slidenum">
              <a:rPr lang="en-US" altLang="en-US"/>
              <a:pPr/>
              <a:t>‹#›</a:t>
            </a:fld>
            <a:endParaRPr lang="en-US" altLang="en-US"/>
          </a:p>
        </p:txBody>
      </p:sp>
    </p:spTree>
    <p:extLst>
      <p:ext uri="{BB962C8B-B14F-4D97-AF65-F5344CB8AC3E}">
        <p14:creationId xmlns:p14="http://schemas.microsoft.com/office/powerpoint/2010/main" val="26456781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el, Tex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609600" y="277814"/>
            <a:ext cx="10972800" cy="1139825"/>
          </a:xfrm>
        </p:spPr>
        <p:txBody>
          <a:bodyPr/>
          <a:lstStyle/>
          <a:p>
            <a:r>
              <a:rPr lang="de-DE"/>
              <a:t>Mastertitelformat bearbeiten</a:t>
            </a:r>
          </a:p>
        </p:txBody>
      </p:sp>
      <p:sp>
        <p:nvSpPr>
          <p:cNvPr id="3" name="Textplatzhalter 2"/>
          <p:cNvSpPr>
            <a:spLocks noGrp="1"/>
          </p:cNvSpPr>
          <p:nvPr>
            <p:ph type="body" sz="half" idx="1"/>
          </p:nvPr>
        </p:nvSpPr>
        <p:spPr>
          <a:xfrm>
            <a:off x="609600" y="1600201"/>
            <a:ext cx="5384800" cy="453072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6197600" y="1600201"/>
            <a:ext cx="5384800" cy="453072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a:xfrm>
            <a:off x="609600" y="6248400"/>
            <a:ext cx="2844800" cy="457200"/>
          </a:xfrm>
        </p:spPr>
        <p:txBody>
          <a:bodyPr/>
          <a:lstStyle>
            <a:lvl1pPr>
              <a:defRPr/>
            </a:lvl1pPr>
          </a:lstStyle>
          <a:p>
            <a:pPr>
              <a:defRPr/>
            </a:pPr>
            <a:endParaRPr lang="en-GB"/>
          </a:p>
        </p:txBody>
      </p:sp>
      <p:sp>
        <p:nvSpPr>
          <p:cNvPr id="6" name="Fußzeilenplatzhalter 5"/>
          <p:cNvSpPr>
            <a:spLocks noGrp="1"/>
          </p:cNvSpPr>
          <p:nvPr>
            <p:ph type="ftr" sz="quarter" idx="11"/>
          </p:nvPr>
        </p:nvSpPr>
        <p:spPr>
          <a:xfrm>
            <a:off x="4165600" y="6248400"/>
            <a:ext cx="3860800" cy="457200"/>
          </a:xfrm>
        </p:spPr>
        <p:txBody>
          <a:bodyPr/>
          <a:lstStyle>
            <a:lvl1pPr>
              <a:defRPr/>
            </a:lvl1pPr>
          </a:lstStyle>
          <a:p>
            <a:pPr>
              <a:defRPr/>
            </a:pPr>
            <a:endParaRPr lang="en-GB"/>
          </a:p>
        </p:txBody>
      </p:sp>
      <p:sp>
        <p:nvSpPr>
          <p:cNvPr id="7" name="Foliennummernplatzhalter 6"/>
          <p:cNvSpPr>
            <a:spLocks noGrp="1"/>
          </p:cNvSpPr>
          <p:nvPr>
            <p:ph type="sldNum" sz="quarter" idx="12"/>
          </p:nvPr>
        </p:nvSpPr>
        <p:spPr>
          <a:xfrm>
            <a:off x="8737600" y="6248400"/>
            <a:ext cx="2844800" cy="457200"/>
          </a:xfrm>
        </p:spPr>
        <p:txBody>
          <a:bodyPr/>
          <a:lstStyle>
            <a:lvl1pPr>
              <a:defRPr/>
            </a:lvl1pPr>
          </a:lstStyle>
          <a:p>
            <a:fld id="{B474D28F-7FDB-4A1D-B42F-AACF7D996F0F}" type="slidenum">
              <a:rPr lang="en-US" altLang="en-US"/>
              <a:pPr/>
              <a:t>‹#›</a:t>
            </a:fld>
            <a:endParaRPr lang="en-US" altLang="en-US"/>
          </a:p>
        </p:txBody>
      </p:sp>
    </p:spTree>
    <p:extLst>
      <p:ext uri="{BB962C8B-B14F-4D97-AF65-F5344CB8AC3E}">
        <p14:creationId xmlns:p14="http://schemas.microsoft.com/office/powerpoint/2010/main" val="15748292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x">
  <p:cSld name="Titel, Inhalt und Text">
    <p:spTree>
      <p:nvGrpSpPr>
        <p:cNvPr id="1" name=""/>
        <p:cNvGrpSpPr/>
        <p:nvPr/>
      </p:nvGrpSpPr>
      <p:grpSpPr>
        <a:xfrm>
          <a:off x="0" y="0"/>
          <a:ext cx="0" cy="0"/>
          <a:chOff x="0" y="0"/>
          <a:chExt cx="0" cy="0"/>
        </a:xfrm>
      </p:grpSpPr>
      <p:sp>
        <p:nvSpPr>
          <p:cNvPr id="2" name="Titel 1"/>
          <p:cNvSpPr>
            <a:spLocks noGrp="1"/>
          </p:cNvSpPr>
          <p:nvPr>
            <p:ph type="title"/>
          </p:nvPr>
        </p:nvSpPr>
        <p:spPr>
          <a:xfrm>
            <a:off x="609600" y="277814"/>
            <a:ext cx="10972800" cy="1139825"/>
          </a:xfrm>
        </p:spPr>
        <p:txBody>
          <a:bodyPr/>
          <a:lstStyle/>
          <a:p>
            <a:r>
              <a:rPr lang="de-DE"/>
              <a:t>Mastertitelformat bearbeiten</a:t>
            </a:r>
          </a:p>
        </p:txBody>
      </p:sp>
      <p:sp>
        <p:nvSpPr>
          <p:cNvPr id="3" name="Inhaltsplatzhalter 2"/>
          <p:cNvSpPr>
            <a:spLocks noGrp="1"/>
          </p:cNvSpPr>
          <p:nvPr>
            <p:ph sz="half" idx="1"/>
          </p:nvPr>
        </p:nvSpPr>
        <p:spPr>
          <a:xfrm>
            <a:off x="609600" y="1600201"/>
            <a:ext cx="5384800" cy="453072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6197600" y="1600201"/>
            <a:ext cx="5384800" cy="453072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a:xfrm>
            <a:off x="609600" y="6248400"/>
            <a:ext cx="2844800" cy="457200"/>
          </a:xfrm>
        </p:spPr>
        <p:txBody>
          <a:bodyPr/>
          <a:lstStyle>
            <a:lvl1pPr>
              <a:defRPr/>
            </a:lvl1pPr>
          </a:lstStyle>
          <a:p>
            <a:pPr>
              <a:defRPr/>
            </a:pPr>
            <a:endParaRPr lang="en-GB"/>
          </a:p>
        </p:txBody>
      </p:sp>
      <p:sp>
        <p:nvSpPr>
          <p:cNvPr id="6" name="Fußzeilenplatzhalter 5"/>
          <p:cNvSpPr>
            <a:spLocks noGrp="1"/>
          </p:cNvSpPr>
          <p:nvPr>
            <p:ph type="ftr" sz="quarter" idx="11"/>
          </p:nvPr>
        </p:nvSpPr>
        <p:spPr>
          <a:xfrm>
            <a:off x="4165600" y="6248400"/>
            <a:ext cx="3860800" cy="457200"/>
          </a:xfrm>
        </p:spPr>
        <p:txBody>
          <a:bodyPr/>
          <a:lstStyle>
            <a:lvl1pPr>
              <a:defRPr/>
            </a:lvl1pPr>
          </a:lstStyle>
          <a:p>
            <a:pPr>
              <a:defRPr/>
            </a:pPr>
            <a:endParaRPr lang="en-GB"/>
          </a:p>
        </p:txBody>
      </p:sp>
      <p:sp>
        <p:nvSpPr>
          <p:cNvPr id="7" name="Foliennummernplatzhalter 6"/>
          <p:cNvSpPr>
            <a:spLocks noGrp="1"/>
          </p:cNvSpPr>
          <p:nvPr>
            <p:ph type="sldNum" sz="quarter" idx="12"/>
          </p:nvPr>
        </p:nvSpPr>
        <p:spPr>
          <a:xfrm>
            <a:off x="8737600" y="6248400"/>
            <a:ext cx="2844800" cy="457200"/>
          </a:xfrm>
        </p:spPr>
        <p:txBody>
          <a:bodyPr/>
          <a:lstStyle>
            <a:lvl1pPr>
              <a:defRPr/>
            </a:lvl1pPr>
          </a:lstStyle>
          <a:p>
            <a:fld id="{22430F5A-63CA-4C78-BD40-73EBE9F4D18D}" type="slidenum">
              <a:rPr lang="en-US" altLang="en-US"/>
              <a:pPr/>
              <a:t>‹#›</a:t>
            </a:fld>
            <a:endParaRPr lang="en-US" altLang="en-US"/>
          </a:p>
        </p:txBody>
      </p:sp>
    </p:spTree>
    <p:extLst>
      <p:ext uri="{BB962C8B-B14F-4D97-AF65-F5344CB8AC3E}">
        <p14:creationId xmlns:p14="http://schemas.microsoft.com/office/powerpoint/2010/main" val="819506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9B96EE6-1855-4B7D-83D0-BC241FFC1C58}" type="datetimeFigureOut">
              <a:rPr lang="en-IE" smtClean="0"/>
              <a:t>28/09/2021</a:t>
            </a:fld>
            <a:endParaRPr lang="en-IE"/>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E"/>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266DE1C-3727-4B35-81DE-CDCD0CC6F7A3}" type="slidenum">
              <a:rPr lang="en-IE" smtClean="0"/>
              <a:t>‹#›</a:t>
            </a:fld>
            <a:endParaRPr lang="en-IE"/>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7923304"/>
      </p:ext>
    </p:extLst>
  </p:cSld>
  <p:clrMap bg1="lt1" tx1="dk1" bg2="lt2" tx2="dk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 id="2147483795" r:id="rId12"/>
    <p:sldLayoutId id="2147483796" r:id="rId13"/>
    <p:sldLayoutId id="2147483797" r:id="rId14"/>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gif"/></Relationships>
</file>

<file path=ppt/slides/_rels/slide2.xml.rels><?xml version="1.0" encoding="UTF-8" standalone="yes"?>
<Relationships xmlns="http://schemas.openxmlformats.org/package/2006/relationships"><Relationship Id="rId2" Type="http://schemas.openxmlformats.org/officeDocument/2006/relationships/hyperlink" Target="https://www.youtube.com/watch?v=VkrrVozZR2c"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hyperlink" Target="http://www.ciadvertising.org/studies/student/97_fall/theory/selective/biboli.htm#bib20"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15.jpeg"/><Relationship Id="rId4" Type="http://schemas.openxmlformats.org/officeDocument/2006/relationships/image" Target="../media/image14.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www.maniacworld.com/Spinning-Silhouette-Optical-Illusion.html" TargetMode="External"/><Relationship Id="rId2" Type="http://schemas.openxmlformats.org/officeDocument/2006/relationships/notesSlide" Target="../notesSlides/notesSlide33.xml"/><Relationship Id="rId1" Type="http://schemas.openxmlformats.org/officeDocument/2006/relationships/slideLayout" Target="../slideLayouts/slideLayout13.xml"/><Relationship Id="rId5" Type="http://schemas.openxmlformats.org/officeDocument/2006/relationships/image" Target="../media/image21.gif"/><Relationship Id="rId4" Type="http://schemas.openxmlformats.org/officeDocument/2006/relationships/hyperlink" Target="http://www.moillusions.com/wp-content/uploads/i207.photobucket.com/albums/bb234/vurdlak8/2007b.gif"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4.xml"/><Relationship Id="rId1" Type="http://schemas.openxmlformats.org/officeDocument/2006/relationships/slideLayout" Target="../slideLayouts/slideLayout9.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2569631"/>
            <a:ext cx="10058400" cy="1633427"/>
          </a:xfrm>
        </p:spPr>
        <p:txBody>
          <a:bodyPr>
            <a:normAutofit/>
          </a:bodyPr>
          <a:lstStyle/>
          <a:p>
            <a:pPr algn="ctr"/>
            <a:r>
              <a:rPr lang="en-IE" sz="4000" dirty="0"/>
              <a:t>3. Perception</a:t>
            </a:r>
          </a:p>
        </p:txBody>
      </p:sp>
      <p:sp>
        <p:nvSpPr>
          <p:cNvPr id="3" name="Subtitle 2"/>
          <p:cNvSpPr>
            <a:spLocks noGrp="1"/>
          </p:cNvSpPr>
          <p:nvPr>
            <p:ph type="subTitle" idx="1"/>
          </p:nvPr>
        </p:nvSpPr>
        <p:spPr>
          <a:xfrm>
            <a:off x="1097280" y="4970775"/>
            <a:ext cx="10058400" cy="1143000"/>
          </a:xfrm>
        </p:spPr>
        <p:txBody>
          <a:bodyPr/>
          <a:lstStyle/>
          <a:p>
            <a:r>
              <a:rPr lang="en-IE" dirty="0"/>
              <a:t>Organisational Behaviour</a:t>
            </a:r>
          </a:p>
          <a:p>
            <a:r>
              <a:rPr lang="en-IE" dirty="0"/>
              <a:t>Dr. Mary Kinahan</a:t>
            </a:r>
          </a:p>
        </p:txBody>
      </p:sp>
      <p:pic>
        <p:nvPicPr>
          <p:cNvPr id="5" name="Picture 4" descr="Image result for tu dublin logo">
            <a:extLst>
              <a:ext uri="{FF2B5EF4-FFF2-40B4-BE49-F238E27FC236}">
                <a16:creationId xmlns:a16="http://schemas.microsoft.com/office/drawing/2014/main" id="{FA65336A-D1B3-4ACE-B3B5-7771CA5365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96425" y="52655"/>
            <a:ext cx="2695575" cy="169545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https://www.wired.com/wp-content/uploads/2015/02/bluedress-315-new.gif"/>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494675" y="52655"/>
            <a:ext cx="3000375" cy="4562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3143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6A7AC-FB20-4A61-8279-B5C5A793EADE}"/>
              </a:ext>
            </a:extLst>
          </p:cNvPr>
          <p:cNvSpPr>
            <a:spLocks noGrp="1"/>
          </p:cNvSpPr>
          <p:nvPr>
            <p:ph type="title"/>
          </p:nvPr>
        </p:nvSpPr>
        <p:spPr/>
        <p:txBody>
          <a:bodyPr/>
          <a:lstStyle/>
          <a:p>
            <a:r>
              <a:rPr lang="en-GB" dirty="0"/>
              <a:t>Some fun exercises </a:t>
            </a:r>
          </a:p>
        </p:txBody>
      </p:sp>
      <p:sp>
        <p:nvSpPr>
          <p:cNvPr id="3" name="Content Placeholder 2">
            <a:extLst>
              <a:ext uri="{FF2B5EF4-FFF2-40B4-BE49-F238E27FC236}">
                <a16:creationId xmlns:a16="http://schemas.microsoft.com/office/drawing/2014/main" id="{91A5867B-2A59-49F6-89F0-D9BBDEBFBACD}"/>
              </a:ext>
            </a:extLst>
          </p:cNvPr>
          <p:cNvSpPr>
            <a:spLocks noGrp="1"/>
          </p:cNvSpPr>
          <p:nvPr>
            <p:ph idx="1"/>
          </p:nvPr>
        </p:nvSpPr>
        <p:spPr/>
        <p:txBody>
          <a:bodyPr/>
          <a:lstStyle/>
          <a:p>
            <a:r>
              <a:rPr lang="en-IE" dirty="0">
                <a:hlinkClick r:id="rId2"/>
              </a:rPr>
              <a:t>https://www.youtube.com/watch?v=VkrrVozZR2c</a:t>
            </a:r>
            <a:r>
              <a:rPr lang="en-IE" dirty="0"/>
              <a:t> – Door study!!  </a:t>
            </a:r>
          </a:p>
          <a:p>
            <a:endParaRPr lang="en-IE" dirty="0"/>
          </a:p>
          <a:p>
            <a:r>
              <a:rPr lang="en-IE" dirty="0"/>
              <a:t>- Did you see the difference? </a:t>
            </a:r>
          </a:p>
          <a:p>
            <a:endParaRPr lang="en-IE" dirty="0"/>
          </a:p>
          <a:p>
            <a:endParaRPr lang="en-IE" dirty="0"/>
          </a:p>
          <a:p>
            <a:r>
              <a:rPr lang="en-IE" dirty="0"/>
              <a:t>Take a few mins and watch the ending of the SIXTH SENSE </a:t>
            </a:r>
          </a:p>
          <a:p>
            <a:endParaRPr lang="en-IE" dirty="0"/>
          </a:p>
          <a:p>
            <a:r>
              <a:rPr lang="en-IE" dirty="0"/>
              <a:t>https://www.youtube.com/watch?v=GRu-SVVQzhY</a:t>
            </a:r>
          </a:p>
        </p:txBody>
      </p:sp>
    </p:spTree>
    <p:extLst>
      <p:ext uri="{BB962C8B-B14F-4D97-AF65-F5344CB8AC3E}">
        <p14:creationId xmlns:p14="http://schemas.microsoft.com/office/powerpoint/2010/main" val="3841987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929" y="941652"/>
            <a:ext cx="9652000" cy="660688"/>
          </a:xfrm>
        </p:spPr>
        <p:txBody>
          <a:bodyPr>
            <a:normAutofit fontScale="90000"/>
          </a:bodyPr>
          <a:lstStyle/>
          <a:p>
            <a:r>
              <a:rPr lang="en-IE" dirty="0"/>
              <a:t>Perception: Learning outcomes</a:t>
            </a:r>
          </a:p>
        </p:txBody>
      </p:sp>
      <p:sp>
        <p:nvSpPr>
          <p:cNvPr id="3" name="Content Placeholder 2"/>
          <p:cNvSpPr>
            <a:spLocks noGrp="1"/>
          </p:cNvSpPr>
          <p:nvPr>
            <p:ph idx="1"/>
          </p:nvPr>
        </p:nvSpPr>
        <p:spPr/>
        <p:txBody>
          <a:bodyPr>
            <a:normAutofit/>
          </a:bodyPr>
          <a:lstStyle/>
          <a:p>
            <a:pPr marL="0" indent="0">
              <a:lnSpc>
                <a:spcPct val="70000"/>
              </a:lnSpc>
              <a:buNone/>
            </a:pPr>
            <a:r>
              <a:rPr lang="en-US" altLang="en-US" sz="2800" b="1" dirty="0"/>
              <a:t>You should be able to:</a:t>
            </a:r>
          </a:p>
          <a:p>
            <a:pPr>
              <a:lnSpc>
                <a:spcPct val="70000"/>
              </a:lnSpc>
              <a:buFont typeface="Wingdings" charset="2"/>
              <a:buChar char="v"/>
            </a:pPr>
            <a:r>
              <a:rPr lang="en-US" altLang="en-US" sz="2800" dirty="0"/>
              <a:t>Identify the main features of the process of perception</a:t>
            </a:r>
          </a:p>
          <a:p>
            <a:pPr>
              <a:lnSpc>
                <a:spcPct val="70000"/>
              </a:lnSpc>
              <a:buFont typeface="Wingdings" charset="2"/>
              <a:buChar char="v"/>
            </a:pPr>
            <a:r>
              <a:rPr lang="en-US" altLang="en-US" sz="2800" dirty="0"/>
              <a:t>Distinguish between the bottom-up processing of sensory information and the top-down interpretation of that information</a:t>
            </a:r>
          </a:p>
          <a:p>
            <a:pPr>
              <a:lnSpc>
                <a:spcPct val="70000"/>
              </a:lnSpc>
              <a:buFont typeface="Wingdings" charset="2"/>
              <a:buChar char="v"/>
            </a:pPr>
            <a:r>
              <a:rPr lang="en-US" altLang="en-US" sz="2800"/>
              <a:t>Explain and discuss </a:t>
            </a:r>
            <a:r>
              <a:rPr lang="en-US" altLang="en-US" sz="2800" dirty="0"/>
              <a:t>the nature and implications of selective attention and perceptual organization</a:t>
            </a:r>
          </a:p>
          <a:p>
            <a:pPr>
              <a:lnSpc>
                <a:spcPct val="70000"/>
              </a:lnSpc>
              <a:buFont typeface="Wingdings" charset="2"/>
              <a:buChar char="v"/>
            </a:pPr>
            <a:r>
              <a:rPr lang="en-US" altLang="en-US" sz="2800" dirty="0"/>
              <a:t>Give examples of how </a:t>
            </a:r>
            <a:r>
              <a:rPr lang="en-US" altLang="en-US" sz="2800" dirty="0" err="1"/>
              <a:t>behaviour</a:t>
            </a:r>
            <a:r>
              <a:rPr lang="en-US" altLang="en-US" sz="2800" dirty="0"/>
              <a:t> is influenced by our perceptions</a:t>
            </a:r>
          </a:p>
          <a:p>
            <a:pPr>
              <a:lnSpc>
                <a:spcPct val="70000"/>
              </a:lnSpc>
              <a:buFont typeface="Wingdings" charset="2"/>
              <a:buChar char="v"/>
            </a:pPr>
            <a:r>
              <a:rPr lang="en-US" altLang="en-US" sz="2800" dirty="0"/>
              <a:t>Explain and illustrate the main processes and problems in person perception, including false attribution, halo effects</a:t>
            </a:r>
          </a:p>
          <a:p>
            <a:endParaRPr lang="en-IE" dirty="0"/>
          </a:p>
        </p:txBody>
      </p:sp>
      <p:pic>
        <p:nvPicPr>
          <p:cNvPr id="6" name="Picture 5" descr="Image result for tu dublin logo">
            <a:extLst>
              <a:ext uri="{FF2B5EF4-FFF2-40B4-BE49-F238E27FC236}">
                <a16:creationId xmlns:a16="http://schemas.microsoft.com/office/drawing/2014/main" id="{FA65336A-D1B3-4ACE-B3B5-7771CA5365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96425" y="52655"/>
            <a:ext cx="2695575" cy="1695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8252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300C75-750D-4ACE-ACDB-6E9DAC7869EC}"/>
              </a:ext>
            </a:extLst>
          </p:cNvPr>
          <p:cNvSpPr>
            <a:spLocks noGrp="1"/>
          </p:cNvSpPr>
          <p:nvPr>
            <p:ph type="title"/>
          </p:nvPr>
        </p:nvSpPr>
        <p:spPr/>
        <p:txBody>
          <a:bodyPr/>
          <a:lstStyle/>
          <a:p>
            <a:r>
              <a:rPr lang="en-GB" dirty="0"/>
              <a:t>How many legs does the elephant have?</a:t>
            </a:r>
          </a:p>
        </p:txBody>
      </p:sp>
      <p:pic>
        <p:nvPicPr>
          <p:cNvPr id="1030" name="Picture 6" descr="https://upload.wikimedia.org/wikipedia/en/thumb/c/ca/Shepard_elephant_poster.jpg/220px-Shepard_elephant_poster.jpg">
            <a:extLst>
              <a:ext uri="{FF2B5EF4-FFF2-40B4-BE49-F238E27FC236}">
                <a16:creationId xmlns:a16="http://schemas.microsoft.com/office/drawing/2014/main" id="{F29DE0FC-95C8-4643-8D18-8E56FE8AA9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6814" y="1737360"/>
            <a:ext cx="6259332" cy="47798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2934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300C75-750D-4ACE-ACDB-6E9DAC7869EC}"/>
              </a:ext>
            </a:extLst>
          </p:cNvPr>
          <p:cNvSpPr>
            <a:spLocks noGrp="1"/>
          </p:cNvSpPr>
          <p:nvPr>
            <p:ph type="title"/>
          </p:nvPr>
        </p:nvSpPr>
        <p:spPr/>
        <p:txBody>
          <a:bodyPr/>
          <a:lstStyle/>
          <a:p>
            <a:r>
              <a:rPr lang="en-GB" dirty="0" err="1"/>
              <a:t>Blivet</a:t>
            </a:r>
            <a:r>
              <a:rPr lang="en-GB" dirty="0"/>
              <a:t> illusion </a:t>
            </a:r>
          </a:p>
        </p:txBody>
      </p:sp>
      <p:pic>
        <p:nvPicPr>
          <p:cNvPr id="2050" name="Picture 2" descr="https://upload.wikimedia.org/wikipedia/commons/thumb/6/6a/Poiuyt-pseudo-backgrounds.svg/220px-Poiuyt-pseudo-backgrounds.svg.png">
            <a:extLst>
              <a:ext uri="{FF2B5EF4-FFF2-40B4-BE49-F238E27FC236}">
                <a16:creationId xmlns:a16="http://schemas.microsoft.com/office/drawing/2014/main" id="{904FD350-95F2-4851-8038-80FC1AFD8B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1" y="1822755"/>
            <a:ext cx="4520472" cy="47670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23853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rot="21180931">
            <a:off x="816488" y="1058170"/>
            <a:ext cx="3048000" cy="1265237"/>
          </a:xfrm>
        </p:spPr>
        <p:txBody>
          <a:bodyPr/>
          <a:lstStyle/>
          <a:p>
            <a:pPr eaLnBrk="1" fontAlgn="auto" hangingPunct="1">
              <a:spcAft>
                <a:spcPts val="0"/>
              </a:spcAft>
              <a:buClr>
                <a:schemeClr val="accent6">
                  <a:lumMod val="75000"/>
                </a:schemeClr>
              </a:buClr>
              <a:defRPr/>
            </a:pPr>
            <a:r>
              <a:rPr lang="en-US" sz="4000" b="1" dirty="0">
                <a:solidFill>
                  <a:schemeClr val="tx1"/>
                </a:solidFill>
                <a:latin typeface="+mn-lt"/>
                <a:ea typeface="+mj-ea"/>
                <a:cs typeface="+mj-cs"/>
              </a:rPr>
              <a:t>WHAT DO YOU SEE?</a:t>
            </a:r>
          </a:p>
        </p:txBody>
      </p:sp>
      <p:sp>
        <p:nvSpPr>
          <p:cNvPr id="67588" name="Text Placeholder 2"/>
          <p:cNvSpPr>
            <a:spLocks noGrp="1"/>
          </p:cNvSpPr>
          <p:nvPr>
            <p:ph type="body" sz="half" idx="2"/>
          </p:nvPr>
        </p:nvSpPr>
        <p:spPr>
          <a:xfrm rot="20580182">
            <a:off x="1003611" y="2880534"/>
            <a:ext cx="2784309" cy="3239616"/>
          </a:xfrm>
        </p:spPr>
        <p:txBody>
          <a:bodyPr>
            <a:normAutofit/>
          </a:bodyPr>
          <a:lstStyle/>
          <a:p>
            <a:pPr eaLnBrk="1" hangingPunct="1">
              <a:lnSpc>
                <a:spcPct val="250000"/>
              </a:lnSpc>
            </a:pPr>
            <a:r>
              <a:rPr lang="en-US" altLang="en-US" sz="2000" b="1" dirty="0">
                <a:solidFill>
                  <a:srgbClr val="FF0000"/>
                </a:solidFill>
              </a:rPr>
              <a:t>WHAT INFLUENCES WHAT YOU SEE FIRST?</a:t>
            </a:r>
          </a:p>
        </p:txBody>
      </p:sp>
      <p:sp>
        <p:nvSpPr>
          <p:cNvPr id="2" name="Picture Placeholder 1"/>
          <p:cNvSpPr>
            <a:spLocks noGrp="1" noTextEdit="1"/>
          </p:cNvSpPr>
          <p:nvPr>
            <p:ph type="pic" idx="1"/>
          </p:nvPr>
        </p:nvSpPr>
        <p:spPr>
          <a:xfrm>
            <a:off x="3812117" y="838200"/>
            <a:ext cx="7871883" cy="5500688"/>
          </a:xfrm>
          <a:prstGeom prst="rect">
            <a:avLst/>
          </a:prstGeom>
          <a:ln>
            <a:headEnd/>
            <a:tailEnd/>
          </a:ln>
          <a:effectLst>
            <a:outerShdw blurRad="50800" dist="12700" dir="5400000" algn="t" rotWithShape="0">
              <a:srgbClr val="000000">
                <a:alpha val="59000"/>
              </a:srgbClr>
            </a:outerShdw>
          </a:effectLst>
        </p:spPr>
      </p:sp>
      <p:pic>
        <p:nvPicPr>
          <p:cNvPr id="67589" name="Picture 5" descr="crazy_optical_illusions_ol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914400"/>
            <a:ext cx="7620000" cy="5334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535172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a:xfrm>
            <a:off x="508000" y="381001"/>
            <a:ext cx="10972800" cy="1139825"/>
          </a:xfrm>
        </p:spPr>
        <p:txBody>
          <a:bodyPr/>
          <a:lstStyle/>
          <a:p>
            <a:pPr marL="320040" indent="-320040" eaLnBrk="1" fontAlgn="auto" hangingPunct="1">
              <a:spcAft>
                <a:spcPts val="0"/>
              </a:spcAft>
              <a:buClr>
                <a:schemeClr val="accent6">
                  <a:lumMod val="75000"/>
                </a:schemeClr>
              </a:buClr>
              <a:defRPr/>
            </a:pPr>
            <a:r>
              <a:rPr lang="en-US" dirty="0">
                <a:ea typeface="+mj-ea"/>
                <a:cs typeface="+mj-cs"/>
              </a:rPr>
              <a:t>WHAT DO YOU SEE?</a:t>
            </a:r>
          </a:p>
        </p:txBody>
      </p:sp>
      <p:sp>
        <p:nvSpPr>
          <p:cNvPr id="69635" name="Rectangle 6"/>
          <p:cNvSpPr>
            <a:spLocks noGrp="1" noChangeArrowheads="1" noTextEdit="1"/>
          </p:cNvSpPr>
          <p:nvPr>
            <p:ph type="clipArt" sz="half" idx="1"/>
          </p:nvPr>
        </p:nvSpPr>
        <p:spPr/>
      </p:sp>
      <p:sp>
        <p:nvSpPr>
          <p:cNvPr id="69636" name="Rectangle 7"/>
          <p:cNvSpPr>
            <a:spLocks noGrp="1" noChangeArrowheads="1"/>
          </p:cNvSpPr>
          <p:nvPr>
            <p:ph type="body" sz="half" idx="2"/>
          </p:nvPr>
        </p:nvSpPr>
        <p:spPr>
          <a:xfrm>
            <a:off x="6197600" y="1319134"/>
            <a:ext cx="5555353" cy="4978064"/>
          </a:xfrm>
        </p:spPr>
        <p:txBody>
          <a:bodyPr>
            <a:noAutofit/>
          </a:bodyPr>
          <a:lstStyle/>
          <a:p>
            <a:pPr marL="0" indent="0">
              <a:lnSpc>
                <a:spcPct val="100000"/>
              </a:lnSpc>
              <a:spcBef>
                <a:spcPts val="0"/>
              </a:spcBef>
              <a:spcAft>
                <a:spcPts val="0"/>
              </a:spcAft>
              <a:buClrTx/>
              <a:buSzTx/>
              <a:buNone/>
              <a:defRPr/>
            </a:pPr>
            <a:r>
              <a:rPr lang="en-US" altLang="en-US" sz="2400" dirty="0"/>
              <a:t>- </a:t>
            </a:r>
            <a:r>
              <a:rPr lang="en-GB" sz="2400" dirty="0">
                <a:solidFill>
                  <a:schemeClr val="tx1"/>
                </a:solidFill>
              </a:rPr>
              <a:t>Figure-ground perception refers to </a:t>
            </a:r>
            <a:r>
              <a:rPr lang="en-GB" sz="2400" b="1" dirty="0">
                <a:solidFill>
                  <a:schemeClr val="tx1"/>
                </a:solidFill>
              </a:rPr>
              <a:t>the tendency of the visual system to simplify a scene into the main object</a:t>
            </a:r>
            <a:r>
              <a:rPr lang="en-GB" sz="2400" dirty="0">
                <a:solidFill>
                  <a:schemeClr val="tx1"/>
                </a:solidFill>
              </a:rPr>
              <a:t> that we are looking at (the figure) and everything else that forms the background (or ground).</a:t>
            </a:r>
            <a:endParaRPr lang="en-US" altLang="en-US" sz="2400" dirty="0"/>
          </a:p>
          <a:p>
            <a:pPr marL="0" indent="0" eaLnBrk="1" hangingPunct="1">
              <a:lnSpc>
                <a:spcPct val="90000"/>
              </a:lnSpc>
              <a:buNone/>
            </a:pPr>
            <a:r>
              <a:rPr lang="en-US" altLang="en-US" sz="2400" dirty="0"/>
              <a:t>- What you perceive depends upon what you identify as background and what as foreground</a:t>
            </a:r>
          </a:p>
          <a:p>
            <a:pPr marL="0" indent="0" eaLnBrk="1" hangingPunct="1">
              <a:lnSpc>
                <a:spcPct val="90000"/>
              </a:lnSpc>
              <a:buNone/>
            </a:pPr>
            <a:r>
              <a:rPr lang="en-US" altLang="en-US" sz="2400" dirty="0"/>
              <a:t>- This also illustrates another facet of perception – that of culture</a:t>
            </a:r>
          </a:p>
          <a:p>
            <a:pPr marL="0" indent="0" eaLnBrk="1" hangingPunct="1">
              <a:lnSpc>
                <a:spcPct val="90000"/>
              </a:lnSpc>
              <a:buNone/>
            </a:pPr>
            <a:r>
              <a:rPr lang="en-US" altLang="en-US" sz="2400" dirty="0"/>
              <a:t>- The use of a chalice is only meaningful in those cultural contexts where such drinking vessels are known</a:t>
            </a:r>
          </a:p>
        </p:txBody>
      </p:sp>
      <p:pic>
        <p:nvPicPr>
          <p:cNvPr id="69637" name="Picture 3" descr="crazy_optical_illusions_ol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676401"/>
            <a:ext cx="5283200" cy="3738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6" name="Picture 5" descr="Image result for tu dublin logo">
            <a:extLst>
              <a:ext uri="{FF2B5EF4-FFF2-40B4-BE49-F238E27FC236}">
                <a16:creationId xmlns:a16="http://schemas.microsoft.com/office/drawing/2014/main" id="{FA65336A-D1B3-4ACE-B3B5-7771CA5365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96425" y="52655"/>
            <a:ext cx="2695575" cy="1695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6918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609601" y="228600"/>
            <a:ext cx="8682567" cy="1041650"/>
          </a:xfrm>
        </p:spPr>
        <p:txBody>
          <a:bodyPr wrap="square" numCol="1" anchorCtr="0" compatLnSpc="1">
            <a:prstTxWarp prst="textNoShape">
              <a:avLst/>
            </a:prstTxWarp>
          </a:bodyPr>
          <a:lstStyle/>
          <a:p>
            <a:pPr marL="319088" indent="-319088" eaLnBrk="1" hangingPunct="1">
              <a:buClr>
                <a:srgbClr val="6A5650"/>
              </a:buClr>
              <a:defRPr/>
            </a:pPr>
            <a:br>
              <a:rPr lang="en-US" sz="3200" dirty="0">
                <a:ea typeface="MS PGothic" charset="0"/>
              </a:rPr>
            </a:br>
            <a:r>
              <a:rPr lang="en-US" sz="3200" dirty="0">
                <a:ea typeface="MS PGothic" charset="0"/>
              </a:rPr>
              <a:t>INTRODUCTION</a:t>
            </a:r>
          </a:p>
        </p:txBody>
      </p:sp>
      <p:sp>
        <p:nvSpPr>
          <p:cNvPr id="71683" name="Rectangle 3"/>
          <p:cNvSpPr>
            <a:spLocks noGrp="1" noChangeArrowheads="1"/>
          </p:cNvSpPr>
          <p:nvPr>
            <p:ph idx="1"/>
          </p:nvPr>
        </p:nvSpPr>
        <p:spPr>
          <a:xfrm>
            <a:off x="508000" y="1371601"/>
            <a:ext cx="10484544" cy="1412139"/>
          </a:xfrm>
        </p:spPr>
        <p:txBody>
          <a:bodyPr>
            <a:normAutofit/>
          </a:bodyPr>
          <a:lstStyle/>
          <a:p>
            <a:pPr eaLnBrk="1" hangingPunct="1"/>
            <a:r>
              <a:rPr lang="en-US" altLang="en-US" sz="2400" dirty="0"/>
              <a:t>Bruner and Goodman (</a:t>
            </a:r>
            <a:r>
              <a:rPr lang="en-US" altLang="en-US" sz="2400" dirty="0">
                <a:hlinkClick r:id="rId3"/>
              </a:rPr>
              <a:t>1947</a:t>
            </a:r>
            <a:r>
              <a:rPr lang="en-US" altLang="en-US" sz="2400" dirty="0"/>
              <a:t>) worked with a group of 10-year-olds and found that the poor children saw the coins as physically larger than did the rich children.  Presumably the greater value of the coins to the poor children influenced their perceptual mechanism, and they amplified the sizes</a:t>
            </a:r>
          </a:p>
        </p:txBody>
      </p:sp>
      <p:pic>
        <p:nvPicPr>
          <p:cNvPr id="71684" name="Picture 5" descr="coi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4847" y="2810766"/>
            <a:ext cx="9723733" cy="34594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470960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marL="320040" indent="-320040" eaLnBrk="1" fontAlgn="auto" hangingPunct="1">
              <a:spcAft>
                <a:spcPts val="0"/>
              </a:spcAft>
              <a:buClr>
                <a:schemeClr val="accent6">
                  <a:lumMod val="75000"/>
                </a:schemeClr>
              </a:buClr>
              <a:defRPr/>
            </a:pPr>
            <a:r>
              <a:rPr lang="en-US" dirty="0">
                <a:ea typeface="+mj-ea"/>
                <a:cs typeface="+mj-cs"/>
              </a:rPr>
              <a:t> EXPLANATION</a:t>
            </a:r>
          </a:p>
        </p:txBody>
      </p:sp>
      <p:sp>
        <p:nvSpPr>
          <p:cNvPr id="73731" name="Rectangle 3"/>
          <p:cNvSpPr>
            <a:spLocks noGrp="1" noChangeArrowheads="1"/>
          </p:cNvSpPr>
          <p:nvPr>
            <p:ph idx="1"/>
          </p:nvPr>
        </p:nvSpPr>
        <p:spPr/>
        <p:txBody>
          <a:bodyPr>
            <a:normAutofit/>
          </a:bodyPr>
          <a:lstStyle/>
          <a:p>
            <a:pPr eaLnBrk="1" hangingPunct="1">
              <a:lnSpc>
                <a:spcPct val="80000"/>
              </a:lnSpc>
            </a:pPr>
            <a:r>
              <a:rPr lang="en-US" altLang="en-US" dirty="0"/>
              <a:t>We attach meanings, interpretations, values and aims to our actions</a:t>
            </a:r>
          </a:p>
          <a:p>
            <a:pPr eaLnBrk="1" hangingPunct="1">
              <a:lnSpc>
                <a:spcPct val="80000"/>
              </a:lnSpc>
              <a:buFont typeface="Wingdings" pitchFamily="2" charset="2"/>
              <a:buNone/>
            </a:pPr>
            <a:endParaRPr lang="en-US" altLang="en-US" sz="1100" dirty="0"/>
          </a:p>
          <a:p>
            <a:pPr eaLnBrk="1" hangingPunct="1">
              <a:lnSpc>
                <a:spcPct val="80000"/>
              </a:lnSpc>
            </a:pPr>
            <a:r>
              <a:rPr lang="en-US" altLang="en-US" dirty="0"/>
              <a:t>What we do (our </a:t>
            </a:r>
            <a:r>
              <a:rPr lang="en-US" altLang="en-US" dirty="0" err="1"/>
              <a:t>behaviour</a:t>
            </a:r>
            <a:r>
              <a:rPr lang="en-US" altLang="en-US" dirty="0"/>
              <a:t>) in this world depends </a:t>
            </a:r>
          </a:p>
          <a:p>
            <a:pPr lvl="2" eaLnBrk="1" hangingPunct="1">
              <a:lnSpc>
                <a:spcPct val="80000"/>
              </a:lnSpc>
            </a:pPr>
            <a:r>
              <a:rPr lang="en-US" altLang="en-US" sz="2400" dirty="0"/>
              <a:t>How we understand our place in it</a:t>
            </a:r>
          </a:p>
          <a:p>
            <a:pPr lvl="2" eaLnBrk="1" hangingPunct="1">
              <a:lnSpc>
                <a:spcPct val="80000"/>
              </a:lnSpc>
            </a:pPr>
            <a:r>
              <a:rPr lang="en-US" altLang="en-US" sz="2400" dirty="0"/>
              <a:t>How we perceive ourselves, our physical and social environment</a:t>
            </a:r>
          </a:p>
          <a:p>
            <a:pPr lvl="2" eaLnBrk="1" hangingPunct="1">
              <a:lnSpc>
                <a:spcPct val="80000"/>
              </a:lnSpc>
            </a:pPr>
            <a:r>
              <a:rPr lang="en-US" altLang="en-US" sz="2400" dirty="0"/>
              <a:t>How we perceive our circumstances</a:t>
            </a:r>
          </a:p>
          <a:p>
            <a:pPr lvl="2" eaLnBrk="1" hangingPunct="1">
              <a:lnSpc>
                <a:spcPct val="80000"/>
              </a:lnSpc>
              <a:buFont typeface="Wingdings" pitchFamily="2" charset="2"/>
              <a:buNone/>
            </a:pPr>
            <a:endParaRPr lang="en-US" altLang="en-US" sz="1600" dirty="0"/>
          </a:p>
          <a:p>
            <a:pPr eaLnBrk="1" hangingPunct="1">
              <a:lnSpc>
                <a:spcPct val="80000"/>
              </a:lnSpc>
            </a:pPr>
            <a:r>
              <a:rPr lang="en-US" altLang="en-US" dirty="0"/>
              <a:t>We perceive the world around us in different ways</a:t>
            </a:r>
          </a:p>
          <a:p>
            <a:pPr eaLnBrk="1" hangingPunct="1">
              <a:lnSpc>
                <a:spcPct val="80000"/>
              </a:lnSpc>
            </a:pPr>
            <a:r>
              <a:rPr lang="en-US" altLang="en-US" dirty="0"/>
              <a:t>It is our personal perception of that reality which shapes and directs our </a:t>
            </a:r>
            <a:r>
              <a:rPr lang="en-US" altLang="en-US" dirty="0" err="1"/>
              <a:t>behaviour</a:t>
            </a:r>
            <a:endParaRPr lang="en-US" altLang="en-US" dirty="0"/>
          </a:p>
          <a:p>
            <a:pPr eaLnBrk="1" hangingPunct="1">
              <a:lnSpc>
                <a:spcPct val="80000"/>
              </a:lnSpc>
            </a:pPr>
            <a:r>
              <a:rPr lang="en-US" altLang="en-US" dirty="0"/>
              <a:t>To understand each other</a:t>
            </a:r>
            <a:r>
              <a:rPr lang="ja-JP" altLang="en-US" dirty="0"/>
              <a:t>’</a:t>
            </a:r>
            <a:r>
              <a:rPr lang="en-US" altLang="ja-JP" dirty="0"/>
              <a:t>s </a:t>
            </a:r>
            <a:r>
              <a:rPr lang="en-US" altLang="ja-JP" dirty="0" err="1"/>
              <a:t>behaviour</a:t>
            </a:r>
            <a:r>
              <a:rPr lang="en-US" altLang="ja-JP" dirty="0"/>
              <a:t>, we need to understand why we perceive things differently in the first place</a:t>
            </a:r>
            <a:endParaRPr lang="en-US" altLang="en-US" dirty="0"/>
          </a:p>
        </p:txBody>
      </p:sp>
    </p:spTree>
    <p:extLst>
      <p:ext uri="{BB962C8B-B14F-4D97-AF65-F5344CB8AC3E}">
        <p14:creationId xmlns:p14="http://schemas.microsoft.com/office/powerpoint/2010/main" val="3266570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10972800" cy="990600"/>
          </a:xfrm>
        </p:spPr>
        <p:txBody>
          <a:bodyPr/>
          <a:lstStyle/>
          <a:p>
            <a:pPr marL="320040" indent="-320040" eaLnBrk="1" fontAlgn="auto" hangingPunct="1">
              <a:spcAft>
                <a:spcPts val="0"/>
              </a:spcAft>
              <a:buClr>
                <a:schemeClr val="accent6">
                  <a:lumMod val="75000"/>
                </a:schemeClr>
              </a:buClr>
              <a:defRPr/>
            </a:pPr>
            <a:r>
              <a:rPr lang="en-IE" dirty="0">
                <a:ea typeface="+mj-ea"/>
                <a:cs typeface="+mj-cs"/>
              </a:rPr>
              <a:t>MORE ILLUSIONS</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387600" y="1747044"/>
            <a:ext cx="6096000" cy="4572000"/>
          </a:xfrm>
        </p:spPr>
      </p:pic>
    </p:spTree>
    <p:extLst>
      <p:ext uri="{BB962C8B-B14F-4D97-AF65-F5344CB8AC3E}">
        <p14:creationId xmlns:p14="http://schemas.microsoft.com/office/powerpoint/2010/main" val="23461879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815414" y="188640"/>
            <a:ext cx="8682567" cy="1143000"/>
          </a:xfrm>
        </p:spPr>
        <p:txBody>
          <a:bodyPr/>
          <a:lstStyle/>
          <a:p>
            <a:pPr marL="320040" indent="-320040" eaLnBrk="1" fontAlgn="auto" hangingPunct="1">
              <a:spcAft>
                <a:spcPts val="0"/>
              </a:spcAft>
              <a:buClr>
                <a:schemeClr val="accent6">
                  <a:lumMod val="75000"/>
                </a:schemeClr>
              </a:buClr>
              <a:defRPr/>
            </a:pPr>
            <a:r>
              <a:rPr lang="en-US" dirty="0">
                <a:ea typeface="+mj-ea"/>
                <a:cs typeface="+mj-cs"/>
              </a:rPr>
              <a:t>PERCEPTION DEFINED</a:t>
            </a:r>
          </a:p>
        </p:txBody>
      </p:sp>
      <p:sp>
        <p:nvSpPr>
          <p:cNvPr id="25603" name="Rectangle 3"/>
          <p:cNvSpPr>
            <a:spLocks noGrp="1" noChangeArrowheads="1"/>
          </p:cNvSpPr>
          <p:nvPr>
            <p:ph idx="1"/>
          </p:nvPr>
        </p:nvSpPr>
        <p:spPr>
          <a:xfrm>
            <a:off x="527381" y="1736675"/>
            <a:ext cx="5692360" cy="4351025"/>
          </a:xfrm>
        </p:spPr>
        <p:txBody>
          <a:bodyPr rtlCol="0">
            <a:normAutofit/>
          </a:bodyPr>
          <a:lstStyle/>
          <a:p>
            <a:pPr marL="274320" indent="-182880" eaLnBrk="1" fontAlgn="auto" hangingPunct="1">
              <a:lnSpc>
                <a:spcPct val="90000"/>
              </a:lnSpc>
              <a:spcAft>
                <a:spcPts val="0"/>
              </a:spcAft>
              <a:buClr>
                <a:schemeClr val="accent6">
                  <a:lumMod val="75000"/>
                </a:schemeClr>
              </a:buClr>
              <a:buFont typeface="Wingdings 3"/>
              <a:buChar char=""/>
              <a:defRPr/>
            </a:pPr>
            <a:r>
              <a:rPr lang="en-US" sz="2400" dirty="0">
                <a:solidFill>
                  <a:schemeClr val="tx1">
                    <a:lumMod val="75000"/>
                    <a:lumOff val="25000"/>
                  </a:schemeClr>
                </a:solidFill>
                <a:ea typeface="+mn-ea"/>
                <a:cs typeface="+mn-cs"/>
              </a:rPr>
              <a:t>Perception is the dynamic psychological process responsible for attending to, organizing and interpreting sensory data (page 258, </a:t>
            </a:r>
            <a:r>
              <a:rPr lang="en-US" sz="2400" dirty="0" err="1">
                <a:solidFill>
                  <a:schemeClr val="tx1">
                    <a:lumMod val="75000"/>
                    <a:lumOff val="25000"/>
                  </a:schemeClr>
                </a:solidFill>
                <a:ea typeface="+mn-ea"/>
                <a:cs typeface="+mn-cs"/>
              </a:rPr>
              <a:t>Buchanen</a:t>
            </a:r>
            <a:r>
              <a:rPr lang="en-US" sz="2400" dirty="0">
                <a:solidFill>
                  <a:schemeClr val="tx1">
                    <a:lumMod val="75000"/>
                    <a:lumOff val="25000"/>
                  </a:schemeClr>
                </a:solidFill>
                <a:ea typeface="+mn-ea"/>
                <a:cs typeface="+mn-cs"/>
              </a:rPr>
              <a:t>)</a:t>
            </a:r>
          </a:p>
          <a:p>
            <a:pPr marL="274320" indent="-182880" eaLnBrk="1" fontAlgn="auto" hangingPunct="1">
              <a:lnSpc>
                <a:spcPct val="90000"/>
              </a:lnSpc>
              <a:spcAft>
                <a:spcPts val="0"/>
              </a:spcAft>
              <a:buClr>
                <a:schemeClr val="accent6">
                  <a:lumMod val="75000"/>
                </a:schemeClr>
              </a:buClr>
              <a:buFont typeface="Wingdings 3"/>
              <a:buChar char=""/>
              <a:defRPr/>
            </a:pPr>
            <a:endParaRPr lang="en-US" sz="2400" dirty="0">
              <a:solidFill>
                <a:schemeClr val="tx1">
                  <a:lumMod val="75000"/>
                  <a:lumOff val="25000"/>
                </a:schemeClr>
              </a:solidFill>
              <a:ea typeface="+mn-ea"/>
              <a:cs typeface="+mn-cs"/>
            </a:endParaRPr>
          </a:p>
          <a:p>
            <a:pPr marL="274320" indent="-182880" eaLnBrk="1" fontAlgn="auto" hangingPunct="1">
              <a:lnSpc>
                <a:spcPct val="90000"/>
              </a:lnSpc>
              <a:spcAft>
                <a:spcPts val="0"/>
              </a:spcAft>
              <a:buClr>
                <a:schemeClr val="accent6">
                  <a:lumMod val="75000"/>
                </a:schemeClr>
              </a:buClr>
              <a:buFont typeface="Wingdings 3"/>
              <a:buChar char=""/>
              <a:defRPr/>
            </a:pPr>
            <a:r>
              <a:rPr lang="en-US" sz="2400" dirty="0">
                <a:solidFill>
                  <a:schemeClr val="tx1">
                    <a:lumMod val="75000"/>
                    <a:lumOff val="25000"/>
                  </a:schemeClr>
                </a:solidFill>
                <a:ea typeface="+mn-ea"/>
                <a:cs typeface="+mn-cs"/>
              </a:rPr>
              <a:t>We behave in, and in response to, the world as we perceive it. We each live in our own perceptual world</a:t>
            </a:r>
          </a:p>
          <a:p>
            <a:pPr marL="274320" indent="-182880" eaLnBrk="1" fontAlgn="auto" hangingPunct="1">
              <a:lnSpc>
                <a:spcPct val="90000"/>
              </a:lnSpc>
              <a:spcAft>
                <a:spcPts val="0"/>
              </a:spcAft>
              <a:buClr>
                <a:schemeClr val="accent6">
                  <a:lumMod val="75000"/>
                </a:schemeClr>
              </a:buClr>
              <a:buFont typeface="Wingdings 3"/>
              <a:buChar char=""/>
              <a:defRPr/>
            </a:pPr>
            <a:endParaRPr lang="en-US" sz="2400" dirty="0">
              <a:solidFill>
                <a:schemeClr val="tx1">
                  <a:lumMod val="75000"/>
                  <a:lumOff val="25000"/>
                </a:schemeClr>
              </a:solidFill>
              <a:ea typeface="+mn-ea"/>
              <a:cs typeface="+mn-cs"/>
            </a:endParaRPr>
          </a:p>
          <a:p>
            <a:pPr marL="274320" indent="-182880" eaLnBrk="1" fontAlgn="auto" hangingPunct="1">
              <a:lnSpc>
                <a:spcPct val="90000"/>
              </a:lnSpc>
              <a:spcAft>
                <a:spcPts val="0"/>
              </a:spcAft>
              <a:buClr>
                <a:schemeClr val="accent6">
                  <a:lumMod val="75000"/>
                </a:schemeClr>
              </a:buClr>
              <a:buFont typeface="Wingdings 3"/>
              <a:buChar char=""/>
              <a:defRPr/>
            </a:pPr>
            <a:r>
              <a:rPr lang="en-US" sz="2400" dirty="0">
                <a:solidFill>
                  <a:schemeClr val="tx1">
                    <a:lumMod val="75000"/>
                    <a:lumOff val="25000"/>
                  </a:schemeClr>
                </a:solidFill>
                <a:ea typeface="+mn-ea"/>
                <a:cs typeface="+mn-cs"/>
              </a:rPr>
              <a:t>Two people can observe the same object but perceive it in different ways</a:t>
            </a:r>
          </a:p>
        </p:txBody>
      </p:sp>
      <p:pic>
        <p:nvPicPr>
          <p:cNvPr id="2" name="Picture 1"/>
          <p:cNvPicPr>
            <a:picLocks noChangeAspect="1"/>
          </p:cNvPicPr>
          <p:nvPr/>
        </p:nvPicPr>
        <p:blipFill>
          <a:blip r:embed="rId3"/>
          <a:stretch>
            <a:fillRect/>
          </a:stretch>
        </p:blipFill>
        <p:spPr>
          <a:xfrm>
            <a:off x="6128479" y="2315567"/>
            <a:ext cx="5704298" cy="3846829"/>
          </a:xfrm>
          <a:prstGeom prst="rect">
            <a:avLst/>
          </a:prstGeom>
        </p:spPr>
      </p:pic>
    </p:spTree>
    <p:extLst>
      <p:ext uri="{BB962C8B-B14F-4D97-AF65-F5344CB8AC3E}">
        <p14:creationId xmlns:p14="http://schemas.microsoft.com/office/powerpoint/2010/main" val="2420988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4"/>
          <p:cNvSpPr>
            <a:spLocks noGrp="1" noChangeArrowheads="1"/>
          </p:cNvSpPr>
          <p:nvPr>
            <p:ph type="title"/>
          </p:nvPr>
        </p:nvSpPr>
        <p:spPr>
          <a:xfrm>
            <a:off x="463551" y="76201"/>
            <a:ext cx="10972800" cy="1139825"/>
          </a:xfrm>
        </p:spPr>
        <p:txBody>
          <a:bodyPr/>
          <a:lstStyle/>
          <a:p>
            <a:pPr marL="320040" indent="-320040" eaLnBrk="1" fontAlgn="auto" hangingPunct="1">
              <a:spcAft>
                <a:spcPts val="0"/>
              </a:spcAft>
              <a:buClr>
                <a:schemeClr val="accent6">
                  <a:lumMod val="75000"/>
                </a:schemeClr>
              </a:buClr>
              <a:defRPr/>
            </a:pPr>
            <a:r>
              <a:rPr lang="en-US" dirty="0">
                <a:ea typeface="+mj-ea"/>
                <a:cs typeface="+mj-cs"/>
              </a:rPr>
              <a:t>PROCESS OF PERCEPTION</a:t>
            </a:r>
          </a:p>
        </p:txBody>
      </p:sp>
      <p:sp>
        <p:nvSpPr>
          <p:cNvPr id="78852" name="Rectangle 9"/>
          <p:cNvSpPr>
            <a:spLocks noChangeArrowheads="1"/>
          </p:cNvSpPr>
          <p:nvPr/>
        </p:nvSpPr>
        <p:spPr bwMode="auto">
          <a:xfrm>
            <a:off x="4064000" y="1752600"/>
            <a:ext cx="2844800" cy="6858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r>
              <a:rPr lang="en-US" altLang="en-US" sz="1200" b="1"/>
              <a:t>Sensory input:</a:t>
            </a:r>
          </a:p>
          <a:p>
            <a:pPr algn="ctr"/>
            <a:r>
              <a:rPr lang="en-US" altLang="en-US" sz="1200"/>
              <a:t>incoming raw data</a:t>
            </a:r>
          </a:p>
        </p:txBody>
      </p:sp>
      <p:sp>
        <p:nvSpPr>
          <p:cNvPr id="78853" name="Rectangle 10"/>
          <p:cNvSpPr>
            <a:spLocks noChangeArrowheads="1"/>
          </p:cNvSpPr>
          <p:nvPr/>
        </p:nvSpPr>
        <p:spPr bwMode="auto">
          <a:xfrm>
            <a:off x="4064000" y="2819400"/>
            <a:ext cx="2844800" cy="6858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r>
              <a:rPr lang="en-US" altLang="en-US" sz="1200" b="1"/>
              <a:t>Selective attention:</a:t>
            </a:r>
          </a:p>
          <a:p>
            <a:pPr algn="ctr"/>
            <a:r>
              <a:rPr lang="en-US" altLang="en-US" sz="1200"/>
              <a:t>We cannot pay </a:t>
            </a:r>
          </a:p>
          <a:p>
            <a:pPr algn="ctr"/>
            <a:r>
              <a:rPr lang="en-US" altLang="en-US" sz="1200"/>
              <a:t>Attention to everything</a:t>
            </a:r>
          </a:p>
        </p:txBody>
      </p:sp>
      <p:sp>
        <p:nvSpPr>
          <p:cNvPr id="78854" name="Rectangle 11"/>
          <p:cNvSpPr>
            <a:spLocks noChangeArrowheads="1"/>
          </p:cNvSpPr>
          <p:nvPr/>
        </p:nvSpPr>
        <p:spPr bwMode="auto">
          <a:xfrm>
            <a:off x="4064000" y="3810000"/>
            <a:ext cx="2844800" cy="7620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r>
              <a:rPr lang="en-US" altLang="en-US" sz="1200" b="1"/>
              <a:t>Perceptual</a:t>
            </a:r>
          </a:p>
          <a:p>
            <a:pPr algn="ctr"/>
            <a:r>
              <a:rPr lang="en-US" altLang="en-US" sz="1200" b="1"/>
              <a:t> organization</a:t>
            </a:r>
          </a:p>
          <a:p>
            <a:pPr algn="ctr"/>
            <a:r>
              <a:rPr lang="en-US" altLang="en-US" sz="1200"/>
              <a:t>We look for order,</a:t>
            </a:r>
          </a:p>
          <a:p>
            <a:pPr algn="ctr"/>
            <a:r>
              <a:rPr lang="en-US" altLang="en-US" sz="1200"/>
              <a:t>Meaning, patterns</a:t>
            </a:r>
            <a:r>
              <a:rPr lang="en-US" altLang="en-US" sz="1200" b="1"/>
              <a:t> </a:t>
            </a:r>
          </a:p>
        </p:txBody>
      </p:sp>
      <p:sp>
        <p:nvSpPr>
          <p:cNvPr id="78855" name="Rectangle 12"/>
          <p:cNvSpPr>
            <a:spLocks noChangeArrowheads="1"/>
          </p:cNvSpPr>
          <p:nvPr/>
        </p:nvSpPr>
        <p:spPr bwMode="auto">
          <a:xfrm>
            <a:off x="4064000" y="4876800"/>
            <a:ext cx="2844800" cy="6858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r>
              <a:rPr lang="en-US" altLang="en-US" sz="1200" b="1"/>
              <a:t>Interpretation</a:t>
            </a:r>
          </a:p>
          <a:p>
            <a:pPr algn="ctr"/>
            <a:r>
              <a:rPr lang="en-US" altLang="en-US" sz="1200"/>
              <a:t>Sense-making, seeking</a:t>
            </a:r>
          </a:p>
          <a:p>
            <a:pPr algn="ctr"/>
            <a:r>
              <a:rPr lang="en-US" altLang="en-US" sz="1200"/>
              <a:t> closure</a:t>
            </a:r>
          </a:p>
        </p:txBody>
      </p:sp>
      <p:sp>
        <p:nvSpPr>
          <p:cNvPr id="78856" name="Rectangle 13"/>
          <p:cNvSpPr>
            <a:spLocks noChangeArrowheads="1"/>
          </p:cNvSpPr>
          <p:nvPr/>
        </p:nvSpPr>
        <p:spPr bwMode="auto">
          <a:xfrm>
            <a:off x="4064000" y="5943600"/>
            <a:ext cx="2844800" cy="6858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r>
              <a:rPr lang="en-US" altLang="en-US" sz="1200" b="1"/>
              <a:t>Behavioural response</a:t>
            </a:r>
          </a:p>
        </p:txBody>
      </p:sp>
      <p:sp>
        <p:nvSpPr>
          <p:cNvPr id="78857" name="Line 15"/>
          <p:cNvSpPr>
            <a:spLocks noChangeShapeType="1"/>
          </p:cNvSpPr>
          <p:nvPr/>
        </p:nvSpPr>
        <p:spPr bwMode="auto">
          <a:xfrm>
            <a:off x="5283200" y="2438400"/>
            <a:ext cx="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E"/>
          </a:p>
        </p:txBody>
      </p:sp>
      <p:sp>
        <p:nvSpPr>
          <p:cNvPr id="78858" name="Line 16"/>
          <p:cNvSpPr>
            <a:spLocks noChangeShapeType="1"/>
          </p:cNvSpPr>
          <p:nvPr/>
        </p:nvSpPr>
        <p:spPr bwMode="auto">
          <a:xfrm>
            <a:off x="5384800" y="3505200"/>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E"/>
          </a:p>
        </p:txBody>
      </p:sp>
      <p:sp>
        <p:nvSpPr>
          <p:cNvPr id="78859" name="Line 17"/>
          <p:cNvSpPr>
            <a:spLocks noChangeShapeType="1"/>
          </p:cNvSpPr>
          <p:nvPr/>
        </p:nvSpPr>
        <p:spPr bwMode="auto">
          <a:xfrm>
            <a:off x="5283200" y="4572000"/>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E"/>
          </a:p>
        </p:txBody>
      </p:sp>
      <p:sp>
        <p:nvSpPr>
          <p:cNvPr id="78860" name="Line 18"/>
          <p:cNvSpPr>
            <a:spLocks noChangeShapeType="1"/>
          </p:cNvSpPr>
          <p:nvPr/>
        </p:nvSpPr>
        <p:spPr bwMode="auto">
          <a:xfrm>
            <a:off x="5384800" y="5562600"/>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E"/>
          </a:p>
        </p:txBody>
      </p:sp>
      <p:sp>
        <p:nvSpPr>
          <p:cNvPr id="78861" name="Line 19"/>
          <p:cNvSpPr>
            <a:spLocks noChangeShapeType="1"/>
          </p:cNvSpPr>
          <p:nvPr/>
        </p:nvSpPr>
        <p:spPr bwMode="auto">
          <a:xfrm flipH="1">
            <a:off x="711200" y="3657600"/>
            <a:ext cx="33528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IE"/>
          </a:p>
        </p:txBody>
      </p:sp>
      <p:sp>
        <p:nvSpPr>
          <p:cNvPr id="78862" name="Text Box 20"/>
          <p:cNvSpPr txBox="1">
            <a:spLocks noChangeArrowheads="1"/>
          </p:cNvSpPr>
          <p:nvPr/>
        </p:nvSpPr>
        <p:spPr bwMode="auto">
          <a:xfrm>
            <a:off x="1096434" y="1784350"/>
            <a:ext cx="2041695" cy="12003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r>
              <a:rPr lang="en-US" altLang="en-US" sz="1200"/>
              <a:t>Screens/ filters out</a:t>
            </a:r>
          </a:p>
          <a:p>
            <a:r>
              <a:rPr lang="en-US" altLang="en-US" sz="1200"/>
              <a:t>redundant information</a:t>
            </a:r>
          </a:p>
          <a:p>
            <a:r>
              <a:rPr lang="en-US" altLang="en-US" sz="1200"/>
              <a:t>so that we can focus</a:t>
            </a:r>
          </a:p>
          <a:p>
            <a:r>
              <a:rPr lang="en-US" altLang="en-US" sz="1200"/>
              <a:t>on what is important</a:t>
            </a:r>
          </a:p>
          <a:p>
            <a:endParaRPr lang="en-US" altLang="en-US" sz="1200"/>
          </a:p>
          <a:p>
            <a:r>
              <a:rPr lang="ja-JP" altLang="en-US" sz="1200"/>
              <a:t>“</a:t>
            </a:r>
            <a:r>
              <a:rPr lang="en-US" altLang="ja-JP" sz="1200"/>
              <a:t>Bottom-up processing</a:t>
            </a:r>
            <a:r>
              <a:rPr lang="ja-JP" altLang="en-US" sz="1200"/>
              <a:t>”</a:t>
            </a:r>
            <a:endParaRPr lang="en-US" altLang="en-US" sz="1200"/>
          </a:p>
        </p:txBody>
      </p:sp>
      <p:sp>
        <p:nvSpPr>
          <p:cNvPr id="78863" name="Text Box 21"/>
          <p:cNvSpPr txBox="1">
            <a:spLocks noChangeArrowheads="1"/>
          </p:cNvSpPr>
          <p:nvPr/>
        </p:nvSpPr>
        <p:spPr bwMode="auto">
          <a:xfrm>
            <a:off x="1096434" y="4070350"/>
            <a:ext cx="1985790" cy="12003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r>
              <a:rPr lang="en-US" altLang="en-US" sz="1200"/>
              <a:t>Concerns the mental</a:t>
            </a:r>
          </a:p>
          <a:p>
            <a:r>
              <a:rPr lang="en-US" altLang="en-US" sz="1200"/>
              <a:t>processes that allows </a:t>
            </a:r>
          </a:p>
          <a:p>
            <a:r>
              <a:rPr lang="en-US" altLang="en-US" sz="1200"/>
              <a:t>us to order, interpret</a:t>
            </a:r>
          </a:p>
          <a:p>
            <a:r>
              <a:rPr lang="en-US" altLang="en-US" sz="1200"/>
              <a:t>and make sense of info</a:t>
            </a:r>
          </a:p>
          <a:p>
            <a:endParaRPr lang="en-US" altLang="en-US" sz="1200"/>
          </a:p>
          <a:p>
            <a:r>
              <a:rPr lang="ja-JP" altLang="en-US" sz="1200"/>
              <a:t>“</a:t>
            </a:r>
            <a:r>
              <a:rPr lang="en-US" altLang="ja-JP" sz="1200"/>
              <a:t>Top-down processing</a:t>
            </a:r>
            <a:r>
              <a:rPr lang="ja-JP" altLang="en-US" sz="1200"/>
              <a:t>”</a:t>
            </a:r>
            <a:endParaRPr lang="en-US" altLang="en-US" sz="1200"/>
          </a:p>
        </p:txBody>
      </p:sp>
      <p:sp>
        <p:nvSpPr>
          <p:cNvPr id="78864" name="Text Box 22"/>
          <p:cNvSpPr txBox="1">
            <a:spLocks noChangeArrowheads="1"/>
          </p:cNvSpPr>
          <p:nvPr/>
        </p:nvSpPr>
        <p:spPr bwMode="auto">
          <a:xfrm>
            <a:off x="7632171" y="4457700"/>
            <a:ext cx="2339102" cy="116955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r>
              <a:rPr lang="en-US" altLang="en-US" sz="1400" dirty="0"/>
              <a:t>Perception is a dynamic</a:t>
            </a:r>
          </a:p>
          <a:p>
            <a:r>
              <a:rPr lang="en-US" altLang="en-US" sz="1400" dirty="0"/>
              <a:t>process because it </a:t>
            </a:r>
          </a:p>
          <a:p>
            <a:r>
              <a:rPr lang="en-US" altLang="en-US" sz="1400" dirty="0"/>
              <a:t>involves ordering</a:t>
            </a:r>
          </a:p>
          <a:p>
            <a:r>
              <a:rPr lang="en-US" altLang="en-US" sz="1400" dirty="0"/>
              <a:t>And attaching meaning</a:t>
            </a:r>
          </a:p>
          <a:p>
            <a:r>
              <a:rPr lang="en-US" altLang="en-US" sz="1400" dirty="0"/>
              <a:t>To raw sensory data</a:t>
            </a:r>
          </a:p>
        </p:txBody>
      </p:sp>
    </p:spTree>
    <p:extLst>
      <p:ext uri="{BB962C8B-B14F-4D97-AF65-F5344CB8AC3E}">
        <p14:creationId xmlns:p14="http://schemas.microsoft.com/office/powerpoint/2010/main" val="25202946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normAutofit/>
          </a:bodyPr>
          <a:lstStyle/>
          <a:p>
            <a:pPr marL="320040" indent="-320040" eaLnBrk="1" fontAlgn="auto" hangingPunct="1">
              <a:spcAft>
                <a:spcPts val="0"/>
              </a:spcAft>
              <a:buClr>
                <a:schemeClr val="accent6">
                  <a:lumMod val="75000"/>
                </a:schemeClr>
              </a:buClr>
              <a:defRPr/>
            </a:pPr>
            <a:r>
              <a:rPr lang="en-US">
                <a:ea typeface="+mj-ea"/>
                <a:cs typeface="+mj-cs"/>
              </a:rPr>
              <a:t>SUMMARY: PROCESS OF PERCEPTION</a:t>
            </a:r>
          </a:p>
        </p:txBody>
      </p:sp>
      <p:sp>
        <p:nvSpPr>
          <p:cNvPr id="28675" name="Rectangle 3"/>
          <p:cNvSpPr>
            <a:spLocks noGrp="1" noChangeArrowheads="1"/>
          </p:cNvSpPr>
          <p:nvPr>
            <p:ph idx="1"/>
          </p:nvPr>
        </p:nvSpPr>
        <p:spPr/>
        <p:txBody>
          <a:bodyPr rtlCol="0">
            <a:normAutofit/>
          </a:bodyPr>
          <a:lstStyle/>
          <a:p>
            <a:pPr marL="274320" indent="-182880" eaLnBrk="1" fontAlgn="auto" hangingPunct="1">
              <a:spcAft>
                <a:spcPts val="0"/>
              </a:spcAft>
              <a:buClr>
                <a:schemeClr val="accent6">
                  <a:lumMod val="75000"/>
                </a:schemeClr>
              </a:buClr>
              <a:buFont typeface="Wingdings 3"/>
              <a:buChar char=""/>
              <a:defRPr/>
            </a:pPr>
            <a:r>
              <a:rPr lang="en-US" dirty="0">
                <a:solidFill>
                  <a:schemeClr val="tx1">
                    <a:lumMod val="75000"/>
                    <a:lumOff val="25000"/>
                  </a:schemeClr>
                </a:solidFill>
                <a:ea typeface="+mn-ea"/>
                <a:cs typeface="+mn-cs"/>
              </a:rPr>
              <a:t>People behave according how they perceive the world, not in response to reality</a:t>
            </a:r>
          </a:p>
          <a:p>
            <a:pPr marL="274320" indent="-182880" eaLnBrk="1" fontAlgn="auto" hangingPunct="1">
              <a:spcAft>
                <a:spcPts val="0"/>
              </a:spcAft>
              <a:buClr>
                <a:schemeClr val="accent6">
                  <a:lumMod val="75000"/>
                </a:schemeClr>
              </a:buClr>
              <a:buFont typeface="Wingdings 3"/>
              <a:buChar char=""/>
              <a:defRPr/>
            </a:pPr>
            <a:r>
              <a:rPr lang="en-US" dirty="0">
                <a:solidFill>
                  <a:schemeClr val="tx1">
                    <a:lumMod val="75000"/>
                    <a:lumOff val="25000"/>
                  </a:schemeClr>
                </a:solidFill>
                <a:ea typeface="+mn-ea"/>
                <a:cs typeface="+mn-cs"/>
              </a:rPr>
              <a:t>The perceptual process involves the interpretation of sensory input in the light of past experience, our knowledge, beliefs, expectations and motives</a:t>
            </a:r>
          </a:p>
          <a:p>
            <a:pPr marL="274320" indent="-182880" eaLnBrk="1" fontAlgn="auto" hangingPunct="1">
              <a:spcAft>
                <a:spcPts val="0"/>
              </a:spcAft>
              <a:buClr>
                <a:schemeClr val="accent6">
                  <a:lumMod val="75000"/>
                </a:schemeClr>
              </a:buClr>
              <a:buFont typeface="Wingdings 3"/>
              <a:buChar char=""/>
              <a:defRPr/>
            </a:pPr>
            <a:r>
              <a:rPr lang="en-US" i="1" dirty="0">
                <a:solidFill>
                  <a:schemeClr val="tx1">
                    <a:lumMod val="75000"/>
                    <a:lumOff val="25000"/>
                  </a:schemeClr>
                </a:solidFill>
                <a:ea typeface="+mn-ea"/>
                <a:cs typeface="+mn-cs"/>
              </a:rPr>
              <a:t>Sensation or bottom-up processing</a:t>
            </a:r>
            <a:r>
              <a:rPr lang="en-US" dirty="0">
                <a:solidFill>
                  <a:schemeClr val="tx1">
                    <a:lumMod val="75000"/>
                    <a:lumOff val="25000"/>
                  </a:schemeClr>
                </a:solidFill>
                <a:ea typeface="+mn-ea"/>
                <a:cs typeface="+mn-cs"/>
              </a:rPr>
              <a:t>, determines the data to which we pay attention</a:t>
            </a:r>
          </a:p>
          <a:p>
            <a:pPr marL="274320" indent="-182880" eaLnBrk="1" fontAlgn="auto" hangingPunct="1">
              <a:spcAft>
                <a:spcPts val="0"/>
              </a:spcAft>
              <a:buClr>
                <a:schemeClr val="accent6">
                  <a:lumMod val="75000"/>
                </a:schemeClr>
              </a:buClr>
              <a:buFont typeface="Wingdings 3"/>
              <a:buChar char=""/>
              <a:defRPr/>
            </a:pPr>
            <a:r>
              <a:rPr lang="en-US" i="1" dirty="0">
                <a:solidFill>
                  <a:schemeClr val="tx1">
                    <a:lumMod val="75000"/>
                    <a:lumOff val="25000"/>
                  </a:schemeClr>
                </a:solidFill>
                <a:ea typeface="+mn-ea"/>
                <a:cs typeface="+mn-cs"/>
              </a:rPr>
              <a:t>Perception, or top-down processing</a:t>
            </a:r>
            <a:r>
              <a:rPr lang="en-US" dirty="0">
                <a:solidFill>
                  <a:schemeClr val="tx1">
                    <a:lumMod val="75000"/>
                    <a:lumOff val="25000"/>
                  </a:schemeClr>
                </a:solidFill>
                <a:ea typeface="+mn-ea"/>
                <a:cs typeface="+mn-cs"/>
              </a:rPr>
              <a:t> determines the way in which we organize and interpret information in order to make </a:t>
            </a:r>
            <a:r>
              <a:rPr lang="en-US" dirty="0" err="1">
                <a:solidFill>
                  <a:schemeClr val="tx1">
                    <a:lumMod val="75000"/>
                    <a:lumOff val="25000"/>
                  </a:schemeClr>
                </a:solidFill>
                <a:ea typeface="+mn-ea"/>
                <a:cs typeface="+mn-cs"/>
              </a:rPr>
              <a:t>behavioural</a:t>
            </a:r>
            <a:r>
              <a:rPr lang="en-US" dirty="0">
                <a:solidFill>
                  <a:schemeClr val="tx1">
                    <a:lumMod val="75000"/>
                    <a:lumOff val="25000"/>
                  </a:schemeClr>
                </a:solidFill>
                <a:ea typeface="+mn-ea"/>
                <a:cs typeface="+mn-cs"/>
              </a:rPr>
              <a:t> choices</a:t>
            </a:r>
          </a:p>
          <a:p>
            <a:pPr marL="274320" indent="-182880" eaLnBrk="1" fontAlgn="auto" hangingPunct="1">
              <a:spcAft>
                <a:spcPts val="0"/>
              </a:spcAft>
              <a:buClr>
                <a:schemeClr val="accent6">
                  <a:lumMod val="75000"/>
                </a:schemeClr>
              </a:buClr>
              <a:buFont typeface="Wingdings 3"/>
              <a:buChar char=""/>
              <a:defRPr/>
            </a:pPr>
            <a:endParaRPr lang="en-US" dirty="0"/>
          </a:p>
          <a:p>
            <a:pPr indent="0">
              <a:spcAft>
                <a:spcPts val="0"/>
              </a:spcAft>
              <a:buClr>
                <a:schemeClr val="accent6">
                  <a:lumMod val="75000"/>
                </a:schemeClr>
              </a:buClr>
              <a:buNone/>
              <a:defRPr/>
            </a:pPr>
            <a:r>
              <a:rPr lang="en-GB" altLang="en-US" dirty="0"/>
              <a:t>https://www.youtube.com/watch?v=gfvMU36fgKw</a:t>
            </a:r>
          </a:p>
          <a:p>
            <a:pPr indent="0" eaLnBrk="1" fontAlgn="auto" hangingPunct="1">
              <a:spcAft>
                <a:spcPts val="0"/>
              </a:spcAft>
              <a:buClr>
                <a:schemeClr val="accent6">
                  <a:lumMod val="75000"/>
                </a:schemeClr>
              </a:buClr>
              <a:buNone/>
              <a:defRPr/>
            </a:pPr>
            <a:endParaRPr lang="en-US" dirty="0">
              <a:solidFill>
                <a:schemeClr val="tx1">
                  <a:lumMod val="75000"/>
                  <a:lumOff val="25000"/>
                </a:schemeClr>
              </a:solidFill>
              <a:ea typeface="+mn-ea"/>
              <a:cs typeface="+mn-cs"/>
            </a:endParaRPr>
          </a:p>
        </p:txBody>
      </p:sp>
    </p:spTree>
    <p:extLst>
      <p:ext uri="{BB962C8B-B14F-4D97-AF65-F5344CB8AC3E}">
        <p14:creationId xmlns:p14="http://schemas.microsoft.com/office/powerpoint/2010/main" val="2300637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1478" y="116632"/>
            <a:ext cx="8682567" cy="1143000"/>
          </a:xfrm>
        </p:spPr>
        <p:txBody>
          <a:bodyPr/>
          <a:lstStyle/>
          <a:p>
            <a:pPr marL="320040" indent="-320040" eaLnBrk="1" fontAlgn="auto" hangingPunct="1">
              <a:spcAft>
                <a:spcPts val="0"/>
              </a:spcAft>
              <a:buClr>
                <a:schemeClr val="accent6">
                  <a:lumMod val="75000"/>
                </a:schemeClr>
              </a:buClr>
              <a:defRPr/>
            </a:pPr>
            <a:r>
              <a:rPr lang="en-IE" dirty="0">
                <a:ea typeface="+mj-ea"/>
                <a:cs typeface="+mj-cs"/>
              </a:rPr>
              <a:t>What do you see here?</a:t>
            </a:r>
          </a:p>
        </p:txBody>
      </p:sp>
      <p:pic>
        <p:nvPicPr>
          <p:cNvPr id="82947"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2743200" y="1371600"/>
            <a:ext cx="6096000" cy="4114800"/>
          </a:xfrm>
        </p:spPr>
      </p:pic>
    </p:spTree>
    <p:extLst>
      <p:ext uri="{BB962C8B-B14F-4D97-AF65-F5344CB8AC3E}">
        <p14:creationId xmlns:p14="http://schemas.microsoft.com/office/powerpoint/2010/main" val="22572858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406400" y="152401"/>
            <a:ext cx="10972800" cy="1139825"/>
          </a:xfrm>
        </p:spPr>
        <p:txBody>
          <a:bodyPr/>
          <a:lstStyle/>
          <a:p>
            <a:pPr marL="320040" indent="-320040" eaLnBrk="1" fontAlgn="auto" hangingPunct="1">
              <a:spcAft>
                <a:spcPts val="0"/>
              </a:spcAft>
              <a:buClr>
                <a:schemeClr val="accent6">
                  <a:lumMod val="75000"/>
                </a:schemeClr>
              </a:buClr>
              <a:defRPr/>
            </a:pPr>
            <a:r>
              <a:rPr lang="en-US" sz="3600" dirty="0">
                <a:ea typeface="+mj-ea"/>
                <a:cs typeface="+mj-cs"/>
              </a:rPr>
              <a:t>SELECTIVE ATTENTION</a:t>
            </a:r>
          </a:p>
        </p:txBody>
      </p:sp>
      <p:sp>
        <p:nvSpPr>
          <p:cNvPr id="29699" name="Rectangle 5"/>
          <p:cNvSpPr>
            <a:spLocks noGrp="1" noChangeArrowheads="1"/>
          </p:cNvSpPr>
          <p:nvPr>
            <p:ph type="body" sz="half" idx="2"/>
          </p:nvPr>
        </p:nvSpPr>
        <p:spPr>
          <a:xfrm>
            <a:off x="5615947" y="1628800"/>
            <a:ext cx="5384800" cy="4530725"/>
          </a:xfrm>
          <a:extLst/>
        </p:spPr>
        <p:txBody>
          <a:bodyPr rtlCol="0">
            <a:normAutofit/>
          </a:bodyPr>
          <a:lstStyle/>
          <a:p>
            <a:pPr marL="274320" indent="-182880" eaLnBrk="1" fontAlgn="auto" hangingPunct="1">
              <a:spcAft>
                <a:spcPts val="0"/>
              </a:spcAft>
              <a:buClr>
                <a:schemeClr val="accent6">
                  <a:lumMod val="75000"/>
                </a:schemeClr>
              </a:buClr>
              <a:buFont typeface="Wingdings" pitchFamily="-109" charset="2"/>
              <a:buNone/>
              <a:defRPr/>
            </a:pPr>
            <a:endParaRPr lang="en-US" sz="1600" dirty="0">
              <a:solidFill>
                <a:schemeClr val="tx1">
                  <a:lumMod val="75000"/>
                  <a:lumOff val="25000"/>
                </a:schemeClr>
              </a:solidFill>
              <a:ea typeface="+mn-ea"/>
              <a:cs typeface="+mn-cs"/>
            </a:endParaRPr>
          </a:p>
          <a:p>
            <a:pPr marL="274320" indent="-182880" eaLnBrk="1" fontAlgn="auto" hangingPunct="1">
              <a:spcAft>
                <a:spcPts val="0"/>
              </a:spcAft>
              <a:buClr>
                <a:schemeClr val="accent6">
                  <a:lumMod val="75000"/>
                </a:schemeClr>
              </a:buClr>
              <a:buFont typeface="Georgia" pitchFamily="18" charset="0"/>
              <a:buNone/>
              <a:defRPr/>
            </a:pPr>
            <a:r>
              <a:rPr lang="en-US" b="1" dirty="0">
                <a:gradFill>
                  <a:gsLst>
                    <a:gs pos="0">
                      <a:prstClr val="black"/>
                    </a:gs>
                    <a:gs pos="40000">
                      <a:prstClr val="black">
                        <a:lumMod val="75000"/>
                        <a:lumOff val="25000"/>
                      </a:prstClr>
                    </a:gs>
                    <a:gs pos="100000">
                      <a:srgbClr val="212745">
                        <a:alpha val="65000"/>
                      </a:srgbClr>
                    </a:gs>
                  </a:gsLst>
                  <a:lin ang="5400000" scaled="0"/>
                </a:gradFill>
                <a:effectLst>
                  <a:reflection blurRad="6350" stA="55000" endA="300" endPos="45500" dir="5400000" sy="-100000" algn="bl" rotWithShape="0"/>
                </a:effectLst>
                <a:ea typeface="+mj-ea"/>
                <a:cs typeface="+mj-cs"/>
              </a:rPr>
              <a:t>	IS THE ABILITY, OFTEN UNCONSCIOUSLY, TO CHOOSE FROM THE STREAM OF SENSORY DATA, TO CONCENTRATE ON CERTAIN ELEMENTS  AND TO IGNORE OTHERS</a:t>
            </a:r>
            <a:endParaRPr lang="en-US" dirty="0">
              <a:solidFill>
                <a:schemeClr val="tx1">
                  <a:lumMod val="75000"/>
                  <a:lumOff val="25000"/>
                </a:schemeClr>
              </a:solidFill>
              <a:ea typeface="+mn-ea"/>
              <a:cs typeface="+mn-cs"/>
            </a:endParaRPr>
          </a:p>
          <a:p>
            <a:pPr marL="274320" indent="-182880" eaLnBrk="1" fontAlgn="auto" hangingPunct="1">
              <a:spcAft>
                <a:spcPts val="0"/>
              </a:spcAft>
              <a:buClr>
                <a:schemeClr val="accent6">
                  <a:lumMod val="75000"/>
                </a:schemeClr>
              </a:buClr>
              <a:buFont typeface="Wingdings" pitchFamily="-109" charset="2"/>
              <a:buNone/>
              <a:defRPr/>
            </a:pPr>
            <a:endParaRPr lang="en-US" sz="1600" dirty="0">
              <a:solidFill>
                <a:schemeClr val="tx1">
                  <a:lumMod val="75000"/>
                  <a:lumOff val="25000"/>
                </a:schemeClr>
              </a:solidFill>
              <a:ea typeface="+mn-ea"/>
              <a:cs typeface="+mn-cs"/>
            </a:endParaRPr>
          </a:p>
          <a:p>
            <a:pPr marL="274320" indent="-182880" eaLnBrk="1" fontAlgn="auto" hangingPunct="1">
              <a:spcAft>
                <a:spcPts val="0"/>
              </a:spcAft>
              <a:buClr>
                <a:schemeClr val="accent6">
                  <a:lumMod val="75000"/>
                </a:schemeClr>
              </a:buClr>
              <a:buFont typeface="Wingdings" pitchFamily="-109" charset="2"/>
              <a:buNone/>
              <a:defRPr/>
            </a:pPr>
            <a:endParaRPr lang="en-US" sz="1600" dirty="0"/>
          </a:p>
          <a:p>
            <a:pPr marL="274320" indent="-182880" eaLnBrk="1" fontAlgn="auto" hangingPunct="1">
              <a:spcAft>
                <a:spcPts val="0"/>
              </a:spcAft>
              <a:buClr>
                <a:schemeClr val="accent6">
                  <a:lumMod val="75000"/>
                </a:schemeClr>
              </a:buClr>
              <a:buFont typeface="Wingdings" pitchFamily="-109" charset="2"/>
              <a:buNone/>
              <a:defRPr/>
            </a:pPr>
            <a:r>
              <a:rPr lang="en-US" sz="1600" dirty="0">
                <a:solidFill>
                  <a:schemeClr val="tx1">
                    <a:lumMod val="75000"/>
                    <a:lumOff val="25000"/>
                  </a:schemeClr>
                </a:solidFill>
                <a:ea typeface="+mn-ea"/>
                <a:cs typeface="+mn-cs"/>
              </a:rPr>
              <a:t>Another DOOR STUDY </a:t>
            </a:r>
          </a:p>
          <a:p>
            <a:pPr marL="274320" indent="-182880">
              <a:spcAft>
                <a:spcPts val="0"/>
              </a:spcAft>
              <a:buClr>
                <a:schemeClr val="accent6">
                  <a:lumMod val="75000"/>
                </a:schemeClr>
              </a:buClr>
              <a:buNone/>
              <a:defRPr/>
            </a:pPr>
            <a:r>
              <a:rPr lang="en-US" sz="1600" dirty="0"/>
              <a:t>https://www.youtube.com/watch?reload=9&amp;v=FWSxSQsspiQ</a:t>
            </a:r>
            <a:endParaRPr lang="en-US" sz="1600" dirty="0">
              <a:solidFill>
                <a:schemeClr val="tx1">
                  <a:lumMod val="75000"/>
                  <a:lumOff val="25000"/>
                </a:schemeClr>
              </a:solidFill>
              <a:ea typeface="+mn-ea"/>
              <a:cs typeface="+mn-cs"/>
            </a:endParaRPr>
          </a:p>
          <a:p>
            <a:pPr marL="274320" indent="-182880" eaLnBrk="1" fontAlgn="auto" hangingPunct="1">
              <a:spcAft>
                <a:spcPts val="0"/>
              </a:spcAft>
              <a:buClr>
                <a:schemeClr val="accent6">
                  <a:lumMod val="75000"/>
                </a:schemeClr>
              </a:buClr>
              <a:buFont typeface="Wingdings" pitchFamily="-109" charset="2"/>
              <a:buNone/>
              <a:defRPr/>
            </a:pPr>
            <a:endParaRPr lang="en-US" sz="1600" dirty="0">
              <a:solidFill>
                <a:schemeClr val="tx1">
                  <a:lumMod val="75000"/>
                  <a:lumOff val="25000"/>
                </a:schemeClr>
              </a:solidFill>
              <a:ea typeface="+mn-ea"/>
              <a:cs typeface="+mn-cs"/>
            </a:endParaRPr>
          </a:p>
          <a:p>
            <a:pPr marL="274320" indent="-182880" eaLnBrk="1" fontAlgn="auto" hangingPunct="1">
              <a:spcAft>
                <a:spcPts val="0"/>
              </a:spcAft>
              <a:buClr>
                <a:schemeClr val="accent6">
                  <a:lumMod val="75000"/>
                </a:schemeClr>
              </a:buClr>
              <a:buFont typeface="Wingdings" pitchFamily="-109" charset="2"/>
              <a:buNone/>
              <a:defRPr/>
            </a:pPr>
            <a:endParaRPr lang="en-US" sz="1600" dirty="0">
              <a:solidFill>
                <a:schemeClr val="tx1">
                  <a:lumMod val="75000"/>
                  <a:lumOff val="25000"/>
                </a:schemeClr>
              </a:solidFill>
              <a:ea typeface="+mn-ea"/>
              <a:cs typeface="+mn-cs"/>
            </a:endParaRPr>
          </a:p>
        </p:txBody>
      </p:sp>
      <p:sp>
        <p:nvSpPr>
          <p:cNvPr id="87044" name="Rectangle 6"/>
          <p:cNvSpPr>
            <a:spLocks noChangeArrowheads="1"/>
          </p:cNvSpPr>
          <p:nvPr/>
        </p:nvSpPr>
        <p:spPr bwMode="auto">
          <a:xfrm>
            <a:off x="609600" y="1981200"/>
            <a:ext cx="1930400" cy="11430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r>
              <a:rPr lang="en-US" altLang="en-US" sz="1200" b="1"/>
              <a:t>Internal factors</a:t>
            </a:r>
          </a:p>
          <a:p>
            <a:pPr algn="ctr"/>
            <a:r>
              <a:rPr lang="en-US" altLang="en-US" sz="1200"/>
              <a:t>Learning</a:t>
            </a:r>
          </a:p>
          <a:p>
            <a:pPr algn="ctr"/>
            <a:r>
              <a:rPr lang="en-US" altLang="en-US" sz="1200"/>
              <a:t>Personality</a:t>
            </a:r>
          </a:p>
          <a:p>
            <a:pPr algn="ctr"/>
            <a:r>
              <a:rPr lang="en-US" altLang="en-US" sz="1200"/>
              <a:t>Motivation</a:t>
            </a:r>
          </a:p>
          <a:p>
            <a:pPr algn="ctr"/>
            <a:r>
              <a:rPr lang="en-US" altLang="en-US" sz="1200"/>
              <a:t>etc</a:t>
            </a:r>
          </a:p>
        </p:txBody>
      </p:sp>
      <p:sp>
        <p:nvSpPr>
          <p:cNvPr id="87045" name="Rectangle 7"/>
          <p:cNvSpPr>
            <a:spLocks noChangeArrowheads="1"/>
          </p:cNvSpPr>
          <p:nvPr/>
        </p:nvSpPr>
        <p:spPr bwMode="auto">
          <a:xfrm>
            <a:off x="3556000" y="1981200"/>
            <a:ext cx="1930400" cy="11430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r>
              <a:rPr lang="en-US" altLang="en-US" sz="1200" b="1"/>
              <a:t>External factors</a:t>
            </a:r>
          </a:p>
          <a:p>
            <a:pPr algn="ctr"/>
            <a:r>
              <a:rPr lang="en-US" altLang="en-US" sz="1200"/>
              <a:t>Stimulus factors</a:t>
            </a:r>
          </a:p>
          <a:p>
            <a:pPr algn="ctr"/>
            <a:r>
              <a:rPr lang="en-US" altLang="en-US" sz="1200"/>
              <a:t>And context </a:t>
            </a:r>
          </a:p>
          <a:p>
            <a:pPr algn="ctr"/>
            <a:r>
              <a:rPr lang="en-US" altLang="en-US" sz="1200"/>
              <a:t>factors</a:t>
            </a:r>
          </a:p>
        </p:txBody>
      </p:sp>
      <p:sp>
        <p:nvSpPr>
          <p:cNvPr id="87046" name="Oval 8"/>
          <p:cNvSpPr>
            <a:spLocks noChangeArrowheads="1"/>
          </p:cNvSpPr>
          <p:nvPr/>
        </p:nvSpPr>
        <p:spPr bwMode="auto">
          <a:xfrm>
            <a:off x="1676400" y="4800600"/>
            <a:ext cx="2336800" cy="91440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r>
              <a:rPr lang="en-US" altLang="en-US"/>
              <a:t>Selective </a:t>
            </a:r>
          </a:p>
          <a:p>
            <a:pPr algn="ctr"/>
            <a:r>
              <a:rPr lang="en-US" altLang="en-US"/>
              <a:t>attention</a:t>
            </a:r>
          </a:p>
        </p:txBody>
      </p:sp>
      <p:sp>
        <p:nvSpPr>
          <p:cNvPr id="87047" name="Line 9"/>
          <p:cNvSpPr>
            <a:spLocks noChangeShapeType="1"/>
          </p:cNvSpPr>
          <p:nvPr/>
        </p:nvSpPr>
        <p:spPr bwMode="auto">
          <a:xfrm>
            <a:off x="1320800" y="3543300"/>
            <a:ext cx="914400" cy="12192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E"/>
          </a:p>
        </p:txBody>
      </p:sp>
      <p:sp>
        <p:nvSpPr>
          <p:cNvPr id="87048" name="Line 10"/>
          <p:cNvSpPr>
            <a:spLocks noChangeShapeType="1"/>
          </p:cNvSpPr>
          <p:nvPr/>
        </p:nvSpPr>
        <p:spPr bwMode="auto">
          <a:xfrm flipH="1">
            <a:off x="3556000" y="3505200"/>
            <a:ext cx="914400" cy="12192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E"/>
          </a:p>
        </p:txBody>
      </p:sp>
    </p:spTree>
    <p:extLst>
      <p:ext uri="{BB962C8B-B14F-4D97-AF65-F5344CB8AC3E}">
        <p14:creationId xmlns:p14="http://schemas.microsoft.com/office/powerpoint/2010/main" val="507313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3"/>
          <p:cNvSpPr>
            <a:spLocks noGrp="1" noChangeArrowheads="1"/>
          </p:cNvSpPr>
          <p:nvPr>
            <p:ph sz="half" idx="1"/>
          </p:nvPr>
        </p:nvSpPr>
        <p:spPr>
          <a:xfrm>
            <a:off x="203200" y="1219201"/>
            <a:ext cx="10693333" cy="4911725"/>
          </a:xfrm>
        </p:spPr>
        <p:txBody>
          <a:bodyPr>
            <a:normAutofit/>
          </a:bodyPr>
          <a:lstStyle/>
          <a:p>
            <a:pPr eaLnBrk="1" hangingPunct="1">
              <a:spcBef>
                <a:spcPct val="0"/>
              </a:spcBef>
            </a:pPr>
            <a:r>
              <a:rPr lang="en-US" altLang="en-US" b="1" dirty="0"/>
              <a:t>External factors: </a:t>
            </a:r>
            <a:r>
              <a:rPr lang="en-US" altLang="en-US" dirty="0"/>
              <a:t>Knowledge or expectations  about a given situation/ experience will influence our perception</a:t>
            </a:r>
          </a:p>
          <a:p>
            <a:pPr eaLnBrk="1" hangingPunct="1">
              <a:buFont typeface="Wingdings" pitchFamily="2" charset="2"/>
              <a:buNone/>
            </a:pPr>
            <a:endParaRPr lang="en-US" altLang="en-US" sz="800" dirty="0"/>
          </a:p>
          <a:p>
            <a:pPr eaLnBrk="1" hangingPunct="1">
              <a:spcBef>
                <a:spcPct val="0"/>
              </a:spcBef>
            </a:pPr>
            <a:r>
              <a:rPr lang="en-US" altLang="en-US" b="1" dirty="0"/>
              <a:t>Stimulus factors:</a:t>
            </a:r>
            <a:r>
              <a:rPr lang="en-US" altLang="en-US" dirty="0"/>
              <a:t> Give more attention to stimuli which are:</a:t>
            </a:r>
          </a:p>
          <a:p>
            <a:pPr eaLnBrk="1" hangingPunct="1">
              <a:spcBef>
                <a:spcPct val="0"/>
              </a:spcBef>
              <a:buFont typeface="Wingdings" pitchFamily="2" charset="2"/>
              <a:buNone/>
            </a:pPr>
            <a:r>
              <a:rPr lang="en-US" altLang="en-US" dirty="0"/>
              <a:t>	- large</a:t>
            </a:r>
          </a:p>
          <a:p>
            <a:pPr eaLnBrk="1" hangingPunct="1">
              <a:spcBef>
                <a:spcPct val="0"/>
              </a:spcBef>
              <a:buFont typeface="Wingdings" pitchFamily="2" charset="2"/>
              <a:buNone/>
            </a:pPr>
            <a:r>
              <a:rPr lang="en-US" altLang="en-US" dirty="0"/>
              <a:t>	- moving</a:t>
            </a:r>
          </a:p>
          <a:p>
            <a:pPr eaLnBrk="1" hangingPunct="1">
              <a:spcBef>
                <a:spcPct val="0"/>
              </a:spcBef>
              <a:buFont typeface="Wingdings" pitchFamily="2" charset="2"/>
              <a:buNone/>
            </a:pPr>
            <a:r>
              <a:rPr lang="en-US" altLang="en-US" dirty="0"/>
              <a:t>	- loud</a:t>
            </a:r>
          </a:p>
          <a:p>
            <a:pPr eaLnBrk="1" hangingPunct="1">
              <a:spcBef>
                <a:spcPct val="0"/>
              </a:spcBef>
              <a:buFont typeface="Wingdings" pitchFamily="2" charset="2"/>
              <a:buNone/>
            </a:pPr>
            <a:r>
              <a:rPr lang="en-US" altLang="en-US" dirty="0"/>
              <a:t>	- bright</a:t>
            </a:r>
          </a:p>
          <a:p>
            <a:pPr eaLnBrk="1" hangingPunct="1">
              <a:spcBef>
                <a:spcPct val="0"/>
              </a:spcBef>
              <a:buFont typeface="Wingdings" pitchFamily="2" charset="2"/>
              <a:buNone/>
            </a:pPr>
            <a:r>
              <a:rPr lang="en-US" altLang="en-US" dirty="0"/>
              <a:t>	- stand out from background</a:t>
            </a:r>
          </a:p>
          <a:p>
            <a:pPr eaLnBrk="1" hangingPunct="1">
              <a:spcBef>
                <a:spcPct val="0"/>
              </a:spcBef>
              <a:buFont typeface="Wingdings" pitchFamily="2" charset="2"/>
              <a:buNone/>
            </a:pPr>
            <a:endParaRPr lang="en-US" altLang="en-US" dirty="0"/>
          </a:p>
          <a:p>
            <a:pPr eaLnBrk="1" hangingPunct="1"/>
            <a:r>
              <a:rPr lang="en-US" altLang="en-US" b="1" dirty="0"/>
              <a:t>Contextual factors:</a:t>
            </a:r>
            <a:r>
              <a:rPr lang="en-US" altLang="en-US" dirty="0"/>
              <a:t> The word </a:t>
            </a:r>
            <a:r>
              <a:rPr lang="ja-JP" altLang="en-US" dirty="0"/>
              <a:t>“</a:t>
            </a:r>
            <a:r>
              <a:rPr lang="en-US" altLang="ja-JP" dirty="0"/>
              <a:t>terminal</a:t>
            </a:r>
            <a:r>
              <a:rPr lang="ja-JP" altLang="en-US" dirty="0"/>
              <a:t>”</a:t>
            </a:r>
            <a:r>
              <a:rPr lang="en-US" altLang="ja-JP" dirty="0"/>
              <a:t> is likely to be perceived differently in the context of a hospital than in the context of an airport</a:t>
            </a:r>
          </a:p>
          <a:p>
            <a:pPr eaLnBrk="1" hangingPunct="1"/>
            <a:endParaRPr lang="en-US" altLang="en-US" dirty="0"/>
          </a:p>
        </p:txBody>
      </p:sp>
      <p:pic>
        <p:nvPicPr>
          <p:cNvPr id="89091" name="Bild 8"/>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24192" y="2780928"/>
            <a:ext cx="2844800" cy="1600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9092" name="Rectangle 2"/>
          <p:cNvSpPr>
            <a:spLocks noChangeArrowheads="1"/>
          </p:cNvSpPr>
          <p:nvPr/>
        </p:nvSpPr>
        <p:spPr bwMode="auto">
          <a:xfrm>
            <a:off x="609600" y="277814"/>
            <a:ext cx="10972800" cy="9413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b"/>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eaLnBrk="1" hangingPunct="1"/>
            <a:r>
              <a:rPr lang="en-US" altLang="en-US" sz="3600" b="1">
                <a:solidFill>
                  <a:schemeClr val="tx2"/>
                </a:solidFill>
                <a:latin typeface="Calibri" pitchFamily="34" charset="0"/>
              </a:rPr>
              <a:t>EXTERNAL FACTORS</a:t>
            </a:r>
          </a:p>
        </p:txBody>
      </p:sp>
    </p:spTree>
    <p:extLst>
      <p:ext uri="{BB962C8B-B14F-4D97-AF65-F5344CB8AC3E}">
        <p14:creationId xmlns:p14="http://schemas.microsoft.com/office/powerpoint/2010/main" val="31875047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ChangeArrowheads="1"/>
          </p:cNvSpPr>
          <p:nvPr/>
        </p:nvSpPr>
        <p:spPr bwMode="auto">
          <a:xfrm>
            <a:off x="609600" y="533400"/>
            <a:ext cx="10972800" cy="865188"/>
          </a:xfrm>
          <a:prstGeom prst="rect">
            <a:avLst/>
          </a:prstGeom>
          <a:noFill/>
          <a:ln>
            <a:noFill/>
          </a:ln>
          <a:extLst/>
        </p:spPr>
        <p:txBody>
          <a:bodyPr anchor="b"/>
          <a:lstStyle/>
          <a:p>
            <a:pPr eaLnBrk="1" hangingPunct="1">
              <a:defRPr/>
            </a:pPr>
            <a:r>
              <a:rPr lang="en-US" sz="3600" b="1" dirty="0">
                <a:solidFill>
                  <a:schemeClr val="tx2"/>
                </a:solidFill>
                <a:latin typeface="+mn-lt"/>
                <a:ea typeface="ＭＳ Ｐゴシック" charset="0"/>
                <a:cs typeface="ＭＳ Ｐゴシック" charset="0"/>
              </a:rPr>
              <a:t>INTERNAL FACTORS</a:t>
            </a:r>
          </a:p>
        </p:txBody>
      </p:sp>
      <p:sp>
        <p:nvSpPr>
          <p:cNvPr id="68613" name="Rectangle 5"/>
          <p:cNvSpPr>
            <a:spLocks noChangeArrowheads="1"/>
          </p:cNvSpPr>
          <p:nvPr/>
        </p:nvSpPr>
        <p:spPr bwMode="auto">
          <a:xfrm>
            <a:off x="609600" y="1600201"/>
            <a:ext cx="10972800" cy="45307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ts val="600"/>
              </a:spcBef>
              <a:buClr>
                <a:schemeClr val="accent1"/>
              </a:buClr>
              <a:buSzPct val="70000"/>
              <a:defRPr/>
            </a:pPr>
            <a:endParaRPr lang="en-US" u="sng" dirty="0">
              <a:latin typeface="Century Schoolbook" pitchFamily="-109" charset="0"/>
              <a:ea typeface="ＭＳ Ｐゴシック" pitchFamily="-109" charset="-128"/>
            </a:endParaRPr>
          </a:p>
          <a:p>
            <a:pPr>
              <a:spcBef>
                <a:spcPts val="600"/>
              </a:spcBef>
              <a:buClr>
                <a:schemeClr val="accent1"/>
              </a:buClr>
              <a:buSzPct val="70000"/>
              <a:defRPr/>
            </a:pPr>
            <a:r>
              <a:rPr lang="en-US" u="sng" dirty="0">
                <a:latin typeface="Century Schoolbook" pitchFamily="-109" charset="0"/>
                <a:ea typeface="ＭＳ Ｐゴシック" pitchFamily="-109" charset="-128"/>
              </a:rPr>
              <a:t>Internal factors: </a:t>
            </a:r>
            <a:r>
              <a:rPr lang="en-US" dirty="0">
                <a:latin typeface="Century Schoolbook" pitchFamily="-109" charset="0"/>
                <a:ea typeface="ＭＳ Ｐゴシック" pitchFamily="-109" charset="-128"/>
              </a:rPr>
              <a:t>Psychological factors will also influence our perception</a:t>
            </a:r>
          </a:p>
          <a:p>
            <a:pPr marL="273050" indent="-273050">
              <a:spcBef>
                <a:spcPts val="600"/>
              </a:spcBef>
              <a:buClr>
                <a:schemeClr val="accent1"/>
              </a:buClr>
              <a:buSzPct val="70000"/>
              <a:buFont typeface="Wingdings" pitchFamily="-109" charset="2"/>
              <a:buChar char=""/>
              <a:defRPr/>
            </a:pPr>
            <a:endParaRPr lang="en-US" dirty="0">
              <a:latin typeface="Century Schoolbook" pitchFamily="-109" charset="0"/>
              <a:ea typeface="ＭＳ Ｐゴシック" pitchFamily="-109" charset="-128"/>
            </a:endParaRPr>
          </a:p>
        </p:txBody>
      </p:sp>
      <p:sp>
        <p:nvSpPr>
          <p:cNvPr id="91140" name="Oval 6"/>
          <p:cNvSpPr>
            <a:spLocks noChangeArrowheads="1"/>
          </p:cNvSpPr>
          <p:nvPr/>
        </p:nvSpPr>
        <p:spPr bwMode="auto">
          <a:xfrm>
            <a:off x="5435600" y="2362200"/>
            <a:ext cx="1524000" cy="99060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r>
              <a:rPr lang="en-US" altLang="en-US" sz="1200"/>
              <a:t>Personality</a:t>
            </a:r>
          </a:p>
        </p:txBody>
      </p:sp>
      <p:sp>
        <p:nvSpPr>
          <p:cNvPr id="91141" name="Oval 7"/>
          <p:cNvSpPr>
            <a:spLocks noChangeArrowheads="1"/>
          </p:cNvSpPr>
          <p:nvPr/>
        </p:nvSpPr>
        <p:spPr bwMode="auto">
          <a:xfrm>
            <a:off x="7518400" y="2362200"/>
            <a:ext cx="1524000" cy="99060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r>
              <a:rPr lang="en-US" altLang="en-US" sz="1200"/>
              <a:t>Learning</a:t>
            </a:r>
          </a:p>
        </p:txBody>
      </p:sp>
      <p:sp>
        <p:nvSpPr>
          <p:cNvPr id="91142" name="Oval 8"/>
          <p:cNvSpPr>
            <a:spLocks noChangeArrowheads="1"/>
          </p:cNvSpPr>
          <p:nvPr/>
        </p:nvSpPr>
        <p:spPr bwMode="auto">
          <a:xfrm>
            <a:off x="6705600" y="4038600"/>
            <a:ext cx="1727200" cy="99060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r>
              <a:rPr lang="en-US" altLang="en-US" sz="1400" b="1"/>
              <a:t>Perception</a:t>
            </a:r>
            <a:r>
              <a:rPr lang="en-US" altLang="en-US"/>
              <a:t> </a:t>
            </a:r>
          </a:p>
        </p:txBody>
      </p:sp>
      <p:sp>
        <p:nvSpPr>
          <p:cNvPr id="91143" name="Oval 9"/>
          <p:cNvSpPr>
            <a:spLocks noChangeArrowheads="1"/>
          </p:cNvSpPr>
          <p:nvPr/>
        </p:nvSpPr>
        <p:spPr bwMode="auto">
          <a:xfrm>
            <a:off x="9144000" y="3048000"/>
            <a:ext cx="1524000" cy="99060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r>
              <a:rPr lang="en-US" altLang="en-US" sz="1200"/>
              <a:t>Intelligence </a:t>
            </a:r>
          </a:p>
        </p:txBody>
      </p:sp>
      <p:sp>
        <p:nvSpPr>
          <p:cNvPr id="91144" name="Oval 10"/>
          <p:cNvSpPr>
            <a:spLocks noChangeArrowheads="1"/>
          </p:cNvSpPr>
          <p:nvPr/>
        </p:nvSpPr>
        <p:spPr bwMode="auto">
          <a:xfrm>
            <a:off x="9448800" y="4191000"/>
            <a:ext cx="1524000" cy="99060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r>
              <a:rPr lang="en-US" altLang="en-US" sz="1200"/>
              <a:t>Ability</a:t>
            </a:r>
          </a:p>
        </p:txBody>
      </p:sp>
      <p:sp>
        <p:nvSpPr>
          <p:cNvPr id="91145" name="Oval 11"/>
          <p:cNvSpPr>
            <a:spLocks noChangeArrowheads="1"/>
          </p:cNvSpPr>
          <p:nvPr/>
        </p:nvSpPr>
        <p:spPr bwMode="auto">
          <a:xfrm>
            <a:off x="8737600" y="5334000"/>
            <a:ext cx="1524000" cy="99060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r>
              <a:rPr lang="en-US" altLang="en-US" sz="1200"/>
              <a:t>Training</a:t>
            </a:r>
          </a:p>
        </p:txBody>
      </p:sp>
      <p:sp>
        <p:nvSpPr>
          <p:cNvPr id="91146" name="Oval 12"/>
          <p:cNvSpPr>
            <a:spLocks noChangeArrowheads="1"/>
          </p:cNvSpPr>
          <p:nvPr/>
        </p:nvSpPr>
        <p:spPr bwMode="auto">
          <a:xfrm>
            <a:off x="7010400" y="5715000"/>
            <a:ext cx="1524000" cy="99060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r>
              <a:rPr lang="en-US" altLang="en-US" sz="1200"/>
              <a:t>Interest </a:t>
            </a:r>
          </a:p>
        </p:txBody>
      </p:sp>
      <p:sp>
        <p:nvSpPr>
          <p:cNvPr id="91147" name="Oval 13"/>
          <p:cNvSpPr>
            <a:spLocks noChangeArrowheads="1"/>
          </p:cNvSpPr>
          <p:nvPr/>
        </p:nvSpPr>
        <p:spPr bwMode="auto">
          <a:xfrm>
            <a:off x="5283200" y="5486400"/>
            <a:ext cx="1524000" cy="99060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r>
              <a:rPr lang="en-US" altLang="en-US" sz="1200"/>
              <a:t>Goals</a:t>
            </a:r>
          </a:p>
        </p:txBody>
      </p:sp>
      <p:sp>
        <p:nvSpPr>
          <p:cNvPr id="91148" name="Oval 14"/>
          <p:cNvSpPr>
            <a:spLocks noChangeArrowheads="1"/>
          </p:cNvSpPr>
          <p:nvPr/>
        </p:nvSpPr>
        <p:spPr bwMode="auto">
          <a:xfrm>
            <a:off x="3962400" y="4572000"/>
            <a:ext cx="1524000" cy="99060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r>
              <a:rPr lang="en-US" altLang="en-US" sz="1200"/>
              <a:t>Past </a:t>
            </a:r>
          </a:p>
          <a:p>
            <a:pPr algn="ctr"/>
            <a:r>
              <a:rPr lang="en-US" altLang="en-US" sz="1200"/>
              <a:t>experience</a:t>
            </a:r>
          </a:p>
        </p:txBody>
      </p:sp>
      <p:sp>
        <p:nvSpPr>
          <p:cNvPr id="91149" name="Oval 15"/>
          <p:cNvSpPr>
            <a:spLocks noChangeArrowheads="1"/>
          </p:cNvSpPr>
          <p:nvPr/>
        </p:nvSpPr>
        <p:spPr bwMode="auto">
          <a:xfrm>
            <a:off x="3657600" y="3276600"/>
            <a:ext cx="1524000" cy="99060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r>
              <a:rPr lang="en-US" altLang="en-US" sz="1200"/>
              <a:t>Motivation</a:t>
            </a:r>
          </a:p>
        </p:txBody>
      </p:sp>
      <p:sp>
        <p:nvSpPr>
          <p:cNvPr id="91150" name="Line 16"/>
          <p:cNvSpPr>
            <a:spLocks noChangeShapeType="1"/>
          </p:cNvSpPr>
          <p:nvPr/>
        </p:nvSpPr>
        <p:spPr bwMode="auto">
          <a:xfrm>
            <a:off x="6705600" y="3276600"/>
            <a:ext cx="5080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E"/>
          </a:p>
        </p:txBody>
      </p:sp>
      <p:sp>
        <p:nvSpPr>
          <p:cNvPr id="91151" name="Line 17"/>
          <p:cNvSpPr>
            <a:spLocks noChangeShapeType="1"/>
          </p:cNvSpPr>
          <p:nvPr/>
        </p:nvSpPr>
        <p:spPr bwMode="auto">
          <a:xfrm flipH="1">
            <a:off x="7823200" y="3352800"/>
            <a:ext cx="2032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E"/>
          </a:p>
        </p:txBody>
      </p:sp>
      <p:sp>
        <p:nvSpPr>
          <p:cNvPr id="91152" name="Line 18"/>
          <p:cNvSpPr>
            <a:spLocks noChangeShapeType="1"/>
          </p:cNvSpPr>
          <p:nvPr/>
        </p:nvSpPr>
        <p:spPr bwMode="auto">
          <a:xfrm flipH="1">
            <a:off x="8331200" y="3886200"/>
            <a:ext cx="9144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E"/>
          </a:p>
        </p:txBody>
      </p:sp>
      <p:sp>
        <p:nvSpPr>
          <p:cNvPr id="91153" name="Line 19"/>
          <p:cNvSpPr>
            <a:spLocks noChangeShapeType="1"/>
          </p:cNvSpPr>
          <p:nvPr/>
        </p:nvSpPr>
        <p:spPr bwMode="auto">
          <a:xfrm flipH="1" flipV="1">
            <a:off x="8432800" y="4648200"/>
            <a:ext cx="914400" cy="762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E"/>
          </a:p>
        </p:txBody>
      </p:sp>
      <p:sp>
        <p:nvSpPr>
          <p:cNvPr id="91154" name="Line 20"/>
          <p:cNvSpPr>
            <a:spLocks noChangeShapeType="1"/>
          </p:cNvSpPr>
          <p:nvPr/>
        </p:nvSpPr>
        <p:spPr bwMode="auto">
          <a:xfrm flipH="1" flipV="1">
            <a:off x="8229600" y="4953000"/>
            <a:ext cx="7112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E"/>
          </a:p>
        </p:txBody>
      </p:sp>
      <p:sp>
        <p:nvSpPr>
          <p:cNvPr id="91155" name="Line 21"/>
          <p:cNvSpPr>
            <a:spLocks noChangeShapeType="1"/>
          </p:cNvSpPr>
          <p:nvPr/>
        </p:nvSpPr>
        <p:spPr bwMode="auto">
          <a:xfrm flipH="1" flipV="1">
            <a:off x="7823200" y="5029200"/>
            <a:ext cx="1016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E"/>
          </a:p>
        </p:txBody>
      </p:sp>
      <p:sp>
        <p:nvSpPr>
          <p:cNvPr id="91156" name="Line 22"/>
          <p:cNvSpPr>
            <a:spLocks noChangeShapeType="1"/>
          </p:cNvSpPr>
          <p:nvPr/>
        </p:nvSpPr>
        <p:spPr bwMode="auto">
          <a:xfrm flipV="1">
            <a:off x="6400800" y="4953000"/>
            <a:ext cx="5080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E"/>
          </a:p>
        </p:txBody>
      </p:sp>
      <p:sp>
        <p:nvSpPr>
          <p:cNvPr id="91157" name="Line 24"/>
          <p:cNvSpPr>
            <a:spLocks noChangeShapeType="1"/>
          </p:cNvSpPr>
          <p:nvPr/>
        </p:nvSpPr>
        <p:spPr bwMode="auto">
          <a:xfrm flipV="1">
            <a:off x="5384800" y="4495800"/>
            <a:ext cx="121920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E"/>
          </a:p>
        </p:txBody>
      </p:sp>
      <p:sp>
        <p:nvSpPr>
          <p:cNvPr id="91158" name="Line 25"/>
          <p:cNvSpPr>
            <a:spLocks noChangeShapeType="1"/>
          </p:cNvSpPr>
          <p:nvPr/>
        </p:nvSpPr>
        <p:spPr bwMode="auto">
          <a:xfrm>
            <a:off x="5283200" y="3810000"/>
            <a:ext cx="14224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IE"/>
          </a:p>
        </p:txBody>
      </p:sp>
    </p:spTree>
    <p:extLst>
      <p:ext uri="{BB962C8B-B14F-4D97-AF65-F5344CB8AC3E}">
        <p14:creationId xmlns:p14="http://schemas.microsoft.com/office/powerpoint/2010/main" val="26879708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09600" y="274638"/>
            <a:ext cx="11277600" cy="715962"/>
          </a:xfrm>
        </p:spPr>
        <p:txBody>
          <a:bodyPr/>
          <a:lstStyle/>
          <a:p>
            <a:pPr marL="320040" indent="-320040" eaLnBrk="1" fontAlgn="auto" hangingPunct="1">
              <a:spcAft>
                <a:spcPts val="0"/>
              </a:spcAft>
              <a:buClr>
                <a:schemeClr val="accent6">
                  <a:lumMod val="75000"/>
                </a:schemeClr>
              </a:buClr>
              <a:defRPr/>
            </a:pPr>
            <a:r>
              <a:rPr lang="en-US" sz="3600">
                <a:ea typeface="+mj-ea"/>
                <a:cs typeface="+mj-cs"/>
              </a:rPr>
              <a:t>SELECTIVITY IN PERCEPTION</a:t>
            </a:r>
          </a:p>
        </p:txBody>
      </p:sp>
      <p:sp>
        <p:nvSpPr>
          <p:cNvPr id="93187" name="Rectangle 4"/>
          <p:cNvSpPr>
            <a:spLocks noChangeArrowheads="1"/>
          </p:cNvSpPr>
          <p:nvPr/>
        </p:nvSpPr>
        <p:spPr bwMode="auto">
          <a:xfrm>
            <a:off x="609600" y="1308100"/>
            <a:ext cx="109728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461963" indent="-461963" defTabSz="682625">
              <a:defRPr>
                <a:solidFill>
                  <a:schemeClr val="tx1"/>
                </a:solidFill>
                <a:latin typeface="Verdana" pitchFamily="34" charset="0"/>
                <a:ea typeface="MS PGothic" pitchFamily="34" charset="-128"/>
              </a:defRPr>
            </a:lvl1pPr>
            <a:lvl2pPr marL="742950" indent="-285750" defTabSz="682625">
              <a:defRPr>
                <a:solidFill>
                  <a:schemeClr val="tx1"/>
                </a:solidFill>
                <a:latin typeface="Verdana" pitchFamily="34" charset="0"/>
                <a:ea typeface="MS PGothic" pitchFamily="34" charset="-128"/>
              </a:defRPr>
            </a:lvl2pPr>
            <a:lvl3pPr marL="1143000" indent="-228600" defTabSz="682625">
              <a:defRPr>
                <a:solidFill>
                  <a:schemeClr val="tx1"/>
                </a:solidFill>
                <a:latin typeface="Verdana" pitchFamily="34" charset="0"/>
                <a:ea typeface="MS PGothic" pitchFamily="34" charset="-128"/>
              </a:defRPr>
            </a:lvl3pPr>
            <a:lvl4pPr marL="1600200" indent="-228600" defTabSz="682625">
              <a:defRPr>
                <a:solidFill>
                  <a:schemeClr val="tx1"/>
                </a:solidFill>
                <a:latin typeface="Verdana" pitchFamily="34" charset="0"/>
                <a:ea typeface="MS PGothic" pitchFamily="34" charset="-128"/>
              </a:defRPr>
            </a:lvl4pPr>
            <a:lvl5pPr marL="2057400" indent="-228600" defTabSz="682625">
              <a:defRPr>
                <a:solidFill>
                  <a:schemeClr val="tx1"/>
                </a:solidFill>
                <a:latin typeface="Verdana" pitchFamily="34" charset="0"/>
                <a:ea typeface="MS PGothic" pitchFamily="34" charset="-128"/>
              </a:defRPr>
            </a:lvl5pPr>
            <a:lvl6pPr marL="2514600" indent="-228600" defTabSz="68262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68262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68262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682625"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20000"/>
              </a:spcBef>
              <a:buFont typeface="Wingdings" pitchFamily="2" charset="2"/>
              <a:buNone/>
            </a:pPr>
            <a:r>
              <a:rPr lang="en-US" altLang="en-US" sz="2000" b="1">
                <a:solidFill>
                  <a:srgbClr val="CC0000"/>
                </a:solidFill>
                <a:latin typeface="Arial" pitchFamily="34" charset="0"/>
              </a:rPr>
              <a:t>Habituation and Perceptual Filter</a:t>
            </a:r>
          </a:p>
        </p:txBody>
      </p:sp>
      <p:sp>
        <p:nvSpPr>
          <p:cNvPr id="6" name="Rectangle 2"/>
          <p:cNvSpPr>
            <a:spLocks noChangeArrowheads="1"/>
          </p:cNvSpPr>
          <p:nvPr/>
        </p:nvSpPr>
        <p:spPr bwMode="auto">
          <a:xfrm>
            <a:off x="711200" y="2743200"/>
            <a:ext cx="9993312" cy="2286000"/>
          </a:xfrm>
          <a:prstGeom prst="rect">
            <a:avLst/>
          </a:prstGeom>
          <a:solidFill>
            <a:schemeClr val="hlink"/>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defTabSz="781050">
              <a:tabLst>
                <a:tab pos="2176463" algn="l"/>
                <a:tab pos="4967288" algn="l"/>
                <a:tab pos="5768975" algn="l"/>
              </a:tabLst>
              <a:defRPr>
                <a:solidFill>
                  <a:schemeClr val="tx1"/>
                </a:solidFill>
                <a:latin typeface="Verdana" pitchFamily="34" charset="0"/>
                <a:ea typeface="MS PGothic" pitchFamily="34" charset="-128"/>
              </a:defRPr>
            </a:lvl1pPr>
            <a:lvl2pPr marL="742950" indent="-285750" defTabSz="781050">
              <a:tabLst>
                <a:tab pos="2176463" algn="l"/>
                <a:tab pos="4967288" algn="l"/>
                <a:tab pos="5768975" algn="l"/>
              </a:tabLst>
              <a:defRPr>
                <a:solidFill>
                  <a:schemeClr val="tx1"/>
                </a:solidFill>
                <a:latin typeface="Verdana" pitchFamily="34" charset="0"/>
                <a:ea typeface="MS PGothic" pitchFamily="34" charset="-128"/>
              </a:defRPr>
            </a:lvl2pPr>
            <a:lvl3pPr marL="1143000" indent="-228600" defTabSz="781050">
              <a:tabLst>
                <a:tab pos="2176463" algn="l"/>
                <a:tab pos="4967288" algn="l"/>
                <a:tab pos="5768975" algn="l"/>
              </a:tabLst>
              <a:defRPr>
                <a:solidFill>
                  <a:schemeClr val="tx1"/>
                </a:solidFill>
                <a:latin typeface="Verdana" pitchFamily="34" charset="0"/>
                <a:ea typeface="MS PGothic" pitchFamily="34" charset="-128"/>
              </a:defRPr>
            </a:lvl3pPr>
            <a:lvl4pPr marL="1600200" indent="-228600" defTabSz="781050">
              <a:tabLst>
                <a:tab pos="2176463" algn="l"/>
                <a:tab pos="4967288" algn="l"/>
                <a:tab pos="5768975" algn="l"/>
              </a:tabLst>
              <a:defRPr>
                <a:solidFill>
                  <a:schemeClr val="tx1"/>
                </a:solidFill>
                <a:latin typeface="Verdana" pitchFamily="34" charset="0"/>
                <a:ea typeface="MS PGothic" pitchFamily="34" charset="-128"/>
              </a:defRPr>
            </a:lvl4pPr>
            <a:lvl5pPr marL="2057400" indent="-228600" defTabSz="781050">
              <a:tabLst>
                <a:tab pos="2176463" algn="l"/>
                <a:tab pos="4967288" algn="l"/>
                <a:tab pos="5768975" algn="l"/>
              </a:tabLst>
              <a:defRPr>
                <a:solidFill>
                  <a:schemeClr val="tx1"/>
                </a:solidFill>
                <a:latin typeface="Verdana" pitchFamily="34" charset="0"/>
                <a:ea typeface="MS PGothic" pitchFamily="34" charset="-128"/>
              </a:defRPr>
            </a:lvl5pPr>
            <a:lvl6pPr marL="2514600" indent="-228600" defTabSz="781050" eaLnBrk="0" fontAlgn="base" hangingPunct="0">
              <a:spcBef>
                <a:spcPct val="0"/>
              </a:spcBef>
              <a:spcAft>
                <a:spcPct val="0"/>
              </a:spcAft>
              <a:tabLst>
                <a:tab pos="2176463" algn="l"/>
                <a:tab pos="4967288" algn="l"/>
                <a:tab pos="5768975" algn="l"/>
              </a:tabLst>
              <a:defRPr>
                <a:solidFill>
                  <a:schemeClr val="tx1"/>
                </a:solidFill>
                <a:latin typeface="Verdana" pitchFamily="34" charset="0"/>
                <a:ea typeface="MS PGothic" pitchFamily="34" charset="-128"/>
              </a:defRPr>
            </a:lvl6pPr>
            <a:lvl7pPr marL="2971800" indent="-228600" defTabSz="781050" eaLnBrk="0" fontAlgn="base" hangingPunct="0">
              <a:spcBef>
                <a:spcPct val="0"/>
              </a:spcBef>
              <a:spcAft>
                <a:spcPct val="0"/>
              </a:spcAft>
              <a:tabLst>
                <a:tab pos="2176463" algn="l"/>
                <a:tab pos="4967288" algn="l"/>
                <a:tab pos="5768975" algn="l"/>
              </a:tabLst>
              <a:defRPr>
                <a:solidFill>
                  <a:schemeClr val="tx1"/>
                </a:solidFill>
                <a:latin typeface="Verdana" pitchFamily="34" charset="0"/>
                <a:ea typeface="MS PGothic" pitchFamily="34" charset="-128"/>
              </a:defRPr>
            </a:lvl7pPr>
            <a:lvl8pPr marL="3429000" indent="-228600" defTabSz="781050" eaLnBrk="0" fontAlgn="base" hangingPunct="0">
              <a:spcBef>
                <a:spcPct val="0"/>
              </a:spcBef>
              <a:spcAft>
                <a:spcPct val="0"/>
              </a:spcAft>
              <a:tabLst>
                <a:tab pos="2176463" algn="l"/>
                <a:tab pos="4967288" algn="l"/>
                <a:tab pos="5768975" algn="l"/>
              </a:tabLst>
              <a:defRPr>
                <a:solidFill>
                  <a:schemeClr val="tx1"/>
                </a:solidFill>
                <a:latin typeface="Verdana" pitchFamily="34" charset="0"/>
                <a:ea typeface="MS PGothic" pitchFamily="34" charset="-128"/>
              </a:defRPr>
            </a:lvl8pPr>
            <a:lvl9pPr marL="3886200" indent="-228600" defTabSz="781050" eaLnBrk="0" fontAlgn="base" hangingPunct="0">
              <a:spcBef>
                <a:spcPct val="0"/>
              </a:spcBef>
              <a:spcAft>
                <a:spcPct val="0"/>
              </a:spcAft>
              <a:tabLst>
                <a:tab pos="2176463" algn="l"/>
                <a:tab pos="4967288" algn="l"/>
                <a:tab pos="5768975" algn="l"/>
              </a:tabLst>
              <a:defRPr>
                <a:solidFill>
                  <a:schemeClr val="tx1"/>
                </a:solidFill>
                <a:latin typeface="Verdana" pitchFamily="34" charset="0"/>
                <a:ea typeface="MS PGothic" pitchFamily="34" charset="-128"/>
              </a:defRPr>
            </a:lvl9pPr>
          </a:lstStyle>
          <a:p>
            <a:pPr algn="ctr">
              <a:lnSpc>
                <a:spcPct val="110000"/>
              </a:lnSpc>
            </a:pPr>
            <a:r>
              <a:rPr lang="en-US" altLang="en-US" b="1">
                <a:solidFill>
                  <a:srgbClr val="FFFFFF"/>
                </a:solidFill>
                <a:latin typeface="Arial" pitchFamily="34" charset="0"/>
              </a:rPr>
              <a:t>FINISHED FILES ARE THE RESULT OF YEARS OF SCIENTIFIC </a:t>
            </a:r>
          </a:p>
          <a:p>
            <a:pPr algn="ctr">
              <a:lnSpc>
                <a:spcPct val="110000"/>
              </a:lnSpc>
            </a:pPr>
            <a:r>
              <a:rPr lang="en-US" altLang="en-US" b="1">
                <a:solidFill>
                  <a:srgbClr val="FFFFFF"/>
                </a:solidFill>
                <a:latin typeface="Arial" pitchFamily="34" charset="0"/>
              </a:rPr>
              <a:t>STUDY COMBINED WITH THE EXPERIENCE OF YEARS</a:t>
            </a:r>
          </a:p>
        </p:txBody>
      </p:sp>
    </p:spTree>
    <p:extLst>
      <p:ext uri="{BB962C8B-B14F-4D97-AF65-F5344CB8AC3E}">
        <p14:creationId xmlns:p14="http://schemas.microsoft.com/office/powerpoint/2010/main" val="40871835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Rectangle 2"/>
          <p:cNvSpPr>
            <a:spLocks noGrp="1" noChangeArrowheads="1"/>
          </p:cNvSpPr>
          <p:nvPr>
            <p:ph type="title" idx="4294967295"/>
          </p:nvPr>
        </p:nvSpPr>
        <p:spPr>
          <a:xfrm>
            <a:off x="2235200" y="457200"/>
            <a:ext cx="9956800" cy="1295400"/>
          </a:xfrm>
        </p:spPr>
        <p:txBody>
          <a:bodyPr/>
          <a:lstStyle/>
          <a:p>
            <a:pPr eaLnBrk="1" hangingPunct="1">
              <a:defRPr/>
            </a:pPr>
            <a:r>
              <a:rPr lang="en-GB" sz="3200">
                <a:effectLst>
                  <a:outerShdw blurRad="38100" dist="38100" dir="2700000" algn="tl">
                    <a:srgbClr val="000000"/>
                  </a:outerShdw>
                </a:effectLst>
                <a:ea typeface="+mj-ea"/>
                <a:cs typeface="+mj-cs"/>
              </a:rPr>
              <a:t>Levels of Analysis </a:t>
            </a:r>
            <a:br>
              <a:rPr lang="en-GB" sz="3200">
                <a:effectLst>
                  <a:outerShdw blurRad="38100" dist="38100" dir="2700000" algn="tl">
                    <a:srgbClr val="000000"/>
                  </a:outerShdw>
                </a:effectLst>
                <a:ea typeface="+mj-ea"/>
                <a:cs typeface="+mj-cs"/>
              </a:rPr>
            </a:br>
            <a:r>
              <a:rPr lang="en-GB" sz="3200">
                <a:effectLst>
                  <a:outerShdw blurRad="38100" dist="38100" dir="2700000" algn="tl">
                    <a:srgbClr val="000000"/>
                  </a:outerShdw>
                </a:effectLst>
                <a:ea typeface="+mj-ea"/>
                <a:cs typeface="+mj-cs"/>
              </a:rPr>
              <a:t>The Visual Experience</a:t>
            </a:r>
            <a:endParaRPr lang="en-GB">
              <a:effectLst>
                <a:outerShdw blurRad="38100" dist="38100" dir="2700000" algn="tl">
                  <a:srgbClr val="000000"/>
                </a:outerShdw>
              </a:effectLst>
              <a:ea typeface="+mj-ea"/>
              <a:cs typeface="+mj-cs"/>
            </a:endParaRPr>
          </a:p>
        </p:txBody>
      </p:sp>
      <p:sp>
        <p:nvSpPr>
          <p:cNvPr id="95235" name="Footer Placeholder 4"/>
          <p:cNvSpPr txBox="1">
            <a:spLocks noGrp="1"/>
          </p:cNvSpPr>
          <p:nvPr/>
        </p:nvSpPr>
        <p:spPr bwMode="auto">
          <a:xfrm>
            <a:off x="609600" y="6356351"/>
            <a:ext cx="38608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r>
              <a:rPr lang="en-US" altLang="en-US" sz="1200">
                <a:solidFill>
                  <a:srgbClr val="FFFFFF"/>
                </a:solidFill>
                <a:latin typeface="Arial" pitchFamily="34" charset="0"/>
              </a:rPr>
              <a:t>© Mary Ivers, 2009</a:t>
            </a:r>
          </a:p>
        </p:txBody>
      </p:sp>
      <p:pic>
        <p:nvPicPr>
          <p:cNvPr id="95236" name="Picture 4" descr="pas3368x_0454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28000" y="2133600"/>
            <a:ext cx="4064000" cy="4495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5237" name="Picture 5" descr="pas3368x_0454b"/>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64000" y="2133600"/>
            <a:ext cx="4165600" cy="4495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5238" name="Picture 6" descr="pas3368x_0454a"/>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0" y="2133600"/>
            <a:ext cx="4064000" cy="4495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5239" name="Slide Number Placeholder 6"/>
          <p:cNvSpPr txBox="1">
            <a:spLocks noGrp="1"/>
          </p:cNvSpPr>
          <p:nvPr/>
        </p:nvSpPr>
        <p:spPr bwMode="auto">
          <a:xfrm>
            <a:off x="304800" y="1"/>
            <a:ext cx="8128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fld id="{82F5FE62-8AC0-409D-A806-511A493C0F75}" type="slidenum">
              <a:rPr lang="en-US" altLang="en-US" sz="1200">
                <a:solidFill>
                  <a:srgbClr val="FFFFFF"/>
                </a:solidFill>
                <a:latin typeface="Arial" pitchFamily="34" charset="0"/>
              </a:rPr>
              <a:pPr algn="ctr"/>
              <a:t>19</a:t>
            </a:fld>
            <a:endParaRPr lang="en-US" altLang="en-US" sz="1200">
              <a:solidFill>
                <a:srgbClr val="FFFFFF"/>
              </a:solidFill>
              <a:latin typeface="Arial" pitchFamily="34" charset="0"/>
            </a:endParaRPr>
          </a:p>
        </p:txBody>
      </p:sp>
    </p:spTree>
    <p:extLst>
      <p:ext uri="{BB962C8B-B14F-4D97-AF65-F5344CB8AC3E}">
        <p14:creationId xmlns:p14="http://schemas.microsoft.com/office/powerpoint/2010/main" val="28631727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304800" y="12700"/>
            <a:ext cx="11379200" cy="1398588"/>
          </a:xfrm>
        </p:spPr>
        <p:txBody>
          <a:bodyPr/>
          <a:lstStyle/>
          <a:p>
            <a:pPr marL="320040" indent="-320040" eaLnBrk="1" fontAlgn="auto" hangingPunct="1">
              <a:spcAft>
                <a:spcPts val="0"/>
              </a:spcAft>
              <a:buClr>
                <a:schemeClr val="accent6">
                  <a:lumMod val="75000"/>
                </a:schemeClr>
              </a:buClr>
              <a:defRPr/>
            </a:pPr>
            <a:r>
              <a:rPr lang="en-US" dirty="0">
                <a:ea typeface="+mj-ea"/>
                <a:cs typeface="+mj-cs"/>
              </a:rPr>
              <a:t>PERCEPTUAL ORGANIZATION:</a:t>
            </a:r>
            <a:br>
              <a:rPr lang="en-US" dirty="0">
                <a:ea typeface="+mj-ea"/>
                <a:cs typeface="+mj-cs"/>
              </a:rPr>
            </a:br>
            <a:r>
              <a:rPr lang="en-US" sz="1600" dirty="0">
                <a:ea typeface="+mj-ea"/>
                <a:cs typeface="+mj-cs"/>
              </a:rPr>
              <a:t>THE PROCESS THROUGH WHICH INCOMING STIMULI ARE ORGANIZED IN SYSTEMATIC AND MEANINGFUL WAYS</a:t>
            </a:r>
            <a:endParaRPr lang="en-US" dirty="0">
              <a:ea typeface="+mj-ea"/>
              <a:cs typeface="+mj-cs"/>
            </a:endParaRPr>
          </a:p>
        </p:txBody>
      </p:sp>
      <p:sp>
        <p:nvSpPr>
          <p:cNvPr id="97283" name="Rectangle 4"/>
          <p:cNvSpPr>
            <a:spLocks noGrp="1" noChangeArrowheads="1"/>
          </p:cNvSpPr>
          <p:nvPr>
            <p:ph type="body" sz="half" idx="1"/>
          </p:nvPr>
        </p:nvSpPr>
        <p:spPr/>
        <p:txBody>
          <a:bodyPr/>
          <a:lstStyle/>
          <a:p>
            <a:pPr eaLnBrk="1" hangingPunct="1"/>
            <a:r>
              <a:rPr lang="en-US" altLang="en-US" sz="1600" b="1"/>
              <a:t>Proximity principle</a:t>
            </a:r>
            <a:r>
              <a:rPr lang="en-US" altLang="en-US" sz="2000" b="1"/>
              <a:t>-</a:t>
            </a:r>
            <a:r>
              <a:rPr lang="en-US" altLang="en-US" sz="2000"/>
              <a:t> </a:t>
            </a:r>
            <a:r>
              <a:rPr lang="en-US" altLang="en-US" sz="1600"/>
              <a:t>we group together similar stimuli that are physically close to each other (people are similar because they live in the same neighborhood)</a:t>
            </a:r>
          </a:p>
          <a:p>
            <a:pPr eaLnBrk="1" hangingPunct="1"/>
            <a:endParaRPr lang="en-US" altLang="en-US" sz="1600"/>
          </a:p>
          <a:p>
            <a:pPr eaLnBrk="1" hangingPunct="1"/>
            <a:r>
              <a:rPr lang="en-US" altLang="en-US" sz="1600" b="1"/>
              <a:t>Similarity principle –</a:t>
            </a:r>
            <a:r>
              <a:rPr lang="en-US" altLang="en-US" sz="1600"/>
              <a:t> classify together stimuli that resemble each other in appearance in some respect (people are similar because they have similar ethnic characteristics)</a:t>
            </a:r>
          </a:p>
          <a:p>
            <a:pPr eaLnBrk="1" hangingPunct="1"/>
            <a:endParaRPr lang="en-US" altLang="en-US" sz="1600"/>
          </a:p>
          <a:p>
            <a:pPr eaLnBrk="1" hangingPunct="1"/>
            <a:r>
              <a:rPr lang="en-US" altLang="en-US" sz="1600" b="1"/>
              <a:t>Principle of closure –</a:t>
            </a:r>
            <a:r>
              <a:rPr lang="en-US" altLang="en-US" sz="1600"/>
              <a:t> </a:t>
            </a:r>
            <a:r>
              <a:rPr lang="ja-JP" altLang="en-US" sz="1600"/>
              <a:t>“</a:t>
            </a:r>
            <a:r>
              <a:rPr lang="en-US" altLang="ja-JP" sz="1600"/>
              <a:t>… filling the gaps from our own knowledge or experience</a:t>
            </a:r>
            <a:endParaRPr lang="en-US" altLang="en-US" sz="1600"/>
          </a:p>
        </p:txBody>
      </p:sp>
      <p:sp>
        <p:nvSpPr>
          <p:cNvPr id="97284" name="Oval 6"/>
          <p:cNvSpPr>
            <a:spLocks noChangeArrowheads="1"/>
          </p:cNvSpPr>
          <p:nvPr/>
        </p:nvSpPr>
        <p:spPr bwMode="auto">
          <a:xfrm>
            <a:off x="7213600" y="1752600"/>
            <a:ext cx="406400" cy="304800"/>
          </a:xfrm>
          <a:prstGeom prst="ellipse">
            <a:avLst/>
          </a:prstGeom>
          <a:solidFill>
            <a:schemeClr val="tx1"/>
          </a:solidFill>
          <a:ln w="9525">
            <a:solidFill>
              <a:schemeClr val="tx1"/>
            </a:solidFill>
            <a:round/>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endParaRPr lang="de-DE" altLang="en-US"/>
          </a:p>
        </p:txBody>
      </p:sp>
      <p:sp>
        <p:nvSpPr>
          <p:cNvPr id="97285" name="Oval 7"/>
          <p:cNvSpPr>
            <a:spLocks noChangeArrowheads="1"/>
          </p:cNvSpPr>
          <p:nvPr/>
        </p:nvSpPr>
        <p:spPr bwMode="auto">
          <a:xfrm>
            <a:off x="7721600" y="1752600"/>
            <a:ext cx="406400" cy="304800"/>
          </a:xfrm>
          <a:prstGeom prst="ellipse">
            <a:avLst/>
          </a:prstGeom>
          <a:solidFill>
            <a:schemeClr val="tx1"/>
          </a:solidFill>
          <a:ln w="9525">
            <a:solidFill>
              <a:schemeClr val="tx1"/>
            </a:solidFill>
            <a:round/>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endParaRPr lang="de-DE" altLang="en-US"/>
          </a:p>
        </p:txBody>
      </p:sp>
      <p:sp>
        <p:nvSpPr>
          <p:cNvPr id="97286" name="Oval 8"/>
          <p:cNvSpPr>
            <a:spLocks noChangeArrowheads="1"/>
          </p:cNvSpPr>
          <p:nvPr/>
        </p:nvSpPr>
        <p:spPr bwMode="auto">
          <a:xfrm>
            <a:off x="8839200" y="1752600"/>
            <a:ext cx="406400" cy="304800"/>
          </a:xfrm>
          <a:prstGeom prst="ellipse">
            <a:avLst/>
          </a:prstGeom>
          <a:solidFill>
            <a:schemeClr val="tx1"/>
          </a:solidFill>
          <a:ln w="9525">
            <a:solidFill>
              <a:schemeClr val="tx1"/>
            </a:solidFill>
            <a:round/>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endParaRPr lang="de-DE" altLang="en-US"/>
          </a:p>
        </p:txBody>
      </p:sp>
      <p:sp>
        <p:nvSpPr>
          <p:cNvPr id="97287" name="Oval 9"/>
          <p:cNvSpPr>
            <a:spLocks noChangeArrowheads="1"/>
          </p:cNvSpPr>
          <p:nvPr/>
        </p:nvSpPr>
        <p:spPr bwMode="auto">
          <a:xfrm>
            <a:off x="9347200" y="1752600"/>
            <a:ext cx="406400" cy="304800"/>
          </a:xfrm>
          <a:prstGeom prst="ellipse">
            <a:avLst/>
          </a:prstGeom>
          <a:solidFill>
            <a:schemeClr val="tx1"/>
          </a:solidFill>
          <a:ln w="9525">
            <a:solidFill>
              <a:schemeClr val="tx1"/>
            </a:solidFill>
            <a:round/>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endParaRPr lang="de-DE" altLang="en-US"/>
          </a:p>
        </p:txBody>
      </p:sp>
      <p:sp>
        <p:nvSpPr>
          <p:cNvPr id="97288" name="Oval 10"/>
          <p:cNvSpPr>
            <a:spLocks noChangeArrowheads="1"/>
          </p:cNvSpPr>
          <p:nvPr/>
        </p:nvSpPr>
        <p:spPr bwMode="auto">
          <a:xfrm>
            <a:off x="7213600" y="3200400"/>
            <a:ext cx="406400" cy="304800"/>
          </a:xfrm>
          <a:prstGeom prst="ellipse">
            <a:avLst/>
          </a:prstGeom>
          <a:solidFill>
            <a:schemeClr val="tx1"/>
          </a:solidFill>
          <a:ln w="9525">
            <a:solidFill>
              <a:schemeClr val="tx1"/>
            </a:solidFill>
            <a:round/>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endParaRPr lang="de-DE" altLang="en-US"/>
          </a:p>
        </p:txBody>
      </p:sp>
      <p:sp>
        <p:nvSpPr>
          <p:cNvPr id="97289" name="Oval 11"/>
          <p:cNvSpPr>
            <a:spLocks noChangeArrowheads="1"/>
          </p:cNvSpPr>
          <p:nvPr/>
        </p:nvSpPr>
        <p:spPr bwMode="auto">
          <a:xfrm>
            <a:off x="7721600" y="3200400"/>
            <a:ext cx="406400" cy="304800"/>
          </a:xfrm>
          <a:prstGeom prst="ellipse">
            <a:avLst/>
          </a:prstGeom>
          <a:solidFill>
            <a:schemeClr val="tx1"/>
          </a:solidFill>
          <a:ln w="9525">
            <a:solidFill>
              <a:schemeClr val="tx1"/>
            </a:solidFill>
            <a:round/>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endParaRPr lang="de-DE" altLang="en-US"/>
          </a:p>
        </p:txBody>
      </p:sp>
      <p:sp>
        <p:nvSpPr>
          <p:cNvPr id="97290" name="Rectangle 12"/>
          <p:cNvSpPr>
            <a:spLocks noChangeArrowheads="1"/>
          </p:cNvSpPr>
          <p:nvPr/>
        </p:nvSpPr>
        <p:spPr bwMode="auto">
          <a:xfrm>
            <a:off x="8432800" y="3200400"/>
            <a:ext cx="304800" cy="228600"/>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endParaRPr lang="de-DE" altLang="en-US"/>
          </a:p>
        </p:txBody>
      </p:sp>
      <p:sp>
        <p:nvSpPr>
          <p:cNvPr id="97291" name="Rectangle 13"/>
          <p:cNvSpPr>
            <a:spLocks noChangeArrowheads="1"/>
          </p:cNvSpPr>
          <p:nvPr/>
        </p:nvSpPr>
        <p:spPr bwMode="auto">
          <a:xfrm>
            <a:off x="8839200" y="3200400"/>
            <a:ext cx="304800" cy="228600"/>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endParaRPr lang="de-DE" altLang="en-US"/>
          </a:p>
        </p:txBody>
      </p:sp>
      <p:sp>
        <p:nvSpPr>
          <p:cNvPr id="97292" name="Rectangle 14"/>
          <p:cNvSpPr>
            <a:spLocks noChangeArrowheads="1"/>
          </p:cNvSpPr>
          <p:nvPr/>
        </p:nvSpPr>
        <p:spPr bwMode="auto">
          <a:xfrm>
            <a:off x="10566400" y="3200400"/>
            <a:ext cx="304800" cy="228600"/>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endParaRPr lang="de-DE" altLang="en-US"/>
          </a:p>
        </p:txBody>
      </p:sp>
      <p:sp>
        <p:nvSpPr>
          <p:cNvPr id="97293" name="Rectangle 15"/>
          <p:cNvSpPr>
            <a:spLocks noChangeArrowheads="1"/>
          </p:cNvSpPr>
          <p:nvPr/>
        </p:nvSpPr>
        <p:spPr bwMode="auto">
          <a:xfrm>
            <a:off x="10972800" y="3200400"/>
            <a:ext cx="304800" cy="228600"/>
          </a:xfrm>
          <a:prstGeom prst="rect">
            <a:avLst/>
          </a:prstGeom>
          <a:solidFill>
            <a:schemeClr val="tx1"/>
          </a:solid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endParaRPr lang="de-DE" altLang="en-US"/>
          </a:p>
        </p:txBody>
      </p:sp>
      <p:sp>
        <p:nvSpPr>
          <p:cNvPr id="97294" name="Oval 16"/>
          <p:cNvSpPr>
            <a:spLocks noChangeArrowheads="1"/>
          </p:cNvSpPr>
          <p:nvPr/>
        </p:nvSpPr>
        <p:spPr bwMode="auto">
          <a:xfrm>
            <a:off x="9347200" y="3200400"/>
            <a:ext cx="406400" cy="304800"/>
          </a:xfrm>
          <a:prstGeom prst="ellipse">
            <a:avLst/>
          </a:prstGeom>
          <a:solidFill>
            <a:schemeClr val="tx1"/>
          </a:solidFill>
          <a:ln w="9525">
            <a:solidFill>
              <a:schemeClr val="tx1"/>
            </a:solidFill>
            <a:round/>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endParaRPr lang="de-DE" altLang="en-US"/>
          </a:p>
        </p:txBody>
      </p:sp>
      <p:sp>
        <p:nvSpPr>
          <p:cNvPr id="97295" name="Oval 17"/>
          <p:cNvSpPr>
            <a:spLocks noChangeArrowheads="1"/>
          </p:cNvSpPr>
          <p:nvPr/>
        </p:nvSpPr>
        <p:spPr bwMode="auto">
          <a:xfrm>
            <a:off x="9855200" y="3200400"/>
            <a:ext cx="406400" cy="304800"/>
          </a:xfrm>
          <a:prstGeom prst="ellipse">
            <a:avLst/>
          </a:prstGeom>
          <a:solidFill>
            <a:schemeClr val="tx1"/>
          </a:solidFill>
          <a:ln w="9525">
            <a:solidFill>
              <a:schemeClr val="tx1"/>
            </a:solidFill>
            <a:round/>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endParaRPr lang="de-DE" altLang="en-US"/>
          </a:p>
        </p:txBody>
      </p:sp>
      <p:sp>
        <p:nvSpPr>
          <p:cNvPr id="97296" name="Text Box 18"/>
          <p:cNvSpPr txBox="1">
            <a:spLocks noChangeArrowheads="1"/>
          </p:cNvSpPr>
          <p:nvPr/>
        </p:nvSpPr>
        <p:spPr bwMode="auto">
          <a:xfrm>
            <a:off x="6989234" y="5060950"/>
            <a:ext cx="3005951"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r>
              <a:rPr lang="en-US" altLang="en-US"/>
              <a:t>I L VE YO DESP TE YO R</a:t>
            </a:r>
          </a:p>
          <a:p>
            <a:r>
              <a:rPr lang="en-US" altLang="en-US"/>
              <a:t>M THER</a:t>
            </a:r>
          </a:p>
        </p:txBody>
      </p:sp>
    </p:spTree>
    <p:extLst>
      <p:ext uri="{BB962C8B-B14F-4D97-AF65-F5344CB8AC3E}">
        <p14:creationId xmlns:p14="http://schemas.microsoft.com/office/powerpoint/2010/main" val="40942500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normAutofit/>
          </a:bodyPr>
          <a:lstStyle/>
          <a:p>
            <a:pPr marL="320040" indent="-320040" eaLnBrk="1" fontAlgn="auto" hangingPunct="1">
              <a:spcAft>
                <a:spcPts val="0"/>
              </a:spcAft>
              <a:buClr>
                <a:schemeClr val="accent6">
                  <a:lumMod val="75000"/>
                </a:schemeClr>
              </a:buClr>
              <a:defRPr/>
            </a:pPr>
            <a:r>
              <a:rPr lang="en-US" sz="3600">
                <a:ea typeface="+mj-ea"/>
                <a:cs typeface="+mj-cs"/>
              </a:rPr>
              <a:t>PERCEPTUAL SETS AND PERCEPTUAL WORLDS</a:t>
            </a:r>
          </a:p>
        </p:txBody>
      </p:sp>
      <p:sp>
        <p:nvSpPr>
          <p:cNvPr id="99331" name="Rectangle 3"/>
          <p:cNvSpPr>
            <a:spLocks noGrp="1" noChangeArrowheads="1"/>
          </p:cNvSpPr>
          <p:nvPr>
            <p:ph type="body" sz="half" idx="1"/>
          </p:nvPr>
        </p:nvSpPr>
        <p:spPr>
          <a:xfrm>
            <a:off x="609600" y="2446286"/>
            <a:ext cx="3950229" cy="1549936"/>
          </a:xfrm>
        </p:spPr>
        <p:txBody>
          <a:bodyPr/>
          <a:lstStyle/>
          <a:p>
            <a:pPr eaLnBrk="1" hangingPunct="1"/>
            <a:r>
              <a:rPr lang="en-US" altLang="en-US" dirty="0"/>
              <a:t>Information – action- perception link</a:t>
            </a:r>
          </a:p>
        </p:txBody>
      </p:sp>
      <p:graphicFrame>
        <p:nvGraphicFramePr>
          <p:cNvPr id="35864" name="Group 24"/>
          <p:cNvGraphicFramePr>
            <a:graphicFrameLocks noGrp="1"/>
          </p:cNvGraphicFramePr>
          <p:nvPr>
            <p:ph sz="half" idx="2"/>
            <p:extLst>
              <p:ext uri="{D42A27DB-BD31-4B8C-83A1-F6EECF244321}">
                <p14:modId xmlns:p14="http://schemas.microsoft.com/office/powerpoint/2010/main" val="2348021740"/>
              </p:ext>
            </p:extLst>
          </p:nvPr>
        </p:nvGraphicFramePr>
        <p:xfrm>
          <a:off x="4655840" y="1700808"/>
          <a:ext cx="6115743" cy="4530726"/>
        </p:xfrm>
        <a:graphic>
          <a:graphicData uri="http://schemas.openxmlformats.org/drawingml/2006/table">
            <a:tbl>
              <a:tblPr/>
              <a:tblGrid>
                <a:gridCol w="2038581">
                  <a:extLst>
                    <a:ext uri="{9D8B030D-6E8A-4147-A177-3AD203B41FA5}">
                      <a16:colId xmlns:a16="http://schemas.microsoft.com/office/drawing/2014/main" val="20000"/>
                    </a:ext>
                  </a:extLst>
                </a:gridCol>
                <a:gridCol w="2038581">
                  <a:extLst>
                    <a:ext uri="{9D8B030D-6E8A-4147-A177-3AD203B41FA5}">
                      <a16:colId xmlns:a16="http://schemas.microsoft.com/office/drawing/2014/main" val="20001"/>
                    </a:ext>
                  </a:extLst>
                </a:gridCol>
                <a:gridCol w="2038581">
                  <a:extLst>
                    <a:ext uri="{9D8B030D-6E8A-4147-A177-3AD203B41FA5}">
                      <a16:colId xmlns:a16="http://schemas.microsoft.com/office/drawing/2014/main" val="20002"/>
                    </a:ext>
                  </a:extLst>
                </a:gridCol>
              </a:tblGrid>
              <a:tr h="1509713">
                <a:tc>
                  <a:txBody>
                    <a:bodyPr/>
                    <a:lstStyle>
                      <a:lvl1pPr>
                        <a:spcBef>
                          <a:spcPct val="20000"/>
                        </a:spcBef>
                        <a:buClr>
                          <a:schemeClr val="accent1"/>
                        </a:buClr>
                        <a:buSzPct val="85000"/>
                        <a:buFont typeface="Arial" panose="020B0604020202020204" pitchFamily="34" charset="0"/>
                        <a:defRPr sz="2000">
                          <a:solidFill>
                            <a:schemeClr val="tx1"/>
                          </a:solidFill>
                          <a:latin typeface="Calibri" panose="020F0502020204030204" pitchFamily="34" charset="0"/>
                          <a:ea typeface="MS PGothic" pitchFamily="34" charset="-128"/>
                        </a:defRPr>
                      </a:lvl1pPr>
                      <a:lvl2pPr marL="742950" indent="-285750">
                        <a:spcBef>
                          <a:spcPct val="20000"/>
                        </a:spcBef>
                        <a:buClr>
                          <a:schemeClr val="accent1"/>
                        </a:buClr>
                        <a:buSzPct val="85000"/>
                        <a:buFont typeface="Arial" panose="020B0604020202020204" pitchFamily="34" charset="0"/>
                        <a:defRPr>
                          <a:solidFill>
                            <a:schemeClr val="tx1"/>
                          </a:solidFill>
                          <a:latin typeface="Calibri" panose="020F0502020204030204" pitchFamily="34" charset="0"/>
                          <a:ea typeface="MS PGothic" pitchFamily="34" charset="-128"/>
                        </a:defRPr>
                      </a:lvl2pPr>
                      <a:lvl3pPr marL="1143000" indent="-228600">
                        <a:spcBef>
                          <a:spcPct val="20000"/>
                        </a:spcBef>
                        <a:buClr>
                          <a:schemeClr val="accent1"/>
                        </a:buClr>
                        <a:buSzPct val="90000"/>
                        <a:buFont typeface="Arial" panose="020B0604020202020204" pitchFamily="34" charset="0"/>
                        <a:defRPr sz="1600">
                          <a:solidFill>
                            <a:schemeClr val="tx1"/>
                          </a:solidFill>
                          <a:latin typeface="Calibri" panose="020F0502020204030204" pitchFamily="34" charset="0"/>
                          <a:ea typeface="MS PGothic" pitchFamily="34" charset="-128"/>
                        </a:defRPr>
                      </a:lvl3pPr>
                      <a:lvl4pPr marL="1600200" indent="-228600">
                        <a:spcBef>
                          <a:spcPct val="20000"/>
                        </a:spcBef>
                        <a:buClr>
                          <a:schemeClr val="accent1"/>
                        </a:buClr>
                        <a:buFont typeface="Arial" panose="020B0604020202020204" pitchFamily="34" charset="0"/>
                        <a:defRPr sz="1400">
                          <a:solidFill>
                            <a:schemeClr val="tx1"/>
                          </a:solidFill>
                          <a:latin typeface="Calibri" panose="020F0502020204030204" pitchFamily="34" charset="0"/>
                          <a:ea typeface="MS PGothic" pitchFamily="34" charset="-128"/>
                        </a:defRPr>
                      </a:lvl4pPr>
                      <a:lvl5pPr marL="2057400" indent="-228600">
                        <a:spcBef>
                          <a:spcPct val="20000"/>
                        </a:spcBef>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5pPr>
                      <a:lvl6pPr marL="25146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6pPr>
                      <a:lvl7pPr marL="29718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7pPr>
                      <a:lvl8pPr marL="34290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8pPr>
                      <a:lvl9pPr marL="38862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a:ln>
                            <a:noFill/>
                          </a:ln>
                          <a:solidFill>
                            <a:schemeClr val="tx1"/>
                          </a:solidFill>
                          <a:effectLst/>
                          <a:latin typeface="Verdana" panose="020B0604030504040204" pitchFamily="34" charset="0"/>
                          <a:ea typeface="MS PGothic" pitchFamily="34" charset="-128"/>
                        </a:rPr>
                        <a:t>Observation and experience tell me ……</a:t>
                      </a:r>
                    </a:p>
                  </a:txBody>
                  <a:tcPr marL="121920" marR="1219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Arial" panose="020B0604020202020204" pitchFamily="34" charset="0"/>
                        <a:defRPr sz="2000">
                          <a:solidFill>
                            <a:schemeClr val="tx1"/>
                          </a:solidFill>
                          <a:latin typeface="Calibri" panose="020F0502020204030204" pitchFamily="34" charset="0"/>
                          <a:ea typeface="MS PGothic" pitchFamily="34" charset="-128"/>
                        </a:defRPr>
                      </a:lvl1pPr>
                      <a:lvl2pPr marL="742950" indent="-285750">
                        <a:spcBef>
                          <a:spcPct val="20000"/>
                        </a:spcBef>
                        <a:buClr>
                          <a:schemeClr val="accent1"/>
                        </a:buClr>
                        <a:buSzPct val="85000"/>
                        <a:buFont typeface="Arial" panose="020B0604020202020204" pitchFamily="34" charset="0"/>
                        <a:defRPr>
                          <a:solidFill>
                            <a:schemeClr val="tx1"/>
                          </a:solidFill>
                          <a:latin typeface="Calibri" panose="020F0502020204030204" pitchFamily="34" charset="0"/>
                          <a:ea typeface="MS PGothic" pitchFamily="34" charset="-128"/>
                        </a:defRPr>
                      </a:lvl2pPr>
                      <a:lvl3pPr marL="1143000" indent="-228600">
                        <a:spcBef>
                          <a:spcPct val="20000"/>
                        </a:spcBef>
                        <a:buClr>
                          <a:schemeClr val="accent1"/>
                        </a:buClr>
                        <a:buSzPct val="90000"/>
                        <a:buFont typeface="Arial" panose="020B0604020202020204" pitchFamily="34" charset="0"/>
                        <a:defRPr sz="1600">
                          <a:solidFill>
                            <a:schemeClr val="tx1"/>
                          </a:solidFill>
                          <a:latin typeface="Calibri" panose="020F0502020204030204" pitchFamily="34" charset="0"/>
                          <a:ea typeface="MS PGothic" pitchFamily="34" charset="-128"/>
                        </a:defRPr>
                      </a:lvl3pPr>
                      <a:lvl4pPr marL="1600200" indent="-228600">
                        <a:spcBef>
                          <a:spcPct val="20000"/>
                        </a:spcBef>
                        <a:buClr>
                          <a:schemeClr val="accent1"/>
                        </a:buClr>
                        <a:buFont typeface="Arial" panose="020B0604020202020204" pitchFamily="34" charset="0"/>
                        <a:defRPr sz="1400">
                          <a:solidFill>
                            <a:schemeClr val="tx1"/>
                          </a:solidFill>
                          <a:latin typeface="Calibri" panose="020F0502020204030204" pitchFamily="34" charset="0"/>
                          <a:ea typeface="MS PGothic" pitchFamily="34" charset="-128"/>
                        </a:defRPr>
                      </a:lvl4pPr>
                      <a:lvl5pPr marL="2057400" indent="-228600">
                        <a:spcBef>
                          <a:spcPct val="20000"/>
                        </a:spcBef>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5pPr>
                      <a:lvl6pPr marL="25146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6pPr>
                      <a:lvl7pPr marL="29718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7pPr>
                      <a:lvl8pPr marL="34290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8pPr>
                      <a:lvl9pPr marL="38862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a:ln>
                            <a:noFill/>
                          </a:ln>
                          <a:solidFill>
                            <a:schemeClr val="tx1"/>
                          </a:solidFill>
                          <a:effectLst/>
                          <a:latin typeface="Verdana" panose="020B0604030504040204" pitchFamily="34" charset="0"/>
                          <a:ea typeface="MS PGothic" pitchFamily="34" charset="-128"/>
                        </a:rPr>
                        <a:t>Therefore my perception is …</a:t>
                      </a: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Arial" panose="020B0604020202020204" pitchFamily="34" charset="0"/>
                        <a:defRPr sz="2000">
                          <a:solidFill>
                            <a:schemeClr val="tx1"/>
                          </a:solidFill>
                          <a:latin typeface="Calibri" panose="020F0502020204030204" pitchFamily="34" charset="0"/>
                          <a:ea typeface="MS PGothic" pitchFamily="34" charset="-128"/>
                        </a:defRPr>
                      </a:lvl1pPr>
                      <a:lvl2pPr marL="742950" indent="-285750">
                        <a:spcBef>
                          <a:spcPct val="20000"/>
                        </a:spcBef>
                        <a:buClr>
                          <a:schemeClr val="accent1"/>
                        </a:buClr>
                        <a:buSzPct val="85000"/>
                        <a:buFont typeface="Arial" panose="020B0604020202020204" pitchFamily="34" charset="0"/>
                        <a:defRPr>
                          <a:solidFill>
                            <a:schemeClr val="tx1"/>
                          </a:solidFill>
                          <a:latin typeface="Calibri" panose="020F0502020204030204" pitchFamily="34" charset="0"/>
                          <a:ea typeface="MS PGothic" pitchFamily="34" charset="-128"/>
                        </a:defRPr>
                      </a:lvl2pPr>
                      <a:lvl3pPr marL="1143000" indent="-228600">
                        <a:spcBef>
                          <a:spcPct val="20000"/>
                        </a:spcBef>
                        <a:buClr>
                          <a:schemeClr val="accent1"/>
                        </a:buClr>
                        <a:buSzPct val="90000"/>
                        <a:buFont typeface="Arial" panose="020B0604020202020204" pitchFamily="34" charset="0"/>
                        <a:defRPr sz="1600">
                          <a:solidFill>
                            <a:schemeClr val="tx1"/>
                          </a:solidFill>
                          <a:latin typeface="Calibri" panose="020F0502020204030204" pitchFamily="34" charset="0"/>
                          <a:ea typeface="MS PGothic" pitchFamily="34" charset="-128"/>
                        </a:defRPr>
                      </a:lvl3pPr>
                      <a:lvl4pPr marL="1600200" indent="-228600">
                        <a:spcBef>
                          <a:spcPct val="20000"/>
                        </a:spcBef>
                        <a:buClr>
                          <a:schemeClr val="accent1"/>
                        </a:buClr>
                        <a:buFont typeface="Arial" panose="020B0604020202020204" pitchFamily="34" charset="0"/>
                        <a:defRPr sz="1400">
                          <a:solidFill>
                            <a:schemeClr val="tx1"/>
                          </a:solidFill>
                          <a:latin typeface="Calibri" panose="020F0502020204030204" pitchFamily="34" charset="0"/>
                          <a:ea typeface="MS PGothic" pitchFamily="34" charset="-128"/>
                        </a:defRPr>
                      </a:lvl4pPr>
                      <a:lvl5pPr marL="2057400" indent="-228600">
                        <a:spcBef>
                          <a:spcPct val="20000"/>
                        </a:spcBef>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5pPr>
                      <a:lvl6pPr marL="25146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6pPr>
                      <a:lvl7pPr marL="29718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7pPr>
                      <a:lvl8pPr marL="34290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8pPr>
                      <a:lvl9pPr marL="38862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a:ln>
                            <a:noFill/>
                          </a:ln>
                          <a:solidFill>
                            <a:schemeClr val="tx1"/>
                          </a:solidFill>
                          <a:effectLst/>
                          <a:latin typeface="Verdana" panose="020B0604030504040204" pitchFamily="34" charset="0"/>
                          <a:ea typeface="MS PGothic" pitchFamily="34" charset="-128"/>
                        </a:rPr>
                        <a:t>Consequently my actions will include …</a:t>
                      </a:r>
                    </a:p>
                  </a:txBody>
                  <a:tcPr marL="121920" marR="12192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11300">
                <a:tc>
                  <a:txBody>
                    <a:bodyPr/>
                    <a:lstStyle>
                      <a:lvl1pPr>
                        <a:spcBef>
                          <a:spcPct val="20000"/>
                        </a:spcBef>
                        <a:buClr>
                          <a:schemeClr val="accent1"/>
                        </a:buClr>
                        <a:buSzPct val="85000"/>
                        <a:buFont typeface="Arial" panose="020B0604020202020204" pitchFamily="34" charset="0"/>
                        <a:defRPr sz="2000">
                          <a:solidFill>
                            <a:schemeClr val="tx1"/>
                          </a:solidFill>
                          <a:latin typeface="Calibri" panose="020F0502020204030204" pitchFamily="34" charset="0"/>
                          <a:ea typeface="MS PGothic" pitchFamily="34" charset="-128"/>
                        </a:defRPr>
                      </a:lvl1pPr>
                      <a:lvl2pPr marL="742950" indent="-285750">
                        <a:spcBef>
                          <a:spcPct val="20000"/>
                        </a:spcBef>
                        <a:buClr>
                          <a:schemeClr val="accent1"/>
                        </a:buClr>
                        <a:buSzPct val="85000"/>
                        <a:buFont typeface="Arial" panose="020B0604020202020204" pitchFamily="34" charset="0"/>
                        <a:defRPr>
                          <a:solidFill>
                            <a:schemeClr val="tx1"/>
                          </a:solidFill>
                          <a:latin typeface="Calibri" panose="020F0502020204030204" pitchFamily="34" charset="0"/>
                          <a:ea typeface="MS PGothic" pitchFamily="34" charset="-128"/>
                        </a:defRPr>
                      </a:lvl2pPr>
                      <a:lvl3pPr marL="1143000" indent="-228600">
                        <a:spcBef>
                          <a:spcPct val="20000"/>
                        </a:spcBef>
                        <a:buClr>
                          <a:schemeClr val="accent1"/>
                        </a:buClr>
                        <a:buSzPct val="90000"/>
                        <a:buFont typeface="Arial" panose="020B0604020202020204" pitchFamily="34" charset="0"/>
                        <a:defRPr sz="1600">
                          <a:solidFill>
                            <a:schemeClr val="tx1"/>
                          </a:solidFill>
                          <a:latin typeface="Calibri" panose="020F0502020204030204" pitchFamily="34" charset="0"/>
                          <a:ea typeface="MS PGothic" pitchFamily="34" charset="-128"/>
                        </a:defRPr>
                      </a:lvl3pPr>
                      <a:lvl4pPr marL="1600200" indent="-228600">
                        <a:spcBef>
                          <a:spcPct val="20000"/>
                        </a:spcBef>
                        <a:buClr>
                          <a:schemeClr val="accent1"/>
                        </a:buClr>
                        <a:buFont typeface="Arial" panose="020B0604020202020204" pitchFamily="34" charset="0"/>
                        <a:defRPr sz="1400">
                          <a:solidFill>
                            <a:schemeClr val="tx1"/>
                          </a:solidFill>
                          <a:latin typeface="Calibri" panose="020F0502020204030204" pitchFamily="34" charset="0"/>
                          <a:ea typeface="MS PGothic" pitchFamily="34" charset="-128"/>
                        </a:defRPr>
                      </a:lvl4pPr>
                      <a:lvl5pPr marL="2057400" indent="-228600">
                        <a:spcBef>
                          <a:spcPct val="20000"/>
                        </a:spcBef>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5pPr>
                      <a:lvl6pPr marL="25146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6pPr>
                      <a:lvl7pPr marL="29718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7pPr>
                      <a:lvl8pPr marL="34290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8pPr>
                      <a:lvl9pPr marL="38862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200" b="0" i="0" u="none" strike="noStrike" cap="none" normalizeH="0" baseline="0">
                          <a:ln>
                            <a:noFill/>
                          </a:ln>
                          <a:solidFill>
                            <a:schemeClr val="tx1"/>
                          </a:solidFill>
                          <a:effectLst/>
                          <a:latin typeface="Verdana" panose="020B0604030504040204" pitchFamily="34" charset="0"/>
                          <a:ea typeface="MS PGothic" pitchFamily="34" charset="-128"/>
                        </a:rPr>
                        <a:t>People who get promoted here are not team players</a:t>
                      </a:r>
                    </a:p>
                  </a:txBody>
                  <a:tcPr marL="121920" marR="1219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lvl1pPr>
                        <a:spcBef>
                          <a:spcPct val="20000"/>
                        </a:spcBef>
                        <a:buClr>
                          <a:schemeClr val="accent1"/>
                        </a:buClr>
                        <a:buSzPct val="85000"/>
                        <a:buFont typeface="Arial" panose="020B0604020202020204" pitchFamily="34" charset="0"/>
                        <a:defRPr sz="2000">
                          <a:solidFill>
                            <a:schemeClr val="tx1"/>
                          </a:solidFill>
                          <a:latin typeface="Calibri" panose="020F0502020204030204" pitchFamily="34" charset="0"/>
                          <a:ea typeface="MS PGothic" pitchFamily="34" charset="-128"/>
                        </a:defRPr>
                      </a:lvl1pPr>
                      <a:lvl2pPr marL="742950" indent="-285750">
                        <a:spcBef>
                          <a:spcPct val="20000"/>
                        </a:spcBef>
                        <a:buClr>
                          <a:schemeClr val="accent1"/>
                        </a:buClr>
                        <a:buSzPct val="85000"/>
                        <a:buFont typeface="Arial" panose="020B0604020202020204" pitchFamily="34" charset="0"/>
                        <a:defRPr>
                          <a:solidFill>
                            <a:schemeClr val="tx1"/>
                          </a:solidFill>
                          <a:latin typeface="Calibri" panose="020F0502020204030204" pitchFamily="34" charset="0"/>
                          <a:ea typeface="MS PGothic" pitchFamily="34" charset="-128"/>
                        </a:defRPr>
                      </a:lvl2pPr>
                      <a:lvl3pPr marL="1143000" indent="-228600">
                        <a:spcBef>
                          <a:spcPct val="20000"/>
                        </a:spcBef>
                        <a:buClr>
                          <a:schemeClr val="accent1"/>
                        </a:buClr>
                        <a:buSzPct val="90000"/>
                        <a:buFont typeface="Arial" panose="020B0604020202020204" pitchFamily="34" charset="0"/>
                        <a:defRPr sz="1600">
                          <a:solidFill>
                            <a:schemeClr val="tx1"/>
                          </a:solidFill>
                          <a:latin typeface="Calibri" panose="020F0502020204030204" pitchFamily="34" charset="0"/>
                          <a:ea typeface="MS PGothic" pitchFamily="34" charset="-128"/>
                        </a:defRPr>
                      </a:lvl3pPr>
                      <a:lvl4pPr marL="1600200" indent="-228600">
                        <a:spcBef>
                          <a:spcPct val="20000"/>
                        </a:spcBef>
                        <a:buClr>
                          <a:schemeClr val="accent1"/>
                        </a:buClr>
                        <a:buFont typeface="Arial" panose="020B0604020202020204" pitchFamily="34" charset="0"/>
                        <a:defRPr sz="1400">
                          <a:solidFill>
                            <a:schemeClr val="tx1"/>
                          </a:solidFill>
                          <a:latin typeface="Calibri" panose="020F0502020204030204" pitchFamily="34" charset="0"/>
                          <a:ea typeface="MS PGothic" pitchFamily="34" charset="-128"/>
                        </a:defRPr>
                      </a:lvl4pPr>
                      <a:lvl5pPr marL="2057400" indent="-228600">
                        <a:spcBef>
                          <a:spcPct val="20000"/>
                        </a:spcBef>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5pPr>
                      <a:lvl6pPr marL="25146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6pPr>
                      <a:lvl7pPr marL="29718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7pPr>
                      <a:lvl8pPr marL="34290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8pPr>
                      <a:lvl9pPr marL="38862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en-US" altLang="en-US" sz="1200" b="0" i="0" u="none" strike="noStrike" cap="none" normalizeH="0" baseline="0">
                        <a:ln>
                          <a:noFill/>
                        </a:ln>
                        <a:solidFill>
                          <a:schemeClr val="tx1"/>
                        </a:solidFill>
                        <a:effectLst/>
                        <a:latin typeface="Verdana" panose="020B0604030504040204" pitchFamily="34" charset="0"/>
                        <a:ea typeface="MS PGothic" pitchFamily="34" charset="-128"/>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en-US" altLang="en-US" sz="1200" b="1" i="0" u="none" strike="noStrike" cap="none" normalizeH="0" baseline="0">
                        <a:ln>
                          <a:noFill/>
                        </a:ln>
                        <a:solidFill>
                          <a:srgbClr val="FF0000"/>
                        </a:solidFill>
                        <a:effectLst/>
                        <a:latin typeface="Verdana" panose="020B0604030504040204" pitchFamily="34" charset="0"/>
                        <a:ea typeface="MS PGothic" pitchFamily="34" charset="-128"/>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en-US" altLang="en-US" sz="1200" b="1" i="0" u="none" strike="noStrike" cap="none" normalizeH="0" baseline="0">
                        <a:ln>
                          <a:noFill/>
                        </a:ln>
                        <a:solidFill>
                          <a:srgbClr val="FF0000"/>
                        </a:solidFill>
                        <a:effectLst/>
                        <a:latin typeface="Verdana" panose="020B0604030504040204" pitchFamily="34" charset="0"/>
                        <a:ea typeface="MS PGothic" pitchFamily="34" charset="-128"/>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200" b="1" i="0" u="none" strike="noStrike" cap="none" normalizeH="0" baseline="0">
                          <a:ln>
                            <a:noFill/>
                          </a:ln>
                          <a:solidFill>
                            <a:srgbClr val="FF0000"/>
                          </a:solidFill>
                          <a:effectLst/>
                          <a:latin typeface="Verdana" panose="020B0604030504040204" pitchFamily="34" charset="0"/>
                          <a:ea typeface="MS PGothic" pitchFamily="34" charset="-128"/>
                        </a:rPr>
                        <a:t>The organizations rewards individual and not team performance</a:t>
                      </a: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Arial" panose="020B0604020202020204" pitchFamily="34" charset="0"/>
                        <a:defRPr sz="2000">
                          <a:solidFill>
                            <a:schemeClr val="tx1"/>
                          </a:solidFill>
                          <a:latin typeface="Calibri" panose="020F0502020204030204" pitchFamily="34" charset="0"/>
                          <a:ea typeface="MS PGothic" pitchFamily="34" charset="-128"/>
                        </a:defRPr>
                      </a:lvl1pPr>
                      <a:lvl2pPr marL="742950" indent="-285750">
                        <a:spcBef>
                          <a:spcPct val="20000"/>
                        </a:spcBef>
                        <a:buClr>
                          <a:schemeClr val="accent1"/>
                        </a:buClr>
                        <a:buSzPct val="85000"/>
                        <a:buFont typeface="Arial" panose="020B0604020202020204" pitchFamily="34" charset="0"/>
                        <a:defRPr>
                          <a:solidFill>
                            <a:schemeClr val="tx1"/>
                          </a:solidFill>
                          <a:latin typeface="Calibri" panose="020F0502020204030204" pitchFamily="34" charset="0"/>
                          <a:ea typeface="MS PGothic" pitchFamily="34" charset="-128"/>
                        </a:defRPr>
                      </a:lvl2pPr>
                      <a:lvl3pPr marL="1143000" indent="-228600">
                        <a:spcBef>
                          <a:spcPct val="20000"/>
                        </a:spcBef>
                        <a:buClr>
                          <a:schemeClr val="accent1"/>
                        </a:buClr>
                        <a:buSzPct val="90000"/>
                        <a:buFont typeface="Arial" panose="020B0604020202020204" pitchFamily="34" charset="0"/>
                        <a:defRPr sz="1600">
                          <a:solidFill>
                            <a:schemeClr val="tx1"/>
                          </a:solidFill>
                          <a:latin typeface="Calibri" panose="020F0502020204030204" pitchFamily="34" charset="0"/>
                          <a:ea typeface="MS PGothic" pitchFamily="34" charset="-128"/>
                        </a:defRPr>
                      </a:lvl3pPr>
                      <a:lvl4pPr marL="1600200" indent="-228600">
                        <a:spcBef>
                          <a:spcPct val="20000"/>
                        </a:spcBef>
                        <a:buClr>
                          <a:schemeClr val="accent1"/>
                        </a:buClr>
                        <a:buFont typeface="Arial" panose="020B0604020202020204" pitchFamily="34" charset="0"/>
                        <a:defRPr sz="1400">
                          <a:solidFill>
                            <a:schemeClr val="tx1"/>
                          </a:solidFill>
                          <a:latin typeface="Calibri" panose="020F0502020204030204" pitchFamily="34" charset="0"/>
                          <a:ea typeface="MS PGothic" pitchFamily="34" charset="-128"/>
                        </a:defRPr>
                      </a:lvl4pPr>
                      <a:lvl5pPr marL="2057400" indent="-228600">
                        <a:spcBef>
                          <a:spcPct val="20000"/>
                        </a:spcBef>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5pPr>
                      <a:lvl6pPr marL="25146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6pPr>
                      <a:lvl7pPr marL="29718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7pPr>
                      <a:lvl8pPr marL="34290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8pPr>
                      <a:lvl9pPr marL="38862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200" b="0" i="0" u="none" strike="noStrike" cap="none" normalizeH="0" baseline="0">
                          <a:ln>
                            <a:noFill/>
                          </a:ln>
                          <a:solidFill>
                            <a:schemeClr val="tx1"/>
                          </a:solidFill>
                          <a:effectLst/>
                          <a:latin typeface="Verdana" panose="020B0604030504040204" pitchFamily="34" charset="0"/>
                          <a:ea typeface="MS PGothic" pitchFamily="34" charset="-128"/>
                        </a:rPr>
                        <a:t>Avoid team meetings</a:t>
                      </a:r>
                    </a:p>
                  </a:txBody>
                  <a:tcPr marL="121920" marR="12192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9713">
                <a:tc>
                  <a:txBody>
                    <a:bodyPr/>
                    <a:lstStyle>
                      <a:lvl1pPr>
                        <a:spcBef>
                          <a:spcPct val="20000"/>
                        </a:spcBef>
                        <a:buClr>
                          <a:schemeClr val="accent1"/>
                        </a:buClr>
                        <a:buSzPct val="85000"/>
                        <a:buFont typeface="Arial" panose="020B0604020202020204" pitchFamily="34" charset="0"/>
                        <a:defRPr sz="2000">
                          <a:solidFill>
                            <a:schemeClr val="tx1"/>
                          </a:solidFill>
                          <a:latin typeface="Calibri" panose="020F0502020204030204" pitchFamily="34" charset="0"/>
                          <a:ea typeface="MS PGothic" pitchFamily="34" charset="-128"/>
                        </a:defRPr>
                      </a:lvl1pPr>
                      <a:lvl2pPr marL="742950" indent="-285750">
                        <a:spcBef>
                          <a:spcPct val="20000"/>
                        </a:spcBef>
                        <a:buClr>
                          <a:schemeClr val="accent1"/>
                        </a:buClr>
                        <a:buSzPct val="85000"/>
                        <a:buFont typeface="Arial" panose="020B0604020202020204" pitchFamily="34" charset="0"/>
                        <a:defRPr>
                          <a:solidFill>
                            <a:schemeClr val="tx1"/>
                          </a:solidFill>
                          <a:latin typeface="Calibri" panose="020F0502020204030204" pitchFamily="34" charset="0"/>
                          <a:ea typeface="MS PGothic" pitchFamily="34" charset="-128"/>
                        </a:defRPr>
                      </a:lvl2pPr>
                      <a:lvl3pPr marL="1143000" indent="-228600">
                        <a:spcBef>
                          <a:spcPct val="20000"/>
                        </a:spcBef>
                        <a:buClr>
                          <a:schemeClr val="accent1"/>
                        </a:buClr>
                        <a:buSzPct val="90000"/>
                        <a:buFont typeface="Arial" panose="020B0604020202020204" pitchFamily="34" charset="0"/>
                        <a:defRPr sz="1600">
                          <a:solidFill>
                            <a:schemeClr val="tx1"/>
                          </a:solidFill>
                          <a:latin typeface="Calibri" panose="020F0502020204030204" pitchFamily="34" charset="0"/>
                          <a:ea typeface="MS PGothic" pitchFamily="34" charset="-128"/>
                        </a:defRPr>
                      </a:lvl3pPr>
                      <a:lvl4pPr marL="1600200" indent="-228600">
                        <a:spcBef>
                          <a:spcPct val="20000"/>
                        </a:spcBef>
                        <a:buClr>
                          <a:schemeClr val="accent1"/>
                        </a:buClr>
                        <a:buFont typeface="Arial" panose="020B0604020202020204" pitchFamily="34" charset="0"/>
                        <a:defRPr sz="1400">
                          <a:solidFill>
                            <a:schemeClr val="tx1"/>
                          </a:solidFill>
                          <a:latin typeface="Calibri" panose="020F0502020204030204" pitchFamily="34" charset="0"/>
                          <a:ea typeface="MS PGothic" pitchFamily="34" charset="-128"/>
                        </a:defRPr>
                      </a:lvl4pPr>
                      <a:lvl5pPr marL="2057400" indent="-228600">
                        <a:spcBef>
                          <a:spcPct val="20000"/>
                        </a:spcBef>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5pPr>
                      <a:lvl6pPr marL="25146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6pPr>
                      <a:lvl7pPr marL="29718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7pPr>
                      <a:lvl8pPr marL="34290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8pPr>
                      <a:lvl9pPr marL="38862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200" b="0" i="0" u="none" strike="noStrike" cap="none" normalizeH="0" baseline="0">
                          <a:ln>
                            <a:noFill/>
                          </a:ln>
                          <a:solidFill>
                            <a:schemeClr val="tx1"/>
                          </a:solidFill>
                          <a:effectLst/>
                          <a:latin typeface="Verdana" panose="020B0604030504040204" pitchFamily="34" charset="0"/>
                          <a:ea typeface="MS PGothic" pitchFamily="34" charset="-128"/>
                        </a:rPr>
                        <a:t>Performance review rewards individual performance and not team performance</a:t>
                      </a:r>
                    </a:p>
                  </a:txBody>
                  <a:tcPr marL="121920" marR="1219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IE"/>
                    </a:p>
                  </a:txBody>
                  <a:tcPr/>
                </a:tc>
                <a:tc>
                  <a:txBody>
                    <a:bodyPr/>
                    <a:lstStyle>
                      <a:lvl1pPr>
                        <a:spcBef>
                          <a:spcPct val="20000"/>
                        </a:spcBef>
                        <a:buClr>
                          <a:schemeClr val="accent1"/>
                        </a:buClr>
                        <a:buSzPct val="85000"/>
                        <a:buFont typeface="Arial" panose="020B0604020202020204" pitchFamily="34" charset="0"/>
                        <a:defRPr sz="2000">
                          <a:solidFill>
                            <a:schemeClr val="tx1"/>
                          </a:solidFill>
                          <a:latin typeface="Calibri" panose="020F0502020204030204" pitchFamily="34" charset="0"/>
                          <a:ea typeface="MS PGothic" pitchFamily="34" charset="-128"/>
                        </a:defRPr>
                      </a:lvl1pPr>
                      <a:lvl2pPr marL="742950" indent="-285750">
                        <a:spcBef>
                          <a:spcPct val="20000"/>
                        </a:spcBef>
                        <a:buClr>
                          <a:schemeClr val="accent1"/>
                        </a:buClr>
                        <a:buSzPct val="85000"/>
                        <a:buFont typeface="Arial" panose="020B0604020202020204" pitchFamily="34" charset="0"/>
                        <a:defRPr>
                          <a:solidFill>
                            <a:schemeClr val="tx1"/>
                          </a:solidFill>
                          <a:latin typeface="Calibri" panose="020F0502020204030204" pitchFamily="34" charset="0"/>
                          <a:ea typeface="MS PGothic" pitchFamily="34" charset="-128"/>
                        </a:defRPr>
                      </a:lvl2pPr>
                      <a:lvl3pPr marL="1143000" indent="-228600">
                        <a:spcBef>
                          <a:spcPct val="20000"/>
                        </a:spcBef>
                        <a:buClr>
                          <a:schemeClr val="accent1"/>
                        </a:buClr>
                        <a:buSzPct val="90000"/>
                        <a:buFont typeface="Arial" panose="020B0604020202020204" pitchFamily="34" charset="0"/>
                        <a:defRPr sz="1600">
                          <a:solidFill>
                            <a:schemeClr val="tx1"/>
                          </a:solidFill>
                          <a:latin typeface="Calibri" panose="020F0502020204030204" pitchFamily="34" charset="0"/>
                          <a:ea typeface="MS PGothic" pitchFamily="34" charset="-128"/>
                        </a:defRPr>
                      </a:lvl3pPr>
                      <a:lvl4pPr marL="1600200" indent="-228600">
                        <a:spcBef>
                          <a:spcPct val="20000"/>
                        </a:spcBef>
                        <a:buClr>
                          <a:schemeClr val="accent1"/>
                        </a:buClr>
                        <a:buFont typeface="Arial" panose="020B0604020202020204" pitchFamily="34" charset="0"/>
                        <a:defRPr sz="1400">
                          <a:solidFill>
                            <a:schemeClr val="tx1"/>
                          </a:solidFill>
                          <a:latin typeface="Calibri" panose="020F0502020204030204" pitchFamily="34" charset="0"/>
                          <a:ea typeface="MS PGothic" pitchFamily="34" charset="-128"/>
                        </a:defRPr>
                      </a:lvl4pPr>
                      <a:lvl5pPr marL="2057400" indent="-228600">
                        <a:spcBef>
                          <a:spcPct val="20000"/>
                        </a:spcBef>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5pPr>
                      <a:lvl6pPr marL="25146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6pPr>
                      <a:lvl7pPr marL="29718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7pPr>
                      <a:lvl8pPr marL="34290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8pPr>
                      <a:lvl9pPr marL="3886200" indent="-228600" eaLnBrk="0" fontAlgn="base" hangingPunct="0">
                        <a:spcBef>
                          <a:spcPct val="20000"/>
                        </a:spcBef>
                        <a:spcAft>
                          <a:spcPct val="0"/>
                        </a:spcAft>
                        <a:buClr>
                          <a:schemeClr val="accent1"/>
                        </a:buClr>
                        <a:buSzPct val="100000"/>
                        <a:buFont typeface="Arial" panose="020B0604020202020204" pitchFamily="34" charset="0"/>
                        <a:defRPr sz="1200">
                          <a:solidFill>
                            <a:schemeClr val="tx1"/>
                          </a:solidFill>
                          <a:latin typeface="Calibri" panose="020F0502020204030204" pitchFamily="34" charset="0"/>
                          <a:ea typeface="MS PGothic" pitchFamily="34" charset="-128"/>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Verdana" panose="020B0604030504040204" pitchFamily="34" charset="0"/>
                          <a:ea typeface="MS PGothic" pitchFamily="34" charset="-128"/>
                        </a:rPr>
                        <a:t>Discourage team work</a:t>
                      </a:r>
                    </a:p>
                  </a:txBody>
                  <a:tcPr marL="121920" marR="12192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2010633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Legally Blonde!!</a:t>
            </a:r>
          </a:p>
        </p:txBody>
      </p:sp>
      <p:sp>
        <p:nvSpPr>
          <p:cNvPr id="3" name="Content Placeholder 2"/>
          <p:cNvSpPr>
            <a:spLocks noGrp="1"/>
          </p:cNvSpPr>
          <p:nvPr>
            <p:ph idx="1"/>
          </p:nvPr>
        </p:nvSpPr>
        <p:spPr>
          <a:xfrm>
            <a:off x="1070261" y="1845735"/>
            <a:ext cx="9606704" cy="4316330"/>
          </a:xfrm>
        </p:spPr>
        <p:txBody>
          <a:bodyPr>
            <a:normAutofit fontScale="92500"/>
          </a:bodyPr>
          <a:lstStyle/>
          <a:p>
            <a:r>
              <a:rPr lang="en-US" sz="2400" b="1" dirty="0"/>
              <a:t>WATCH the clip and OBSERVE the 5 characters CAREFULLY</a:t>
            </a:r>
          </a:p>
          <a:p>
            <a:r>
              <a:rPr lang="en-US" sz="2400" dirty="0"/>
              <a:t>https://www.youtube.com/watch?v=dDVp-nGo77o  (from 1.48 to at 3.15 mins)</a:t>
            </a:r>
            <a:endParaRPr lang="en-US" sz="2400" b="1" dirty="0"/>
          </a:p>
          <a:p>
            <a:r>
              <a:rPr lang="en-US" sz="2400" b="1" dirty="0"/>
              <a:t>1. </a:t>
            </a:r>
            <a:r>
              <a:rPr lang="en-US" sz="2400" dirty="0"/>
              <a:t>Decide on an appropriate stereotype label (e.g., absent-minded prof) for each character</a:t>
            </a:r>
          </a:p>
          <a:p>
            <a:r>
              <a:rPr lang="en-US" sz="2400" b="1" dirty="0"/>
              <a:t>2. </a:t>
            </a:r>
            <a:r>
              <a:rPr lang="en-US" sz="2400" dirty="0"/>
              <a:t>Explain why you have chosen this label – based on evidence that each character provides (what they say, how they say it, appearance and non verbal)</a:t>
            </a:r>
          </a:p>
          <a:p>
            <a:r>
              <a:rPr lang="en-US" sz="2400" b="1" dirty="0"/>
              <a:t>3. </a:t>
            </a:r>
            <a:r>
              <a:rPr lang="en-US" sz="2400" dirty="0"/>
              <a:t>For each character identify 2 adjectives that you think would describe how they would be likely to interact socially with others</a:t>
            </a:r>
          </a:p>
          <a:p>
            <a:r>
              <a:rPr lang="en-US" sz="2400" b="1" dirty="0"/>
              <a:t>4. </a:t>
            </a:r>
            <a:r>
              <a:rPr lang="en-US" sz="2400" dirty="0"/>
              <a:t>thinking of each of these 5 characters in an </a:t>
            </a:r>
            <a:r>
              <a:rPr lang="en-US" sz="2400" dirty="0" err="1"/>
              <a:t>organisational</a:t>
            </a:r>
            <a:r>
              <a:rPr lang="en-US" sz="2400" dirty="0"/>
              <a:t> context, assess what you feel would be their strengths and weaknesses. </a:t>
            </a:r>
            <a:endParaRPr lang="en-US" sz="2400" b="1" dirty="0"/>
          </a:p>
        </p:txBody>
      </p:sp>
      <p:pic>
        <p:nvPicPr>
          <p:cNvPr id="4" name="Picture 3"/>
          <p:cNvPicPr>
            <a:picLocks noChangeAspect="1"/>
          </p:cNvPicPr>
          <p:nvPr/>
        </p:nvPicPr>
        <p:blipFill>
          <a:blip r:embed="rId3"/>
          <a:stretch>
            <a:fillRect/>
          </a:stretch>
        </p:blipFill>
        <p:spPr>
          <a:xfrm>
            <a:off x="10119748" y="0"/>
            <a:ext cx="2072252" cy="2810767"/>
          </a:xfrm>
          <a:prstGeom prst="rect">
            <a:avLst/>
          </a:prstGeom>
        </p:spPr>
      </p:pic>
    </p:spTree>
    <p:extLst>
      <p:ext uri="{BB962C8B-B14F-4D97-AF65-F5344CB8AC3E}">
        <p14:creationId xmlns:p14="http://schemas.microsoft.com/office/powerpoint/2010/main" val="16567757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406400" y="12701"/>
            <a:ext cx="11176000" cy="1139825"/>
          </a:xfrm>
        </p:spPr>
        <p:txBody>
          <a:bodyPr/>
          <a:lstStyle/>
          <a:p>
            <a:pPr marL="320040" indent="-320040" eaLnBrk="1" fontAlgn="auto" hangingPunct="1">
              <a:spcAft>
                <a:spcPts val="0"/>
              </a:spcAft>
              <a:buClr>
                <a:schemeClr val="accent6">
                  <a:lumMod val="75000"/>
                </a:schemeClr>
              </a:buClr>
              <a:defRPr/>
            </a:pPr>
            <a:r>
              <a:rPr lang="en-US" sz="3300" dirty="0">
                <a:ea typeface="+mj-ea"/>
                <a:cs typeface="+mj-cs"/>
              </a:rPr>
              <a:t>PERCEPTUAL SETS: HALO EFFECT</a:t>
            </a:r>
          </a:p>
        </p:txBody>
      </p:sp>
      <p:sp>
        <p:nvSpPr>
          <p:cNvPr id="101379" name="Rectangle 3"/>
          <p:cNvSpPr>
            <a:spLocks noGrp="1" noChangeArrowheads="1"/>
          </p:cNvSpPr>
          <p:nvPr>
            <p:ph type="body" sz="half" idx="1"/>
          </p:nvPr>
        </p:nvSpPr>
        <p:spPr>
          <a:xfrm>
            <a:off x="609600" y="1886066"/>
            <a:ext cx="5384800" cy="4685807"/>
          </a:xfrm>
        </p:spPr>
        <p:txBody>
          <a:bodyPr/>
          <a:lstStyle/>
          <a:p>
            <a:pPr eaLnBrk="1" hangingPunct="1"/>
            <a:r>
              <a:rPr lang="en-US" altLang="en-US" sz="2000" dirty="0"/>
              <a:t>Perception of a person is formulated on the basis of a favorable (halo) or unfavorable trait (horn).</a:t>
            </a:r>
          </a:p>
          <a:p>
            <a:pPr eaLnBrk="1" hangingPunct="1">
              <a:buFont typeface="Wingdings" pitchFamily="2" charset="2"/>
              <a:buNone/>
            </a:pPr>
            <a:endParaRPr lang="en-US" altLang="en-US" sz="2000" dirty="0"/>
          </a:p>
          <a:p>
            <a:pPr eaLnBrk="1" hangingPunct="1"/>
            <a:r>
              <a:rPr lang="en-US" altLang="en-US" sz="2000" dirty="0"/>
              <a:t>This effect tends to shut out other relevant characteristics of that person. </a:t>
            </a:r>
          </a:p>
          <a:p>
            <a:pPr eaLnBrk="1" hangingPunct="1">
              <a:buFont typeface="Wingdings" pitchFamily="2" charset="2"/>
              <a:buNone/>
            </a:pPr>
            <a:endParaRPr lang="en-US" altLang="en-US" sz="2000" dirty="0"/>
          </a:p>
          <a:p>
            <a:pPr eaLnBrk="1" hangingPunct="1"/>
            <a:r>
              <a:rPr lang="en-US" altLang="en-US" sz="2000" dirty="0"/>
              <a:t>A kind of an "angelic halo" surrounds the person, in the eyes of the beholder, and they can do no wrong. </a:t>
            </a:r>
          </a:p>
        </p:txBody>
      </p:sp>
      <p:pic>
        <p:nvPicPr>
          <p:cNvPr id="101380" name="Picture 6" descr="Light Ange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2209800"/>
            <a:ext cx="3708400" cy="2495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919365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p:cNvSpPr>
          <p:nvPr>
            <p:ph type="title"/>
          </p:nvPr>
        </p:nvSpPr>
        <p:spPr>
          <a:xfrm>
            <a:off x="609600" y="0"/>
            <a:ext cx="8043333" cy="1143000"/>
          </a:xfrm>
          <a:extLst/>
        </p:spPr>
        <p:txBody>
          <a:bodyPr/>
          <a:lstStyle/>
          <a:p>
            <a:pPr marL="320040" indent="-320040" eaLnBrk="1" fontAlgn="auto" hangingPunct="1">
              <a:spcAft>
                <a:spcPts val="0"/>
              </a:spcAft>
              <a:buClr>
                <a:schemeClr val="accent6">
                  <a:lumMod val="75000"/>
                </a:schemeClr>
              </a:buClr>
              <a:defRPr/>
            </a:pPr>
            <a:r>
              <a:rPr lang="en-US" sz="3300" dirty="0">
                <a:ea typeface="+mj-ea"/>
                <a:cs typeface="+mj-cs"/>
              </a:rPr>
              <a:t>Halo effect: Examples</a:t>
            </a:r>
            <a:r>
              <a:rPr lang="en-US" dirty="0">
                <a:ea typeface="+mj-ea"/>
                <a:cs typeface="+mj-cs"/>
              </a:rPr>
              <a:t> </a:t>
            </a:r>
          </a:p>
        </p:txBody>
      </p:sp>
      <p:sp>
        <p:nvSpPr>
          <p:cNvPr id="105475" name="Rectangle 3"/>
          <p:cNvSpPr>
            <a:spLocks noGrp="1"/>
          </p:cNvSpPr>
          <p:nvPr>
            <p:ph idx="1"/>
          </p:nvPr>
        </p:nvSpPr>
        <p:spPr>
          <a:xfrm>
            <a:off x="609600" y="1600200"/>
            <a:ext cx="8636000" cy="4953000"/>
          </a:xfrm>
        </p:spPr>
        <p:txBody>
          <a:bodyPr/>
          <a:lstStyle/>
          <a:p>
            <a:pPr eaLnBrk="1" hangingPunct="1"/>
            <a:endParaRPr lang="en-US" altLang="en-US" sz="2000" dirty="0"/>
          </a:p>
          <a:p>
            <a:pPr eaLnBrk="1" hangingPunct="1"/>
            <a:r>
              <a:rPr lang="en-US" altLang="en-US" sz="2000" dirty="0"/>
              <a:t>A candidate for employment who arrives punctually, is smart in appearance and friendly may influence the perceptions of the selectors, who then place less emphasis on the candidate</a:t>
            </a:r>
            <a:r>
              <a:rPr lang="ja-JP" altLang="en-US" sz="2000" dirty="0"/>
              <a:t>’</a:t>
            </a:r>
            <a:r>
              <a:rPr lang="en-US" altLang="ja-JP" sz="2000" dirty="0"/>
              <a:t>s technical ability or experience </a:t>
            </a:r>
          </a:p>
          <a:p>
            <a:pPr eaLnBrk="1" hangingPunct="1">
              <a:buFont typeface="Wingdings" pitchFamily="2" charset="2"/>
              <a:buNone/>
            </a:pPr>
            <a:endParaRPr lang="en-US" altLang="en-US" sz="1000" dirty="0"/>
          </a:p>
          <a:p>
            <a:pPr eaLnBrk="1" hangingPunct="1"/>
            <a:r>
              <a:rPr lang="en-US" altLang="en-US" sz="2000" dirty="0"/>
              <a:t>A new member of staff who performs well in a first assignment may be perceived as a likely person for promotion, even though the assignment is not typical of the usual duties the member of staff is expected to take</a:t>
            </a:r>
          </a:p>
          <a:p>
            <a:pPr eaLnBrk="1" hangingPunct="1"/>
            <a:endParaRPr lang="en-US" altLang="en-US" sz="1000" dirty="0"/>
          </a:p>
        </p:txBody>
      </p:sp>
      <p:pic>
        <p:nvPicPr>
          <p:cNvPr id="105476" name="Picture 4" descr="Light Ange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40800" y="304800"/>
            <a:ext cx="2387600" cy="1600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5501768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chorCtr="0">
            <a:normAutofit/>
          </a:bodyPr>
          <a:lstStyle/>
          <a:p>
            <a:r>
              <a:rPr lang="en-IE" sz="4000" dirty="0">
                <a:latin typeface="+mn-lt"/>
              </a:rPr>
              <a:t>Problems with the Selection Interview</a:t>
            </a:r>
          </a:p>
        </p:txBody>
      </p:sp>
      <p:sp>
        <p:nvSpPr>
          <p:cNvPr id="3" name="Content Placeholder 2"/>
          <p:cNvSpPr>
            <a:spLocks noGrp="1"/>
          </p:cNvSpPr>
          <p:nvPr>
            <p:ph idx="1"/>
          </p:nvPr>
        </p:nvSpPr>
        <p:spPr>
          <a:xfrm>
            <a:off x="1204419" y="1707658"/>
            <a:ext cx="10051419" cy="4745678"/>
          </a:xfrm>
        </p:spPr>
        <p:txBody>
          <a:bodyPr>
            <a:noAutofit/>
          </a:bodyPr>
          <a:lstStyle/>
          <a:p>
            <a:r>
              <a:rPr lang="en-IE" sz="3200" dirty="0">
                <a:latin typeface="+mj-lt"/>
                <a:cs typeface="Times New Roman" pitchFamily="18" charset="0"/>
              </a:rPr>
              <a:t>Confirmatory Bias (Snyder and Swann, 1978) or the first impression error</a:t>
            </a:r>
            <a:endParaRPr lang="en-IE" sz="1000" dirty="0">
              <a:latin typeface="+mj-lt"/>
              <a:cs typeface="Times New Roman" pitchFamily="18" charset="0"/>
            </a:endParaRPr>
          </a:p>
          <a:p>
            <a:r>
              <a:rPr lang="en-IE" sz="3200" dirty="0">
                <a:latin typeface="+mj-lt"/>
                <a:cs typeface="Times New Roman" pitchFamily="18" charset="0"/>
              </a:rPr>
              <a:t>Horn/Halo Effect</a:t>
            </a:r>
            <a:endParaRPr lang="en-IE" sz="1000" dirty="0">
              <a:latin typeface="+mj-lt"/>
              <a:cs typeface="Times New Roman" pitchFamily="18" charset="0"/>
            </a:endParaRPr>
          </a:p>
          <a:p>
            <a:r>
              <a:rPr lang="en-IE" sz="3200" dirty="0">
                <a:latin typeface="+mj-lt"/>
                <a:cs typeface="Times New Roman" pitchFamily="18" charset="0"/>
              </a:rPr>
              <a:t>Stereotypes</a:t>
            </a:r>
            <a:endParaRPr lang="en-IE" sz="1000" dirty="0">
              <a:latin typeface="+mj-lt"/>
              <a:cs typeface="Times New Roman" pitchFamily="18" charset="0"/>
            </a:endParaRPr>
          </a:p>
          <a:p>
            <a:r>
              <a:rPr lang="en-IE" sz="3200" dirty="0">
                <a:latin typeface="+mj-lt"/>
                <a:cs typeface="Times New Roman" pitchFamily="18" charset="0"/>
              </a:rPr>
              <a:t>Contrast Error</a:t>
            </a:r>
            <a:endParaRPr lang="en-IE" sz="1000" dirty="0">
              <a:latin typeface="+mj-lt"/>
              <a:cs typeface="Times New Roman" pitchFamily="18" charset="0"/>
            </a:endParaRPr>
          </a:p>
          <a:p>
            <a:r>
              <a:rPr lang="en-IE" sz="3200" dirty="0">
                <a:latin typeface="+mj-lt"/>
                <a:cs typeface="Times New Roman" pitchFamily="18" charset="0"/>
              </a:rPr>
              <a:t>Projection Error</a:t>
            </a:r>
            <a:endParaRPr lang="en-IE" sz="1000" dirty="0">
              <a:latin typeface="+mj-lt"/>
              <a:cs typeface="Times New Roman" pitchFamily="18" charset="0"/>
            </a:endParaRPr>
          </a:p>
          <a:p>
            <a:r>
              <a:rPr lang="en-IE" sz="3200" dirty="0">
                <a:latin typeface="+mj-lt"/>
                <a:cs typeface="Times New Roman" pitchFamily="18" charset="0"/>
              </a:rPr>
              <a:t>Lack of Interview Skills/Training</a:t>
            </a:r>
          </a:p>
          <a:p>
            <a:endParaRPr lang="en-IE" sz="2400" dirty="0">
              <a:latin typeface="+mj-lt"/>
              <a:cs typeface="Times New Roman" pitchFamily="18" charset="0"/>
            </a:endParaRPr>
          </a:p>
        </p:txBody>
      </p:sp>
      <p:sp>
        <p:nvSpPr>
          <p:cNvPr id="5" name="Footer Placeholder 5"/>
          <p:cNvSpPr>
            <a:spLocks noGrp="1"/>
          </p:cNvSpPr>
          <p:nvPr>
            <p:ph type="ftr" sz="quarter" idx="11"/>
          </p:nvPr>
        </p:nvSpPr>
        <p:spPr>
          <a:xfrm>
            <a:off x="4399384" y="6592268"/>
            <a:ext cx="3352800" cy="365125"/>
          </a:xfrm>
        </p:spPr>
        <p:txBody>
          <a:bodyPr/>
          <a:lstStyle/>
          <a:p>
            <a:pPr algn="ctr">
              <a:defRPr/>
            </a:pPr>
            <a:r>
              <a:rPr lang="en-GB" sz="1050" dirty="0" err="1"/>
              <a:t>Carbery</a:t>
            </a:r>
            <a:r>
              <a:rPr lang="en-GB" sz="1050" dirty="0"/>
              <a:t> &amp; Cross (2013)</a:t>
            </a:r>
          </a:p>
        </p:txBody>
      </p:sp>
    </p:spTree>
    <p:extLst>
      <p:ext uri="{BB962C8B-B14F-4D97-AF65-F5344CB8AC3E}">
        <p14:creationId xmlns:p14="http://schemas.microsoft.com/office/powerpoint/2010/main" val="1821446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304800" y="533400"/>
            <a:ext cx="10261600" cy="914400"/>
          </a:xfrm>
        </p:spPr>
        <p:txBody>
          <a:bodyPr>
            <a:normAutofit/>
          </a:bodyPr>
          <a:lstStyle/>
          <a:p>
            <a:pPr marL="320040" indent="-320040" eaLnBrk="1" fontAlgn="auto" hangingPunct="1">
              <a:spcAft>
                <a:spcPts val="0"/>
              </a:spcAft>
              <a:buClr>
                <a:schemeClr val="accent6">
                  <a:lumMod val="75000"/>
                </a:schemeClr>
              </a:buClr>
              <a:defRPr/>
            </a:pPr>
            <a:r>
              <a:rPr lang="en-US" dirty="0">
                <a:ea typeface="+mj-ea"/>
                <a:cs typeface="+mj-cs"/>
              </a:rPr>
              <a:t>WHY JOB APPLICANTS ARE NOT HIRED</a:t>
            </a:r>
          </a:p>
        </p:txBody>
      </p:sp>
      <p:sp>
        <p:nvSpPr>
          <p:cNvPr id="107523" name="Rectangle 3"/>
          <p:cNvSpPr>
            <a:spLocks noGrp="1" noChangeArrowheads="1"/>
          </p:cNvSpPr>
          <p:nvPr>
            <p:ph idx="1"/>
          </p:nvPr>
        </p:nvSpPr>
        <p:spPr>
          <a:xfrm>
            <a:off x="711200" y="1371600"/>
            <a:ext cx="10261600" cy="5105400"/>
          </a:xfrm>
        </p:spPr>
        <p:txBody>
          <a:bodyPr>
            <a:normAutofit/>
          </a:bodyPr>
          <a:lstStyle/>
          <a:p>
            <a:pPr marL="457200" indent="-457200" eaLnBrk="1" hangingPunct="1">
              <a:buFont typeface="Century Schoolbook" pitchFamily="18" charset="0"/>
              <a:buAutoNum type="arabicPeriod"/>
            </a:pPr>
            <a:r>
              <a:rPr lang="en-US" altLang="en-US" dirty="0"/>
              <a:t>Poor personal appearance</a:t>
            </a:r>
          </a:p>
          <a:p>
            <a:pPr marL="457200" indent="-457200" eaLnBrk="1" hangingPunct="1">
              <a:buFont typeface="Century Schoolbook" pitchFamily="18" charset="0"/>
              <a:buAutoNum type="arabicPeriod"/>
            </a:pPr>
            <a:r>
              <a:rPr lang="en-US" altLang="en-US" dirty="0"/>
              <a:t>Over-aggressiveness</a:t>
            </a:r>
          </a:p>
          <a:p>
            <a:pPr marL="457200" indent="-457200" eaLnBrk="1" hangingPunct="1">
              <a:buFont typeface="Century Schoolbook" pitchFamily="18" charset="0"/>
              <a:buAutoNum type="arabicPeriod"/>
            </a:pPr>
            <a:r>
              <a:rPr lang="en-US" altLang="en-US" dirty="0"/>
              <a:t>Inability to express information clearly</a:t>
            </a:r>
          </a:p>
          <a:p>
            <a:pPr marL="457200" indent="-457200" eaLnBrk="1" hangingPunct="1">
              <a:buFont typeface="Century Schoolbook" pitchFamily="18" charset="0"/>
              <a:buAutoNum type="arabicPeriod"/>
            </a:pPr>
            <a:r>
              <a:rPr lang="en-US" altLang="en-US" dirty="0"/>
              <a:t>Lack of interest and enthusiasm</a:t>
            </a:r>
          </a:p>
          <a:p>
            <a:pPr marL="457200" indent="-457200" eaLnBrk="1" hangingPunct="1">
              <a:buFont typeface="Century Schoolbook" pitchFamily="18" charset="0"/>
              <a:buAutoNum type="arabicPeriod"/>
            </a:pPr>
            <a:r>
              <a:rPr lang="en-US" altLang="en-US" dirty="0"/>
              <a:t>Lack of career planning, no purpose and not goals</a:t>
            </a:r>
          </a:p>
          <a:p>
            <a:pPr marL="457200" indent="-457200" eaLnBrk="1" hangingPunct="1">
              <a:buFont typeface="Century Schoolbook" pitchFamily="18" charset="0"/>
              <a:buAutoNum type="arabicPeriod"/>
            </a:pPr>
            <a:r>
              <a:rPr lang="en-US" altLang="en-US" dirty="0"/>
              <a:t>Nervous, lack of confidence and poise</a:t>
            </a:r>
          </a:p>
          <a:p>
            <a:pPr marL="457200" indent="-457200" eaLnBrk="1" hangingPunct="1">
              <a:buFont typeface="Century Schoolbook" pitchFamily="18" charset="0"/>
              <a:buAutoNum type="arabicPeriod"/>
            </a:pPr>
            <a:r>
              <a:rPr lang="en-US" altLang="en-US" dirty="0"/>
              <a:t>Overemphasis on money</a:t>
            </a:r>
          </a:p>
          <a:p>
            <a:pPr marL="457200" indent="-457200" eaLnBrk="1" hangingPunct="1">
              <a:buFont typeface="Century Schoolbook" pitchFamily="18" charset="0"/>
              <a:buAutoNum type="arabicPeriod"/>
            </a:pPr>
            <a:r>
              <a:rPr lang="de-DE" altLang="en-US" dirty="0"/>
              <a:t>U</a:t>
            </a:r>
            <a:r>
              <a:rPr lang="en-US" altLang="en-US" dirty="0" err="1"/>
              <a:t>nwillingness</a:t>
            </a:r>
            <a:r>
              <a:rPr lang="en-US" altLang="en-US" dirty="0"/>
              <a:t> to start at the bottom</a:t>
            </a:r>
          </a:p>
          <a:p>
            <a:pPr marL="457200" indent="-457200" eaLnBrk="1" hangingPunct="1">
              <a:buFont typeface="Century Schoolbook" pitchFamily="18" charset="0"/>
              <a:buAutoNum type="arabicPeriod"/>
            </a:pPr>
            <a:r>
              <a:rPr lang="de-DE" altLang="en-US" dirty="0"/>
              <a:t>M</a:t>
            </a:r>
            <a:r>
              <a:rPr lang="en-US" altLang="en-US" dirty="0" err="1"/>
              <a:t>akes</a:t>
            </a:r>
            <a:r>
              <a:rPr lang="en-US" altLang="en-US" dirty="0"/>
              <a:t> excuses</a:t>
            </a:r>
          </a:p>
          <a:p>
            <a:pPr marL="457200" indent="-457200" eaLnBrk="1" hangingPunct="1">
              <a:buFont typeface="Century Schoolbook" pitchFamily="18" charset="0"/>
              <a:buAutoNum type="arabicPeriod"/>
            </a:pPr>
            <a:r>
              <a:rPr lang="de-DE" altLang="en-US" dirty="0"/>
              <a:t>L</a:t>
            </a:r>
            <a:r>
              <a:rPr lang="en-US" altLang="en-US" dirty="0" err="1"/>
              <a:t>ack</a:t>
            </a:r>
            <a:r>
              <a:rPr lang="en-US" altLang="en-US" dirty="0"/>
              <a:t> of tact and courtesy</a:t>
            </a:r>
          </a:p>
          <a:p>
            <a:pPr marL="457200" indent="-457200" eaLnBrk="1" hangingPunct="1">
              <a:buFont typeface="Century Schoolbook" pitchFamily="18" charset="0"/>
              <a:buAutoNum type="arabicPeriod"/>
            </a:pPr>
            <a:r>
              <a:rPr lang="de-DE" altLang="en-US" dirty="0"/>
              <a:t>E</a:t>
            </a:r>
            <a:r>
              <a:rPr lang="en-US" altLang="en-US" dirty="0" err="1"/>
              <a:t>tc</a:t>
            </a:r>
            <a:r>
              <a:rPr lang="en-US" altLang="en-US" dirty="0"/>
              <a:t>. </a:t>
            </a:r>
          </a:p>
        </p:txBody>
      </p:sp>
    </p:spTree>
    <p:extLst>
      <p:ext uri="{BB962C8B-B14F-4D97-AF65-F5344CB8AC3E}">
        <p14:creationId xmlns:p14="http://schemas.microsoft.com/office/powerpoint/2010/main" val="16225282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3"/>
          <p:cNvSpPr>
            <a:spLocks noGrp="1" noChangeArrowheads="1"/>
          </p:cNvSpPr>
          <p:nvPr>
            <p:ph idx="1"/>
          </p:nvPr>
        </p:nvSpPr>
        <p:spPr>
          <a:xfrm>
            <a:off x="609600" y="1936376"/>
            <a:ext cx="9956800" cy="4537450"/>
          </a:xfrm>
        </p:spPr>
        <p:txBody>
          <a:bodyPr>
            <a:normAutofit/>
          </a:bodyPr>
          <a:lstStyle/>
          <a:p>
            <a:pPr eaLnBrk="1" hangingPunct="1">
              <a:lnSpc>
                <a:spcPct val="90000"/>
              </a:lnSpc>
            </a:pPr>
            <a:r>
              <a:rPr lang="ja-JP" altLang="en-US" sz="2800" dirty="0"/>
              <a:t>“</a:t>
            </a:r>
            <a:r>
              <a:rPr lang="en-US" altLang="ja-JP" sz="2800" dirty="0"/>
              <a:t>Pictures in the head</a:t>
            </a:r>
            <a:r>
              <a:rPr lang="ja-JP" altLang="en-US" sz="2800" dirty="0"/>
              <a:t>”</a:t>
            </a:r>
            <a:r>
              <a:rPr lang="en-US" altLang="ja-JP" sz="2800" dirty="0"/>
              <a:t> (Lippmann, 1922)</a:t>
            </a:r>
          </a:p>
          <a:p>
            <a:pPr eaLnBrk="1" hangingPunct="1">
              <a:lnSpc>
                <a:spcPct val="90000"/>
              </a:lnSpc>
            </a:pPr>
            <a:endParaRPr lang="en-US" altLang="en-US" sz="1100" dirty="0"/>
          </a:p>
          <a:p>
            <a:pPr eaLnBrk="1" hangingPunct="1"/>
            <a:r>
              <a:rPr lang="en-US" altLang="en-US" sz="2800" dirty="0"/>
              <a:t>Judgments about a person</a:t>
            </a:r>
            <a:r>
              <a:rPr lang="ja-JP" altLang="en-US" sz="2800" dirty="0"/>
              <a:t>’</a:t>
            </a:r>
            <a:r>
              <a:rPr lang="en-US" altLang="ja-JP" sz="2800" dirty="0"/>
              <a:t>s characteristics on the basis of the person</a:t>
            </a:r>
            <a:r>
              <a:rPr lang="ja-JP" altLang="en-US" sz="2800" dirty="0"/>
              <a:t>’</a:t>
            </a:r>
            <a:r>
              <a:rPr lang="en-US" altLang="ja-JP" sz="2800" dirty="0"/>
              <a:t>s group membership</a:t>
            </a:r>
          </a:p>
          <a:p>
            <a:pPr eaLnBrk="1" hangingPunct="1">
              <a:lnSpc>
                <a:spcPct val="90000"/>
              </a:lnSpc>
              <a:buFont typeface="Wingdings" pitchFamily="2" charset="2"/>
              <a:buNone/>
            </a:pPr>
            <a:endParaRPr lang="en-US" altLang="en-US" sz="1100" dirty="0"/>
          </a:p>
          <a:p>
            <a:pPr eaLnBrk="1" hangingPunct="1">
              <a:lnSpc>
                <a:spcPct val="90000"/>
              </a:lnSpc>
            </a:pPr>
            <a:r>
              <a:rPr lang="en-US" altLang="en-US" sz="2800" dirty="0"/>
              <a:t>Our instant categorization allows us to attribute a range of qualities to them …</a:t>
            </a:r>
          </a:p>
          <a:p>
            <a:pPr eaLnBrk="1" hangingPunct="1">
              <a:lnSpc>
                <a:spcPct val="90000"/>
              </a:lnSpc>
              <a:buFont typeface="Wingdings" pitchFamily="2" charset="2"/>
              <a:buNone/>
            </a:pPr>
            <a:endParaRPr lang="en-US" altLang="en-US" sz="1100" dirty="0"/>
          </a:p>
          <a:p>
            <a:pPr eaLnBrk="1" hangingPunct="1">
              <a:lnSpc>
                <a:spcPct val="90000"/>
              </a:lnSpc>
            </a:pPr>
            <a:r>
              <a:rPr lang="en-US" altLang="en-US" sz="2800" dirty="0"/>
              <a:t>Stereotypes are overgeneralizations and not accurate</a:t>
            </a:r>
          </a:p>
          <a:p>
            <a:pPr eaLnBrk="1" hangingPunct="1">
              <a:lnSpc>
                <a:spcPct val="90000"/>
              </a:lnSpc>
            </a:pPr>
            <a:r>
              <a:rPr lang="en-US" altLang="en-US" sz="2800" dirty="0"/>
              <a:t>Have a strong impact on other cognitive functions, e.g. memory</a:t>
            </a:r>
          </a:p>
          <a:p>
            <a:pPr eaLnBrk="1" hangingPunct="1">
              <a:lnSpc>
                <a:spcPct val="90000"/>
              </a:lnSpc>
            </a:pPr>
            <a:endParaRPr lang="en-US" altLang="en-US" sz="1000" dirty="0"/>
          </a:p>
          <a:p>
            <a:pPr eaLnBrk="1" hangingPunct="1">
              <a:lnSpc>
                <a:spcPct val="90000"/>
              </a:lnSpc>
            </a:pPr>
            <a:endParaRPr lang="en-US" altLang="en-US" dirty="0"/>
          </a:p>
          <a:p>
            <a:pPr eaLnBrk="1" hangingPunct="1">
              <a:lnSpc>
                <a:spcPct val="90000"/>
              </a:lnSpc>
              <a:buFont typeface="Wingdings" pitchFamily="2" charset="2"/>
              <a:buNone/>
            </a:pPr>
            <a:endParaRPr lang="en-US" altLang="en-US" dirty="0"/>
          </a:p>
        </p:txBody>
      </p:sp>
      <p:sp>
        <p:nvSpPr>
          <p:cNvPr id="5" name="Rectangle 2"/>
          <p:cNvSpPr txBox="1">
            <a:spLocks noChangeArrowheads="1"/>
          </p:cNvSpPr>
          <p:nvPr/>
        </p:nvSpPr>
        <p:spPr>
          <a:xfrm>
            <a:off x="609600" y="658905"/>
            <a:ext cx="10495888" cy="1143000"/>
          </a:xfrm>
          <a:prstGeom prst="rect">
            <a:avLst/>
          </a:prstGeom>
        </p:spPr>
        <p:txBody>
          <a:bodyPr anchor="b">
            <a:normAutofit/>
          </a:bodyPr>
          <a:lstStyle>
            <a:lvl1pPr>
              <a:defRPr sz="2400">
                <a:solidFill>
                  <a:schemeClr val="tx1"/>
                </a:solidFill>
                <a:latin typeface="Verdana" pitchFamily="34" charset="0"/>
                <a:ea typeface="ＭＳ Ｐゴシック" pitchFamily="-109" charset="-128"/>
              </a:defRPr>
            </a:lvl1pPr>
            <a:lvl2pPr marL="37931725" indent="-37474525">
              <a:defRPr sz="2400">
                <a:solidFill>
                  <a:schemeClr val="tx1"/>
                </a:solidFill>
                <a:latin typeface="Verdana" pitchFamily="34" charset="0"/>
                <a:ea typeface="ＭＳ Ｐゴシック" pitchFamily="-109" charset="-128"/>
              </a:defRPr>
            </a:lvl2pPr>
            <a:lvl3pPr>
              <a:defRPr sz="2400">
                <a:solidFill>
                  <a:schemeClr val="tx1"/>
                </a:solidFill>
                <a:latin typeface="Verdana" pitchFamily="34" charset="0"/>
                <a:ea typeface="ＭＳ Ｐゴシック" pitchFamily="-109" charset="-128"/>
              </a:defRPr>
            </a:lvl3pPr>
            <a:lvl4pPr>
              <a:defRPr sz="2400">
                <a:solidFill>
                  <a:schemeClr val="tx1"/>
                </a:solidFill>
                <a:latin typeface="Verdana" pitchFamily="34" charset="0"/>
                <a:ea typeface="ＭＳ Ｐゴシック" pitchFamily="-109" charset="-128"/>
              </a:defRPr>
            </a:lvl4pPr>
            <a:lvl5pPr>
              <a:defRPr sz="2400">
                <a:solidFill>
                  <a:schemeClr val="tx1"/>
                </a:solidFill>
                <a:latin typeface="Verdana" pitchFamily="34" charset="0"/>
                <a:ea typeface="ＭＳ Ｐゴシック" pitchFamily="-109" charset="-128"/>
              </a:defRPr>
            </a:lvl5pPr>
            <a:lvl6pPr marL="457200" eaLnBrk="0" fontAlgn="base" hangingPunct="0">
              <a:spcBef>
                <a:spcPct val="0"/>
              </a:spcBef>
              <a:spcAft>
                <a:spcPct val="0"/>
              </a:spcAft>
              <a:defRPr sz="2400">
                <a:solidFill>
                  <a:schemeClr val="tx1"/>
                </a:solidFill>
                <a:latin typeface="Verdana" pitchFamily="34" charset="0"/>
                <a:ea typeface="ＭＳ Ｐゴシック" pitchFamily="-109" charset="-128"/>
              </a:defRPr>
            </a:lvl6pPr>
            <a:lvl7pPr marL="914400" eaLnBrk="0" fontAlgn="base" hangingPunct="0">
              <a:spcBef>
                <a:spcPct val="0"/>
              </a:spcBef>
              <a:spcAft>
                <a:spcPct val="0"/>
              </a:spcAft>
              <a:defRPr sz="2400">
                <a:solidFill>
                  <a:schemeClr val="tx1"/>
                </a:solidFill>
                <a:latin typeface="Verdana" pitchFamily="34" charset="0"/>
                <a:ea typeface="ＭＳ Ｐゴシック" pitchFamily="-109" charset="-128"/>
              </a:defRPr>
            </a:lvl7pPr>
            <a:lvl8pPr marL="1371600" eaLnBrk="0" fontAlgn="base" hangingPunct="0">
              <a:spcBef>
                <a:spcPct val="0"/>
              </a:spcBef>
              <a:spcAft>
                <a:spcPct val="0"/>
              </a:spcAft>
              <a:defRPr sz="2400">
                <a:solidFill>
                  <a:schemeClr val="tx1"/>
                </a:solidFill>
                <a:latin typeface="Verdana" pitchFamily="34" charset="0"/>
                <a:ea typeface="ＭＳ Ｐゴシック" pitchFamily="-109" charset="-128"/>
              </a:defRPr>
            </a:lvl8pPr>
            <a:lvl9pPr marL="1828800" eaLnBrk="0" fontAlgn="base" hangingPunct="0">
              <a:spcBef>
                <a:spcPct val="0"/>
              </a:spcBef>
              <a:spcAft>
                <a:spcPct val="0"/>
              </a:spcAft>
              <a:defRPr sz="2400">
                <a:solidFill>
                  <a:schemeClr val="tx1"/>
                </a:solidFill>
                <a:latin typeface="Verdana" pitchFamily="34" charset="0"/>
                <a:ea typeface="ＭＳ Ｐゴシック" pitchFamily="-109" charset="-128"/>
              </a:defRPr>
            </a:lvl9pPr>
          </a:lstStyle>
          <a:p>
            <a:pPr eaLnBrk="1" hangingPunct="1">
              <a:lnSpc>
                <a:spcPct val="90000"/>
              </a:lnSpc>
              <a:defRPr/>
            </a:pPr>
            <a:r>
              <a:rPr lang="en-US" sz="3300" b="1" dirty="0">
                <a:solidFill>
                  <a:schemeClr val="tx2"/>
                </a:solidFill>
                <a:latin typeface="+mn-lt"/>
              </a:rPr>
              <a:t>PERCEPTUAL SETS: STEREOTYPES </a:t>
            </a:r>
            <a:r>
              <a:rPr lang="en-US" sz="1500" b="1" dirty="0">
                <a:solidFill>
                  <a:schemeClr val="tx2"/>
                </a:solidFill>
                <a:latin typeface="+mn-lt"/>
              </a:rPr>
              <a:t>THE WAY IN WHICH WE GROUP TOGETHER PEOPLE WHO SEEM TO US TO SHARE SIMILAR CHARACTERISTICS</a:t>
            </a:r>
            <a:endParaRPr lang="en-US" sz="3300" b="1" dirty="0">
              <a:solidFill>
                <a:schemeClr val="tx2"/>
              </a:solidFill>
              <a:latin typeface="+mn-lt"/>
            </a:endParaRPr>
          </a:p>
        </p:txBody>
      </p:sp>
    </p:spTree>
    <p:extLst>
      <p:ext uri="{BB962C8B-B14F-4D97-AF65-F5344CB8AC3E}">
        <p14:creationId xmlns:p14="http://schemas.microsoft.com/office/powerpoint/2010/main" val="23388790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normAutofit/>
          </a:bodyPr>
          <a:lstStyle/>
          <a:p>
            <a:pPr marL="320040" indent="-320040" eaLnBrk="1" fontAlgn="auto" hangingPunct="1">
              <a:spcAft>
                <a:spcPts val="0"/>
              </a:spcAft>
              <a:buClr>
                <a:schemeClr val="accent6">
                  <a:lumMod val="75000"/>
                </a:schemeClr>
              </a:buClr>
              <a:defRPr/>
            </a:pPr>
            <a:r>
              <a:rPr lang="en-US" sz="3600">
                <a:ea typeface="+mj-ea"/>
                <a:cs typeface="+mj-cs"/>
              </a:rPr>
              <a:t>How Stereotypes distort Social Perceptions</a:t>
            </a:r>
          </a:p>
        </p:txBody>
      </p:sp>
      <p:sp>
        <p:nvSpPr>
          <p:cNvPr id="113667" name="Inhaltsplatzhalter 3"/>
          <p:cNvSpPr>
            <a:spLocks noGrp="1"/>
          </p:cNvSpPr>
          <p:nvPr>
            <p:ph idx="1"/>
          </p:nvPr>
        </p:nvSpPr>
        <p:spPr>
          <a:xfrm>
            <a:off x="609600" y="1828801"/>
            <a:ext cx="9956800" cy="4645025"/>
          </a:xfrm>
        </p:spPr>
        <p:txBody>
          <a:bodyPr/>
          <a:lstStyle/>
          <a:p>
            <a:pPr eaLnBrk="1" hangingPunct="1"/>
            <a:r>
              <a:rPr lang="de-DE" altLang="en-US"/>
              <a:t>Allport &amp; Postman (1947)</a:t>
            </a:r>
          </a:p>
          <a:p>
            <a:pPr eaLnBrk="1" hangingPunct="1"/>
            <a:endParaRPr lang="de-DE" altLang="en-US"/>
          </a:p>
        </p:txBody>
      </p:sp>
      <p:pic>
        <p:nvPicPr>
          <p:cNvPr id="113668" name="Picture 3" descr="C:\Documents and Settings\Jan(ine)\Desktop\Bern2\Seminare SS06\Stereotypen und Vorurteile\Materialien\Allport and Postman_pictur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392" y="1600200"/>
            <a:ext cx="10160000" cy="44942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280295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3"/>
          <p:cNvSpPr>
            <a:spLocks noGrp="1" noChangeArrowheads="1"/>
          </p:cNvSpPr>
          <p:nvPr>
            <p:ph idx="1"/>
          </p:nvPr>
        </p:nvSpPr>
        <p:spPr>
          <a:xfrm>
            <a:off x="609600" y="1729702"/>
            <a:ext cx="7739049" cy="4591724"/>
          </a:xfrm>
        </p:spPr>
        <p:txBody>
          <a:bodyPr>
            <a:normAutofit/>
          </a:bodyPr>
          <a:lstStyle/>
          <a:p>
            <a:pPr eaLnBrk="1" hangingPunct="1"/>
            <a:r>
              <a:rPr lang="en-US" altLang="en-US" sz="2400" dirty="0"/>
              <a:t>Stereotyping infers that all people within a perceived category are assumed to share the same traits or characteristics (age, race sexual orientation </a:t>
            </a:r>
            <a:r>
              <a:rPr lang="en-US" altLang="en-US" sz="2400" dirty="0" err="1"/>
              <a:t>etc</a:t>
            </a:r>
            <a:r>
              <a:rPr lang="en-US" altLang="en-US" sz="2400" dirty="0"/>
              <a:t>)</a:t>
            </a:r>
          </a:p>
          <a:p>
            <a:pPr eaLnBrk="1" hangingPunct="1"/>
            <a:endParaRPr lang="en-US" altLang="en-US" sz="1050" dirty="0"/>
          </a:p>
          <a:p>
            <a:pPr eaLnBrk="1" hangingPunct="1"/>
            <a:r>
              <a:rPr lang="en-US" altLang="en-US" sz="2400" dirty="0"/>
              <a:t>It can block out accurate perception of the individual or situation</a:t>
            </a:r>
          </a:p>
          <a:p>
            <a:pPr eaLnBrk="1" hangingPunct="1">
              <a:buFont typeface="Wingdings" pitchFamily="2" charset="2"/>
              <a:buNone/>
            </a:pPr>
            <a:endParaRPr lang="en-US" altLang="en-US" sz="1050" dirty="0"/>
          </a:p>
          <a:p>
            <a:pPr eaLnBrk="1" hangingPunct="1"/>
            <a:r>
              <a:rPr lang="en-US" altLang="en-US" sz="2400" dirty="0"/>
              <a:t>May lead to potential situations of prejudice or discrimination</a:t>
            </a:r>
          </a:p>
          <a:p>
            <a:pPr eaLnBrk="1" hangingPunct="1">
              <a:buFont typeface="Wingdings" pitchFamily="2" charset="2"/>
              <a:buNone/>
            </a:pPr>
            <a:endParaRPr lang="en-US" altLang="en-US" sz="1050" dirty="0"/>
          </a:p>
          <a:p>
            <a:pPr eaLnBrk="1" hangingPunct="1"/>
            <a:r>
              <a:rPr lang="en-US" altLang="en-US" sz="2400" dirty="0"/>
              <a:t>Consequences of attributing incorrect characteristics are extremely negative</a:t>
            </a:r>
          </a:p>
          <a:p>
            <a:pPr eaLnBrk="1" hangingPunct="1"/>
            <a:endParaRPr lang="en-US" altLang="en-US" dirty="0"/>
          </a:p>
          <a:p>
            <a:pPr eaLnBrk="1" hangingPunct="1">
              <a:lnSpc>
                <a:spcPct val="90000"/>
              </a:lnSpc>
              <a:buFont typeface="Wingdings" pitchFamily="2" charset="2"/>
              <a:buNone/>
            </a:pPr>
            <a:endParaRPr lang="en-US" altLang="en-US" dirty="0"/>
          </a:p>
        </p:txBody>
      </p:sp>
      <p:sp>
        <p:nvSpPr>
          <p:cNvPr id="115715" name="Rectangle 2"/>
          <p:cNvSpPr txBox="1">
            <a:spLocks noChangeArrowheads="1"/>
          </p:cNvSpPr>
          <p:nvPr/>
        </p:nvSpPr>
        <p:spPr bwMode="auto">
          <a:xfrm>
            <a:off x="609600" y="533400"/>
            <a:ext cx="9956800" cy="685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b"/>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eaLnBrk="1" hangingPunct="1">
              <a:lnSpc>
                <a:spcPct val="90000"/>
              </a:lnSpc>
            </a:pPr>
            <a:r>
              <a:rPr lang="en-US" altLang="en-US" sz="3300" b="1">
                <a:solidFill>
                  <a:schemeClr val="tx2"/>
                </a:solidFill>
                <a:latin typeface="Calibri" pitchFamily="34" charset="0"/>
              </a:rPr>
              <a:t>Stereotype – Social Implications</a:t>
            </a:r>
          </a:p>
        </p:txBody>
      </p:sp>
      <p:pic>
        <p:nvPicPr>
          <p:cNvPr id="2" name="Picture 1"/>
          <p:cNvPicPr>
            <a:picLocks noChangeAspect="1"/>
          </p:cNvPicPr>
          <p:nvPr/>
        </p:nvPicPr>
        <p:blipFill>
          <a:blip r:embed="rId3"/>
          <a:stretch>
            <a:fillRect/>
          </a:stretch>
        </p:blipFill>
        <p:spPr>
          <a:xfrm>
            <a:off x="7856607" y="432823"/>
            <a:ext cx="4335394" cy="5810322"/>
          </a:xfrm>
          <a:prstGeom prst="rect">
            <a:avLst/>
          </a:prstGeom>
        </p:spPr>
      </p:pic>
    </p:spTree>
    <p:extLst>
      <p:ext uri="{BB962C8B-B14F-4D97-AF65-F5344CB8AC3E}">
        <p14:creationId xmlns:p14="http://schemas.microsoft.com/office/powerpoint/2010/main" val="7897835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
            <a:ext cx="11480800" cy="1139825"/>
          </a:xfrm>
        </p:spPr>
        <p:txBody>
          <a:bodyPr/>
          <a:lstStyle/>
          <a:p>
            <a:pPr marL="320040" indent="-320040" eaLnBrk="1" fontAlgn="auto" hangingPunct="1">
              <a:spcAft>
                <a:spcPts val="0"/>
              </a:spcAft>
              <a:buClr>
                <a:schemeClr val="accent6">
                  <a:lumMod val="75000"/>
                </a:schemeClr>
              </a:buClr>
              <a:defRPr/>
            </a:pPr>
            <a:r>
              <a:rPr lang="en-US" sz="3600" dirty="0">
                <a:ea typeface="+mj-ea"/>
                <a:cs typeface="+mj-cs"/>
              </a:rPr>
              <a:t>PERCEPTUAL SETS: ATTRIBUTION</a:t>
            </a:r>
            <a:endParaRPr lang="en-IE" sz="3600" dirty="0">
              <a:ea typeface="+mj-ea"/>
              <a:cs typeface="+mj-cs"/>
            </a:endParaRPr>
          </a:p>
        </p:txBody>
      </p:sp>
      <p:sp>
        <p:nvSpPr>
          <p:cNvPr id="117763" name="Content Placeholder 2"/>
          <p:cNvSpPr>
            <a:spLocks noGrp="1"/>
          </p:cNvSpPr>
          <p:nvPr>
            <p:ph sz="half" idx="1"/>
          </p:nvPr>
        </p:nvSpPr>
        <p:spPr>
          <a:xfrm>
            <a:off x="609600" y="1736675"/>
            <a:ext cx="5384800" cy="4394251"/>
          </a:xfrm>
        </p:spPr>
        <p:txBody>
          <a:bodyPr/>
          <a:lstStyle/>
          <a:p>
            <a:pPr eaLnBrk="1" hangingPunct="1">
              <a:lnSpc>
                <a:spcPct val="80000"/>
              </a:lnSpc>
              <a:buClr>
                <a:srgbClr val="6A5650"/>
              </a:buClr>
            </a:pPr>
            <a:r>
              <a:rPr lang="en-US" altLang="en-US" b="1" dirty="0">
                <a:solidFill>
                  <a:srgbClr val="404040"/>
                </a:solidFill>
              </a:rPr>
              <a:t>Attribution theory</a:t>
            </a:r>
          </a:p>
          <a:p>
            <a:pPr lvl="1" eaLnBrk="1" hangingPunct="1">
              <a:lnSpc>
                <a:spcPct val="80000"/>
              </a:lnSpc>
              <a:buClr>
                <a:srgbClr val="6A5650"/>
              </a:buClr>
            </a:pPr>
            <a:r>
              <a:rPr lang="en-US" altLang="en-US" sz="2100" dirty="0">
                <a:solidFill>
                  <a:srgbClr val="404040"/>
                </a:solidFill>
              </a:rPr>
              <a:t>We seek to understand what caused a certain event</a:t>
            </a:r>
          </a:p>
          <a:p>
            <a:pPr lvl="1" eaLnBrk="1" hangingPunct="1">
              <a:lnSpc>
                <a:spcPct val="80000"/>
              </a:lnSpc>
              <a:buClr>
                <a:srgbClr val="6A5650"/>
              </a:buClr>
            </a:pPr>
            <a:r>
              <a:rPr lang="en-US" altLang="en-US" sz="2100" dirty="0">
                <a:solidFill>
                  <a:srgbClr val="404040"/>
                </a:solidFill>
              </a:rPr>
              <a:t>We seek to ascribe responsibility what caused a certain event</a:t>
            </a:r>
          </a:p>
          <a:p>
            <a:pPr lvl="1" eaLnBrk="1" hangingPunct="1">
              <a:lnSpc>
                <a:spcPct val="80000"/>
              </a:lnSpc>
              <a:buClr>
                <a:srgbClr val="6A5650"/>
              </a:buClr>
            </a:pPr>
            <a:r>
              <a:rPr lang="en-US" altLang="en-US" sz="2100" dirty="0">
                <a:solidFill>
                  <a:srgbClr val="404040"/>
                </a:solidFill>
              </a:rPr>
              <a:t>We seek to evaluate the personal qualities of the people involved</a:t>
            </a:r>
          </a:p>
          <a:p>
            <a:pPr lvl="1" eaLnBrk="1" hangingPunct="1">
              <a:lnSpc>
                <a:spcPct val="80000"/>
              </a:lnSpc>
              <a:buClr>
                <a:srgbClr val="6A5650"/>
              </a:buClr>
              <a:buFont typeface="Georgia" pitchFamily="18" charset="0"/>
              <a:buNone/>
            </a:pPr>
            <a:endParaRPr lang="en-US" altLang="en-US" sz="900" dirty="0">
              <a:solidFill>
                <a:srgbClr val="404040"/>
              </a:solidFill>
            </a:endParaRPr>
          </a:p>
          <a:p>
            <a:pPr lvl="1" eaLnBrk="1" hangingPunct="1">
              <a:lnSpc>
                <a:spcPct val="80000"/>
              </a:lnSpc>
              <a:buClr>
                <a:srgbClr val="6A5650"/>
              </a:buClr>
              <a:buFont typeface="Georgia" pitchFamily="18" charset="0"/>
              <a:buNone/>
            </a:pPr>
            <a:r>
              <a:rPr lang="en-US" altLang="en-US" sz="2200" b="1" dirty="0">
                <a:solidFill>
                  <a:srgbClr val="404040"/>
                </a:solidFill>
              </a:rPr>
              <a:t>Fundamental Attribution Error</a:t>
            </a:r>
          </a:p>
          <a:p>
            <a:pPr lvl="1" eaLnBrk="1" hangingPunct="1">
              <a:lnSpc>
                <a:spcPct val="80000"/>
              </a:lnSpc>
              <a:buClr>
                <a:srgbClr val="6A5650"/>
              </a:buClr>
            </a:pPr>
            <a:r>
              <a:rPr lang="en-US" altLang="en-US" sz="2100" dirty="0">
                <a:solidFill>
                  <a:srgbClr val="404040"/>
                </a:solidFill>
              </a:rPr>
              <a:t>Tendency to explain other people</a:t>
            </a:r>
            <a:r>
              <a:rPr lang="ja-JP" altLang="en-US" sz="2100" dirty="0">
                <a:solidFill>
                  <a:srgbClr val="404040"/>
                </a:solidFill>
              </a:rPr>
              <a:t>’</a:t>
            </a:r>
            <a:r>
              <a:rPr lang="en-US" altLang="ja-JP" sz="2100" dirty="0">
                <a:solidFill>
                  <a:srgbClr val="404040"/>
                </a:solidFill>
              </a:rPr>
              <a:t>s behavior based on their personality and to overlook the situation</a:t>
            </a:r>
          </a:p>
          <a:p>
            <a:pPr eaLnBrk="1" hangingPunct="1">
              <a:lnSpc>
                <a:spcPct val="80000"/>
              </a:lnSpc>
              <a:buClr>
                <a:srgbClr val="6A5650"/>
              </a:buClr>
            </a:pPr>
            <a:endParaRPr lang="en-IE" altLang="en-US" dirty="0">
              <a:solidFill>
                <a:srgbClr val="404040"/>
              </a:solidFill>
            </a:endParaRPr>
          </a:p>
        </p:txBody>
      </p:sp>
      <p:sp>
        <p:nvSpPr>
          <p:cNvPr id="117764" name="Text Placeholder 3"/>
          <p:cNvSpPr>
            <a:spLocks noGrp="1"/>
          </p:cNvSpPr>
          <p:nvPr>
            <p:ph type="body" sz="half" idx="2"/>
          </p:nvPr>
        </p:nvSpPr>
        <p:spPr>
          <a:xfrm>
            <a:off x="6197600" y="1867393"/>
            <a:ext cx="5689600" cy="3199119"/>
          </a:xfrm>
        </p:spPr>
        <p:txBody>
          <a:bodyPr/>
          <a:lstStyle/>
          <a:p>
            <a:pPr eaLnBrk="1" hangingPunct="1"/>
            <a:r>
              <a:rPr lang="en-US" altLang="en-US" dirty="0"/>
              <a:t>OUR NEED FOR EXPLAINING AND UNDERSTANDING THE WORLD AROUND US IS REFLECTED IN THE WAY IN WHICH WE SEARCH FOR THE CAUSES OF PEOPLE</a:t>
            </a:r>
            <a:r>
              <a:rPr lang="ja-JP" altLang="en-US" dirty="0"/>
              <a:t>’</a:t>
            </a:r>
            <a:r>
              <a:rPr lang="en-US" altLang="ja-JP" dirty="0"/>
              <a:t>S ACTIONS. OUR PERCEPTIONS OF CAUSALITY ARE KNOWN AS ATTRIBUTIONS</a:t>
            </a:r>
            <a:endParaRPr lang="en-IE" altLang="en-US" dirty="0"/>
          </a:p>
        </p:txBody>
      </p:sp>
      <p:pic>
        <p:nvPicPr>
          <p:cNvPr id="117765" name="Bild 3"/>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36095" y="4070916"/>
            <a:ext cx="3455905" cy="278708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7766" name="TextBox 5"/>
          <p:cNvSpPr txBox="1">
            <a:spLocks noChangeArrowheads="1"/>
          </p:cNvSpPr>
          <p:nvPr/>
        </p:nvSpPr>
        <p:spPr bwMode="auto">
          <a:xfrm>
            <a:off x="7683992" y="6488668"/>
            <a:ext cx="875022"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r>
              <a:rPr lang="en-IE" altLang="en-US" dirty="0"/>
              <a:t>Kelley</a:t>
            </a:r>
          </a:p>
        </p:txBody>
      </p:sp>
    </p:spTree>
    <p:extLst>
      <p:ext uri="{BB962C8B-B14F-4D97-AF65-F5344CB8AC3E}">
        <p14:creationId xmlns:p14="http://schemas.microsoft.com/office/powerpoint/2010/main" val="24329646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3"/>
          <p:cNvSpPr>
            <a:spLocks noGrp="1" noChangeArrowheads="1"/>
          </p:cNvSpPr>
          <p:nvPr>
            <p:ph idx="1"/>
          </p:nvPr>
        </p:nvSpPr>
        <p:spPr>
          <a:xfrm>
            <a:off x="508000" y="1755349"/>
            <a:ext cx="9956800" cy="4337477"/>
          </a:xfrm>
        </p:spPr>
        <p:txBody>
          <a:bodyPr>
            <a:normAutofit/>
          </a:bodyPr>
          <a:lstStyle/>
          <a:p>
            <a:pPr eaLnBrk="1" hangingPunct="1"/>
            <a:r>
              <a:rPr lang="en-US" altLang="en-US" sz="2400" b="1" dirty="0"/>
              <a:t>E.g. when viewing others:</a:t>
            </a:r>
          </a:p>
          <a:p>
            <a:pPr lvl="1" eaLnBrk="1" hangingPunct="1">
              <a:buFont typeface="Wingdings 2" pitchFamily="18" charset="2"/>
              <a:buNone/>
            </a:pPr>
            <a:r>
              <a:rPr lang="en-US" altLang="en-US" sz="2000" dirty="0"/>
              <a:t>We tend to explain (attribute) poor performance to internal deficiencies such as ability or effort, rather than external issues such as bad luck or poor support. </a:t>
            </a:r>
          </a:p>
          <a:p>
            <a:pPr lvl="1" eaLnBrk="1" hangingPunct="1">
              <a:buFont typeface="Wingdings 2" pitchFamily="18" charset="2"/>
              <a:buNone/>
            </a:pPr>
            <a:endParaRPr lang="en-US" altLang="en-US" sz="2000" dirty="0"/>
          </a:p>
          <a:p>
            <a:pPr lvl="1" eaLnBrk="1" hangingPunct="1">
              <a:buFont typeface="Wingdings 2" pitchFamily="18" charset="2"/>
              <a:buNone/>
            </a:pPr>
            <a:r>
              <a:rPr lang="en-US" altLang="en-US" sz="2000" dirty="0"/>
              <a:t>BUT WHEN ASKING THE SAME QUESTIONS OF OURSELVES …</a:t>
            </a:r>
          </a:p>
          <a:p>
            <a:pPr lvl="1" eaLnBrk="1" hangingPunct="1"/>
            <a:endParaRPr lang="en-US" altLang="en-US" sz="2000" dirty="0"/>
          </a:p>
          <a:p>
            <a:pPr eaLnBrk="1" hangingPunct="1"/>
            <a:r>
              <a:rPr lang="en-US" altLang="en-US" sz="2400" b="1" dirty="0"/>
              <a:t>Research: </a:t>
            </a:r>
          </a:p>
          <a:p>
            <a:pPr eaLnBrk="1" hangingPunct="1">
              <a:buFont typeface="Wingdings" pitchFamily="2" charset="2"/>
              <a:buNone/>
            </a:pPr>
            <a:r>
              <a:rPr lang="en-US" altLang="en-US" sz="2400" dirty="0"/>
              <a:t>	Sex and appearance influence the way in which we are perceived, paid and promoted (…hourly wage of overweight women was 20% lower on average than that of woman of average weight (</a:t>
            </a:r>
            <a:r>
              <a:rPr lang="en-US" altLang="en-US" sz="2400" dirty="0" err="1"/>
              <a:t>Averett</a:t>
            </a:r>
            <a:r>
              <a:rPr lang="en-US" altLang="en-US" sz="2400" dirty="0"/>
              <a:t> &amp; </a:t>
            </a:r>
            <a:r>
              <a:rPr lang="en-US" altLang="en-US" sz="2400" dirty="0" err="1"/>
              <a:t>Korenman</a:t>
            </a:r>
            <a:r>
              <a:rPr lang="en-US" altLang="en-US" sz="2400" dirty="0"/>
              <a:t>, 1993)</a:t>
            </a:r>
          </a:p>
        </p:txBody>
      </p:sp>
      <p:sp>
        <p:nvSpPr>
          <p:cNvPr id="119811" name="Rectangle 2"/>
          <p:cNvSpPr>
            <a:spLocks noChangeArrowheads="1"/>
          </p:cNvSpPr>
          <p:nvPr/>
        </p:nvSpPr>
        <p:spPr bwMode="auto">
          <a:xfrm>
            <a:off x="508000" y="533400"/>
            <a:ext cx="9956800" cy="609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b"/>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eaLnBrk="1" hangingPunct="1"/>
            <a:br>
              <a:rPr lang="en-US" altLang="en-US" sz="3200" b="1">
                <a:solidFill>
                  <a:schemeClr val="tx2"/>
                </a:solidFill>
                <a:latin typeface="Century Schoolbook" pitchFamily="18" charset="0"/>
              </a:rPr>
            </a:br>
            <a:br>
              <a:rPr lang="en-US" altLang="en-US" sz="3200" b="1">
                <a:solidFill>
                  <a:schemeClr val="tx2"/>
                </a:solidFill>
                <a:latin typeface="Century Schoolbook" pitchFamily="18" charset="0"/>
              </a:rPr>
            </a:br>
            <a:br>
              <a:rPr lang="en-US" altLang="en-US" sz="3200" b="1">
                <a:solidFill>
                  <a:schemeClr val="tx2"/>
                </a:solidFill>
                <a:latin typeface="Century Schoolbook" pitchFamily="18" charset="0"/>
              </a:rPr>
            </a:br>
            <a:br>
              <a:rPr lang="en-US" altLang="en-US" sz="3200" b="1">
                <a:solidFill>
                  <a:schemeClr val="tx2"/>
                </a:solidFill>
                <a:latin typeface="Century Schoolbook" pitchFamily="18" charset="0"/>
              </a:rPr>
            </a:br>
            <a:br>
              <a:rPr lang="en-US" altLang="en-US" sz="3200" b="1">
                <a:solidFill>
                  <a:schemeClr val="tx2"/>
                </a:solidFill>
                <a:latin typeface="Century Schoolbook" pitchFamily="18" charset="0"/>
              </a:rPr>
            </a:br>
            <a:br>
              <a:rPr lang="en-US" altLang="en-US" sz="3200" b="1">
                <a:solidFill>
                  <a:schemeClr val="tx2"/>
                </a:solidFill>
                <a:latin typeface="Century Schoolbook" pitchFamily="18" charset="0"/>
              </a:rPr>
            </a:br>
            <a:r>
              <a:rPr lang="en-US" altLang="en-US" sz="3200" b="1">
                <a:solidFill>
                  <a:schemeClr val="tx2"/>
                </a:solidFill>
                <a:latin typeface="Calibri" pitchFamily="34" charset="0"/>
              </a:rPr>
              <a:t>PERCEPTUAL SETS: ATTRIBUTION</a:t>
            </a:r>
          </a:p>
        </p:txBody>
      </p:sp>
    </p:spTree>
    <p:extLst>
      <p:ext uri="{BB962C8B-B14F-4D97-AF65-F5344CB8AC3E}">
        <p14:creationId xmlns:p14="http://schemas.microsoft.com/office/powerpoint/2010/main" val="33208221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normAutofit/>
          </a:bodyPr>
          <a:lstStyle/>
          <a:p>
            <a:pPr marL="320040" indent="-320040" eaLnBrk="1" fontAlgn="auto" hangingPunct="1">
              <a:spcAft>
                <a:spcPts val="0"/>
              </a:spcAft>
              <a:buClr>
                <a:schemeClr val="accent6">
                  <a:lumMod val="75000"/>
                </a:schemeClr>
              </a:buClr>
              <a:defRPr/>
            </a:pPr>
            <a:r>
              <a:rPr lang="en-US">
                <a:ea typeface="+mj-ea"/>
                <a:cs typeface="+mj-cs"/>
              </a:rPr>
              <a:t>SOURCES OF PERCEPTUAL ERRORS SUMMARIZED</a:t>
            </a:r>
          </a:p>
        </p:txBody>
      </p:sp>
      <p:sp>
        <p:nvSpPr>
          <p:cNvPr id="121859" name="Rectangle 3"/>
          <p:cNvSpPr>
            <a:spLocks noGrp="1" noChangeArrowheads="1"/>
          </p:cNvSpPr>
          <p:nvPr>
            <p:ph idx="1"/>
          </p:nvPr>
        </p:nvSpPr>
        <p:spPr/>
        <p:txBody>
          <a:bodyPr/>
          <a:lstStyle/>
          <a:p>
            <a:pPr eaLnBrk="1" hangingPunct="1"/>
            <a:r>
              <a:rPr lang="en-US" altLang="en-US"/>
              <a:t>Not collecting enough information</a:t>
            </a:r>
          </a:p>
          <a:p>
            <a:pPr eaLnBrk="1" hangingPunct="1"/>
            <a:r>
              <a:rPr lang="en-US" altLang="en-US"/>
              <a:t>Using irrelevant information</a:t>
            </a:r>
          </a:p>
          <a:p>
            <a:pPr eaLnBrk="1" hangingPunct="1"/>
            <a:r>
              <a:rPr lang="en-US" altLang="en-US"/>
              <a:t>Seeing only what we expect</a:t>
            </a:r>
          </a:p>
          <a:p>
            <a:pPr eaLnBrk="1" hangingPunct="1"/>
            <a:r>
              <a:rPr lang="en-US" altLang="en-US"/>
              <a:t>Allowing early information to influence perception of later information</a:t>
            </a:r>
          </a:p>
          <a:p>
            <a:pPr eaLnBrk="1" hangingPunct="1"/>
            <a:r>
              <a:rPr lang="en-US" altLang="en-US"/>
              <a:t>Allowing one</a:t>
            </a:r>
            <a:r>
              <a:rPr lang="ja-JP" altLang="en-US"/>
              <a:t>’</a:t>
            </a:r>
            <a:r>
              <a:rPr lang="en-US" altLang="ja-JP"/>
              <a:t>s own characteristics influence the way we perceive others</a:t>
            </a:r>
          </a:p>
          <a:p>
            <a:pPr eaLnBrk="1" hangingPunct="1"/>
            <a:r>
              <a:rPr lang="en-US" altLang="en-US"/>
              <a:t>Accepting stereotypes uncritically </a:t>
            </a:r>
          </a:p>
        </p:txBody>
      </p:sp>
    </p:spTree>
    <p:extLst>
      <p:ext uri="{BB962C8B-B14F-4D97-AF65-F5344CB8AC3E}">
        <p14:creationId xmlns:p14="http://schemas.microsoft.com/office/powerpoint/2010/main" val="7969401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normAutofit/>
          </a:bodyPr>
          <a:lstStyle/>
          <a:p>
            <a:pPr marL="320040" indent="-320040" eaLnBrk="1" fontAlgn="auto" hangingPunct="1">
              <a:spcAft>
                <a:spcPts val="0"/>
              </a:spcAft>
              <a:buClr>
                <a:schemeClr val="accent6">
                  <a:lumMod val="75000"/>
                </a:schemeClr>
              </a:buClr>
              <a:defRPr/>
            </a:pPr>
            <a:r>
              <a:rPr lang="en-US">
                <a:ea typeface="+mj-ea"/>
                <a:cs typeface="+mj-cs"/>
              </a:rPr>
              <a:t>HOW TO AVOID PERCEPTUAL ERRORS</a:t>
            </a:r>
          </a:p>
        </p:txBody>
      </p:sp>
      <p:sp>
        <p:nvSpPr>
          <p:cNvPr id="123907" name="Rectangle 3"/>
          <p:cNvSpPr>
            <a:spLocks noGrp="1" noChangeArrowheads="1"/>
          </p:cNvSpPr>
          <p:nvPr>
            <p:ph idx="1"/>
          </p:nvPr>
        </p:nvSpPr>
        <p:spPr/>
        <p:txBody>
          <a:bodyPr/>
          <a:lstStyle/>
          <a:p>
            <a:pPr eaLnBrk="1" hangingPunct="1"/>
            <a:r>
              <a:rPr lang="en-US" altLang="en-US"/>
              <a:t>Take time: avoid making snap judgments</a:t>
            </a:r>
          </a:p>
          <a:p>
            <a:pPr eaLnBrk="1" hangingPunct="1"/>
            <a:r>
              <a:rPr lang="en-US" altLang="en-US"/>
              <a:t>Consciously collect more information about people</a:t>
            </a:r>
          </a:p>
          <a:p>
            <a:pPr eaLnBrk="1" hangingPunct="1"/>
            <a:r>
              <a:rPr lang="en-US" altLang="en-US"/>
              <a:t>Delay making final decisions about people</a:t>
            </a:r>
          </a:p>
          <a:p>
            <a:pPr eaLnBrk="1" hangingPunct="1"/>
            <a:r>
              <a:rPr lang="en-US" altLang="en-US"/>
              <a:t>Develop personal awareness (awareness of own biases, stereotyped ideas, thoughts and behaviours </a:t>
            </a:r>
          </a:p>
          <a:p>
            <a:pPr eaLnBrk="1" hangingPunct="1"/>
            <a:r>
              <a:rPr lang="en-US" altLang="en-US"/>
              <a:t>Compassion  </a:t>
            </a:r>
          </a:p>
        </p:txBody>
      </p:sp>
    </p:spTree>
    <p:extLst>
      <p:ext uri="{BB962C8B-B14F-4D97-AF65-F5344CB8AC3E}">
        <p14:creationId xmlns:p14="http://schemas.microsoft.com/office/powerpoint/2010/main" val="8628545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6400" y="152401"/>
            <a:ext cx="10972800" cy="1139825"/>
          </a:xfrm>
        </p:spPr>
        <p:txBody>
          <a:bodyPr/>
          <a:lstStyle/>
          <a:p>
            <a:pPr marL="320040" indent="-320040" eaLnBrk="1" fontAlgn="auto" hangingPunct="1">
              <a:spcAft>
                <a:spcPts val="0"/>
              </a:spcAft>
              <a:buClr>
                <a:schemeClr val="accent6">
                  <a:lumMod val="75000"/>
                </a:schemeClr>
              </a:buClr>
              <a:defRPr/>
            </a:pPr>
            <a:r>
              <a:rPr lang="en-IE" dirty="0">
                <a:ea typeface="+mj-ea"/>
                <a:cs typeface="+mj-cs"/>
              </a:rPr>
              <a:t>One final Illusion</a:t>
            </a:r>
          </a:p>
        </p:txBody>
      </p:sp>
      <p:sp>
        <p:nvSpPr>
          <p:cNvPr id="125955" name="Text Placeholder 2"/>
          <p:cNvSpPr>
            <a:spLocks noGrp="1"/>
          </p:cNvSpPr>
          <p:nvPr>
            <p:ph type="body" sz="half" idx="1"/>
          </p:nvPr>
        </p:nvSpPr>
        <p:spPr/>
        <p:txBody>
          <a:bodyPr>
            <a:normAutofit/>
          </a:bodyPr>
          <a:lstStyle/>
          <a:p>
            <a:pPr marL="0" indent="0" eaLnBrk="1" hangingPunct="1">
              <a:buFont typeface="Georgia" pitchFamily="18" charset="0"/>
              <a:buNone/>
            </a:pPr>
            <a:endParaRPr lang="en-US" altLang="en-US" sz="3600" dirty="0">
              <a:solidFill>
                <a:srgbClr val="212745"/>
              </a:solidFill>
            </a:endParaRPr>
          </a:p>
        </p:txBody>
      </p:sp>
      <p:sp>
        <p:nvSpPr>
          <p:cNvPr id="125956" name="Content Placeholder 5"/>
          <p:cNvSpPr>
            <a:spLocks noGrp="1"/>
          </p:cNvSpPr>
          <p:nvPr>
            <p:ph sz="half" idx="2"/>
          </p:nvPr>
        </p:nvSpPr>
        <p:spPr>
          <a:xfrm>
            <a:off x="6197600" y="1600201"/>
            <a:ext cx="4506912" cy="4530725"/>
          </a:xfrm>
        </p:spPr>
        <p:txBody>
          <a:bodyPr>
            <a:normAutofit/>
          </a:bodyPr>
          <a:lstStyle/>
          <a:p>
            <a:pPr eaLnBrk="1" hangingPunct="1"/>
            <a:r>
              <a:rPr lang="en-IE" altLang="en-US" dirty="0">
                <a:hlinkClick r:id="rId3"/>
              </a:rPr>
              <a:t>http://www.maniacworld.com/Spinning-Silhouette-Optical-Illusion.html</a:t>
            </a:r>
            <a:endParaRPr lang="en-IE" altLang="en-US" dirty="0"/>
          </a:p>
          <a:p>
            <a:pPr eaLnBrk="1" hangingPunct="1"/>
            <a:endParaRPr lang="en-IE" altLang="en-US" dirty="0"/>
          </a:p>
          <a:p>
            <a:pPr eaLnBrk="1" hangingPunct="1"/>
            <a:r>
              <a:rPr lang="en-IE" altLang="en-US" dirty="0">
                <a:hlinkClick r:id="rId4"/>
              </a:rPr>
              <a:t>http://www.moillusions.com/wp-content/uploads/i207.photobucket.com/albums/bb234/vurdlak8/2007b.gif</a:t>
            </a:r>
            <a:endParaRPr lang="en-IE" altLang="en-US" dirty="0"/>
          </a:p>
          <a:p>
            <a:pPr eaLnBrk="1" hangingPunct="1"/>
            <a:endParaRPr lang="en-IE" altLang="en-US" dirty="0"/>
          </a:p>
          <a:p>
            <a:pPr eaLnBrk="1" hangingPunct="1"/>
            <a:r>
              <a:rPr lang="en-IE" altLang="en-US" dirty="0"/>
              <a:t>CRASH COURSE: </a:t>
            </a:r>
          </a:p>
          <a:p>
            <a:r>
              <a:rPr lang="en-IE" altLang="en-US" dirty="0"/>
              <a:t>https://www.youtube.com/watch?v=n46umYA_4dM</a:t>
            </a:r>
          </a:p>
        </p:txBody>
      </p:sp>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5414" y="1628800"/>
            <a:ext cx="4512501" cy="4512501"/>
          </a:xfrm>
          <a:prstGeom prst="rect">
            <a:avLst/>
          </a:prstGeom>
        </p:spPr>
      </p:pic>
    </p:spTree>
    <p:extLst>
      <p:ext uri="{BB962C8B-B14F-4D97-AF65-F5344CB8AC3E}">
        <p14:creationId xmlns:p14="http://schemas.microsoft.com/office/powerpoint/2010/main" val="41637029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half" idx="2"/>
          </p:nvPr>
        </p:nvSpPr>
        <p:spPr/>
        <p:txBody>
          <a:bodyPr/>
          <a:lstStyle/>
          <a:p>
            <a:endParaRPr lang="en-IE" dirty="0"/>
          </a:p>
          <a:p>
            <a:endParaRPr lang="en-IE" dirty="0"/>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30310" y="1146219"/>
            <a:ext cx="3447203" cy="3447203"/>
          </a:xfrm>
          <a:prstGeom prst="rect">
            <a:avLst/>
          </a:prstGeom>
        </p:spPr>
      </p:pic>
      <p:sp>
        <p:nvSpPr>
          <p:cNvPr id="8" name="Title 2"/>
          <p:cNvSpPr>
            <a:spLocks noGrp="1"/>
          </p:cNvSpPr>
          <p:nvPr>
            <p:ph type="title"/>
          </p:nvPr>
        </p:nvSpPr>
        <p:spPr/>
        <p:txBody>
          <a:bodyPr/>
          <a:lstStyle/>
          <a:p>
            <a:pPr algn="ctr"/>
            <a:r>
              <a:rPr lang="en-IE" dirty="0"/>
              <a:t>Thank you for listening</a:t>
            </a:r>
          </a:p>
        </p:txBody>
      </p:sp>
      <p:pic>
        <p:nvPicPr>
          <p:cNvPr id="9" name="Picture 8" descr="Image result for tu dublin logo">
            <a:extLst>
              <a:ext uri="{FF2B5EF4-FFF2-40B4-BE49-F238E27FC236}">
                <a16:creationId xmlns:a16="http://schemas.microsoft.com/office/drawing/2014/main" id="{FA65336A-D1B3-4ACE-B3B5-7771CA5365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96425" y="52655"/>
            <a:ext cx="2695575" cy="1695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7421863"/>
      </p:ext>
    </p:extLst>
  </p:cSld>
  <p:clrMapOvr>
    <a:masterClrMapping/>
  </p:clrMapOvr>
</p:sld>
</file>

<file path=ppt/theme/theme1.xml><?xml version="1.0" encoding="utf-8"?>
<a:theme xmlns:a="http://schemas.openxmlformats.org/drawingml/2006/main" name="Retrospec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1580</TotalTime>
  <Words>4328</Words>
  <Application>Microsoft Office PowerPoint</Application>
  <PresentationFormat>Widescreen</PresentationFormat>
  <Paragraphs>430</Paragraphs>
  <Slides>35</Slides>
  <Notes>34</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35</vt:i4>
      </vt:variant>
    </vt:vector>
  </HeadingPairs>
  <TitlesOfParts>
    <vt:vector size="48" baseType="lpstr">
      <vt:lpstr>ＭＳ Ｐゴシック</vt:lpstr>
      <vt:lpstr>ＭＳ Ｐゴシック</vt:lpstr>
      <vt:lpstr>Arial</vt:lpstr>
      <vt:lpstr>Calibri</vt:lpstr>
      <vt:lpstr>Calibri Light</vt:lpstr>
      <vt:lpstr>Century Schoolbook</vt:lpstr>
      <vt:lpstr>Georgia</vt:lpstr>
      <vt:lpstr>Times New Roman</vt:lpstr>
      <vt:lpstr>Verdana</vt:lpstr>
      <vt:lpstr>Wingdings</vt:lpstr>
      <vt:lpstr>Wingdings 2</vt:lpstr>
      <vt:lpstr>Wingdings 3</vt:lpstr>
      <vt:lpstr>Retrospect</vt:lpstr>
      <vt:lpstr>3. Perception</vt:lpstr>
      <vt:lpstr>Some fun exercises </vt:lpstr>
      <vt:lpstr>Perception: Learning outcomes</vt:lpstr>
      <vt:lpstr>How many legs does the elephant have?</vt:lpstr>
      <vt:lpstr>Blivet illusion </vt:lpstr>
      <vt:lpstr>WHAT DO YOU SEE?</vt:lpstr>
      <vt:lpstr>WHAT DO YOU SEE?</vt:lpstr>
      <vt:lpstr> INTRODUCTION</vt:lpstr>
      <vt:lpstr> EXPLANATION</vt:lpstr>
      <vt:lpstr>MORE ILLUSIONS</vt:lpstr>
      <vt:lpstr>PERCEPTION DEFINED</vt:lpstr>
      <vt:lpstr>PROCESS OF PERCEPTION</vt:lpstr>
      <vt:lpstr>SUMMARY: PROCESS OF PERCEPTION</vt:lpstr>
      <vt:lpstr>What do you see here?</vt:lpstr>
      <vt:lpstr>SELECTIVE ATTENTION</vt:lpstr>
      <vt:lpstr>PowerPoint Presentation</vt:lpstr>
      <vt:lpstr>PowerPoint Presentation</vt:lpstr>
      <vt:lpstr>SELECTIVITY IN PERCEPTION</vt:lpstr>
      <vt:lpstr>Levels of Analysis  The Visual Experience</vt:lpstr>
      <vt:lpstr>PERCEPTUAL ORGANIZATION: THE PROCESS THROUGH WHICH INCOMING STIMULI ARE ORGANIZED IN SYSTEMATIC AND MEANINGFUL WAYS</vt:lpstr>
      <vt:lpstr>PERCEPTUAL SETS AND PERCEPTUAL WORLDS</vt:lpstr>
      <vt:lpstr>Exercise: Legally Blonde!!</vt:lpstr>
      <vt:lpstr>PERCEPTUAL SETS: HALO EFFECT</vt:lpstr>
      <vt:lpstr>Halo effect: Examples </vt:lpstr>
      <vt:lpstr>Problems with the Selection Interview</vt:lpstr>
      <vt:lpstr>WHY JOB APPLICANTS ARE NOT HIRED</vt:lpstr>
      <vt:lpstr>PowerPoint Presentation</vt:lpstr>
      <vt:lpstr>How Stereotypes distort Social Perceptions</vt:lpstr>
      <vt:lpstr>PowerPoint Presentation</vt:lpstr>
      <vt:lpstr>PERCEPTUAL SETS: ATTRIBUTION</vt:lpstr>
      <vt:lpstr>PowerPoint Presentation</vt:lpstr>
      <vt:lpstr>SOURCES OF PERCEPTUAL ERRORS SUMMARIZED</vt:lpstr>
      <vt:lpstr>HOW TO AVOID PERCEPTUAL ERRORS</vt:lpstr>
      <vt:lpstr>One final Illusion</vt:lpstr>
      <vt:lpstr>Thank you for listening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Mary Kinahan</dc:creator>
  <cp:lastModifiedBy>Mary Kinahan</cp:lastModifiedBy>
  <cp:revision>139</cp:revision>
  <cp:lastPrinted>2015-11-24T11:04:59Z</cp:lastPrinted>
  <dcterms:created xsi:type="dcterms:W3CDTF">2015-09-13T13:05:11Z</dcterms:created>
  <dcterms:modified xsi:type="dcterms:W3CDTF">2021-09-28T20:49:00Z</dcterms:modified>
</cp:coreProperties>
</file>