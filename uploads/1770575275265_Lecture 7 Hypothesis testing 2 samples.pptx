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90"/>
  </p:notesMasterIdLst>
  <p:handoutMasterIdLst>
    <p:handoutMasterId r:id="rId91"/>
  </p:handoutMasterIdLst>
  <p:sldIdLst>
    <p:sldId id="330" r:id="rId3"/>
    <p:sldId id="456" r:id="rId4"/>
    <p:sldId id="400" r:id="rId5"/>
    <p:sldId id="449" r:id="rId6"/>
    <p:sldId id="457" r:id="rId7"/>
    <p:sldId id="458" r:id="rId8"/>
    <p:sldId id="459" r:id="rId9"/>
    <p:sldId id="460" r:id="rId10"/>
    <p:sldId id="481" r:id="rId11"/>
    <p:sldId id="461" r:id="rId12"/>
    <p:sldId id="482" r:id="rId13"/>
    <p:sldId id="462" r:id="rId14"/>
    <p:sldId id="463" r:id="rId15"/>
    <p:sldId id="483" r:id="rId16"/>
    <p:sldId id="464" r:id="rId17"/>
    <p:sldId id="465" r:id="rId18"/>
    <p:sldId id="484" r:id="rId19"/>
    <p:sldId id="485" r:id="rId20"/>
    <p:sldId id="466" r:id="rId21"/>
    <p:sldId id="467" r:id="rId22"/>
    <p:sldId id="486" r:id="rId23"/>
    <p:sldId id="487" r:id="rId24"/>
    <p:sldId id="468" r:id="rId25"/>
    <p:sldId id="469" r:id="rId26"/>
    <p:sldId id="489" r:id="rId27"/>
    <p:sldId id="491" r:id="rId28"/>
    <p:sldId id="493" r:id="rId29"/>
    <p:sldId id="494" r:id="rId30"/>
    <p:sldId id="495" r:id="rId31"/>
    <p:sldId id="512" r:id="rId32"/>
    <p:sldId id="513" r:id="rId33"/>
    <p:sldId id="514" r:id="rId34"/>
    <p:sldId id="515" r:id="rId35"/>
    <p:sldId id="516" r:id="rId36"/>
    <p:sldId id="517" r:id="rId37"/>
    <p:sldId id="518" r:id="rId38"/>
    <p:sldId id="519" r:id="rId39"/>
    <p:sldId id="520" r:id="rId40"/>
    <p:sldId id="521" r:id="rId41"/>
    <p:sldId id="522" r:id="rId42"/>
    <p:sldId id="526" r:id="rId43"/>
    <p:sldId id="527" r:id="rId44"/>
    <p:sldId id="528" r:id="rId45"/>
    <p:sldId id="523" r:id="rId46"/>
    <p:sldId id="524" r:id="rId47"/>
    <p:sldId id="525" r:id="rId48"/>
    <p:sldId id="531" r:id="rId49"/>
    <p:sldId id="533" r:id="rId50"/>
    <p:sldId id="544" r:id="rId51"/>
    <p:sldId id="546" r:id="rId52"/>
    <p:sldId id="548" r:id="rId53"/>
    <p:sldId id="549" r:id="rId54"/>
    <p:sldId id="545" r:id="rId55"/>
    <p:sldId id="550" r:id="rId56"/>
    <p:sldId id="551" r:id="rId57"/>
    <p:sldId id="552" r:id="rId58"/>
    <p:sldId id="553" r:id="rId59"/>
    <p:sldId id="557" r:id="rId60"/>
    <p:sldId id="558" r:id="rId61"/>
    <p:sldId id="554" r:id="rId62"/>
    <p:sldId id="555" r:id="rId63"/>
    <p:sldId id="556" r:id="rId64"/>
    <p:sldId id="559" r:id="rId65"/>
    <p:sldId id="560" r:id="rId66"/>
    <p:sldId id="561" r:id="rId67"/>
    <p:sldId id="562" r:id="rId68"/>
    <p:sldId id="563" r:id="rId69"/>
    <p:sldId id="564" r:id="rId70"/>
    <p:sldId id="565" r:id="rId71"/>
    <p:sldId id="568" r:id="rId72"/>
    <p:sldId id="569" r:id="rId73"/>
    <p:sldId id="570" r:id="rId74"/>
    <p:sldId id="571" r:id="rId75"/>
    <p:sldId id="479" r:id="rId76"/>
    <p:sldId id="480" r:id="rId77"/>
    <p:sldId id="572" r:id="rId78"/>
    <p:sldId id="573" r:id="rId79"/>
    <p:sldId id="574" r:id="rId80"/>
    <p:sldId id="575" r:id="rId81"/>
    <p:sldId id="576" r:id="rId82"/>
    <p:sldId id="488" r:id="rId83"/>
    <p:sldId id="577" r:id="rId84"/>
    <p:sldId id="578" r:id="rId85"/>
    <p:sldId id="579" r:id="rId86"/>
    <p:sldId id="580" r:id="rId87"/>
    <p:sldId id="492" r:id="rId88"/>
    <p:sldId id="581" r:id="rId89"/>
  </p:sldIdLst>
  <p:sldSz cx="9144000" cy="6858000" type="screen4x3"/>
  <p:notesSz cx="6858000" cy="9144000"/>
  <p:embeddedFontLst>
    <p:embeddedFont>
      <p:font typeface="Noto Sans Symbols" panose="020B0604020202020204" charset="0"/>
      <p:regular r:id="rId92"/>
      <p:bold r:id="rId93"/>
      <p:italic r:id="rId94"/>
      <p:boldItalic r:id="rId95"/>
    </p:embeddedFont>
    <p:embeddedFont>
      <p:font typeface="Verdana" panose="020B0604030504040204" pitchFamily="34" charset="0"/>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72"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19" autoAdjust="0"/>
    <p:restoredTop sz="66618" autoAdjust="0"/>
  </p:normalViewPr>
  <p:slideViewPr>
    <p:cSldViewPr snapToGrid="0" snapToObjects="1">
      <p:cViewPr varScale="1">
        <p:scale>
          <a:sx n="54" d="100"/>
          <a:sy n="54" d="100"/>
        </p:scale>
        <p:origin x="2093" y="48"/>
      </p:cViewPr>
      <p:guideLst>
        <p:guide orient="horz" pos="3997"/>
        <p:guide pos="272"/>
        <p:guide orient="horz" pos="4178"/>
        <p:guide orient="horz" pos="119"/>
        <p:guide orient="horz" pos="822"/>
        <p:guide orient="horz" pos="981"/>
      </p:guideLst>
    </p:cSldViewPr>
  </p:slideViewPr>
  <p:outlineViewPr>
    <p:cViewPr>
      <p:scale>
        <a:sx n="33" d="100"/>
        <a:sy n="33" d="100"/>
      </p:scale>
      <p:origin x="0" y="-14244"/>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notesMaster" Target="notesMasters/notesMaster1.xml"/><Relationship Id="rId95" Type="http://schemas.openxmlformats.org/officeDocument/2006/relationships/font" Target="fonts/font4.fnt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handoutMaster" Target="handoutMasters/handoutMaster1.xml"/><Relationship Id="rId9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font" Target="fonts/font3.fntdata"/><Relationship Id="rId99" Type="http://schemas.openxmlformats.org/officeDocument/2006/relationships/font" Target="fonts/font8.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6.fntdata"/><Relationship Id="rId104"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commentAuthors" Target="commentAuthors.xml"/><Relationship Id="rId105"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2.fntdata"/><Relationship Id="rId98" Type="http://schemas.openxmlformats.org/officeDocument/2006/relationships/font" Target="fonts/font7.fntdata"/><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ham Rahoui" userId="12f6e3ec-d62c-484d-abcf-636c0b4f5525" providerId="ADAL" clId="{81603511-C128-428A-8D02-39D89F2FA07B}"/>
    <pc:docChg chg="modSld">
      <pc:chgData name="Siham Rahoui" userId="12f6e3ec-d62c-484d-abcf-636c0b4f5525" providerId="ADAL" clId="{81603511-C128-428A-8D02-39D89F2FA07B}" dt="2024-04-23T22:19:40.588" v="18" actId="20577"/>
      <pc:docMkLst>
        <pc:docMk/>
      </pc:docMkLst>
      <pc:sldChg chg="modSp mod">
        <pc:chgData name="Siham Rahoui" userId="12f6e3ec-d62c-484d-abcf-636c0b4f5525" providerId="ADAL" clId="{81603511-C128-428A-8D02-39D89F2FA07B}" dt="2024-04-23T22:19:40.588" v="18" actId="20577"/>
        <pc:sldMkLst>
          <pc:docMk/>
          <pc:sldMk cId="3814733843" sldId="449"/>
        </pc:sldMkLst>
        <pc:spChg chg="mod">
          <ac:chgData name="Siham Rahoui" userId="12f6e3ec-d62c-484d-abcf-636c0b4f5525" providerId="ADAL" clId="{81603511-C128-428A-8D02-39D89F2FA07B}" dt="2024-04-23T22:19:40.588" v="18" actId="20577"/>
          <ac:spMkLst>
            <pc:docMk/>
            <pc:sldMk cId="3814733843" sldId="449"/>
            <ac:spMk id="2" creationId="{00000000-0000-0000-0000-000000000000}"/>
          </ac:spMkLst>
        </pc:spChg>
      </pc:sldChg>
    </pc:docChg>
  </pc:docChgLst>
  <pc:docChgLst>
    <pc:chgData name="Siham Rahoui" userId="12f6e3ec-d62c-484d-abcf-636c0b4f5525" providerId="ADAL" clId="{5B510825-D2CA-488B-908A-81B8943F39BF}"/>
    <pc:docChg chg="custSel modSld">
      <pc:chgData name="Siham Rahoui" userId="12f6e3ec-d62c-484d-abcf-636c0b4f5525" providerId="ADAL" clId="{5B510825-D2CA-488B-908A-81B8943F39BF}" dt="2023-04-19T08:48:26.113" v="13" actId="313"/>
      <pc:docMkLst>
        <pc:docMk/>
      </pc:docMkLst>
      <pc:sldChg chg="modSp mod">
        <pc:chgData name="Siham Rahoui" userId="12f6e3ec-d62c-484d-abcf-636c0b4f5525" providerId="ADAL" clId="{5B510825-D2CA-488B-908A-81B8943F39BF}" dt="2023-04-19T08:47:20.336" v="4" actId="313"/>
        <pc:sldMkLst>
          <pc:docMk/>
          <pc:sldMk cId="3814733843" sldId="449"/>
        </pc:sldMkLst>
        <pc:spChg chg="mod">
          <ac:chgData name="Siham Rahoui" userId="12f6e3ec-d62c-484d-abcf-636c0b4f5525" providerId="ADAL" clId="{5B510825-D2CA-488B-908A-81B8943F39BF}" dt="2023-04-19T08:47:20.336" v="4" actId="313"/>
          <ac:spMkLst>
            <pc:docMk/>
            <pc:sldMk cId="3814733843" sldId="449"/>
            <ac:spMk id="2" creationId="{00000000-0000-0000-0000-000000000000}"/>
          </ac:spMkLst>
        </pc:spChg>
      </pc:sldChg>
      <pc:sldChg chg="modSp mod">
        <pc:chgData name="Siham Rahoui" userId="12f6e3ec-d62c-484d-abcf-636c0b4f5525" providerId="ADAL" clId="{5B510825-D2CA-488B-908A-81B8943F39BF}" dt="2023-04-19T08:47:18.124" v="3" actId="313"/>
        <pc:sldMkLst>
          <pc:docMk/>
          <pc:sldMk cId="4275085742" sldId="456"/>
        </pc:sldMkLst>
        <pc:spChg chg="mod">
          <ac:chgData name="Siham Rahoui" userId="12f6e3ec-d62c-484d-abcf-636c0b4f5525" providerId="ADAL" clId="{5B510825-D2CA-488B-908A-81B8943F39BF}" dt="2023-04-19T08:47:15.644" v="0" actId="313"/>
          <ac:spMkLst>
            <pc:docMk/>
            <pc:sldMk cId="4275085742" sldId="456"/>
            <ac:spMk id="6" creationId="{00000000-0000-0000-0000-000000000000}"/>
          </ac:spMkLst>
        </pc:spChg>
        <pc:spChg chg="mod">
          <ac:chgData name="Siham Rahoui" userId="12f6e3ec-d62c-484d-abcf-636c0b4f5525" providerId="ADAL" clId="{5B510825-D2CA-488B-908A-81B8943F39BF}" dt="2023-04-19T08:47:16.752" v="1" actId="313"/>
          <ac:spMkLst>
            <pc:docMk/>
            <pc:sldMk cId="4275085742" sldId="456"/>
            <ac:spMk id="12" creationId="{00000000-0000-0000-0000-000000000000}"/>
          </ac:spMkLst>
        </pc:spChg>
        <pc:spChg chg="mod">
          <ac:chgData name="Siham Rahoui" userId="12f6e3ec-d62c-484d-abcf-636c0b4f5525" providerId="ADAL" clId="{5B510825-D2CA-488B-908A-81B8943F39BF}" dt="2023-04-19T08:47:18.124" v="3" actId="313"/>
          <ac:spMkLst>
            <pc:docMk/>
            <pc:sldMk cId="4275085742" sldId="456"/>
            <ac:spMk id="15" creationId="{00000000-0000-0000-0000-000000000000}"/>
          </ac:spMkLst>
        </pc:spChg>
      </pc:sldChg>
      <pc:sldChg chg="modSp mod">
        <pc:chgData name="Siham Rahoui" userId="12f6e3ec-d62c-484d-abcf-636c0b4f5525" providerId="ADAL" clId="{5B510825-D2CA-488B-908A-81B8943F39BF}" dt="2023-04-19T08:47:21.328" v="5" actId="313"/>
        <pc:sldMkLst>
          <pc:docMk/>
          <pc:sldMk cId="430614900" sldId="457"/>
        </pc:sldMkLst>
        <pc:spChg chg="mod">
          <ac:chgData name="Siham Rahoui" userId="12f6e3ec-d62c-484d-abcf-636c0b4f5525" providerId="ADAL" clId="{5B510825-D2CA-488B-908A-81B8943F39BF}" dt="2023-04-19T08:47:21.328" v="5" actId="313"/>
          <ac:spMkLst>
            <pc:docMk/>
            <pc:sldMk cId="430614900" sldId="457"/>
            <ac:spMk id="2" creationId="{00000000-0000-0000-0000-000000000000}"/>
          </ac:spMkLst>
        </pc:spChg>
      </pc:sldChg>
      <pc:sldChg chg="modSp mod">
        <pc:chgData name="Siham Rahoui" userId="12f6e3ec-d62c-484d-abcf-636c0b4f5525" providerId="ADAL" clId="{5B510825-D2CA-488B-908A-81B8943F39BF}" dt="2023-04-19T08:47:29.478" v="9" actId="313"/>
        <pc:sldMkLst>
          <pc:docMk/>
          <pc:sldMk cId="3156577422" sldId="491"/>
        </pc:sldMkLst>
        <pc:spChg chg="mod">
          <ac:chgData name="Siham Rahoui" userId="12f6e3ec-d62c-484d-abcf-636c0b4f5525" providerId="ADAL" clId="{5B510825-D2CA-488B-908A-81B8943F39BF}" dt="2023-04-19T08:47:27.688" v="6" actId="313"/>
          <ac:spMkLst>
            <pc:docMk/>
            <pc:sldMk cId="3156577422" sldId="491"/>
            <ac:spMk id="6" creationId="{00000000-0000-0000-0000-000000000000}"/>
          </ac:spMkLst>
        </pc:spChg>
        <pc:spChg chg="mod">
          <ac:chgData name="Siham Rahoui" userId="12f6e3ec-d62c-484d-abcf-636c0b4f5525" providerId="ADAL" clId="{5B510825-D2CA-488B-908A-81B8943F39BF}" dt="2023-04-19T08:47:28.384" v="7" actId="313"/>
          <ac:spMkLst>
            <pc:docMk/>
            <pc:sldMk cId="3156577422" sldId="491"/>
            <ac:spMk id="12" creationId="{00000000-0000-0000-0000-000000000000}"/>
          </ac:spMkLst>
        </pc:spChg>
        <pc:spChg chg="mod">
          <ac:chgData name="Siham Rahoui" userId="12f6e3ec-d62c-484d-abcf-636c0b4f5525" providerId="ADAL" clId="{5B510825-D2CA-488B-908A-81B8943F39BF}" dt="2023-04-19T08:47:29.478" v="9" actId="313"/>
          <ac:spMkLst>
            <pc:docMk/>
            <pc:sldMk cId="3156577422" sldId="491"/>
            <ac:spMk id="15" creationId="{00000000-0000-0000-0000-000000000000}"/>
          </ac:spMkLst>
        </pc:spChg>
      </pc:sldChg>
      <pc:sldChg chg="modSp mod">
        <pc:chgData name="Siham Rahoui" userId="12f6e3ec-d62c-484d-abcf-636c0b4f5525" providerId="ADAL" clId="{5B510825-D2CA-488B-908A-81B8943F39BF}" dt="2023-04-19T08:47:31.842" v="10" actId="313"/>
        <pc:sldMkLst>
          <pc:docMk/>
          <pc:sldMk cId="4282563288" sldId="493"/>
        </pc:sldMkLst>
        <pc:spChg chg="mod">
          <ac:chgData name="Siham Rahoui" userId="12f6e3ec-d62c-484d-abcf-636c0b4f5525" providerId="ADAL" clId="{5B510825-D2CA-488B-908A-81B8943F39BF}" dt="2023-04-19T08:47:31.842" v="10" actId="313"/>
          <ac:spMkLst>
            <pc:docMk/>
            <pc:sldMk cId="4282563288" sldId="493"/>
            <ac:spMk id="2" creationId="{00000000-0000-0000-0000-000000000000}"/>
          </ac:spMkLst>
        </pc:spChg>
      </pc:sldChg>
      <pc:sldChg chg="modSp mod">
        <pc:chgData name="Siham Rahoui" userId="12f6e3ec-d62c-484d-abcf-636c0b4f5525" providerId="ADAL" clId="{5B510825-D2CA-488B-908A-81B8943F39BF}" dt="2023-04-19T08:48:11.199" v="11" actId="313"/>
        <pc:sldMkLst>
          <pc:docMk/>
          <pc:sldMk cId="2699232951" sldId="531"/>
        </pc:sldMkLst>
        <pc:spChg chg="mod">
          <ac:chgData name="Siham Rahoui" userId="12f6e3ec-d62c-484d-abcf-636c0b4f5525" providerId="ADAL" clId="{5B510825-D2CA-488B-908A-81B8943F39BF}" dt="2023-04-19T08:48:11.199" v="11" actId="313"/>
          <ac:spMkLst>
            <pc:docMk/>
            <pc:sldMk cId="2699232951" sldId="531"/>
            <ac:spMk id="2" creationId="{00000000-0000-0000-0000-000000000000}"/>
          </ac:spMkLst>
        </pc:spChg>
      </pc:sldChg>
      <pc:sldChg chg="modSp mod">
        <pc:chgData name="Siham Rahoui" userId="12f6e3ec-d62c-484d-abcf-636c0b4f5525" providerId="ADAL" clId="{5B510825-D2CA-488B-908A-81B8943F39BF}" dt="2023-04-19T08:48:24.887" v="12" actId="313"/>
        <pc:sldMkLst>
          <pc:docMk/>
          <pc:sldMk cId="248737529" sldId="568"/>
        </pc:sldMkLst>
        <pc:spChg chg="mod">
          <ac:chgData name="Siham Rahoui" userId="12f6e3ec-d62c-484d-abcf-636c0b4f5525" providerId="ADAL" clId="{5B510825-D2CA-488B-908A-81B8943F39BF}" dt="2023-04-19T08:48:24.887" v="12" actId="313"/>
          <ac:spMkLst>
            <pc:docMk/>
            <pc:sldMk cId="248737529" sldId="568"/>
            <ac:spMk id="2" creationId="{00000000-0000-0000-0000-000000000000}"/>
          </ac:spMkLst>
        </pc:spChg>
      </pc:sldChg>
      <pc:sldChg chg="modSp mod">
        <pc:chgData name="Siham Rahoui" userId="12f6e3ec-d62c-484d-abcf-636c0b4f5525" providerId="ADAL" clId="{5B510825-D2CA-488B-908A-81B8943F39BF}" dt="2023-04-19T08:48:26.113" v="13" actId="313"/>
        <pc:sldMkLst>
          <pc:docMk/>
          <pc:sldMk cId="4106037855" sldId="569"/>
        </pc:sldMkLst>
        <pc:spChg chg="mod">
          <ac:chgData name="Siham Rahoui" userId="12f6e3ec-d62c-484d-abcf-636c0b4f5525" providerId="ADAL" clId="{5B510825-D2CA-488B-908A-81B8943F39BF}" dt="2023-04-19T08:48:26.113" v="13" actId="313"/>
          <ac:spMkLst>
            <pc:docMk/>
            <pc:sldMk cId="4106037855" sldId="569"/>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4/23/2024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218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bell curve is divided into 4 parts by 3 dotted vertical lines. One central line passes through the peak of the bell curve while the other two lines are left and right of the center line. The central line is mu subscript 1 minus mu subscript 2. The portion between the center line and the right line is denoted as sigma subscript x bar subscript 1 minus x bar subscript 2 end subscript.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4133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Minus z subscript 0 equals minus 1.96 is near the left tail region and z subscript 0 equals 1.96 is near the right tail. The area under the curve to the left of minus z subscript 0 is given by fraction numerator 1 divided by denominator 2 end fraction alpha equals 0.025. The area under the curve to the right of z subscript 0 is given by fraction numerator 1 divided by denominator 2 end fraction alpha equals 0.025. The area under the curve between minus z subscript 0 and z subscript 0 is given by 1 minus alpha equals 0.95 with z approximately equals to 1.85 lying in this region.</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08177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"Are both population standard deviations known? is No, then, "Are both populations normal or are both sample sizes at least 30?" is Yes then "Are the populations variances equal?". If this is No, then "Use the t ­ test with s subscript x bar subscript 1 minus x bar subscript 2 end subscript. If, "Are both populations normal or are both sample sizes at least 30?" and "Are both populations normal or are both sample sizes at least 30?" then the output is "You cannot use the z ­ test or the t ­ test. If the, Are the populations variances equal?" is Yes then "Use the t-test with s subscript x bar subscript 1 end subscript minus x bar subscript 2 end subscript equals sigma hat times square root of fraction numerator 1 divided by denominator n subscript 1 end fraction plus fraction numerator 1 divided by denominator n subscript 2 end fraction end root and </a:t>
            </a:r>
            <a:r>
              <a:rPr lang="en-US" dirty="0" err="1"/>
              <a:t>d.f.</a:t>
            </a:r>
            <a:r>
              <a:rPr lang="en-US" dirty="0"/>
              <a:t> equals n subscript 1 plus n subscript 2 minus 2" and if "Are the population variances equal?" is No then the output is "Use the </a:t>
            </a:r>
            <a:r>
              <a:rPr lang="en-US" dirty="0" err="1"/>
              <a:t>t­test</a:t>
            </a:r>
            <a:r>
              <a:rPr lang="en-US" dirty="0"/>
              <a:t> with s subscript x bar subscript 1 minus x bar subscript 2 equals square root of fraction numerator s subscript 1 squared divided by denominator n subscript 1 end fraction plus fraction numerator s subscript 2 squared divided by denominator n subscript 2 end fraction and </a:t>
            </a:r>
            <a:r>
              <a:rPr lang="en-US" dirty="0" err="1"/>
              <a:t>d.f.</a:t>
            </a:r>
            <a:r>
              <a:rPr lang="en-US" dirty="0"/>
              <a:t> equals smaller of n subscript 1 minus 1 and n subscript 2 minus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6973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Minus t subscript 0 equals minus 1.895 is near the left tail region and t subscript 0 equals 1.895 is near the right tail region. The area under the curve to the left of minus t subscript 0 is given by fraction numerator 1 divided by denominator 2 end fraction alpha equals 0.05. The area under the curve to the right of t subscript 0 is given by fraction numerator 1 divided by denominator 2 end fraction alpha equals 0.05. The area under the curve between minus t subscript 0 and t subscript 0 is given by 1 minus alpha equals 0.90 with t approximately equals to 0.922 lying in this region.</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85174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subscript 0 equals minus 1.930 is near the left tail region. The area under the curve to the left of t subscript 0 is given by alpha equals 0.05 and is the rejection region. The area under the curve to the right of t subscript 0 is given by 1 minus alpha equals 0.95. t approximately equals to minus 1.671 lies to the left of t subscript 0.</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4944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218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vertical dotted line passes through the center of the bell curve (peak of the curve) and is denoted as mu subscript d. The left tail of the bell curve is shaded and is denoted as minus t subscript 0 whereas the right end of the bell curve is shaded and denoted as t subscript 0.</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47474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is marked at 0. The region to the left of t 0 = 1.415 is shaded pink and it is labeled 1 minus alpha = 0.90. The region to the right of t 0 = 1.415 is shaded blue and it is labeled alpha = 0.10. Point t approximately equal to 0.9933 is marked.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61876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box is titled </a:t>
            </a:r>
            <a:r>
              <a:rPr lang="en-US" sz="1800" b="0" i="0" u="none" strike="noStrike" dirty="0" err="1">
                <a:solidFill>
                  <a:srgbClr val="000000"/>
                </a:solidFill>
                <a:effectLst/>
                <a:latin typeface="Calibri" panose="020F0502020204030204" pitchFamily="34" charset="0"/>
              </a:rPr>
              <a:t>Statcrunch</a:t>
            </a:r>
            <a:r>
              <a:rPr lang="en-US" sz="1800" b="0" i="0" u="none" strike="noStrike" dirty="0">
                <a:solidFill>
                  <a:srgbClr val="000000"/>
                </a:solidFill>
                <a:effectLst/>
                <a:latin typeface="Calibri" panose="020F0502020204030204" pitchFamily="34" charset="0"/>
              </a:rPr>
              <a:t>. The note above the table reads as follows. Paired T hypothesis test:</a:t>
            </a:r>
            <a:br>
              <a:rPr lang="en-US" sz="1800" b="0" i="0" u="none" strike="noStrike" dirty="0">
                <a:solidFill>
                  <a:srgbClr val="000000"/>
                </a:solidFill>
                <a:effectLst/>
                <a:latin typeface="Calibri" panose="020F0502020204030204" pitchFamily="34" charset="0"/>
              </a:rPr>
            </a:br>
            <a:r>
              <a:rPr lang="en-US" sz="1800" b="0" i="0" u="none" strike="noStrike" dirty="0">
                <a:solidFill>
                  <a:srgbClr val="000000"/>
                </a:solidFill>
                <a:effectLst/>
                <a:latin typeface="Calibri" panose="020F0502020204030204" pitchFamily="34" charset="0"/>
              </a:rPr>
              <a:t>mu sub 0 = mu sub 1 minus mu sub 2; mean of the difference between last year and this year. Mu sub 0 : mu sub 0 = 0. H sub A : mu sub 0 not equal to 0. Hypothesis test results. The table has 6 columns and one row. The data is as follows. Difference, last year to this year. Mean, 5.375. Standard error, 2.4253436. D F, 15. T-stat, 2.2161808. P-value, 0.0426. T-stat, 2.2161808 is highlighted.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10105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is marked at 0. The region to the left of negative t 0 = negative 2.131 is shaded blue and it is labeled half alpha = 0.025. The region to the right of t sub 0 = 2.131 is shaded blue and it is labeled half alpha = 0.025. The region in between negative t sub 0 = negative 2.131 and t sub 0 = 2.131 is shaded pink and it is labeled 1 minus alpha = 0.95. Point t approximately equal to 2.216 is marked.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85416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6218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axis ranges from negative 3 to 3 in increments of 1. The region to the right of z sub 0 = 1.645 is shaded blue and the region to the left of negative z sub 0 = negative 1.645 are shaded blue and they are labeled half alpha = 0.05. The region in between negative 1.645 and 1.645 is shaded pink and labeled 1 minus alpha = 0.90. Point z approximately equal to 1.52 is marked.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12306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axis ranges from negative 4 to 4 in increments of 1. The region to the right of z sub 0 = 2.33 is shaded blue and labeled alpha = 0.01. The region to the left of z sub 0 = 2.33 is shaded pink and labeled 1 minus alpha = 0.99. Point z approximately equal to 3.04 is marked.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3910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14" name="TextBox 13"/>
          <p:cNvSpPr txBox="1"/>
          <p:nvPr userDrawn="1"/>
        </p:nvSpPr>
        <p:spPr>
          <a:xfrm>
            <a:off x="7848600" y="6428601"/>
            <a:ext cx="740520" cy="246221"/>
          </a:xfrm>
          <a:prstGeom prst="rect">
            <a:avLst/>
          </a:prstGeom>
          <a:noFill/>
        </p:spPr>
        <p:txBody>
          <a:bodyPr wrap="none" rtlCol="0">
            <a:spAutoFit/>
          </a:bodyPr>
          <a:lstStyle/>
          <a:p>
            <a:r>
              <a:rPr lang="en-US" sz="1000" dirty="0"/>
              <a:t>Slide - </a:t>
            </a:r>
            <a:fld id="{41D1A099-64B4-E24A-BD44-17411C0B0428}" type="slidenum">
              <a:rPr lang="en-US" sz="1000" smtClean="0"/>
              <a:t>‹#›</a:t>
            </a:fld>
            <a:endParaRPr lang="en-US" sz="1000" dirty="0"/>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Two Content_1">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524264"/>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324269"/>
            <a:ext cx="8229600" cy="44543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5"/>
          </p:nvPr>
        </p:nvSpPr>
        <p:spPr>
          <a:xfrm>
            <a:off x="457200" y="2981325"/>
            <a:ext cx="8229600" cy="728663"/>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Content Placeholder 5"/>
          <p:cNvSpPr>
            <a:spLocks noGrp="1"/>
          </p:cNvSpPr>
          <p:nvPr>
            <p:ph sz="quarter" idx="16"/>
          </p:nvPr>
        </p:nvSpPr>
        <p:spPr>
          <a:xfrm>
            <a:off x="457200" y="3870325"/>
            <a:ext cx="8229600" cy="701675"/>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7"/>
          </p:nvPr>
        </p:nvSpPr>
        <p:spPr>
          <a:xfrm>
            <a:off x="457200" y="4703763"/>
            <a:ext cx="8229600" cy="557212"/>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8"/>
          </p:nvPr>
        </p:nvSpPr>
        <p:spPr>
          <a:xfrm>
            <a:off x="457200" y="5407025"/>
            <a:ext cx="8329613" cy="649288"/>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19"/>
          </p:nvPr>
        </p:nvSpPr>
        <p:spPr>
          <a:xfrm>
            <a:off x="457200" y="6056313"/>
            <a:ext cx="8329613" cy="676275"/>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89817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2250831" cy="46940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2250831" cy="55218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2250831"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2250831"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2250831"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2250831"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2250831"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2965939" y="1557338"/>
            <a:ext cx="2895600" cy="4651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2965938" y="2216150"/>
            <a:ext cx="2895600" cy="5524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2965938" y="2952750"/>
            <a:ext cx="2895600" cy="52546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2965938" y="3641725"/>
            <a:ext cx="2895600" cy="52387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2965938" y="4352925"/>
            <a:ext cx="2895600"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3093316" y="5010150"/>
            <a:ext cx="2831127"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3093316" y="5692775"/>
            <a:ext cx="2831127"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6189663" y="1557338"/>
            <a:ext cx="2497137" cy="4651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p:cNvSpPr>
            <a:spLocks noGrp="1"/>
          </p:cNvSpPr>
          <p:nvPr>
            <p:ph sz="quarter" idx="28"/>
          </p:nvPr>
        </p:nvSpPr>
        <p:spPr>
          <a:xfrm>
            <a:off x="6189663" y="2216150"/>
            <a:ext cx="2497137" cy="552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Content Placeholder 12"/>
          <p:cNvSpPr>
            <a:spLocks noGrp="1"/>
          </p:cNvSpPr>
          <p:nvPr>
            <p:ph sz="quarter" idx="29"/>
          </p:nvPr>
        </p:nvSpPr>
        <p:spPr>
          <a:xfrm>
            <a:off x="6189663" y="2952750"/>
            <a:ext cx="2497137" cy="525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30"/>
          </p:nvPr>
        </p:nvSpPr>
        <p:spPr>
          <a:xfrm>
            <a:off x="6189663" y="3641725"/>
            <a:ext cx="2497137" cy="523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4" name="Content Placeholder 23"/>
          <p:cNvSpPr>
            <a:spLocks noGrp="1"/>
          </p:cNvSpPr>
          <p:nvPr>
            <p:ph sz="quarter" idx="31"/>
          </p:nvPr>
        </p:nvSpPr>
        <p:spPr>
          <a:xfrm>
            <a:off x="6189663" y="4352925"/>
            <a:ext cx="2497137" cy="4762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7" name="Content Placeholder 26"/>
          <p:cNvSpPr>
            <a:spLocks noGrp="1"/>
          </p:cNvSpPr>
          <p:nvPr>
            <p:ph sz="quarter" idx="32"/>
          </p:nvPr>
        </p:nvSpPr>
        <p:spPr>
          <a:xfrm>
            <a:off x="6189663" y="5010150"/>
            <a:ext cx="2497137" cy="5143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9" name="Content Placeholder 28"/>
          <p:cNvSpPr>
            <a:spLocks noGrp="1"/>
          </p:cNvSpPr>
          <p:nvPr>
            <p:ph sz="quarter" idx="33"/>
          </p:nvPr>
        </p:nvSpPr>
        <p:spPr>
          <a:xfrm>
            <a:off x="6189663" y="5692775"/>
            <a:ext cx="2497137" cy="5667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33805612"/>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2250831" cy="46940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2250831" cy="552186"/>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2250831"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2250831" cy="52536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2250831"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2250831"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2250831"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2965939" y="1557338"/>
            <a:ext cx="2895600" cy="465137"/>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2965938" y="2216150"/>
            <a:ext cx="2895600" cy="5524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2965938" y="2952750"/>
            <a:ext cx="2895600" cy="525463"/>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2965938" y="3641725"/>
            <a:ext cx="2895600" cy="523875"/>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2965938" y="4352925"/>
            <a:ext cx="2895600" cy="4762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3093316" y="5010150"/>
            <a:ext cx="2831127" cy="514350"/>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3093316" y="5692775"/>
            <a:ext cx="2831127" cy="566738"/>
          </a:xfrm>
        </p:spPr>
        <p:txBody>
          <a:bodyPr lIns="0" tIns="0" rIns="0" bIns="0"/>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ext Placeholder 5"/>
          <p:cNvSpPr>
            <a:spLocks noGrp="1"/>
          </p:cNvSpPr>
          <p:nvPr>
            <p:ph type="body" sz="quarter" idx="27"/>
          </p:nvPr>
        </p:nvSpPr>
        <p:spPr>
          <a:xfrm>
            <a:off x="5924550" y="1557338"/>
            <a:ext cx="2762250" cy="4651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28"/>
          </p:nvPr>
        </p:nvSpPr>
        <p:spPr>
          <a:xfrm>
            <a:off x="5924550" y="2216150"/>
            <a:ext cx="2762250" cy="552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6" name="Text Placeholder 25"/>
          <p:cNvSpPr>
            <a:spLocks noGrp="1"/>
          </p:cNvSpPr>
          <p:nvPr>
            <p:ph type="body" sz="quarter" idx="29"/>
          </p:nvPr>
        </p:nvSpPr>
        <p:spPr>
          <a:xfrm>
            <a:off x="5924550" y="2952750"/>
            <a:ext cx="2762250" cy="525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 name="Content Placeholder 29"/>
          <p:cNvSpPr>
            <a:spLocks noGrp="1"/>
          </p:cNvSpPr>
          <p:nvPr>
            <p:ph sz="quarter" idx="30"/>
          </p:nvPr>
        </p:nvSpPr>
        <p:spPr>
          <a:xfrm>
            <a:off x="5924550" y="3641725"/>
            <a:ext cx="2762250" cy="5238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3" name="Content Placeholder 32"/>
          <p:cNvSpPr>
            <a:spLocks noGrp="1"/>
          </p:cNvSpPr>
          <p:nvPr>
            <p:ph sz="quarter" idx="31"/>
          </p:nvPr>
        </p:nvSpPr>
        <p:spPr>
          <a:xfrm>
            <a:off x="5924550" y="4352925"/>
            <a:ext cx="2762250" cy="4762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7" name="Content Placeholder 36"/>
          <p:cNvSpPr>
            <a:spLocks noGrp="1"/>
          </p:cNvSpPr>
          <p:nvPr>
            <p:ph sz="quarter" idx="32"/>
          </p:nvPr>
        </p:nvSpPr>
        <p:spPr>
          <a:xfrm>
            <a:off x="6096000" y="5010150"/>
            <a:ext cx="2714625" cy="5143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9" name="Content Placeholder 38"/>
          <p:cNvSpPr>
            <a:spLocks noGrp="1"/>
          </p:cNvSpPr>
          <p:nvPr>
            <p:ph sz="quarter" idx="33"/>
          </p:nvPr>
        </p:nvSpPr>
        <p:spPr>
          <a:xfrm>
            <a:off x="6096000" y="5692775"/>
            <a:ext cx="2714625" cy="5667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7417628"/>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0" tIns="0" rIns="0" bIns="0"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lIns="0" tIns="0" rIns="0" bIns="0"/>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lIns="0" tIns="0" rIns="0" bIns="0"/>
          <a:lstStyle>
            <a:lvl1pPr indent="-255600">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lIns="0" tIns="0" rIns="0" bIns="0"/>
          <a:lstStyle>
            <a:lvl1pPr indent="-255600">
              <a:defRPr>
                <a:latin typeface="+mn-lt"/>
              </a:defRPr>
            </a:lvl1pPr>
            <a:lvl2pPr indent="-284400">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4/23/2024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13" name="TextBox 12"/>
          <p:cNvSpPr txBox="1"/>
          <p:nvPr userDrawn="1"/>
        </p:nvSpPr>
        <p:spPr>
          <a:xfrm>
            <a:off x="7848600" y="6428601"/>
            <a:ext cx="740520" cy="246221"/>
          </a:xfrm>
          <a:prstGeom prst="rect">
            <a:avLst/>
          </a:prstGeom>
          <a:noFill/>
        </p:spPr>
        <p:txBody>
          <a:bodyPr wrap="none" rtlCol="0">
            <a:spAutoFit/>
          </a:bodyPr>
          <a:lstStyle/>
          <a:p>
            <a:r>
              <a:rPr lang="en-US" sz="1000" dirty="0"/>
              <a:t>Slide - </a:t>
            </a:r>
            <a:fld id="{41D1A099-64B4-E24A-BD44-17411C0B0428}" type="slidenum">
              <a:rPr lang="en-US" sz="1000" smtClean="0"/>
              <a:t>‹#›</a:t>
            </a:fld>
            <a:endParaRPr lang="en-US" sz="1000" dirty="0"/>
          </a:p>
        </p:txBody>
      </p:sp>
      <p:pic>
        <p:nvPicPr>
          <p:cNvPr id="23" name="Picture 2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1" name="Text Placeholder 3"/>
          <p:cNvSpPr txBox="1">
            <a:spLocks/>
          </p:cNvSpPr>
          <p:nvPr userDrawn="1"/>
        </p:nvSpPr>
        <p:spPr>
          <a:xfrm>
            <a:off x="1524000" y="6400800"/>
            <a:ext cx="6324600" cy="242060"/>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ctr">
              <a:buNone/>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altLang="en-US" sz="1200" dirty="0">
                <a:solidFill>
                  <a:schemeClr val="tx1"/>
                </a:solidFill>
                <a:latin typeface="Verdana" panose="020B0604030504040204" pitchFamily="34" charset="0"/>
                <a:ea typeface="Verdana" panose="020B0604030504040204" pitchFamily="34" charset="0"/>
                <a:cs typeface="Times New Roman" panose="02020603050405020304" pitchFamily="18" charset="0"/>
              </a:rPr>
              <a:t>2023, 2019, 2015</a:t>
            </a:r>
            <a:r>
              <a:rPr lang="en-IN" sz="1200" dirty="0">
                <a:latin typeface="Verdana" panose="020B0604030504040204" pitchFamily="34" charset="0"/>
                <a:ea typeface="Verdana" panose="020B0604030504040204" pitchFamily="34" charset="0"/>
              </a:rPr>
              <a:t>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0813620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4/23/2024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024385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A065-6A55-A55B-F916-B076820D89B8}"/>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DDE2D2F5-4BD1-4871-8626-CCEF1BDD31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C2CABBB-B80E-322A-BF16-2E09844BAF55}"/>
              </a:ext>
            </a:extLst>
          </p:cNvPr>
          <p:cNvSpPr>
            <a:spLocks noGrp="1"/>
          </p:cNvSpPr>
          <p:nvPr>
            <p:ph type="dt" sz="half" idx="10"/>
          </p:nvPr>
        </p:nvSpPr>
        <p:spPr/>
        <p:txBody>
          <a:bodyPr/>
          <a:lstStyle/>
          <a:p>
            <a:fld id="{65351718-940F-44FE-9547-658FB9806CBE}" type="datetimeFigureOut">
              <a:rPr lang="en-IE" smtClean="0"/>
              <a:t>23/04/2024</a:t>
            </a:fld>
            <a:endParaRPr lang="en-IE"/>
          </a:p>
        </p:txBody>
      </p:sp>
      <p:sp>
        <p:nvSpPr>
          <p:cNvPr id="5" name="Footer Placeholder 4">
            <a:extLst>
              <a:ext uri="{FF2B5EF4-FFF2-40B4-BE49-F238E27FC236}">
                <a16:creationId xmlns:a16="http://schemas.microsoft.com/office/drawing/2014/main" id="{47497E83-BC49-2AA6-344E-360E0098D16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9872264-E6DC-522D-417B-F74E00CF56A6}"/>
              </a:ext>
            </a:extLst>
          </p:cNvPr>
          <p:cNvSpPr>
            <a:spLocks noGrp="1"/>
          </p:cNvSpPr>
          <p:nvPr>
            <p:ph type="sldNum" sz="quarter" idx="12"/>
          </p:nvPr>
        </p:nvSpPr>
        <p:spPr/>
        <p:txBody>
          <a:bodyPr/>
          <a:lstStyle/>
          <a:p>
            <a:fld id="{89CFE3BB-999F-4476-A577-B97C773A854B}" type="slidenum">
              <a:rPr lang="en-IE" smtClean="0"/>
              <a:t>‹#›</a:t>
            </a:fld>
            <a:endParaRPr lang="en-IE"/>
          </a:p>
        </p:txBody>
      </p:sp>
    </p:spTree>
    <p:extLst>
      <p:ext uri="{BB962C8B-B14F-4D97-AF65-F5344CB8AC3E}">
        <p14:creationId xmlns:p14="http://schemas.microsoft.com/office/powerpoint/2010/main" val="372048964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21" Type="http://schemas.openxmlformats.org/officeDocument/2006/relationships/theme" Target="../theme/theme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4963" y="6429344"/>
            <a:ext cx="6019799" cy="200054"/>
          </a:xfrm>
          <a:prstGeom prst="rect">
            <a:avLst/>
          </a:prstGeom>
          <a:noFill/>
          <a:ln>
            <a:noFill/>
          </a:ln>
        </p:spPr>
        <p:txBody>
          <a:bodyPr lIns="91425" tIns="45700" rIns="91425" bIns="45700" anchor="ctr" anchorCtr="0">
            <a:noAutofit/>
          </a:bodyPr>
          <a:lstStyle/>
          <a:p>
            <a:pPr marL="0" indent="0" algn="ct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altLang="en-US" sz="1200" dirty="0">
                <a:solidFill>
                  <a:schemeClr val="tx1"/>
                </a:solidFill>
                <a:latin typeface="Verdana" panose="020B0604030504040204" pitchFamily="34" charset="0"/>
                <a:ea typeface="Verdana" panose="020B0604030504040204" pitchFamily="34" charset="0"/>
                <a:cs typeface="Times New Roman" panose="02020603050405020304" pitchFamily="18" charset="0"/>
              </a:rPr>
              <a:t>2023, 2019, 2015</a:t>
            </a:r>
            <a:r>
              <a:rPr lang="en-IN" sz="1200" dirty="0">
                <a:latin typeface="Verdana" panose="020B0604030504040204" pitchFamily="34" charset="0"/>
                <a:ea typeface="Verdana" panose="020B0604030504040204" pitchFamily="34" charset="0"/>
              </a:rPr>
              <a:t> </a:t>
            </a:r>
            <a:r>
              <a:rPr lang="en-US" altLang="en-US" sz="1200" b="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TextBox 8"/>
          <p:cNvSpPr txBox="1"/>
          <p:nvPr userDrawn="1"/>
        </p:nvSpPr>
        <p:spPr>
          <a:xfrm>
            <a:off x="7848600" y="6428601"/>
            <a:ext cx="740520" cy="246221"/>
          </a:xfrm>
          <a:prstGeom prst="rect">
            <a:avLst/>
          </a:prstGeom>
          <a:noFill/>
        </p:spPr>
        <p:txBody>
          <a:bodyPr wrap="none" rtlCol="0">
            <a:spAutoFit/>
          </a:bodyPr>
          <a:lstStyle/>
          <a:p>
            <a:r>
              <a:rPr lang="en-US" sz="1000" dirty="0"/>
              <a:t>Slide - </a:t>
            </a:r>
            <a:fld id="{41D1A099-64B4-E24A-BD44-17411C0B0428}" type="slidenum">
              <a:rPr lang="en-US" sz="1000" smtClean="0"/>
              <a:t>‹#›</a:t>
            </a:fld>
            <a:endParaRPr lang="en-US" sz="1000" dirty="0"/>
          </a:p>
        </p:txBody>
      </p:sp>
      <p:pic>
        <p:nvPicPr>
          <p:cNvPr id="12" name="Picture Placeholder 21" descr="Pearson Logo">
            <a:extLst>
              <a:ext uri="{FF2B5EF4-FFF2-40B4-BE49-F238E27FC236}">
                <a16:creationId xmlns:a16="http://schemas.microsoft.com/office/drawing/2014/main" id="{EFBD5C48-87A9-4E6C-A80E-25561EF902CB}"/>
              </a:ext>
            </a:extLst>
          </p:cNvPr>
          <p:cNvPicPr>
            <a:picLocks noChangeAspect="1"/>
          </p:cNvPicPr>
          <p:nvPr userDrawn="1"/>
        </p:nvPicPr>
        <p:blipFill>
          <a:blip r:embed="rId22"/>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85" r:id="rId4"/>
    <p:sldLayoutId id="2147483676" r:id="rId5"/>
    <p:sldLayoutId id="2147483677" r:id="rId6"/>
    <p:sldLayoutId id="2147483678" r:id="rId7"/>
    <p:sldLayoutId id="2147483679" r:id="rId8"/>
    <p:sldLayoutId id="2147483680" r:id="rId9"/>
    <p:sldLayoutId id="2147483686" r:id="rId10"/>
    <p:sldLayoutId id="2147483687" r:id="rId11"/>
    <p:sldLayoutId id="2147483681" r:id="rId12"/>
    <p:sldLayoutId id="2147483671" r:id="rId13"/>
    <p:sldLayoutId id="2147483673" r:id="rId14"/>
    <p:sldLayoutId id="2147483670" r:id="rId15"/>
    <p:sldLayoutId id="2147483669" r:id="rId16"/>
    <p:sldLayoutId id="2147483655" r:id="rId17"/>
    <p:sldLayoutId id="2147483683" r:id="rId18"/>
    <p:sldLayoutId id="2147483684" r:id="rId19"/>
    <p:sldLayoutId id="214748368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creativecommons.org/licenses/by-nc-sa/3.0/" TargetMode="External"/><Relationship Id="rId4" Type="http://schemas.openxmlformats.org/officeDocument/2006/relationships/hyperlink" Target="https://milnepublishing.geneseo.edu/natural-resources-biometrics/chapter/chapter-3-hypothesis-test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0.xml"/><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10.x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10.xml"/><Relationship Id="rId6" Type="http://schemas.openxmlformats.org/officeDocument/2006/relationships/oleObject" Target="../embeddings/oleObject7.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slideLayout" Target="../slideLayouts/slideLayout4.xml"/><Relationship Id="rId6" Type="http://schemas.openxmlformats.org/officeDocument/2006/relationships/oleObject" Target="../embeddings/oleObject12.bin"/><Relationship Id="rId5" Type="http://schemas.openxmlformats.org/officeDocument/2006/relationships/image" Target="../media/image16.wmf"/><Relationship Id="rId4" Type="http://schemas.openxmlformats.org/officeDocument/2006/relationships/oleObject" Target="../embeddings/oleObject11.bin"/><Relationship Id="rId9"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4.bin"/><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21.wmf"/><Relationship Id="rId5" Type="http://schemas.openxmlformats.org/officeDocument/2006/relationships/oleObject" Target="../embeddings/oleObject16.bin"/><Relationship Id="rId4" Type="http://schemas.openxmlformats.org/officeDocument/2006/relationships/image" Target="../media/image20.wmf"/></Relationships>
</file>

<file path=ppt/slides/_rels/slide14.x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17.bin"/><Relationship Id="rId1" Type="http://schemas.openxmlformats.org/officeDocument/2006/relationships/slideLayout" Target="../slideLayouts/slideLayout3.xml"/><Relationship Id="rId6" Type="http://schemas.openxmlformats.org/officeDocument/2006/relationships/oleObject" Target="../embeddings/oleObject19.bin"/><Relationship Id="rId5" Type="http://schemas.openxmlformats.org/officeDocument/2006/relationships/image" Target="../media/image24.w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19.wmf"/><Relationship Id="rId7" Type="http://schemas.openxmlformats.org/officeDocument/2006/relationships/image" Target="../media/image26.wmf"/><Relationship Id="rId2" Type="http://schemas.openxmlformats.org/officeDocument/2006/relationships/oleObject" Target="../embeddings/oleObject20.bin"/><Relationship Id="rId1" Type="http://schemas.openxmlformats.org/officeDocument/2006/relationships/slideLayout" Target="../slideLayouts/slideLayout10.xml"/><Relationship Id="rId6" Type="http://schemas.openxmlformats.org/officeDocument/2006/relationships/oleObject" Target="../embeddings/oleObject22.bin"/><Relationship Id="rId11" Type="http://schemas.openxmlformats.org/officeDocument/2006/relationships/image" Target="../media/image28.wmf"/><Relationship Id="rId5" Type="http://schemas.openxmlformats.org/officeDocument/2006/relationships/image" Target="../media/image4.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27.wmf"/></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30.wmf"/><Relationship Id="rId2" Type="http://schemas.openxmlformats.org/officeDocument/2006/relationships/oleObject" Target="../embeddings/oleObject25.bin"/><Relationship Id="rId1" Type="http://schemas.openxmlformats.org/officeDocument/2006/relationships/slideLayout" Target="../slideLayouts/slideLayout3.xml"/><Relationship Id="rId6" Type="http://schemas.openxmlformats.org/officeDocument/2006/relationships/oleObject" Target="../embeddings/oleObject27.bin"/><Relationship Id="rId5" Type="http://schemas.openxmlformats.org/officeDocument/2006/relationships/image" Target="../media/image29.wmf"/><Relationship Id="rId4" Type="http://schemas.openxmlformats.org/officeDocument/2006/relationships/oleObject" Target="../embeddings/oleObject26.bin"/></Relationships>
</file>

<file path=ppt/slides/_rels/slide17.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28.bin"/><Relationship Id="rId1" Type="http://schemas.openxmlformats.org/officeDocument/2006/relationships/slideLayout" Target="../slideLayouts/slideLayout3.xml"/><Relationship Id="rId5" Type="http://schemas.openxmlformats.org/officeDocument/2006/relationships/image" Target="../media/image32.wmf"/><Relationship Id="rId4" Type="http://schemas.openxmlformats.org/officeDocument/2006/relationships/oleObject" Target="../embeddings/oleObject29.bin"/></Relationships>
</file>

<file path=ppt/slides/_rels/slide1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0.bin"/><Relationship Id="rId1" Type="http://schemas.openxmlformats.org/officeDocument/2006/relationships/slideLayout" Target="../slideLayouts/slideLayout3.xml"/><Relationship Id="rId4" Type="http://schemas.openxmlformats.org/officeDocument/2006/relationships/oleObject" Target="../embeddings/oleObject31.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7.bin"/><Relationship Id="rId2" Type="http://schemas.openxmlformats.org/officeDocument/2006/relationships/oleObject" Target="../embeddings/oleObject32.bin"/><Relationship Id="rId1" Type="http://schemas.openxmlformats.org/officeDocument/2006/relationships/slideLayout" Target="../slideLayouts/slideLayout10.xml"/><Relationship Id="rId6" Type="http://schemas.openxmlformats.org/officeDocument/2006/relationships/oleObject" Target="../embeddings/oleObject34.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7.wmf"/><Relationship Id="rId14"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45.wmf"/><Relationship Id="rId3" Type="http://schemas.openxmlformats.org/officeDocument/2006/relationships/image" Target="../media/image4.wmf"/><Relationship Id="rId7" Type="http://schemas.openxmlformats.org/officeDocument/2006/relationships/image" Target="../media/image42.wmf"/><Relationship Id="rId12" Type="http://schemas.openxmlformats.org/officeDocument/2006/relationships/oleObject" Target="../embeddings/oleObject44.bin"/><Relationship Id="rId2" Type="http://schemas.openxmlformats.org/officeDocument/2006/relationships/oleObject" Target="../embeddings/oleObject39.bin"/><Relationship Id="rId1" Type="http://schemas.openxmlformats.org/officeDocument/2006/relationships/slideLayout" Target="../slideLayouts/slideLayout10.xml"/><Relationship Id="rId6" Type="http://schemas.openxmlformats.org/officeDocument/2006/relationships/oleObject" Target="../embeddings/oleObject41.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43.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5.bin"/><Relationship Id="rId1" Type="http://schemas.openxmlformats.org/officeDocument/2006/relationships/slideLayout" Target="../slideLayouts/slideLayout4.xml"/><Relationship Id="rId6" Type="http://schemas.openxmlformats.org/officeDocument/2006/relationships/oleObject" Target="../embeddings/oleObject47.bin"/><Relationship Id="rId5" Type="http://schemas.openxmlformats.org/officeDocument/2006/relationships/image" Target="../media/image47.wmf"/><Relationship Id="rId4" Type="http://schemas.openxmlformats.org/officeDocument/2006/relationships/oleObject" Target="../embeddings/oleObject46.bin"/><Relationship Id="rId9" Type="http://schemas.openxmlformats.org/officeDocument/2006/relationships/image" Target="../media/image49.wmf"/></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6.wmf"/><Relationship Id="rId3" Type="http://schemas.openxmlformats.org/officeDocument/2006/relationships/image" Target="../media/image51.wmf"/><Relationship Id="rId7" Type="http://schemas.openxmlformats.org/officeDocument/2006/relationships/image" Target="../media/image53.wmf"/><Relationship Id="rId12" Type="http://schemas.openxmlformats.org/officeDocument/2006/relationships/oleObject" Target="../embeddings/oleObject54.bin"/><Relationship Id="rId2" Type="http://schemas.openxmlformats.org/officeDocument/2006/relationships/oleObject" Target="../embeddings/oleObject49.bin"/><Relationship Id="rId1" Type="http://schemas.openxmlformats.org/officeDocument/2006/relationships/slideLayout" Target="../slideLayouts/slideLayout10.xml"/><Relationship Id="rId6" Type="http://schemas.openxmlformats.org/officeDocument/2006/relationships/oleObject" Target="../embeddings/oleObject51.bin"/><Relationship Id="rId11" Type="http://schemas.openxmlformats.org/officeDocument/2006/relationships/image" Target="../media/image55.wmf"/><Relationship Id="rId5" Type="http://schemas.openxmlformats.org/officeDocument/2006/relationships/image" Target="../media/image52.wmf"/><Relationship Id="rId15" Type="http://schemas.openxmlformats.org/officeDocument/2006/relationships/image" Target="../media/image57.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4.wmf"/><Relationship Id="rId14" Type="http://schemas.openxmlformats.org/officeDocument/2006/relationships/oleObject" Target="../embeddings/oleObject55.bin"/></Relationships>
</file>

<file path=ppt/slides/_rels/slide2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56.bin"/><Relationship Id="rId1" Type="http://schemas.openxmlformats.org/officeDocument/2006/relationships/slideLayout" Target="../slideLayouts/slideLayout10.xml"/><Relationship Id="rId5" Type="http://schemas.openxmlformats.org/officeDocument/2006/relationships/image" Target="../media/image58.wmf"/><Relationship Id="rId4" Type="http://schemas.openxmlformats.org/officeDocument/2006/relationships/oleObject" Target="../embeddings/oleObject57.bin"/></Relationships>
</file>

<file path=ppt/slides/_rels/slide25.xml.rels><?xml version="1.0" encoding="UTF-8" standalone="yes"?>
<Relationships xmlns="http://schemas.openxmlformats.org/package/2006/relationships"><Relationship Id="rId3" Type="http://schemas.openxmlformats.org/officeDocument/2006/relationships/image" Target="../media/image59.wmf"/><Relationship Id="rId7" Type="http://schemas.openxmlformats.org/officeDocument/2006/relationships/image" Target="../media/image61.wmf"/><Relationship Id="rId2" Type="http://schemas.openxmlformats.org/officeDocument/2006/relationships/oleObject" Target="../embeddings/oleObject58.bin"/><Relationship Id="rId1" Type="http://schemas.openxmlformats.org/officeDocument/2006/relationships/slideLayout" Target="../slideLayouts/slideLayout10.xml"/><Relationship Id="rId6" Type="http://schemas.openxmlformats.org/officeDocument/2006/relationships/oleObject" Target="../embeddings/oleObject60.bin"/><Relationship Id="rId5" Type="http://schemas.openxmlformats.org/officeDocument/2006/relationships/image" Target="../media/image60.wmf"/><Relationship Id="rId4" Type="http://schemas.openxmlformats.org/officeDocument/2006/relationships/oleObject" Target="../embeddings/oleObject59.bin"/></Relationships>
</file>

<file path=ppt/slides/_rels/slide2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61.bin"/><Relationship Id="rId1" Type="http://schemas.openxmlformats.org/officeDocument/2006/relationships/slideLayout" Target="../slideLayouts/slideLayout10.xml"/><Relationship Id="rId4" Type="http://schemas.openxmlformats.org/officeDocument/2006/relationships/oleObject" Target="../embeddings/oleObject62.bin"/></Relationships>
</file>

<file path=ppt/slides/_rels/slide2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3.bin"/><Relationship Id="rId1" Type="http://schemas.openxmlformats.org/officeDocument/2006/relationships/slideLayout" Target="../slideLayouts/slideLayout10.xml"/><Relationship Id="rId5" Type="http://schemas.openxmlformats.org/officeDocument/2006/relationships/image" Target="../media/image4.wmf"/><Relationship Id="rId4" Type="http://schemas.openxmlformats.org/officeDocument/2006/relationships/oleObject" Target="../embeddings/oleObject64.bin"/></Relationships>
</file>

<file path=ppt/slides/_rels/slide28.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62.wmf"/><Relationship Id="rId2" Type="http://schemas.openxmlformats.org/officeDocument/2006/relationships/oleObject" Target="../embeddings/oleObject63.bin"/><Relationship Id="rId1" Type="http://schemas.openxmlformats.org/officeDocument/2006/relationships/slideLayout" Target="../slideLayouts/slideLayout10.xml"/><Relationship Id="rId6" Type="http://schemas.openxmlformats.org/officeDocument/2006/relationships/oleObject" Target="../embeddings/oleObject65.bin"/><Relationship Id="rId5" Type="http://schemas.openxmlformats.org/officeDocument/2006/relationships/image" Target="../media/image4.wmf"/><Relationship Id="rId4" Type="http://schemas.openxmlformats.org/officeDocument/2006/relationships/oleObject" Target="../embeddings/oleObject64.bin"/></Relationships>
</file>

<file path=ppt/slides/_rels/slide29.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oleObject" Target="../embeddings/oleObject66.bin"/><Relationship Id="rId1" Type="http://schemas.openxmlformats.org/officeDocument/2006/relationships/slideLayout" Target="../slideLayouts/slideLayout4.xml"/><Relationship Id="rId5" Type="http://schemas.openxmlformats.org/officeDocument/2006/relationships/image" Target="../media/image64.wmf"/><Relationship Id="rId4" Type="http://schemas.openxmlformats.org/officeDocument/2006/relationships/oleObject" Target="../embeddings/oleObject67.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68.bin"/><Relationship Id="rId1" Type="http://schemas.openxmlformats.org/officeDocument/2006/relationships/slideLayout" Target="../slideLayouts/slideLayout10.xml"/><Relationship Id="rId6" Type="http://schemas.openxmlformats.org/officeDocument/2006/relationships/oleObject" Target="../embeddings/oleObject70.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68.wmf"/></Relationships>
</file>

<file path=ppt/slides/_rels/slide31.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73.bin"/><Relationship Id="rId1" Type="http://schemas.openxmlformats.org/officeDocument/2006/relationships/slideLayout" Target="../slideLayouts/slideLayout4.xml"/><Relationship Id="rId5" Type="http://schemas.openxmlformats.org/officeDocument/2006/relationships/image" Target="../media/image71.wmf"/><Relationship Id="rId4" Type="http://schemas.openxmlformats.org/officeDocument/2006/relationships/oleObject" Target="../embeddings/oleObject74.bin"/></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4.wmf"/><Relationship Id="rId7" Type="http://schemas.openxmlformats.org/officeDocument/2006/relationships/image" Target="../media/image74.wmf"/><Relationship Id="rId2" Type="http://schemas.openxmlformats.org/officeDocument/2006/relationships/oleObject" Target="../embeddings/oleObject75.bin"/><Relationship Id="rId1" Type="http://schemas.openxmlformats.org/officeDocument/2006/relationships/slideLayout" Target="../slideLayouts/slideLayout3.xml"/><Relationship Id="rId6" Type="http://schemas.openxmlformats.org/officeDocument/2006/relationships/oleObject" Target="../embeddings/oleObject77.bin"/><Relationship Id="rId11" Type="http://schemas.openxmlformats.org/officeDocument/2006/relationships/image" Target="../media/image75.wmf"/><Relationship Id="rId5" Type="http://schemas.openxmlformats.org/officeDocument/2006/relationships/image" Target="../media/image73.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30.wmf"/></Relationships>
</file>

<file path=ppt/slides/_rels/slide34.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oleObject" Target="../embeddings/oleObject80.bin"/><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81.bin"/><Relationship Id="rId1" Type="http://schemas.openxmlformats.org/officeDocument/2006/relationships/slideLayout" Target="../slideLayouts/slideLayout3.xml"/><Relationship Id="rId6" Type="http://schemas.openxmlformats.org/officeDocument/2006/relationships/oleObject" Target="../embeddings/oleObject83.bin"/><Relationship Id="rId5" Type="http://schemas.openxmlformats.org/officeDocument/2006/relationships/image" Target="../media/image78.wmf"/><Relationship Id="rId4" Type="http://schemas.openxmlformats.org/officeDocument/2006/relationships/oleObject" Target="../embeddings/oleObject82.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87.bin"/><Relationship Id="rId13" Type="http://schemas.openxmlformats.org/officeDocument/2006/relationships/image" Target="../media/image84.wmf"/><Relationship Id="rId3" Type="http://schemas.openxmlformats.org/officeDocument/2006/relationships/image" Target="../media/image79.wmf"/><Relationship Id="rId7" Type="http://schemas.openxmlformats.org/officeDocument/2006/relationships/image" Target="../media/image81.wmf"/><Relationship Id="rId12" Type="http://schemas.openxmlformats.org/officeDocument/2006/relationships/oleObject" Target="../embeddings/oleObject89.bin"/><Relationship Id="rId2" Type="http://schemas.openxmlformats.org/officeDocument/2006/relationships/oleObject" Target="../embeddings/oleObject84.bin"/><Relationship Id="rId1" Type="http://schemas.openxmlformats.org/officeDocument/2006/relationships/slideLayout" Target="../slideLayouts/slideLayout10.xml"/><Relationship Id="rId6" Type="http://schemas.openxmlformats.org/officeDocument/2006/relationships/oleObject" Target="../embeddings/oleObject86.bin"/><Relationship Id="rId11" Type="http://schemas.openxmlformats.org/officeDocument/2006/relationships/image" Target="../media/image83.wmf"/><Relationship Id="rId5" Type="http://schemas.openxmlformats.org/officeDocument/2006/relationships/image" Target="../media/image80.wmf"/><Relationship Id="rId15" Type="http://schemas.openxmlformats.org/officeDocument/2006/relationships/image" Target="../media/image85.wmf"/><Relationship Id="rId10" Type="http://schemas.openxmlformats.org/officeDocument/2006/relationships/oleObject" Target="../embeddings/oleObject88.bin"/><Relationship Id="rId4" Type="http://schemas.openxmlformats.org/officeDocument/2006/relationships/oleObject" Target="../embeddings/oleObject85.bin"/><Relationship Id="rId9" Type="http://schemas.openxmlformats.org/officeDocument/2006/relationships/image" Target="../media/image82.wmf"/><Relationship Id="rId14" Type="http://schemas.openxmlformats.org/officeDocument/2006/relationships/oleObject" Target="../embeddings/oleObject90.bin"/></Relationships>
</file>

<file path=ppt/slides/_rels/slide3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61.bin"/><Relationship Id="rId1" Type="http://schemas.openxmlformats.org/officeDocument/2006/relationships/slideLayout" Target="../slideLayouts/slideLayout10.xml"/><Relationship Id="rId5" Type="http://schemas.openxmlformats.org/officeDocument/2006/relationships/image" Target="../media/image86.wmf"/><Relationship Id="rId4" Type="http://schemas.openxmlformats.org/officeDocument/2006/relationships/oleObject" Target="../embeddings/oleObject9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image" Target="../media/image87.wmf"/><Relationship Id="rId7" Type="http://schemas.openxmlformats.org/officeDocument/2006/relationships/image" Target="../media/image89.wmf"/><Relationship Id="rId2" Type="http://schemas.openxmlformats.org/officeDocument/2006/relationships/oleObject" Target="../embeddings/oleObject92.bin"/><Relationship Id="rId1" Type="http://schemas.openxmlformats.org/officeDocument/2006/relationships/slideLayout" Target="../slideLayouts/slideLayout10.xml"/><Relationship Id="rId6" Type="http://schemas.openxmlformats.org/officeDocument/2006/relationships/oleObject" Target="../embeddings/oleObject94.bin"/><Relationship Id="rId5" Type="http://schemas.openxmlformats.org/officeDocument/2006/relationships/image" Target="../media/image88.wmf"/><Relationship Id="rId4" Type="http://schemas.openxmlformats.org/officeDocument/2006/relationships/oleObject" Target="../embeddings/oleObject93.bin"/><Relationship Id="rId9" Type="http://schemas.openxmlformats.org/officeDocument/2006/relationships/image" Target="../media/image90.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image" Target="../media/image91.wmf"/><Relationship Id="rId7" Type="http://schemas.openxmlformats.org/officeDocument/2006/relationships/image" Target="../media/image93.wmf"/><Relationship Id="rId2" Type="http://schemas.openxmlformats.org/officeDocument/2006/relationships/oleObject" Target="../embeddings/oleObject96.bin"/><Relationship Id="rId1" Type="http://schemas.openxmlformats.org/officeDocument/2006/relationships/slideLayout" Target="../slideLayouts/slideLayout10.xml"/><Relationship Id="rId6" Type="http://schemas.openxmlformats.org/officeDocument/2006/relationships/oleObject" Target="../embeddings/oleObject98.bin"/><Relationship Id="rId5" Type="http://schemas.openxmlformats.org/officeDocument/2006/relationships/image" Target="../media/image92.wmf"/><Relationship Id="rId4" Type="http://schemas.openxmlformats.org/officeDocument/2006/relationships/oleObject" Target="../embeddings/oleObject97.bin"/><Relationship Id="rId9" Type="http://schemas.openxmlformats.org/officeDocument/2006/relationships/image" Target="../media/image94.wmf"/></Relationships>
</file>

<file path=ppt/slides/_rels/slide4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98.wmf"/><Relationship Id="rId12" Type="http://schemas.openxmlformats.org/officeDocument/2006/relationships/oleObject" Target="../embeddings/oleObject105.bin"/><Relationship Id="rId2" Type="http://schemas.openxmlformats.org/officeDocument/2006/relationships/oleObject" Target="../embeddings/oleObject100.bin"/><Relationship Id="rId1" Type="http://schemas.openxmlformats.org/officeDocument/2006/relationships/slideLayout" Target="../slideLayouts/slideLayout10.xml"/><Relationship Id="rId6" Type="http://schemas.openxmlformats.org/officeDocument/2006/relationships/oleObject" Target="../embeddings/oleObject102.bin"/><Relationship Id="rId11" Type="http://schemas.openxmlformats.org/officeDocument/2006/relationships/image" Target="../media/image100.wmf"/><Relationship Id="rId5" Type="http://schemas.openxmlformats.org/officeDocument/2006/relationships/image" Target="../media/image97.wmf"/><Relationship Id="rId15" Type="http://schemas.openxmlformats.org/officeDocument/2006/relationships/image" Target="../media/image102.wmf"/><Relationship Id="rId10" Type="http://schemas.openxmlformats.org/officeDocument/2006/relationships/oleObject" Target="../embeddings/oleObject104.bin"/><Relationship Id="rId4" Type="http://schemas.openxmlformats.org/officeDocument/2006/relationships/oleObject" Target="../embeddings/oleObject101.bin"/><Relationship Id="rId9" Type="http://schemas.openxmlformats.org/officeDocument/2006/relationships/image" Target="../media/image99.wmf"/><Relationship Id="rId14" Type="http://schemas.openxmlformats.org/officeDocument/2006/relationships/oleObject" Target="../embeddings/oleObject106.bin"/></Relationships>
</file>

<file path=ppt/slides/_rels/slide42.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104.wmf"/><Relationship Id="rId2" Type="http://schemas.openxmlformats.org/officeDocument/2006/relationships/oleObject" Target="../embeddings/oleObject61.bin"/><Relationship Id="rId1" Type="http://schemas.openxmlformats.org/officeDocument/2006/relationships/slideLayout" Target="../slideLayouts/slideLayout10.xml"/><Relationship Id="rId6" Type="http://schemas.openxmlformats.org/officeDocument/2006/relationships/oleObject" Target="../embeddings/oleObject108.bin"/><Relationship Id="rId5" Type="http://schemas.openxmlformats.org/officeDocument/2006/relationships/image" Target="../media/image103.wmf"/><Relationship Id="rId4" Type="http://schemas.openxmlformats.org/officeDocument/2006/relationships/oleObject" Target="../embeddings/oleObject107.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12.bin"/><Relationship Id="rId3" Type="http://schemas.openxmlformats.org/officeDocument/2006/relationships/image" Target="../media/image105.wmf"/><Relationship Id="rId7" Type="http://schemas.openxmlformats.org/officeDocument/2006/relationships/image" Target="../media/image107.wmf"/><Relationship Id="rId2" Type="http://schemas.openxmlformats.org/officeDocument/2006/relationships/oleObject" Target="../embeddings/oleObject109.bin"/><Relationship Id="rId1" Type="http://schemas.openxmlformats.org/officeDocument/2006/relationships/slideLayout" Target="../slideLayouts/slideLayout10.xml"/><Relationship Id="rId6" Type="http://schemas.openxmlformats.org/officeDocument/2006/relationships/oleObject" Target="../embeddings/oleObject111.bin"/><Relationship Id="rId11" Type="http://schemas.openxmlformats.org/officeDocument/2006/relationships/image" Target="../media/image109.wmf"/><Relationship Id="rId5" Type="http://schemas.openxmlformats.org/officeDocument/2006/relationships/image" Target="../media/image106.wmf"/><Relationship Id="rId10" Type="http://schemas.openxmlformats.org/officeDocument/2006/relationships/oleObject" Target="../embeddings/oleObject113.bin"/><Relationship Id="rId4" Type="http://schemas.openxmlformats.org/officeDocument/2006/relationships/oleObject" Target="../embeddings/oleObject110.bin"/><Relationship Id="rId9" Type="http://schemas.openxmlformats.org/officeDocument/2006/relationships/image" Target="../media/image108.wmf"/></Relationships>
</file>

<file path=ppt/slides/_rels/slide44.x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2.wmf"/><Relationship Id="rId2" Type="http://schemas.openxmlformats.org/officeDocument/2006/relationships/oleObject" Target="../embeddings/oleObject114.bin"/><Relationship Id="rId1" Type="http://schemas.openxmlformats.org/officeDocument/2006/relationships/slideLayout" Target="../slideLayouts/slideLayout3.xml"/><Relationship Id="rId6" Type="http://schemas.openxmlformats.org/officeDocument/2006/relationships/oleObject" Target="../embeddings/oleObject116.bin"/><Relationship Id="rId5" Type="http://schemas.openxmlformats.org/officeDocument/2006/relationships/image" Target="../media/image111.wmf"/><Relationship Id="rId4" Type="http://schemas.openxmlformats.org/officeDocument/2006/relationships/oleObject" Target="../embeddings/oleObject115.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20.bin"/><Relationship Id="rId3" Type="http://schemas.openxmlformats.org/officeDocument/2006/relationships/image" Target="../media/image113.wmf"/><Relationship Id="rId7" Type="http://schemas.openxmlformats.org/officeDocument/2006/relationships/image" Target="../media/image115.wmf"/><Relationship Id="rId2" Type="http://schemas.openxmlformats.org/officeDocument/2006/relationships/oleObject" Target="../embeddings/oleObject117.bin"/><Relationship Id="rId1" Type="http://schemas.openxmlformats.org/officeDocument/2006/relationships/slideLayout" Target="../slideLayouts/slideLayout10.xml"/><Relationship Id="rId6" Type="http://schemas.openxmlformats.org/officeDocument/2006/relationships/oleObject" Target="../embeddings/oleObject119.bin"/><Relationship Id="rId5" Type="http://schemas.openxmlformats.org/officeDocument/2006/relationships/image" Target="../media/image114.wmf"/><Relationship Id="rId4" Type="http://schemas.openxmlformats.org/officeDocument/2006/relationships/oleObject" Target="../embeddings/oleObject118.bin"/><Relationship Id="rId9" Type="http://schemas.openxmlformats.org/officeDocument/2006/relationships/image" Target="../media/image116.wmf"/></Relationships>
</file>

<file path=ppt/slides/_rels/slide4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8.wmf"/><Relationship Id="rId7" Type="http://schemas.openxmlformats.org/officeDocument/2006/relationships/image" Target="../media/image120.wmf"/><Relationship Id="rId2" Type="http://schemas.openxmlformats.org/officeDocument/2006/relationships/oleObject" Target="../embeddings/oleObject121.bin"/><Relationship Id="rId1" Type="http://schemas.openxmlformats.org/officeDocument/2006/relationships/slideLayout" Target="../slideLayouts/slideLayout10.xml"/><Relationship Id="rId6" Type="http://schemas.openxmlformats.org/officeDocument/2006/relationships/oleObject" Target="../embeddings/oleObject123.bin"/><Relationship Id="rId5" Type="http://schemas.openxmlformats.org/officeDocument/2006/relationships/image" Target="../media/image119.wmf"/><Relationship Id="rId4" Type="http://schemas.openxmlformats.org/officeDocument/2006/relationships/oleObject" Target="../embeddings/oleObject122.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24.bin"/><Relationship Id="rId7" Type="http://schemas.openxmlformats.org/officeDocument/2006/relationships/image" Target="../media/image12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2.wmf"/><Relationship Id="rId5" Type="http://schemas.openxmlformats.org/officeDocument/2006/relationships/oleObject" Target="../embeddings/oleObject125.bin"/><Relationship Id="rId4" Type="http://schemas.openxmlformats.org/officeDocument/2006/relationships/image" Target="../media/image121.wmf"/></Relationships>
</file>

<file path=ppt/slides/_rels/slide50.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oleObject" Target="../embeddings/oleObject126.bin"/><Relationship Id="rId1" Type="http://schemas.openxmlformats.org/officeDocument/2006/relationships/slideLayout" Target="../slideLayouts/slideLayout3.xml"/><Relationship Id="rId5" Type="http://schemas.openxmlformats.org/officeDocument/2006/relationships/image" Target="../media/image125.wmf"/><Relationship Id="rId4" Type="http://schemas.openxmlformats.org/officeDocument/2006/relationships/oleObject" Target="../embeddings/oleObject127.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31.bin"/><Relationship Id="rId3" Type="http://schemas.openxmlformats.org/officeDocument/2006/relationships/image" Target="../media/image126.wmf"/><Relationship Id="rId7" Type="http://schemas.openxmlformats.org/officeDocument/2006/relationships/image" Target="../media/image128.wmf"/><Relationship Id="rId2" Type="http://schemas.openxmlformats.org/officeDocument/2006/relationships/oleObject" Target="../embeddings/oleObject128.bin"/><Relationship Id="rId1" Type="http://schemas.openxmlformats.org/officeDocument/2006/relationships/slideLayout" Target="../slideLayouts/slideLayout3.xml"/><Relationship Id="rId6" Type="http://schemas.openxmlformats.org/officeDocument/2006/relationships/oleObject" Target="../embeddings/oleObject130.bin"/><Relationship Id="rId5" Type="http://schemas.openxmlformats.org/officeDocument/2006/relationships/image" Target="../media/image127.wmf"/><Relationship Id="rId4" Type="http://schemas.openxmlformats.org/officeDocument/2006/relationships/oleObject" Target="../embeddings/oleObject129.bin"/><Relationship Id="rId9" Type="http://schemas.openxmlformats.org/officeDocument/2006/relationships/image" Target="../media/image129.wmf"/></Relationships>
</file>

<file path=ppt/slides/_rels/slide52.x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oleObject" Target="../embeddings/oleObject132.bin"/><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31.wmf"/><Relationship Id="rId7" Type="http://schemas.openxmlformats.org/officeDocument/2006/relationships/image" Target="../media/image133.wmf"/><Relationship Id="rId2" Type="http://schemas.openxmlformats.org/officeDocument/2006/relationships/oleObject" Target="../embeddings/oleObject133.bin"/><Relationship Id="rId1" Type="http://schemas.openxmlformats.org/officeDocument/2006/relationships/slideLayout" Target="../slideLayouts/slideLayout10.xml"/><Relationship Id="rId6" Type="http://schemas.openxmlformats.org/officeDocument/2006/relationships/oleObject" Target="../embeddings/oleObject135.bin"/><Relationship Id="rId5" Type="http://schemas.openxmlformats.org/officeDocument/2006/relationships/image" Target="../media/image132.wmf"/><Relationship Id="rId4" Type="http://schemas.openxmlformats.org/officeDocument/2006/relationships/oleObject" Target="../embeddings/oleObject134.bin"/></Relationships>
</file>

<file path=ppt/slides/_rels/slide54.xml.rels><?xml version="1.0" encoding="UTF-8" standalone="yes"?>
<Relationships xmlns="http://schemas.openxmlformats.org/package/2006/relationships"><Relationship Id="rId3" Type="http://schemas.openxmlformats.org/officeDocument/2006/relationships/image" Target="../media/image134.wmf"/><Relationship Id="rId7" Type="http://schemas.openxmlformats.org/officeDocument/2006/relationships/image" Target="../media/image135.wmf"/><Relationship Id="rId2" Type="http://schemas.openxmlformats.org/officeDocument/2006/relationships/oleObject" Target="../embeddings/oleObject136.bin"/><Relationship Id="rId1" Type="http://schemas.openxmlformats.org/officeDocument/2006/relationships/slideLayout" Target="../slideLayouts/slideLayout3.xml"/><Relationship Id="rId6" Type="http://schemas.openxmlformats.org/officeDocument/2006/relationships/oleObject" Target="../embeddings/oleObject138.bin"/><Relationship Id="rId5" Type="http://schemas.openxmlformats.org/officeDocument/2006/relationships/image" Target="../media/image30.wmf"/><Relationship Id="rId4" Type="http://schemas.openxmlformats.org/officeDocument/2006/relationships/oleObject" Target="../embeddings/oleObject137.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42.bin"/><Relationship Id="rId3" Type="http://schemas.openxmlformats.org/officeDocument/2006/relationships/image" Target="../media/image136.wmf"/><Relationship Id="rId7" Type="http://schemas.openxmlformats.org/officeDocument/2006/relationships/image" Target="../media/image138.wmf"/><Relationship Id="rId2" Type="http://schemas.openxmlformats.org/officeDocument/2006/relationships/oleObject" Target="../embeddings/oleObject139.bin"/><Relationship Id="rId1" Type="http://schemas.openxmlformats.org/officeDocument/2006/relationships/slideLayout" Target="../slideLayouts/slideLayout3.xml"/><Relationship Id="rId6" Type="http://schemas.openxmlformats.org/officeDocument/2006/relationships/oleObject" Target="../embeddings/oleObject141.bin"/><Relationship Id="rId5" Type="http://schemas.openxmlformats.org/officeDocument/2006/relationships/image" Target="../media/image137.wmf"/><Relationship Id="rId4" Type="http://schemas.openxmlformats.org/officeDocument/2006/relationships/oleObject" Target="../embeddings/oleObject140.bin"/><Relationship Id="rId9" Type="http://schemas.openxmlformats.org/officeDocument/2006/relationships/image" Target="../media/image139.wmf"/></Relationships>
</file>

<file path=ppt/slides/_rels/slide56.xml.rels><?xml version="1.0" encoding="UTF-8" standalone="yes"?>
<Relationships xmlns="http://schemas.openxmlformats.org/package/2006/relationships"><Relationship Id="rId3" Type="http://schemas.openxmlformats.org/officeDocument/2006/relationships/image" Target="../media/image140.wmf"/><Relationship Id="rId7" Type="http://schemas.openxmlformats.org/officeDocument/2006/relationships/image" Target="../media/image142.wmf"/><Relationship Id="rId2" Type="http://schemas.openxmlformats.org/officeDocument/2006/relationships/oleObject" Target="../embeddings/oleObject143.bin"/><Relationship Id="rId1" Type="http://schemas.openxmlformats.org/officeDocument/2006/relationships/slideLayout" Target="../slideLayouts/slideLayout3.xml"/><Relationship Id="rId6" Type="http://schemas.openxmlformats.org/officeDocument/2006/relationships/oleObject" Target="../embeddings/oleObject145.bin"/><Relationship Id="rId5" Type="http://schemas.openxmlformats.org/officeDocument/2006/relationships/image" Target="../media/image141.wmf"/><Relationship Id="rId4" Type="http://schemas.openxmlformats.org/officeDocument/2006/relationships/oleObject" Target="../embeddings/oleObject144.bin"/></Relationships>
</file>

<file path=ppt/slides/_rels/slide57.x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oleObject" Target="../embeddings/oleObject146.bin"/><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image" Target="../media/image144.wmf"/><Relationship Id="rId2" Type="http://schemas.openxmlformats.org/officeDocument/2006/relationships/oleObject" Target="../embeddings/oleObject147.bin"/><Relationship Id="rId1" Type="http://schemas.openxmlformats.org/officeDocument/2006/relationships/slideLayout" Target="../slideLayouts/slideLayout10.xml"/><Relationship Id="rId5" Type="http://schemas.openxmlformats.org/officeDocument/2006/relationships/image" Target="../media/image145.wmf"/><Relationship Id="rId4" Type="http://schemas.openxmlformats.org/officeDocument/2006/relationships/oleObject" Target="../embeddings/oleObject148.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52.bin"/><Relationship Id="rId3" Type="http://schemas.openxmlformats.org/officeDocument/2006/relationships/image" Target="../media/image146.wmf"/><Relationship Id="rId7" Type="http://schemas.openxmlformats.org/officeDocument/2006/relationships/image" Target="../media/image148.wmf"/><Relationship Id="rId2" Type="http://schemas.openxmlformats.org/officeDocument/2006/relationships/oleObject" Target="../embeddings/oleObject149.bin"/><Relationship Id="rId1" Type="http://schemas.openxmlformats.org/officeDocument/2006/relationships/slideLayout" Target="../slideLayouts/slideLayout10.xml"/><Relationship Id="rId6" Type="http://schemas.openxmlformats.org/officeDocument/2006/relationships/oleObject" Target="../embeddings/oleObject151.bin"/><Relationship Id="rId5" Type="http://schemas.openxmlformats.org/officeDocument/2006/relationships/image" Target="../media/image147.wmf"/><Relationship Id="rId4" Type="http://schemas.openxmlformats.org/officeDocument/2006/relationships/oleObject" Target="../embeddings/oleObject150.bin"/><Relationship Id="rId9" Type="http://schemas.openxmlformats.org/officeDocument/2006/relationships/image" Target="../media/image149.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image" Target="../media/image155.wmf"/><Relationship Id="rId18" Type="http://schemas.openxmlformats.org/officeDocument/2006/relationships/oleObject" Target="../embeddings/oleObject161.bin"/><Relationship Id="rId3" Type="http://schemas.openxmlformats.org/officeDocument/2006/relationships/image" Target="../media/image150.wmf"/><Relationship Id="rId7" Type="http://schemas.openxmlformats.org/officeDocument/2006/relationships/image" Target="../media/image152.wmf"/><Relationship Id="rId12" Type="http://schemas.openxmlformats.org/officeDocument/2006/relationships/oleObject" Target="../embeddings/oleObject158.bin"/><Relationship Id="rId17" Type="http://schemas.openxmlformats.org/officeDocument/2006/relationships/image" Target="../media/image157.wmf"/><Relationship Id="rId2" Type="http://schemas.openxmlformats.org/officeDocument/2006/relationships/oleObject" Target="../embeddings/oleObject153.bin"/><Relationship Id="rId16" Type="http://schemas.openxmlformats.org/officeDocument/2006/relationships/oleObject" Target="../embeddings/oleObject160.bin"/><Relationship Id="rId1" Type="http://schemas.openxmlformats.org/officeDocument/2006/relationships/slideLayout" Target="../slideLayouts/slideLayout3.xml"/><Relationship Id="rId6" Type="http://schemas.openxmlformats.org/officeDocument/2006/relationships/oleObject" Target="../embeddings/oleObject155.bin"/><Relationship Id="rId11" Type="http://schemas.openxmlformats.org/officeDocument/2006/relationships/image" Target="../media/image154.wmf"/><Relationship Id="rId5" Type="http://schemas.openxmlformats.org/officeDocument/2006/relationships/image" Target="../media/image151.wmf"/><Relationship Id="rId15" Type="http://schemas.openxmlformats.org/officeDocument/2006/relationships/image" Target="../media/image156.wmf"/><Relationship Id="rId10" Type="http://schemas.openxmlformats.org/officeDocument/2006/relationships/oleObject" Target="../embeddings/oleObject157.bin"/><Relationship Id="rId19" Type="http://schemas.openxmlformats.org/officeDocument/2006/relationships/image" Target="../media/image158.wmf"/><Relationship Id="rId4" Type="http://schemas.openxmlformats.org/officeDocument/2006/relationships/oleObject" Target="../embeddings/oleObject154.bin"/><Relationship Id="rId9" Type="http://schemas.openxmlformats.org/officeDocument/2006/relationships/image" Target="../media/image153.wmf"/><Relationship Id="rId14" Type="http://schemas.openxmlformats.org/officeDocument/2006/relationships/oleObject" Target="../embeddings/oleObject159.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62.bin"/><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60.png"/><Relationship Id="rId4" Type="http://schemas.openxmlformats.org/officeDocument/2006/relationships/image" Target="../media/image159.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61.wmf"/><Relationship Id="rId2" Type="http://schemas.openxmlformats.org/officeDocument/2006/relationships/oleObject" Target="../embeddings/oleObject163.bin"/><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oleObject" Target="../embeddings/oleObject164.bin"/><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68.bin"/><Relationship Id="rId3" Type="http://schemas.openxmlformats.org/officeDocument/2006/relationships/image" Target="../media/image163.wmf"/><Relationship Id="rId7" Type="http://schemas.openxmlformats.org/officeDocument/2006/relationships/image" Target="../media/image165.wmf"/><Relationship Id="rId2" Type="http://schemas.openxmlformats.org/officeDocument/2006/relationships/oleObject" Target="../embeddings/oleObject165.bin"/><Relationship Id="rId1" Type="http://schemas.openxmlformats.org/officeDocument/2006/relationships/slideLayout" Target="../slideLayouts/slideLayout10.xml"/><Relationship Id="rId6" Type="http://schemas.openxmlformats.org/officeDocument/2006/relationships/oleObject" Target="../embeddings/oleObject167.bin"/><Relationship Id="rId11" Type="http://schemas.openxmlformats.org/officeDocument/2006/relationships/image" Target="../media/image167.wmf"/><Relationship Id="rId5" Type="http://schemas.openxmlformats.org/officeDocument/2006/relationships/image" Target="../media/image164.wmf"/><Relationship Id="rId10" Type="http://schemas.openxmlformats.org/officeDocument/2006/relationships/oleObject" Target="../embeddings/oleObject169.bin"/><Relationship Id="rId4" Type="http://schemas.openxmlformats.org/officeDocument/2006/relationships/oleObject" Target="../embeddings/oleObject166.bin"/><Relationship Id="rId9" Type="http://schemas.openxmlformats.org/officeDocument/2006/relationships/image" Target="../media/image166.wmf"/></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173.bin"/><Relationship Id="rId13" Type="http://schemas.openxmlformats.org/officeDocument/2006/relationships/image" Target="../media/image172.wmf"/><Relationship Id="rId18" Type="http://schemas.openxmlformats.org/officeDocument/2006/relationships/oleObject" Target="../embeddings/oleObject178.bin"/><Relationship Id="rId3" Type="http://schemas.openxmlformats.org/officeDocument/2006/relationships/image" Target="../media/image150.wmf"/><Relationship Id="rId21" Type="http://schemas.openxmlformats.org/officeDocument/2006/relationships/image" Target="../media/image176.wmf"/><Relationship Id="rId7" Type="http://schemas.openxmlformats.org/officeDocument/2006/relationships/image" Target="../media/image169.wmf"/><Relationship Id="rId12" Type="http://schemas.openxmlformats.org/officeDocument/2006/relationships/oleObject" Target="../embeddings/oleObject175.bin"/><Relationship Id="rId17" Type="http://schemas.openxmlformats.org/officeDocument/2006/relationships/image" Target="../media/image174.wmf"/><Relationship Id="rId2" Type="http://schemas.openxmlformats.org/officeDocument/2006/relationships/oleObject" Target="../embeddings/oleObject170.bin"/><Relationship Id="rId16" Type="http://schemas.openxmlformats.org/officeDocument/2006/relationships/oleObject" Target="../embeddings/oleObject177.bin"/><Relationship Id="rId20" Type="http://schemas.openxmlformats.org/officeDocument/2006/relationships/oleObject" Target="../embeddings/oleObject179.bin"/><Relationship Id="rId1" Type="http://schemas.openxmlformats.org/officeDocument/2006/relationships/slideLayout" Target="../slideLayouts/slideLayout3.xml"/><Relationship Id="rId6" Type="http://schemas.openxmlformats.org/officeDocument/2006/relationships/oleObject" Target="../embeddings/oleObject172.bin"/><Relationship Id="rId11" Type="http://schemas.openxmlformats.org/officeDocument/2006/relationships/image" Target="../media/image171.wmf"/><Relationship Id="rId5" Type="http://schemas.openxmlformats.org/officeDocument/2006/relationships/image" Target="../media/image168.wmf"/><Relationship Id="rId15" Type="http://schemas.openxmlformats.org/officeDocument/2006/relationships/image" Target="../media/image173.wmf"/><Relationship Id="rId23" Type="http://schemas.openxmlformats.org/officeDocument/2006/relationships/image" Target="../media/image177.wmf"/><Relationship Id="rId10" Type="http://schemas.openxmlformats.org/officeDocument/2006/relationships/oleObject" Target="../embeddings/oleObject174.bin"/><Relationship Id="rId19" Type="http://schemas.openxmlformats.org/officeDocument/2006/relationships/image" Target="../media/image175.wmf"/><Relationship Id="rId4" Type="http://schemas.openxmlformats.org/officeDocument/2006/relationships/oleObject" Target="../embeddings/oleObject171.bin"/><Relationship Id="rId9" Type="http://schemas.openxmlformats.org/officeDocument/2006/relationships/image" Target="../media/image170.wmf"/><Relationship Id="rId14" Type="http://schemas.openxmlformats.org/officeDocument/2006/relationships/oleObject" Target="../embeddings/oleObject176.bin"/><Relationship Id="rId22" Type="http://schemas.openxmlformats.org/officeDocument/2006/relationships/oleObject" Target="../embeddings/oleObject180.bin"/></Relationships>
</file>

<file path=ppt/slides/_rels/slide68.x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oleObject" Target="../embeddings/oleObject181.bin"/><Relationship Id="rId7" Type="http://schemas.openxmlformats.org/officeDocument/2006/relationships/oleObject" Target="../embeddings/oleObject183.bin"/><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79.wmf"/><Relationship Id="rId11" Type="http://schemas.openxmlformats.org/officeDocument/2006/relationships/image" Target="../media/image182.png"/><Relationship Id="rId5" Type="http://schemas.openxmlformats.org/officeDocument/2006/relationships/oleObject" Target="../embeddings/oleObject182.bin"/><Relationship Id="rId10" Type="http://schemas.openxmlformats.org/officeDocument/2006/relationships/image" Target="../media/image181.wmf"/><Relationship Id="rId4" Type="http://schemas.openxmlformats.org/officeDocument/2006/relationships/image" Target="../media/image178.wmf"/><Relationship Id="rId9" Type="http://schemas.openxmlformats.org/officeDocument/2006/relationships/oleObject" Target="../embeddings/oleObject184.bin"/></Relationships>
</file>

<file path=ppt/slides/_rels/slide69.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4.wmf"/><Relationship Id="rId2" Type="http://schemas.openxmlformats.org/officeDocument/2006/relationships/oleObject" Target="../embeddings/oleObject185.bin"/><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oleObject" Target="../embeddings/oleObject186.bin"/><Relationship Id="rId1" Type="http://schemas.openxmlformats.org/officeDocument/2006/relationships/slideLayout" Target="../slideLayouts/slideLayout10.xml"/><Relationship Id="rId5" Type="http://schemas.openxmlformats.org/officeDocument/2006/relationships/image" Target="../media/image186.wmf"/><Relationship Id="rId4" Type="http://schemas.openxmlformats.org/officeDocument/2006/relationships/oleObject" Target="../embeddings/oleObject187.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191.bin"/><Relationship Id="rId3" Type="http://schemas.openxmlformats.org/officeDocument/2006/relationships/image" Target="../media/image187.wmf"/><Relationship Id="rId7" Type="http://schemas.openxmlformats.org/officeDocument/2006/relationships/image" Target="../media/image189.wmf"/><Relationship Id="rId2" Type="http://schemas.openxmlformats.org/officeDocument/2006/relationships/oleObject" Target="../embeddings/oleObject188.bin"/><Relationship Id="rId1" Type="http://schemas.openxmlformats.org/officeDocument/2006/relationships/slideLayout" Target="../slideLayouts/slideLayout10.xml"/><Relationship Id="rId6" Type="http://schemas.openxmlformats.org/officeDocument/2006/relationships/oleObject" Target="../embeddings/oleObject190.bin"/><Relationship Id="rId11" Type="http://schemas.openxmlformats.org/officeDocument/2006/relationships/image" Target="../media/image191.wmf"/><Relationship Id="rId5" Type="http://schemas.openxmlformats.org/officeDocument/2006/relationships/image" Target="../media/image188.wmf"/><Relationship Id="rId10" Type="http://schemas.openxmlformats.org/officeDocument/2006/relationships/oleObject" Target="../embeddings/oleObject192.bin"/><Relationship Id="rId4" Type="http://schemas.openxmlformats.org/officeDocument/2006/relationships/oleObject" Target="../embeddings/oleObject189.bin"/><Relationship Id="rId9" Type="http://schemas.openxmlformats.org/officeDocument/2006/relationships/image" Target="../media/image190.w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96.bin"/><Relationship Id="rId3" Type="http://schemas.openxmlformats.org/officeDocument/2006/relationships/image" Target="../media/image192.wmf"/><Relationship Id="rId7" Type="http://schemas.openxmlformats.org/officeDocument/2006/relationships/image" Target="../media/image194.wmf"/><Relationship Id="rId2" Type="http://schemas.openxmlformats.org/officeDocument/2006/relationships/oleObject" Target="../embeddings/oleObject193.bin"/><Relationship Id="rId1" Type="http://schemas.openxmlformats.org/officeDocument/2006/relationships/slideLayout" Target="../slideLayouts/slideLayout10.xml"/><Relationship Id="rId6" Type="http://schemas.openxmlformats.org/officeDocument/2006/relationships/oleObject" Target="../embeddings/oleObject195.bin"/><Relationship Id="rId5" Type="http://schemas.openxmlformats.org/officeDocument/2006/relationships/image" Target="../media/image193.wmf"/><Relationship Id="rId4" Type="http://schemas.openxmlformats.org/officeDocument/2006/relationships/oleObject" Target="../embeddings/oleObject194.bin"/><Relationship Id="rId9" Type="http://schemas.openxmlformats.org/officeDocument/2006/relationships/image" Target="../media/image195.wmf"/></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00.bin"/><Relationship Id="rId3" Type="http://schemas.openxmlformats.org/officeDocument/2006/relationships/image" Target="../media/image185.wmf"/><Relationship Id="rId7" Type="http://schemas.openxmlformats.org/officeDocument/2006/relationships/image" Target="../media/image197.wmf"/><Relationship Id="rId2" Type="http://schemas.openxmlformats.org/officeDocument/2006/relationships/oleObject" Target="../embeddings/oleObject197.bin"/><Relationship Id="rId1" Type="http://schemas.openxmlformats.org/officeDocument/2006/relationships/slideLayout" Target="../slideLayouts/slideLayout3.xml"/><Relationship Id="rId6" Type="http://schemas.openxmlformats.org/officeDocument/2006/relationships/oleObject" Target="../embeddings/oleObject199.bin"/><Relationship Id="rId11" Type="http://schemas.openxmlformats.org/officeDocument/2006/relationships/image" Target="../media/image199.wmf"/><Relationship Id="rId5" Type="http://schemas.openxmlformats.org/officeDocument/2006/relationships/image" Target="../media/image196.wmf"/><Relationship Id="rId10" Type="http://schemas.openxmlformats.org/officeDocument/2006/relationships/oleObject" Target="../embeddings/oleObject201.bin"/><Relationship Id="rId4" Type="http://schemas.openxmlformats.org/officeDocument/2006/relationships/oleObject" Target="../embeddings/oleObject198.bin"/><Relationship Id="rId9" Type="http://schemas.openxmlformats.org/officeDocument/2006/relationships/image" Target="../media/image198.wmf"/></Relationships>
</file>

<file path=ppt/slides/_rels/slide76.xml.rels><?xml version="1.0" encoding="UTF-8" standalone="yes"?>
<Relationships xmlns="http://schemas.openxmlformats.org/package/2006/relationships"><Relationship Id="rId3" Type="http://schemas.openxmlformats.org/officeDocument/2006/relationships/image" Target="../media/image200.wmf"/><Relationship Id="rId2" Type="http://schemas.openxmlformats.org/officeDocument/2006/relationships/oleObject" Target="../embeddings/oleObject202.bin"/><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201.wmf"/><Relationship Id="rId2" Type="http://schemas.openxmlformats.org/officeDocument/2006/relationships/oleObject" Target="../embeddings/oleObject203.bin"/><Relationship Id="rId1" Type="http://schemas.openxmlformats.org/officeDocument/2006/relationships/slideLayout" Target="../slideLayouts/slideLayout3.xml"/><Relationship Id="rId4" Type="http://schemas.openxmlformats.org/officeDocument/2006/relationships/oleObject" Target="../embeddings/oleObject204.bin"/></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208.bin"/><Relationship Id="rId13" Type="http://schemas.openxmlformats.org/officeDocument/2006/relationships/image" Target="../media/image207.wmf"/><Relationship Id="rId3" Type="http://schemas.openxmlformats.org/officeDocument/2006/relationships/image" Target="../media/image202.wmf"/><Relationship Id="rId7" Type="http://schemas.openxmlformats.org/officeDocument/2006/relationships/image" Target="../media/image204.wmf"/><Relationship Id="rId12" Type="http://schemas.openxmlformats.org/officeDocument/2006/relationships/oleObject" Target="../embeddings/oleObject210.bin"/><Relationship Id="rId2" Type="http://schemas.openxmlformats.org/officeDocument/2006/relationships/oleObject" Target="../embeddings/oleObject205.bin"/><Relationship Id="rId1" Type="http://schemas.openxmlformats.org/officeDocument/2006/relationships/slideLayout" Target="../slideLayouts/slideLayout10.xml"/><Relationship Id="rId6" Type="http://schemas.openxmlformats.org/officeDocument/2006/relationships/oleObject" Target="../embeddings/oleObject207.bin"/><Relationship Id="rId11" Type="http://schemas.openxmlformats.org/officeDocument/2006/relationships/image" Target="../media/image206.wmf"/><Relationship Id="rId5" Type="http://schemas.openxmlformats.org/officeDocument/2006/relationships/image" Target="../media/image203.wmf"/><Relationship Id="rId15" Type="http://schemas.openxmlformats.org/officeDocument/2006/relationships/image" Target="../media/image208.wmf"/><Relationship Id="rId10" Type="http://schemas.openxmlformats.org/officeDocument/2006/relationships/oleObject" Target="../embeddings/oleObject209.bin"/><Relationship Id="rId4" Type="http://schemas.openxmlformats.org/officeDocument/2006/relationships/oleObject" Target="../embeddings/oleObject206.bin"/><Relationship Id="rId9" Type="http://schemas.openxmlformats.org/officeDocument/2006/relationships/image" Target="../media/image205.wmf"/><Relationship Id="rId14" Type="http://schemas.openxmlformats.org/officeDocument/2006/relationships/oleObject" Target="../embeddings/oleObject211.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215.bin"/><Relationship Id="rId3" Type="http://schemas.openxmlformats.org/officeDocument/2006/relationships/image" Target="../media/image209.wmf"/><Relationship Id="rId7" Type="http://schemas.openxmlformats.org/officeDocument/2006/relationships/image" Target="../media/image211.wmf"/><Relationship Id="rId2" Type="http://schemas.openxmlformats.org/officeDocument/2006/relationships/oleObject" Target="../embeddings/oleObject212.bin"/><Relationship Id="rId1" Type="http://schemas.openxmlformats.org/officeDocument/2006/relationships/slideLayout" Target="../slideLayouts/slideLayout10.xml"/><Relationship Id="rId6" Type="http://schemas.openxmlformats.org/officeDocument/2006/relationships/oleObject" Target="../embeddings/oleObject214.bin"/><Relationship Id="rId11" Type="http://schemas.openxmlformats.org/officeDocument/2006/relationships/image" Target="../media/image213.wmf"/><Relationship Id="rId5" Type="http://schemas.openxmlformats.org/officeDocument/2006/relationships/image" Target="../media/image210.wmf"/><Relationship Id="rId10" Type="http://schemas.openxmlformats.org/officeDocument/2006/relationships/oleObject" Target="../embeddings/oleObject216.bin"/><Relationship Id="rId4" Type="http://schemas.openxmlformats.org/officeDocument/2006/relationships/oleObject" Target="../embeddings/oleObject213.bin"/><Relationship Id="rId9" Type="http://schemas.openxmlformats.org/officeDocument/2006/relationships/image" Target="../media/image212.w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220.bin"/><Relationship Id="rId3" Type="http://schemas.openxmlformats.org/officeDocument/2006/relationships/image" Target="../media/image214.wmf"/><Relationship Id="rId7" Type="http://schemas.openxmlformats.org/officeDocument/2006/relationships/image" Target="../media/image216.wmf"/><Relationship Id="rId2" Type="http://schemas.openxmlformats.org/officeDocument/2006/relationships/oleObject" Target="../embeddings/oleObject217.bin"/><Relationship Id="rId1" Type="http://schemas.openxmlformats.org/officeDocument/2006/relationships/slideLayout" Target="../slideLayouts/slideLayout10.xml"/><Relationship Id="rId6" Type="http://schemas.openxmlformats.org/officeDocument/2006/relationships/oleObject" Target="../embeddings/oleObject219.bin"/><Relationship Id="rId5" Type="http://schemas.openxmlformats.org/officeDocument/2006/relationships/image" Target="../media/image215.wmf"/><Relationship Id="rId4" Type="http://schemas.openxmlformats.org/officeDocument/2006/relationships/oleObject" Target="../embeddings/oleObject218.bin"/><Relationship Id="rId9" Type="http://schemas.openxmlformats.org/officeDocument/2006/relationships/image" Target="../media/image217.wmf"/></Relationships>
</file>

<file path=ppt/slides/_rels/slide81.x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oleObject" Target="../embeddings/oleObject221.bin"/><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225.bin"/><Relationship Id="rId13" Type="http://schemas.openxmlformats.org/officeDocument/2006/relationships/image" Target="../media/image225.wmf"/><Relationship Id="rId3" Type="http://schemas.openxmlformats.org/officeDocument/2006/relationships/image" Target="../media/image220.wmf"/><Relationship Id="rId7" Type="http://schemas.openxmlformats.org/officeDocument/2006/relationships/image" Target="../media/image222.wmf"/><Relationship Id="rId12" Type="http://schemas.openxmlformats.org/officeDocument/2006/relationships/oleObject" Target="../embeddings/oleObject227.bin"/><Relationship Id="rId2" Type="http://schemas.openxmlformats.org/officeDocument/2006/relationships/oleObject" Target="../embeddings/oleObject222.bin"/><Relationship Id="rId1" Type="http://schemas.openxmlformats.org/officeDocument/2006/relationships/slideLayout" Target="../slideLayouts/slideLayout10.xml"/><Relationship Id="rId6" Type="http://schemas.openxmlformats.org/officeDocument/2006/relationships/oleObject" Target="../embeddings/oleObject224.bin"/><Relationship Id="rId11" Type="http://schemas.openxmlformats.org/officeDocument/2006/relationships/image" Target="../media/image224.wmf"/><Relationship Id="rId5" Type="http://schemas.openxmlformats.org/officeDocument/2006/relationships/image" Target="../media/image221.wmf"/><Relationship Id="rId15" Type="http://schemas.openxmlformats.org/officeDocument/2006/relationships/image" Target="../media/image226.wmf"/><Relationship Id="rId10" Type="http://schemas.openxmlformats.org/officeDocument/2006/relationships/oleObject" Target="../embeddings/oleObject226.bin"/><Relationship Id="rId4" Type="http://schemas.openxmlformats.org/officeDocument/2006/relationships/oleObject" Target="../embeddings/oleObject223.bin"/><Relationship Id="rId9" Type="http://schemas.openxmlformats.org/officeDocument/2006/relationships/image" Target="../media/image223.wmf"/><Relationship Id="rId14" Type="http://schemas.openxmlformats.org/officeDocument/2006/relationships/oleObject" Target="../embeddings/oleObject228.bin"/></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232.bin"/><Relationship Id="rId13" Type="http://schemas.openxmlformats.org/officeDocument/2006/relationships/image" Target="../media/image231.wmf"/><Relationship Id="rId3" Type="http://schemas.openxmlformats.org/officeDocument/2006/relationships/image" Target="../media/image209.wmf"/><Relationship Id="rId7" Type="http://schemas.openxmlformats.org/officeDocument/2006/relationships/image" Target="../media/image228.wmf"/><Relationship Id="rId12" Type="http://schemas.openxmlformats.org/officeDocument/2006/relationships/oleObject" Target="../embeddings/oleObject234.bin"/><Relationship Id="rId2" Type="http://schemas.openxmlformats.org/officeDocument/2006/relationships/oleObject" Target="../embeddings/oleObject229.bin"/><Relationship Id="rId1" Type="http://schemas.openxmlformats.org/officeDocument/2006/relationships/slideLayout" Target="../slideLayouts/slideLayout10.xml"/><Relationship Id="rId6" Type="http://schemas.openxmlformats.org/officeDocument/2006/relationships/oleObject" Target="../embeddings/oleObject231.bin"/><Relationship Id="rId11" Type="http://schemas.openxmlformats.org/officeDocument/2006/relationships/image" Target="../media/image230.wmf"/><Relationship Id="rId5" Type="http://schemas.openxmlformats.org/officeDocument/2006/relationships/image" Target="../media/image227.wmf"/><Relationship Id="rId10" Type="http://schemas.openxmlformats.org/officeDocument/2006/relationships/oleObject" Target="../embeddings/oleObject233.bin"/><Relationship Id="rId4" Type="http://schemas.openxmlformats.org/officeDocument/2006/relationships/oleObject" Target="../embeddings/oleObject230.bin"/><Relationship Id="rId9" Type="http://schemas.openxmlformats.org/officeDocument/2006/relationships/image" Target="../media/image229.wmf"/></Relationships>
</file>

<file path=ppt/slides/_rels/slide85.xml.rels><?xml version="1.0" encoding="UTF-8" standalone="yes"?>
<Relationships xmlns="http://schemas.openxmlformats.org/package/2006/relationships"><Relationship Id="rId8" Type="http://schemas.openxmlformats.org/officeDocument/2006/relationships/oleObject" Target="../embeddings/oleObject238.bin"/><Relationship Id="rId3" Type="http://schemas.openxmlformats.org/officeDocument/2006/relationships/image" Target="../media/image232.wmf"/><Relationship Id="rId7" Type="http://schemas.openxmlformats.org/officeDocument/2006/relationships/image" Target="../media/image234.wmf"/><Relationship Id="rId2" Type="http://schemas.openxmlformats.org/officeDocument/2006/relationships/oleObject" Target="../embeddings/oleObject235.bin"/><Relationship Id="rId1" Type="http://schemas.openxmlformats.org/officeDocument/2006/relationships/slideLayout" Target="../slideLayouts/slideLayout10.xml"/><Relationship Id="rId6" Type="http://schemas.openxmlformats.org/officeDocument/2006/relationships/oleObject" Target="../embeddings/oleObject237.bin"/><Relationship Id="rId5" Type="http://schemas.openxmlformats.org/officeDocument/2006/relationships/image" Target="../media/image233.wmf"/><Relationship Id="rId4" Type="http://schemas.openxmlformats.org/officeDocument/2006/relationships/oleObject" Target="../embeddings/oleObject236.bin"/><Relationship Id="rId9" Type="http://schemas.openxmlformats.org/officeDocument/2006/relationships/image" Target="../media/image235.wmf"/></Relationships>
</file>

<file path=ppt/slides/_rels/slide86.x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oleObject" Target="../embeddings/oleObject239.bin"/><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57199" y="143692"/>
            <a:ext cx="8229601" cy="987333"/>
          </a:xfrm>
        </p:spPr>
        <p:txBody>
          <a:bodyPr anchor="ctr"/>
          <a:lstStyle/>
          <a:p>
            <a:r>
              <a:rPr lang="en-US" dirty="0"/>
              <a:t>Inferential Statistics</a:t>
            </a:r>
            <a:endParaRPr lang="en-US" sz="3000" dirty="0"/>
          </a:p>
        </p:txBody>
      </p:sp>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 y="2066444"/>
            <a:ext cx="3801292" cy="1186345"/>
          </a:xfrm>
        </p:spPr>
        <p:txBody>
          <a:bodyPr/>
          <a:lstStyle/>
          <a:p>
            <a:pPr marL="0" algn="ctr"/>
            <a:r>
              <a:rPr lang="en-US" sz="4000" b="1" dirty="0">
                <a:solidFill>
                  <a:schemeClr val="tx1"/>
                </a:solidFill>
                <a:latin typeface="+mj-lt"/>
              </a:rPr>
              <a:t>Lecture 7</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2519265" y="3252789"/>
            <a:ext cx="6245912" cy="2376115"/>
          </a:xfrm>
        </p:spPr>
        <p:txBody>
          <a:bodyPr/>
          <a:lstStyle/>
          <a:p>
            <a:r>
              <a:rPr lang="en-US" altLang="en-US" sz="3600" dirty="0">
                <a:solidFill>
                  <a:schemeClr val="tx1"/>
                </a:solidFill>
              </a:rPr>
              <a:t>Hypothesis Testing with Two Samples</a:t>
            </a:r>
          </a:p>
        </p:txBody>
      </p:sp>
      <p:sp>
        <p:nvSpPr>
          <p:cNvPr id="7" name="Text Placeholder 6">
            <a:extLst>
              <a:ext uri="{FF2B5EF4-FFF2-40B4-BE49-F238E27FC236}">
                <a16:creationId xmlns:a16="http://schemas.microsoft.com/office/drawing/2014/main" id="{A45721AF-1A1B-E371-2E49-3D5DF9D9F27E}"/>
              </a:ext>
            </a:extLst>
          </p:cNvPr>
          <p:cNvSpPr>
            <a:spLocks noGrp="1"/>
          </p:cNvSpPr>
          <p:nvPr>
            <p:ph type="body" idx="1"/>
          </p:nvPr>
        </p:nvSpPr>
        <p:spPr/>
        <p:txBody>
          <a:bodyPr/>
          <a:lstStyle/>
          <a:p>
            <a:endParaRPr lang="en-IE"/>
          </a:p>
        </p:txBody>
      </p:sp>
      <p:pic>
        <p:nvPicPr>
          <p:cNvPr id="15" name="Content Placeholder 14" descr="Chart">
            <a:extLst>
              <a:ext uri="{FF2B5EF4-FFF2-40B4-BE49-F238E27FC236}">
                <a16:creationId xmlns:a16="http://schemas.microsoft.com/office/drawing/2014/main" id="{8652F0B5-E02A-DF43-6F7E-93EB0101072D}"/>
              </a:ext>
            </a:extLst>
          </p:cNvPr>
          <p:cNvPicPr>
            <a:picLocks noGrp="1" noChangeAspect="1"/>
          </p:cNvPicPr>
          <p:nvPr>
            <p:ph sz="quarter" idx="17"/>
          </p:nvPr>
        </p:nvPicPr>
        <p:blipFill>
          <a:blip r:embed="rId3">
            <a:extLst>
              <a:ext uri="{837473B0-CC2E-450A-ABE3-18F120FF3D39}">
                <a1611:picAttrSrcUrl xmlns:a1611="http://schemas.microsoft.com/office/drawing/2016/11/main" r:id="rId4"/>
              </a:ext>
            </a:extLst>
          </a:blip>
          <a:stretch>
            <a:fillRect/>
          </a:stretch>
        </p:blipFill>
        <p:spPr>
          <a:xfrm>
            <a:off x="539068" y="4257212"/>
            <a:ext cx="3232605" cy="2234682"/>
          </a:xfrm>
        </p:spPr>
      </p:pic>
      <p:sp>
        <p:nvSpPr>
          <p:cNvPr id="16" name="TextBox 15">
            <a:extLst>
              <a:ext uri="{FF2B5EF4-FFF2-40B4-BE49-F238E27FC236}">
                <a16:creationId xmlns:a16="http://schemas.microsoft.com/office/drawing/2014/main" id="{EE724070-63B6-D51E-AC71-7079EFD526BD}"/>
              </a:ext>
            </a:extLst>
          </p:cNvPr>
          <p:cNvSpPr txBox="1"/>
          <p:nvPr/>
        </p:nvSpPr>
        <p:spPr>
          <a:xfrm>
            <a:off x="4891944" y="-257885"/>
            <a:ext cx="3889408" cy="230832"/>
          </a:xfrm>
          <a:prstGeom prst="rect">
            <a:avLst/>
          </a:prstGeom>
          <a:noFill/>
        </p:spPr>
        <p:txBody>
          <a:bodyPr wrap="square" rtlCol="0">
            <a:spAutoFit/>
          </a:bodyPr>
          <a:lstStyle/>
          <a:p>
            <a:r>
              <a:rPr lang="en-IE" sz="900">
                <a:hlinkClick r:id="rId4" tooltip="https://milnepublishing.geneseo.edu/natural-resources-biometrics/chapter/chapter-3-hypothesis-testing/"/>
              </a:rPr>
              <a:t>This Photo</a:t>
            </a:r>
            <a:r>
              <a:rPr lang="en-IE" sz="900"/>
              <a:t> by Unknown Author is licensed under </a:t>
            </a:r>
            <a:r>
              <a:rPr lang="en-IE" sz="900">
                <a:hlinkClick r:id="rId5" tooltip="https://creativecommons.org/licenses/by-nc-sa/3.0/"/>
              </a:rPr>
              <a:t>CC BY-SA-NC</a:t>
            </a:r>
            <a:endParaRPr lang="en-IE" sz="900"/>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altLang="en-US" dirty="0"/>
              <a:t>Chapter Outline</a:t>
            </a:r>
            <a:endParaRPr lang="en-US" dirty="0"/>
          </a:p>
        </p:txBody>
      </p:sp>
      <p:sp>
        <p:nvSpPr>
          <p:cNvPr id="6" name="Content Placeholder 5"/>
          <p:cNvSpPr>
            <a:spLocks noGrp="1"/>
          </p:cNvSpPr>
          <p:nvPr>
            <p:ph sz="quarter" idx="13"/>
          </p:nvPr>
        </p:nvSpPr>
        <p:spPr>
          <a:xfrm>
            <a:off x="457200" y="1552575"/>
            <a:ext cx="7833359" cy="442480"/>
          </a:xfrm>
        </p:spPr>
        <p:txBody>
          <a:bodyPr/>
          <a:lstStyle/>
          <a:p>
            <a:pPr marL="432" indent="0">
              <a:buNone/>
            </a:pPr>
            <a:r>
              <a:rPr lang="en-US" altLang="en-US" b="1" dirty="0">
                <a:solidFill>
                  <a:schemeClr val="tx2"/>
                </a:solidFill>
              </a:rPr>
              <a:t>7.1</a:t>
            </a:r>
            <a:r>
              <a:rPr lang="en-US" altLang="en-US" dirty="0"/>
              <a:t> Testing the Difference Between Means (Independent</a:t>
            </a:r>
            <a:endParaRPr lang="en-IN" dirty="0"/>
          </a:p>
        </p:txBody>
      </p:sp>
      <p:sp>
        <p:nvSpPr>
          <p:cNvPr id="11" name="Content Placeholder 10"/>
          <p:cNvSpPr>
            <a:spLocks noGrp="1"/>
          </p:cNvSpPr>
          <p:nvPr>
            <p:ph sz="quarter" idx="14"/>
          </p:nvPr>
        </p:nvSpPr>
        <p:spPr>
          <a:xfrm>
            <a:off x="457200" y="2066307"/>
            <a:ext cx="1419101" cy="439388"/>
          </a:xfrm>
        </p:spPr>
        <p:txBody>
          <a:bodyPr/>
          <a:lstStyle/>
          <a:p>
            <a:pPr marL="432" indent="0">
              <a:buNone/>
            </a:pPr>
            <a:r>
              <a:rPr lang="en-US" altLang="en-US" dirty="0"/>
              <a:t>Samples,</a:t>
            </a:r>
            <a:endParaRPr lang="en-IN" dirty="0"/>
          </a:p>
        </p:txBody>
      </p:sp>
      <p:graphicFrame>
        <p:nvGraphicFramePr>
          <p:cNvPr id="27" name="Object 26" descr="sigma subscript 1 and sigma subscript 2"/>
          <p:cNvGraphicFramePr>
            <a:graphicFrameLocks noChangeAspect="1"/>
          </p:cNvGraphicFramePr>
          <p:nvPr>
            <p:extLst>
              <p:ext uri="{D42A27DB-BD31-4B8C-83A1-F6EECF244321}">
                <p14:modId xmlns:p14="http://schemas.microsoft.com/office/powerpoint/2010/main" val="2857673485"/>
              </p:ext>
            </p:extLst>
          </p:nvPr>
        </p:nvGraphicFramePr>
        <p:xfrm>
          <a:off x="1959426" y="2044298"/>
          <a:ext cx="1422400" cy="431800"/>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27" name="Object 26" descr="sigma subscript 1 and sigma subscript 2"/>
                      <p:cNvPicPr/>
                      <p:nvPr/>
                    </p:nvPicPr>
                    <p:blipFill>
                      <a:blip r:embed="rId3"/>
                      <a:stretch>
                        <a:fillRect/>
                      </a:stretch>
                    </p:blipFill>
                    <p:spPr>
                      <a:xfrm>
                        <a:off x="1959426" y="2044298"/>
                        <a:ext cx="1422400" cy="431800"/>
                      </a:xfrm>
                      <a:prstGeom prst="rect">
                        <a:avLst/>
                      </a:prstGeom>
                    </p:spPr>
                  </p:pic>
                </p:oleObj>
              </mc:Fallback>
            </mc:AlternateContent>
          </a:graphicData>
        </a:graphic>
      </p:graphicFrame>
      <p:sp>
        <p:nvSpPr>
          <p:cNvPr id="32" name="Content Placeholder 31"/>
          <p:cNvSpPr>
            <a:spLocks noGrp="1"/>
          </p:cNvSpPr>
          <p:nvPr>
            <p:ph sz="quarter" idx="14"/>
          </p:nvPr>
        </p:nvSpPr>
        <p:spPr>
          <a:xfrm>
            <a:off x="3464951" y="2066307"/>
            <a:ext cx="1285180" cy="439387"/>
          </a:xfrm>
        </p:spPr>
        <p:txBody>
          <a:bodyPr/>
          <a:lstStyle/>
          <a:p>
            <a:pPr marL="432" indent="0">
              <a:buNone/>
            </a:pPr>
            <a:r>
              <a:rPr lang="en-US" altLang="en-US" dirty="0">
                <a:sym typeface="Symbol" panose="05050102010706020507" pitchFamily="18" charset="2"/>
              </a:rPr>
              <a:t>Known</a:t>
            </a:r>
            <a:r>
              <a:rPr lang="en-US" altLang="en-US" dirty="0"/>
              <a:t>)</a:t>
            </a:r>
            <a:endParaRPr lang="en-IN" dirty="0"/>
          </a:p>
        </p:txBody>
      </p:sp>
      <p:sp>
        <p:nvSpPr>
          <p:cNvPr id="12" name="Content Placeholder 11"/>
          <p:cNvSpPr>
            <a:spLocks noGrp="1"/>
          </p:cNvSpPr>
          <p:nvPr>
            <p:ph sz="quarter" idx="15"/>
          </p:nvPr>
        </p:nvSpPr>
        <p:spPr>
          <a:xfrm>
            <a:off x="457200" y="2576948"/>
            <a:ext cx="7833359" cy="415634"/>
          </a:xfrm>
        </p:spPr>
        <p:txBody>
          <a:bodyPr/>
          <a:lstStyle/>
          <a:p>
            <a:pPr marL="432" indent="0">
              <a:buNone/>
            </a:pPr>
            <a:r>
              <a:rPr lang="en-US" altLang="en-US" b="1" dirty="0">
                <a:solidFill>
                  <a:schemeClr val="tx2"/>
                </a:solidFill>
              </a:rPr>
              <a:t>7.2</a:t>
            </a:r>
            <a:r>
              <a:rPr lang="en-US" altLang="en-US" dirty="0"/>
              <a:t> Testing the Difference Between Means (Independent</a:t>
            </a:r>
            <a:endParaRPr lang="en-IN" dirty="0"/>
          </a:p>
        </p:txBody>
      </p:sp>
      <p:sp>
        <p:nvSpPr>
          <p:cNvPr id="13" name="Content Placeholder 12"/>
          <p:cNvSpPr>
            <a:spLocks noGrp="1"/>
          </p:cNvSpPr>
          <p:nvPr>
            <p:ph sz="quarter" idx="16"/>
          </p:nvPr>
        </p:nvSpPr>
        <p:spPr>
          <a:xfrm>
            <a:off x="457200" y="3057992"/>
            <a:ext cx="1419101" cy="420222"/>
          </a:xfrm>
        </p:spPr>
        <p:txBody>
          <a:bodyPr/>
          <a:lstStyle/>
          <a:p>
            <a:pPr marL="432" indent="0">
              <a:buNone/>
            </a:pPr>
            <a:r>
              <a:rPr lang="en-US" altLang="en-US" dirty="0"/>
              <a:t>Samples,</a:t>
            </a:r>
            <a:endParaRPr lang="en-IN" dirty="0"/>
          </a:p>
        </p:txBody>
      </p:sp>
      <p:graphicFrame>
        <p:nvGraphicFramePr>
          <p:cNvPr id="29" name="Object 28" descr="sigma subscript 1 and sigma subscript 2"/>
          <p:cNvGraphicFramePr>
            <a:graphicFrameLocks noChangeAspect="1"/>
          </p:cNvGraphicFramePr>
          <p:nvPr>
            <p:extLst>
              <p:ext uri="{D42A27DB-BD31-4B8C-83A1-F6EECF244321}">
                <p14:modId xmlns:p14="http://schemas.microsoft.com/office/powerpoint/2010/main" val="2721991463"/>
              </p:ext>
            </p:extLst>
          </p:nvPr>
        </p:nvGraphicFramePr>
        <p:xfrm>
          <a:off x="1959426" y="3052203"/>
          <a:ext cx="1422400" cy="431800"/>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29" name="Object 28" descr="sigma subscript 1 and sigma subscript 2"/>
                      <p:cNvPicPr/>
                      <p:nvPr/>
                    </p:nvPicPr>
                    <p:blipFill>
                      <a:blip r:embed="rId3"/>
                      <a:stretch>
                        <a:fillRect/>
                      </a:stretch>
                    </p:blipFill>
                    <p:spPr>
                      <a:xfrm>
                        <a:off x="1959426" y="3052203"/>
                        <a:ext cx="1422400" cy="431800"/>
                      </a:xfrm>
                      <a:prstGeom prst="rect">
                        <a:avLst/>
                      </a:prstGeom>
                    </p:spPr>
                  </p:pic>
                </p:oleObj>
              </mc:Fallback>
            </mc:AlternateContent>
          </a:graphicData>
        </a:graphic>
      </p:graphicFrame>
      <p:sp>
        <p:nvSpPr>
          <p:cNvPr id="14" name="Content Placeholder 13"/>
          <p:cNvSpPr>
            <a:spLocks noGrp="1"/>
          </p:cNvSpPr>
          <p:nvPr>
            <p:ph sz="quarter" idx="17"/>
          </p:nvPr>
        </p:nvSpPr>
        <p:spPr>
          <a:xfrm>
            <a:off x="3464951" y="3063836"/>
            <a:ext cx="1488049" cy="414377"/>
          </a:xfrm>
        </p:spPr>
        <p:txBody>
          <a:bodyPr/>
          <a:lstStyle/>
          <a:p>
            <a:pPr marL="432" indent="0">
              <a:buNone/>
            </a:pPr>
            <a:r>
              <a:rPr lang="en-US" altLang="en-US" dirty="0">
                <a:sym typeface="Symbol" panose="05050102010706020507" pitchFamily="18" charset="2"/>
              </a:rPr>
              <a:t>Unknown</a:t>
            </a:r>
            <a:r>
              <a:rPr lang="en-US" altLang="en-US" dirty="0"/>
              <a:t>)</a:t>
            </a:r>
            <a:endParaRPr lang="en-IN" dirty="0"/>
          </a:p>
        </p:txBody>
      </p:sp>
      <p:sp>
        <p:nvSpPr>
          <p:cNvPr id="15" name="Content Placeholder 14"/>
          <p:cNvSpPr>
            <a:spLocks noGrp="1"/>
          </p:cNvSpPr>
          <p:nvPr>
            <p:ph sz="quarter" idx="18"/>
          </p:nvPr>
        </p:nvSpPr>
        <p:spPr>
          <a:xfrm>
            <a:off x="457200" y="3574475"/>
            <a:ext cx="8229600" cy="1435675"/>
          </a:xfrm>
        </p:spPr>
        <p:txBody>
          <a:bodyPr/>
          <a:lstStyle/>
          <a:p>
            <a:pPr marL="432" indent="0" eaLnBrk="1" hangingPunct="1">
              <a:buNone/>
            </a:pPr>
            <a:r>
              <a:rPr lang="en-US" altLang="en-US" b="1" dirty="0">
                <a:solidFill>
                  <a:schemeClr val="tx2"/>
                </a:solidFill>
              </a:rPr>
              <a:t>7.3</a:t>
            </a:r>
            <a:r>
              <a:rPr lang="en-US" altLang="en-US" dirty="0"/>
              <a:t> Testing the Difference Between Means (Dependent Samples)</a:t>
            </a:r>
          </a:p>
          <a:p>
            <a:pPr marL="432" indent="0" eaLnBrk="1" hangingPunct="1">
              <a:buNone/>
            </a:pPr>
            <a:r>
              <a:rPr lang="en-US" altLang="en-US" b="1" dirty="0">
                <a:solidFill>
                  <a:schemeClr val="tx2"/>
                </a:solidFill>
              </a:rPr>
              <a:t>7.4</a:t>
            </a:r>
            <a:r>
              <a:rPr lang="en-US" altLang="en-US" dirty="0"/>
              <a:t> Testing the Difference Between Proportions</a:t>
            </a:r>
          </a:p>
        </p:txBody>
      </p:sp>
    </p:spTree>
    <p:extLst>
      <p:ext uri="{BB962C8B-B14F-4D97-AF65-F5344CB8AC3E}">
        <p14:creationId xmlns:p14="http://schemas.microsoft.com/office/powerpoint/2010/main" val="4275085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Two-Sample Tests</a:t>
            </a:r>
            <a:endParaRPr lang="en-US" dirty="0"/>
          </a:p>
        </p:txBody>
      </p:sp>
      <p:sp>
        <p:nvSpPr>
          <p:cNvPr id="3" name="Content Placeholder 2"/>
          <p:cNvSpPr>
            <a:spLocks noGrp="1"/>
          </p:cNvSpPr>
          <p:nvPr>
            <p:ph idx="1"/>
          </p:nvPr>
        </p:nvSpPr>
        <p:spPr>
          <a:xfrm>
            <a:off x="6800850" y="2057400"/>
            <a:ext cx="914400" cy="285750"/>
          </a:xfrm>
        </p:spPr>
        <p:txBody>
          <a:bodyPr>
            <a:normAutofit fontScale="40000" lnSpcReduction="20000"/>
          </a:bodyPr>
          <a:lstStyle/>
          <a:p>
            <a:pPr marL="0" indent="0">
              <a:buNone/>
            </a:pPr>
            <a:r>
              <a:rPr lang="en-US" altLang="en-US" sz="1800" dirty="0"/>
              <a:t>D</a:t>
            </a:r>
            <a:r>
              <a:rPr lang="en-US" altLang="en-US" sz="100" dirty="0"/>
              <a:t> </a:t>
            </a:r>
            <a:r>
              <a:rPr lang="en-US" altLang="en-US" sz="1800" dirty="0"/>
              <a:t>C</a:t>
            </a:r>
            <a:r>
              <a:rPr lang="en-US" altLang="en-US" sz="100" dirty="0"/>
              <a:t> </a:t>
            </a:r>
            <a:r>
              <a:rPr lang="en-US" altLang="en-US" sz="1800" dirty="0"/>
              <a:t>O</a:t>
            </a:r>
            <a:r>
              <a:rPr lang="en-US" altLang="en-US" sz="100" dirty="0"/>
              <a:t> </a:t>
            </a:r>
            <a:r>
              <a:rPr lang="en-US" altLang="en-US" sz="1800" dirty="0"/>
              <a:t>V</a:t>
            </a:r>
            <a:r>
              <a:rPr lang="en-US" altLang="en-US" sz="100" dirty="0"/>
              <a:t> </a:t>
            </a:r>
            <a:r>
              <a:rPr lang="en-US" altLang="en-US" sz="1800" u="sng" dirty="0"/>
              <a:t>A</a:t>
            </a:r>
          </a:p>
        </p:txBody>
      </p:sp>
      <p:pic>
        <p:nvPicPr>
          <p:cNvPr id="4" name="Picture 3" descr="A diagram shows the classification of two sample tests. Two sample tests are classified into population means, independent samples example group 1 versus group 2, population means, related samples example same group before versus after treatment, population proportions example proportion 1 versus proportion 2, population variances example variance 1 versus variance 2.&#10;"/>
          <p:cNvPicPr>
            <a:picLocks noChangeAspect="1"/>
          </p:cNvPicPr>
          <p:nvPr/>
        </p:nvPicPr>
        <p:blipFill>
          <a:blip r:embed="rId2"/>
          <a:stretch>
            <a:fillRect/>
          </a:stretch>
        </p:blipFill>
        <p:spPr>
          <a:xfrm>
            <a:off x="1609026" y="2585897"/>
            <a:ext cx="5925950" cy="3025249"/>
          </a:xfrm>
          <a:prstGeom prst="rect">
            <a:avLst/>
          </a:prstGeom>
        </p:spPr>
      </p:pic>
    </p:spTree>
    <p:extLst>
      <p:ext uri="{BB962C8B-B14F-4D97-AF65-F5344CB8AC3E}">
        <p14:creationId xmlns:p14="http://schemas.microsoft.com/office/powerpoint/2010/main" val="2997122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615052" cy="2838451"/>
          </a:xfrm>
        </p:spPr>
        <p:txBody>
          <a:bodyPr lIns="0" tIns="0" rIns="0" bIns="0"/>
          <a:lstStyle/>
          <a:p>
            <a:r>
              <a:rPr lang="en-US" sz="3400" dirty="0"/>
              <a:t>Section 7.1 Testing the Difference Between Means (Independent Samples, Sigma  1 and Sigma 2 Known)</a:t>
            </a:r>
          </a:p>
        </p:txBody>
      </p:sp>
    </p:spTree>
    <p:extLst>
      <p:ext uri="{BB962C8B-B14F-4D97-AF65-F5344CB8AC3E}">
        <p14:creationId xmlns:p14="http://schemas.microsoft.com/office/powerpoint/2010/main" val="381473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Section 7.1 Objectives</a:t>
            </a:r>
            <a:endParaRPr lang="en-US" dirty="0"/>
          </a:p>
        </p:txBody>
      </p:sp>
      <p:sp>
        <p:nvSpPr>
          <p:cNvPr id="23" name="Content Placeholder 22"/>
          <p:cNvSpPr>
            <a:spLocks noGrp="1"/>
          </p:cNvSpPr>
          <p:nvPr>
            <p:ph sz="quarter" idx="13"/>
          </p:nvPr>
        </p:nvSpPr>
        <p:spPr>
          <a:xfrm>
            <a:off x="457200" y="1552575"/>
            <a:ext cx="8229601" cy="2267863"/>
          </a:xfrm>
        </p:spPr>
        <p:txBody>
          <a:bodyPr/>
          <a:lstStyle/>
          <a:p>
            <a:pPr marL="432000" indent="-432000">
              <a:buFont typeface="+mj-lt"/>
              <a:buAutoNum type="arabicPeriod"/>
            </a:pPr>
            <a:r>
              <a:rPr lang="en-US" altLang="en-US" dirty="0"/>
              <a:t>How to determine whether two samples are independent or dependent</a:t>
            </a:r>
          </a:p>
          <a:p>
            <a:pPr marL="432000" indent="-432000">
              <a:buFont typeface="+mj-lt"/>
              <a:buAutoNum type="arabicPeriod"/>
            </a:pPr>
            <a:r>
              <a:rPr lang="en-US" altLang="en-US" dirty="0"/>
              <a:t>An introduction to two-sample hypothesis testing for the difference between two population parameters</a:t>
            </a:r>
          </a:p>
          <a:p>
            <a:pPr marL="432000" indent="-432000">
              <a:buFont typeface="+mj-lt"/>
              <a:buAutoNum type="arabicPeriod"/>
            </a:pPr>
            <a:r>
              <a:rPr lang="en-US" altLang="en-US" dirty="0"/>
              <a:t>Perform a two-sample </a:t>
            </a:r>
            <a:r>
              <a:rPr lang="en-US" altLang="en-US" i="1" dirty="0"/>
              <a:t>z</a:t>
            </a:r>
            <a:r>
              <a:rPr lang="en-US" altLang="en-US" dirty="0"/>
              <a:t>-test for the difference between</a:t>
            </a:r>
            <a:endParaRPr lang="en-IN" dirty="0"/>
          </a:p>
        </p:txBody>
      </p:sp>
      <p:sp>
        <p:nvSpPr>
          <p:cNvPr id="24" name="Content Placeholder 23"/>
          <p:cNvSpPr>
            <a:spLocks noGrp="1"/>
          </p:cNvSpPr>
          <p:nvPr>
            <p:ph sz="quarter" idx="14"/>
          </p:nvPr>
        </p:nvSpPr>
        <p:spPr>
          <a:xfrm>
            <a:off x="859130" y="3883070"/>
            <a:ext cx="1552469" cy="394700"/>
          </a:xfrm>
        </p:spPr>
        <p:txBody>
          <a:bodyPr/>
          <a:lstStyle/>
          <a:p>
            <a:pPr marL="0" indent="0" eaLnBrk="1" hangingPunct="1">
              <a:buNone/>
            </a:pPr>
            <a:r>
              <a:rPr lang="en-US" altLang="en-US" dirty="0"/>
              <a:t>two means</a:t>
            </a:r>
            <a:endParaRPr lang="en-IN" dirty="0"/>
          </a:p>
        </p:txBody>
      </p:sp>
      <p:graphicFrame>
        <p:nvGraphicFramePr>
          <p:cNvPr id="38" name="Object 37" descr="mu subscript 1 and mu subscript 2"/>
          <p:cNvGraphicFramePr>
            <a:graphicFrameLocks noChangeAspect="1"/>
          </p:cNvGraphicFramePr>
          <p:nvPr>
            <p:extLst>
              <p:ext uri="{D42A27DB-BD31-4B8C-83A1-F6EECF244321}">
                <p14:modId xmlns:p14="http://schemas.microsoft.com/office/powerpoint/2010/main" val="2321715016"/>
              </p:ext>
            </p:extLst>
          </p:nvPr>
        </p:nvGraphicFramePr>
        <p:xfrm>
          <a:off x="2497652" y="3877046"/>
          <a:ext cx="1371600" cy="431800"/>
        </p:xfrm>
        <a:graphic>
          <a:graphicData uri="http://schemas.openxmlformats.org/presentationml/2006/ole">
            <mc:AlternateContent xmlns:mc="http://schemas.openxmlformats.org/markup-compatibility/2006">
              <mc:Choice xmlns:v="urn:schemas-microsoft-com:vml" Requires="v">
                <p:oleObj name="Equation" r:id="rId2" imgW="1371600" imgH="431640" progId="Equation.DSMT4">
                  <p:embed/>
                </p:oleObj>
              </mc:Choice>
              <mc:Fallback>
                <p:oleObj name="Equation" r:id="rId2" imgW="1371600" imgH="431640" progId="Equation.DSMT4">
                  <p:embed/>
                  <p:pic>
                    <p:nvPicPr>
                      <p:cNvPr id="38" name="Object 37" descr="mu subscript 1 and mu subscript 2"/>
                      <p:cNvPicPr/>
                      <p:nvPr/>
                    </p:nvPicPr>
                    <p:blipFill>
                      <a:blip r:embed="rId3"/>
                      <a:stretch>
                        <a:fillRect/>
                      </a:stretch>
                    </p:blipFill>
                    <p:spPr>
                      <a:xfrm>
                        <a:off x="2497652" y="3877046"/>
                        <a:ext cx="1371600" cy="431800"/>
                      </a:xfrm>
                      <a:prstGeom prst="rect">
                        <a:avLst/>
                      </a:prstGeom>
                    </p:spPr>
                  </p:pic>
                </p:oleObj>
              </mc:Fallback>
            </mc:AlternateContent>
          </a:graphicData>
        </a:graphic>
      </p:graphicFrame>
      <p:sp>
        <p:nvSpPr>
          <p:cNvPr id="25" name="Content Placeholder 24"/>
          <p:cNvSpPr>
            <a:spLocks noGrp="1"/>
          </p:cNvSpPr>
          <p:nvPr>
            <p:ph sz="quarter" idx="15"/>
          </p:nvPr>
        </p:nvSpPr>
        <p:spPr>
          <a:xfrm>
            <a:off x="4006202" y="3883069"/>
            <a:ext cx="4422354" cy="425777"/>
          </a:xfrm>
        </p:spPr>
        <p:txBody>
          <a:bodyPr/>
          <a:lstStyle/>
          <a:p>
            <a:pPr marL="432" indent="0">
              <a:buNone/>
            </a:pPr>
            <a:r>
              <a:rPr lang="en-US" altLang="en-US" dirty="0"/>
              <a:t>using independent samples with</a:t>
            </a:r>
            <a:endParaRPr lang="en-IN" dirty="0"/>
          </a:p>
        </p:txBody>
      </p:sp>
      <p:graphicFrame>
        <p:nvGraphicFramePr>
          <p:cNvPr id="39" name="Object 38" descr="sigma subscript 1 and sigma subscript 2"/>
          <p:cNvGraphicFramePr>
            <a:graphicFrameLocks noChangeAspect="1"/>
          </p:cNvGraphicFramePr>
          <p:nvPr>
            <p:extLst>
              <p:ext uri="{D42A27DB-BD31-4B8C-83A1-F6EECF244321}">
                <p14:modId xmlns:p14="http://schemas.microsoft.com/office/powerpoint/2010/main" val="4083015893"/>
              </p:ext>
            </p:extLst>
          </p:nvPr>
        </p:nvGraphicFramePr>
        <p:xfrm>
          <a:off x="832612" y="4352928"/>
          <a:ext cx="1422400" cy="431800"/>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39" name="Object 38" descr="sigma subscript 1 and sigma subscript 2"/>
                      <p:cNvPicPr/>
                      <p:nvPr/>
                    </p:nvPicPr>
                    <p:blipFill>
                      <a:blip r:embed="rId5"/>
                      <a:stretch>
                        <a:fillRect/>
                      </a:stretch>
                    </p:blipFill>
                    <p:spPr>
                      <a:xfrm>
                        <a:off x="832612" y="4352928"/>
                        <a:ext cx="1422400" cy="431800"/>
                      </a:xfrm>
                      <a:prstGeom prst="rect">
                        <a:avLst/>
                      </a:prstGeom>
                    </p:spPr>
                  </p:pic>
                </p:oleObj>
              </mc:Fallback>
            </mc:AlternateContent>
          </a:graphicData>
        </a:graphic>
      </p:graphicFrame>
      <p:sp>
        <p:nvSpPr>
          <p:cNvPr id="27" name="Content Placeholder 26"/>
          <p:cNvSpPr>
            <a:spLocks noGrp="1"/>
          </p:cNvSpPr>
          <p:nvPr>
            <p:ph sz="quarter" idx="16"/>
          </p:nvPr>
        </p:nvSpPr>
        <p:spPr>
          <a:xfrm>
            <a:off x="2392999" y="4365454"/>
            <a:ext cx="1114818" cy="419274"/>
          </a:xfrm>
        </p:spPr>
        <p:txBody>
          <a:bodyPr/>
          <a:lstStyle/>
          <a:p>
            <a:pPr marL="432" indent="0">
              <a:buNone/>
            </a:pPr>
            <a:r>
              <a:rPr lang="en-US" altLang="en-US" dirty="0">
                <a:sym typeface="Symbol" panose="05050102010706020507" pitchFamily="18" charset="2"/>
              </a:rPr>
              <a:t>known</a:t>
            </a:r>
            <a:endParaRPr lang="en-IN" dirty="0"/>
          </a:p>
        </p:txBody>
      </p:sp>
    </p:spTree>
    <p:extLst>
      <p:ext uri="{BB962C8B-B14F-4D97-AF65-F5344CB8AC3E}">
        <p14:creationId xmlns:p14="http://schemas.microsoft.com/office/powerpoint/2010/main" val="430614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Two Sample Hypothesis Test</a:t>
            </a:r>
          </a:p>
        </p:txBody>
      </p:sp>
      <p:sp>
        <p:nvSpPr>
          <p:cNvPr id="3" name="Content Placeholder 2"/>
          <p:cNvSpPr>
            <a:spLocks noGrp="1"/>
          </p:cNvSpPr>
          <p:nvPr>
            <p:ph sz="quarter" idx="13"/>
          </p:nvPr>
        </p:nvSpPr>
        <p:spPr/>
        <p:txBody>
          <a:bodyPr/>
          <a:lstStyle/>
          <a:p>
            <a:r>
              <a:rPr lang="en-US" dirty="0"/>
              <a:t>Compares two parameters from two populations.</a:t>
            </a:r>
          </a:p>
          <a:p>
            <a:r>
              <a:rPr lang="en-US" dirty="0"/>
              <a:t>Sampling methods:</a:t>
            </a:r>
          </a:p>
          <a:p>
            <a:pPr lvl="1"/>
            <a:r>
              <a:rPr lang="en-US" b="1" dirty="0"/>
              <a:t>Independent Samples</a:t>
            </a:r>
          </a:p>
          <a:p>
            <a:pPr lvl="2"/>
            <a:r>
              <a:rPr lang="en-US" dirty="0"/>
              <a:t>The sample selected from one population is not related to the sample selected from the second population.</a:t>
            </a:r>
          </a:p>
          <a:p>
            <a:pPr lvl="1"/>
            <a:r>
              <a:rPr lang="en-US" b="1" dirty="0"/>
              <a:t>Dependent Samples (paired </a:t>
            </a:r>
            <a:r>
              <a:rPr lang="en-US" dirty="0"/>
              <a:t>or</a:t>
            </a:r>
            <a:r>
              <a:rPr lang="en-US" b="1" dirty="0"/>
              <a:t> matched samples)</a:t>
            </a:r>
          </a:p>
          <a:p>
            <a:pPr lvl="2"/>
            <a:r>
              <a:rPr lang="en-US" dirty="0"/>
              <a:t>Each member of one sample corresponds to a member of the other sample.</a:t>
            </a:r>
          </a:p>
        </p:txBody>
      </p:sp>
    </p:spTree>
    <p:extLst>
      <p:ext uri="{BB962C8B-B14F-4D97-AF65-F5344CB8AC3E}">
        <p14:creationId xmlns:p14="http://schemas.microsoft.com/office/powerpoint/2010/main" val="3461579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a:t>Independent and Dependent Samples</a:t>
            </a:r>
          </a:p>
        </p:txBody>
      </p:sp>
      <p:sp>
        <p:nvSpPr>
          <p:cNvPr id="4" name="Content Placeholder 3"/>
          <p:cNvSpPr>
            <a:spLocks noGrp="1"/>
          </p:cNvSpPr>
          <p:nvPr>
            <p:ph sz="quarter" idx="13"/>
          </p:nvPr>
        </p:nvSpPr>
        <p:spPr>
          <a:xfrm>
            <a:off x="457201" y="1552575"/>
            <a:ext cx="3300608" cy="426537"/>
          </a:xfrm>
        </p:spPr>
        <p:txBody>
          <a:bodyPr/>
          <a:lstStyle/>
          <a:p>
            <a:pPr marL="432" indent="0">
              <a:buNone/>
            </a:pPr>
            <a:r>
              <a:rPr lang="en-US" b="1"/>
              <a:t>Independent Samples</a:t>
            </a:r>
          </a:p>
        </p:txBody>
      </p:sp>
      <p:pic>
        <p:nvPicPr>
          <p:cNvPr id="18" name="Content Placeholder 17" descr="An illustration of a circle with four dots inside it."/>
          <p:cNvPicPr>
            <a:picLocks noGrp="1" noChangeAspect="1"/>
          </p:cNvPicPr>
          <p:nvPr>
            <p:ph sz="quarter" idx="14"/>
          </p:nvPr>
        </p:nvPicPr>
        <p:blipFill>
          <a:blip r:embed="rId2"/>
          <a:stretch>
            <a:fillRect/>
          </a:stretch>
        </p:blipFill>
        <p:spPr>
          <a:xfrm>
            <a:off x="784558" y="2216150"/>
            <a:ext cx="1322947" cy="1774090"/>
          </a:xfrm>
          <a:prstGeom prst="rect">
            <a:avLst/>
          </a:prstGeom>
        </p:spPr>
      </p:pic>
      <p:sp>
        <p:nvSpPr>
          <p:cNvPr id="6" name="Content Placeholder 5"/>
          <p:cNvSpPr>
            <a:spLocks noGrp="1"/>
          </p:cNvSpPr>
          <p:nvPr>
            <p:ph sz="quarter" idx="15"/>
          </p:nvPr>
        </p:nvSpPr>
        <p:spPr>
          <a:xfrm>
            <a:off x="868267" y="4227278"/>
            <a:ext cx="1155527" cy="357248"/>
          </a:xfrm>
        </p:spPr>
        <p:txBody>
          <a:bodyPr/>
          <a:lstStyle/>
          <a:p>
            <a:pPr marL="432" indent="0" eaLnBrk="1" hangingPunct="1">
              <a:buNone/>
            </a:pPr>
            <a:r>
              <a:rPr lang="en-US" altLang="en-US" sz="2000"/>
              <a:t>Sample 1</a:t>
            </a:r>
          </a:p>
        </p:txBody>
      </p:sp>
      <p:pic>
        <p:nvPicPr>
          <p:cNvPr id="19" name="Content Placeholder 18" descr="An illustration of a circle with seven dots inside it."/>
          <p:cNvPicPr>
            <a:picLocks noGrp="1" noChangeAspect="1"/>
          </p:cNvPicPr>
          <p:nvPr>
            <p:ph sz="quarter" idx="16"/>
          </p:nvPr>
        </p:nvPicPr>
        <p:blipFill>
          <a:blip r:embed="rId3"/>
          <a:stretch>
            <a:fillRect/>
          </a:stretch>
        </p:blipFill>
        <p:spPr>
          <a:xfrm>
            <a:off x="2695669" y="2216150"/>
            <a:ext cx="1316850" cy="1774090"/>
          </a:xfrm>
          <a:prstGeom prst="rect">
            <a:avLst/>
          </a:prstGeom>
        </p:spPr>
      </p:pic>
      <p:sp>
        <p:nvSpPr>
          <p:cNvPr id="8" name="Content Placeholder 7"/>
          <p:cNvSpPr>
            <a:spLocks noGrp="1"/>
          </p:cNvSpPr>
          <p:nvPr>
            <p:ph sz="quarter" idx="17"/>
          </p:nvPr>
        </p:nvSpPr>
        <p:spPr>
          <a:xfrm>
            <a:off x="2757012" y="4227279"/>
            <a:ext cx="1194163" cy="357248"/>
          </a:xfrm>
        </p:spPr>
        <p:txBody>
          <a:bodyPr/>
          <a:lstStyle/>
          <a:p>
            <a:pPr marL="432" indent="0" eaLnBrk="1" hangingPunct="1">
              <a:buNone/>
            </a:pPr>
            <a:r>
              <a:rPr lang="en-US" altLang="en-US" sz="2000"/>
              <a:t>Sample 2</a:t>
            </a:r>
          </a:p>
        </p:txBody>
      </p:sp>
      <p:sp>
        <p:nvSpPr>
          <p:cNvPr id="9" name="Content Placeholder 8"/>
          <p:cNvSpPr>
            <a:spLocks noGrp="1"/>
          </p:cNvSpPr>
          <p:nvPr>
            <p:ph sz="quarter" idx="18"/>
          </p:nvPr>
        </p:nvSpPr>
        <p:spPr>
          <a:xfrm>
            <a:off x="5160723" y="1557339"/>
            <a:ext cx="3056352" cy="421773"/>
          </a:xfrm>
        </p:spPr>
        <p:txBody>
          <a:bodyPr/>
          <a:lstStyle/>
          <a:p>
            <a:pPr marL="432" indent="0" eaLnBrk="1" hangingPunct="1">
              <a:buNone/>
            </a:pPr>
            <a:r>
              <a:rPr lang="en-US" altLang="en-US" b="1">
                <a:solidFill>
                  <a:schemeClr val="tx1"/>
                </a:solidFill>
              </a:rPr>
              <a:t>Dependent Samples</a:t>
            </a:r>
          </a:p>
        </p:txBody>
      </p:sp>
      <p:pic>
        <p:nvPicPr>
          <p:cNvPr id="20" name="Content Placeholder 19" descr="An illustration of two circles labeled sample 1 and sample 2. Each circle has four dots in it. The dots from sample 1 and sample 2 are linked individually."/>
          <p:cNvPicPr>
            <a:picLocks noGrp="1" noChangeAspect="1"/>
          </p:cNvPicPr>
          <p:nvPr>
            <p:ph sz="quarter" idx="19"/>
          </p:nvPr>
        </p:nvPicPr>
        <p:blipFill>
          <a:blip r:embed="rId4"/>
          <a:stretch>
            <a:fillRect/>
          </a:stretch>
        </p:blipFill>
        <p:spPr>
          <a:xfrm>
            <a:off x="5122091" y="2216150"/>
            <a:ext cx="3133616" cy="2298391"/>
          </a:xfrm>
          <a:prstGeom prst="rect">
            <a:avLst/>
          </a:prstGeom>
        </p:spPr>
      </p:pic>
    </p:spTree>
    <p:extLst>
      <p:ext uri="{BB962C8B-B14F-4D97-AF65-F5344CB8AC3E}">
        <p14:creationId xmlns:p14="http://schemas.microsoft.com/office/powerpoint/2010/main" val="2848923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a:t>Example: Independent and Dependent Samples </a:t>
            </a:r>
            <a:r>
              <a:rPr lang="en-US" sz="2000" b="0"/>
              <a:t>(1 of 2)</a:t>
            </a:r>
          </a:p>
        </p:txBody>
      </p:sp>
      <p:sp>
        <p:nvSpPr>
          <p:cNvPr id="4" name="Content Placeholder 3"/>
          <p:cNvSpPr>
            <a:spLocks noGrp="1"/>
          </p:cNvSpPr>
          <p:nvPr>
            <p:ph sz="quarter" idx="13"/>
          </p:nvPr>
        </p:nvSpPr>
        <p:spPr>
          <a:xfrm>
            <a:off x="457200" y="1552575"/>
            <a:ext cx="8229600" cy="439063"/>
          </a:xfrm>
        </p:spPr>
        <p:txBody>
          <a:bodyPr/>
          <a:lstStyle/>
          <a:p>
            <a:pPr marL="0" indent="0" eaLnBrk="1" hangingPunct="1">
              <a:buFont typeface="Arial" panose="020B0604020202020204" pitchFamily="34" charset="0"/>
              <a:buNone/>
            </a:pPr>
            <a:r>
              <a:rPr lang="en-US" altLang="en-US" dirty="0"/>
              <a:t>Classify each pair of samples as independent or dependent.</a:t>
            </a:r>
          </a:p>
        </p:txBody>
      </p:sp>
      <p:sp>
        <p:nvSpPr>
          <p:cNvPr id="5" name="Content Placeholder 4"/>
          <p:cNvSpPr>
            <a:spLocks noGrp="1"/>
          </p:cNvSpPr>
          <p:nvPr>
            <p:ph sz="quarter" idx="14"/>
          </p:nvPr>
        </p:nvSpPr>
        <p:spPr>
          <a:xfrm>
            <a:off x="457200" y="2166071"/>
            <a:ext cx="8229600" cy="1326064"/>
          </a:xfrm>
        </p:spPr>
        <p:txBody>
          <a:bodyPr/>
          <a:lstStyle/>
          <a:p>
            <a:pPr marL="432000" indent="-432000">
              <a:buFont typeface="+mj-lt"/>
              <a:buAutoNum type="arabicPeriod"/>
            </a:pPr>
            <a:r>
              <a:rPr lang="en-US" dirty="0"/>
              <a:t>Sample 1: Triglyceride levels of 70 patients</a:t>
            </a:r>
            <a:br>
              <a:rPr lang="en-US" dirty="0"/>
            </a:br>
            <a:r>
              <a:rPr lang="en-US" dirty="0"/>
              <a:t>Sample 2: Triglyceride levels of the same 70 patients after using a triglyceride-lowering drug for 6 months.</a:t>
            </a:r>
            <a:endParaRPr lang="en-US" altLang="en-US" dirty="0"/>
          </a:p>
        </p:txBody>
      </p:sp>
      <p:sp>
        <p:nvSpPr>
          <p:cNvPr id="6" name="Content Placeholder 5"/>
          <p:cNvSpPr>
            <a:spLocks noGrp="1"/>
          </p:cNvSpPr>
          <p:nvPr>
            <p:ph sz="quarter" idx="15"/>
          </p:nvPr>
        </p:nvSpPr>
        <p:spPr>
          <a:xfrm>
            <a:off x="457200" y="3776182"/>
            <a:ext cx="8229600" cy="2304790"/>
          </a:xfrm>
        </p:spPr>
        <p:txBody>
          <a:bodyPr/>
          <a:lstStyle/>
          <a:p>
            <a:pPr marL="432" indent="0">
              <a:buNone/>
            </a:pPr>
            <a:r>
              <a:rPr lang="en-US" altLang="en-US" b="1" dirty="0">
                <a:solidFill>
                  <a:schemeClr val="tx1"/>
                </a:solidFill>
              </a:rPr>
              <a:t>Solution:</a:t>
            </a:r>
          </a:p>
          <a:p>
            <a:pPr marL="432" indent="0">
              <a:buNone/>
            </a:pPr>
            <a:r>
              <a:rPr lang="en-US" dirty="0">
                <a:solidFill>
                  <a:schemeClr val="tx1"/>
                </a:solidFill>
              </a:rPr>
              <a:t>These samples are dependent. Because the triglyceride levels of the same patients are taken, the samples are related. The samples can be paired with respect to each patient.</a:t>
            </a:r>
            <a:endParaRPr lang="en-US" altLang="en-US" dirty="0">
              <a:solidFill>
                <a:schemeClr val="tx1"/>
              </a:solidFill>
            </a:endParaRPr>
          </a:p>
        </p:txBody>
      </p:sp>
    </p:spTree>
    <p:extLst>
      <p:ext uri="{BB962C8B-B14F-4D97-AF65-F5344CB8AC3E}">
        <p14:creationId xmlns:p14="http://schemas.microsoft.com/office/powerpoint/2010/main" val="3894831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Independent and Dependent Samples </a:t>
            </a:r>
            <a:r>
              <a:rPr lang="en-US" sz="2000" b="0" dirty="0"/>
              <a:t>(2 of 2)</a:t>
            </a:r>
          </a:p>
        </p:txBody>
      </p:sp>
      <p:sp>
        <p:nvSpPr>
          <p:cNvPr id="4" name="Content Placeholder 3"/>
          <p:cNvSpPr>
            <a:spLocks noGrp="1"/>
          </p:cNvSpPr>
          <p:nvPr>
            <p:ph sz="quarter" idx="13"/>
          </p:nvPr>
        </p:nvSpPr>
        <p:spPr>
          <a:xfrm>
            <a:off x="457199" y="1552575"/>
            <a:ext cx="8273441" cy="426537"/>
          </a:xfrm>
        </p:spPr>
        <p:txBody>
          <a:bodyPr/>
          <a:lstStyle/>
          <a:p>
            <a:pPr marL="0" indent="0" eaLnBrk="1" hangingPunct="1">
              <a:buFont typeface="Arial" panose="020B0604020202020204" pitchFamily="34" charset="0"/>
              <a:buNone/>
            </a:pPr>
            <a:r>
              <a:rPr lang="en-US" altLang="en-US" dirty="0"/>
              <a:t>Classify each pair of samples as independent or dependent.</a:t>
            </a:r>
          </a:p>
        </p:txBody>
      </p:sp>
      <p:sp>
        <p:nvSpPr>
          <p:cNvPr id="5" name="Content Placeholder 4"/>
          <p:cNvSpPr>
            <a:spLocks noGrp="1"/>
          </p:cNvSpPr>
          <p:nvPr>
            <p:ph sz="quarter" idx="14"/>
          </p:nvPr>
        </p:nvSpPr>
        <p:spPr>
          <a:xfrm>
            <a:off x="457200" y="2127758"/>
            <a:ext cx="8373649" cy="1574149"/>
          </a:xfrm>
        </p:spPr>
        <p:txBody>
          <a:bodyPr/>
          <a:lstStyle/>
          <a:p>
            <a:pPr marL="432000" indent="-432000">
              <a:buFont typeface="+mj-lt"/>
              <a:buAutoNum type="arabicPeriod" startAt="2"/>
            </a:pPr>
            <a:r>
              <a:rPr lang="en-US" dirty="0"/>
              <a:t>Sample 1: Scores for 38 adult males on a psychological screening test for attention-deficit/hyperactivity disorder</a:t>
            </a:r>
            <a:br>
              <a:rPr lang="en-US" dirty="0"/>
            </a:br>
            <a:r>
              <a:rPr lang="en-US" dirty="0"/>
              <a:t>Sample 2: Scores for 50 adult females on a psychological screening test for attention-deficit/hyperactivity disorder</a:t>
            </a:r>
            <a:endParaRPr lang="en-US" altLang="en-US" dirty="0"/>
          </a:p>
        </p:txBody>
      </p:sp>
      <p:sp>
        <p:nvSpPr>
          <p:cNvPr id="6" name="Content Placeholder 5"/>
          <p:cNvSpPr>
            <a:spLocks noGrp="1"/>
          </p:cNvSpPr>
          <p:nvPr>
            <p:ph sz="quarter" idx="15"/>
          </p:nvPr>
        </p:nvSpPr>
        <p:spPr>
          <a:xfrm>
            <a:off x="457200" y="3894093"/>
            <a:ext cx="8229600" cy="2221236"/>
          </a:xfrm>
        </p:spPr>
        <p:txBody>
          <a:bodyPr/>
          <a:lstStyle/>
          <a:p>
            <a:pPr marL="432" indent="0">
              <a:buNone/>
            </a:pPr>
            <a:r>
              <a:rPr lang="en-US" b="1" dirty="0">
                <a:solidFill>
                  <a:schemeClr val="tx1"/>
                </a:solidFill>
              </a:rPr>
              <a:t>Solution:</a:t>
            </a:r>
            <a:endParaRPr lang="en-US" dirty="0">
              <a:solidFill>
                <a:schemeClr val="tx1"/>
              </a:solidFill>
            </a:endParaRPr>
          </a:p>
          <a:p>
            <a:pPr marL="432" indent="0">
              <a:buNone/>
            </a:pPr>
            <a:r>
              <a:rPr lang="en-US" dirty="0">
                <a:solidFill>
                  <a:schemeClr val="tx1"/>
                </a:solidFill>
              </a:rPr>
              <a:t>These samples are independent. It is not possible to form a pairing between the members of samples, the sample sizes are different, and the data represent scores for different individuals.</a:t>
            </a:r>
          </a:p>
        </p:txBody>
      </p:sp>
    </p:spTree>
    <p:extLst>
      <p:ext uri="{BB962C8B-B14F-4D97-AF65-F5344CB8AC3E}">
        <p14:creationId xmlns:p14="http://schemas.microsoft.com/office/powerpoint/2010/main" val="896207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Two Sample Hypothesis Test With Independent Samples </a:t>
            </a:r>
            <a:r>
              <a:rPr lang="en-US" sz="2000" b="0" dirty="0"/>
              <a:t>(1 of 2)</a:t>
            </a:r>
          </a:p>
        </p:txBody>
      </p:sp>
      <p:sp>
        <p:nvSpPr>
          <p:cNvPr id="4" name="Content Placeholder 3"/>
          <p:cNvSpPr>
            <a:spLocks noGrp="1"/>
          </p:cNvSpPr>
          <p:nvPr>
            <p:ph sz="quarter" idx="13"/>
          </p:nvPr>
        </p:nvSpPr>
        <p:spPr>
          <a:xfrm>
            <a:off x="457200" y="1552575"/>
            <a:ext cx="2837145" cy="426537"/>
          </a:xfrm>
        </p:spPr>
        <p:txBody>
          <a:bodyPr/>
          <a:lstStyle/>
          <a:p>
            <a:pPr marL="432000" indent="-432000">
              <a:buFont typeface="+mj-lt"/>
              <a:buAutoNum type="arabicPeriod"/>
            </a:pPr>
            <a:r>
              <a:rPr lang="en-US" altLang="en-US" b="1" dirty="0">
                <a:solidFill>
                  <a:schemeClr val="tx1"/>
                </a:solidFill>
              </a:rPr>
              <a:t>Null hypothesis</a:t>
            </a:r>
            <a:endParaRPr lang="en-US" dirty="0">
              <a:solidFill>
                <a:schemeClr val="tx1"/>
              </a:solidFill>
            </a:endParaRPr>
          </a:p>
        </p:txBody>
      </p:sp>
      <p:graphicFrame>
        <p:nvGraphicFramePr>
          <p:cNvPr id="18" name="Object 17" descr="H sub-zero"/>
          <p:cNvGraphicFramePr>
            <a:graphicFrameLocks noChangeAspect="1"/>
          </p:cNvGraphicFramePr>
          <p:nvPr>
            <p:extLst>
              <p:ext uri="{D42A27DB-BD31-4B8C-83A1-F6EECF244321}">
                <p14:modId xmlns:p14="http://schemas.microsoft.com/office/powerpoint/2010/main" val="2368413402"/>
              </p:ext>
            </p:extLst>
          </p:nvPr>
        </p:nvGraphicFramePr>
        <p:xfrm>
          <a:off x="3387721" y="1569570"/>
          <a:ext cx="415636" cy="392545"/>
        </p:xfrm>
        <a:graphic>
          <a:graphicData uri="http://schemas.openxmlformats.org/presentationml/2006/ole">
            <mc:AlternateContent xmlns:mc="http://schemas.openxmlformats.org/markup-compatibility/2006">
              <mc:Choice xmlns:v="urn:schemas-microsoft-com:vml" Requires="v">
                <p:oleObj name="Equation" r:id="rId2" imgW="457200" imgH="431640" progId="Equation.DSMT4">
                  <p:embed/>
                </p:oleObj>
              </mc:Choice>
              <mc:Fallback>
                <p:oleObj name="Equation" r:id="rId2" imgW="457200" imgH="431640" progId="Equation.DSMT4">
                  <p:embed/>
                  <p:pic>
                    <p:nvPicPr>
                      <p:cNvPr id="18" name="Object 17" descr="H sub-zero"/>
                      <p:cNvPicPr/>
                      <p:nvPr/>
                    </p:nvPicPr>
                    <p:blipFill>
                      <a:blip r:embed="rId3"/>
                      <a:stretch>
                        <a:fillRect/>
                      </a:stretch>
                    </p:blipFill>
                    <p:spPr>
                      <a:xfrm>
                        <a:off x="3387721" y="1569570"/>
                        <a:ext cx="415636" cy="392545"/>
                      </a:xfrm>
                      <a:prstGeom prst="rect">
                        <a:avLst/>
                      </a:prstGeom>
                    </p:spPr>
                  </p:pic>
                </p:oleObj>
              </mc:Fallback>
            </mc:AlternateContent>
          </a:graphicData>
        </a:graphic>
      </p:graphicFrame>
      <p:sp>
        <p:nvSpPr>
          <p:cNvPr id="5" name="Content Placeholder 4"/>
          <p:cNvSpPr>
            <a:spLocks noGrp="1"/>
          </p:cNvSpPr>
          <p:nvPr>
            <p:ph sz="quarter" idx="14"/>
          </p:nvPr>
        </p:nvSpPr>
        <p:spPr>
          <a:xfrm>
            <a:off x="457200" y="2047527"/>
            <a:ext cx="8229600" cy="783355"/>
          </a:xfrm>
        </p:spPr>
        <p:txBody>
          <a:bodyPr/>
          <a:lstStyle/>
          <a:p>
            <a:pPr lvl="1"/>
            <a:r>
              <a:rPr lang="en-US" altLang="en-US" dirty="0">
                <a:ea typeface="Times New Roman" panose="02020603050405020304" pitchFamily="18" charset="0"/>
              </a:rPr>
              <a:t>A statistical hypothesis that usually states there is no difference between the parameters of two populations.</a:t>
            </a:r>
          </a:p>
        </p:txBody>
      </p:sp>
      <p:sp>
        <p:nvSpPr>
          <p:cNvPr id="6" name="Content Placeholder 5"/>
          <p:cNvSpPr>
            <a:spLocks noGrp="1"/>
          </p:cNvSpPr>
          <p:nvPr>
            <p:ph sz="quarter" idx="15"/>
          </p:nvPr>
        </p:nvSpPr>
        <p:spPr>
          <a:xfrm>
            <a:off x="457200" y="2903372"/>
            <a:ext cx="4615841" cy="416025"/>
          </a:xfrm>
        </p:spPr>
        <p:txBody>
          <a:bodyPr/>
          <a:lstStyle/>
          <a:p>
            <a:pPr lvl="1"/>
            <a:r>
              <a:rPr lang="en-US" altLang="en-US" dirty="0">
                <a:ea typeface="Times New Roman" panose="02020603050405020304" pitchFamily="18" charset="0"/>
              </a:rPr>
              <a:t>Always contains the symbol</a:t>
            </a:r>
            <a:endParaRPr lang="en-US" dirty="0"/>
          </a:p>
        </p:txBody>
      </p:sp>
      <p:graphicFrame>
        <p:nvGraphicFramePr>
          <p:cNvPr id="19" name="Object 18" descr="less than or equals to, equals to, or greater than or equals to."/>
          <p:cNvGraphicFramePr>
            <a:graphicFrameLocks noChangeAspect="1"/>
          </p:cNvGraphicFramePr>
          <p:nvPr>
            <p:extLst>
              <p:ext uri="{D42A27DB-BD31-4B8C-83A1-F6EECF244321}">
                <p14:modId xmlns:p14="http://schemas.microsoft.com/office/powerpoint/2010/main" val="3268399829"/>
              </p:ext>
            </p:extLst>
          </p:nvPr>
        </p:nvGraphicFramePr>
        <p:xfrm>
          <a:off x="5209456" y="2935214"/>
          <a:ext cx="1447800" cy="368300"/>
        </p:xfrm>
        <a:graphic>
          <a:graphicData uri="http://schemas.openxmlformats.org/presentationml/2006/ole">
            <mc:AlternateContent xmlns:mc="http://schemas.openxmlformats.org/markup-compatibility/2006">
              <mc:Choice xmlns:v="urn:schemas-microsoft-com:vml" Requires="v">
                <p:oleObj name="Equation" r:id="rId4" imgW="1447560" imgH="368280" progId="Equation.DSMT4">
                  <p:embed/>
                </p:oleObj>
              </mc:Choice>
              <mc:Fallback>
                <p:oleObj name="Equation" r:id="rId4" imgW="1447560" imgH="368280" progId="Equation.DSMT4">
                  <p:embed/>
                  <p:pic>
                    <p:nvPicPr>
                      <p:cNvPr id="19" name="Object 18" descr="less than or equals to, equals to, or greater than or equals to."/>
                      <p:cNvPicPr/>
                      <p:nvPr/>
                    </p:nvPicPr>
                    <p:blipFill>
                      <a:blip r:embed="rId5"/>
                      <a:stretch>
                        <a:fillRect/>
                      </a:stretch>
                    </p:blipFill>
                    <p:spPr>
                      <a:xfrm>
                        <a:off x="5209456" y="2935214"/>
                        <a:ext cx="1447800" cy="368300"/>
                      </a:xfrm>
                      <a:prstGeom prst="rect">
                        <a:avLst/>
                      </a:prstGeom>
                    </p:spPr>
                  </p:pic>
                </p:oleObj>
              </mc:Fallback>
            </mc:AlternateContent>
          </a:graphicData>
        </a:graphic>
      </p:graphicFrame>
      <p:sp>
        <p:nvSpPr>
          <p:cNvPr id="7" name="Content Placeholder 6"/>
          <p:cNvSpPr>
            <a:spLocks noGrp="1"/>
          </p:cNvSpPr>
          <p:nvPr>
            <p:ph sz="quarter" idx="16"/>
          </p:nvPr>
        </p:nvSpPr>
        <p:spPr>
          <a:xfrm>
            <a:off x="457200" y="3432133"/>
            <a:ext cx="3814175" cy="425883"/>
          </a:xfrm>
        </p:spPr>
        <p:txBody>
          <a:bodyPr/>
          <a:lstStyle/>
          <a:p>
            <a:pPr marL="432000" indent="-432000">
              <a:buFont typeface="+mj-lt"/>
              <a:buAutoNum type="arabicPeriod" startAt="2"/>
            </a:pPr>
            <a:r>
              <a:rPr lang="en-US" altLang="en-US" b="1" dirty="0">
                <a:solidFill>
                  <a:schemeClr val="tx1"/>
                </a:solidFill>
                <a:sym typeface="Symbol" panose="05050102010706020507" pitchFamily="18" charset="2"/>
              </a:rPr>
              <a:t>Alternative </a:t>
            </a:r>
            <a:r>
              <a:rPr lang="en-US" altLang="en-US" b="1" dirty="0">
                <a:solidFill>
                  <a:schemeClr val="tx1"/>
                </a:solidFill>
              </a:rPr>
              <a:t>hypothesis</a:t>
            </a:r>
            <a:endParaRPr lang="en-US" dirty="0">
              <a:solidFill>
                <a:schemeClr val="tx1"/>
              </a:solidFill>
            </a:endParaRPr>
          </a:p>
        </p:txBody>
      </p:sp>
      <p:graphicFrame>
        <p:nvGraphicFramePr>
          <p:cNvPr id="20" name="Object 19" descr="H sub-a"/>
          <p:cNvGraphicFramePr>
            <a:graphicFrameLocks noChangeAspect="1"/>
          </p:cNvGraphicFramePr>
          <p:nvPr>
            <p:extLst>
              <p:ext uri="{D42A27DB-BD31-4B8C-83A1-F6EECF244321}">
                <p14:modId xmlns:p14="http://schemas.microsoft.com/office/powerpoint/2010/main" val="2340602047"/>
              </p:ext>
            </p:extLst>
          </p:nvPr>
        </p:nvGraphicFramePr>
        <p:xfrm>
          <a:off x="4348736" y="3444659"/>
          <a:ext cx="427182" cy="392545"/>
        </p:xfrm>
        <a:graphic>
          <a:graphicData uri="http://schemas.openxmlformats.org/presentationml/2006/ole">
            <mc:AlternateContent xmlns:mc="http://schemas.openxmlformats.org/markup-compatibility/2006">
              <mc:Choice xmlns:v="urn:schemas-microsoft-com:vml" Requires="v">
                <p:oleObj name="Equation" r:id="rId6" imgW="469800" imgH="431640" progId="Equation.DSMT4">
                  <p:embed/>
                </p:oleObj>
              </mc:Choice>
              <mc:Fallback>
                <p:oleObj name="Equation" r:id="rId6" imgW="469800" imgH="431640" progId="Equation.DSMT4">
                  <p:embed/>
                  <p:pic>
                    <p:nvPicPr>
                      <p:cNvPr id="20" name="Object 19" descr="H sub-a"/>
                      <p:cNvPicPr/>
                      <p:nvPr/>
                    </p:nvPicPr>
                    <p:blipFill>
                      <a:blip r:embed="rId7"/>
                      <a:stretch>
                        <a:fillRect/>
                      </a:stretch>
                    </p:blipFill>
                    <p:spPr>
                      <a:xfrm>
                        <a:off x="4348736" y="3444659"/>
                        <a:ext cx="427182" cy="392545"/>
                      </a:xfrm>
                      <a:prstGeom prst="rect">
                        <a:avLst/>
                      </a:prstGeom>
                    </p:spPr>
                  </p:pic>
                </p:oleObj>
              </mc:Fallback>
            </mc:AlternateContent>
          </a:graphicData>
        </a:graphic>
      </p:graphicFrame>
      <p:sp>
        <p:nvSpPr>
          <p:cNvPr id="8" name="Content Placeholder 7"/>
          <p:cNvSpPr>
            <a:spLocks noGrp="1"/>
          </p:cNvSpPr>
          <p:nvPr>
            <p:ph sz="quarter" idx="17"/>
          </p:nvPr>
        </p:nvSpPr>
        <p:spPr>
          <a:xfrm>
            <a:off x="457200" y="3962466"/>
            <a:ext cx="6294329" cy="421644"/>
          </a:xfrm>
        </p:spPr>
        <p:txBody>
          <a:bodyPr/>
          <a:lstStyle/>
          <a:p>
            <a:pPr lvl="1"/>
            <a:r>
              <a:rPr lang="en-US" altLang="en-US" dirty="0">
                <a:ea typeface="Times New Roman" panose="02020603050405020304" pitchFamily="18" charset="0"/>
              </a:rPr>
              <a:t>A statistical hypothesis that is true when</a:t>
            </a:r>
            <a:endParaRPr lang="en-US" dirty="0"/>
          </a:p>
        </p:txBody>
      </p:sp>
      <p:graphicFrame>
        <p:nvGraphicFramePr>
          <p:cNvPr id="21" name="Object 20" descr="H sub-zero"/>
          <p:cNvGraphicFramePr>
            <a:graphicFrameLocks noChangeAspect="1"/>
          </p:cNvGraphicFramePr>
          <p:nvPr>
            <p:extLst>
              <p:ext uri="{D42A27DB-BD31-4B8C-83A1-F6EECF244321}">
                <p14:modId xmlns:p14="http://schemas.microsoft.com/office/powerpoint/2010/main" val="3129231925"/>
              </p:ext>
            </p:extLst>
          </p:nvPr>
        </p:nvGraphicFramePr>
        <p:xfrm>
          <a:off x="6808735" y="3971938"/>
          <a:ext cx="392545" cy="392545"/>
        </p:xfrm>
        <a:graphic>
          <a:graphicData uri="http://schemas.openxmlformats.org/presentationml/2006/ole">
            <mc:AlternateContent xmlns:mc="http://schemas.openxmlformats.org/markup-compatibility/2006">
              <mc:Choice xmlns:v="urn:schemas-microsoft-com:vml" Requires="v">
                <p:oleObj name="Equation" r:id="rId8" imgW="431640" imgH="431640" progId="Equation.DSMT4">
                  <p:embed/>
                </p:oleObj>
              </mc:Choice>
              <mc:Fallback>
                <p:oleObj name="Equation" r:id="rId8" imgW="431640" imgH="431640" progId="Equation.DSMT4">
                  <p:embed/>
                  <p:pic>
                    <p:nvPicPr>
                      <p:cNvPr id="21" name="Object 20" descr="H sub-zero"/>
                      <p:cNvPicPr/>
                      <p:nvPr/>
                    </p:nvPicPr>
                    <p:blipFill>
                      <a:blip r:embed="rId9"/>
                      <a:stretch>
                        <a:fillRect/>
                      </a:stretch>
                    </p:blipFill>
                    <p:spPr>
                      <a:xfrm>
                        <a:off x="6808735" y="3971938"/>
                        <a:ext cx="392545" cy="392545"/>
                      </a:xfrm>
                      <a:prstGeom prst="rect">
                        <a:avLst/>
                      </a:prstGeom>
                    </p:spPr>
                  </p:pic>
                </p:oleObj>
              </mc:Fallback>
            </mc:AlternateContent>
          </a:graphicData>
        </a:graphic>
      </p:graphicFrame>
      <p:sp>
        <p:nvSpPr>
          <p:cNvPr id="9" name="Content Placeholder 8"/>
          <p:cNvSpPr>
            <a:spLocks noGrp="1"/>
          </p:cNvSpPr>
          <p:nvPr>
            <p:ph sz="quarter" idx="18"/>
          </p:nvPr>
        </p:nvSpPr>
        <p:spPr>
          <a:xfrm>
            <a:off x="1203435" y="4460453"/>
            <a:ext cx="1245476" cy="424697"/>
          </a:xfrm>
        </p:spPr>
        <p:txBody>
          <a:bodyPr/>
          <a:lstStyle/>
          <a:p>
            <a:pPr marL="0" lvl="1" indent="0">
              <a:buNone/>
            </a:pPr>
            <a:r>
              <a:rPr lang="en-US" altLang="en-US" dirty="0">
                <a:ea typeface="Times New Roman" panose="02020603050405020304" pitchFamily="18" charset="0"/>
              </a:rPr>
              <a:t>is false.</a:t>
            </a:r>
            <a:endParaRPr lang="en-US" dirty="0"/>
          </a:p>
        </p:txBody>
      </p:sp>
      <p:sp>
        <p:nvSpPr>
          <p:cNvPr id="10" name="Content Placeholder 9"/>
          <p:cNvSpPr>
            <a:spLocks noGrp="1"/>
          </p:cNvSpPr>
          <p:nvPr>
            <p:ph sz="quarter" idx="19"/>
          </p:nvPr>
        </p:nvSpPr>
        <p:spPr>
          <a:xfrm>
            <a:off x="457200" y="4968789"/>
            <a:ext cx="4615841" cy="417404"/>
          </a:xfrm>
        </p:spPr>
        <p:txBody>
          <a:bodyPr/>
          <a:lstStyle/>
          <a:p>
            <a:pPr lvl="1"/>
            <a:r>
              <a:rPr lang="en-US" altLang="en-US" dirty="0">
                <a:ea typeface="Times New Roman" panose="02020603050405020304" pitchFamily="18" charset="0"/>
              </a:rPr>
              <a:t>Always contains the symbol</a:t>
            </a:r>
            <a:endParaRPr lang="en-US" dirty="0"/>
          </a:p>
        </p:txBody>
      </p:sp>
      <p:graphicFrame>
        <p:nvGraphicFramePr>
          <p:cNvPr id="22" name="Object 21" descr="greater than, not equals to, or less than."/>
          <p:cNvGraphicFramePr>
            <a:graphicFrameLocks noChangeAspect="1"/>
          </p:cNvGraphicFramePr>
          <p:nvPr>
            <p:extLst>
              <p:ext uri="{D42A27DB-BD31-4B8C-83A1-F6EECF244321}">
                <p14:modId xmlns:p14="http://schemas.microsoft.com/office/powerpoint/2010/main" val="2512359255"/>
              </p:ext>
            </p:extLst>
          </p:nvPr>
        </p:nvGraphicFramePr>
        <p:xfrm>
          <a:off x="5203825" y="5037138"/>
          <a:ext cx="1460500" cy="330200"/>
        </p:xfrm>
        <a:graphic>
          <a:graphicData uri="http://schemas.openxmlformats.org/presentationml/2006/ole">
            <mc:AlternateContent xmlns:mc="http://schemas.openxmlformats.org/markup-compatibility/2006">
              <mc:Choice xmlns:v="urn:schemas-microsoft-com:vml" Requires="v">
                <p:oleObj name="Equation" r:id="rId10" imgW="1460160" imgH="330120" progId="Equation.DSMT4">
                  <p:embed/>
                </p:oleObj>
              </mc:Choice>
              <mc:Fallback>
                <p:oleObj name="Equation" r:id="rId10" imgW="1460160" imgH="330120" progId="Equation.DSMT4">
                  <p:embed/>
                  <p:pic>
                    <p:nvPicPr>
                      <p:cNvPr id="22" name="Object 21" descr="greater than, not equals to, or less than."/>
                      <p:cNvPicPr/>
                      <p:nvPr/>
                    </p:nvPicPr>
                    <p:blipFill>
                      <a:blip r:embed="rId11"/>
                      <a:stretch>
                        <a:fillRect/>
                      </a:stretch>
                    </p:blipFill>
                    <p:spPr>
                      <a:xfrm>
                        <a:off x="5203825" y="5037138"/>
                        <a:ext cx="1460500" cy="330200"/>
                      </a:xfrm>
                      <a:prstGeom prst="rect">
                        <a:avLst/>
                      </a:prstGeom>
                    </p:spPr>
                  </p:pic>
                </p:oleObj>
              </mc:Fallback>
            </mc:AlternateContent>
          </a:graphicData>
        </a:graphic>
      </p:graphicFrame>
    </p:spTree>
    <p:extLst>
      <p:ext uri="{BB962C8B-B14F-4D97-AF65-F5344CB8AC3E}">
        <p14:creationId xmlns:p14="http://schemas.microsoft.com/office/powerpoint/2010/main" val="2017111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Two Sample Hypothesis Test With Independent Samples </a:t>
            </a:r>
            <a:r>
              <a:rPr lang="en-US" sz="2000" b="0" dirty="0"/>
              <a:t>(2 of 2)</a:t>
            </a:r>
          </a:p>
        </p:txBody>
      </p:sp>
      <p:graphicFrame>
        <p:nvGraphicFramePr>
          <p:cNvPr id="4" name="Object 3" descr="Null and alternative hypotheses are&#10;H sub-zero: mu subscript 1 equals mu subscript 2&#10;H sub-a: mu subscript 1 not equals to mu subscript 2"/>
          <p:cNvGraphicFramePr>
            <a:graphicFrameLocks noChangeAspect="1"/>
          </p:cNvGraphicFramePr>
          <p:nvPr>
            <p:extLst>
              <p:ext uri="{D42A27DB-BD31-4B8C-83A1-F6EECF244321}">
                <p14:modId xmlns:p14="http://schemas.microsoft.com/office/powerpoint/2010/main" val="556757278"/>
              </p:ext>
            </p:extLst>
          </p:nvPr>
        </p:nvGraphicFramePr>
        <p:xfrm>
          <a:off x="551232" y="1813357"/>
          <a:ext cx="1905000" cy="1016000"/>
        </p:xfrm>
        <a:graphic>
          <a:graphicData uri="http://schemas.openxmlformats.org/presentationml/2006/ole">
            <mc:AlternateContent xmlns:mc="http://schemas.openxmlformats.org/markup-compatibility/2006">
              <mc:Choice xmlns:v="urn:schemas-microsoft-com:vml" Requires="v">
                <p:oleObj name="Equation" r:id="rId2" imgW="1904760" imgH="1015920" progId="Equation.DSMT4">
                  <p:embed/>
                </p:oleObj>
              </mc:Choice>
              <mc:Fallback>
                <p:oleObj name="Equation" r:id="rId2" imgW="1904760" imgH="1015920" progId="Equation.DSMT4">
                  <p:embed/>
                  <p:pic>
                    <p:nvPicPr>
                      <p:cNvPr id="4" name="Object 3" descr="Null and alternative hypotheses are&#10;H sub-zero: mu subscript 1 equals mu subscript 2&#10;H sub-a: mu subscript 1 not equals to mu subscript 2"/>
                      <p:cNvPicPr/>
                      <p:nvPr/>
                    </p:nvPicPr>
                    <p:blipFill>
                      <a:blip r:embed="rId3"/>
                      <a:stretch>
                        <a:fillRect/>
                      </a:stretch>
                    </p:blipFill>
                    <p:spPr>
                      <a:xfrm>
                        <a:off x="551232" y="1813357"/>
                        <a:ext cx="1905000" cy="1016000"/>
                      </a:xfrm>
                      <a:prstGeom prst="rect">
                        <a:avLst/>
                      </a:prstGeom>
                    </p:spPr>
                  </p:pic>
                </p:oleObj>
              </mc:Fallback>
            </mc:AlternateContent>
          </a:graphicData>
        </a:graphic>
      </p:graphicFrame>
      <p:graphicFrame>
        <p:nvGraphicFramePr>
          <p:cNvPr id="5" name="Object 4" descr="Null and alternative hypotheses are&#10;H sub-zero: mu subscript 1 less than or equals to mu subscript 2&#10;H sub-a: mu subscript 1 greater than mu subscript 2"/>
          <p:cNvGraphicFramePr>
            <a:graphicFrameLocks noChangeAspect="1"/>
          </p:cNvGraphicFramePr>
          <p:nvPr>
            <p:extLst>
              <p:ext uri="{D42A27DB-BD31-4B8C-83A1-F6EECF244321}">
                <p14:modId xmlns:p14="http://schemas.microsoft.com/office/powerpoint/2010/main" val="930418205"/>
              </p:ext>
            </p:extLst>
          </p:nvPr>
        </p:nvGraphicFramePr>
        <p:xfrm>
          <a:off x="3281732" y="1813691"/>
          <a:ext cx="1917700" cy="1016000"/>
        </p:xfrm>
        <a:graphic>
          <a:graphicData uri="http://schemas.openxmlformats.org/presentationml/2006/ole">
            <mc:AlternateContent xmlns:mc="http://schemas.openxmlformats.org/markup-compatibility/2006">
              <mc:Choice xmlns:v="urn:schemas-microsoft-com:vml" Requires="v">
                <p:oleObj name="Equation" r:id="rId4" imgW="1917360" imgH="1015920" progId="Equation.DSMT4">
                  <p:embed/>
                </p:oleObj>
              </mc:Choice>
              <mc:Fallback>
                <p:oleObj name="Equation" r:id="rId4" imgW="1917360" imgH="1015920" progId="Equation.DSMT4">
                  <p:embed/>
                  <p:pic>
                    <p:nvPicPr>
                      <p:cNvPr id="5" name="Object 4" descr="Null and alternative hypotheses are&#10;H sub-zero: mu subscript 1 less than or equals to mu subscript 2&#10;H sub-a: mu subscript 1 greater than mu subscript 2"/>
                      <p:cNvPicPr/>
                      <p:nvPr/>
                    </p:nvPicPr>
                    <p:blipFill>
                      <a:blip r:embed="rId5"/>
                      <a:stretch>
                        <a:fillRect/>
                      </a:stretch>
                    </p:blipFill>
                    <p:spPr>
                      <a:xfrm>
                        <a:off x="3281732" y="1813691"/>
                        <a:ext cx="1917700" cy="1016000"/>
                      </a:xfrm>
                      <a:prstGeom prst="rect">
                        <a:avLst/>
                      </a:prstGeom>
                    </p:spPr>
                  </p:pic>
                </p:oleObj>
              </mc:Fallback>
            </mc:AlternateContent>
          </a:graphicData>
        </a:graphic>
      </p:graphicFrame>
      <p:graphicFrame>
        <p:nvGraphicFramePr>
          <p:cNvPr id="6" name="Object 5" descr="Null and alternative hypotheses are&#10;H sub-zero: mu subscript 1 greater than or equals to mu subscript 2&#10;H sub-a: mu subscript 1 less than mu subscript 2"/>
          <p:cNvGraphicFramePr>
            <a:graphicFrameLocks noChangeAspect="1"/>
          </p:cNvGraphicFramePr>
          <p:nvPr>
            <p:extLst>
              <p:ext uri="{D42A27DB-BD31-4B8C-83A1-F6EECF244321}">
                <p14:modId xmlns:p14="http://schemas.microsoft.com/office/powerpoint/2010/main" val="2319216282"/>
              </p:ext>
            </p:extLst>
          </p:nvPr>
        </p:nvGraphicFramePr>
        <p:xfrm>
          <a:off x="6315218" y="1813691"/>
          <a:ext cx="1905000" cy="1016000"/>
        </p:xfrm>
        <a:graphic>
          <a:graphicData uri="http://schemas.openxmlformats.org/presentationml/2006/ole">
            <mc:AlternateContent xmlns:mc="http://schemas.openxmlformats.org/markup-compatibility/2006">
              <mc:Choice xmlns:v="urn:schemas-microsoft-com:vml" Requires="v">
                <p:oleObj name="Equation" r:id="rId6" imgW="1904760" imgH="1015920" progId="Equation.DSMT4">
                  <p:embed/>
                </p:oleObj>
              </mc:Choice>
              <mc:Fallback>
                <p:oleObj name="Equation" r:id="rId6" imgW="1904760" imgH="1015920" progId="Equation.DSMT4">
                  <p:embed/>
                  <p:pic>
                    <p:nvPicPr>
                      <p:cNvPr id="6" name="Object 5" descr="Null and alternative hypotheses are&#10;H sub-zero: mu subscript 1 greater than or equals to mu subscript 2&#10;H sub-a: mu subscript 1 less than mu subscript 2"/>
                      <p:cNvPicPr/>
                      <p:nvPr/>
                    </p:nvPicPr>
                    <p:blipFill>
                      <a:blip r:embed="rId7"/>
                      <a:stretch>
                        <a:fillRect/>
                      </a:stretch>
                    </p:blipFill>
                    <p:spPr>
                      <a:xfrm>
                        <a:off x="6315218" y="1813691"/>
                        <a:ext cx="1905000" cy="1016000"/>
                      </a:xfrm>
                      <a:prstGeom prst="rect">
                        <a:avLst/>
                      </a:prstGeom>
                    </p:spPr>
                  </p:pic>
                </p:oleObj>
              </mc:Fallback>
            </mc:AlternateContent>
          </a:graphicData>
        </a:graphic>
      </p:graphicFrame>
      <p:sp>
        <p:nvSpPr>
          <p:cNvPr id="7" name="Content Placeholder 6"/>
          <p:cNvSpPr>
            <a:spLocks noGrp="1"/>
          </p:cNvSpPr>
          <p:nvPr>
            <p:ph sz="quarter" idx="13"/>
          </p:nvPr>
        </p:nvSpPr>
        <p:spPr>
          <a:xfrm>
            <a:off x="457200" y="3118982"/>
            <a:ext cx="7509353" cy="826718"/>
          </a:xfrm>
        </p:spPr>
        <p:txBody>
          <a:bodyPr/>
          <a:lstStyle/>
          <a:p>
            <a:pPr marL="432" indent="0">
              <a:buNone/>
            </a:pPr>
            <a:r>
              <a:rPr lang="en-US" altLang="en-US" dirty="0"/>
              <a:t>Regardless of which hypotheses you use, you always assume there is no difference between the population</a:t>
            </a:r>
            <a:endParaRPr lang="en-US" dirty="0"/>
          </a:p>
        </p:txBody>
      </p:sp>
      <p:sp>
        <p:nvSpPr>
          <p:cNvPr id="8" name="Content Placeholder 7"/>
          <p:cNvSpPr>
            <a:spLocks noGrp="1"/>
          </p:cNvSpPr>
          <p:nvPr>
            <p:ph sz="quarter" idx="14"/>
          </p:nvPr>
        </p:nvSpPr>
        <p:spPr>
          <a:xfrm>
            <a:off x="457200" y="4020856"/>
            <a:ext cx="1484334" cy="413357"/>
          </a:xfrm>
        </p:spPr>
        <p:txBody>
          <a:bodyPr/>
          <a:lstStyle/>
          <a:p>
            <a:pPr marL="432" indent="0">
              <a:buNone/>
            </a:pPr>
            <a:r>
              <a:rPr lang="en-US" altLang="en-US"/>
              <a:t>means, or</a:t>
            </a:r>
            <a:endParaRPr lang="en-US"/>
          </a:p>
        </p:txBody>
      </p:sp>
      <p:graphicFrame>
        <p:nvGraphicFramePr>
          <p:cNvPr id="9" name="Object 8" descr="mu subscript 1 equals mu subscript 2"/>
          <p:cNvGraphicFramePr>
            <a:graphicFrameLocks noChangeAspect="1"/>
          </p:cNvGraphicFramePr>
          <p:nvPr>
            <p:extLst>
              <p:ext uri="{D42A27DB-BD31-4B8C-83A1-F6EECF244321}">
                <p14:modId xmlns:p14="http://schemas.microsoft.com/office/powerpoint/2010/main" val="2886002587"/>
              </p:ext>
            </p:extLst>
          </p:nvPr>
        </p:nvGraphicFramePr>
        <p:xfrm>
          <a:off x="2038698" y="4009851"/>
          <a:ext cx="1130300" cy="431800"/>
        </p:xfrm>
        <a:graphic>
          <a:graphicData uri="http://schemas.openxmlformats.org/presentationml/2006/ole">
            <mc:AlternateContent xmlns:mc="http://schemas.openxmlformats.org/markup-compatibility/2006">
              <mc:Choice xmlns:v="urn:schemas-microsoft-com:vml" Requires="v">
                <p:oleObj name="Equation" r:id="rId8" imgW="1130040" imgH="431640" progId="Equation.DSMT4">
                  <p:embed/>
                </p:oleObj>
              </mc:Choice>
              <mc:Fallback>
                <p:oleObj name="Equation" r:id="rId8" imgW="1130040" imgH="431640" progId="Equation.DSMT4">
                  <p:embed/>
                  <p:pic>
                    <p:nvPicPr>
                      <p:cNvPr id="9" name="Object 8" descr="mu subscript 1 equals mu subscript 2"/>
                      <p:cNvPicPr/>
                      <p:nvPr/>
                    </p:nvPicPr>
                    <p:blipFill>
                      <a:blip r:embed="rId9"/>
                      <a:stretch>
                        <a:fillRect/>
                      </a:stretch>
                    </p:blipFill>
                    <p:spPr>
                      <a:xfrm>
                        <a:off x="2038698" y="4009851"/>
                        <a:ext cx="1130300" cy="431800"/>
                      </a:xfrm>
                      <a:prstGeom prst="rect">
                        <a:avLst/>
                      </a:prstGeom>
                    </p:spPr>
                  </p:pic>
                </p:oleObj>
              </mc:Fallback>
            </mc:AlternateContent>
          </a:graphicData>
        </a:graphic>
      </p:graphicFrame>
    </p:spTree>
    <p:extLst>
      <p:ext uri="{BB962C8B-B14F-4D97-AF65-F5344CB8AC3E}">
        <p14:creationId xmlns:p14="http://schemas.microsoft.com/office/powerpoint/2010/main" val="2713708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 Sample </a:t>
            </a:r>
            <a:r>
              <a:rPr lang="en-US" altLang="en-US" sz="3400" i="1" dirty="0"/>
              <a:t>z</a:t>
            </a:r>
            <a:r>
              <a:rPr lang="en-US" altLang="en-US" sz="3400" dirty="0"/>
              <a:t>-Test for the Difference Between Means </a:t>
            </a:r>
            <a:r>
              <a:rPr lang="en-US" altLang="en-US" sz="2000" b="0" dirty="0"/>
              <a:t>(1 of 4)</a:t>
            </a:r>
            <a:endParaRPr lang="en-US" sz="2000" b="0" dirty="0"/>
          </a:p>
        </p:txBody>
      </p:sp>
      <p:sp>
        <p:nvSpPr>
          <p:cNvPr id="4" name="Content Placeholder 3"/>
          <p:cNvSpPr>
            <a:spLocks noGrp="1"/>
          </p:cNvSpPr>
          <p:nvPr>
            <p:ph sz="quarter" idx="13"/>
          </p:nvPr>
        </p:nvSpPr>
        <p:spPr>
          <a:xfrm>
            <a:off x="457200" y="1552575"/>
            <a:ext cx="6958208" cy="439063"/>
          </a:xfrm>
        </p:spPr>
        <p:txBody>
          <a:bodyPr/>
          <a:lstStyle/>
          <a:p>
            <a:pPr marL="432" indent="0">
              <a:buNone/>
            </a:pPr>
            <a:r>
              <a:rPr lang="en-US" altLang="en-US"/>
              <a:t>To perform a </a:t>
            </a:r>
            <a:r>
              <a:rPr lang="en-US" altLang="en-US" i="1"/>
              <a:t>z-</a:t>
            </a:r>
            <a:r>
              <a:rPr lang="en-US" altLang="en-US"/>
              <a:t>test for the difference between two</a:t>
            </a:r>
            <a:endParaRPr lang="en-US"/>
          </a:p>
        </p:txBody>
      </p:sp>
      <p:sp>
        <p:nvSpPr>
          <p:cNvPr id="5" name="Content Placeholder 4"/>
          <p:cNvSpPr>
            <a:spLocks noGrp="1"/>
          </p:cNvSpPr>
          <p:nvPr>
            <p:ph sz="quarter" idx="14"/>
          </p:nvPr>
        </p:nvSpPr>
        <p:spPr>
          <a:xfrm>
            <a:off x="457200" y="2079321"/>
            <a:ext cx="2586625" cy="425883"/>
          </a:xfrm>
        </p:spPr>
        <p:txBody>
          <a:bodyPr/>
          <a:lstStyle/>
          <a:p>
            <a:pPr marL="432" indent="0">
              <a:buNone/>
            </a:pPr>
            <a:r>
              <a:rPr lang="en-US" altLang="en-US"/>
              <a:t>population means</a:t>
            </a:r>
            <a:endParaRPr lang="en-US"/>
          </a:p>
        </p:txBody>
      </p:sp>
      <p:graphicFrame>
        <p:nvGraphicFramePr>
          <p:cNvPr id="18" name="Object 17" descr="mu subscript 1 and mu subscript 2"/>
          <p:cNvGraphicFramePr>
            <a:graphicFrameLocks noChangeAspect="1"/>
          </p:cNvGraphicFramePr>
          <p:nvPr>
            <p:extLst>
              <p:ext uri="{D42A27DB-BD31-4B8C-83A1-F6EECF244321}">
                <p14:modId xmlns:p14="http://schemas.microsoft.com/office/powerpoint/2010/main" val="1366335378"/>
              </p:ext>
            </p:extLst>
          </p:nvPr>
        </p:nvGraphicFramePr>
        <p:xfrm>
          <a:off x="3106455" y="2073404"/>
          <a:ext cx="1409700" cy="431800"/>
        </p:xfrm>
        <a:graphic>
          <a:graphicData uri="http://schemas.openxmlformats.org/presentationml/2006/ole">
            <mc:AlternateContent xmlns:mc="http://schemas.openxmlformats.org/markup-compatibility/2006">
              <mc:Choice xmlns:v="urn:schemas-microsoft-com:vml" Requires="v">
                <p:oleObj name="Equation" r:id="rId2" imgW="1409400" imgH="431640" progId="Equation.DSMT4">
                  <p:embed/>
                </p:oleObj>
              </mc:Choice>
              <mc:Fallback>
                <p:oleObj name="Equation" r:id="rId2" imgW="1409400" imgH="431640" progId="Equation.DSMT4">
                  <p:embed/>
                  <p:pic>
                    <p:nvPicPr>
                      <p:cNvPr id="18" name="Object 17" descr="mu subscript 1 and mu subscript 2"/>
                      <p:cNvPicPr/>
                      <p:nvPr/>
                    </p:nvPicPr>
                    <p:blipFill>
                      <a:blip r:embed="rId3"/>
                      <a:stretch>
                        <a:fillRect/>
                      </a:stretch>
                    </p:blipFill>
                    <p:spPr>
                      <a:xfrm>
                        <a:off x="3106455" y="2073404"/>
                        <a:ext cx="1409700" cy="431800"/>
                      </a:xfrm>
                      <a:prstGeom prst="rect">
                        <a:avLst/>
                      </a:prstGeom>
                    </p:spPr>
                  </p:pic>
                </p:oleObj>
              </mc:Fallback>
            </mc:AlternateContent>
          </a:graphicData>
        </a:graphic>
      </p:graphicFrame>
      <p:sp>
        <p:nvSpPr>
          <p:cNvPr id="6" name="Content Placeholder 5"/>
          <p:cNvSpPr>
            <a:spLocks noGrp="1"/>
          </p:cNvSpPr>
          <p:nvPr>
            <p:ph sz="quarter" idx="15"/>
          </p:nvPr>
        </p:nvSpPr>
        <p:spPr>
          <a:xfrm>
            <a:off x="4578784" y="2073405"/>
            <a:ext cx="3262509" cy="431800"/>
          </a:xfrm>
        </p:spPr>
        <p:txBody>
          <a:bodyPr/>
          <a:lstStyle/>
          <a:p>
            <a:pPr marL="432" indent="0">
              <a:buNone/>
            </a:pPr>
            <a:r>
              <a:rPr lang="en-US" altLang="en-US"/>
              <a:t>when the samples are</a:t>
            </a:r>
            <a:endParaRPr lang="en-US"/>
          </a:p>
        </p:txBody>
      </p:sp>
      <p:sp>
        <p:nvSpPr>
          <p:cNvPr id="7" name="Content Placeholder 6"/>
          <p:cNvSpPr>
            <a:spLocks noGrp="1"/>
          </p:cNvSpPr>
          <p:nvPr>
            <p:ph sz="quarter" idx="16"/>
          </p:nvPr>
        </p:nvSpPr>
        <p:spPr>
          <a:xfrm>
            <a:off x="457201" y="2586970"/>
            <a:ext cx="7647140" cy="469381"/>
          </a:xfrm>
        </p:spPr>
        <p:txBody>
          <a:bodyPr/>
          <a:lstStyle/>
          <a:p>
            <a:pPr marL="432" indent="0">
              <a:buNone/>
            </a:pPr>
            <a:r>
              <a:rPr lang="en-US" altLang="en-US"/>
              <a:t>independent, the following conditions are necessary.</a:t>
            </a:r>
            <a:endParaRPr lang="en-US"/>
          </a:p>
        </p:txBody>
      </p:sp>
      <p:sp>
        <p:nvSpPr>
          <p:cNvPr id="8" name="Content Placeholder 7"/>
          <p:cNvSpPr>
            <a:spLocks noGrp="1"/>
          </p:cNvSpPr>
          <p:nvPr>
            <p:ph sz="quarter" idx="17"/>
          </p:nvPr>
        </p:nvSpPr>
        <p:spPr>
          <a:xfrm>
            <a:off x="457200" y="3428108"/>
            <a:ext cx="8229600" cy="2571859"/>
          </a:xfrm>
        </p:spPr>
        <p:txBody>
          <a:bodyPr/>
          <a:lstStyle/>
          <a:p>
            <a:pPr marL="432000" indent="-432000" eaLnBrk="1" hangingPunct="1">
              <a:buFont typeface="+mj-lt"/>
              <a:buAutoNum type="arabicPeriod"/>
            </a:pPr>
            <a:r>
              <a:rPr lang="en-US" altLang="en-US" dirty="0"/>
              <a:t>The population standard deviations are </a:t>
            </a:r>
            <a:r>
              <a:rPr lang="en-US" altLang="en-US" dirty="0">
                <a:sym typeface="Symbol" panose="05050102010706020507" pitchFamily="18" charset="2"/>
              </a:rPr>
              <a:t>known.</a:t>
            </a:r>
          </a:p>
          <a:p>
            <a:pPr marL="432000" indent="-432000" eaLnBrk="1" hangingPunct="1">
              <a:buFont typeface="+mj-lt"/>
              <a:buAutoNum type="arabicPeriod"/>
            </a:pPr>
            <a:r>
              <a:rPr lang="en-US" altLang="en-US" dirty="0">
                <a:sym typeface="Symbol" panose="05050102010706020507" pitchFamily="18" charset="2"/>
              </a:rPr>
              <a:t>T</a:t>
            </a:r>
            <a:r>
              <a:rPr lang="en-US" altLang="en-US" dirty="0"/>
              <a:t>he samples are randomly selected.</a:t>
            </a:r>
          </a:p>
          <a:p>
            <a:pPr marL="432000" indent="-432000" eaLnBrk="1" hangingPunct="1">
              <a:buFont typeface="+mj-lt"/>
              <a:buAutoNum type="arabicPeriod"/>
            </a:pPr>
            <a:r>
              <a:rPr lang="en-US" altLang="en-US" dirty="0"/>
              <a:t>The samples are independent.</a:t>
            </a:r>
          </a:p>
          <a:p>
            <a:pPr marL="432000" indent="-432000" eaLnBrk="1" hangingPunct="1">
              <a:buFont typeface="+mj-lt"/>
              <a:buAutoNum type="arabicPeriod"/>
            </a:pPr>
            <a:r>
              <a:rPr lang="en-US" altLang="en-US" dirty="0"/>
              <a:t>The populations are normally distributed or each sample size is at least 30.</a:t>
            </a:r>
          </a:p>
        </p:txBody>
      </p:sp>
    </p:spTree>
    <p:extLst>
      <p:ext uri="{BB962C8B-B14F-4D97-AF65-F5344CB8AC3E}">
        <p14:creationId xmlns:p14="http://schemas.microsoft.com/office/powerpoint/2010/main" val="3845915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 Sample </a:t>
            </a:r>
            <a:r>
              <a:rPr lang="en-US" altLang="en-US" sz="3400" i="1" dirty="0"/>
              <a:t>z</a:t>
            </a:r>
            <a:r>
              <a:rPr lang="en-US" altLang="en-US" sz="3400" dirty="0"/>
              <a:t>-Test for the Difference Between Means </a:t>
            </a:r>
            <a:r>
              <a:rPr lang="en-US" altLang="en-US" sz="2000" b="0" dirty="0"/>
              <a:t>(2 of 4)</a:t>
            </a:r>
            <a:endParaRPr lang="en-IN" sz="2000" dirty="0"/>
          </a:p>
        </p:txBody>
      </p:sp>
      <p:sp>
        <p:nvSpPr>
          <p:cNvPr id="4" name="Content Placeholder 3"/>
          <p:cNvSpPr>
            <a:spLocks noGrp="1"/>
          </p:cNvSpPr>
          <p:nvPr>
            <p:ph sz="quarter" idx="13"/>
          </p:nvPr>
        </p:nvSpPr>
        <p:spPr>
          <a:xfrm>
            <a:off x="457200" y="1552575"/>
            <a:ext cx="6382011" cy="426537"/>
          </a:xfrm>
        </p:spPr>
        <p:txBody>
          <a:bodyPr/>
          <a:lstStyle/>
          <a:p>
            <a:pPr marL="432" indent="0">
              <a:buNone/>
            </a:pPr>
            <a:r>
              <a:rPr lang="en-US" altLang="en-US" dirty="0"/>
              <a:t>When these conditions are met, the </a:t>
            </a:r>
            <a:r>
              <a:rPr lang="en-US" altLang="en-US" b="1" dirty="0"/>
              <a:t>sampling</a:t>
            </a:r>
            <a:endParaRPr lang="en-IN" dirty="0"/>
          </a:p>
        </p:txBody>
      </p:sp>
      <p:sp>
        <p:nvSpPr>
          <p:cNvPr id="5" name="Content Placeholder 4"/>
          <p:cNvSpPr>
            <a:spLocks noGrp="1"/>
          </p:cNvSpPr>
          <p:nvPr>
            <p:ph sz="quarter" idx="14"/>
          </p:nvPr>
        </p:nvSpPr>
        <p:spPr>
          <a:xfrm>
            <a:off x="457201" y="2054270"/>
            <a:ext cx="2323578" cy="413358"/>
          </a:xfrm>
        </p:spPr>
        <p:txBody>
          <a:bodyPr/>
          <a:lstStyle/>
          <a:p>
            <a:pPr marL="432" indent="0">
              <a:buNone/>
            </a:pPr>
            <a:r>
              <a:rPr lang="en-US" altLang="en-US" b="1" dirty="0"/>
              <a:t>distribution for</a:t>
            </a:r>
            <a:endParaRPr lang="en-IN" dirty="0"/>
          </a:p>
        </p:txBody>
      </p:sp>
      <p:graphicFrame>
        <p:nvGraphicFramePr>
          <p:cNvPr id="18" name="Object 17" descr="x bar subscript 1 minus x bar subscript 2"/>
          <p:cNvGraphicFramePr>
            <a:graphicFrameLocks noChangeAspect="1"/>
          </p:cNvGraphicFramePr>
          <p:nvPr>
            <p:extLst>
              <p:ext uri="{D42A27DB-BD31-4B8C-83A1-F6EECF244321}">
                <p14:modId xmlns:p14="http://schemas.microsoft.com/office/powerpoint/2010/main" val="3384060645"/>
              </p:ext>
            </p:extLst>
          </p:nvPr>
        </p:nvGraphicFramePr>
        <p:xfrm>
          <a:off x="2843409" y="2054270"/>
          <a:ext cx="1130300" cy="431800"/>
        </p:xfrm>
        <a:graphic>
          <a:graphicData uri="http://schemas.openxmlformats.org/presentationml/2006/ole">
            <mc:AlternateContent xmlns:mc="http://schemas.openxmlformats.org/markup-compatibility/2006">
              <mc:Choice xmlns:v="urn:schemas-microsoft-com:vml" Requires="v">
                <p:oleObj name="Equation" r:id="rId3" imgW="1130040" imgH="431640" progId="Equation.DSMT4">
                  <p:embed/>
                </p:oleObj>
              </mc:Choice>
              <mc:Fallback>
                <p:oleObj name="Equation" r:id="rId3" imgW="1130040" imgH="431640" progId="Equation.DSMT4">
                  <p:embed/>
                  <p:pic>
                    <p:nvPicPr>
                      <p:cNvPr id="18" name="Object 17" descr="x bar subscript 1 minus x bar subscript 2"/>
                      <p:cNvPicPr/>
                      <p:nvPr/>
                    </p:nvPicPr>
                    <p:blipFill>
                      <a:blip r:embed="rId4"/>
                      <a:stretch>
                        <a:fillRect/>
                      </a:stretch>
                    </p:blipFill>
                    <p:spPr>
                      <a:xfrm>
                        <a:off x="2843409" y="2054270"/>
                        <a:ext cx="1130300" cy="431800"/>
                      </a:xfrm>
                      <a:prstGeom prst="rect">
                        <a:avLst/>
                      </a:prstGeom>
                    </p:spPr>
                  </p:pic>
                </p:oleObj>
              </mc:Fallback>
            </mc:AlternateContent>
          </a:graphicData>
        </a:graphic>
      </p:graphicFrame>
      <p:sp>
        <p:nvSpPr>
          <p:cNvPr id="6" name="Content Placeholder 5"/>
          <p:cNvSpPr>
            <a:spLocks noGrp="1"/>
          </p:cNvSpPr>
          <p:nvPr>
            <p:ph sz="quarter" idx="15"/>
          </p:nvPr>
        </p:nvSpPr>
        <p:spPr>
          <a:xfrm>
            <a:off x="4036339" y="2054271"/>
            <a:ext cx="4305996" cy="431800"/>
          </a:xfrm>
        </p:spPr>
        <p:txBody>
          <a:bodyPr/>
          <a:lstStyle/>
          <a:p>
            <a:pPr marL="432" indent="0">
              <a:buNone/>
            </a:pPr>
            <a:r>
              <a:rPr lang="en-US" altLang="en-US" b="1" dirty="0"/>
              <a:t>the difference of the sample</a:t>
            </a:r>
            <a:endParaRPr lang="en-IN" dirty="0"/>
          </a:p>
        </p:txBody>
      </p:sp>
      <p:sp>
        <p:nvSpPr>
          <p:cNvPr id="7" name="Content Placeholder 6"/>
          <p:cNvSpPr>
            <a:spLocks noGrp="1"/>
          </p:cNvSpPr>
          <p:nvPr>
            <p:ph sz="quarter" idx="16"/>
          </p:nvPr>
        </p:nvSpPr>
        <p:spPr>
          <a:xfrm>
            <a:off x="457200" y="2561228"/>
            <a:ext cx="8229600" cy="808273"/>
          </a:xfrm>
        </p:spPr>
        <p:txBody>
          <a:bodyPr/>
          <a:lstStyle/>
          <a:p>
            <a:pPr marL="432" indent="0" eaLnBrk="1" hangingPunct="1">
              <a:spcBef>
                <a:spcPct val="20000"/>
              </a:spcBef>
              <a:buClr>
                <a:schemeClr val="tx1"/>
              </a:buClr>
              <a:buSzPct val="75000"/>
              <a:buNone/>
            </a:pPr>
            <a:r>
              <a:rPr lang="en-US" altLang="en-US" b="1" dirty="0"/>
              <a:t>means, </a:t>
            </a:r>
            <a:r>
              <a:rPr lang="en-US" altLang="en-US" dirty="0"/>
              <a:t>is a normal distribution with mean and standard error as shown.</a:t>
            </a:r>
            <a:endParaRPr lang="en-US" altLang="en-US" baseline="-25000" dirty="0"/>
          </a:p>
        </p:txBody>
      </p:sp>
      <p:sp>
        <p:nvSpPr>
          <p:cNvPr id="8" name="Content Placeholder 7"/>
          <p:cNvSpPr>
            <a:spLocks noGrp="1"/>
          </p:cNvSpPr>
          <p:nvPr>
            <p:ph sz="quarter" idx="17"/>
          </p:nvPr>
        </p:nvSpPr>
        <p:spPr>
          <a:xfrm>
            <a:off x="457201" y="3582444"/>
            <a:ext cx="3187873" cy="363255"/>
          </a:xfrm>
        </p:spPr>
        <p:txBody>
          <a:bodyPr/>
          <a:lstStyle/>
          <a:p>
            <a:pPr marL="432" indent="0">
              <a:buNone/>
            </a:pPr>
            <a:r>
              <a:rPr lang="en-US" altLang="en-US" sz="2000" b="1" dirty="0"/>
              <a:t>Sampling Distribution for</a:t>
            </a:r>
            <a:endParaRPr lang="en-IN" sz="2000" dirty="0"/>
          </a:p>
        </p:txBody>
      </p:sp>
      <p:graphicFrame>
        <p:nvGraphicFramePr>
          <p:cNvPr id="19" name="Object 18" descr="x bar subscript 1 minus x bar subscript 2"/>
          <p:cNvGraphicFramePr>
            <a:graphicFrameLocks noChangeAspect="1"/>
          </p:cNvGraphicFramePr>
          <p:nvPr>
            <p:extLst>
              <p:ext uri="{D42A27DB-BD31-4B8C-83A1-F6EECF244321}">
                <p14:modId xmlns:p14="http://schemas.microsoft.com/office/powerpoint/2010/main" val="1299747943"/>
              </p:ext>
            </p:extLst>
          </p:nvPr>
        </p:nvGraphicFramePr>
        <p:xfrm>
          <a:off x="3712111" y="3573115"/>
          <a:ext cx="839669" cy="356859"/>
        </p:xfrm>
        <a:graphic>
          <a:graphicData uri="http://schemas.openxmlformats.org/presentationml/2006/ole">
            <mc:AlternateContent xmlns:mc="http://schemas.openxmlformats.org/markup-compatibility/2006">
              <mc:Choice xmlns:v="urn:schemas-microsoft-com:vml" Requires="v">
                <p:oleObj name="Equation" r:id="rId5" imgW="1015920" imgH="431640" progId="Equation.DSMT4">
                  <p:embed/>
                </p:oleObj>
              </mc:Choice>
              <mc:Fallback>
                <p:oleObj name="Equation" r:id="rId5" imgW="1015920" imgH="431640" progId="Equation.DSMT4">
                  <p:embed/>
                  <p:pic>
                    <p:nvPicPr>
                      <p:cNvPr id="19" name="Object 18" descr="x bar subscript 1 minus x bar subscript 2"/>
                      <p:cNvPicPr/>
                      <p:nvPr/>
                    </p:nvPicPr>
                    <p:blipFill>
                      <a:blip r:embed="rId6"/>
                      <a:stretch>
                        <a:fillRect/>
                      </a:stretch>
                    </p:blipFill>
                    <p:spPr>
                      <a:xfrm>
                        <a:off x="3712111" y="3573115"/>
                        <a:ext cx="839669" cy="356859"/>
                      </a:xfrm>
                      <a:prstGeom prst="rect">
                        <a:avLst/>
                      </a:prstGeom>
                    </p:spPr>
                  </p:pic>
                </p:oleObj>
              </mc:Fallback>
            </mc:AlternateContent>
          </a:graphicData>
        </a:graphic>
      </p:graphicFrame>
      <p:pic>
        <p:nvPicPr>
          <p:cNvPr id="20" name="Content Placeholder 19" descr="Bell curve is shown representing the Sampling Distribution for x bar subscript 1 minus x bar subscript 2. For long description in Notes pane, press F6."/>
          <p:cNvPicPr>
            <a:picLocks noGrp="1" noChangeAspect="1"/>
          </p:cNvPicPr>
          <p:nvPr>
            <p:ph sz="quarter" idx="18"/>
          </p:nvPr>
        </p:nvPicPr>
        <p:blipFill>
          <a:blip r:embed="rId7"/>
          <a:stretch>
            <a:fillRect/>
          </a:stretch>
        </p:blipFill>
        <p:spPr>
          <a:xfrm>
            <a:off x="613246" y="4167294"/>
            <a:ext cx="3393327" cy="2065504"/>
          </a:xfrm>
          <a:prstGeom prst="rect">
            <a:avLst/>
          </a:prstGeom>
        </p:spPr>
      </p:pic>
    </p:spTree>
    <p:extLst>
      <p:ext uri="{BB962C8B-B14F-4D97-AF65-F5344CB8AC3E}">
        <p14:creationId xmlns:p14="http://schemas.microsoft.com/office/powerpoint/2010/main" val="1241839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 Sample </a:t>
            </a:r>
            <a:r>
              <a:rPr lang="en-US" altLang="en-US" sz="3400" i="1" dirty="0"/>
              <a:t>z</a:t>
            </a:r>
            <a:r>
              <a:rPr lang="en-US" altLang="en-US" sz="3400" dirty="0"/>
              <a:t>-Test for the Difference Between Means </a:t>
            </a:r>
            <a:r>
              <a:rPr lang="en-US" altLang="en-US" sz="2000" b="0" dirty="0"/>
              <a:t>(3 of 4)</a:t>
            </a:r>
            <a:endParaRPr lang="en-IN" sz="20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288145612"/>
              </p:ext>
            </p:extLst>
          </p:nvPr>
        </p:nvGraphicFramePr>
        <p:xfrm>
          <a:off x="457200" y="1555750"/>
          <a:ext cx="8124825" cy="4497282"/>
        </p:xfrm>
        <a:graphic>
          <a:graphicData uri="http://schemas.openxmlformats.org/drawingml/2006/table">
            <a:tbl>
              <a:tblPr firstRow="1" bandRow="1">
                <a:tableStyleId>{2D5ABB26-0587-4C30-8999-92F81FD0307C}</a:tableStyleId>
              </a:tblPr>
              <a:tblGrid>
                <a:gridCol w="4465529">
                  <a:extLst>
                    <a:ext uri="{9D8B030D-6E8A-4147-A177-3AD203B41FA5}">
                      <a16:colId xmlns:a16="http://schemas.microsoft.com/office/drawing/2014/main" val="1093797638"/>
                    </a:ext>
                  </a:extLst>
                </a:gridCol>
                <a:gridCol w="3659296">
                  <a:extLst>
                    <a:ext uri="{9D8B030D-6E8A-4147-A177-3AD203B41FA5}">
                      <a16:colId xmlns:a16="http://schemas.microsoft.com/office/drawing/2014/main" val="2878060016"/>
                    </a:ext>
                  </a:extLst>
                </a:gridCol>
              </a:tblGrid>
              <a:tr h="511175">
                <a:tc>
                  <a:txBody>
                    <a:bodyPr/>
                    <a:lstStyle/>
                    <a:p>
                      <a:pPr algn="ctr"/>
                      <a:r>
                        <a:rPr lang="en-US" sz="2000" b="1" noProof="0" dirty="0"/>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noProof="0" dirty="0"/>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281681"/>
                  </a:ext>
                </a:extLst>
              </a:tr>
              <a:tr h="3986107">
                <a:tc>
                  <a:txBody>
                    <a:bodyPr/>
                    <a:lstStyle/>
                    <a:p>
                      <a:r>
                        <a:rPr lang="en-US" sz="2000" b="0" i="0" u="none" strike="noStrike" cap="none" baseline="0" noProof="0" dirty="0">
                          <a:solidFill>
                            <a:schemeClr val="tx1"/>
                          </a:solidFill>
                          <a:latin typeface="+mn-lt"/>
                          <a:ea typeface="+mn-ea"/>
                          <a:cs typeface="+mn-cs"/>
                          <a:sym typeface="Arial"/>
                        </a:rPr>
                        <a:t>The mean of the difference of the sample means is the assumed difference between the two population means. When no difference is assumed, the mean is 0.</a:t>
                      </a:r>
                    </a:p>
                    <a:p>
                      <a:endParaRPr lang="en-US" sz="2000" b="0" i="0" u="none" strike="noStrike" cap="none" baseline="0" noProof="0" dirty="0">
                        <a:solidFill>
                          <a:schemeClr val="tx1"/>
                        </a:solidFill>
                        <a:latin typeface="+mn-lt"/>
                        <a:ea typeface="+mn-ea"/>
                        <a:cs typeface="+mn-cs"/>
                        <a:sym typeface="Arial"/>
                      </a:endParaRPr>
                    </a:p>
                    <a:p>
                      <a:r>
                        <a:rPr lang="en-US" sz="2000" b="0" i="0" u="none" strike="noStrike" cap="none" baseline="0" noProof="0" dirty="0">
                          <a:solidFill>
                            <a:schemeClr val="tx1"/>
                          </a:solidFill>
                          <a:latin typeface="+mn-lt"/>
                          <a:ea typeface="+mn-ea"/>
                          <a:cs typeface="+mn-cs"/>
                          <a:sym typeface="Arial"/>
                        </a:rPr>
                        <a:t>The variance of the sampling distribution is the sum of the variances of the individual sampling distributions for </a:t>
                      </a:r>
                      <a:r>
                        <a:rPr lang="en-US" sz="400" b="0" i="0" u="none" strike="noStrike" cap="none" baseline="0" noProof="0" dirty="0">
                          <a:solidFill>
                            <a:schemeClr val="tx1"/>
                          </a:solidFill>
                          <a:latin typeface="+mn-lt"/>
                          <a:ea typeface="+mn-ea"/>
                          <a:cs typeface="+mn-cs"/>
                          <a:sym typeface="Arial"/>
                        </a:rPr>
                        <a:t>x sub 1 bar and x sub 2 bar.</a:t>
                      </a:r>
                      <a:r>
                        <a:rPr lang="en-US" sz="2000" b="0" i="0" u="none" strike="noStrike" cap="none" baseline="0" noProof="0" dirty="0">
                          <a:solidFill>
                            <a:schemeClr val="tx1"/>
                          </a:solidFill>
                          <a:latin typeface="+mn-lt"/>
                          <a:ea typeface="+mn-ea"/>
                          <a:cs typeface="+mn-cs"/>
                          <a:sym typeface="Arial"/>
                        </a:rPr>
                        <a:t>      The standard error is the square root of the sum of the variances.</a:t>
                      </a:r>
                      <a:endParaRPr lang="en-US" sz="20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t>Mean = mu sub start expression x sub 1 bar minus x sub 2 bar end expression. Mean = mu sub start expression x sub 1 bar minus x sub 2 bar end expression. Equals mu sub x sub 1 bar minus mu sub x sub 2 bar. Equals mu sub 1 minus mu sub 2.</a:t>
                      </a:r>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endParaRPr lang="en-US" sz="100" noProof="0" dirty="0"/>
                    </a:p>
                    <a:p>
                      <a:r>
                        <a:rPr lang="en-US" sz="100" noProof="0" dirty="0"/>
                        <a:t>Standard error = sigma sub start expression x sub 1 bar minus x sub 2 bar end expression. Equals square root of start expression sigma start fraction 2 over x sub 1 bar end fraction + sigma start fraction 2 over x sub 2 bar end fraction end expression. Equals square root of start expression start fraction sigma sub 1 squared over n sub 1 end fraction + start fraction sigma sub 2 squared over n sub 2 end fraction end expression.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9868520"/>
                  </a:ext>
                </a:extLst>
              </a:tr>
            </a:tbl>
          </a:graphicData>
        </a:graphic>
      </p:graphicFrame>
      <p:graphicFrame>
        <p:nvGraphicFramePr>
          <p:cNvPr id="13" name="Object 12">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86163323"/>
              </p:ext>
            </p:extLst>
          </p:nvPr>
        </p:nvGraphicFramePr>
        <p:xfrm>
          <a:off x="2309244" y="4849252"/>
          <a:ext cx="1070683" cy="330938"/>
        </p:xfrm>
        <a:graphic>
          <a:graphicData uri="http://schemas.openxmlformats.org/presentationml/2006/ole">
            <mc:AlternateContent xmlns:mc="http://schemas.openxmlformats.org/markup-compatibility/2006">
              <mc:Choice xmlns:v="urn:schemas-microsoft-com:vml" Requires="v">
                <p:oleObj name="Equation" r:id="rId2" imgW="1396800" imgH="431640" progId="Equation.DSMT4">
                  <p:embed/>
                </p:oleObj>
              </mc:Choice>
              <mc:Fallback>
                <p:oleObj name="Equation" r:id="rId2" imgW="1396800" imgH="431640" progId="Equation.DSMT4">
                  <p:embed/>
                  <p:pic>
                    <p:nvPicPr>
                      <p:cNvPr id="13" name="Object 12">
                        <a:extLst>
                          <a:ext uri="{C183D7F6-B498-43B3-948B-1728B52AA6E4}">
                            <adec:decorative xmlns:adec="http://schemas.microsoft.com/office/drawing/2017/decorative" val="1"/>
                          </a:ext>
                        </a:extLst>
                      </p:cNvPr>
                      <p:cNvPicPr/>
                      <p:nvPr/>
                    </p:nvPicPr>
                    <p:blipFill>
                      <a:blip r:embed="rId3"/>
                      <a:stretch>
                        <a:fillRect/>
                      </a:stretch>
                    </p:blipFill>
                    <p:spPr>
                      <a:xfrm>
                        <a:off x="2309244" y="4849252"/>
                        <a:ext cx="1070683" cy="330938"/>
                      </a:xfrm>
                      <a:prstGeom prst="rect">
                        <a:avLst/>
                      </a:prstGeom>
                      <a:solidFill>
                        <a:schemeClr val="bg1"/>
                      </a:solidFill>
                    </p:spPr>
                  </p:pic>
                </p:oleObj>
              </mc:Fallback>
            </mc:AlternateContent>
          </a:graphicData>
        </a:graphic>
      </p:graphicFrame>
      <p:graphicFrame>
        <p:nvGraphicFramePr>
          <p:cNvPr id="5" name="Object 4">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748406508"/>
              </p:ext>
            </p:extLst>
          </p:nvPr>
        </p:nvGraphicFramePr>
        <p:xfrm>
          <a:off x="4977161" y="2094639"/>
          <a:ext cx="1946275" cy="1343025"/>
        </p:xfrm>
        <a:graphic>
          <a:graphicData uri="http://schemas.openxmlformats.org/presentationml/2006/ole">
            <mc:AlternateContent xmlns:mc="http://schemas.openxmlformats.org/markup-compatibility/2006">
              <mc:Choice xmlns:v="urn:schemas-microsoft-com:vml" Requires="v">
                <p:oleObj name="Equation" r:id="rId4" imgW="1066680" imgH="736560" progId="Equation.DSMT4">
                  <p:embed/>
                </p:oleObj>
              </mc:Choice>
              <mc:Fallback>
                <p:oleObj name="Equation" r:id="rId4" imgW="1066680" imgH="736560" progId="Equation.DSMT4">
                  <p:embed/>
                  <p:pic>
                    <p:nvPicPr>
                      <p:cNvPr id="5" name="Object 4">
                        <a:extLst>
                          <a:ext uri="{C183D7F6-B498-43B3-948B-1728B52AA6E4}">
                            <adec:decorative xmlns:adec="http://schemas.microsoft.com/office/drawing/2017/decorative" val="1"/>
                          </a:ext>
                        </a:extLst>
                      </p:cNvPr>
                      <p:cNvPicPr/>
                      <p:nvPr/>
                    </p:nvPicPr>
                    <p:blipFill>
                      <a:blip r:embed="rId5"/>
                      <a:stretch>
                        <a:fillRect/>
                      </a:stretch>
                    </p:blipFill>
                    <p:spPr>
                      <a:xfrm>
                        <a:off x="4977161" y="2094639"/>
                        <a:ext cx="1946275" cy="1343025"/>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72939246"/>
              </p:ext>
            </p:extLst>
          </p:nvPr>
        </p:nvGraphicFramePr>
        <p:xfrm>
          <a:off x="4977161" y="3916595"/>
          <a:ext cx="3330575" cy="1865313"/>
        </p:xfrm>
        <a:graphic>
          <a:graphicData uri="http://schemas.openxmlformats.org/presentationml/2006/ole">
            <mc:AlternateContent xmlns:mc="http://schemas.openxmlformats.org/markup-compatibility/2006">
              <mc:Choice xmlns:v="urn:schemas-microsoft-com:vml" Requires="v">
                <p:oleObj name="Equation" r:id="rId6" imgW="1879560" imgH="1054080" progId="Equation.DSMT4">
                  <p:embed/>
                </p:oleObj>
              </mc:Choice>
              <mc:Fallback>
                <p:oleObj name="Equation" r:id="rId6" imgW="1879560" imgH="1054080" progId="Equation.DSMT4">
                  <p:embed/>
                  <p:pic>
                    <p:nvPicPr>
                      <p:cNvPr id="9" name="Object 8">
                        <a:extLst>
                          <a:ext uri="{C183D7F6-B498-43B3-948B-1728B52AA6E4}">
                            <adec:decorative xmlns:adec="http://schemas.microsoft.com/office/drawing/2017/decorative" val="1"/>
                          </a:ext>
                        </a:extLst>
                      </p:cNvPr>
                      <p:cNvPicPr/>
                      <p:nvPr/>
                    </p:nvPicPr>
                    <p:blipFill>
                      <a:blip r:embed="rId7"/>
                      <a:stretch>
                        <a:fillRect/>
                      </a:stretch>
                    </p:blipFill>
                    <p:spPr>
                      <a:xfrm>
                        <a:off x="4977161" y="3916595"/>
                        <a:ext cx="3330575" cy="186531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266177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 Sample </a:t>
            </a:r>
            <a:r>
              <a:rPr lang="en-US" altLang="en-US" sz="3400" i="1" dirty="0"/>
              <a:t>z</a:t>
            </a:r>
            <a:r>
              <a:rPr lang="en-US" altLang="en-US" sz="3400" dirty="0"/>
              <a:t>-Test for the Difference Between Means </a:t>
            </a:r>
            <a:r>
              <a:rPr lang="en-US" altLang="en-US" sz="2000" b="0" dirty="0"/>
              <a:t>(4 of 4)</a:t>
            </a:r>
            <a:endParaRPr lang="en-IN" sz="2000" dirty="0"/>
          </a:p>
        </p:txBody>
      </p:sp>
      <p:sp>
        <p:nvSpPr>
          <p:cNvPr id="4" name="Content Placeholder 3"/>
          <p:cNvSpPr>
            <a:spLocks noGrp="1"/>
          </p:cNvSpPr>
          <p:nvPr>
            <p:ph sz="quarter" idx="13"/>
          </p:nvPr>
        </p:nvSpPr>
        <p:spPr>
          <a:xfrm>
            <a:off x="457200" y="1552575"/>
            <a:ext cx="8229599" cy="383103"/>
          </a:xfrm>
        </p:spPr>
        <p:txBody>
          <a:bodyPr/>
          <a:lstStyle/>
          <a:p>
            <a:pPr marL="432" indent="0">
              <a:buNone/>
            </a:pPr>
            <a:r>
              <a:rPr lang="en-US" sz="2200" dirty="0"/>
              <a:t>A </a:t>
            </a:r>
            <a:r>
              <a:rPr lang="en-US" sz="2200" b="1" dirty="0"/>
              <a:t>two-sample </a:t>
            </a:r>
            <a:r>
              <a:rPr lang="en-US" sz="2200" b="1" i="1" dirty="0"/>
              <a:t>z</a:t>
            </a:r>
            <a:r>
              <a:rPr lang="en-US" sz="2200" dirty="0"/>
              <a:t>-</a:t>
            </a:r>
            <a:r>
              <a:rPr lang="en-US" sz="2200" b="1" dirty="0"/>
              <a:t>test </a:t>
            </a:r>
            <a:r>
              <a:rPr lang="en-US" sz="2200" dirty="0"/>
              <a:t>can be used to test the difference between</a:t>
            </a:r>
            <a:endParaRPr lang="en-IN" sz="2200" dirty="0"/>
          </a:p>
        </p:txBody>
      </p:sp>
      <p:sp>
        <p:nvSpPr>
          <p:cNvPr id="5" name="Content Placeholder 4"/>
          <p:cNvSpPr>
            <a:spLocks noGrp="1"/>
          </p:cNvSpPr>
          <p:nvPr>
            <p:ph sz="quarter" idx="14"/>
          </p:nvPr>
        </p:nvSpPr>
        <p:spPr>
          <a:xfrm>
            <a:off x="457200" y="2006930"/>
            <a:ext cx="2891642" cy="368135"/>
          </a:xfrm>
        </p:spPr>
        <p:txBody>
          <a:bodyPr/>
          <a:lstStyle/>
          <a:p>
            <a:pPr marL="432" indent="0">
              <a:buNone/>
            </a:pPr>
            <a:r>
              <a:rPr lang="en-US" sz="2200" dirty="0"/>
              <a:t>two population means</a:t>
            </a:r>
            <a:endParaRPr lang="en-IN" sz="2200" dirty="0"/>
          </a:p>
        </p:txBody>
      </p:sp>
      <p:graphicFrame>
        <p:nvGraphicFramePr>
          <p:cNvPr id="18" name="Object 17" descr="mu subscript 1 and mu subscript 2"/>
          <p:cNvGraphicFramePr>
            <a:graphicFrameLocks noChangeAspect="1"/>
          </p:cNvGraphicFramePr>
          <p:nvPr>
            <p:extLst>
              <p:ext uri="{D42A27DB-BD31-4B8C-83A1-F6EECF244321}">
                <p14:modId xmlns:p14="http://schemas.microsoft.com/office/powerpoint/2010/main" val="3405526836"/>
              </p:ext>
            </p:extLst>
          </p:nvPr>
        </p:nvGraphicFramePr>
        <p:xfrm>
          <a:off x="3424099" y="2000044"/>
          <a:ext cx="1207275" cy="369795"/>
        </p:xfrm>
        <a:graphic>
          <a:graphicData uri="http://schemas.openxmlformats.org/presentationml/2006/ole">
            <mc:AlternateContent xmlns:mc="http://schemas.openxmlformats.org/markup-compatibility/2006">
              <mc:Choice xmlns:v="urn:schemas-microsoft-com:vml" Requires="v">
                <p:oleObj name="Equation" r:id="rId2" imgW="1409400" imgH="431640" progId="Equation.DSMT4">
                  <p:embed/>
                </p:oleObj>
              </mc:Choice>
              <mc:Fallback>
                <p:oleObj name="Equation" r:id="rId2" imgW="1409400" imgH="431640" progId="Equation.DSMT4">
                  <p:embed/>
                  <p:pic>
                    <p:nvPicPr>
                      <p:cNvPr id="18" name="Object 17" descr="mu subscript 1 and mu subscript 2"/>
                      <p:cNvPicPr/>
                      <p:nvPr/>
                    </p:nvPicPr>
                    <p:blipFill>
                      <a:blip r:embed="rId3"/>
                      <a:stretch>
                        <a:fillRect/>
                      </a:stretch>
                    </p:blipFill>
                    <p:spPr>
                      <a:xfrm>
                        <a:off x="3424099" y="2000044"/>
                        <a:ext cx="1207275" cy="369795"/>
                      </a:xfrm>
                      <a:prstGeom prst="rect">
                        <a:avLst/>
                      </a:prstGeom>
                    </p:spPr>
                  </p:pic>
                </p:oleObj>
              </mc:Fallback>
            </mc:AlternateContent>
          </a:graphicData>
        </a:graphic>
      </p:graphicFrame>
      <p:sp>
        <p:nvSpPr>
          <p:cNvPr id="6" name="Content Placeholder 5"/>
          <p:cNvSpPr>
            <a:spLocks noGrp="1"/>
          </p:cNvSpPr>
          <p:nvPr>
            <p:ph sz="quarter" idx="15"/>
          </p:nvPr>
        </p:nvSpPr>
        <p:spPr>
          <a:xfrm>
            <a:off x="4713288" y="2006930"/>
            <a:ext cx="4038826" cy="368135"/>
          </a:xfrm>
        </p:spPr>
        <p:txBody>
          <a:bodyPr/>
          <a:lstStyle/>
          <a:p>
            <a:pPr marL="432" indent="0">
              <a:buNone/>
            </a:pPr>
            <a:r>
              <a:rPr lang="en-US" sz="2200" dirty="0"/>
              <a:t>when these conditions are met.</a:t>
            </a:r>
          </a:p>
        </p:txBody>
      </p:sp>
      <p:sp>
        <p:nvSpPr>
          <p:cNvPr id="8" name="Content Placeholder 7"/>
          <p:cNvSpPr>
            <a:spLocks noGrp="1"/>
          </p:cNvSpPr>
          <p:nvPr>
            <p:ph sz="quarter" idx="17"/>
          </p:nvPr>
        </p:nvSpPr>
        <p:spPr>
          <a:xfrm>
            <a:off x="457201" y="2556876"/>
            <a:ext cx="1134094" cy="388205"/>
          </a:xfrm>
        </p:spPr>
        <p:txBody>
          <a:bodyPr/>
          <a:lstStyle/>
          <a:p>
            <a:pPr marL="432000" indent="-432000">
              <a:buFont typeface="+mj-lt"/>
              <a:buAutoNum type="arabicPeriod"/>
            </a:pPr>
            <a:r>
              <a:rPr lang="en-US" sz="2200" dirty="0"/>
              <a:t>Both</a:t>
            </a:r>
            <a:endParaRPr lang="en-IN" sz="2200" dirty="0"/>
          </a:p>
        </p:txBody>
      </p:sp>
      <p:graphicFrame>
        <p:nvGraphicFramePr>
          <p:cNvPr id="19" name="Object 18" descr="sigma subscript 1 and sigma subscript 2"/>
          <p:cNvGraphicFramePr>
            <a:graphicFrameLocks noChangeAspect="1"/>
          </p:cNvGraphicFramePr>
          <p:nvPr>
            <p:extLst>
              <p:ext uri="{D42A27DB-BD31-4B8C-83A1-F6EECF244321}">
                <p14:modId xmlns:p14="http://schemas.microsoft.com/office/powerpoint/2010/main" val="2285398515"/>
              </p:ext>
            </p:extLst>
          </p:nvPr>
        </p:nvGraphicFramePr>
        <p:xfrm>
          <a:off x="1678290" y="2533486"/>
          <a:ext cx="1293091" cy="392545"/>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19" name="Object 18" descr="sigma subscript 1 and sigma subscript 2"/>
                      <p:cNvPicPr/>
                      <p:nvPr/>
                    </p:nvPicPr>
                    <p:blipFill>
                      <a:blip r:embed="rId5"/>
                      <a:stretch>
                        <a:fillRect/>
                      </a:stretch>
                    </p:blipFill>
                    <p:spPr>
                      <a:xfrm>
                        <a:off x="1678290" y="2533486"/>
                        <a:ext cx="1293091" cy="392545"/>
                      </a:xfrm>
                      <a:prstGeom prst="rect">
                        <a:avLst/>
                      </a:prstGeom>
                    </p:spPr>
                  </p:pic>
                </p:oleObj>
              </mc:Fallback>
            </mc:AlternateContent>
          </a:graphicData>
        </a:graphic>
      </p:graphicFrame>
      <p:sp>
        <p:nvSpPr>
          <p:cNvPr id="9" name="Content Placeholder 8"/>
          <p:cNvSpPr>
            <a:spLocks noGrp="1"/>
          </p:cNvSpPr>
          <p:nvPr>
            <p:ph sz="quarter" idx="18"/>
          </p:nvPr>
        </p:nvSpPr>
        <p:spPr>
          <a:xfrm>
            <a:off x="3115527" y="2556877"/>
            <a:ext cx="1575226" cy="388204"/>
          </a:xfrm>
        </p:spPr>
        <p:txBody>
          <a:bodyPr/>
          <a:lstStyle/>
          <a:p>
            <a:pPr marL="0" indent="0">
              <a:spcBef>
                <a:spcPts val="0"/>
              </a:spcBef>
              <a:buNone/>
            </a:pPr>
            <a:r>
              <a:rPr lang="en-US" sz="2200" dirty="0"/>
              <a:t>are known.</a:t>
            </a:r>
          </a:p>
        </p:txBody>
      </p:sp>
      <p:sp>
        <p:nvSpPr>
          <p:cNvPr id="10" name="Content Placeholder 9"/>
          <p:cNvSpPr>
            <a:spLocks noGrp="1"/>
          </p:cNvSpPr>
          <p:nvPr>
            <p:ph sz="quarter" idx="19"/>
          </p:nvPr>
        </p:nvSpPr>
        <p:spPr>
          <a:xfrm>
            <a:off x="457201" y="3043126"/>
            <a:ext cx="6537366" cy="1220116"/>
          </a:xfrm>
        </p:spPr>
        <p:txBody>
          <a:bodyPr/>
          <a:lstStyle/>
          <a:p>
            <a:pPr marL="432000" indent="-432000">
              <a:spcBef>
                <a:spcPts val="600"/>
              </a:spcBef>
              <a:buFont typeface="+mj-lt"/>
              <a:buAutoNum type="arabicPeriod" startAt="2"/>
            </a:pPr>
            <a:r>
              <a:rPr lang="en-US" sz="2200" dirty="0"/>
              <a:t>The samples are random.</a:t>
            </a:r>
          </a:p>
          <a:p>
            <a:pPr marL="432000" indent="-432000">
              <a:spcBef>
                <a:spcPts val="600"/>
              </a:spcBef>
              <a:buFont typeface="+mj-lt"/>
              <a:buAutoNum type="arabicPeriod" startAt="2"/>
            </a:pPr>
            <a:r>
              <a:rPr lang="en-US" sz="2200" dirty="0"/>
              <a:t>The samples are independent.</a:t>
            </a:r>
          </a:p>
          <a:p>
            <a:pPr marL="432000" indent="-432000">
              <a:spcBef>
                <a:spcPts val="600"/>
              </a:spcBef>
              <a:buFont typeface="+mj-lt"/>
              <a:buAutoNum type="arabicPeriod" startAt="2"/>
            </a:pPr>
            <a:r>
              <a:rPr lang="en-US" sz="2200" dirty="0"/>
              <a:t>The populations are normally distributed or</a:t>
            </a:r>
            <a:r>
              <a:rPr lang="en-US" sz="2200" i="1" dirty="0"/>
              <a:t> </a:t>
            </a:r>
            <a:r>
              <a:rPr lang="en-US" sz="2200" dirty="0"/>
              <a:t>both</a:t>
            </a:r>
            <a:endParaRPr lang="en-IN" sz="2200" dirty="0"/>
          </a:p>
        </p:txBody>
      </p:sp>
      <p:graphicFrame>
        <p:nvGraphicFramePr>
          <p:cNvPr id="20" name="Object 19" descr="n subscript 1 greater than or equals to 30 and n subscript 2 greater than or equals to 30"/>
          <p:cNvGraphicFramePr>
            <a:graphicFrameLocks noChangeAspect="1"/>
          </p:cNvGraphicFramePr>
          <p:nvPr>
            <p:extLst>
              <p:ext uri="{D42A27DB-BD31-4B8C-83A1-F6EECF244321}">
                <p14:modId xmlns:p14="http://schemas.microsoft.com/office/powerpoint/2010/main" val="3820049842"/>
              </p:ext>
            </p:extLst>
          </p:nvPr>
        </p:nvGraphicFramePr>
        <p:xfrm>
          <a:off x="900083" y="4331855"/>
          <a:ext cx="2440891" cy="377228"/>
        </p:xfrm>
        <a:graphic>
          <a:graphicData uri="http://schemas.openxmlformats.org/presentationml/2006/ole">
            <mc:AlternateContent xmlns:mc="http://schemas.openxmlformats.org/markup-compatibility/2006">
              <mc:Choice xmlns:v="urn:schemas-microsoft-com:vml" Requires="v">
                <p:oleObj name="Equation" r:id="rId6" imgW="2793960" imgH="431640" progId="Equation.DSMT4">
                  <p:embed/>
                </p:oleObj>
              </mc:Choice>
              <mc:Fallback>
                <p:oleObj name="Equation" r:id="rId6" imgW="2793960" imgH="431640" progId="Equation.DSMT4">
                  <p:embed/>
                  <p:pic>
                    <p:nvPicPr>
                      <p:cNvPr id="20" name="Object 19" descr="n subscript 1 greater than or equals to 30 and n subscript 2 greater than or equals to 30"/>
                      <p:cNvPicPr/>
                      <p:nvPr/>
                    </p:nvPicPr>
                    <p:blipFill>
                      <a:blip r:embed="rId7"/>
                      <a:stretch>
                        <a:fillRect/>
                      </a:stretch>
                    </p:blipFill>
                    <p:spPr>
                      <a:xfrm>
                        <a:off x="900083" y="4331855"/>
                        <a:ext cx="2440891" cy="377228"/>
                      </a:xfrm>
                      <a:prstGeom prst="rect">
                        <a:avLst/>
                      </a:prstGeom>
                    </p:spPr>
                  </p:pic>
                </p:oleObj>
              </mc:Fallback>
            </mc:AlternateContent>
          </a:graphicData>
        </a:graphic>
      </p:graphicFrame>
      <p:sp>
        <p:nvSpPr>
          <p:cNvPr id="11" name="Content Placeholder 10"/>
          <p:cNvSpPr>
            <a:spLocks noGrp="1"/>
          </p:cNvSpPr>
          <p:nvPr>
            <p:ph sz="quarter" idx="20"/>
          </p:nvPr>
        </p:nvSpPr>
        <p:spPr>
          <a:xfrm>
            <a:off x="431800" y="4829175"/>
            <a:ext cx="2596407" cy="372217"/>
          </a:xfrm>
        </p:spPr>
        <p:txBody>
          <a:bodyPr/>
          <a:lstStyle/>
          <a:p>
            <a:pPr marL="432" indent="0">
              <a:buNone/>
            </a:pPr>
            <a:r>
              <a:rPr lang="en-US" sz="2200" dirty="0"/>
              <a:t>The </a:t>
            </a:r>
            <a:r>
              <a:rPr lang="en-US" sz="2200" b="1" dirty="0"/>
              <a:t>test statistic </a:t>
            </a:r>
            <a:r>
              <a:rPr lang="en-US" sz="2200" dirty="0"/>
              <a:t>is</a:t>
            </a:r>
            <a:endParaRPr lang="en-IN" sz="2200" dirty="0"/>
          </a:p>
        </p:txBody>
      </p:sp>
      <p:graphicFrame>
        <p:nvGraphicFramePr>
          <p:cNvPr id="22" name="Object 21" descr="mu subscript 1 minus mu subscript 2"/>
          <p:cNvGraphicFramePr>
            <a:graphicFrameLocks noChangeAspect="1"/>
          </p:cNvGraphicFramePr>
          <p:nvPr>
            <p:extLst>
              <p:ext uri="{D42A27DB-BD31-4B8C-83A1-F6EECF244321}">
                <p14:modId xmlns:p14="http://schemas.microsoft.com/office/powerpoint/2010/main" val="3176800206"/>
              </p:ext>
            </p:extLst>
          </p:nvPr>
        </p:nvGraphicFramePr>
        <p:xfrm>
          <a:off x="3103651" y="4841051"/>
          <a:ext cx="777875" cy="355600"/>
        </p:xfrm>
        <a:graphic>
          <a:graphicData uri="http://schemas.openxmlformats.org/presentationml/2006/ole">
            <mc:AlternateContent xmlns:mc="http://schemas.openxmlformats.org/markup-compatibility/2006">
              <mc:Choice xmlns:v="urn:schemas-microsoft-com:vml" Requires="v">
                <p:oleObj name="Equation" r:id="rId8" imgW="939600" imgH="431640" progId="Equation.DSMT4">
                  <p:embed/>
                </p:oleObj>
              </mc:Choice>
              <mc:Fallback>
                <p:oleObj name="Equation" r:id="rId8" imgW="939600" imgH="431640" progId="Equation.DSMT4">
                  <p:embed/>
                  <p:pic>
                    <p:nvPicPr>
                      <p:cNvPr id="22" name="Object 21" descr="mu subscript 1 minus mu subscript 2"/>
                      <p:cNvPicPr/>
                      <p:nvPr/>
                    </p:nvPicPr>
                    <p:blipFill>
                      <a:blip r:embed="rId9"/>
                      <a:stretch>
                        <a:fillRect/>
                      </a:stretch>
                    </p:blipFill>
                    <p:spPr>
                      <a:xfrm>
                        <a:off x="3103651" y="4841051"/>
                        <a:ext cx="777875" cy="355600"/>
                      </a:xfrm>
                      <a:prstGeom prst="rect">
                        <a:avLst/>
                      </a:prstGeom>
                      <a:solidFill>
                        <a:schemeClr val="bg1"/>
                      </a:solidFill>
                    </p:spPr>
                  </p:pic>
                </p:oleObj>
              </mc:Fallback>
            </mc:AlternateContent>
          </a:graphicData>
        </a:graphic>
      </p:graphicFrame>
      <p:sp>
        <p:nvSpPr>
          <p:cNvPr id="12" name="Content Placeholder 11"/>
          <p:cNvSpPr>
            <a:spLocks noGrp="1"/>
          </p:cNvSpPr>
          <p:nvPr>
            <p:ph sz="quarter" idx="21"/>
          </p:nvPr>
        </p:nvSpPr>
        <p:spPr>
          <a:xfrm>
            <a:off x="4040095" y="4829175"/>
            <a:ext cx="4415134" cy="395968"/>
          </a:xfrm>
        </p:spPr>
        <p:txBody>
          <a:bodyPr/>
          <a:lstStyle/>
          <a:p>
            <a:pPr marL="432" indent="0">
              <a:buNone/>
            </a:pPr>
            <a:r>
              <a:rPr lang="en-US" sz="2200" dirty="0"/>
              <a:t>The </a:t>
            </a:r>
            <a:r>
              <a:rPr lang="en-US" sz="2200" b="1" dirty="0"/>
              <a:t>standardized test statistic </a:t>
            </a:r>
            <a:r>
              <a:rPr lang="en-US" sz="2200" dirty="0"/>
              <a:t>is</a:t>
            </a:r>
            <a:endParaRPr lang="en-IN" sz="2200" dirty="0"/>
          </a:p>
        </p:txBody>
      </p:sp>
      <p:graphicFrame>
        <p:nvGraphicFramePr>
          <p:cNvPr id="23" name="Object 4" descr="z equals fraction numerator open parenthesis x bar subscript 1 minus x bar subscript 2 close parenthesis minus open parenthesis mu subscript 1 minus mu subscript 2 close parenthesis divided by denominator sigma subscript x bar subscript 1 minus x bar subscript 2 end subscript end fraction where sigma subscript x bar subscript 1 minus x bar subscript 2 end subscript equals square root of fraction numerator sigma squared subscript 1 divided by denominator n subscript 1 end fraction plus fraction numerator sigma squared subscript 2 divided by denominator n subscript 2 end fraction">
            <a:extLst>
              <a:ext uri="{FF2B5EF4-FFF2-40B4-BE49-F238E27FC236}">
                <a16:creationId xmlns:a16="http://schemas.microsoft.com/office/drawing/2014/main" id="{EF50DA2B-B09E-4995-A3EE-4D3F78347467}"/>
              </a:ext>
            </a:extLst>
          </p:cNvPr>
          <p:cNvGraphicFramePr>
            <a:graphicFrameLocks noChangeAspect="1"/>
          </p:cNvGraphicFramePr>
          <p:nvPr>
            <p:extLst>
              <p:ext uri="{D42A27DB-BD31-4B8C-83A1-F6EECF244321}">
                <p14:modId xmlns:p14="http://schemas.microsoft.com/office/powerpoint/2010/main" val="1277255156"/>
              </p:ext>
            </p:extLst>
          </p:nvPr>
        </p:nvGraphicFramePr>
        <p:xfrm>
          <a:off x="1447800" y="5357111"/>
          <a:ext cx="6045200" cy="889000"/>
        </p:xfrm>
        <a:graphic>
          <a:graphicData uri="http://schemas.openxmlformats.org/presentationml/2006/ole">
            <mc:AlternateContent xmlns:mc="http://schemas.openxmlformats.org/markup-compatibility/2006">
              <mc:Choice xmlns:v="urn:schemas-microsoft-com:vml" Requires="v">
                <p:oleObj name="Equation" r:id="rId10" imgW="6045120" imgH="888840" progId="Equation.DSMT4">
                  <p:embed/>
                </p:oleObj>
              </mc:Choice>
              <mc:Fallback>
                <p:oleObj name="Equation" r:id="rId10" imgW="6045120" imgH="888840" progId="Equation.DSMT4">
                  <p:embed/>
                  <p:pic>
                    <p:nvPicPr>
                      <p:cNvPr id="23" name="Object 4" descr="z equals fraction numerator open parenthesis x bar subscript 1 minus x bar subscript 2 close parenthesis minus open parenthesis mu subscript 1 minus mu subscript 2 close parenthesis divided by denominator sigma subscript x bar subscript 1 minus x bar subscript 2 end subscript end fraction where sigma subscript x bar subscript 1 minus x bar subscript 2 end subscript equals square root of fraction numerator sigma squared subscript 1 divided by denominator n subscript 1 end fraction plus fraction numerator sigma squared subscript 2 divided by denominator n subscript 2 end fraction">
                        <a:extLst>
                          <a:ext uri="{FF2B5EF4-FFF2-40B4-BE49-F238E27FC236}">
                            <a16:creationId xmlns:a16="http://schemas.microsoft.com/office/drawing/2014/main" id="{EF50DA2B-B09E-4995-A3EE-4D3F78347467}"/>
                          </a:ext>
                        </a:extLst>
                      </p:cNvPr>
                      <p:cNvPicPr>
                        <a:picLocks noChangeAspect="1" noChangeArrowheads="1"/>
                      </p:cNvPicPr>
                      <p:nvPr/>
                    </p:nvPicPr>
                    <p:blipFill>
                      <a:blip r:embed="rId11"/>
                      <a:srcRect/>
                      <a:stretch>
                        <a:fillRect/>
                      </a:stretch>
                    </p:blipFill>
                    <p:spPr bwMode="auto">
                      <a:xfrm>
                        <a:off x="1447800" y="5357111"/>
                        <a:ext cx="6045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368381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251"/>
            <a:ext cx="8229600" cy="1241399"/>
          </a:xfrm>
        </p:spPr>
        <p:txBody>
          <a:bodyPr/>
          <a:lstStyle/>
          <a:p>
            <a:r>
              <a:rPr lang="en-US" sz="2600" dirty="0"/>
              <a:t>Using a Two-Sample </a:t>
            </a:r>
            <a:r>
              <a:rPr lang="en-US" sz="2600" i="1" dirty="0"/>
              <a:t>z</a:t>
            </a:r>
            <a:r>
              <a:rPr lang="en-US" sz="2600" dirty="0"/>
              <a:t>-Test for the Difference Between Means (Independent Samples, Sigma Subscript 1 and Sigma Subscript 2 Known) </a:t>
            </a:r>
            <a:r>
              <a:rPr lang="en-US" sz="2000" b="0" dirty="0"/>
              <a:t>(1 of 3)</a:t>
            </a:r>
          </a:p>
        </p:txBody>
      </p:sp>
      <p:graphicFrame>
        <p:nvGraphicFramePr>
          <p:cNvPr id="18" name="Content Placeholder 17"/>
          <p:cNvGraphicFramePr>
            <a:graphicFrameLocks noGrp="1"/>
          </p:cNvGraphicFramePr>
          <p:nvPr>
            <p:ph sz="quarter" idx="13"/>
            <p:extLst>
              <p:ext uri="{D42A27DB-BD31-4B8C-83A1-F6EECF244321}">
                <p14:modId xmlns:p14="http://schemas.microsoft.com/office/powerpoint/2010/main" val="2816363927"/>
              </p:ext>
            </p:extLst>
          </p:nvPr>
        </p:nvGraphicFramePr>
        <p:xfrm>
          <a:off x="457200" y="1555750"/>
          <a:ext cx="8229600" cy="3832326"/>
        </p:xfrm>
        <a:graphic>
          <a:graphicData uri="http://schemas.openxmlformats.org/drawingml/2006/table">
            <a:tbl>
              <a:tblPr firstRow="1" bandRow="1">
                <a:tableStyleId>{2D5ABB26-0587-4C30-8999-92F81FD0307C}</a:tableStyleId>
              </a:tblPr>
              <a:tblGrid>
                <a:gridCol w="5124203">
                  <a:extLst>
                    <a:ext uri="{9D8B030D-6E8A-4147-A177-3AD203B41FA5}">
                      <a16:colId xmlns:a16="http://schemas.microsoft.com/office/drawing/2014/main" val="3151396653"/>
                    </a:ext>
                  </a:extLst>
                </a:gridCol>
                <a:gridCol w="3105397">
                  <a:extLst>
                    <a:ext uri="{9D8B030D-6E8A-4147-A177-3AD203B41FA5}">
                      <a16:colId xmlns:a16="http://schemas.microsoft.com/office/drawing/2014/main" val="3448214394"/>
                    </a:ext>
                  </a:extLst>
                </a:gridCol>
              </a:tblGrid>
              <a:tr h="517325">
                <a:tc>
                  <a:txBody>
                    <a:bodyPr/>
                    <a:lstStyle/>
                    <a:p>
                      <a:r>
                        <a:rPr lang="en-US" sz="2200" b="1" noProof="0" dirty="0">
                          <a:latin typeface="+mn-lt"/>
                        </a:rPr>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dirty="0">
                          <a:latin typeface="+mn-lt"/>
                        </a:rPr>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226495"/>
                  </a:ext>
                </a:extLst>
              </a:tr>
              <a:tr h="1603575">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en-US" sz="2200" noProof="0" dirty="0">
                          <a:solidFill>
                            <a:srgbClr val="000000"/>
                          </a:solidFill>
                          <a:latin typeface="+mn-lt"/>
                          <a:cs typeface="Times New Roman" panose="02020603050405020304" pitchFamily="18" charset="0"/>
                        </a:rPr>
                        <a:t>1. Verify that </a:t>
                      </a:r>
                      <a:r>
                        <a:rPr lang="en-US" altLang="en-US" sz="400" noProof="0" dirty="0">
                          <a:solidFill>
                            <a:srgbClr val="000000"/>
                          </a:solidFill>
                          <a:latin typeface="+mn-lt"/>
                          <a:cs typeface="Times New Roman" panose="02020603050405020304" pitchFamily="18" charset="0"/>
                        </a:rPr>
                        <a:t>sigma sub 1 and sigma sub 2</a:t>
                      </a:r>
                      <a:r>
                        <a:rPr lang="en-US" altLang="en-US" sz="600" noProof="0" dirty="0">
                          <a:solidFill>
                            <a:srgbClr val="000000"/>
                          </a:solidFill>
                          <a:latin typeface="+mn-lt"/>
                          <a:cs typeface="Times New Roman" panose="02020603050405020304" pitchFamily="18" charset="0"/>
                        </a:rPr>
                        <a:t> </a:t>
                      </a:r>
                      <a:r>
                        <a:rPr lang="en-US" altLang="en-US" sz="2200" noProof="0" dirty="0">
                          <a:solidFill>
                            <a:srgbClr val="000000"/>
                          </a:solidFill>
                          <a:latin typeface="+mn-lt"/>
                          <a:cs typeface="Times New Roman" panose="02020603050405020304" pitchFamily="18" charset="0"/>
                        </a:rPr>
                        <a:t>       </a:t>
                      </a:r>
                      <a:r>
                        <a:rPr lang="en-US" altLang="en-US" sz="2200" noProof="0" dirty="0">
                          <a:solidFill>
                            <a:srgbClr val="000000"/>
                          </a:solidFill>
                          <a:latin typeface="+mn-lt"/>
                          <a:cs typeface="Times New Roman" panose="02020603050405020304" pitchFamily="18" charset="0"/>
                          <a:sym typeface="Symbol" panose="05050102010706020507" pitchFamily="18" charset="2"/>
                        </a:rPr>
                        <a:t>are known, the samples are random and independent, and either the populations are normally distributed </a:t>
                      </a:r>
                      <a:r>
                        <a:rPr lang="en-US" altLang="en-US" sz="2200" i="0" noProof="0" dirty="0">
                          <a:solidFill>
                            <a:srgbClr val="000000"/>
                          </a:solidFill>
                          <a:latin typeface="+mn-lt"/>
                          <a:cs typeface="Times New Roman" panose="02020603050405020304" pitchFamily="18" charset="0"/>
                          <a:sym typeface="Symbol" panose="05050102010706020507" pitchFamily="18" charset="2"/>
                        </a:rPr>
                        <a:t>or</a:t>
                      </a:r>
                      <a:r>
                        <a:rPr lang="en-US" altLang="en-US" sz="2200" noProof="0" dirty="0">
                          <a:solidFill>
                            <a:srgbClr val="000000"/>
                          </a:solidFill>
                          <a:latin typeface="+mn-lt"/>
                          <a:cs typeface="Times New Roman" panose="02020603050405020304" pitchFamily="18" charset="0"/>
                          <a:sym typeface="Symbol" panose="05050102010706020507" pitchFamily="18" charset="2"/>
                        </a:rPr>
                        <a:t> both</a:t>
                      </a:r>
                      <a:r>
                        <a:rPr lang="en-US" altLang="en-US" sz="1600" noProof="0" dirty="0">
                          <a:solidFill>
                            <a:srgbClr val="000000"/>
                          </a:solidFill>
                          <a:latin typeface="+mn-lt"/>
                          <a:cs typeface="Times New Roman" panose="02020603050405020304" pitchFamily="18" charset="0"/>
                          <a:sym typeface="Symbol" panose="05050102010706020507" pitchFamily="18" charset="2"/>
                        </a:rPr>
                        <a:t>  </a:t>
                      </a:r>
                      <a:r>
                        <a:rPr lang="en-US" altLang="en-US" sz="400" noProof="0" dirty="0">
                          <a:solidFill>
                            <a:srgbClr val="000000"/>
                          </a:solidFill>
                          <a:latin typeface="+mn-lt"/>
                          <a:cs typeface="Times New Roman" panose="02020603050405020304" pitchFamily="18" charset="0"/>
                          <a:sym typeface="Symbol" panose="05050102010706020507" pitchFamily="18" charset="2"/>
                        </a:rPr>
                        <a:t>n sub 1 greater than or equal to 30 and n sub 2 greater than or equal to 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664602"/>
                  </a:ext>
                </a:extLst>
              </a:tr>
              <a:tr h="17114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cs typeface="Arial" panose="020B0604020202020204" pitchFamily="34" charset="0"/>
                        </a:rPr>
                        <a:t>2. State the claim mathematically and verbally.</a:t>
                      </a:r>
                      <a:r>
                        <a:rPr lang="en-US" altLang="en-US" sz="2200" baseline="0" noProof="0" dirty="0">
                          <a:latin typeface="+mn-lt"/>
                          <a:cs typeface="Arial" panose="020B0604020202020204" pitchFamily="34" charset="0"/>
                        </a:rPr>
                        <a:t> </a:t>
                      </a:r>
                      <a:r>
                        <a:rPr lang="en-US" altLang="en-US" sz="2200" noProof="0" dirty="0">
                          <a:latin typeface="+mn-lt"/>
                          <a:cs typeface="Arial" panose="020B0604020202020204" pitchFamily="34" charset="0"/>
                        </a:rPr>
                        <a:t>Identify the null and alternative hypotheses</a:t>
                      </a:r>
                      <a:r>
                        <a:rPr lang="en-US" altLang="en-US" sz="2200" noProof="0" dirty="0">
                          <a:latin typeface="+mn-lt"/>
                          <a:cs typeface="Arial" panose="020B0604020202020204" pitchFamily="34" charset="0"/>
                          <a:sym typeface="Symbol" panose="05050102010706020507" pitchFamily="18" charset="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noProof="0" dirty="0">
                          <a:latin typeface="+mn-lt"/>
                        </a:rPr>
                        <a:t>State </a:t>
                      </a:r>
                      <a:r>
                        <a:rPr lang="en-US" sz="100" noProof="0" dirty="0">
                          <a:latin typeface="+mn-lt"/>
                        </a:rPr>
                        <a:t>H sub 0 and H sub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628646"/>
                  </a:ext>
                </a:extLst>
              </a:tr>
            </a:tbl>
          </a:graphicData>
        </a:graphic>
      </p:graphicFrame>
      <p:graphicFrame>
        <p:nvGraphicFramePr>
          <p:cNvPr id="19" name="Object 18">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82888084"/>
              </p:ext>
            </p:extLst>
          </p:nvPr>
        </p:nvGraphicFramePr>
        <p:xfrm>
          <a:off x="2194986" y="2129630"/>
          <a:ext cx="1176338" cy="357188"/>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19" name="Object 18">
                        <a:extLst>
                          <a:ext uri="{C183D7F6-B498-43B3-948B-1728B52AA6E4}">
                            <adec:decorative xmlns:adec="http://schemas.microsoft.com/office/drawing/2017/decorative" val="1"/>
                          </a:ext>
                        </a:extLst>
                      </p:cNvPr>
                      <p:cNvPicPr/>
                      <p:nvPr/>
                    </p:nvPicPr>
                    <p:blipFill>
                      <a:blip r:embed="rId3"/>
                      <a:stretch>
                        <a:fillRect/>
                      </a:stretch>
                    </p:blipFill>
                    <p:spPr>
                      <a:xfrm>
                        <a:off x="2194986" y="2129630"/>
                        <a:ext cx="1176338" cy="357188"/>
                      </a:xfrm>
                      <a:prstGeom prst="rect">
                        <a:avLst/>
                      </a:prstGeom>
                      <a:solidFill>
                        <a:schemeClr val="bg1"/>
                      </a:solidFill>
                    </p:spPr>
                  </p:pic>
                </p:oleObj>
              </mc:Fallback>
            </mc:AlternateContent>
          </a:graphicData>
        </a:graphic>
      </p:graphicFrame>
      <p:graphicFrame>
        <p:nvGraphicFramePr>
          <p:cNvPr id="20" name="Object 19">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051281718"/>
              </p:ext>
            </p:extLst>
          </p:nvPr>
        </p:nvGraphicFramePr>
        <p:xfrm>
          <a:off x="2865964" y="3120230"/>
          <a:ext cx="2391309" cy="342335"/>
        </p:xfrm>
        <a:graphic>
          <a:graphicData uri="http://schemas.openxmlformats.org/presentationml/2006/ole">
            <mc:AlternateContent xmlns:mc="http://schemas.openxmlformats.org/markup-compatibility/2006">
              <mc:Choice xmlns:v="urn:schemas-microsoft-com:vml" Requires="v">
                <p:oleObj name="Equation" r:id="rId4" imgW="2743200" imgH="393480" progId="Equation.DSMT4">
                  <p:embed/>
                </p:oleObj>
              </mc:Choice>
              <mc:Fallback>
                <p:oleObj name="Equation" r:id="rId4" imgW="2743200" imgH="393480" progId="Equation.DSMT4">
                  <p:embed/>
                  <p:pic>
                    <p:nvPicPr>
                      <p:cNvPr id="20" name="Object 19">
                        <a:extLst>
                          <a:ext uri="{C183D7F6-B498-43B3-948B-1728B52AA6E4}">
                            <adec:decorative xmlns:adec="http://schemas.microsoft.com/office/drawing/2017/decorative" val="1"/>
                          </a:ext>
                        </a:extLst>
                      </p:cNvPr>
                      <p:cNvPicPr/>
                      <p:nvPr/>
                    </p:nvPicPr>
                    <p:blipFill>
                      <a:blip r:embed="rId5"/>
                      <a:stretch>
                        <a:fillRect/>
                      </a:stretch>
                    </p:blipFill>
                    <p:spPr>
                      <a:xfrm>
                        <a:off x="2865964" y="3120230"/>
                        <a:ext cx="2391309" cy="342335"/>
                      </a:xfrm>
                      <a:prstGeom prst="rect">
                        <a:avLst/>
                      </a:prstGeom>
                      <a:solidFill>
                        <a:schemeClr val="bg1"/>
                      </a:solidFill>
                    </p:spPr>
                  </p:pic>
                </p:oleObj>
              </mc:Fallback>
            </mc:AlternateContent>
          </a:graphicData>
        </a:graphic>
      </p:graphicFrame>
      <p:graphicFrame>
        <p:nvGraphicFramePr>
          <p:cNvPr id="22" name="Object 21">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829440358"/>
              </p:ext>
            </p:extLst>
          </p:nvPr>
        </p:nvGraphicFramePr>
        <p:xfrm>
          <a:off x="6388258" y="3732049"/>
          <a:ext cx="1414746" cy="350856"/>
        </p:xfrm>
        <a:graphic>
          <a:graphicData uri="http://schemas.openxmlformats.org/presentationml/2006/ole">
            <mc:AlternateContent xmlns:mc="http://schemas.openxmlformats.org/markup-compatibility/2006">
              <mc:Choice xmlns:v="urn:schemas-microsoft-com:vml" Requires="v">
                <p:oleObj name="Equation" r:id="rId6" imgW="1587240" imgH="393480" progId="Equation.DSMT4">
                  <p:embed/>
                </p:oleObj>
              </mc:Choice>
              <mc:Fallback>
                <p:oleObj name="Equation" r:id="rId6" imgW="1587240" imgH="393480" progId="Equation.DSMT4">
                  <p:embed/>
                  <p:pic>
                    <p:nvPicPr>
                      <p:cNvPr id="22" name="Object 21">
                        <a:extLst>
                          <a:ext uri="{C183D7F6-B498-43B3-948B-1728B52AA6E4}">
                            <adec:decorative xmlns:adec="http://schemas.microsoft.com/office/drawing/2017/decorative" val="1"/>
                          </a:ext>
                        </a:extLst>
                      </p:cNvPr>
                      <p:cNvPicPr/>
                      <p:nvPr/>
                    </p:nvPicPr>
                    <p:blipFill>
                      <a:blip r:embed="rId7"/>
                      <a:stretch>
                        <a:fillRect/>
                      </a:stretch>
                    </p:blipFill>
                    <p:spPr>
                      <a:xfrm>
                        <a:off x="6388258" y="3732049"/>
                        <a:ext cx="1414746" cy="35085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465065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251"/>
            <a:ext cx="8229600" cy="1241399"/>
          </a:xfrm>
        </p:spPr>
        <p:txBody>
          <a:bodyPr/>
          <a:lstStyle/>
          <a:p>
            <a:r>
              <a:rPr lang="en-US" sz="2600" dirty="0"/>
              <a:t>Using a Two-Sample </a:t>
            </a:r>
            <a:r>
              <a:rPr lang="en-US" sz="2600" i="1" dirty="0"/>
              <a:t>z</a:t>
            </a:r>
            <a:r>
              <a:rPr lang="en-US" sz="2600" dirty="0"/>
              <a:t>-Test for the Difference Between Means (Independent Samples, Sigma Subscript 1 and Sigma Subscript 2 Known) </a:t>
            </a:r>
            <a:r>
              <a:rPr lang="en-US" sz="2000" b="0" dirty="0"/>
              <a:t>(2 of 3)</a:t>
            </a:r>
          </a:p>
        </p:txBody>
      </p:sp>
      <p:graphicFrame>
        <p:nvGraphicFramePr>
          <p:cNvPr id="18" name="Content Placeholder 17"/>
          <p:cNvGraphicFramePr>
            <a:graphicFrameLocks noGrp="1"/>
          </p:cNvGraphicFramePr>
          <p:nvPr>
            <p:ph sz="quarter" idx="13"/>
            <p:extLst>
              <p:ext uri="{D42A27DB-BD31-4B8C-83A1-F6EECF244321}">
                <p14:modId xmlns:p14="http://schemas.microsoft.com/office/powerpoint/2010/main" val="4142809985"/>
              </p:ext>
            </p:extLst>
          </p:nvPr>
        </p:nvGraphicFramePr>
        <p:xfrm>
          <a:off x="457200" y="1555750"/>
          <a:ext cx="8229600" cy="3425825"/>
        </p:xfrm>
        <a:graphic>
          <a:graphicData uri="http://schemas.openxmlformats.org/drawingml/2006/table">
            <a:tbl>
              <a:tblPr firstRow="1" bandRow="1">
                <a:tableStyleId>{2D5ABB26-0587-4C30-8999-92F81FD0307C}</a:tableStyleId>
              </a:tblPr>
              <a:tblGrid>
                <a:gridCol w="5124203">
                  <a:extLst>
                    <a:ext uri="{9D8B030D-6E8A-4147-A177-3AD203B41FA5}">
                      <a16:colId xmlns:a16="http://schemas.microsoft.com/office/drawing/2014/main" val="3151396653"/>
                    </a:ext>
                  </a:extLst>
                </a:gridCol>
                <a:gridCol w="3105397">
                  <a:extLst>
                    <a:ext uri="{9D8B030D-6E8A-4147-A177-3AD203B41FA5}">
                      <a16:colId xmlns:a16="http://schemas.microsoft.com/office/drawing/2014/main" val="3448214394"/>
                    </a:ext>
                  </a:extLst>
                </a:gridCol>
              </a:tblGrid>
              <a:tr h="517325">
                <a:tc>
                  <a:txBody>
                    <a:bodyPr/>
                    <a:lstStyle/>
                    <a:p>
                      <a:r>
                        <a:rPr lang="en-US" sz="2200" b="1" noProof="0" dirty="0">
                          <a:latin typeface="+mn-lt"/>
                        </a:rPr>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a:latin typeface="+mn-lt"/>
                        </a:rPr>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226495"/>
                  </a:ext>
                </a:extLst>
              </a:tr>
              <a:tr h="4891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latin typeface="+mn-lt"/>
                          <a:sym typeface="Symbol" panose="05050102010706020507" pitchFamily="18" charset="2"/>
                        </a:rPr>
                        <a:t>3. Specify the level of significance.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2200" noProof="0" dirty="0">
                          <a:latin typeface="+mn-lt"/>
                        </a:rPr>
                        <a:t>Identify </a:t>
                      </a:r>
                      <a:r>
                        <a:rPr lang="en-US" altLang="en-US" sz="100" noProof="0" dirty="0">
                          <a:latin typeface="+mn-lt"/>
                        </a:rPr>
                        <a:t>alpha.</a:t>
                      </a:r>
                      <a:endParaRPr lang="en-US" sz="1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664602"/>
                  </a:ext>
                </a:extLst>
              </a:tr>
              <a:tr h="8572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sym typeface="Symbol" panose="05050102010706020507" pitchFamily="18" charset="2"/>
                        </a:rPr>
                        <a:t>4. Determine the critical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rPr>
                        <a:t>Use Table 4 in</a:t>
                      </a:r>
                      <a:r>
                        <a:rPr lang="en-US" altLang="en-US" sz="2200" baseline="0" noProof="0" dirty="0">
                          <a:latin typeface="+mn-lt"/>
                        </a:rPr>
                        <a:t> </a:t>
                      </a:r>
                      <a:r>
                        <a:rPr lang="en-US" altLang="en-US" sz="2200" noProof="0" dirty="0">
                          <a:latin typeface="+mn-lt"/>
                        </a:rPr>
                        <a:t>Appendix B.</a:t>
                      </a:r>
                      <a:endParaRPr lang="en-US" altLang="en-US" sz="2200" noProof="0" dirty="0">
                        <a:latin typeface="+mn-lt"/>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168618"/>
                  </a:ext>
                </a:extLst>
              </a:tr>
              <a:tr h="5524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latin typeface="+mn-lt"/>
                          <a:sym typeface="Symbol" panose="05050102010706020507" pitchFamily="18" charset="2"/>
                        </a:rPr>
                        <a:t>5. Determine the rejection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751936"/>
                  </a:ext>
                </a:extLst>
              </a:tr>
              <a:tr h="10096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sym typeface="Symbol" panose="05050102010706020507" pitchFamily="18" charset="2"/>
                        </a:rPr>
                        <a:t>6. Find the standardized test statistic and sketch the sampling distribution.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z = start fraction left parenthesis x sub 1 bar minus x sub 2 bar right parenthesis minus left parenthesis mu sub 1 minus mu sub 2 right parenthesis over sigma sub start expression x sub 1 bar minus x sub 2 bar end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628646"/>
                  </a:ext>
                </a:extLst>
              </a:tr>
            </a:tbl>
          </a:graphicData>
        </a:graphic>
      </p:graphicFrame>
      <p:graphicFrame>
        <p:nvGraphicFramePr>
          <p:cNvPr id="9" name="Object 8">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40176414"/>
              </p:ext>
            </p:extLst>
          </p:nvPr>
        </p:nvGraphicFramePr>
        <p:xfrm>
          <a:off x="6651688" y="2178813"/>
          <a:ext cx="304800" cy="228600"/>
        </p:xfrm>
        <a:graphic>
          <a:graphicData uri="http://schemas.openxmlformats.org/presentationml/2006/ole">
            <mc:AlternateContent xmlns:mc="http://schemas.openxmlformats.org/markup-compatibility/2006">
              <mc:Choice xmlns:v="urn:schemas-microsoft-com:vml" Requires="v">
                <p:oleObj name="Equation" r:id="rId2" imgW="304560" imgH="228600" progId="Equation.DSMT4">
                  <p:embed/>
                </p:oleObj>
              </mc:Choice>
              <mc:Fallback>
                <p:oleObj name="Equation" r:id="rId2" imgW="304560" imgH="228600" progId="Equation.DSMT4">
                  <p:embed/>
                  <p:pic>
                    <p:nvPicPr>
                      <p:cNvPr id="9" name="Object 8">
                        <a:extLst>
                          <a:ext uri="{C183D7F6-B498-43B3-948B-1728B52AA6E4}">
                            <adec:decorative xmlns:adec="http://schemas.microsoft.com/office/drawing/2017/decorative" val="1"/>
                          </a:ext>
                        </a:extLst>
                      </p:cNvPr>
                      <p:cNvPicPr/>
                      <p:nvPr/>
                    </p:nvPicPr>
                    <p:blipFill>
                      <a:blip r:embed="rId3"/>
                      <a:stretch>
                        <a:fillRect/>
                      </a:stretch>
                    </p:blipFill>
                    <p:spPr>
                      <a:xfrm>
                        <a:off x="6651688" y="2178813"/>
                        <a:ext cx="304800" cy="228600"/>
                      </a:xfrm>
                      <a:prstGeom prst="rect">
                        <a:avLst/>
                      </a:prstGeom>
                      <a:solidFill>
                        <a:schemeClr val="bg1"/>
                      </a:solidFill>
                    </p:spPr>
                  </p:pic>
                </p:oleObj>
              </mc:Fallback>
            </mc:AlternateContent>
          </a:graphicData>
        </a:graphic>
      </p:graphicFrame>
      <p:graphicFrame>
        <p:nvGraphicFramePr>
          <p:cNvPr id="8" name="Object 2">
            <a:extLst>
              <a:ext uri="{FF2B5EF4-FFF2-40B4-BE49-F238E27FC236}">
                <a16:creationId xmlns:a16="http://schemas.microsoft.com/office/drawing/2014/main" id="{37936ABB-14E8-44E3-889C-70DC03F9129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13544337"/>
              </p:ext>
            </p:extLst>
          </p:nvPr>
        </p:nvGraphicFramePr>
        <p:xfrm>
          <a:off x="5633130" y="4021606"/>
          <a:ext cx="2933700" cy="850900"/>
        </p:xfrm>
        <a:graphic>
          <a:graphicData uri="http://schemas.openxmlformats.org/presentationml/2006/ole">
            <mc:AlternateContent xmlns:mc="http://schemas.openxmlformats.org/markup-compatibility/2006">
              <mc:Choice xmlns:v="urn:schemas-microsoft-com:vml" Requires="v">
                <p:oleObj name="Equation" r:id="rId4" imgW="2933640" imgH="850680" progId="Equation.DSMT4">
                  <p:embed/>
                </p:oleObj>
              </mc:Choice>
              <mc:Fallback>
                <p:oleObj name="Equation" r:id="rId4" imgW="2933640" imgH="850680" progId="Equation.DSMT4">
                  <p:embed/>
                  <p:pic>
                    <p:nvPicPr>
                      <p:cNvPr id="8" name="Object 2">
                        <a:extLst>
                          <a:ext uri="{FF2B5EF4-FFF2-40B4-BE49-F238E27FC236}">
                            <a16:creationId xmlns:a16="http://schemas.microsoft.com/office/drawing/2014/main" id="{37936ABB-14E8-44E3-889C-70DC03F9129A}"/>
                          </a:ext>
                          <a:ext uri="{C183D7F6-B498-43B3-948B-1728B52AA6E4}">
                            <adec:decorative xmlns:adec="http://schemas.microsoft.com/office/drawing/2017/decorative" val="1"/>
                          </a:ext>
                        </a:extLst>
                      </p:cNvPr>
                      <p:cNvPicPr>
                        <a:picLocks noChangeAspect="1" noChangeArrowheads="1"/>
                      </p:cNvPicPr>
                      <p:nvPr/>
                    </p:nvPicPr>
                    <p:blipFill>
                      <a:blip r:embed="rId5"/>
                      <a:srcRect/>
                      <a:stretch>
                        <a:fillRect/>
                      </a:stretch>
                    </p:blipFill>
                    <p:spPr bwMode="auto">
                      <a:xfrm>
                        <a:off x="5633130" y="4021606"/>
                        <a:ext cx="2933700" cy="850900"/>
                      </a:xfrm>
                      <a:prstGeom prst="rect">
                        <a:avLst/>
                      </a:prstGeom>
                      <a:solidFill>
                        <a:schemeClr val="bg1"/>
                      </a:solidFill>
                      <a:ln>
                        <a:noFill/>
                      </a:ln>
                      <a:effectLst/>
                    </p:spPr>
                  </p:pic>
                </p:oleObj>
              </mc:Fallback>
            </mc:AlternateContent>
          </a:graphicData>
        </a:graphic>
      </p:graphicFrame>
    </p:spTree>
    <p:extLst>
      <p:ext uri="{BB962C8B-B14F-4D97-AF65-F5344CB8AC3E}">
        <p14:creationId xmlns:p14="http://schemas.microsoft.com/office/powerpoint/2010/main" val="1882817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251"/>
            <a:ext cx="8229600" cy="1241399"/>
          </a:xfrm>
        </p:spPr>
        <p:txBody>
          <a:bodyPr/>
          <a:lstStyle/>
          <a:p>
            <a:r>
              <a:rPr lang="en-US" sz="2600" dirty="0"/>
              <a:t>Using a Two-Sample </a:t>
            </a:r>
            <a:r>
              <a:rPr lang="en-US" sz="2600" i="1" dirty="0"/>
              <a:t>z</a:t>
            </a:r>
            <a:r>
              <a:rPr lang="en-US" sz="2600" dirty="0"/>
              <a:t>-Test for the Difference Between Means (Independent Samples, Sigma Subscript 1 and Sigma Subscript 2 Known) </a:t>
            </a:r>
            <a:r>
              <a:rPr lang="en-US" sz="2000" b="0" dirty="0"/>
              <a:t>(3 of 3)</a:t>
            </a:r>
          </a:p>
        </p:txBody>
      </p:sp>
      <p:graphicFrame>
        <p:nvGraphicFramePr>
          <p:cNvPr id="18" name="Content Placeholder 17"/>
          <p:cNvGraphicFramePr>
            <a:graphicFrameLocks noGrp="1"/>
          </p:cNvGraphicFramePr>
          <p:nvPr>
            <p:ph sz="quarter" idx="13"/>
            <p:extLst>
              <p:ext uri="{D42A27DB-BD31-4B8C-83A1-F6EECF244321}">
                <p14:modId xmlns:p14="http://schemas.microsoft.com/office/powerpoint/2010/main" val="3803276160"/>
              </p:ext>
            </p:extLst>
          </p:nvPr>
        </p:nvGraphicFramePr>
        <p:xfrm>
          <a:off x="457200" y="1555750"/>
          <a:ext cx="8229600" cy="2824890"/>
        </p:xfrm>
        <a:graphic>
          <a:graphicData uri="http://schemas.openxmlformats.org/drawingml/2006/table">
            <a:tbl>
              <a:tblPr firstRow="1" bandRow="1">
                <a:tableStyleId>{2D5ABB26-0587-4C30-8999-92F81FD0307C}</a:tableStyleId>
              </a:tblPr>
              <a:tblGrid>
                <a:gridCol w="4518561">
                  <a:extLst>
                    <a:ext uri="{9D8B030D-6E8A-4147-A177-3AD203B41FA5}">
                      <a16:colId xmlns:a16="http://schemas.microsoft.com/office/drawing/2014/main" val="3151396653"/>
                    </a:ext>
                  </a:extLst>
                </a:gridCol>
                <a:gridCol w="3711039">
                  <a:extLst>
                    <a:ext uri="{9D8B030D-6E8A-4147-A177-3AD203B41FA5}">
                      <a16:colId xmlns:a16="http://schemas.microsoft.com/office/drawing/2014/main" val="3448214394"/>
                    </a:ext>
                  </a:extLst>
                </a:gridCol>
              </a:tblGrid>
              <a:tr h="577850">
                <a:tc>
                  <a:txBody>
                    <a:bodyPr/>
                    <a:lstStyle/>
                    <a:p>
                      <a:r>
                        <a:rPr lang="en-US" sz="2200" b="1" noProof="0" dirty="0">
                          <a:latin typeface="+mn-lt"/>
                        </a:rPr>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a:latin typeface="+mn-lt"/>
                        </a:rPr>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226495"/>
                  </a:ext>
                </a:extLst>
              </a:tr>
              <a:tr h="1260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sym typeface="Symbol" panose="05050102010706020507" pitchFamily="18" charset="2"/>
                        </a:rPr>
                        <a:t>7.</a:t>
                      </a:r>
                      <a:r>
                        <a:rPr lang="en-US" altLang="en-US" sz="2200" baseline="0" noProof="0" dirty="0">
                          <a:latin typeface="+mn-lt"/>
                          <a:sym typeface="Symbol" panose="05050102010706020507" pitchFamily="18" charset="2"/>
                        </a:rPr>
                        <a:t> </a:t>
                      </a:r>
                      <a:r>
                        <a:rPr lang="en-US" altLang="en-US" sz="2200" noProof="0" dirty="0">
                          <a:latin typeface="+mn-lt"/>
                          <a:sym typeface="Symbol" panose="05050102010706020507" pitchFamily="18" charset="2"/>
                        </a:rPr>
                        <a:t>Make a decision to reject or fail to reject the null hypothesis.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rPr>
                        <a:t>If </a:t>
                      </a:r>
                      <a:r>
                        <a:rPr lang="en-US" altLang="en-US" sz="2200" i="1" noProof="0" dirty="0">
                          <a:latin typeface="+mn-lt"/>
                        </a:rPr>
                        <a:t>z</a:t>
                      </a:r>
                      <a:r>
                        <a:rPr lang="en-US" altLang="en-US" sz="2200" noProof="0" dirty="0">
                          <a:latin typeface="+mn-lt"/>
                        </a:rPr>
                        <a:t> is in the rejection region, reject </a:t>
                      </a:r>
                      <a:r>
                        <a:rPr lang="en-US" altLang="en-US" sz="100" noProof="0" dirty="0">
                          <a:latin typeface="+mn-lt"/>
                        </a:rPr>
                        <a:t>H sub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rPr>
                        <a:t>Otherwise, fail to reject </a:t>
                      </a:r>
                      <a:r>
                        <a:rPr lang="en-US" altLang="en-US" sz="100" noProof="0" dirty="0">
                          <a:latin typeface="+mn-lt"/>
                        </a:rPr>
                        <a:t>H sub 0.</a:t>
                      </a:r>
                      <a:endParaRPr lang="en-US" altLang="en-US" sz="100" noProof="0" dirty="0">
                        <a:latin typeface="+mn-lt"/>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664602"/>
                  </a:ext>
                </a:extLst>
              </a:tr>
              <a:tr h="986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latin typeface="+mn-lt"/>
                          <a:sym typeface="Symbol" panose="05050102010706020507" pitchFamily="18" charset="2"/>
                        </a:rPr>
                        <a:t>8. Interpret the decision in the context of the original claim.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 noProof="0" dirty="0">
                          <a:latin typeface="+mn-lt"/>
                          <a:sym typeface="Symbol" panose="05050102010706020507" pitchFamily="18" charset="2"/>
                        </a:rPr>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168618"/>
                  </a:ext>
                </a:extLst>
              </a:tr>
            </a:tbl>
          </a:graphicData>
        </a:graphic>
      </p:graphicFrame>
      <p:graphicFrame>
        <p:nvGraphicFramePr>
          <p:cNvPr id="6" name="Object 5">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122787716"/>
              </p:ext>
            </p:extLst>
          </p:nvPr>
        </p:nvGraphicFramePr>
        <p:xfrm>
          <a:off x="5827270" y="2495613"/>
          <a:ext cx="447675" cy="357187"/>
        </p:xfrm>
        <a:graphic>
          <a:graphicData uri="http://schemas.openxmlformats.org/presentationml/2006/ole">
            <mc:AlternateContent xmlns:mc="http://schemas.openxmlformats.org/markup-compatibility/2006">
              <mc:Choice xmlns:v="urn:schemas-microsoft-com:vml" Requires="v">
                <p:oleObj name="Equation" r:id="rId2" imgW="495000" imgH="393480" progId="Equation.DSMT4">
                  <p:embed/>
                </p:oleObj>
              </mc:Choice>
              <mc:Fallback>
                <p:oleObj name="Equation" r:id="rId2" imgW="495000" imgH="393480" progId="Equation.DSMT4">
                  <p:embed/>
                  <p:pic>
                    <p:nvPicPr>
                      <p:cNvPr id="6" name="Object 5">
                        <a:extLst>
                          <a:ext uri="{C183D7F6-B498-43B3-948B-1728B52AA6E4}">
                            <adec:decorative xmlns:adec="http://schemas.microsoft.com/office/drawing/2017/decorative" val="1"/>
                          </a:ext>
                        </a:extLst>
                      </p:cNvPr>
                      <p:cNvPicPr/>
                      <p:nvPr/>
                    </p:nvPicPr>
                    <p:blipFill>
                      <a:blip r:embed="rId3"/>
                      <a:stretch>
                        <a:fillRect/>
                      </a:stretch>
                    </p:blipFill>
                    <p:spPr>
                      <a:xfrm>
                        <a:off x="5827270" y="2495613"/>
                        <a:ext cx="447675" cy="357187"/>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30734090"/>
              </p:ext>
            </p:extLst>
          </p:nvPr>
        </p:nvGraphicFramePr>
        <p:xfrm>
          <a:off x="7989571" y="2872896"/>
          <a:ext cx="447675" cy="357187"/>
        </p:xfrm>
        <a:graphic>
          <a:graphicData uri="http://schemas.openxmlformats.org/presentationml/2006/ole">
            <mc:AlternateContent xmlns:mc="http://schemas.openxmlformats.org/markup-compatibility/2006">
              <mc:Choice xmlns:v="urn:schemas-microsoft-com:vml" Requires="v">
                <p:oleObj name="Equation" r:id="rId4" imgW="495000" imgH="393480" progId="Equation.DSMT4">
                  <p:embed/>
                </p:oleObj>
              </mc:Choice>
              <mc:Fallback>
                <p:oleObj name="Equation" r:id="rId4" imgW="495000" imgH="393480" progId="Equation.DSMT4">
                  <p:embed/>
                  <p:pic>
                    <p:nvPicPr>
                      <p:cNvPr id="7" name="Object 6">
                        <a:extLst>
                          <a:ext uri="{C183D7F6-B498-43B3-948B-1728B52AA6E4}">
                            <adec:decorative xmlns:adec="http://schemas.microsoft.com/office/drawing/2017/decorative" val="1"/>
                          </a:ext>
                        </a:extLst>
                      </p:cNvPr>
                      <p:cNvPicPr/>
                      <p:nvPr/>
                    </p:nvPicPr>
                    <p:blipFill>
                      <a:blip r:embed="rId3"/>
                      <a:stretch>
                        <a:fillRect/>
                      </a:stretch>
                    </p:blipFill>
                    <p:spPr>
                      <a:xfrm>
                        <a:off x="7989571" y="2872896"/>
                        <a:ext cx="447675" cy="35718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32345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Two-Sample </a:t>
            </a:r>
            <a:r>
              <a:rPr lang="en-US" sz="3400" i="1" dirty="0"/>
              <a:t>z</a:t>
            </a:r>
            <a:r>
              <a:rPr lang="en-US" sz="3400" dirty="0"/>
              <a:t>-Test for the Difference Between Means</a:t>
            </a:r>
          </a:p>
        </p:txBody>
      </p:sp>
      <p:sp>
        <p:nvSpPr>
          <p:cNvPr id="4" name="Content Placeholder 3"/>
          <p:cNvSpPr>
            <a:spLocks noGrp="1"/>
          </p:cNvSpPr>
          <p:nvPr>
            <p:ph sz="quarter" idx="13"/>
          </p:nvPr>
        </p:nvSpPr>
        <p:spPr>
          <a:xfrm>
            <a:off x="457200" y="1552575"/>
            <a:ext cx="8294914" cy="1400176"/>
          </a:xfrm>
        </p:spPr>
        <p:txBody>
          <a:bodyPr/>
          <a:lstStyle/>
          <a:p>
            <a:pPr marL="432" indent="0">
              <a:buNone/>
            </a:pPr>
            <a:r>
              <a:rPr lang="en-US" altLang="en-US" sz="2200" dirty="0"/>
              <a:t>A credit card watchdog group claims that there is a difference in the mean credit card debts of people in Oklahoma and North Carolina. The results of a random survey of 250 people from each state are shown at the left. The two samples are independent.</a:t>
            </a:r>
            <a:endParaRPr lang="en-US" sz="2200" dirty="0"/>
          </a:p>
        </p:txBody>
      </p:sp>
      <p:sp>
        <p:nvSpPr>
          <p:cNvPr id="5" name="Content Placeholder 4"/>
          <p:cNvSpPr>
            <a:spLocks noGrp="1"/>
          </p:cNvSpPr>
          <p:nvPr>
            <p:ph sz="quarter" idx="14"/>
          </p:nvPr>
        </p:nvSpPr>
        <p:spPr>
          <a:xfrm>
            <a:off x="457201" y="3000977"/>
            <a:ext cx="1727860" cy="395365"/>
          </a:xfrm>
        </p:spPr>
        <p:txBody>
          <a:bodyPr/>
          <a:lstStyle/>
          <a:p>
            <a:pPr marL="432" indent="0">
              <a:buNone/>
            </a:pPr>
            <a:r>
              <a:rPr lang="en-US" altLang="en-US" sz="2200" dirty="0"/>
              <a:t>Assume that</a:t>
            </a:r>
            <a:endParaRPr lang="en-US" sz="2200" dirty="0"/>
          </a:p>
        </p:txBody>
      </p:sp>
      <p:graphicFrame>
        <p:nvGraphicFramePr>
          <p:cNvPr id="18" name="Object 17" descr="sigma subscript 1 equals 960 dollars"/>
          <p:cNvGraphicFramePr>
            <a:graphicFrameLocks noChangeAspect="1"/>
          </p:cNvGraphicFramePr>
          <p:nvPr>
            <p:extLst>
              <p:ext uri="{D42A27DB-BD31-4B8C-83A1-F6EECF244321}">
                <p14:modId xmlns:p14="http://schemas.microsoft.com/office/powerpoint/2010/main" val="16384227"/>
              </p:ext>
            </p:extLst>
          </p:nvPr>
        </p:nvGraphicFramePr>
        <p:xfrm>
          <a:off x="2245098" y="3020538"/>
          <a:ext cx="1200727" cy="357909"/>
        </p:xfrm>
        <a:graphic>
          <a:graphicData uri="http://schemas.openxmlformats.org/presentationml/2006/ole">
            <mc:AlternateContent xmlns:mc="http://schemas.openxmlformats.org/markup-compatibility/2006">
              <mc:Choice xmlns:v="urn:schemas-microsoft-com:vml" Requires="v">
                <p:oleObj name="Equation" r:id="rId2" imgW="1320480" imgH="393480" progId="Equation.DSMT4">
                  <p:embed/>
                </p:oleObj>
              </mc:Choice>
              <mc:Fallback>
                <p:oleObj name="Equation" r:id="rId2" imgW="1320480" imgH="393480" progId="Equation.DSMT4">
                  <p:embed/>
                  <p:pic>
                    <p:nvPicPr>
                      <p:cNvPr id="18" name="Object 17" descr="sigma subscript 1 equals 960 dollars"/>
                      <p:cNvPicPr/>
                      <p:nvPr/>
                    </p:nvPicPr>
                    <p:blipFill>
                      <a:blip r:embed="rId3"/>
                      <a:stretch>
                        <a:fillRect/>
                      </a:stretch>
                    </p:blipFill>
                    <p:spPr>
                      <a:xfrm>
                        <a:off x="2245098" y="3020538"/>
                        <a:ext cx="1200727" cy="357909"/>
                      </a:xfrm>
                      <a:prstGeom prst="rect">
                        <a:avLst/>
                      </a:prstGeom>
                    </p:spPr>
                  </p:pic>
                </p:oleObj>
              </mc:Fallback>
            </mc:AlternateContent>
          </a:graphicData>
        </a:graphic>
      </p:graphicFrame>
      <p:sp>
        <p:nvSpPr>
          <p:cNvPr id="6" name="Content Placeholder 5"/>
          <p:cNvSpPr>
            <a:spLocks noGrp="1"/>
          </p:cNvSpPr>
          <p:nvPr>
            <p:ph sz="quarter" idx="15"/>
          </p:nvPr>
        </p:nvSpPr>
        <p:spPr>
          <a:xfrm>
            <a:off x="3505862" y="3000977"/>
            <a:ext cx="2265546" cy="395365"/>
          </a:xfrm>
        </p:spPr>
        <p:txBody>
          <a:bodyPr/>
          <a:lstStyle/>
          <a:p>
            <a:pPr marL="432" indent="0">
              <a:buNone/>
            </a:pPr>
            <a:r>
              <a:rPr lang="en-US" altLang="en-US" sz="2200" dirty="0"/>
              <a:t>for California and</a:t>
            </a:r>
            <a:endParaRPr lang="en-US" sz="2200" dirty="0"/>
          </a:p>
        </p:txBody>
      </p:sp>
      <p:graphicFrame>
        <p:nvGraphicFramePr>
          <p:cNvPr id="19" name="Object 18" descr="sigma subscript 2 equals 845 dollars"/>
          <p:cNvGraphicFramePr>
            <a:graphicFrameLocks noChangeAspect="1"/>
          </p:cNvGraphicFramePr>
          <p:nvPr>
            <p:extLst>
              <p:ext uri="{D42A27DB-BD31-4B8C-83A1-F6EECF244321}">
                <p14:modId xmlns:p14="http://schemas.microsoft.com/office/powerpoint/2010/main" val="1458351982"/>
              </p:ext>
            </p:extLst>
          </p:nvPr>
        </p:nvGraphicFramePr>
        <p:xfrm>
          <a:off x="5846948" y="3003797"/>
          <a:ext cx="1304636" cy="392545"/>
        </p:xfrm>
        <a:graphic>
          <a:graphicData uri="http://schemas.openxmlformats.org/presentationml/2006/ole">
            <mc:AlternateContent xmlns:mc="http://schemas.openxmlformats.org/markup-compatibility/2006">
              <mc:Choice xmlns:v="urn:schemas-microsoft-com:vml" Requires="v">
                <p:oleObj name="Equation" r:id="rId4" imgW="1434960" imgH="431640" progId="Equation.DSMT4">
                  <p:embed/>
                </p:oleObj>
              </mc:Choice>
              <mc:Fallback>
                <p:oleObj name="Equation" r:id="rId4" imgW="1434960" imgH="431640" progId="Equation.DSMT4">
                  <p:embed/>
                  <p:pic>
                    <p:nvPicPr>
                      <p:cNvPr id="19" name="Object 18" descr="sigma subscript 2 equals 845 dollars"/>
                      <p:cNvPicPr/>
                      <p:nvPr/>
                    </p:nvPicPr>
                    <p:blipFill>
                      <a:blip r:embed="rId5"/>
                      <a:stretch>
                        <a:fillRect/>
                      </a:stretch>
                    </p:blipFill>
                    <p:spPr>
                      <a:xfrm>
                        <a:off x="5846948" y="3003797"/>
                        <a:ext cx="1304636" cy="392545"/>
                      </a:xfrm>
                      <a:prstGeom prst="rect">
                        <a:avLst/>
                      </a:prstGeom>
                    </p:spPr>
                  </p:pic>
                </p:oleObj>
              </mc:Fallback>
            </mc:AlternateContent>
          </a:graphicData>
        </a:graphic>
      </p:graphicFrame>
      <p:sp>
        <p:nvSpPr>
          <p:cNvPr id="7" name="Content Placeholder 6"/>
          <p:cNvSpPr>
            <a:spLocks noGrp="1"/>
          </p:cNvSpPr>
          <p:nvPr>
            <p:ph sz="quarter" idx="16"/>
          </p:nvPr>
        </p:nvSpPr>
        <p:spPr>
          <a:xfrm>
            <a:off x="457200" y="3478214"/>
            <a:ext cx="7214260" cy="405018"/>
          </a:xfrm>
        </p:spPr>
        <p:txBody>
          <a:bodyPr/>
          <a:lstStyle/>
          <a:p>
            <a:pPr marL="432" indent="0">
              <a:buNone/>
            </a:pPr>
            <a:r>
              <a:rPr lang="en-US" altLang="en-US" sz="2200" dirty="0"/>
              <a:t>for Florida. Do the results support the group’s claim? Use</a:t>
            </a:r>
            <a:endParaRPr lang="en-US" sz="2200" dirty="0"/>
          </a:p>
        </p:txBody>
      </p:sp>
      <p:graphicFrame>
        <p:nvGraphicFramePr>
          <p:cNvPr id="20" name="Object 19" descr="alpha equals 0.05">
            <a:extLst>
              <a:ext uri="{FF2B5EF4-FFF2-40B4-BE49-F238E27FC236}">
                <a16:creationId xmlns:a16="http://schemas.microsoft.com/office/drawing/2014/main" id="{D0C23FFA-DB85-489F-A2DD-47C481CD4568}"/>
              </a:ext>
            </a:extLst>
          </p:cNvPr>
          <p:cNvGraphicFramePr>
            <a:graphicFrameLocks noChangeAspect="1"/>
          </p:cNvGraphicFramePr>
          <p:nvPr>
            <p:extLst>
              <p:ext uri="{D42A27DB-BD31-4B8C-83A1-F6EECF244321}">
                <p14:modId xmlns:p14="http://schemas.microsoft.com/office/powerpoint/2010/main" val="13800349"/>
              </p:ext>
            </p:extLst>
          </p:nvPr>
        </p:nvGraphicFramePr>
        <p:xfrm>
          <a:off x="7733004" y="3518664"/>
          <a:ext cx="1200727" cy="288636"/>
        </p:xfrm>
        <a:graphic>
          <a:graphicData uri="http://schemas.openxmlformats.org/presentationml/2006/ole">
            <mc:AlternateContent xmlns:mc="http://schemas.openxmlformats.org/markup-compatibility/2006">
              <mc:Choice xmlns:v="urn:schemas-microsoft-com:vml" Requires="v">
                <p:oleObj name="Equation" r:id="rId6" imgW="1320480" imgH="317160" progId="Equation.DSMT4">
                  <p:embed/>
                </p:oleObj>
              </mc:Choice>
              <mc:Fallback>
                <p:oleObj name="Equation" r:id="rId6" imgW="1320480" imgH="317160" progId="Equation.DSMT4">
                  <p:embed/>
                  <p:pic>
                    <p:nvPicPr>
                      <p:cNvPr id="20" name="Object 19" descr="alpha equals 0.05">
                        <a:extLst>
                          <a:ext uri="{FF2B5EF4-FFF2-40B4-BE49-F238E27FC236}">
                            <a16:creationId xmlns:a16="http://schemas.microsoft.com/office/drawing/2014/main" id="{D0C23FFA-DB85-489F-A2DD-47C481CD4568}"/>
                          </a:ext>
                        </a:extLst>
                      </p:cNvPr>
                      <p:cNvPicPr/>
                      <p:nvPr/>
                    </p:nvPicPr>
                    <p:blipFill>
                      <a:blip r:embed="rId7"/>
                      <a:stretch>
                        <a:fillRect/>
                      </a:stretch>
                    </p:blipFill>
                    <p:spPr>
                      <a:xfrm>
                        <a:off x="7733004" y="3518664"/>
                        <a:ext cx="1200727" cy="288636"/>
                      </a:xfrm>
                      <a:prstGeom prst="rect">
                        <a:avLst/>
                      </a:prstGeom>
                    </p:spPr>
                  </p:pic>
                </p:oleObj>
              </mc:Fallback>
            </mc:AlternateContent>
          </a:graphicData>
        </a:graphic>
      </p:graphicFrame>
      <p:sp>
        <p:nvSpPr>
          <p:cNvPr id="8" name="Content Placeholder 7"/>
          <p:cNvSpPr>
            <a:spLocks noGrp="1"/>
          </p:cNvSpPr>
          <p:nvPr>
            <p:ph sz="quarter" idx="17"/>
          </p:nvPr>
        </p:nvSpPr>
        <p:spPr>
          <a:xfrm>
            <a:off x="457200" y="3965105"/>
            <a:ext cx="3639787" cy="455466"/>
          </a:xfrm>
        </p:spPr>
        <p:txBody>
          <a:bodyPr/>
          <a:lstStyle/>
          <a:p>
            <a:pPr marL="432" indent="0">
              <a:buNone/>
            </a:pPr>
            <a:r>
              <a:rPr lang="en-US" dirty="0">
                <a:solidFill>
                  <a:schemeClr val="tx1"/>
                </a:solidFill>
              </a:rPr>
              <a:t>(Adapted from Experian)</a:t>
            </a:r>
          </a:p>
        </p:txBody>
      </p:sp>
      <p:graphicFrame>
        <p:nvGraphicFramePr>
          <p:cNvPr id="21" name="Content Placeholder 20"/>
          <p:cNvGraphicFramePr>
            <a:graphicFrameLocks noGrp="1"/>
          </p:cNvGraphicFramePr>
          <p:nvPr>
            <p:ph sz="quarter" idx="18"/>
            <p:extLst>
              <p:ext uri="{D42A27DB-BD31-4B8C-83A1-F6EECF244321}">
                <p14:modId xmlns:p14="http://schemas.microsoft.com/office/powerpoint/2010/main" val="2339325388"/>
              </p:ext>
            </p:extLst>
          </p:nvPr>
        </p:nvGraphicFramePr>
        <p:xfrm>
          <a:off x="457200" y="4620903"/>
          <a:ext cx="4165600" cy="1638609"/>
        </p:xfrm>
        <a:graphic>
          <a:graphicData uri="http://schemas.openxmlformats.org/drawingml/2006/table">
            <a:tbl>
              <a:tblPr firstRow="1" bandRow="1">
                <a:tableStyleId>{2D5ABB26-0587-4C30-8999-92F81FD0307C}</a:tableStyleId>
              </a:tblPr>
              <a:tblGrid>
                <a:gridCol w="2082800">
                  <a:extLst>
                    <a:ext uri="{9D8B030D-6E8A-4147-A177-3AD203B41FA5}">
                      <a16:colId xmlns:a16="http://schemas.microsoft.com/office/drawing/2014/main" val="3361491184"/>
                    </a:ext>
                  </a:extLst>
                </a:gridCol>
                <a:gridCol w="2082800">
                  <a:extLst>
                    <a:ext uri="{9D8B030D-6E8A-4147-A177-3AD203B41FA5}">
                      <a16:colId xmlns:a16="http://schemas.microsoft.com/office/drawing/2014/main" val="62498418"/>
                    </a:ext>
                  </a:extLst>
                </a:gridCol>
              </a:tblGrid>
              <a:tr h="519559">
                <a:tc>
                  <a:txBody>
                    <a:bodyPr/>
                    <a:lstStyle/>
                    <a:p>
                      <a:pPr algn="ctr"/>
                      <a:r>
                        <a:rPr lang="en-US" sz="2000" b="1" noProof="0" dirty="0"/>
                        <a:t>Oklahoma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noProof="0" dirty="0"/>
                        <a:t>North Carolina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6466064"/>
                  </a:ext>
                </a:extLst>
              </a:tr>
              <a:tr h="559525">
                <a:tc>
                  <a:txBody>
                    <a:bodyPr/>
                    <a:lstStyle/>
                    <a:p>
                      <a:pPr algn="ctr"/>
                      <a:r>
                        <a:rPr lang="en-US" sz="100" noProof="0" dirty="0"/>
                        <a:t>x sub 1 bar = $5271.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x sub 2 bar = $5121.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1990378"/>
                  </a:ext>
                </a:extLst>
              </a:tr>
              <a:tr h="559525">
                <a:tc>
                  <a:txBody>
                    <a:bodyPr/>
                    <a:lstStyle/>
                    <a:p>
                      <a:pPr algn="ctr"/>
                      <a:r>
                        <a:rPr lang="en-US" sz="100" noProof="0" dirty="0"/>
                        <a:t>n sub 1 = 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 sub 2 = 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4996393"/>
                  </a:ext>
                </a:extLst>
              </a:tr>
            </a:tbl>
          </a:graphicData>
        </a:graphic>
      </p:graphicFrame>
      <p:graphicFrame>
        <p:nvGraphicFramePr>
          <p:cNvPr id="22" name="Object 21">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51153312"/>
              </p:ext>
            </p:extLst>
          </p:nvPr>
        </p:nvGraphicFramePr>
        <p:xfrm>
          <a:off x="880199" y="5248944"/>
          <a:ext cx="1281112" cy="358775"/>
        </p:xfrm>
        <a:graphic>
          <a:graphicData uri="http://schemas.openxmlformats.org/presentationml/2006/ole">
            <mc:AlternateContent xmlns:mc="http://schemas.openxmlformats.org/markup-compatibility/2006">
              <mc:Choice xmlns:v="urn:schemas-microsoft-com:vml" Requires="v">
                <p:oleObj name="Equation" r:id="rId8" imgW="1409400" imgH="393480" progId="Equation.DSMT4">
                  <p:embed/>
                </p:oleObj>
              </mc:Choice>
              <mc:Fallback>
                <p:oleObj name="Equation" r:id="rId8" imgW="1409400" imgH="393480" progId="Equation.DSMT4">
                  <p:embed/>
                  <p:pic>
                    <p:nvPicPr>
                      <p:cNvPr id="22" name="Object 21">
                        <a:extLst>
                          <a:ext uri="{C183D7F6-B498-43B3-948B-1728B52AA6E4}">
                            <adec:decorative xmlns:adec="http://schemas.microsoft.com/office/drawing/2017/decorative" val="1"/>
                          </a:ext>
                        </a:extLst>
                      </p:cNvPr>
                      <p:cNvPicPr/>
                      <p:nvPr/>
                    </p:nvPicPr>
                    <p:blipFill>
                      <a:blip r:embed="rId9"/>
                      <a:stretch>
                        <a:fillRect/>
                      </a:stretch>
                    </p:blipFill>
                    <p:spPr>
                      <a:xfrm>
                        <a:off x="880199" y="5248944"/>
                        <a:ext cx="1281112" cy="358775"/>
                      </a:xfrm>
                      <a:prstGeom prst="rect">
                        <a:avLst/>
                      </a:prstGeom>
                      <a:solidFill>
                        <a:schemeClr val="bg1"/>
                      </a:solidFill>
                    </p:spPr>
                  </p:pic>
                </p:oleObj>
              </mc:Fallback>
            </mc:AlternateContent>
          </a:graphicData>
        </a:graphic>
      </p:graphicFrame>
      <p:graphicFrame>
        <p:nvGraphicFramePr>
          <p:cNvPr id="23" name="Object 22">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07601300"/>
              </p:ext>
            </p:extLst>
          </p:nvPr>
        </p:nvGraphicFramePr>
        <p:xfrm>
          <a:off x="2805113" y="5237225"/>
          <a:ext cx="1304925" cy="358775"/>
        </p:xfrm>
        <a:graphic>
          <a:graphicData uri="http://schemas.openxmlformats.org/presentationml/2006/ole">
            <mc:AlternateContent xmlns:mc="http://schemas.openxmlformats.org/markup-compatibility/2006">
              <mc:Choice xmlns:v="urn:schemas-microsoft-com:vml" Requires="v">
                <p:oleObj name="Equation" r:id="rId10" imgW="1434960" imgH="393480" progId="Equation.DSMT4">
                  <p:embed/>
                </p:oleObj>
              </mc:Choice>
              <mc:Fallback>
                <p:oleObj name="Equation" r:id="rId10" imgW="1434960" imgH="393480" progId="Equation.DSMT4">
                  <p:embed/>
                  <p:pic>
                    <p:nvPicPr>
                      <p:cNvPr id="23" name="Object 22">
                        <a:extLst>
                          <a:ext uri="{C183D7F6-B498-43B3-948B-1728B52AA6E4}">
                            <adec:decorative xmlns:adec="http://schemas.microsoft.com/office/drawing/2017/decorative" val="1"/>
                          </a:ext>
                        </a:extLst>
                      </p:cNvPr>
                      <p:cNvPicPr/>
                      <p:nvPr/>
                    </p:nvPicPr>
                    <p:blipFill>
                      <a:blip r:embed="rId11"/>
                      <a:stretch>
                        <a:fillRect/>
                      </a:stretch>
                    </p:blipFill>
                    <p:spPr>
                      <a:xfrm>
                        <a:off x="2805113" y="5237225"/>
                        <a:ext cx="1304925" cy="358775"/>
                      </a:xfrm>
                      <a:prstGeom prst="rect">
                        <a:avLst/>
                      </a:prstGeom>
                      <a:solidFill>
                        <a:schemeClr val="bg1"/>
                      </a:solidFill>
                    </p:spPr>
                  </p:pic>
                </p:oleObj>
              </mc:Fallback>
            </mc:AlternateContent>
          </a:graphicData>
        </a:graphic>
      </p:graphicFrame>
      <p:graphicFrame>
        <p:nvGraphicFramePr>
          <p:cNvPr id="24" name="Object 23">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26089864"/>
              </p:ext>
            </p:extLst>
          </p:nvPr>
        </p:nvGraphicFramePr>
        <p:xfrm>
          <a:off x="880199" y="5801728"/>
          <a:ext cx="1003300" cy="358775"/>
        </p:xfrm>
        <a:graphic>
          <a:graphicData uri="http://schemas.openxmlformats.org/presentationml/2006/ole">
            <mc:AlternateContent xmlns:mc="http://schemas.openxmlformats.org/markup-compatibility/2006">
              <mc:Choice xmlns:v="urn:schemas-microsoft-com:vml" Requires="v">
                <p:oleObj name="Equation" r:id="rId12" imgW="1104840" imgH="393480" progId="Equation.DSMT4">
                  <p:embed/>
                </p:oleObj>
              </mc:Choice>
              <mc:Fallback>
                <p:oleObj name="Equation" r:id="rId12" imgW="1104840" imgH="393480" progId="Equation.DSMT4">
                  <p:embed/>
                  <p:pic>
                    <p:nvPicPr>
                      <p:cNvPr id="24" name="Object 23">
                        <a:extLst>
                          <a:ext uri="{C183D7F6-B498-43B3-948B-1728B52AA6E4}">
                            <adec:decorative xmlns:adec="http://schemas.microsoft.com/office/drawing/2017/decorative" val="1"/>
                          </a:ext>
                        </a:extLst>
                      </p:cNvPr>
                      <p:cNvPicPr/>
                      <p:nvPr/>
                    </p:nvPicPr>
                    <p:blipFill>
                      <a:blip r:embed="rId13"/>
                      <a:stretch>
                        <a:fillRect/>
                      </a:stretch>
                    </p:blipFill>
                    <p:spPr>
                      <a:xfrm>
                        <a:off x="880199" y="5801728"/>
                        <a:ext cx="1003300" cy="358775"/>
                      </a:xfrm>
                      <a:prstGeom prst="rect">
                        <a:avLst/>
                      </a:prstGeom>
                      <a:solidFill>
                        <a:schemeClr val="bg1"/>
                      </a:solidFill>
                    </p:spPr>
                  </p:pic>
                </p:oleObj>
              </mc:Fallback>
            </mc:AlternateContent>
          </a:graphicData>
        </a:graphic>
      </p:graphicFrame>
      <p:graphicFrame>
        <p:nvGraphicFramePr>
          <p:cNvPr id="25" name="Object 24">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68182713"/>
              </p:ext>
            </p:extLst>
          </p:nvPr>
        </p:nvGraphicFramePr>
        <p:xfrm>
          <a:off x="2787650" y="5780913"/>
          <a:ext cx="1038225" cy="358775"/>
        </p:xfrm>
        <a:graphic>
          <a:graphicData uri="http://schemas.openxmlformats.org/presentationml/2006/ole">
            <mc:AlternateContent xmlns:mc="http://schemas.openxmlformats.org/markup-compatibility/2006">
              <mc:Choice xmlns:v="urn:schemas-microsoft-com:vml" Requires="v">
                <p:oleObj name="Equation" r:id="rId14" imgW="1143000" imgH="393480" progId="Equation.DSMT4">
                  <p:embed/>
                </p:oleObj>
              </mc:Choice>
              <mc:Fallback>
                <p:oleObj name="Equation" r:id="rId14" imgW="1143000" imgH="393480" progId="Equation.DSMT4">
                  <p:embed/>
                  <p:pic>
                    <p:nvPicPr>
                      <p:cNvPr id="25" name="Object 24">
                        <a:extLst>
                          <a:ext uri="{C183D7F6-B498-43B3-948B-1728B52AA6E4}">
                            <adec:decorative xmlns:adec="http://schemas.microsoft.com/office/drawing/2017/decorative" val="1"/>
                          </a:ext>
                        </a:extLst>
                      </p:cNvPr>
                      <p:cNvPicPr/>
                      <p:nvPr/>
                    </p:nvPicPr>
                    <p:blipFill>
                      <a:blip r:embed="rId15"/>
                      <a:stretch>
                        <a:fillRect/>
                      </a:stretch>
                    </p:blipFill>
                    <p:spPr>
                      <a:xfrm>
                        <a:off x="2787650" y="5780913"/>
                        <a:ext cx="1038225" cy="3587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586692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Means </a:t>
            </a:r>
            <a:r>
              <a:rPr lang="en-US" sz="2000" b="0" dirty="0"/>
              <a:t>(1 of 3)</a:t>
            </a:r>
          </a:p>
        </p:txBody>
      </p:sp>
      <p:sp>
        <p:nvSpPr>
          <p:cNvPr id="4" name="Content Placeholder 3"/>
          <p:cNvSpPr>
            <a:spLocks noGrp="1"/>
          </p:cNvSpPr>
          <p:nvPr>
            <p:ph sz="quarter" idx="13"/>
          </p:nvPr>
        </p:nvSpPr>
        <p:spPr>
          <a:xfrm>
            <a:off x="457201" y="1552575"/>
            <a:ext cx="1371600" cy="383103"/>
          </a:xfrm>
        </p:spPr>
        <p:txBody>
          <a:bodyPr/>
          <a:lstStyle/>
          <a:p>
            <a:pPr marL="0" indent="0">
              <a:spcBef>
                <a:spcPts val="0"/>
              </a:spcBef>
              <a:buNone/>
            </a:pPr>
            <a:r>
              <a:rPr lang="en-US" sz="2200" b="1" dirty="0">
                <a:solidFill>
                  <a:schemeClr val="tx1"/>
                </a:solidFill>
              </a:rPr>
              <a:t>Solution:</a:t>
            </a:r>
          </a:p>
        </p:txBody>
      </p:sp>
      <p:graphicFrame>
        <p:nvGraphicFramePr>
          <p:cNvPr id="18" name="Object 17" descr="sigma subscript 1 and sigma subscript 2"/>
          <p:cNvGraphicFramePr>
            <a:graphicFrameLocks noChangeAspect="1"/>
          </p:cNvGraphicFramePr>
          <p:nvPr>
            <p:extLst>
              <p:ext uri="{D42A27DB-BD31-4B8C-83A1-F6EECF244321}">
                <p14:modId xmlns:p14="http://schemas.microsoft.com/office/powerpoint/2010/main" val="2742121443"/>
              </p:ext>
            </p:extLst>
          </p:nvPr>
        </p:nvGraphicFramePr>
        <p:xfrm>
          <a:off x="457200" y="2019877"/>
          <a:ext cx="1293091" cy="392545"/>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18" name="Object 17" descr="sigma subscript 1 and sigma subscript 2"/>
                      <p:cNvPicPr/>
                      <p:nvPr/>
                    </p:nvPicPr>
                    <p:blipFill>
                      <a:blip r:embed="rId3"/>
                      <a:stretch>
                        <a:fillRect/>
                      </a:stretch>
                    </p:blipFill>
                    <p:spPr>
                      <a:xfrm>
                        <a:off x="457200" y="2019877"/>
                        <a:ext cx="1293091" cy="392545"/>
                      </a:xfrm>
                      <a:prstGeom prst="rect">
                        <a:avLst/>
                      </a:prstGeom>
                    </p:spPr>
                  </p:pic>
                </p:oleObj>
              </mc:Fallback>
            </mc:AlternateContent>
          </a:graphicData>
        </a:graphic>
      </p:graphicFrame>
      <p:sp>
        <p:nvSpPr>
          <p:cNvPr id="5" name="Content Placeholder 4"/>
          <p:cNvSpPr>
            <a:spLocks noGrp="1"/>
          </p:cNvSpPr>
          <p:nvPr>
            <p:ph sz="quarter" idx="14"/>
          </p:nvPr>
        </p:nvSpPr>
        <p:spPr>
          <a:xfrm>
            <a:off x="1864425" y="2034350"/>
            <a:ext cx="6857999" cy="389947"/>
          </a:xfrm>
        </p:spPr>
        <p:txBody>
          <a:bodyPr/>
          <a:lstStyle/>
          <a:p>
            <a:pPr marL="432" indent="0">
              <a:buNone/>
            </a:pPr>
            <a:r>
              <a:rPr lang="en-US" sz="2200" dirty="0"/>
              <a:t>are known, the samples are random and independent,</a:t>
            </a:r>
          </a:p>
        </p:txBody>
      </p:sp>
      <p:sp>
        <p:nvSpPr>
          <p:cNvPr id="6" name="Content Placeholder 5"/>
          <p:cNvSpPr>
            <a:spLocks noGrp="1"/>
          </p:cNvSpPr>
          <p:nvPr>
            <p:ph sz="quarter" idx="15"/>
          </p:nvPr>
        </p:nvSpPr>
        <p:spPr>
          <a:xfrm>
            <a:off x="457200" y="2496622"/>
            <a:ext cx="1240971" cy="377208"/>
          </a:xfrm>
        </p:spPr>
        <p:txBody>
          <a:bodyPr/>
          <a:lstStyle/>
          <a:p>
            <a:pPr marL="432" indent="0">
              <a:buNone/>
            </a:pPr>
            <a:r>
              <a:rPr lang="en-US" sz="2200"/>
              <a:t>and both</a:t>
            </a:r>
          </a:p>
        </p:txBody>
      </p:sp>
      <p:graphicFrame>
        <p:nvGraphicFramePr>
          <p:cNvPr id="19" name="Object 18" descr="n subscript 1 and n subscript 2"/>
          <p:cNvGraphicFramePr>
            <a:graphicFrameLocks noChangeAspect="1"/>
          </p:cNvGraphicFramePr>
          <p:nvPr>
            <p:extLst>
              <p:ext uri="{D42A27DB-BD31-4B8C-83A1-F6EECF244321}">
                <p14:modId xmlns:p14="http://schemas.microsoft.com/office/powerpoint/2010/main" val="2131727205"/>
              </p:ext>
            </p:extLst>
          </p:nvPr>
        </p:nvGraphicFramePr>
        <p:xfrm>
          <a:off x="1771816" y="2504375"/>
          <a:ext cx="1143000" cy="392545"/>
        </p:xfrm>
        <a:graphic>
          <a:graphicData uri="http://schemas.openxmlformats.org/presentationml/2006/ole">
            <mc:AlternateContent xmlns:mc="http://schemas.openxmlformats.org/markup-compatibility/2006">
              <mc:Choice xmlns:v="urn:schemas-microsoft-com:vml" Requires="v">
                <p:oleObj name="Equation" r:id="rId4" imgW="1257120" imgH="431640" progId="Equation.DSMT4">
                  <p:embed/>
                </p:oleObj>
              </mc:Choice>
              <mc:Fallback>
                <p:oleObj name="Equation" r:id="rId4" imgW="1257120" imgH="431640" progId="Equation.DSMT4">
                  <p:embed/>
                  <p:pic>
                    <p:nvPicPr>
                      <p:cNvPr id="19" name="Object 18" descr="n subscript 1 and n subscript 2"/>
                      <p:cNvPicPr/>
                      <p:nvPr/>
                    </p:nvPicPr>
                    <p:blipFill>
                      <a:blip r:embed="rId5"/>
                      <a:stretch>
                        <a:fillRect/>
                      </a:stretch>
                    </p:blipFill>
                    <p:spPr>
                      <a:xfrm>
                        <a:off x="1771816" y="2504375"/>
                        <a:ext cx="1143000" cy="392545"/>
                      </a:xfrm>
                      <a:prstGeom prst="rect">
                        <a:avLst/>
                      </a:prstGeom>
                    </p:spPr>
                  </p:pic>
                </p:oleObj>
              </mc:Fallback>
            </mc:AlternateContent>
          </a:graphicData>
        </a:graphic>
      </p:graphicFrame>
      <p:sp>
        <p:nvSpPr>
          <p:cNvPr id="7" name="Content Placeholder 6"/>
          <p:cNvSpPr>
            <a:spLocks noGrp="1"/>
          </p:cNvSpPr>
          <p:nvPr>
            <p:ph sz="quarter" idx="16"/>
          </p:nvPr>
        </p:nvSpPr>
        <p:spPr>
          <a:xfrm>
            <a:off x="2988461" y="2496623"/>
            <a:ext cx="5419270" cy="400297"/>
          </a:xfrm>
        </p:spPr>
        <p:txBody>
          <a:bodyPr/>
          <a:lstStyle/>
          <a:p>
            <a:pPr marL="432" indent="0">
              <a:buNone/>
            </a:pPr>
            <a:r>
              <a:rPr lang="en-US" sz="2200" dirty="0"/>
              <a:t>are at least 30. So, you can use the </a:t>
            </a:r>
            <a:r>
              <a:rPr lang="en-US" sz="2200" i="1" dirty="0"/>
              <a:t>z</a:t>
            </a:r>
            <a:r>
              <a:rPr lang="en-US" sz="2200" dirty="0"/>
              <a:t>-test.</a:t>
            </a:r>
          </a:p>
        </p:txBody>
      </p:sp>
      <p:sp>
        <p:nvSpPr>
          <p:cNvPr id="8" name="Content Placeholder 7"/>
          <p:cNvSpPr>
            <a:spLocks noGrp="1"/>
          </p:cNvSpPr>
          <p:nvPr>
            <p:ph sz="quarter" idx="17"/>
          </p:nvPr>
        </p:nvSpPr>
        <p:spPr>
          <a:xfrm>
            <a:off x="457200" y="2969244"/>
            <a:ext cx="8081158" cy="1072561"/>
          </a:xfrm>
        </p:spPr>
        <p:txBody>
          <a:bodyPr/>
          <a:lstStyle/>
          <a:p>
            <a:pPr marL="432" indent="0">
              <a:buNone/>
            </a:pPr>
            <a:r>
              <a:rPr lang="en-US" sz="2200" dirty="0"/>
              <a:t>The claim is “there is a difference in the mean credit card debts of people in Oklahoma and North Carolina.” So, the null and alternative hypotheses are</a:t>
            </a:r>
          </a:p>
        </p:txBody>
      </p:sp>
      <p:graphicFrame>
        <p:nvGraphicFramePr>
          <p:cNvPr id="20" name="Object 19" descr="H sub-zero: mu subscript 1 equals mu subscript 2 and H sub-a: mu subscript 1 not equals to mu subscript 2 (Claim)"/>
          <p:cNvGraphicFramePr>
            <a:graphicFrameLocks noChangeAspect="1"/>
          </p:cNvGraphicFramePr>
          <p:nvPr>
            <p:extLst>
              <p:ext uri="{D42A27DB-BD31-4B8C-83A1-F6EECF244321}">
                <p14:modId xmlns:p14="http://schemas.microsoft.com/office/powerpoint/2010/main" val="2093829092"/>
              </p:ext>
            </p:extLst>
          </p:nvPr>
        </p:nvGraphicFramePr>
        <p:xfrm>
          <a:off x="2279072" y="4161630"/>
          <a:ext cx="4687455" cy="357909"/>
        </p:xfrm>
        <a:graphic>
          <a:graphicData uri="http://schemas.openxmlformats.org/presentationml/2006/ole">
            <mc:AlternateContent xmlns:mc="http://schemas.openxmlformats.org/markup-compatibility/2006">
              <mc:Choice xmlns:v="urn:schemas-microsoft-com:vml" Requires="v">
                <p:oleObj name="Equation" r:id="rId6" imgW="5155920" imgH="393480" progId="Equation.DSMT4">
                  <p:embed/>
                </p:oleObj>
              </mc:Choice>
              <mc:Fallback>
                <p:oleObj name="Equation" r:id="rId6" imgW="5155920" imgH="393480" progId="Equation.DSMT4">
                  <p:embed/>
                  <p:pic>
                    <p:nvPicPr>
                      <p:cNvPr id="20" name="Object 19" descr="H sub-zero: mu subscript 1 equals mu subscript 2 and H sub-a: mu subscript 1 not equals to mu subscript 2 (Claim)"/>
                      <p:cNvPicPr/>
                      <p:nvPr/>
                    </p:nvPicPr>
                    <p:blipFill>
                      <a:blip r:embed="rId7"/>
                      <a:stretch>
                        <a:fillRect/>
                      </a:stretch>
                    </p:blipFill>
                    <p:spPr>
                      <a:xfrm>
                        <a:off x="2279072" y="4161630"/>
                        <a:ext cx="4687455" cy="357909"/>
                      </a:xfrm>
                      <a:prstGeom prst="rect">
                        <a:avLst/>
                      </a:prstGeom>
                    </p:spPr>
                  </p:pic>
                </p:oleObj>
              </mc:Fallback>
            </mc:AlternateContent>
          </a:graphicData>
        </a:graphic>
      </p:graphicFrame>
      <p:sp>
        <p:nvSpPr>
          <p:cNvPr id="9" name="Content Placeholder 8"/>
          <p:cNvSpPr>
            <a:spLocks noGrp="1"/>
          </p:cNvSpPr>
          <p:nvPr>
            <p:ph sz="quarter" idx="18"/>
          </p:nvPr>
        </p:nvSpPr>
        <p:spPr>
          <a:xfrm>
            <a:off x="457199" y="4781863"/>
            <a:ext cx="8354291" cy="407648"/>
          </a:xfrm>
        </p:spPr>
        <p:txBody>
          <a:bodyPr/>
          <a:lstStyle/>
          <a:p>
            <a:pPr marL="432" indent="0">
              <a:buNone/>
            </a:pPr>
            <a:r>
              <a:rPr lang="en-US" sz="2200" dirty="0"/>
              <a:t>Because the test is a two-tailed test and the level of significance is</a:t>
            </a:r>
          </a:p>
        </p:txBody>
      </p:sp>
      <p:graphicFrame>
        <p:nvGraphicFramePr>
          <p:cNvPr id="21" name="Object 20" descr="alpha equals 0.05"/>
          <p:cNvGraphicFramePr>
            <a:graphicFrameLocks noChangeAspect="1"/>
          </p:cNvGraphicFramePr>
          <p:nvPr>
            <p:extLst>
              <p:ext uri="{D42A27DB-BD31-4B8C-83A1-F6EECF244321}">
                <p14:modId xmlns:p14="http://schemas.microsoft.com/office/powerpoint/2010/main" val="2616095954"/>
              </p:ext>
            </p:extLst>
          </p:nvPr>
        </p:nvGraphicFramePr>
        <p:xfrm>
          <a:off x="463305" y="5303399"/>
          <a:ext cx="1119909" cy="311727"/>
        </p:xfrm>
        <a:graphic>
          <a:graphicData uri="http://schemas.openxmlformats.org/presentationml/2006/ole">
            <mc:AlternateContent xmlns:mc="http://schemas.openxmlformats.org/markup-compatibility/2006">
              <mc:Choice xmlns:v="urn:schemas-microsoft-com:vml" Requires="v">
                <p:oleObj name="Equation" r:id="rId8" imgW="1231560" imgH="342720" progId="Equation.DSMT4">
                  <p:embed/>
                </p:oleObj>
              </mc:Choice>
              <mc:Fallback>
                <p:oleObj name="Equation" r:id="rId8" imgW="1231560" imgH="342720" progId="Equation.DSMT4">
                  <p:embed/>
                  <p:pic>
                    <p:nvPicPr>
                      <p:cNvPr id="21" name="Object 20" descr="alpha equals 0.05"/>
                      <p:cNvPicPr/>
                      <p:nvPr/>
                    </p:nvPicPr>
                    <p:blipFill>
                      <a:blip r:embed="rId9"/>
                      <a:stretch>
                        <a:fillRect/>
                      </a:stretch>
                    </p:blipFill>
                    <p:spPr>
                      <a:xfrm>
                        <a:off x="463305" y="5303399"/>
                        <a:ext cx="1119909" cy="311727"/>
                      </a:xfrm>
                      <a:prstGeom prst="rect">
                        <a:avLst/>
                      </a:prstGeom>
                    </p:spPr>
                  </p:pic>
                </p:oleObj>
              </mc:Fallback>
            </mc:AlternateContent>
          </a:graphicData>
        </a:graphic>
      </p:graphicFrame>
      <p:sp>
        <p:nvSpPr>
          <p:cNvPr id="10" name="Content Placeholder 9"/>
          <p:cNvSpPr>
            <a:spLocks noGrp="1"/>
          </p:cNvSpPr>
          <p:nvPr>
            <p:ph sz="quarter" idx="19"/>
          </p:nvPr>
        </p:nvSpPr>
        <p:spPr>
          <a:xfrm>
            <a:off x="1698171" y="5246733"/>
            <a:ext cx="2766951" cy="382166"/>
          </a:xfrm>
        </p:spPr>
        <p:txBody>
          <a:bodyPr/>
          <a:lstStyle/>
          <a:p>
            <a:pPr marL="432" indent="0">
              <a:buNone/>
            </a:pPr>
            <a:r>
              <a:rPr lang="en-US" sz="2200" dirty="0"/>
              <a:t>the critical values are</a:t>
            </a:r>
          </a:p>
        </p:txBody>
      </p:sp>
      <p:graphicFrame>
        <p:nvGraphicFramePr>
          <p:cNvPr id="22" name="Object 21" descr="minus z subscript 0 equals minus 1.96 and z subscript 0 equals 1.96."/>
          <p:cNvGraphicFramePr>
            <a:graphicFrameLocks noChangeAspect="1"/>
          </p:cNvGraphicFramePr>
          <p:nvPr>
            <p:extLst>
              <p:ext uri="{D42A27DB-BD31-4B8C-83A1-F6EECF244321}">
                <p14:modId xmlns:p14="http://schemas.microsoft.com/office/powerpoint/2010/main" val="1429719086"/>
              </p:ext>
            </p:extLst>
          </p:nvPr>
        </p:nvGraphicFramePr>
        <p:xfrm>
          <a:off x="4530044" y="5255332"/>
          <a:ext cx="3344020" cy="378339"/>
        </p:xfrm>
        <a:graphic>
          <a:graphicData uri="http://schemas.openxmlformats.org/presentationml/2006/ole">
            <mc:AlternateContent xmlns:mc="http://schemas.openxmlformats.org/markup-compatibility/2006">
              <mc:Choice xmlns:v="urn:schemas-microsoft-com:vml" Requires="v">
                <p:oleObj name="Equation" r:id="rId10" imgW="3479760" imgH="393480" progId="Equation.DSMT4">
                  <p:embed/>
                </p:oleObj>
              </mc:Choice>
              <mc:Fallback>
                <p:oleObj name="Equation" r:id="rId10" imgW="3479760" imgH="393480" progId="Equation.DSMT4">
                  <p:embed/>
                  <p:pic>
                    <p:nvPicPr>
                      <p:cNvPr id="22" name="Object 21" descr="minus z subscript 0 equals minus 1.96 and z subscript 0 equals 1.96."/>
                      <p:cNvPicPr/>
                      <p:nvPr/>
                    </p:nvPicPr>
                    <p:blipFill>
                      <a:blip r:embed="rId11"/>
                      <a:stretch>
                        <a:fillRect/>
                      </a:stretch>
                    </p:blipFill>
                    <p:spPr>
                      <a:xfrm>
                        <a:off x="4530044" y="5255332"/>
                        <a:ext cx="3344020" cy="378339"/>
                      </a:xfrm>
                      <a:prstGeom prst="rect">
                        <a:avLst/>
                      </a:prstGeom>
                    </p:spPr>
                  </p:pic>
                </p:oleObj>
              </mc:Fallback>
            </mc:AlternateContent>
          </a:graphicData>
        </a:graphic>
      </p:graphicFrame>
      <p:sp>
        <p:nvSpPr>
          <p:cNvPr id="11" name="Content Placeholder 10"/>
          <p:cNvSpPr>
            <a:spLocks noGrp="1"/>
          </p:cNvSpPr>
          <p:nvPr>
            <p:ph sz="quarter" idx="20"/>
          </p:nvPr>
        </p:nvSpPr>
        <p:spPr>
          <a:xfrm>
            <a:off x="463305" y="5694719"/>
            <a:ext cx="3229921" cy="397317"/>
          </a:xfrm>
        </p:spPr>
        <p:txBody>
          <a:bodyPr/>
          <a:lstStyle/>
          <a:p>
            <a:pPr marL="432" indent="0">
              <a:buNone/>
            </a:pPr>
            <a:r>
              <a:rPr lang="en-US" sz="2200"/>
              <a:t>The rejection regions are</a:t>
            </a:r>
          </a:p>
        </p:txBody>
      </p:sp>
      <p:graphicFrame>
        <p:nvGraphicFramePr>
          <p:cNvPr id="23" name="Object 22" descr="z less than minus 1.96 and z greater than 1.96."/>
          <p:cNvGraphicFramePr>
            <a:graphicFrameLocks noChangeAspect="1"/>
          </p:cNvGraphicFramePr>
          <p:nvPr>
            <p:extLst>
              <p:ext uri="{D42A27DB-BD31-4B8C-83A1-F6EECF244321}">
                <p14:modId xmlns:p14="http://schemas.microsoft.com/office/powerpoint/2010/main" val="4112324075"/>
              </p:ext>
            </p:extLst>
          </p:nvPr>
        </p:nvGraphicFramePr>
        <p:xfrm>
          <a:off x="3752692" y="5719047"/>
          <a:ext cx="2929068" cy="353929"/>
        </p:xfrm>
        <a:graphic>
          <a:graphicData uri="http://schemas.openxmlformats.org/presentationml/2006/ole">
            <mc:AlternateContent xmlns:mc="http://schemas.openxmlformats.org/markup-compatibility/2006">
              <mc:Choice xmlns:v="urn:schemas-microsoft-com:vml" Requires="v">
                <p:oleObj name="Equation" r:id="rId12" imgW="3047760" imgH="368280" progId="Equation.DSMT4">
                  <p:embed/>
                </p:oleObj>
              </mc:Choice>
              <mc:Fallback>
                <p:oleObj name="Equation" r:id="rId12" imgW="3047760" imgH="368280" progId="Equation.DSMT4">
                  <p:embed/>
                  <p:pic>
                    <p:nvPicPr>
                      <p:cNvPr id="23" name="Object 22" descr="z less than minus 1.96 and z greater than 1.96."/>
                      <p:cNvPicPr/>
                      <p:nvPr/>
                    </p:nvPicPr>
                    <p:blipFill>
                      <a:blip r:embed="rId13"/>
                      <a:stretch>
                        <a:fillRect/>
                      </a:stretch>
                    </p:blipFill>
                    <p:spPr>
                      <a:xfrm>
                        <a:off x="3752692" y="5719047"/>
                        <a:ext cx="2929068" cy="353929"/>
                      </a:xfrm>
                      <a:prstGeom prst="rect">
                        <a:avLst/>
                      </a:prstGeom>
                    </p:spPr>
                  </p:pic>
                </p:oleObj>
              </mc:Fallback>
            </mc:AlternateContent>
          </a:graphicData>
        </a:graphic>
      </p:graphicFrame>
    </p:spTree>
    <p:extLst>
      <p:ext uri="{BB962C8B-B14F-4D97-AF65-F5344CB8AC3E}">
        <p14:creationId xmlns:p14="http://schemas.microsoft.com/office/powerpoint/2010/main" val="864552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Means </a:t>
            </a:r>
            <a:r>
              <a:rPr lang="en-US" sz="2000" b="0" dirty="0"/>
              <a:t>(2 of 3)</a:t>
            </a:r>
          </a:p>
        </p:txBody>
      </p:sp>
      <p:sp>
        <p:nvSpPr>
          <p:cNvPr id="4" name="Content Placeholder 3"/>
          <p:cNvSpPr>
            <a:spLocks noGrp="1"/>
          </p:cNvSpPr>
          <p:nvPr>
            <p:ph sz="quarter" idx="13"/>
          </p:nvPr>
        </p:nvSpPr>
        <p:spPr>
          <a:xfrm>
            <a:off x="457200" y="1556327"/>
            <a:ext cx="4554187" cy="438728"/>
          </a:xfrm>
        </p:spPr>
        <p:txBody>
          <a:bodyPr/>
          <a:lstStyle/>
          <a:p>
            <a:pPr marL="0" indent="0">
              <a:buNone/>
            </a:pPr>
            <a:r>
              <a:rPr lang="en-US"/>
              <a:t>The standardized test statistic is</a:t>
            </a:r>
          </a:p>
        </p:txBody>
      </p:sp>
      <p:graphicFrame>
        <p:nvGraphicFramePr>
          <p:cNvPr id="6" name="Object 5" descr="z equals fraction numerator open parenthesis x bar subscript 1 minus x bar subscript 2 close parenthesis minus open parenthesis mu subscript 1 minus mu subscript 2 close parenthesis divided by denominator square root of fraction numerator sigma squared subscript 1 divided by denominator n subscript 1 end fraction plus fraction numerator sigma squared subscript 2 divided by denominator n subscript 2 end fraction"/>
          <p:cNvGraphicFramePr>
            <a:graphicFrameLocks noChangeAspect="1"/>
          </p:cNvGraphicFramePr>
          <p:nvPr>
            <p:extLst>
              <p:ext uri="{D42A27DB-BD31-4B8C-83A1-F6EECF244321}">
                <p14:modId xmlns:p14="http://schemas.microsoft.com/office/powerpoint/2010/main" val="1457081779"/>
              </p:ext>
            </p:extLst>
          </p:nvPr>
        </p:nvGraphicFramePr>
        <p:xfrm>
          <a:off x="431800" y="2128783"/>
          <a:ext cx="3214242" cy="1498367"/>
        </p:xfrm>
        <a:graphic>
          <a:graphicData uri="http://schemas.openxmlformats.org/presentationml/2006/ole">
            <mc:AlternateContent xmlns:mc="http://schemas.openxmlformats.org/markup-compatibility/2006">
              <mc:Choice xmlns:v="urn:schemas-microsoft-com:vml" Requires="v">
                <p:oleObj name="Equation" r:id="rId2" imgW="3377880" imgH="1574640" progId="Equation.DSMT4">
                  <p:embed/>
                </p:oleObj>
              </mc:Choice>
              <mc:Fallback>
                <p:oleObj name="Equation" r:id="rId2" imgW="3377880" imgH="1574640" progId="Equation.DSMT4">
                  <p:embed/>
                  <p:pic>
                    <p:nvPicPr>
                      <p:cNvPr id="6" name="Object 5" descr="z equals fraction numerator open parenthesis x bar subscript 1 minus x bar subscript 2 close parenthesis minus open parenthesis mu subscript 1 minus mu subscript 2 close parenthesis divided by denominator square root of fraction numerator sigma squared subscript 1 divided by denominator n subscript 1 end fraction plus fraction numerator sigma squared subscript 2 divided by denominator n subscript 2 end fraction"/>
                      <p:cNvPicPr/>
                      <p:nvPr/>
                    </p:nvPicPr>
                    <p:blipFill>
                      <a:blip r:embed="rId3"/>
                      <a:stretch>
                        <a:fillRect/>
                      </a:stretch>
                    </p:blipFill>
                    <p:spPr>
                      <a:xfrm>
                        <a:off x="431800" y="2128783"/>
                        <a:ext cx="3214242" cy="1498367"/>
                      </a:xfrm>
                      <a:prstGeom prst="rect">
                        <a:avLst/>
                      </a:prstGeom>
                    </p:spPr>
                  </p:pic>
                </p:oleObj>
              </mc:Fallback>
            </mc:AlternateContent>
          </a:graphicData>
        </a:graphic>
      </p:graphicFrame>
      <p:graphicFrame>
        <p:nvGraphicFramePr>
          <p:cNvPr id="7" name="Object 6" descr="Equals start fraction left parenthesis 5271 minus 5121 right parenthesis minus 0 over square root of start expression start fraction 960 squared over 250 end fraction + start fraction 845 squared over 250 end fraction end expression end fraction."/>
          <p:cNvGraphicFramePr>
            <a:graphicFrameLocks noChangeAspect="1"/>
          </p:cNvGraphicFramePr>
          <p:nvPr>
            <p:extLst>
              <p:ext uri="{D42A27DB-BD31-4B8C-83A1-F6EECF244321}">
                <p14:modId xmlns:p14="http://schemas.microsoft.com/office/powerpoint/2010/main" val="4144541467"/>
              </p:ext>
            </p:extLst>
          </p:nvPr>
        </p:nvGraphicFramePr>
        <p:xfrm>
          <a:off x="709723" y="3798618"/>
          <a:ext cx="2658396" cy="1413783"/>
        </p:xfrm>
        <a:graphic>
          <a:graphicData uri="http://schemas.openxmlformats.org/presentationml/2006/ole">
            <mc:AlternateContent xmlns:mc="http://schemas.openxmlformats.org/markup-compatibility/2006">
              <mc:Choice xmlns:v="urn:schemas-microsoft-com:vml" Requires="v">
                <p:oleObj name="Equation" r:id="rId4" imgW="2793960" imgH="1485720" progId="Equation.DSMT4">
                  <p:embed/>
                </p:oleObj>
              </mc:Choice>
              <mc:Fallback>
                <p:oleObj name="Equation" r:id="rId4" imgW="2793960" imgH="1485720" progId="Equation.DSMT4">
                  <p:embed/>
                  <p:pic>
                    <p:nvPicPr>
                      <p:cNvPr id="7" name="Object 6" descr="Equals start fraction left parenthesis 5271 minus 5121 right parenthesis minus 0 over square root of start expression start fraction 960 squared over 250 end fraction + start fraction 845 squared over 250 end fraction end expression end fraction."/>
                      <p:cNvPicPr/>
                      <p:nvPr/>
                    </p:nvPicPr>
                    <p:blipFill>
                      <a:blip r:embed="rId5"/>
                      <a:stretch>
                        <a:fillRect/>
                      </a:stretch>
                    </p:blipFill>
                    <p:spPr>
                      <a:xfrm>
                        <a:off x="709723" y="3798618"/>
                        <a:ext cx="2658396" cy="1413783"/>
                      </a:xfrm>
                      <a:prstGeom prst="rect">
                        <a:avLst/>
                      </a:prstGeom>
                    </p:spPr>
                  </p:pic>
                </p:oleObj>
              </mc:Fallback>
            </mc:AlternateContent>
          </a:graphicData>
        </a:graphic>
      </p:graphicFrame>
      <p:sp>
        <p:nvSpPr>
          <p:cNvPr id="5" name="Content Placeholder 4"/>
          <p:cNvSpPr>
            <a:spLocks noGrp="1"/>
          </p:cNvSpPr>
          <p:nvPr>
            <p:ph sz="quarter" idx="14"/>
          </p:nvPr>
        </p:nvSpPr>
        <p:spPr>
          <a:xfrm>
            <a:off x="3788231" y="4087728"/>
            <a:ext cx="1246909" cy="451263"/>
          </a:xfrm>
        </p:spPr>
        <p:txBody>
          <a:bodyPr/>
          <a:lstStyle/>
          <a:p>
            <a:pPr marL="432" indent="0">
              <a:buNone/>
            </a:pPr>
            <a:r>
              <a:rPr lang="en-US" dirty="0">
                <a:solidFill>
                  <a:schemeClr val="tx1"/>
                </a:solidFill>
              </a:rPr>
              <a:t>Assume</a:t>
            </a:r>
          </a:p>
        </p:txBody>
      </p:sp>
      <p:graphicFrame>
        <p:nvGraphicFramePr>
          <p:cNvPr id="8" name="Object 7" descr="mu subscript 1 equals mu subscript 2, so mu subscript 1 minus mu subscript 2 equals 0."/>
          <p:cNvGraphicFramePr>
            <a:graphicFrameLocks noChangeAspect="1"/>
          </p:cNvGraphicFramePr>
          <p:nvPr>
            <p:extLst>
              <p:ext uri="{D42A27DB-BD31-4B8C-83A1-F6EECF244321}">
                <p14:modId xmlns:p14="http://schemas.microsoft.com/office/powerpoint/2010/main" val="3265581122"/>
              </p:ext>
            </p:extLst>
          </p:nvPr>
        </p:nvGraphicFramePr>
        <p:xfrm>
          <a:off x="5106390" y="4073709"/>
          <a:ext cx="3276600" cy="431800"/>
        </p:xfrm>
        <a:graphic>
          <a:graphicData uri="http://schemas.openxmlformats.org/presentationml/2006/ole">
            <mc:AlternateContent xmlns:mc="http://schemas.openxmlformats.org/markup-compatibility/2006">
              <mc:Choice xmlns:v="urn:schemas-microsoft-com:vml" Requires="v">
                <p:oleObj name="Equation" r:id="rId6" imgW="3276360" imgH="431640" progId="Equation.DSMT4">
                  <p:embed/>
                </p:oleObj>
              </mc:Choice>
              <mc:Fallback>
                <p:oleObj name="Equation" r:id="rId6" imgW="3276360" imgH="431640" progId="Equation.DSMT4">
                  <p:embed/>
                  <p:pic>
                    <p:nvPicPr>
                      <p:cNvPr id="8" name="Object 7" descr="mu subscript 1 equals mu subscript 2, so mu subscript 1 minus mu subscript 2 equals 0."/>
                      <p:cNvPicPr/>
                      <p:nvPr/>
                    </p:nvPicPr>
                    <p:blipFill>
                      <a:blip r:embed="rId7"/>
                      <a:stretch>
                        <a:fillRect/>
                      </a:stretch>
                    </p:blipFill>
                    <p:spPr>
                      <a:xfrm>
                        <a:off x="5106390" y="4073709"/>
                        <a:ext cx="3276600" cy="431800"/>
                      </a:xfrm>
                      <a:prstGeom prst="rect">
                        <a:avLst/>
                      </a:prstGeom>
                    </p:spPr>
                  </p:pic>
                </p:oleObj>
              </mc:Fallback>
            </mc:AlternateContent>
          </a:graphicData>
        </a:graphic>
      </p:graphicFrame>
      <p:graphicFrame>
        <p:nvGraphicFramePr>
          <p:cNvPr id="9" name="Object 8" descr="approximately equals to 1.85"/>
          <p:cNvGraphicFramePr>
            <a:graphicFrameLocks noChangeAspect="1"/>
          </p:cNvGraphicFramePr>
          <p:nvPr>
            <p:extLst>
              <p:ext uri="{D42A27DB-BD31-4B8C-83A1-F6EECF244321}">
                <p14:modId xmlns:p14="http://schemas.microsoft.com/office/powerpoint/2010/main" val="340865691"/>
              </p:ext>
            </p:extLst>
          </p:nvPr>
        </p:nvGraphicFramePr>
        <p:xfrm>
          <a:off x="709723" y="5493873"/>
          <a:ext cx="918355" cy="302090"/>
        </p:xfrm>
        <a:graphic>
          <a:graphicData uri="http://schemas.openxmlformats.org/presentationml/2006/ole">
            <mc:AlternateContent xmlns:mc="http://schemas.openxmlformats.org/markup-compatibility/2006">
              <mc:Choice xmlns:v="urn:schemas-microsoft-com:vml" Requires="v">
                <p:oleObj name="Equation" r:id="rId8" imgW="965160" imgH="317160" progId="Equation.DSMT4">
                  <p:embed/>
                </p:oleObj>
              </mc:Choice>
              <mc:Fallback>
                <p:oleObj name="Equation" r:id="rId8" imgW="965160" imgH="317160" progId="Equation.DSMT4">
                  <p:embed/>
                  <p:pic>
                    <p:nvPicPr>
                      <p:cNvPr id="9" name="Object 8" descr="approximately equals to 1.85"/>
                      <p:cNvPicPr/>
                      <p:nvPr/>
                    </p:nvPicPr>
                    <p:blipFill>
                      <a:blip r:embed="rId9"/>
                      <a:stretch>
                        <a:fillRect/>
                      </a:stretch>
                    </p:blipFill>
                    <p:spPr>
                      <a:xfrm>
                        <a:off x="709723" y="5493873"/>
                        <a:ext cx="918355" cy="302090"/>
                      </a:xfrm>
                      <a:prstGeom prst="rect">
                        <a:avLst/>
                      </a:prstGeom>
                    </p:spPr>
                  </p:pic>
                </p:oleObj>
              </mc:Fallback>
            </mc:AlternateContent>
          </a:graphicData>
        </a:graphic>
      </p:graphicFrame>
    </p:spTree>
    <p:extLst>
      <p:ext uri="{BB962C8B-B14F-4D97-AF65-F5344CB8AC3E}">
        <p14:creationId xmlns:p14="http://schemas.microsoft.com/office/powerpoint/2010/main" val="3023118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Means </a:t>
            </a:r>
            <a:r>
              <a:rPr lang="en-US" sz="2000" b="0" dirty="0"/>
              <a:t>(3 of 3)</a:t>
            </a:r>
          </a:p>
        </p:txBody>
      </p:sp>
      <p:sp>
        <p:nvSpPr>
          <p:cNvPr id="4" name="Content Placeholder 3"/>
          <p:cNvSpPr>
            <a:spLocks noGrp="1"/>
          </p:cNvSpPr>
          <p:nvPr>
            <p:ph sz="quarter" idx="13"/>
          </p:nvPr>
        </p:nvSpPr>
        <p:spPr>
          <a:xfrm>
            <a:off x="457200" y="1552575"/>
            <a:ext cx="8229600" cy="1190625"/>
          </a:xfrm>
        </p:spPr>
        <p:txBody>
          <a:bodyPr/>
          <a:lstStyle/>
          <a:p>
            <a:pPr marL="0" indent="0">
              <a:buNone/>
            </a:pPr>
            <a:r>
              <a:rPr lang="en-US" dirty="0">
                <a:solidFill>
                  <a:schemeClr val="tx1"/>
                </a:solidFill>
              </a:rPr>
              <a:t>The figure shows the location of the rejection regions and the standardized test statistic </a:t>
            </a:r>
            <a:r>
              <a:rPr lang="en-US" i="1" dirty="0">
                <a:solidFill>
                  <a:schemeClr val="tx1"/>
                </a:solidFill>
              </a:rPr>
              <a:t>z</a:t>
            </a:r>
            <a:r>
              <a:rPr lang="en-US" dirty="0">
                <a:solidFill>
                  <a:schemeClr val="tx1"/>
                </a:solidFill>
              </a:rPr>
              <a:t>. Because </a:t>
            </a:r>
            <a:r>
              <a:rPr lang="en-US" i="1" dirty="0">
                <a:solidFill>
                  <a:schemeClr val="tx1"/>
                </a:solidFill>
              </a:rPr>
              <a:t>z </a:t>
            </a:r>
            <a:r>
              <a:rPr lang="en-US" dirty="0">
                <a:solidFill>
                  <a:schemeClr val="tx1"/>
                </a:solidFill>
              </a:rPr>
              <a:t>is not in the rejection region, you fail to reject the null hypothesis.</a:t>
            </a:r>
          </a:p>
        </p:txBody>
      </p:sp>
      <p:pic>
        <p:nvPicPr>
          <p:cNvPr id="18" name="Content Placeholder 17" descr="A bell curve on a horizontal line z. For long description in Notes pane, press F6."/>
          <p:cNvPicPr>
            <a:picLocks noGrp="1" noChangeAspect="1"/>
          </p:cNvPicPr>
          <p:nvPr>
            <p:ph sz="quarter" idx="14"/>
          </p:nvPr>
        </p:nvPicPr>
        <p:blipFill>
          <a:blip r:embed="rId3"/>
          <a:stretch>
            <a:fillRect/>
          </a:stretch>
        </p:blipFill>
        <p:spPr>
          <a:xfrm>
            <a:off x="457200" y="3170198"/>
            <a:ext cx="3907875" cy="2365453"/>
          </a:xfrm>
          <a:prstGeom prst="rect">
            <a:avLst/>
          </a:prstGeom>
        </p:spPr>
      </p:pic>
      <p:sp>
        <p:nvSpPr>
          <p:cNvPr id="6" name="Content Placeholder 5"/>
          <p:cNvSpPr>
            <a:spLocks noGrp="1"/>
          </p:cNvSpPr>
          <p:nvPr>
            <p:ph sz="quarter" idx="15"/>
          </p:nvPr>
        </p:nvSpPr>
        <p:spPr>
          <a:xfrm>
            <a:off x="4631376" y="2953477"/>
            <a:ext cx="3847606" cy="3091063"/>
          </a:xfrm>
        </p:spPr>
        <p:txBody>
          <a:bodyPr/>
          <a:lstStyle/>
          <a:p>
            <a:pPr marL="432" indent="0">
              <a:buNone/>
            </a:pPr>
            <a:r>
              <a:rPr lang="en-US" dirty="0">
                <a:solidFill>
                  <a:schemeClr val="tx1"/>
                </a:solidFill>
                <a:cs typeface="Times New Roman" panose="02020603050405020304" pitchFamily="18" charset="0"/>
              </a:rPr>
              <a:t>There is not enough evidence at the 5% level of significance to support the group’s claim that there is a difference in the mean credit card debts of people in Oklahoma and North Carolina.</a:t>
            </a:r>
          </a:p>
        </p:txBody>
      </p:sp>
    </p:spTree>
    <p:extLst>
      <p:ext uri="{BB962C8B-B14F-4D97-AF65-F5344CB8AC3E}">
        <p14:creationId xmlns:p14="http://schemas.microsoft.com/office/powerpoint/2010/main" val="1799078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2: Perform a Two-Sample </a:t>
            </a:r>
            <a:r>
              <a:rPr lang="en-US" sz="3400" i="1" dirty="0"/>
              <a:t>z</a:t>
            </a:r>
            <a:r>
              <a:rPr lang="en-US" sz="3400" dirty="0"/>
              <a:t>-Test</a:t>
            </a:r>
          </a:p>
        </p:txBody>
      </p:sp>
      <p:sp>
        <p:nvSpPr>
          <p:cNvPr id="4" name="Content Placeholder 3"/>
          <p:cNvSpPr>
            <a:spLocks noGrp="1"/>
          </p:cNvSpPr>
          <p:nvPr>
            <p:ph sz="quarter" idx="13"/>
          </p:nvPr>
        </p:nvSpPr>
        <p:spPr>
          <a:xfrm>
            <a:off x="457200" y="1552575"/>
            <a:ext cx="8294914" cy="1273752"/>
          </a:xfrm>
        </p:spPr>
        <p:txBody>
          <a:bodyPr/>
          <a:lstStyle/>
          <a:p>
            <a:pPr marL="432" indent="0">
              <a:buNone/>
            </a:pPr>
            <a:r>
              <a:rPr lang="en-US" altLang="en-US" sz="2000" dirty="0">
                <a:solidFill>
                  <a:schemeClr val="tx1"/>
                </a:solidFill>
              </a:rPr>
              <a:t>A rental market researcher claims that the average monthly rent for a one‑bedroom apartment in Seattle, W</a:t>
            </a:r>
            <a:r>
              <a:rPr lang="en-US" altLang="en-US" sz="100" dirty="0">
                <a:solidFill>
                  <a:schemeClr val="tx1"/>
                </a:solidFill>
              </a:rPr>
              <a:t> </a:t>
            </a:r>
            <a:r>
              <a:rPr lang="en-US" altLang="en-US" sz="2000" dirty="0">
                <a:solidFill>
                  <a:schemeClr val="tx1"/>
                </a:solidFill>
              </a:rPr>
              <a:t>A, is less than the average monthly rent for a one-bedroom apartment in Washington, D</a:t>
            </a:r>
            <a:r>
              <a:rPr lang="en-US" altLang="en-US" sz="100" dirty="0">
                <a:solidFill>
                  <a:schemeClr val="tx1"/>
                </a:solidFill>
              </a:rPr>
              <a:t> </a:t>
            </a:r>
            <a:r>
              <a:rPr lang="en-US" altLang="en-US" sz="2000" dirty="0">
                <a:solidFill>
                  <a:schemeClr val="tx1"/>
                </a:solidFill>
              </a:rPr>
              <a:t>C. The table at the left shows the results of a random survey of people who rent apartments</a:t>
            </a:r>
            <a:endParaRPr lang="en-US" sz="2000" dirty="0">
              <a:solidFill>
                <a:schemeClr val="tx1"/>
              </a:solidFill>
            </a:endParaRPr>
          </a:p>
        </p:txBody>
      </p:sp>
      <p:sp>
        <p:nvSpPr>
          <p:cNvPr id="5" name="Content Placeholder 4"/>
          <p:cNvSpPr>
            <a:spLocks noGrp="1"/>
          </p:cNvSpPr>
          <p:nvPr>
            <p:ph sz="quarter" idx="14"/>
          </p:nvPr>
        </p:nvSpPr>
        <p:spPr>
          <a:xfrm>
            <a:off x="457201" y="2893375"/>
            <a:ext cx="6893626" cy="360466"/>
          </a:xfrm>
        </p:spPr>
        <p:txBody>
          <a:bodyPr/>
          <a:lstStyle/>
          <a:p>
            <a:pPr marL="432" indent="0">
              <a:buNone/>
            </a:pPr>
            <a:r>
              <a:rPr lang="en-US" altLang="en-US" sz="2000">
                <a:solidFill>
                  <a:schemeClr val="tx1"/>
                </a:solidFill>
              </a:rPr>
              <a:t>in each city. The two samples are independent. Assume that</a:t>
            </a:r>
            <a:endParaRPr lang="en-US" sz="2000">
              <a:solidFill>
                <a:schemeClr val="tx1"/>
              </a:solidFill>
            </a:endParaRPr>
          </a:p>
        </p:txBody>
      </p:sp>
      <p:graphicFrame>
        <p:nvGraphicFramePr>
          <p:cNvPr id="18" name="Object 17" descr="Sigma sub 1 = $190.">
            <a:extLst>
              <a:ext uri="{FF2B5EF4-FFF2-40B4-BE49-F238E27FC236}">
                <a16:creationId xmlns:a16="http://schemas.microsoft.com/office/drawing/2014/main" id="{F8A47609-D50F-4F63-AA1F-B16AA8A3F8C0}"/>
              </a:ext>
            </a:extLst>
          </p:cNvPr>
          <p:cNvGraphicFramePr>
            <a:graphicFrameLocks noChangeAspect="1"/>
          </p:cNvGraphicFramePr>
          <p:nvPr>
            <p:extLst>
              <p:ext uri="{D42A27DB-BD31-4B8C-83A1-F6EECF244321}">
                <p14:modId xmlns:p14="http://schemas.microsoft.com/office/powerpoint/2010/main" val="797513669"/>
              </p:ext>
            </p:extLst>
          </p:nvPr>
        </p:nvGraphicFramePr>
        <p:xfrm>
          <a:off x="7404038" y="2890838"/>
          <a:ext cx="1085850" cy="346075"/>
        </p:xfrm>
        <a:graphic>
          <a:graphicData uri="http://schemas.openxmlformats.org/presentationml/2006/ole">
            <mc:AlternateContent xmlns:mc="http://schemas.openxmlformats.org/markup-compatibility/2006">
              <mc:Choice xmlns:v="urn:schemas-microsoft-com:vml" Requires="v">
                <p:oleObj name="Equation" r:id="rId2" imgW="1193760" imgH="380880" progId="Equation.DSMT4">
                  <p:embed/>
                </p:oleObj>
              </mc:Choice>
              <mc:Fallback>
                <p:oleObj name="Equation" r:id="rId2" imgW="1193760" imgH="380880" progId="Equation.DSMT4">
                  <p:embed/>
                  <p:pic>
                    <p:nvPicPr>
                      <p:cNvPr id="18" name="Object 17" descr="Sigma sub 1 = $190.">
                        <a:extLst>
                          <a:ext uri="{FF2B5EF4-FFF2-40B4-BE49-F238E27FC236}">
                            <a16:creationId xmlns:a16="http://schemas.microsoft.com/office/drawing/2014/main" id="{F8A47609-D50F-4F63-AA1F-B16AA8A3F8C0}"/>
                          </a:ext>
                        </a:extLst>
                      </p:cNvPr>
                      <p:cNvPicPr/>
                      <p:nvPr/>
                    </p:nvPicPr>
                    <p:blipFill>
                      <a:blip r:embed="rId3"/>
                      <a:stretch>
                        <a:fillRect/>
                      </a:stretch>
                    </p:blipFill>
                    <p:spPr>
                      <a:xfrm>
                        <a:off x="7404038" y="2890838"/>
                        <a:ext cx="1085850" cy="346075"/>
                      </a:xfrm>
                      <a:prstGeom prst="rect">
                        <a:avLst/>
                      </a:prstGeom>
                    </p:spPr>
                  </p:pic>
                </p:oleObj>
              </mc:Fallback>
            </mc:AlternateContent>
          </a:graphicData>
        </a:graphic>
      </p:graphicFrame>
      <p:sp>
        <p:nvSpPr>
          <p:cNvPr id="6" name="Content Placeholder 5"/>
          <p:cNvSpPr>
            <a:spLocks noGrp="1"/>
          </p:cNvSpPr>
          <p:nvPr>
            <p:ph sz="quarter" idx="15"/>
          </p:nvPr>
        </p:nvSpPr>
        <p:spPr>
          <a:xfrm>
            <a:off x="457200" y="3320887"/>
            <a:ext cx="1775361" cy="348587"/>
          </a:xfrm>
        </p:spPr>
        <p:txBody>
          <a:bodyPr/>
          <a:lstStyle/>
          <a:p>
            <a:pPr marL="432" indent="0">
              <a:buNone/>
            </a:pPr>
            <a:r>
              <a:rPr lang="en-US" altLang="en-US" sz="2000"/>
              <a:t>for Seattle and</a:t>
            </a:r>
            <a:endParaRPr lang="en-US" sz="2000"/>
          </a:p>
        </p:txBody>
      </p:sp>
      <p:graphicFrame>
        <p:nvGraphicFramePr>
          <p:cNvPr id="19" name="Object 18" descr="Sigma sub 2 = $210.">
            <a:extLst>
              <a:ext uri="{FF2B5EF4-FFF2-40B4-BE49-F238E27FC236}">
                <a16:creationId xmlns:a16="http://schemas.microsoft.com/office/drawing/2014/main" id="{F8A47609-D50F-4F63-AA1F-B16AA8A3F8C0}"/>
              </a:ext>
            </a:extLst>
          </p:cNvPr>
          <p:cNvGraphicFramePr>
            <a:graphicFrameLocks noChangeAspect="1"/>
          </p:cNvGraphicFramePr>
          <p:nvPr>
            <p:extLst>
              <p:ext uri="{D42A27DB-BD31-4B8C-83A1-F6EECF244321}">
                <p14:modId xmlns:p14="http://schemas.microsoft.com/office/powerpoint/2010/main" val="301569026"/>
              </p:ext>
            </p:extLst>
          </p:nvPr>
        </p:nvGraphicFramePr>
        <p:xfrm>
          <a:off x="2345418" y="3323399"/>
          <a:ext cx="1154113" cy="346075"/>
        </p:xfrm>
        <a:graphic>
          <a:graphicData uri="http://schemas.openxmlformats.org/presentationml/2006/ole">
            <mc:AlternateContent xmlns:mc="http://schemas.openxmlformats.org/markup-compatibility/2006">
              <mc:Choice xmlns:v="urn:schemas-microsoft-com:vml" Requires="v">
                <p:oleObj name="Equation" r:id="rId4" imgW="1269720" imgH="380880" progId="Equation.DSMT4">
                  <p:embed/>
                </p:oleObj>
              </mc:Choice>
              <mc:Fallback>
                <p:oleObj name="Equation" r:id="rId4" imgW="1269720" imgH="380880" progId="Equation.DSMT4">
                  <p:embed/>
                  <p:pic>
                    <p:nvPicPr>
                      <p:cNvPr id="19" name="Object 18" descr="Sigma sub 2 = $210.">
                        <a:extLst>
                          <a:ext uri="{FF2B5EF4-FFF2-40B4-BE49-F238E27FC236}">
                            <a16:creationId xmlns:a16="http://schemas.microsoft.com/office/drawing/2014/main" id="{F8A47609-D50F-4F63-AA1F-B16AA8A3F8C0}"/>
                          </a:ext>
                        </a:extLst>
                      </p:cNvPr>
                      <p:cNvPicPr/>
                      <p:nvPr/>
                    </p:nvPicPr>
                    <p:blipFill>
                      <a:blip r:embed="rId5"/>
                      <a:stretch>
                        <a:fillRect/>
                      </a:stretch>
                    </p:blipFill>
                    <p:spPr>
                      <a:xfrm>
                        <a:off x="2345418" y="3323399"/>
                        <a:ext cx="1154113" cy="346075"/>
                      </a:xfrm>
                      <a:prstGeom prst="rect">
                        <a:avLst/>
                      </a:prstGeom>
                    </p:spPr>
                  </p:pic>
                </p:oleObj>
              </mc:Fallback>
            </mc:AlternateContent>
          </a:graphicData>
        </a:graphic>
      </p:graphicFrame>
      <p:sp>
        <p:nvSpPr>
          <p:cNvPr id="7" name="Content Placeholder 6"/>
          <p:cNvSpPr>
            <a:spLocks noGrp="1"/>
          </p:cNvSpPr>
          <p:nvPr>
            <p:ph sz="quarter" idx="16"/>
          </p:nvPr>
        </p:nvSpPr>
        <p:spPr>
          <a:xfrm>
            <a:off x="3612388" y="3323399"/>
            <a:ext cx="5246604" cy="346075"/>
          </a:xfrm>
        </p:spPr>
        <p:txBody>
          <a:bodyPr/>
          <a:lstStyle/>
          <a:p>
            <a:pPr marL="432" indent="0">
              <a:buNone/>
            </a:pPr>
            <a:r>
              <a:rPr lang="en-US" altLang="en-US" sz="2000"/>
              <a:t>for Washington, and that both populations are</a:t>
            </a:r>
            <a:endParaRPr lang="en-US" sz="2000"/>
          </a:p>
        </p:txBody>
      </p:sp>
      <p:sp>
        <p:nvSpPr>
          <p:cNvPr id="8" name="Content Placeholder 7"/>
          <p:cNvSpPr>
            <a:spLocks noGrp="1"/>
          </p:cNvSpPr>
          <p:nvPr>
            <p:ph sz="quarter" idx="17"/>
          </p:nvPr>
        </p:nvSpPr>
        <p:spPr>
          <a:xfrm>
            <a:off x="457201" y="3736521"/>
            <a:ext cx="2713512" cy="372341"/>
          </a:xfrm>
        </p:spPr>
        <p:txBody>
          <a:bodyPr/>
          <a:lstStyle/>
          <a:p>
            <a:pPr marL="432" indent="0">
              <a:buNone/>
            </a:pPr>
            <a:r>
              <a:rPr lang="en-US" altLang="en-US" sz="2000"/>
              <a:t>normally distributed. At</a:t>
            </a:r>
            <a:endParaRPr lang="en-US" sz="2000"/>
          </a:p>
        </p:txBody>
      </p:sp>
      <p:graphicFrame>
        <p:nvGraphicFramePr>
          <p:cNvPr id="20" name="Object 19" descr="alpha equals 0.01">
            <a:extLst>
              <a:ext uri="{FF2B5EF4-FFF2-40B4-BE49-F238E27FC236}">
                <a16:creationId xmlns:a16="http://schemas.microsoft.com/office/drawing/2014/main" id="{7A023C92-AC96-4201-A8E8-57DB2012B0F1}"/>
              </a:ext>
            </a:extLst>
          </p:cNvPr>
          <p:cNvGraphicFramePr>
            <a:graphicFrameLocks noChangeAspect="1"/>
          </p:cNvGraphicFramePr>
          <p:nvPr>
            <p:extLst>
              <p:ext uri="{D42A27DB-BD31-4B8C-83A1-F6EECF244321}">
                <p14:modId xmlns:p14="http://schemas.microsoft.com/office/powerpoint/2010/main" val="65995822"/>
              </p:ext>
            </p:extLst>
          </p:nvPr>
        </p:nvGraphicFramePr>
        <p:xfrm>
          <a:off x="3236825" y="3761287"/>
          <a:ext cx="1037820" cy="303184"/>
        </p:xfrm>
        <a:graphic>
          <a:graphicData uri="http://schemas.openxmlformats.org/presentationml/2006/ole">
            <mc:AlternateContent xmlns:mc="http://schemas.openxmlformats.org/markup-compatibility/2006">
              <mc:Choice xmlns:v="urn:schemas-microsoft-com:vml" Requires="v">
                <p:oleObj name="Equation" r:id="rId6" imgW="1130040" imgH="330120" progId="Equation.DSMT4">
                  <p:embed/>
                </p:oleObj>
              </mc:Choice>
              <mc:Fallback>
                <p:oleObj name="Equation" r:id="rId6" imgW="1130040" imgH="330120" progId="Equation.DSMT4">
                  <p:embed/>
                  <p:pic>
                    <p:nvPicPr>
                      <p:cNvPr id="20" name="Object 19" descr="alpha equals 0.01">
                        <a:extLst>
                          <a:ext uri="{FF2B5EF4-FFF2-40B4-BE49-F238E27FC236}">
                            <a16:creationId xmlns:a16="http://schemas.microsoft.com/office/drawing/2014/main" id="{7A023C92-AC96-4201-A8E8-57DB2012B0F1}"/>
                          </a:ext>
                        </a:extLst>
                      </p:cNvPr>
                      <p:cNvPicPr/>
                      <p:nvPr/>
                    </p:nvPicPr>
                    <p:blipFill>
                      <a:blip r:embed="rId7"/>
                      <a:stretch>
                        <a:fillRect/>
                      </a:stretch>
                    </p:blipFill>
                    <p:spPr>
                      <a:xfrm>
                        <a:off x="3236825" y="3761287"/>
                        <a:ext cx="1037820" cy="303184"/>
                      </a:xfrm>
                      <a:prstGeom prst="rect">
                        <a:avLst/>
                      </a:prstGeom>
                    </p:spPr>
                  </p:pic>
                </p:oleObj>
              </mc:Fallback>
            </mc:AlternateContent>
          </a:graphicData>
        </a:graphic>
      </p:graphicFrame>
      <p:sp>
        <p:nvSpPr>
          <p:cNvPr id="9" name="Content Placeholder 8"/>
          <p:cNvSpPr>
            <a:spLocks noGrp="1"/>
          </p:cNvSpPr>
          <p:nvPr>
            <p:ph sz="quarter" idx="18"/>
          </p:nvPr>
        </p:nvSpPr>
        <p:spPr>
          <a:xfrm>
            <a:off x="4340757" y="3733985"/>
            <a:ext cx="4245104" cy="374877"/>
          </a:xfrm>
        </p:spPr>
        <p:txBody>
          <a:bodyPr/>
          <a:lstStyle/>
          <a:p>
            <a:pPr marL="432" indent="0">
              <a:buNone/>
            </a:pPr>
            <a:r>
              <a:rPr lang="en-US" altLang="en-US" sz="2000"/>
              <a:t>is there enough evidence to support</a:t>
            </a:r>
            <a:endParaRPr lang="en-US" sz="2000"/>
          </a:p>
        </p:txBody>
      </p:sp>
      <p:sp>
        <p:nvSpPr>
          <p:cNvPr id="10" name="Content Placeholder 9"/>
          <p:cNvSpPr>
            <a:spLocks noGrp="1"/>
          </p:cNvSpPr>
          <p:nvPr>
            <p:ph sz="quarter" idx="19"/>
          </p:nvPr>
        </p:nvSpPr>
        <p:spPr>
          <a:xfrm>
            <a:off x="457200" y="4175905"/>
            <a:ext cx="5967351" cy="384220"/>
          </a:xfrm>
        </p:spPr>
        <p:txBody>
          <a:bodyPr/>
          <a:lstStyle/>
          <a:p>
            <a:pPr marL="432" indent="0">
              <a:buNone/>
            </a:pPr>
            <a:r>
              <a:rPr lang="en-US" altLang="en-US" sz="2000"/>
              <a:t>the claim? (Adapted from RentPath Holdings, Inc.)</a:t>
            </a:r>
          </a:p>
        </p:txBody>
      </p:sp>
      <p:graphicFrame>
        <p:nvGraphicFramePr>
          <p:cNvPr id="21" name="Content Placeholder 20"/>
          <p:cNvGraphicFramePr>
            <a:graphicFrameLocks noGrp="1"/>
          </p:cNvGraphicFramePr>
          <p:nvPr>
            <p:ph sz="quarter" idx="20"/>
            <p:extLst>
              <p:ext uri="{D42A27DB-BD31-4B8C-83A1-F6EECF244321}">
                <p14:modId xmlns:p14="http://schemas.microsoft.com/office/powerpoint/2010/main" val="177960713"/>
              </p:ext>
            </p:extLst>
          </p:nvPr>
        </p:nvGraphicFramePr>
        <p:xfrm>
          <a:off x="457200" y="4673262"/>
          <a:ext cx="4352306" cy="1671975"/>
        </p:xfrm>
        <a:graphic>
          <a:graphicData uri="http://schemas.openxmlformats.org/drawingml/2006/table">
            <a:tbl>
              <a:tblPr firstRow="1" bandRow="1">
                <a:tableStyleId>{2D5ABB26-0587-4C30-8999-92F81FD0307C}</a:tableStyleId>
              </a:tblPr>
              <a:tblGrid>
                <a:gridCol w="2176153">
                  <a:extLst>
                    <a:ext uri="{9D8B030D-6E8A-4147-A177-3AD203B41FA5}">
                      <a16:colId xmlns:a16="http://schemas.microsoft.com/office/drawing/2014/main" val="455769694"/>
                    </a:ext>
                  </a:extLst>
                </a:gridCol>
                <a:gridCol w="2176153">
                  <a:extLst>
                    <a:ext uri="{9D8B030D-6E8A-4147-A177-3AD203B41FA5}">
                      <a16:colId xmlns:a16="http://schemas.microsoft.com/office/drawing/2014/main" val="2055102436"/>
                    </a:ext>
                  </a:extLst>
                </a:gridCol>
              </a:tblGrid>
              <a:tr h="557325">
                <a:tc>
                  <a:txBody>
                    <a:bodyPr/>
                    <a:lstStyle/>
                    <a:p>
                      <a:pPr algn="ctr"/>
                      <a:r>
                        <a:rPr lang="en-US" sz="2000" b="1" noProof="0" dirty="0"/>
                        <a:t>Seattle, W</a:t>
                      </a:r>
                      <a:r>
                        <a:rPr lang="en-US" sz="100" b="1" noProof="0" dirty="0"/>
                        <a:t> </a:t>
                      </a:r>
                      <a:r>
                        <a:rPr lang="en-US" sz="2000" b="1" noProof="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noProof="0" dirty="0"/>
                        <a:t>Washington, D</a:t>
                      </a:r>
                      <a:r>
                        <a:rPr lang="en-US" sz="100" b="1" noProof="0" dirty="0"/>
                        <a:t> </a:t>
                      </a:r>
                      <a:r>
                        <a:rPr lang="en-US" sz="2000" b="1" noProof="0" dirty="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1997535"/>
                  </a:ext>
                </a:extLst>
              </a:tr>
              <a:tr h="557325">
                <a:tc>
                  <a:txBody>
                    <a:bodyPr/>
                    <a:lstStyle/>
                    <a:p>
                      <a:pPr algn="ctr"/>
                      <a:r>
                        <a:rPr lang="en-US" sz="100" noProof="0" dirty="0"/>
                        <a:t>x sub 1 bar = $2166.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x sub 2 bar = $2181.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2659481"/>
                  </a:ext>
                </a:extLst>
              </a:tr>
              <a:tr h="557325">
                <a:tc>
                  <a:txBody>
                    <a:bodyPr/>
                    <a:lstStyle/>
                    <a:p>
                      <a:pPr algn="ctr"/>
                      <a:r>
                        <a:rPr lang="en-US" sz="100" noProof="0" dirty="0"/>
                        <a:t>n sub 1 = 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 sub 2 = 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8865831"/>
                  </a:ext>
                </a:extLst>
              </a:tr>
            </a:tbl>
          </a:graphicData>
        </a:graphic>
      </p:graphicFrame>
      <p:graphicFrame>
        <p:nvGraphicFramePr>
          <p:cNvPr id="22" name="Object 21">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56665171"/>
              </p:ext>
            </p:extLst>
          </p:nvPr>
        </p:nvGraphicFramePr>
        <p:xfrm>
          <a:off x="868363" y="5308600"/>
          <a:ext cx="1304925" cy="358775"/>
        </p:xfrm>
        <a:graphic>
          <a:graphicData uri="http://schemas.openxmlformats.org/presentationml/2006/ole">
            <mc:AlternateContent xmlns:mc="http://schemas.openxmlformats.org/markup-compatibility/2006">
              <mc:Choice xmlns:v="urn:schemas-microsoft-com:vml" Requires="v">
                <p:oleObj name="Equation" r:id="rId8" imgW="1434960" imgH="393480" progId="Equation.DSMT4">
                  <p:embed/>
                </p:oleObj>
              </mc:Choice>
              <mc:Fallback>
                <p:oleObj name="Equation" r:id="rId8" imgW="1434960" imgH="393480" progId="Equation.DSMT4">
                  <p:embed/>
                  <p:pic>
                    <p:nvPicPr>
                      <p:cNvPr id="22" name="Object 21">
                        <a:extLst>
                          <a:ext uri="{C183D7F6-B498-43B3-948B-1728B52AA6E4}">
                            <adec:decorative xmlns:adec="http://schemas.microsoft.com/office/drawing/2017/decorative" val="1"/>
                          </a:ext>
                        </a:extLst>
                      </p:cNvPr>
                      <p:cNvPicPr/>
                      <p:nvPr/>
                    </p:nvPicPr>
                    <p:blipFill>
                      <a:blip r:embed="rId9"/>
                      <a:stretch>
                        <a:fillRect/>
                      </a:stretch>
                    </p:blipFill>
                    <p:spPr>
                      <a:xfrm>
                        <a:off x="868363" y="5308600"/>
                        <a:ext cx="1304925" cy="358775"/>
                      </a:xfrm>
                      <a:prstGeom prst="rect">
                        <a:avLst/>
                      </a:prstGeom>
                      <a:solidFill>
                        <a:schemeClr val="bg1"/>
                      </a:solidFill>
                    </p:spPr>
                  </p:pic>
                </p:oleObj>
              </mc:Fallback>
            </mc:AlternateContent>
          </a:graphicData>
        </a:graphic>
      </p:graphicFrame>
      <p:graphicFrame>
        <p:nvGraphicFramePr>
          <p:cNvPr id="23" name="Object 22">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29953095"/>
              </p:ext>
            </p:extLst>
          </p:nvPr>
        </p:nvGraphicFramePr>
        <p:xfrm>
          <a:off x="2805113" y="5296600"/>
          <a:ext cx="1304925" cy="358775"/>
        </p:xfrm>
        <a:graphic>
          <a:graphicData uri="http://schemas.openxmlformats.org/presentationml/2006/ole">
            <mc:AlternateContent xmlns:mc="http://schemas.openxmlformats.org/markup-compatibility/2006">
              <mc:Choice xmlns:v="urn:schemas-microsoft-com:vml" Requires="v">
                <p:oleObj name="Equation" r:id="rId10" imgW="1434960" imgH="393480" progId="Equation.DSMT4">
                  <p:embed/>
                </p:oleObj>
              </mc:Choice>
              <mc:Fallback>
                <p:oleObj name="Equation" r:id="rId10" imgW="1434960" imgH="393480" progId="Equation.DSMT4">
                  <p:embed/>
                  <p:pic>
                    <p:nvPicPr>
                      <p:cNvPr id="23" name="Object 22">
                        <a:extLst>
                          <a:ext uri="{C183D7F6-B498-43B3-948B-1728B52AA6E4}">
                            <adec:decorative xmlns:adec="http://schemas.microsoft.com/office/drawing/2017/decorative" val="1"/>
                          </a:ext>
                        </a:extLst>
                      </p:cNvPr>
                      <p:cNvPicPr/>
                      <p:nvPr/>
                    </p:nvPicPr>
                    <p:blipFill>
                      <a:blip r:embed="rId11"/>
                      <a:stretch>
                        <a:fillRect/>
                      </a:stretch>
                    </p:blipFill>
                    <p:spPr>
                      <a:xfrm>
                        <a:off x="2805113" y="5296600"/>
                        <a:ext cx="1304925" cy="358775"/>
                      </a:xfrm>
                      <a:prstGeom prst="rect">
                        <a:avLst/>
                      </a:prstGeom>
                      <a:solidFill>
                        <a:schemeClr val="bg1"/>
                      </a:solidFill>
                    </p:spPr>
                  </p:pic>
                </p:oleObj>
              </mc:Fallback>
            </mc:AlternateContent>
          </a:graphicData>
        </a:graphic>
      </p:graphicFrame>
      <p:graphicFrame>
        <p:nvGraphicFramePr>
          <p:cNvPr id="24" name="Object 23">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597294436"/>
              </p:ext>
            </p:extLst>
          </p:nvPr>
        </p:nvGraphicFramePr>
        <p:xfrm>
          <a:off x="880199" y="5861103"/>
          <a:ext cx="1003300" cy="358775"/>
        </p:xfrm>
        <a:graphic>
          <a:graphicData uri="http://schemas.openxmlformats.org/presentationml/2006/ole">
            <mc:AlternateContent xmlns:mc="http://schemas.openxmlformats.org/markup-compatibility/2006">
              <mc:Choice xmlns:v="urn:schemas-microsoft-com:vml" Requires="v">
                <p:oleObj name="Equation" r:id="rId12" imgW="1104840" imgH="393480" progId="Equation.DSMT4">
                  <p:embed/>
                </p:oleObj>
              </mc:Choice>
              <mc:Fallback>
                <p:oleObj name="Equation" r:id="rId12" imgW="1104840" imgH="393480" progId="Equation.DSMT4">
                  <p:embed/>
                  <p:pic>
                    <p:nvPicPr>
                      <p:cNvPr id="24" name="Object 23">
                        <a:extLst>
                          <a:ext uri="{C183D7F6-B498-43B3-948B-1728B52AA6E4}">
                            <adec:decorative xmlns:adec="http://schemas.microsoft.com/office/drawing/2017/decorative" val="1"/>
                          </a:ext>
                        </a:extLst>
                      </p:cNvPr>
                      <p:cNvPicPr/>
                      <p:nvPr/>
                    </p:nvPicPr>
                    <p:blipFill>
                      <a:blip r:embed="rId13"/>
                      <a:stretch>
                        <a:fillRect/>
                      </a:stretch>
                    </p:blipFill>
                    <p:spPr>
                      <a:xfrm>
                        <a:off x="880199" y="5861103"/>
                        <a:ext cx="1003300" cy="358775"/>
                      </a:xfrm>
                      <a:prstGeom prst="rect">
                        <a:avLst/>
                      </a:prstGeom>
                      <a:solidFill>
                        <a:schemeClr val="bg1"/>
                      </a:solidFill>
                    </p:spPr>
                  </p:pic>
                </p:oleObj>
              </mc:Fallback>
            </mc:AlternateContent>
          </a:graphicData>
        </a:graphic>
      </p:graphicFrame>
      <p:graphicFrame>
        <p:nvGraphicFramePr>
          <p:cNvPr id="25" name="Object 24">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072605404"/>
              </p:ext>
            </p:extLst>
          </p:nvPr>
        </p:nvGraphicFramePr>
        <p:xfrm>
          <a:off x="2792413" y="5840413"/>
          <a:ext cx="1027112" cy="358775"/>
        </p:xfrm>
        <a:graphic>
          <a:graphicData uri="http://schemas.openxmlformats.org/presentationml/2006/ole">
            <mc:AlternateContent xmlns:mc="http://schemas.openxmlformats.org/markup-compatibility/2006">
              <mc:Choice xmlns:v="urn:schemas-microsoft-com:vml" Requires="v">
                <p:oleObj name="Equation" r:id="rId14" imgW="1130040" imgH="393480" progId="Equation.DSMT4">
                  <p:embed/>
                </p:oleObj>
              </mc:Choice>
              <mc:Fallback>
                <p:oleObj name="Equation" r:id="rId14" imgW="1130040" imgH="393480" progId="Equation.DSMT4">
                  <p:embed/>
                  <p:pic>
                    <p:nvPicPr>
                      <p:cNvPr id="25" name="Object 24">
                        <a:extLst>
                          <a:ext uri="{C183D7F6-B498-43B3-948B-1728B52AA6E4}">
                            <adec:decorative xmlns:adec="http://schemas.microsoft.com/office/drawing/2017/decorative" val="1"/>
                          </a:ext>
                        </a:extLst>
                      </p:cNvPr>
                      <p:cNvPicPr/>
                      <p:nvPr/>
                    </p:nvPicPr>
                    <p:blipFill>
                      <a:blip r:embed="rId15"/>
                      <a:stretch>
                        <a:fillRect/>
                      </a:stretch>
                    </p:blipFill>
                    <p:spPr>
                      <a:xfrm>
                        <a:off x="2792413" y="5840413"/>
                        <a:ext cx="1027112" cy="3587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020330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Using Technology to Perform a Two-Sample </a:t>
            </a:r>
            <a:r>
              <a:rPr lang="en-US" sz="3400" i="1" dirty="0"/>
              <a:t>z</a:t>
            </a:r>
            <a:r>
              <a:rPr lang="en-US" sz="3400" dirty="0"/>
              <a:t>-Test </a:t>
            </a:r>
            <a:r>
              <a:rPr lang="en-US" sz="2000" b="0" dirty="0"/>
              <a:t>(1 of 3)</a:t>
            </a:r>
          </a:p>
        </p:txBody>
      </p:sp>
      <p:sp>
        <p:nvSpPr>
          <p:cNvPr id="4" name="Content Placeholder 3"/>
          <p:cNvSpPr>
            <a:spLocks noGrp="1"/>
          </p:cNvSpPr>
          <p:nvPr>
            <p:ph sz="quarter" idx="13"/>
          </p:nvPr>
        </p:nvSpPr>
        <p:spPr>
          <a:xfrm>
            <a:off x="457200" y="1552575"/>
            <a:ext cx="1537855" cy="430604"/>
          </a:xfrm>
        </p:spPr>
        <p:txBody>
          <a:bodyPr/>
          <a:lstStyle/>
          <a:p>
            <a:pPr marL="432" indent="0">
              <a:buNone/>
            </a:pPr>
            <a:r>
              <a:rPr lang="en-US" b="1" dirty="0"/>
              <a:t>Solution:</a:t>
            </a:r>
          </a:p>
        </p:txBody>
      </p:sp>
      <p:graphicFrame>
        <p:nvGraphicFramePr>
          <p:cNvPr id="18" name="Object 17" descr="sigma subscript 1 and sigma subscript 2"/>
          <p:cNvGraphicFramePr>
            <a:graphicFrameLocks noChangeAspect="1"/>
          </p:cNvGraphicFramePr>
          <p:nvPr>
            <p:extLst>
              <p:ext uri="{D42A27DB-BD31-4B8C-83A1-F6EECF244321}">
                <p14:modId xmlns:p14="http://schemas.microsoft.com/office/powerpoint/2010/main" val="1634439254"/>
              </p:ext>
            </p:extLst>
          </p:nvPr>
        </p:nvGraphicFramePr>
        <p:xfrm>
          <a:off x="457200" y="2091127"/>
          <a:ext cx="1293091" cy="392545"/>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18" name="Object 17" descr="sigma subscript 1 and sigma subscript 2"/>
                      <p:cNvPicPr/>
                      <p:nvPr/>
                    </p:nvPicPr>
                    <p:blipFill>
                      <a:blip r:embed="rId3"/>
                      <a:stretch>
                        <a:fillRect/>
                      </a:stretch>
                    </p:blipFill>
                    <p:spPr>
                      <a:xfrm>
                        <a:off x="457200" y="2091127"/>
                        <a:ext cx="1293091" cy="392545"/>
                      </a:xfrm>
                      <a:prstGeom prst="rect">
                        <a:avLst/>
                      </a:prstGeom>
                    </p:spPr>
                  </p:pic>
                </p:oleObj>
              </mc:Fallback>
            </mc:AlternateContent>
          </a:graphicData>
        </a:graphic>
      </p:graphicFrame>
      <p:sp>
        <p:nvSpPr>
          <p:cNvPr id="5" name="Content Placeholder 4"/>
          <p:cNvSpPr>
            <a:spLocks noGrp="1"/>
          </p:cNvSpPr>
          <p:nvPr>
            <p:ph sz="quarter" idx="14"/>
          </p:nvPr>
        </p:nvSpPr>
        <p:spPr>
          <a:xfrm>
            <a:off x="1864427" y="2091127"/>
            <a:ext cx="5605152" cy="426442"/>
          </a:xfrm>
        </p:spPr>
        <p:txBody>
          <a:bodyPr/>
          <a:lstStyle/>
          <a:p>
            <a:pPr marL="432" indent="0">
              <a:buNone/>
            </a:pPr>
            <a:r>
              <a:rPr lang="en-US"/>
              <a:t>are known, the samples are random and</a:t>
            </a:r>
          </a:p>
        </p:txBody>
      </p:sp>
      <p:sp>
        <p:nvSpPr>
          <p:cNvPr id="6" name="Content Placeholder 5"/>
          <p:cNvSpPr>
            <a:spLocks noGrp="1"/>
          </p:cNvSpPr>
          <p:nvPr>
            <p:ph sz="quarter" idx="15"/>
          </p:nvPr>
        </p:nvSpPr>
        <p:spPr>
          <a:xfrm>
            <a:off x="457201" y="2578018"/>
            <a:ext cx="8116784" cy="1898981"/>
          </a:xfrm>
        </p:spPr>
        <p:txBody>
          <a:bodyPr/>
          <a:lstStyle/>
          <a:p>
            <a:pPr marL="432" indent="0">
              <a:buNone/>
            </a:pPr>
            <a:r>
              <a:rPr lang="en-US" dirty="0"/>
              <a:t>independent, and the populations are normally distributed. So, you can use the </a:t>
            </a:r>
            <a:r>
              <a:rPr lang="en-US" i="1" dirty="0"/>
              <a:t>z</a:t>
            </a:r>
            <a:r>
              <a:rPr lang="en-US" dirty="0"/>
              <a:t>-test. The claim is “the average monthly rent for a one-bedroom apartment in Seattle, W</a:t>
            </a:r>
            <a:r>
              <a:rPr lang="en-US" sz="100" dirty="0"/>
              <a:t> </a:t>
            </a:r>
            <a:r>
              <a:rPr lang="en-US" dirty="0"/>
              <a:t>A, is less than the average monthly rent for a one-bedroom apartment in Washington, D</a:t>
            </a:r>
            <a:r>
              <a:rPr lang="en-US" sz="100" dirty="0"/>
              <a:t> </a:t>
            </a:r>
            <a:r>
              <a:rPr lang="en-US" dirty="0"/>
              <a:t>C.” So, the null and alternative</a:t>
            </a:r>
          </a:p>
        </p:txBody>
      </p:sp>
      <p:sp>
        <p:nvSpPr>
          <p:cNvPr id="7" name="Content Placeholder 6"/>
          <p:cNvSpPr>
            <a:spLocks noGrp="1"/>
          </p:cNvSpPr>
          <p:nvPr>
            <p:ph sz="quarter" idx="16"/>
          </p:nvPr>
        </p:nvSpPr>
        <p:spPr>
          <a:xfrm>
            <a:off x="457200" y="4549323"/>
            <a:ext cx="2238499" cy="426440"/>
          </a:xfrm>
        </p:spPr>
        <p:txBody>
          <a:bodyPr/>
          <a:lstStyle/>
          <a:p>
            <a:pPr marL="432" indent="0">
              <a:buNone/>
            </a:pPr>
            <a:r>
              <a:rPr lang="en-US"/>
              <a:t>hypotheses are</a:t>
            </a:r>
          </a:p>
        </p:txBody>
      </p:sp>
      <p:graphicFrame>
        <p:nvGraphicFramePr>
          <p:cNvPr id="19" name="Object 18" descr="H sub-zero: mu subscript 1 greater than or equals to mu subscript 2 and H sub-a: mu subscript 1 less than mu subscript 2">
            <a:extLst>
              <a:ext uri="{FF2B5EF4-FFF2-40B4-BE49-F238E27FC236}">
                <a16:creationId xmlns:a16="http://schemas.microsoft.com/office/drawing/2014/main" id="{3D04916D-1359-45AA-97AF-E25FA5E503BD}"/>
              </a:ext>
            </a:extLst>
          </p:cNvPr>
          <p:cNvGraphicFramePr>
            <a:graphicFrameLocks noChangeAspect="1"/>
          </p:cNvGraphicFramePr>
          <p:nvPr>
            <p:extLst>
              <p:ext uri="{D42A27DB-BD31-4B8C-83A1-F6EECF244321}">
                <p14:modId xmlns:p14="http://schemas.microsoft.com/office/powerpoint/2010/main" val="731569615"/>
              </p:ext>
            </p:extLst>
          </p:nvPr>
        </p:nvGraphicFramePr>
        <p:xfrm>
          <a:off x="2778332" y="4566270"/>
          <a:ext cx="3706091" cy="392545"/>
        </p:xfrm>
        <a:graphic>
          <a:graphicData uri="http://schemas.openxmlformats.org/presentationml/2006/ole">
            <mc:AlternateContent xmlns:mc="http://schemas.openxmlformats.org/markup-compatibility/2006">
              <mc:Choice xmlns:v="urn:schemas-microsoft-com:vml" Requires="v">
                <p:oleObj name="Equation" r:id="rId4" imgW="4076640" imgH="431640" progId="Equation.DSMT4">
                  <p:embed/>
                </p:oleObj>
              </mc:Choice>
              <mc:Fallback>
                <p:oleObj name="Equation" r:id="rId4" imgW="4076640" imgH="431640" progId="Equation.DSMT4">
                  <p:embed/>
                  <p:pic>
                    <p:nvPicPr>
                      <p:cNvPr id="19" name="Object 18" descr="H sub-zero: mu subscript 1 greater than or equals to mu subscript 2 and H sub-a: mu subscript 1 less than mu subscript 2">
                        <a:extLst>
                          <a:ext uri="{FF2B5EF4-FFF2-40B4-BE49-F238E27FC236}">
                            <a16:creationId xmlns:a16="http://schemas.microsoft.com/office/drawing/2014/main" id="{3D04916D-1359-45AA-97AF-E25FA5E503BD}"/>
                          </a:ext>
                        </a:extLst>
                      </p:cNvPr>
                      <p:cNvPicPr/>
                      <p:nvPr/>
                    </p:nvPicPr>
                    <p:blipFill>
                      <a:blip r:embed="rId5"/>
                      <a:stretch>
                        <a:fillRect/>
                      </a:stretch>
                    </p:blipFill>
                    <p:spPr>
                      <a:xfrm>
                        <a:off x="2778332" y="4566270"/>
                        <a:ext cx="3706091" cy="392545"/>
                      </a:xfrm>
                      <a:prstGeom prst="rect">
                        <a:avLst/>
                      </a:prstGeom>
                    </p:spPr>
                  </p:pic>
                </p:oleObj>
              </mc:Fallback>
            </mc:AlternateContent>
          </a:graphicData>
        </a:graphic>
      </p:graphicFrame>
      <p:sp>
        <p:nvSpPr>
          <p:cNvPr id="8" name="Content Placeholder 7"/>
          <p:cNvSpPr>
            <a:spLocks noGrp="1"/>
          </p:cNvSpPr>
          <p:nvPr>
            <p:ph sz="quarter" idx="17"/>
          </p:nvPr>
        </p:nvSpPr>
        <p:spPr>
          <a:xfrm>
            <a:off x="6690881" y="4599563"/>
            <a:ext cx="1246908" cy="426440"/>
          </a:xfrm>
        </p:spPr>
        <p:txBody>
          <a:bodyPr/>
          <a:lstStyle/>
          <a:p>
            <a:pPr marL="0" indent="0">
              <a:buNone/>
            </a:pPr>
            <a:r>
              <a:rPr lang="en-US" dirty="0">
                <a:solidFill>
                  <a:schemeClr val="tx1"/>
                </a:solidFill>
              </a:rPr>
              <a:t>(claim).</a:t>
            </a:r>
          </a:p>
        </p:txBody>
      </p:sp>
    </p:spTree>
    <p:extLst>
      <p:ext uri="{BB962C8B-B14F-4D97-AF65-F5344CB8AC3E}">
        <p14:creationId xmlns:p14="http://schemas.microsoft.com/office/powerpoint/2010/main" val="4188443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Using Technology to Perform a Two-Sample </a:t>
            </a:r>
            <a:r>
              <a:rPr lang="en-US" sz="3400" i="1" dirty="0"/>
              <a:t>z</a:t>
            </a:r>
            <a:r>
              <a:rPr lang="en-US" sz="3400" dirty="0"/>
              <a:t>-Test </a:t>
            </a:r>
            <a:r>
              <a:rPr lang="en-US" sz="2000" b="0" dirty="0"/>
              <a:t>(3 of 3)</a:t>
            </a:r>
          </a:p>
        </p:txBody>
      </p:sp>
      <p:sp>
        <p:nvSpPr>
          <p:cNvPr id="4" name="Content Placeholder 3"/>
          <p:cNvSpPr>
            <a:spLocks noGrp="1"/>
          </p:cNvSpPr>
          <p:nvPr>
            <p:ph sz="quarter" idx="13"/>
          </p:nvPr>
        </p:nvSpPr>
        <p:spPr>
          <a:xfrm>
            <a:off x="457201" y="1552575"/>
            <a:ext cx="5444836" cy="418729"/>
          </a:xfrm>
        </p:spPr>
        <p:txBody>
          <a:bodyPr/>
          <a:lstStyle/>
          <a:p>
            <a:pPr marL="432" indent="0">
              <a:buNone/>
            </a:pPr>
            <a:r>
              <a:rPr lang="en-US"/>
              <a:t>Because the test is a left-tailed test and</a:t>
            </a:r>
          </a:p>
        </p:txBody>
      </p:sp>
      <p:graphicFrame>
        <p:nvGraphicFramePr>
          <p:cNvPr id="18" name="Object 17" descr="alpha equals 0.01">
            <a:extLst>
              <a:ext uri="{FF2B5EF4-FFF2-40B4-BE49-F238E27FC236}">
                <a16:creationId xmlns:a16="http://schemas.microsoft.com/office/drawing/2014/main" id="{A3A99CDC-A08F-4936-A17A-7411BD4E5BDD}"/>
              </a:ext>
            </a:extLst>
          </p:cNvPr>
          <p:cNvGraphicFramePr>
            <a:graphicFrameLocks noChangeAspect="1"/>
          </p:cNvGraphicFramePr>
          <p:nvPr>
            <p:extLst>
              <p:ext uri="{D42A27DB-BD31-4B8C-83A1-F6EECF244321}">
                <p14:modId xmlns:p14="http://schemas.microsoft.com/office/powerpoint/2010/main" val="934791174"/>
              </p:ext>
            </p:extLst>
          </p:nvPr>
        </p:nvGraphicFramePr>
        <p:xfrm>
          <a:off x="5967145" y="1589458"/>
          <a:ext cx="1225216" cy="344963"/>
        </p:xfrm>
        <a:graphic>
          <a:graphicData uri="http://schemas.openxmlformats.org/presentationml/2006/ole">
            <mc:AlternateContent xmlns:mc="http://schemas.openxmlformats.org/markup-compatibility/2006">
              <mc:Choice xmlns:v="urn:schemas-microsoft-com:vml" Requires="v">
                <p:oleObj name="Equation" r:id="rId2" imgW="1307880" imgH="368280" progId="Equation.DSMT4">
                  <p:embed/>
                </p:oleObj>
              </mc:Choice>
              <mc:Fallback>
                <p:oleObj name="Equation" r:id="rId2" imgW="1307880" imgH="368280" progId="Equation.DSMT4">
                  <p:embed/>
                  <p:pic>
                    <p:nvPicPr>
                      <p:cNvPr id="18" name="Object 17" descr="alpha equals 0.01">
                        <a:extLst>
                          <a:ext uri="{FF2B5EF4-FFF2-40B4-BE49-F238E27FC236}">
                            <a16:creationId xmlns:a16="http://schemas.microsoft.com/office/drawing/2014/main" id="{A3A99CDC-A08F-4936-A17A-7411BD4E5BDD}"/>
                          </a:ext>
                        </a:extLst>
                      </p:cNvPr>
                      <p:cNvPicPr/>
                      <p:nvPr/>
                    </p:nvPicPr>
                    <p:blipFill>
                      <a:blip r:embed="rId3"/>
                      <a:stretch>
                        <a:fillRect/>
                      </a:stretch>
                    </p:blipFill>
                    <p:spPr>
                      <a:xfrm>
                        <a:off x="5967145" y="1589458"/>
                        <a:ext cx="1225216" cy="344963"/>
                      </a:xfrm>
                      <a:prstGeom prst="rect">
                        <a:avLst/>
                      </a:prstGeom>
                    </p:spPr>
                  </p:pic>
                </p:oleObj>
              </mc:Fallback>
            </mc:AlternateContent>
          </a:graphicData>
        </a:graphic>
      </p:graphicFrame>
      <p:sp>
        <p:nvSpPr>
          <p:cNvPr id="5" name="Content Placeholder 4"/>
          <p:cNvSpPr>
            <a:spLocks noGrp="1"/>
          </p:cNvSpPr>
          <p:nvPr>
            <p:ph sz="quarter" idx="14"/>
          </p:nvPr>
        </p:nvSpPr>
        <p:spPr>
          <a:xfrm>
            <a:off x="457201" y="2058101"/>
            <a:ext cx="3022269" cy="423842"/>
          </a:xfrm>
        </p:spPr>
        <p:txBody>
          <a:bodyPr/>
          <a:lstStyle/>
          <a:p>
            <a:pPr marL="432" indent="0">
              <a:buNone/>
            </a:pPr>
            <a:r>
              <a:rPr lang="en-US"/>
              <a:t>the rejection region is</a:t>
            </a:r>
          </a:p>
        </p:txBody>
      </p:sp>
      <p:graphicFrame>
        <p:nvGraphicFramePr>
          <p:cNvPr id="19" name="Object 18" descr="z less than minus 2.33">
            <a:extLst>
              <a:ext uri="{FF2B5EF4-FFF2-40B4-BE49-F238E27FC236}">
                <a16:creationId xmlns:a16="http://schemas.microsoft.com/office/drawing/2014/main" id="{CB360D10-0655-4A0B-BFC1-53B14040CD51}"/>
              </a:ext>
            </a:extLst>
          </p:cNvPr>
          <p:cNvGraphicFramePr>
            <a:graphicFrameLocks noChangeAspect="1"/>
          </p:cNvGraphicFramePr>
          <p:nvPr>
            <p:extLst>
              <p:ext uri="{D42A27DB-BD31-4B8C-83A1-F6EECF244321}">
                <p14:modId xmlns:p14="http://schemas.microsoft.com/office/powerpoint/2010/main" val="3876625433"/>
              </p:ext>
            </p:extLst>
          </p:nvPr>
        </p:nvGraphicFramePr>
        <p:xfrm>
          <a:off x="3549673" y="2085975"/>
          <a:ext cx="1447800" cy="317500"/>
        </p:xfrm>
        <a:graphic>
          <a:graphicData uri="http://schemas.openxmlformats.org/presentationml/2006/ole">
            <mc:AlternateContent xmlns:mc="http://schemas.openxmlformats.org/markup-compatibility/2006">
              <mc:Choice xmlns:v="urn:schemas-microsoft-com:vml" Requires="v">
                <p:oleObj name="Equation" r:id="rId4" imgW="1447560" imgH="317160" progId="Equation.DSMT4">
                  <p:embed/>
                </p:oleObj>
              </mc:Choice>
              <mc:Fallback>
                <p:oleObj name="Equation" r:id="rId4" imgW="1447560" imgH="317160" progId="Equation.DSMT4">
                  <p:embed/>
                  <p:pic>
                    <p:nvPicPr>
                      <p:cNvPr id="19" name="Object 18" descr="z less than minus 2.33">
                        <a:extLst>
                          <a:ext uri="{FF2B5EF4-FFF2-40B4-BE49-F238E27FC236}">
                            <a16:creationId xmlns:a16="http://schemas.microsoft.com/office/drawing/2014/main" id="{CB360D10-0655-4A0B-BFC1-53B14040CD51}"/>
                          </a:ext>
                        </a:extLst>
                      </p:cNvPr>
                      <p:cNvPicPr/>
                      <p:nvPr/>
                    </p:nvPicPr>
                    <p:blipFill>
                      <a:blip r:embed="rId5"/>
                      <a:stretch>
                        <a:fillRect/>
                      </a:stretch>
                    </p:blipFill>
                    <p:spPr>
                      <a:xfrm>
                        <a:off x="3549673" y="2085975"/>
                        <a:ext cx="1447800" cy="317500"/>
                      </a:xfrm>
                      <a:prstGeom prst="rect">
                        <a:avLst/>
                      </a:prstGeom>
                    </p:spPr>
                  </p:pic>
                </p:oleObj>
              </mc:Fallback>
            </mc:AlternateContent>
          </a:graphicData>
        </a:graphic>
      </p:graphicFrame>
      <p:sp>
        <p:nvSpPr>
          <p:cNvPr id="6" name="Content Placeholder 5"/>
          <p:cNvSpPr>
            <a:spLocks noGrp="1"/>
          </p:cNvSpPr>
          <p:nvPr>
            <p:ph sz="quarter" idx="15"/>
          </p:nvPr>
        </p:nvSpPr>
        <p:spPr>
          <a:xfrm>
            <a:off x="5067677" y="2058101"/>
            <a:ext cx="3126298" cy="423842"/>
          </a:xfrm>
        </p:spPr>
        <p:txBody>
          <a:bodyPr/>
          <a:lstStyle/>
          <a:p>
            <a:pPr marL="432" indent="0">
              <a:buNone/>
            </a:pPr>
            <a:r>
              <a:rPr lang="en-US"/>
              <a:t>The standardized test</a:t>
            </a:r>
          </a:p>
        </p:txBody>
      </p:sp>
      <p:sp>
        <p:nvSpPr>
          <p:cNvPr id="7" name="Content Placeholder 6"/>
          <p:cNvSpPr>
            <a:spLocks noGrp="1"/>
          </p:cNvSpPr>
          <p:nvPr>
            <p:ph sz="quarter" idx="16"/>
          </p:nvPr>
        </p:nvSpPr>
        <p:spPr>
          <a:xfrm>
            <a:off x="457201" y="2568740"/>
            <a:ext cx="1157844" cy="423842"/>
          </a:xfrm>
        </p:spPr>
        <p:txBody>
          <a:bodyPr/>
          <a:lstStyle/>
          <a:p>
            <a:pPr marL="432" indent="0">
              <a:buNone/>
            </a:pPr>
            <a:r>
              <a:rPr lang="en-US"/>
              <a:t>statistic</a:t>
            </a:r>
          </a:p>
        </p:txBody>
      </p:sp>
      <p:graphicFrame>
        <p:nvGraphicFramePr>
          <p:cNvPr id="20" name="Object 19" descr="z approximately equals to minus 0.97">
            <a:extLst>
              <a:ext uri="{FF2B5EF4-FFF2-40B4-BE49-F238E27FC236}">
                <a16:creationId xmlns:a16="http://schemas.microsoft.com/office/drawing/2014/main" id="{D9ACAF9C-6FAD-4655-A506-41183DBBCC87}"/>
              </a:ext>
            </a:extLst>
          </p:cNvPr>
          <p:cNvGraphicFramePr>
            <a:graphicFrameLocks noChangeAspect="1"/>
          </p:cNvGraphicFramePr>
          <p:nvPr>
            <p:extLst>
              <p:ext uri="{D42A27DB-BD31-4B8C-83A1-F6EECF244321}">
                <p14:modId xmlns:p14="http://schemas.microsoft.com/office/powerpoint/2010/main" val="2694162080"/>
              </p:ext>
            </p:extLst>
          </p:nvPr>
        </p:nvGraphicFramePr>
        <p:xfrm>
          <a:off x="1705748" y="2569495"/>
          <a:ext cx="1384300" cy="317500"/>
        </p:xfrm>
        <a:graphic>
          <a:graphicData uri="http://schemas.openxmlformats.org/presentationml/2006/ole">
            <mc:AlternateContent xmlns:mc="http://schemas.openxmlformats.org/markup-compatibility/2006">
              <mc:Choice xmlns:v="urn:schemas-microsoft-com:vml" Requires="v">
                <p:oleObj name="Equation" r:id="rId6" imgW="1384200" imgH="317160" progId="Equation.DSMT4">
                  <p:embed/>
                </p:oleObj>
              </mc:Choice>
              <mc:Fallback>
                <p:oleObj name="Equation" r:id="rId6" imgW="1384200" imgH="317160" progId="Equation.DSMT4">
                  <p:embed/>
                  <p:pic>
                    <p:nvPicPr>
                      <p:cNvPr id="20" name="Object 19" descr="z approximately equals to minus 0.97">
                        <a:extLst>
                          <a:ext uri="{FF2B5EF4-FFF2-40B4-BE49-F238E27FC236}">
                            <a16:creationId xmlns:a16="http://schemas.microsoft.com/office/drawing/2014/main" id="{D9ACAF9C-6FAD-4655-A506-41183DBBCC87}"/>
                          </a:ext>
                        </a:extLst>
                      </p:cNvPr>
                      <p:cNvPicPr/>
                      <p:nvPr/>
                    </p:nvPicPr>
                    <p:blipFill>
                      <a:blip r:embed="rId7"/>
                      <a:stretch>
                        <a:fillRect/>
                      </a:stretch>
                    </p:blipFill>
                    <p:spPr>
                      <a:xfrm>
                        <a:off x="1705748" y="2569495"/>
                        <a:ext cx="1384300" cy="317500"/>
                      </a:xfrm>
                      <a:prstGeom prst="rect">
                        <a:avLst/>
                      </a:prstGeom>
                    </p:spPr>
                  </p:pic>
                </p:oleObj>
              </mc:Fallback>
            </mc:AlternateContent>
          </a:graphicData>
        </a:graphic>
      </p:graphicFrame>
      <p:sp>
        <p:nvSpPr>
          <p:cNvPr id="8" name="Content Placeholder 7"/>
          <p:cNvSpPr>
            <a:spLocks noGrp="1"/>
          </p:cNvSpPr>
          <p:nvPr>
            <p:ph sz="quarter" idx="17"/>
          </p:nvPr>
        </p:nvSpPr>
        <p:spPr>
          <a:xfrm>
            <a:off x="3180750" y="2568741"/>
            <a:ext cx="5013225" cy="423842"/>
          </a:xfrm>
        </p:spPr>
        <p:txBody>
          <a:bodyPr/>
          <a:lstStyle/>
          <a:p>
            <a:pPr marL="432" indent="0">
              <a:buNone/>
            </a:pPr>
            <a:r>
              <a:rPr lang="en-US"/>
              <a:t>is not in the rejection region, so you</a:t>
            </a:r>
          </a:p>
        </p:txBody>
      </p:sp>
      <p:sp>
        <p:nvSpPr>
          <p:cNvPr id="9" name="Content Placeholder 8"/>
          <p:cNvSpPr>
            <a:spLocks noGrp="1"/>
          </p:cNvSpPr>
          <p:nvPr>
            <p:ph sz="quarter" idx="18"/>
          </p:nvPr>
        </p:nvSpPr>
        <p:spPr>
          <a:xfrm>
            <a:off x="457200" y="3079380"/>
            <a:ext cx="4540273" cy="398834"/>
          </a:xfrm>
        </p:spPr>
        <p:txBody>
          <a:bodyPr/>
          <a:lstStyle/>
          <a:p>
            <a:pPr marL="0" indent="0">
              <a:buNone/>
            </a:pPr>
            <a:r>
              <a:rPr lang="en-US" dirty="0">
                <a:solidFill>
                  <a:schemeClr val="tx1"/>
                </a:solidFill>
              </a:rPr>
              <a:t>fail to reject the null hypothesis.</a:t>
            </a:r>
          </a:p>
        </p:txBody>
      </p:sp>
      <p:sp>
        <p:nvSpPr>
          <p:cNvPr id="10" name="Content Placeholder 9"/>
          <p:cNvSpPr>
            <a:spLocks noGrp="1"/>
          </p:cNvSpPr>
          <p:nvPr>
            <p:ph sz="quarter" idx="19"/>
          </p:nvPr>
        </p:nvSpPr>
        <p:spPr>
          <a:xfrm>
            <a:off x="457200" y="4075652"/>
            <a:ext cx="7736775" cy="1169292"/>
          </a:xfrm>
        </p:spPr>
        <p:txBody>
          <a:bodyPr/>
          <a:lstStyle/>
          <a:p>
            <a:pPr marL="432" indent="0">
              <a:buNone/>
            </a:pPr>
            <a:r>
              <a:rPr lang="en-US">
                <a:cs typeface="Times New Roman" panose="02020603050405020304" pitchFamily="18" charset="0"/>
              </a:rPr>
              <a:t>There is not enough evidence at the 1% level of significance to support the rental market researcher’s claim.</a:t>
            </a:r>
          </a:p>
        </p:txBody>
      </p:sp>
    </p:spTree>
    <p:extLst>
      <p:ext uri="{BB962C8B-B14F-4D97-AF65-F5344CB8AC3E}">
        <p14:creationId xmlns:p14="http://schemas.microsoft.com/office/powerpoint/2010/main" val="524377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lstStyle/>
          <a:p>
            <a:r>
              <a:rPr lang="en-US" altLang="en-US" dirty="0"/>
              <a:t>Chapter Outline</a:t>
            </a:r>
            <a:endParaRPr lang="en-US" dirty="0"/>
          </a:p>
        </p:txBody>
      </p:sp>
      <p:sp>
        <p:nvSpPr>
          <p:cNvPr id="6" name="Content Placeholder 5"/>
          <p:cNvSpPr>
            <a:spLocks noGrp="1"/>
          </p:cNvSpPr>
          <p:nvPr>
            <p:ph sz="quarter" idx="13"/>
          </p:nvPr>
        </p:nvSpPr>
        <p:spPr>
          <a:xfrm>
            <a:off x="457200" y="1552575"/>
            <a:ext cx="8140535" cy="442480"/>
          </a:xfrm>
        </p:spPr>
        <p:txBody>
          <a:bodyPr/>
          <a:lstStyle/>
          <a:p>
            <a:pPr marL="432" indent="0">
              <a:buNone/>
            </a:pPr>
            <a:r>
              <a:rPr lang="en-US" altLang="en-US" b="1" dirty="0">
                <a:solidFill>
                  <a:schemeClr val="tx2"/>
                </a:solidFill>
              </a:rPr>
              <a:t>7.1</a:t>
            </a:r>
            <a:r>
              <a:rPr lang="en-US" altLang="en-US" dirty="0"/>
              <a:t> Testing the Difference Between Means (Independent</a:t>
            </a:r>
            <a:endParaRPr lang="en-US" dirty="0"/>
          </a:p>
        </p:txBody>
      </p:sp>
      <p:sp>
        <p:nvSpPr>
          <p:cNvPr id="11" name="Content Placeholder 10"/>
          <p:cNvSpPr>
            <a:spLocks noGrp="1"/>
          </p:cNvSpPr>
          <p:nvPr>
            <p:ph sz="quarter" idx="14"/>
          </p:nvPr>
        </p:nvSpPr>
        <p:spPr>
          <a:xfrm>
            <a:off x="457200" y="2066307"/>
            <a:ext cx="1419101" cy="439388"/>
          </a:xfrm>
        </p:spPr>
        <p:txBody>
          <a:bodyPr/>
          <a:lstStyle/>
          <a:p>
            <a:pPr marL="432" indent="0">
              <a:buNone/>
            </a:pPr>
            <a:r>
              <a:rPr lang="en-US" altLang="en-US" dirty="0"/>
              <a:t>Samples,</a:t>
            </a:r>
            <a:endParaRPr lang="en-US" dirty="0"/>
          </a:p>
        </p:txBody>
      </p:sp>
      <p:graphicFrame>
        <p:nvGraphicFramePr>
          <p:cNvPr id="27" name="Object 26" descr="sigma subscript 1 and sigma subscript 2"/>
          <p:cNvGraphicFramePr>
            <a:graphicFrameLocks noChangeAspect="1"/>
          </p:cNvGraphicFramePr>
          <p:nvPr/>
        </p:nvGraphicFramePr>
        <p:xfrm>
          <a:off x="1973440" y="2048552"/>
          <a:ext cx="1394373" cy="423292"/>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27" name="Object 26" descr="sigma subscript 1 and sigma subscript 2"/>
                      <p:cNvPicPr/>
                      <p:nvPr/>
                    </p:nvPicPr>
                    <p:blipFill>
                      <a:blip r:embed="rId3"/>
                      <a:stretch>
                        <a:fillRect/>
                      </a:stretch>
                    </p:blipFill>
                    <p:spPr>
                      <a:xfrm>
                        <a:off x="1973440" y="2048552"/>
                        <a:ext cx="1394373" cy="423292"/>
                      </a:xfrm>
                      <a:prstGeom prst="rect">
                        <a:avLst/>
                      </a:prstGeom>
                    </p:spPr>
                  </p:pic>
                </p:oleObj>
              </mc:Fallback>
            </mc:AlternateContent>
          </a:graphicData>
        </a:graphic>
      </p:graphicFrame>
      <p:sp>
        <p:nvSpPr>
          <p:cNvPr id="32" name="Content Placeholder 31"/>
          <p:cNvSpPr>
            <a:spLocks noGrp="1"/>
          </p:cNvSpPr>
          <p:nvPr>
            <p:ph sz="quarter" idx="14"/>
          </p:nvPr>
        </p:nvSpPr>
        <p:spPr>
          <a:xfrm>
            <a:off x="3464951" y="2066307"/>
            <a:ext cx="1285180" cy="439387"/>
          </a:xfrm>
        </p:spPr>
        <p:txBody>
          <a:bodyPr/>
          <a:lstStyle/>
          <a:p>
            <a:pPr marL="432" indent="0">
              <a:buNone/>
            </a:pPr>
            <a:r>
              <a:rPr lang="en-US" altLang="en-US" dirty="0">
                <a:sym typeface="Symbol" panose="05050102010706020507" pitchFamily="18" charset="2"/>
              </a:rPr>
              <a:t>Known</a:t>
            </a:r>
            <a:r>
              <a:rPr lang="en-US" altLang="en-US" dirty="0"/>
              <a:t>)</a:t>
            </a:r>
            <a:endParaRPr lang="en-US" dirty="0"/>
          </a:p>
        </p:txBody>
      </p:sp>
      <p:sp>
        <p:nvSpPr>
          <p:cNvPr id="12" name="Content Placeholder 11"/>
          <p:cNvSpPr>
            <a:spLocks noGrp="1"/>
          </p:cNvSpPr>
          <p:nvPr>
            <p:ph sz="quarter" idx="15"/>
          </p:nvPr>
        </p:nvSpPr>
        <p:spPr>
          <a:xfrm>
            <a:off x="457200" y="2576948"/>
            <a:ext cx="8229600" cy="415634"/>
          </a:xfrm>
        </p:spPr>
        <p:txBody>
          <a:bodyPr/>
          <a:lstStyle/>
          <a:p>
            <a:pPr marL="432" indent="0">
              <a:buNone/>
            </a:pPr>
            <a:r>
              <a:rPr lang="en-US" altLang="en-US" b="1" dirty="0">
                <a:solidFill>
                  <a:schemeClr val="tx2"/>
                </a:solidFill>
              </a:rPr>
              <a:t>7.2</a:t>
            </a:r>
            <a:r>
              <a:rPr lang="en-US" altLang="en-US" dirty="0"/>
              <a:t> Testing the Difference Between Means (Independent</a:t>
            </a:r>
            <a:endParaRPr lang="en-US" dirty="0"/>
          </a:p>
        </p:txBody>
      </p:sp>
      <p:sp>
        <p:nvSpPr>
          <p:cNvPr id="13" name="Content Placeholder 12"/>
          <p:cNvSpPr>
            <a:spLocks noGrp="1"/>
          </p:cNvSpPr>
          <p:nvPr>
            <p:ph sz="quarter" idx="16"/>
          </p:nvPr>
        </p:nvSpPr>
        <p:spPr>
          <a:xfrm>
            <a:off x="457200" y="3057992"/>
            <a:ext cx="1419101" cy="420222"/>
          </a:xfrm>
        </p:spPr>
        <p:txBody>
          <a:bodyPr/>
          <a:lstStyle/>
          <a:p>
            <a:pPr marL="432" indent="0">
              <a:buNone/>
            </a:pPr>
            <a:r>
              <a:rPr lang="en-US" altLang="en-US" dirty="0"/>
              <a:t>Samples,</a:t>
            </a:r>
            <a:endParaRPr lang="en-US" dirty="0"/>
          </a:p>
        </p:txBody>
      </p:sp>
      <p:graphicFrame>
        <p:nvGraphicFramePr>
          <p:cNvPr id="29" name="Object 28" descr="sigma subscript 1 and sigma subscript 2"/>
          <p:cNvGraphicFramePr>
            <a:graphicFrameLocks noChangeAspect="1"/>
          </p:cNvGraphicFramePr>
          <p:nvPr/>
        </p:nvGraphicFramePr>
        <p:xfrm>
          <a:off x="1980343" y="3058553"/>
          <a:ext cx="1380567" cy="419101"/>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29" name="Object 28" descr="sigma subscript 1 and sigma subscript 2"/>
                      <p:cNvPicPr/>
                      <p:nvPr/>
                    </p:nvPicPr>
                    <p:blipFill>
                      <a:blip r:embed="rId3"/>
                      <a:stretch>
                        <a:fillRect/>
                      </a:stretch>
                    </p:blipFill>
                    <p:spPr>
                      <a:xfrm>
                        <a:off x="1980343" y="3058553"/>
                        <a:ext cx="1380567" cy="419101"/>
                      </a:xfrm>
                      <a:prstGeom prst="rect">
                        <a:avLst/>
                      </a:prstGeom>
                    </p:spPr>
                  </p:pic>
                </p:oleObj>
              </mc:Fallback>
            </mc:AlternateContent>
          </a:graphicData>
        </a:graphic>
      </p:graphicFrame>
      <p:sp>
        <p:nvSpPr>
          <p:cNvPr id="14" name="Content Placeholder 13"/>
          <p:cNvSpPr>
            <a:spLocks noGrp="1"/>
          </p:cNvSpPr>
          <p:nvPr>
            <p:ph sz="quarter" idx="17"/>
          </p:nvPr>
        </p:nvSpPr>
        <p:spPr>
          <a:xfrm>
            <a:off x="3464951" y="3063836"/>
            <a:ext cx="1605813" cy="414377"/>
          </a:xfrm>
        </p:spPr>
        <p:txBody>
          <a:bodyPr/>
          <a:lstStyle/>
          <a:p>
            <a:pPr marL="432" indent="0">
              <a:buNone/>
            </a:pPr>
            <a:r>
              <a:rPr lang="en-US" altLang="en-US" dirty="0">
                <a:sym typeface="Symbol" panose="05050102010706020507" pitchFamily="18" charset="2"/>
              </a:rPr>
              <a:t>Unknown</a:t>
            </a:r>
            <a:r>
              <a:rPr lang="en-US" altLang="en-US" dirty="0"/>
              <a:t>)</a:t>
            </a:r>
            <a:endParaRPr lang="en-US" dirty="0"/>
          </a:p>
        </p:txBody>
      </p:sp>
      <p:sp>
        <p:nvSpPr>
          <p:cNvPr id="15" name="Content Placeholder 14"/>
          <p:cNvSpPr>
            <a:spLocks noGrp="1"/>
          </p:cNvSpPr>
          <p:nvPr>
            <p:ph sz="quarter" idx="18"/>
          </p:nvPr>
        </p:nvSpPr>
        <p:spPr>
          <a:xfrm>
            <a:off x="457200" y="3574475"/>
            <a:ext cx="8229600" cy="1435675"/>
          </a:xfrm>
        </p:spPr>
        <p:txBody>
          <a:bodyPr/>
          <a:lstStyle/>
          <a:p>
            <a:pPr marL="432" indent="0" eaLnBrk="1" hangingPunct="1">
              <a:buNone/>
            </a:pPr>
            <a:r>
              <a:rPr lang="en-US" altLang="en-US" b="1" dirty="0">
                <a:solidFill>
                  <a:schemeClr val="tx2"/>
                </a:solidFill>
              </a:rPr>
              <a:t>7.3</a:t>
            </a:r>
            <a:r>
              <a:rPr lang="en-US" altLang="en-US" dirty="0"/>
              <a:t> Testing the Difference Between Means (Dependent Samples)</a:t>
            </a:r>
          </a:p>
          <a:p>
            <a:pPr marL="432" indent="0" eaLnBrk="1" hangingPunct="1">
              <a:buNone/>
            </a:pPr>
            <a:r>
              <a:rPr lang="en-US" altLang="en-US" b="1" dirty="0">
                <a:solidFill>
                  <a:schemeClr val="tx2"/>
                </a:solidFill>
              </a:rPr>
              <a:t>7.4</a:t>
            </a:r>
            <a:r>
              <a:rPr lang="en-US" altLang="en-US" dirty="0"/>
              <a:t> Testing the Difference Between Proportions</a:t>
            </a:r>
          </a:p>
        </p:txBody>
      </p:sp>
    </p:spTree>
    <p:extLst>
      <p:ext uri="{BB962C8B-B14F-4D97-AF65-F5344CB8AC3E}">
        <p14:creationId xmlns:p14="http://schemas.microsoft.com/office/powerpoint/2010/main" val="3156577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Section 7.2 Objectives</a:t>
            </a:r>
            <a:endParaRPr lang="en-US" dirty="0"/>
          </a:p>
        </p:txBody>
      </p:sp>
      <p:sp>
        <p:nvSpPr>
          <p:cNvPr id="11" name="Content Placeholder 10"/>
          <p:cNvSpPr>
            <a:spLocks noGrp="1"/>
          </p:cNvSpPr>
          <p:nvPr>
            <p:ph sz="quarter" idx="13"/>
          </p:nvPr>
        </p:nvSpPr>
        <p:spPr>
          <a:xfrm>
            <a:off x="457201" y="1552576"/>
            <a:ext cx="8409708" cy="430604"/>
          </a:xfrm>
        </p:spPr>
        <p:txBody>
          <a:bodyPr/>
          <a:lstStyle/>
          <a:p>
            <a:r>
              <a:rPr lang="en-US" altLang="en-US" dirty="0"/>
              <a:t>How to perform a two-sample </a:t>
            </a:r>
            <a:r>
              <a:rPr lang="en-US" altLang="en-US" i="1" dirty="0"/>
              <a:t>t</a:t>
            </a:r>
            <a:r>
              <a:rPr lang="en-US" altLang="en-US" dirty="0"/>
              <a:t>-test for the difference</a:t>
            </a:r>
            <a:endParaRPr lang="en-IN" dirty="0"/>
          </a:p>
        </p:txBody>
      </p:sp>
      <p:sp>
        <p:nvSpPr>
          <p:cNvPr id="12" name="Content Placeholder 11"/>
          <p:cNvSpPr>
            <a:spLocks noGrp="1"/>
          </p:cNvSpPr>
          <p:nvPr>
            <p:ph sz="quarter" idx="14"/>
          </p:nvPr>
        </p:nvSpPr>
        <p:spPr>
          <a:xfrm>
            <a:off x="734295" y="2042265"/>
            <a:ext cx="2867891" cy="411967"/>
          </a:xfrm>
        </p:spPr>
        <p:txBody>
          <a:bodyPr/>
          <a:lstStyle/>
          <a:p>
            <a:pPr marL="432" indent="0">
              <a:buNone/>
            </a:pPr>
            <a:r>
              <a:rPr lang="en-US" altLang="en-US" dirty="0"/>
              <a:t>between two means</a:t>
            </a:r>
            <a:endParaRPr lang="en-IN" dirty="0"/>
          </a:p>
        </p:txBody>
      </p:sp>
      <p:graphicFrame>
        <p:nvGraphicFramePr>
          <p:cNvPr id="38" name="Object 37" descr="mu subscript 1 and mu subscript 2"/>
          <p:cNvGraphicFramePr>
            <a:graphicFrameLocks noChangeAspect="1"/>
          </p:cNvGraphicFramePr>
          <p:nvPr/>
        </p:nvGraphicFramePr>
        <p:xfrm>
          <a:off x="3681405" y="2031468"/>
          <a:ext cx="1292109" cy="406775"/>
        </p:xfrm>
        <a:graphic>
          <a:graphicData uri="http://schemas.openxmlformats.org/presentationml/2006/ole">
            <mc:AlternateContent xmlns:mc="http://schemas.openxmlformats.org/markup-compatibility/2006">
              <mc:Choice xmlns:v="urn:schemas-microsoft-com:vml" Requires="v">
                <p:oleObj name="Equation" r:id="rId2" imgW="1371600" imgH="431640" progId="Equation.DSMT4">
                  <p:embed/>
                </p:oleObj>
              </mc:Choice>
              <mc:Fallback>
                <p:oleObj name="Equation" r:id="rId2" imgW="1371600" imgH="431640" progId="Equation.DSMT4">
                  <p:embed/>
                  <p:pic>
                    <p:nvPicPr>
                      <p:cNvPr id="38" name="Object 37" descr="mu subscript 1 and mu subscript 2"/>
                      <p:cNvPicPr/>
                      <p:nvPr/>
                    </p:nvPicPr>
                    <p:blipFill>
                      <a:blip r:embed="rId3"/>
                      <a:stretch>
                        <a:fillRect/>
                      </a:stretch>
                    </p:blipFill>
                    <p:spPr>
                      <a:xfrm>
                        <a:off x="3681405" y="2031468"/>
                        <a:ext cx="1292109" cy="406775"/>
                      </a:xfrm>
                      <a:prstGeom prst="rect">
                        <a:avLst/>
                      </a:prstGeom>
                    </p:spPr>
                  </p:pic>
                </p:oleObj>
              </mc:Fallback>
            </mc:AlternateContent>
          </a:graphicData>
        </a:graphic>
      </p:graphicFrame>
      <p:sp>
        <p:nvSpPr>
          <p:cNvPr id="13" name="Content Placeholder 12"/>
          <p:cNvSpPr>
            <a:spLocks noGrp="1"/>
          </p:cNvSpPr>
          <p:nvPr>
            <p:ph sz="quarter" idx="15"/>
          </p:nvPr>
        </p:nvSpPr>
        <p:spPr>
          <a:xfrm>
            <a:off x="5052733" y="2031468"/>
            <a:ext cx="3911162" cy="408909"/>
          </a:xfrm>
        </p:spPr>
        <p:txBody>
          <a:bodyPr/>
          <a:lstStyle/>
          <a:p>
            <a:pPr marL="432" indent="0">
              <a:buNone/>
            </a:pPr>
            <a:r>
              <a:rPr lang="en-US" altLang="en-US" dirty="0"/>
              <a:t>using independent samples</a:t>
            </a:r>
            <a:endParaRPr lang="en-IN" dirty="0"/>
          </a:p>
        </p:txBody>
      </p:sp>
      <p:sp>
        <p:nvSpPr>
          <p:cNvPr id="14" name="Content Placeholder 13"/>
          <p:cNvSpPr>
            <a:spLocks noGrp="1"/>
          </p:cNvSpPr>
          <p:nvPr>
            <p:ph sz="quarter" idx="16"/>
          </p:nvPr>
        </p:nvSpPr>
        <p:spPr>
          <a:xfrm>
            <a:off x="734297" y="2527172"/>
            <a:ext cx="718457" cy="423845"/>
          </a:xfrm>
        </p:spPr>
        <p:txBody>
          <a:bodyPr/>
          <a:lstStyle/>
          <a:p>
            <a:pPr marL="432" indent="0">
              <a:buNone/>
            </a:pPr>
            <a:r>
              <a:rPr lang="en-US" altLang="en-US" dirty="0"/>
              <a:t>with</a:t>
            </a:r>
            <a:endParaRPr lang="en-IN" dirty="0"/>
          </a:p>
        </p:txBody>
      </p:sp>
      <p:graphicFrame>
        <p:nvGraphicFramePr>
          <p:cNvPr id="39" name="Object 38" descr="sigma subscript 1 and sigma subscript 2"/>
          <p:cNvGraphicFramePr>
            <a:graphicFrameLocks noChangeAspect="1"/>
          </p:cNvGraphicFramePr>
          <p:nvPr/>
        </p:nvGraphicFramePr>
        <p:xfrm>
          <a:off x="1527773" y="2519928"/>
          <a:ext cx="1326697" cy="402748"/>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39" name="Object 38" descr="sigma subscript 1 and sigma subscript 2"/>
                      <p:cNvPicPr/>
                      <p:nvPr/>
                    </p:nvPicPr>
                    <p:blipFill>
                      <a:blip r:embed="rId5"/>
                      <a:stretch>
                        <a:fillRect/>
                      </a:stretch>
                    </p:blipFill>
                    <p:spPr>
                      <a:xfrm>
                        <a:off x="1527773" y="2519928"/>
                        <a:ext cx="1326697" cy="402748"/>
                      </a:xfrm>
                      <a:prstGeom prst="rect">
                        <a:avLst/>
                      </a:prstGeom>
                    </p:spPr>
                  </p:pic>
                </p:oleObj>
              </mc:Fallback>
            </mc:AlternateContent>
          </a:graphicData>
        </a:graphic>
      </p:graphicFrame>
      <p:sp>
        <p:nvSpPr>
          <p:cNvPr id="15" name="Content Placeholder 14"/>
          <p:cNvSpPr>
            <a:spLocks noGrp="1"/>
          </p:cNvSpPr>
          <p:nvPr>
            <p:ph sz="quarter" idx="17"/>
          </p:nvPr>
        </p:nvSpPr>
        <p:spPr>
          <a:xfrm>
            <a:off x="2986883" y="2499463"/>
            <a:ext cx="1420846" cy="423844"/>
          </a:xfrm>
        </p:spPr>
        <p:txBody>
          <a:bodyPr/>
          <a:lstStyle/>
          <a:p>
            <a:pPr marL="432" indent="0">
              <a:buNone/>
            </a:pPr>
            <a:r>
              <a:rPr lang="en-US" altLang="en-US" dirty="0">
                <a:sym typeface="Symbol" panose="05050102010706020507" pitchFamily="18" charset="2"/>
              </a:rPr>
              <a:t>unknown</a:t>
            </a:r>
            <a:endParaRPr lang="en-IN" dirty="0"/>
          </a:p>
        </p:txBody>
      </p:sp>
    </p:spTree>
    <p:extLst>
      <p:ext uri="{BB962C8B-B14F-4D97-AF65-F5344CB8AC3E}">
        <p14:creationId xmlns:p14="http://schemas.microsoft.com/office/powerpoint/2010/main" val="4282563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sz="3400" dirty="0"/>
              <a:t>Two Sample </a:t>
            </a:r>
            <a:r>
              <a:rPr lang="en-US" altLang="en-US" sz="3400" i="1" dirty="0"/>
              <a:t>t</a:t>
            </a:r>
            <a:r>
              <a:rPr lang="en-US" altLang="en-US" sz="3400" dirty="0"/>
              <a:t>-Test for the Difference Between Means </a:t>
            </a:r>
            <a:r>
              <a:rPr lang="en-US" altLang="en-US" sz="2000" b="0" dirty="0"/>
              <a:t>(1 of 4)</a:t>
            </a:r>
            <a:endParaRPr lang="en-IN" sz="2000" b="0" dirty="0"/>
          </a:p>
        </p:txBody>
      </p:sp>
      <p:sp>
        <p:nvSpPr>
          <p:cNvPr id="19" name="Content Placeholder 18"/>
          <p:cNvSpPr>
            <a:spLocks noGrp="1"/>
          </p:cNvSpPr>
          <p:nvPr>
            <p:ph sz="quarter" idx="13"/>
          </p:nvPr>
        </p:nvSpPr>
        <p:spPr>
          <a:xfrm>
            <a:off x="457200" y="1552574"/>
            <a:ext cx="8104909" cy="430605"/>
          </a:xfrm>
        </p:spPr>
        <p:txBody>
          <a:bodyPr/>
          <a:lstStyle/>
          <a:p>
            <a:pPr marL="432" indent="0">
              <a:buNone/>
            </a:pPr>
            <a:r>
              <a:rPr lang="en-US" altLang="en-US" dirty="0"/>
              <a:t>A </a:t>
            </a:r>
            <a:r>
              <a:rPr lang="en-US" altLang="en-US" b="1" dirty="0"/>
              <a:t>two-sample</a:t>
            </a:r>
            <a:r>
              <a:rPr lang="en-US" altLang="en-US" dirty="0"/>
              <a:t> </a:t>
            </a:r>
            <a:r>
              <a:rPr lang="en-US" altLang="en-US" b="1" i="1" dirty="0"/>
              <a:t>t</a:t>
            </a:r>
            <a:r>
              <a:rPr lang="en-US" altLang="en-US" b="1" dirty="0"/>
              <a:t>-test </a:t>
            </a:r>
            <a:r>
              <a:rPr lang="en-US" altLang="en-US" dirty="0"/>
              <a:t>is used to test the difference between</a:t>
            </a:r>
            <a:endParaRPr lang="en-IN" dirty="0"/>
          </a:p>
        </p:txBody>
      </p:sp>
      <p:sp>
        <p:nvSpPr>
          <p:cNvPr id="20" name="Content Placeholder 19"/>
          <p:cNvSpPr>
            <a:spLocks noGrp="1"/>
          </p:cNvSpPr>
          <p:nvPr>
            <p:ph sz="quarter" idx="14"/>
          </p:nvPr>
        </p:nvSpPr>
        <p:spPr>
          <a:xfrm>
            <a:off x="457201" y="2058100"/>
            <a:ext cx="3129148" cy="411967"/>
          </a:xfrm>
        </p:spPr>
        <p:txBody>
          <a:bodyPr/>
          <a:lstStyle/>
          <a:p>
            <a:pPr marL="432" indent="0">
              <a:buNone/>
            </a:pPr>
            <a:r>
              <a:rPr lang="en-US" altLang="en-US" dirty="0"/>
              <a:t>two population means</a:t>
            </a:r>
            <a:endParaRPr lang="en-IN" dirty="0"/>
          </a:p>
        </p:txBody>
      </p:sp>
      <p:graphicFrame>
        <p:nvGraphicFramePr>
          <p:cNvPr id="33" name="Object 32" descr="mu subscript 1 and mu subscript 2"/>
          <p:cNvGraphicFramePr>
            <a:graphicFrameLocks noChangeAspect="1"/>
          </p:cNvGraphicFramePr>
          <p:nvPr/>
        </p:nvGraphicFramePr>
        <p:xfrm>
          <a:off x="3657599" y="2058100"/>
          <a:ext cx="1292109" cy="406775"/>
        </p:xfrm>
        <a:graphic>
          <a:graphicData uri="http://schemas.openxmlformats.org/presentationml/2006/ole">
            <mc:AlternateContent xmlns:mc="http://schemas.openxmlformats.org/markup-compatibility/2006">
              <mc:Choice xmlns:v="urn:schemas-microsoft-com:vml" Requires="v">
                <p:oleObj name="Equation" r:id="rId2" imgW="1371600" imgH="431640" progId="Equation.DSMT4">
                  <p:embed/>
                </p:oleObj>
              </mc:Choice>
              <mc:Fallback>
                <p:oleObj name="Equation" r:id="rId2" imgW="1371600" imgH="431640" progId="Equation.DSMT4">
                  <p:embed/>
                  <p:pic>
                    <p:nvPicPr>
                      <p:cNvPr id="33" name="Object 32" descr="mu subscript 1 and mu subscript 2"/>
                      <p:cNvPicPr/>
                      <p:nvPr/>
                    </p:nvPicPr>
                    <p:blipFill>
                      <a:blip r:embed="rId3"/>
                      <a:stretch>
                        <a:fillRect/>
                      </a:stretch>
                    </p:blipFill>
                    <p:spPr>
                      <a:xfrm>
                        <a:off x="3657599" y="2058100"/>
                        <a:ext cx="1292109" cy="406775"/>
                      </a:xfrm>
                      <a:prstGeom prst="rect">
                        <a:avLst/>
                      </a:prstGeom>
                    </p:spPr>
                  </p:pic>
                </p:oleObj>
              </mc:Fallback>
            </mc:AlternateContent>
          </a:graphicData>
        </a:graphic>
      </p:graphicFrame>
      <p:sp>
        <p:nvSpPr>
          <p:cNvPr id="21" name="Content Placeholder 20"/>
          <p:cNvSpPr>
            <a:spLocks noGrp="1"/>
          </p:cNvSpPr>
          <p:nvPr>
            <p:ph sz="quarter" idx="15"/>
          </p:nvPr>
        </p:nvSpPr>
        <p:spPr>
          <a:xfrm>
            <a:off x="5020958" y="2058100"/>
            <a:ext cx="892954" cy="411967"/>
          </a:xfrm>
        </p:spPr>
        <p:txBody>
          <a:bodyPr/>
          <a:lstStyle/>
          <a:p>
            <a:pPr marL="432" indent="0">
              <a:buNone/>
            </a:pPr>
            <a:r>
              <a:rPr lang="en-US" altLang="en-US" dirty="0"/>
              <a:t>when</a:t>
            </a:r>
            <a:endParaRPr lang="en-IN" dirty="0"/>
          </a:p>
        </p:txBody>
      </p:sp>
      <p:sp>
        <p:nvSpPr>
          <p:cNvPr id="22" name="Content Placeholder 21"/>
          <p:cNvSpPr>
            <a:spLocks noGrp="1"/>
          </p:cNvSpPr>
          <p:nvPr>
            <p:ph sz="quarter" idx="16"/>
          </p:nvPr>
        </p:nvSpPr>
        <p:spPr>
          <a:xfrm>
            <a:off x="457200" y="2768600"/>
            <a:ext cx="409699" cy="425862"/>
          </a:xfrm>
        </p:spPr>
        <p:txBody>
          <a:bodyPr/>
          <a:lstStyle/>
          <a:p>
            <a:pPr marL="0" indent="0">
              <a:buFont typeface="+mj-lt"/>
              <a:buAutoNum type="arabicPeriod"/>
            </a:pPr>
            <a:r>
              <a:rPr lang="en-US" dirty="0"/>
              <a:t> </a:t>
            </a:r>
            <a:r>
              <a:rPr lang="en-US" sz="100" dirty="0"/>
              <a:t> </a:t>
            </a:r>
            <a:endParaRPr lang="en-IN" sz="100" dirty="0"/>
          </a:p>
        </p:txBody>
      </p:sp>
      <p:graphicFrame>
        <p:nvGraphicFramePr>
          <p:cNvPr id="34" name="Object 33" descr="sigma subscript 1 and sigma subscript 2"/>
          <p:cNvGraphicFramePr>
            <a:graphicFrameLocks noChangeAspect="1"/>
          </p:cNvGraphicFramePr>
          <p:nvPr/>
        </p:nvGraphicFramePr>
        <p:xfrm>
          <a:off x="947885" y="2772900"/>
          <a:ext cx="1260336" cy="382601"/>
        </p:xfrm>
        <a:graphic>
          <a:graphicData uri="http://schemas.openxmlformats.org/presentationml/2006/ole">
            <mc:AlternateContent xmlns:mc="http://schemas.openxmlformats.org/markup-compatibility/2006">
              <mc:Choice xmlns:v="urn:schemas-microsoft-com:vml" Requires="v">
                <p:oleObj name="Equation" r:id="rId4" imgW="1422360" imgH="431640" progId="Equation.DSMT4">
                  <p:embed/>
                </p:oleObj>
              </mc:Choice>
              <mc:Fallback>
                <p:oleObj name="Equation" r:id="rId4" imgW="1422360" imgH="431640" progId="Equation.DSMT4">
                  <p:embed/>
                  <p:pic>
                    <p:nvPicPr>
                      <p:cNvPr id="34" name="Object 33" descr="sigma subscript 1 and sigma subscript 2"/>
                      <p:cNvPicPr/>
                      <p:nvPr/>
                    </p:nvPicPr>
                    <p:blipFill>
                      <a:blip r:embed="rId5"/>
                      <a:stretch>
                        <a:fillRect/>
                      </a:stretch>
                    </p:blipFill>
                    <p:spPr>
                      <a:xfrm>
                        <a:off x="947885" y="2772900"/>
                        <a:ext cx="1260336" cy="382601"/>
                      </a:xfrm>
                      <a:prstGeom prst="rect">
                        <a:avLst/>
                      </a:prstGeom>
                    </p:spPr>
                  </p:pic>
                </p:oleObj>
              </mc:Fallback>
            </mc:AlternateContent>
          </a:graphicData>
        </a:graphic>
      </p:graphicFrame>
      <p:sp>
        <p:nvSpPr>
          <p:cNvPr id="23" name="Content Placeholder 22"/>
          <p:cNvSpPr>
            <a:spLocks noGrp="1"/>
          </p:cNvSpPr>
          <p:nvPr>
            <p:ph sz="quarter" idx="17"/>
          </p:nvPr>
        </p:nvSpPr>
        <p:spPr>
          <a:xfrm>
            <a:off x="2344626" y="2767081"/>
            <a:ext cx="2222755" cy="381395"/>
          </a:xfrm>
        </p:spPr>
        <p:txBody>
          <a:bodyPr/>
          <a:lstStyle/>
          <a:p>
            <a:pPr marL="0" indent="-486918">
              <a:spcBef>
                <a:spcPct val="40000"/>
              </a:spcBef>
              <a:buNone/>
            </a:pPr>
            <a:r>
              <a:rPr lang="en-US" altLang="en-US" dirty="0">
                <a:ea typeface="Times New Roman" panose="02020603050405020304" pitchFamily="18" charset="0"/>
              </a:rPr>
              <a:t>are unknown,</a:t>
            </a:r>
          </a:p>
        </p:txBody>
      </p:sp>
      <p:sp>
        <p:nvSpPr>
          <p:cNvPr id="24" name="Content Placeholder 23"/>
          <p:cNvSpPr>
            <a:spLocks noGrp="1"/>
          </p:cNvSpPr>
          <p:nvPr>
            <p:ph sz="quarter" idx="18"/>
          </p:nvPr>
        </p:nvSpPr>
        <p:spPr>
          <a:xfrm>
            <a:off x="457199" y="3255275"/>
            <a:ext cx="7546769" cy="1295490"/>
          </a:xfrm>
        </p:spPr>
        <p:txBody>
          <a:bodyPr/>
          <a:lstStyle/>
          <a:p>
            <a:pPr marL="432000" indent="-432000">
              <a:spcBef>
                <a:spcPts val="600"/>
              </a:spcBef>
              <a:buFont typeface="+mj-lt"/>
              <a:buAutoNum type="arabicPeriod" startAt="2"/>
            </a:pPr>
            <a:r>
              <a:rPr lang="en-US" altLang="en-US" dirty="0">
                <a:ea typeface="Times New Roman" panose="02020603050405020304" pitchFamily="18" charset="0"/>
              </a:rPr>
              <a:t>the samples are random,</a:t>
            </a:r>
          </a:p>
          <a:p>
            <a:pPr marL="432000" indent="-432000">
              <a:spcBef>
                <a:spcPts val="600"/>
              </a:spcBef>
              <a:buFont typeface="+mj-lt"/>
              <a:buAutoNum type="arabicPeriod" startAt="2"/>
            </a:pPr>
            <a:r>
              <a:rPr lang="en-US" altLang="en-US" dirty="0">
                <a:ea typeface="Times New Roman" panose="02020603050405020304" pitchFamily="18" charset="0"/>
              </a:rPr>
              <a:t>the samples are independent, and</a:t>
            </a:r>
          </a:p>
          <a:p>
            <a:pPr marL="432000" indent="-432000">
              <a:spcBef>
                <a:spcPts val="600"/>
              </a:spcBef>
              <a:buFont typeface="+mj-lt"/>
              <a:buAutoNum type="arabicPeriod" startAt="2"/>
            </a:pPr>
            <a:r>
              <a:rPr lang="en-US" altLang="en-US" dirty="0">
                <a:ea typeface="Times New Roman" panose="02020603050405020304" pitchFamily="18" charset="0"/>
              </a:rPr>
              <a:t>the populations are normally distributed or both</a:t>
            </a:r>
            <a:endParaRPr lang="en-IN" dirty="0"/>
          </a:p>
        </p:txBody>
      </p:sp>
      <p:graphicFrame>
        <p:nvGraphicFramePr>
          <p:cNvPr id="35" name="Object 34" descr="n subscript 1 greater than or equals to 30 and n subscript 2 greater than or equals to 30">
            <a:extLst>
              <a:ext uri="{FF2B5EF4-FFF2-40B4-BE49-F238E27FC236}">
                <a16:creationId xmlns:a16="http://schemas.microsoft.com/office/drawing/2014/main" id="{76C518EE-98BB-4D3B-962D-4A29C11C4D57}"/>
              </a:ext>
            </a:extLst>
          </p:cNvPr>
          <p:cNvGraphicFramePr>
            <a:graphicFrameLocks noChangeAspect="1"/>
          </p:cNvGraphicFramePr>
          <p:nvPr/>
        </p:nvGraphicFramePr>
        <p:xfrm>
          <a:off x="866899" y="4589814"/>
          <a:ext cx="2616200" cy="393700"/>
        </p:xfrm>
        <a:graphic>
          <a:graphicData uri="http://schemas.openxmlformats.org/presentationml/2006/ole">
            <mc:AlternateContent xmlns:mc="http://schemas.openxmlformats.org/markup-compatibility/2006">
              <mc:Choice xmlns:v="urn:schemas-microsoft-com:vml" Requires="v">
                <p:oleObj name="Equation" r:id="rId6" imgW="2616120" imgH="393480" progId="Equation.DSMT4">
                  <p:embed/>
                </p:oleObj>
              </mc:Choice>
              <mc:Fallback>
                <p:oleObj name="Equation" r:id="rId6" imgW="2616120" imgH="393480" progId="Equation.DSMT4">
                  <p:embed/>
                  <p:pic>
                    <p:nvPicPr>
                      <p:cNvPr id="35" name="Object 34" descr="n subscript 1 greater than or equals to 30 and n subscript 2 greater than or equals to 30">
                        <a:extLst>
                          <a:ext uri="{FF2B5EF4-FFF2-40B4-BE49-F238E27FC236}">
                            <a16:creationId xmlns:a16="http://schemas.microsoft.com/office/drawing/2014/main" id="{76C518EE-98BB-4D3B-962D-4A29C11C4D57}"/>
                          </a:ext>
                        </a:extLst>
                      </p:cNvPr>
                      <p:cNvPicPr/>
                      <p:nvPr/>
                    </p:nvPicPr>
                    <p:blipFill>
                      <a:blip r:embed="rId7"/>
                      <a:stretch>
                        <a:fillRect/>
                      </a:stretch>
                    </p:blipFill>
                    <p:spPr>
                      <a:xfrm>
                        <a:off x="866899" y="4589814"/>
                        <a:ext cx="2616200" cy="393700"/>
                      </a:xfrm>
                      <a:prstGeom prst="rect">
                        <a:avLst/>
                      </a:prstGeom>
                    </p:spPr>
                  </p:pic>
                </p:oleObj>
              </mc:Fallback>
            </mc:AlternateContent>
          </a:graphicData>
        </a:graphic>
      </p:graphicFrame>
    </p:spTree>
    <p:extLst>
      <p:ext uri="{BB962C8B-B14F-4D97-AF65-F5344CB8AC3E}">
        <p14:creationId xmlns:p14="http://schemas.microsoft.com/office/powerpoint/2010/main" val="2643194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sz="3400" dirty="0"/>
              <a:t>Two Sample </a:t>
            </a:r>
            <a:r>
              <a:rPr lang="en-US" altLang="en-US" sz="3400" i="1" dirty="0"/>
              <a:t>t</a:t>
            </a:r>
            <a:r>
              <a:rPr lang="en-US" altLang="en-US" sz="3400" dirty="0"/>
              <a:t>-Test for the Difference Between Means </a:t>
            </a:r>
            <a:r>
              <a:rPr lang="en-US" altLang="en-US" sz="2000" b="0" dirty="0"/>
              <a:t>(2 of 4)</a:t>
            </a:r>
            <a:endParaRPr lang="en-IN" sz="2000" dirty="0"/>
          </a:p>
        </p:txBody>
      </p:sp>
      <p:sp>
        <p:nvSpPr>
          <p:cNvPr id="2" name="Content Placeholder 1"/>
          <p:cNvSpPr>
            <a:spLocks noGrp="1"/>
          </p:cNvSpPr>
          <p:nvPr>
            <p:ph sz="quarter" idx="13"/>
          </p:nvPr>
        </p:nvSpPr>
        <p:spPr>
          <a:xfrm>
            <a:off x="457200" y="1556327"/>
            <a:ext cx="3069771" cy="414977"/>
          </a:xfrm>
        </p:spPr>
        <p:txBody>
          <a:bodyPr/>
          <a:lstStyle/>
          <a:p>
            <a:r>
              <a:rPr lang="en-US" altLang="en-US" dirty="0"/>
              <a:t>The </a:t>
            </a:r>
            <a:r>
              <a:rPr lang="en-US" altLang="en-US" b="1" dirty="0"/>
              <a:t>test statistic </a:t>
            </a:r>
            <a:r>
              <a:rPr lang="en-US" altLang="en-US" dirty="0"/>
              <a:t>is</a:t>
            </a:r>
          </a:p>
        </p:txBody>
      </p:sp>
      <p:graphicFrame>
        <p:nvGraphicFramePr>
          <p:cNvPr id="6" name="Object 5" descr="x bar subscript 1 minus x bar subscript 2">
            <a:extLst>
              <a:ext uri="{FF2B5EF4-FFF2-40B4-BE49-F238E27FC236}">
                <a16:creationId xmlns:a16="http://schemas.microsoft.com/office/drawing/2014/main" id="{AFEB3A6E-1D67-4B0C-BDF6-0C48C3671AAC}"/>
              </a:ext>
            </a:extLst>
          </p:cNvPr>
          <p:cNvGraphicFramePr>
            <a:graphicFrameLocks noChangeAspect="1"/>
          </p:cNvGraphicFramePr>
          <p:nvPr/>
        </p:nvGraphicFramePr>
        <p:xfrm>
          <a:off x="3613755" y="1555977"/>
          <a:ext cx="850900" cy="393700"/>
        </p:xfrm>
        <a:graphic>
          <a:graphicData uri="http://schemas.openxmlformats.org/presentationml/2006/ole">
            <mc:AlternateContent xmlns:mc="http://schemas.openxmlformats.org/markup-compatibility/2006">
              <mc:Choice xmlns:v="urn:schemas-microsoft-com:vml" Requires="v">
                <p:oleObj name="Equation" r:id="rId2" imgW="850680" imgH="393480" progId="Equation.DSMT4">
                  <p:embed/>
                </p:oleObj>
              </mc:Choice>
              <mc:Fallback>
                <p:oleObj name="Equation" r:id="rId2" imgW="850680" imgH="393480" progId="Equation.DSMT4">
                  <p:embed/>
                  <p:pic>
                    <p:nvPicPr>
                      <p:cNvPr id="6" name="Object 5" descr="x bar subscript 1 minus x bar subscript 2">
                        <a:extLst>
                          <a:ext uri="{FF2B5EF4-FFF2-40B4-BE49-F238E27FC236}">
                            <a16:creationId xmlns:a16="http://schemas.microsoft.com/office/drawing/2014/main" id="{AFEB3A6E-1D67-4B0C-BDF6-0C48C3671AAC}"/>
                          </a:ext>
                        </a:extLst>
                      </p:cNvPr>
                      <p:cNvPicPr/>
                      <p:nvPr/>
                    </p:nvPicPr>
                    <p:blipFill>
                      <a:blip r:embed="rId3"/>
                      <a:stretch>
                        <a:fillRect/>
                      </a:stretch>
                    </p:blipFill>
                    <p:spPr>
                      <a:xfrm>
                        <a:off x="3613755" y="1555977"/>
                        <a:ext cx="850900" cy="393700"/>
                      </a:xfrm>
                      <a:prstGeom prst="rect">
                        <a:avLst/>
                      </a:prstGeom>
                    </p:spPr>
                  </p:pic>
                </p:oleObj>
              </mc:Fallback>
            </mc:AlternateContent>
          </a:graphicData>
        </a:graphic>
      </p:graphicFrame>
      <p:sp>
        <p:nvSpPr>
          <p:cNvPr id="3" name="Content Placeholder 2"/>
          <p:cNvSpPr>
            <a:spLocks noGrp="1"/>
          </p:cNvSpPr>
          <p:nvPr>
            <p:ph sz="quarter" idx="14"/>
          </p:nvPr>
        </p:nvSpPr>
        <p:spPr>
          <a:xfrm>
            <a:off x="457200" y="2214982"/>
            <a:ext cx="5326083" cy="421340"/>
          </a:xfrm>
        </p:spPr>
        <p:txBody>
          <a:bodyPr/>
          <a:lstStyle/>
          <a:p>
            <a:r>
              <a:rPr lang="en-US" altLang="en-US" dirty="0"/>
              <a:t>The </a:t>
            </a:r>
            <a:r>
              <a:rPr lang="en-US" altLang="en-US" b="1" dirty="0"/>
              <a:t>standardized test statistic </a:t>
            </a:r>
            <a:r>
              <a:rPr lang="en-US" altLang="en-US" dirty="0"/>
              <a:t>is </a:t>
            </a:r>
            <a:r>
              <a:rPr lang="en-US" altLang="en-US" i="1" dirty="0"/>
              <a:t>s</a:t>
            </a:r>
          </a:p>
        </p:txBody>
      </p:sp>
      <p:graphicFrame>
        <p:nvGraphicFramePr>
          <p:cNvPr id="7" name="Object 6" descr="t equals fraction numerator open parenthesis x bar subscript 1 minus x bar subscript 2 close parenthesis minus open parenthesis mu subscript 1 minus mu subscript 2 close parenthesis divided by denominator s subscript x bar subscript 1 minus x bar subscript 2 end subscript end fraction">
            <a:extLst>
              <a:ext uri="{FF2B5EF4-FFF2-40B4-BE49-F238E27FC236}">
                <a16:creationId xmlns:a16="http://schemas.microsoft.com/office/drawing/2014/main" id="{962E025D-AAE6-410F-8226-B1957408253F}"/>
              </a:ext>
            </a:extLst>
          </p:cNvPr>
          <p:cNvGraphicFramePr>
            <a:graphicFrameLocks noChangeAspect="1"/>
          </p:cNvGraphicFramePr>
          <p:nvPr/>
        </p:nvGraphicFramePr>
        <p:xfrm>
          <a:off x="3028950" y="2832306"/>
          <a:ext cx="3086100" cy="965200"/>
        </p:xfrm>
        <a:graphic>
          <a:graphicData uri="http://schemas.openxmlformats.org/presentationml/2006/ole">
            <mc:AlternateContent xmlns:mc="http://schemas.openxmlformats.org/markup-compatibility/2006">
              <mc:Choice xmlns:v="urn:schemas-microsoft-com:vml" Requires="v">
                <p:oleObj name="Equation" r:id="rId4" imgW="3085920" imgH="965160" progId="Equation.DSMT4">
                  <p:embed/>
                </p:oleObj>
              </mc:Choice>
              <mc:Fallback>
                <p:oleObj name="Equation" r:id="rId4" imgW="3085920" imgH="965160" progId="Equation.DSMT4">
                  <p:embed/>
                  <p:pic>
                    <p:nvPicPr>
                      <p:cNvPr id="7" name="Object 6" descr="t equals fraction numerator open parenthesis x bar subscript 1 minus x bar subscript 2 close parenthesis minus open parenthesis mu subscript 1 minus mu subscript 2 close parenthesis divided by denominator s subscript x bar subscript 1 minus x bar subscript 2 end subscript end fraction">
                        <a:extLst>
                          <a:ext uri="{FF2B5EF4-FFF2-40B4-BE49-F238E27FC236}">
                            <a16:creationId xmlns:a16="http://schemas.microsoft.com/office/drawing/2014/main" id="{962E025D-AAE6-410F-8226-B1957408253F}"/>
                          </a:ext>
                        </a:extLst>
                      </p:cNvPr>
                      <p:cNvPicPr/>
                      <p:nvPr/>
                    </p:nvPicPr>
                    <p:blipFill>
                      <a:blip r:embed="rId5"/>
                      <a:stretch>
                        <a:fillRect/>
                      </a:stretch>
                    </p:blipFill>
                    <p:spPr>
                      <a:xfrm>
                        <a:off x="3028950" y="2832306"/>
                        <a:ext cx="3086100" cy="965200"/>
                      </a:xfrm>
                      <a:prstGeom prst="rect">
                        <a:avLst/>
                      </a:prstGeom>
                    </p:spPr>
                  </p:pic>
                </p:oleObj>
              </mc:Fallback>
            </mc:AlternateContent>
          </a:graphicData>
        </a:graphic>
      </p:graphicFrame>
    </p:spTree>
    <p:extLst>
      <p:ext uri="{BB962C8B-B14F-4D97-AF65-F5344CB8AC3E}">
        <p14:creationId xmlns:p14="http://schemas.microsoft.com/office/powerpoint/2010/main" val="3029337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sz="3400" dirty="0"/>
              <a:t>Two Sample </a:t>
            </a:r>
            <a:r>
              <a:rPr lang="en-US" altLang="en-US" sz="3400" i="1" dirty="0"/>
              <a:t>t</a:t>
            </a:r>
            <a:r>
              <a:rPr lang="en-US" altLang="en-US" sz="3400" dirty="0"/>
              <a:t>-Test for the Difference Between Means </a:t>
            </a:r>
            <a:r>
              <a:rPr lang="en-US" altLang="en-US" sz="2000" b="0" dirty="0"/>
              <a:t>(3 of 4)</a:t>
            </a:r>
            <a:endParaRPr lang="en-IN" sz="2000" dirty="0"/>
          </a:p>
        </p:txBody>
      </p:sp>
      <p:sp>
        <p:nvSpPr>
          <p:cNvPr id="2" name="Content Placeholder 1"/>
          <p:cNvSpPr>
            <a:spLocks noGrp="1"/>
          </p:cNvSpPr>
          <p:nvPr>
            <p:ph sz="quarter" idx="13"/>
          </p:nvPr>
        </p:nvSpPr>
        <p:spPr>
          <a:xfrm>
            <a:off x="457200" y="1552576"/>
            <a:ext cx="7998031" cy="1118886"/>
          </a:xfrm>
        </p:spPr>
        <p:txBody>
          <a:bodyPr/>
          <a:lstStyle/>
          <a:p>
            <a:r>
              <a:rPr lang="en-US" altLang="en-US" b="1" dirty="0"/>
              <a:t>Variances are equal: </a:t>
            </a:r>
            <a:r>
              <a:rPr lang="en-US" dirty="0"/>
              <a:t>If the population variances are equal, then information from the two samples is combined to calculate a </a:t>
            </a:r>
            <a:r>
              <a:rPr lang="en-US" altLang="en-US" b="1" dirty="0">
                <a:ea typeface="Times New Roman" panose="02020603050405020304" pitchFamily="18" charset="0"/>
              </a:rPr>
              <a:t>pooled estimate of the</a:t>
            </a:r>
            <a:endParaRPr lang="en-IN" dirty="0"/>
          </a:p>
        </p:txBody>
      </p:sp>
      <p:sp>
        <p:nvSpPr>
          <p:cNvPr id="3" name="Content Placeholder 2"/>
          <p:cNvSpPr>
            <a:spLocks noGrp="1"/>
          </p:cNvSpPr>
          <p:nvPr>
            <p:ph sz="quarter" idx="14"/>
          </p:nvPr>
        </p:nvSpPr>
        <p:spPr>
          <a:xfrm>
            <a:off x="457200" y="2727035"/>
            <a:ext cx="3117273" cy="425862"/>
          </a:xfrm>
        </p:spPr>
        <p:txBody>
          <a:bodyPr/>
          <a:lstStyle/>
          <a:p>
            <a:pPr marL="255600" indent="0">
              <a:buNone/>
            </a:pPr>
            <a:r>
              <a:rPr lang="en-US" altLang="en-US" b="1" dirty="0">
                <a:ea typeface="Times New Roman" panose="02020603050405020304" pitchFamily="18" charset="0"/>
              </a:rPr>
              <a:t>standard deviation</a:t>
            </a:r>
            <a:endParaRPr lang="en-IN" dirty="0"/>
          </a:p>
        </p:txBody>
      </p:sp>
      <p:graphicFrame>
        <p:nvGraphicFramePr>
          <p:cNvPr id="19" name="Object 18" descr="sigma hat">
            <a:extLst>
              <a:ext uri="{FF2B5EF4-FFF2-40B4-BE49-F238E27FC236}">
                <a16:creationId xmlns:a16="http://schemas.microsoft.com/office/drawing/2014/main" id="{E9B5CF38-EB16-44C4-8331-81863C8528F9}"/>
              </a:ext>
            </a:extLst>
          </p:cNvPr>
          <p:cNvGraphicFramePr>
            <a:graphicFrameLocks noChangeAspect="1"/>
          </p:cNvGraphicFramePr>
          <p:nvPr/>
        </p:nvGraphicFramePr>
        <p:xfrm>
          <a:off x="3633848" y="2749137"/>
          <a:ext cx="342900" cy="317500"/>
        </p:xfrm>
        <a:graphic>
          <a:graphicData uri="http://schemas.openxmlformats.org/presentationml/2006/ole">
            <mc:AlternateContent xmlns:mc="http://schemas.openxmlformats.org/markup-compatibility/2006">
              <mc:Choice xmlns:v="urn:schemas-microsoft-com:vml" Requires="v">
                <p:oleObj name="Equation" r:id="rId2" imgW="342720" imgH="317160" progId="Equation.DSMT4">
                  <p:embed/>
                </p:oleObj>
              </mc:Choice>
              <mc:Fallback>
                <p:oleObj name="Equation" r:id="rId2" imgW="342720" imgH="317160" progId="Equation.DSMT4">
                  <p:embed/>
                  <p:pic>
                    <p:nvPicPr>
                      <p:cNvPr id="19" name="Object 18" descr="sigma hat">
                        <a:extLst>
                          <a:ext uri="{FF2B5EF4-FFF2-40B4-BE49-F238E27FC236}">
                            <a16:creationId xmlns:a16="http://schemas.microsoft.com/office/drawing/2014/main" id="{E9B5CF38-EB16-44C4-8331-81863C8528F9}"/>
                          </a:ext>
                        </a:extLst>
                      </p:cNvPr>
                      <p:cNvPicPr/>
                      <p:nvPr/>
                    </p:nvPicPr>
                    <p:blipFill>
                      <a:blip r:embed="rId3"/>
                      <a:stretch>
                        <a:fillRect/>
                      </a:stretch>
                    </p:blipFill>
                    <p:spPr>
                      <a:xfrm>
                        <a:off x="3633848" y="2749137"/>
                        <a:ext cx="342900" cy="317500"/>
                      </a:xfrm>
                      <a:prstGeom prst="rect">
                        <a:avLst/>
                      </a:prstGeom>
                    </p:spPr>
                  </p:pic>
                </p:oleObj>
              </mc:Fallback>
            </mc:AlternateContent>
          </a:graphicData>
        </a:graphic>
      </p:graphicFrame>
      <p:graphicFrame>
        <p:nvGraphicFramePr>
          <p:cNvPr id="20" name="Object 19" descr="sigma hat equals square root of fraction numerator open parenthesis n subscript 1 minus 1 close parenthesis s subscript 1 squared plus open parenthesis n subscript 2 minus 1 close parenthesis s subscript 2 squared divided by denominator n subscript 1 plus n subscript 2 minus 2 end fraction">
            <a:extLst>
              <a:ext uri="{FF2B5EF4-FFF2-40B4-BE49-F238E27FC236}">
                <a16:creationId xmlns:a16="http://schemas.microsoft.com/office/drawing/2014/main" id="{4A62F397-C882-4E34-B655-5C3CE0241574}"/>
              </a:ext>
            </a:extLst>
          </p:cNvPr>
          <p:cNvGraphicFramePr>
            <a:graphicFrameLocks noChangeAspect="1"/>
          </p:cNvGraphicFramePr>
          <p:nvPr/>
        </p:nvGraphicFramePr>
        <p:xfrm>
          <a:off x="2782455" y="3224149"/>
          <a:ext cx="3579091" cy="1004455"/>
        </p:xfrm>
        <a:graphic>
          <a:graphicData uri="http://schemas.openxmlformats.org/presentationml/2006/ole">
            <mc:AlternateContent xmlns:mc="http://schemas.openxmlformats.org/markup-compatibility/2006">
              <mc:Choice xmlns:v="urn:schemas-microsoft-com:vml" Requires="v">
                <p:oleObj name="Equation" r:id="rId4" imgW="3936960" imgH="1104840" progId="Equation.DSMT4">
                  <p:embed/>
                </p:oleObj>
              </mc:Choice>
              <mc:Fallback>
                <p:oleObj name="Equation" r:id="rId4" imgW="3936960" imgH="1104840" progId="Equation.DSMT4">
                  <p:embed/>
                  <p:pic>
                    <p:nvPicPr>
                      <p:cNvPr id="20" name="Object 19" descr="sigma hat equals square root of fraction numerator open parenthesis n subscript 1 minus 1 close parenthesis s subscript 1 squared plus open parenthesis n subscript 2 minus 1 close parenthesis s subscript 2 squared divided by denominator n subscript 1 plus n subscript 2 minus 2 end fraction">
                        <a:extLst>
                          <a:ext uri="{FF2B5EF4-FFF2-40B4-BE49-F238E27FC236}">
                            <a16:creationId xmlns:a16="http://schemas.microsoft.com/office/drawing/2014/main" id="{4A62F397-C882-4E34-B655-5C3CE0241574}"/>
                          </a:ext>
                        </a:extLst>
                      </p:cNvPr>
                      <p:cNvPicPr/>
                      <p:nvPr/>
                    </p:nvPicPr>
                    <p:blipFill>
                      <a:blip r:embed="rId5"/>
                      <a:stretch>
                        <a:fillRect/>
                      </a:stretch>
                    </p:blipFill>
                    <p:spPr>
                      <a:xfrm>
                        <a:off x="2782455" y="3224149"/>
                        <a:ext cx="3579091" cy="1004455"/>
                      </a:xfrm>
                      <a:prstGeom prst="rect">
                        <a:avLst/>
                      </a:prstGeom>
                    </p:spPr>
                  </p:pic>
                </p:oleObj>
              </mc:Fallback>
            </mc:AlternateContent>
          </a:graphicData>
        </a:graphic>
      </p:graphicFrame>
      <p:sp>
        <p:nvSpPr>
          <p:cNvPr id="4" name="Content Placeholder 3"/>
          <p:cNvSpPr>
            <a:spLocks noGrp="1"/>
          </p:cNvSpPr>
          <p:nvPr>
            <p:ph sz="quarter" idx="15"/>
          </p:nvPr>
        </p:nvSpPr>
        <p:spPr>
          <a:xfrm>
            <a:off x="457200" y="4360833"/>
            <a:ext cx="7095506" cy="436806"/>
          </a:xfrm>
        </p:spPr>
        <p:txBody>
          <a:bodyPr/>
          <a:lstStyle/>
          <a:p>
            <a:r>
              <a:rPr lang="en-US" altLang="en-US" dirty="0">
                <a:solidFill>
                  <a:srgbClr val="000000"/>
                </a:solidFill>
                <a:cs typeface="Times New Roman" panose="02020603050405020304" pitchFamily="18" charset="0"/>
              </a:rPr>
              <a:t>The standard error for the sampling distribution of</a:t>
            </a:r>
            <a:endParaRPr lang="en-IN" dirty="0"/>
          </a:p>
        </p:txBody>
      </p:sp>
      <p:graphicFrame>
        <p:nvGraphicFramePr>
          <p:cNvPr id="21" name="Object 20" descr="x bar subscript 1 minus x bar subscript 2 is">
            <a:extLst>
              <a:ext uri="{FF2B5EF4-FFF2-40B4-BE49-F238E27FC236}">
                <a16:creationId xmlns:a16="http://schemas.microsoft.com/office/drawing/2014/main" id="{06405B77-C478-4ED8-B1DC-4C424FCCE238}"/>
              </a:ext>
            </a:extLst>
          </p:cNvPr>
          <p:cNvGraphicFramePr>
            <a:graphicFrameLocks noChangeAspect="1"/>
          </p:cNvGraphicFramePr>
          <p:nvPr/>
        </p:nvGraphicFramePr>
        <p:xfrm>
          <a:off x="7602699" y="4366229"/>
          <a:ext cx="1184194" cy="410843"/>
        </p:xfrm>
        <a:graphic>
          <a:graphicData uri="http://schemas.openxmlformats.org/presentationml/2006/ole">
            <mc:AlternateContent xmlns:mc="http://schemas.openxmlformats.org/markup-compatibility/2006">
              <mc:Choice xmlns:v="urn:schemas-microsoft-com:vml" Requires="v">
                <p:oleObj name="Equation" r:id="rId6" imgW="1244520" imgH="431640" progId="Equation.DSMT4">
                  <p:embed/>
                </p:oleObj>
              </mc:Choice>
              <mc:Fallback>
                <p:oleObj name="Equation" r:id="rId6" imgW="1244520" imgH="431640" progId="Equation.DSMT4">
                  <p:embed/>
                  <p:pic>
                    <p:nvPicPr>
                      <p:cNvPr id="21" name="Object 20" descr="x bar subscript 1 minus x bar subscript 2 is">
                        <a:extLst>
                          <a:ext uri="{FF2B5EF4-FFF2-40B4-BE49-F238E27FC236}">
                            <a16:creationId xmlns:a16="http://schemas.microsoft.com/office/drawing/2014/main" id="{06405B77-C478-4ED8-B1DC-4C424FCCE238}"/>
                          </a:ext>
                        </a:extLst>
                      </p:cNvPr>
                      <p:cNvPicPr/>
                      <p:nvPr/>
                    </p:nvPicPr>
                    <p:blipFill>
                      <a:blip r:embed="rId7"/>
                      <a:stretch>
                        <a:fillRect/>
                      </a:stretch>
                    </p:blipFill>
                    <p:spPr>
                      <a:xfrm>
                        <a:off x="7602699" y="4366229"/>
                        <a:ext cx="1184194" cy="410843"/>
                      </a:xfrm>
                      <a:prstGeom prst="rect">
                        <a:avLst/>
                      </a:prstGeom>
                    </p:spPr>
                  </p:pic>
                </p:oleObj>
              </mc:Fallback>
            </mc:AlternateContent>
          </a:graphicData>
        </a:graphic>
      </p:graphicFrame>
      <p:graphicFrame>
        <p:nvGraphicFramePr>
          <p:cNvPr id="22" name="Object 21" descr="s subscript x bar subscript 1 minus x bar subscript 2 end subscript equals sigma hat times square root of fraction numerator 1 divided by denominator n subscript 1 end fraction plus fraction numerator 1 divided by denominator n subscript 2 end fraction end root">
            <a:extLst>
              <a:ext uri="{FF2B5EF4-FFF2-40B4-BE49-F238E27FC236}">
                <a16:creationId xmlns:a16="http://schemas.microsoft.com/office/drawing/2014/main" id="{ACF16429-6BB4-45EC-BCA0-5FE625AC5B47}"/>
              </a:ext>
            </a:extLst>
          </p:cNvPr>
          <p:cNvGraphicFramePr>
            <a:graphicFrameLocks noChangeAspect="1"/>
          </p:cNvGraphicFramePr>
          <p:nvPr/>
        </p:nvGraphicFramePr>
        <p:xfrm>
          <a:off x="3336637" y="4880922"/>
          <a:ext cx="2470727" cy="946727"/>
        </p:xfrm>
        <a:graphic>
          <a:graphicData uri="http://schemas.openxmlformats.org/presentationml/2006/ole">
            <mc:AlternateContent xmlns:mc="http://schemas.openxmlformats.org/markup-compatibility/2006">
              <mc:Choice xmlns:v="urn:schemas-microsoft-com:vml" Requires="v">
                <p:oleObj name="Equation" r:id="rId8" imgW="2717640" imgH="1041120" progId="Equation.DSMT4">
                  <p:embed/>
                </p:oleObj>
              </mc:Choice>
              <mc:Fallback>
                <p:oleObj name="Equation" r:id="rId8" imgW="2717640" imgH="1041120" progId="Equation.DSMT4">
                  <p:embed/>
                  <p:pic>
                    <p:nvPicPr>
                      <p:cNvPr id="22" name="Object 21" descr="s subscript x bar subscript 1 minus x bar subscript 2 end subscript equals sigma hat times square root of fraction numerator 1 divided by denominator n subscript 1 end fraction plus fraction numerator 1 divided by denominator n subscript 2 end fraction end root">
                        <a:extLst>
                          <a:ext uri="{FF2B5EF4-FFF2-40B4-BE49-F238E27FC236}">
                            <a16:creationId xmlns:a16="http://schemas.microsoft.com/office/drawing/2014/main" id="{ACF16429-6BB4-45EC-BCA0-5FE625AC5B47}"/>
                          </a:ext>
                        </a:extLst>
                      </p:cNvPr>
                      <p:cNvPicPr/>
                      <p:nvPr/>
                    </p:nvPicPr>
                    <p:blipFill>
                      <a:blip r:embed="rId9"/>
                      <a:stretch>
                        <a:fillRect/>
                      </a:stretch>
                    </p:blipFill>
                    <p:spPr>
                      <a:xfrm>
                        <a:off x="3336637" y="4880922"/>
                        <a:ext cx="2470727" cy="946727"/>
                      </a:xfrm>
                      <a:prstGeom prst="rect">
                        <a:avLst/>
                      </a:prstGeom>
                    </p:spPr>
                  </p:pic>
                </p:oleObj>
              </mc:Fallback>
            </mc:AlternateContent>
          </a:graphicData>
        </a:graphic>
      </p:graphicFrame>
      <p:sp>
        <p:nvSpPr>
          <p:cNvPr id="5" name="Content Placeholder 4"/>
          <p:cNvSpPr>
            <a:spLocks noGrp="1"/>
          </p:cNvSpPr>
          <p:nvPr>
            <p:ph sz="quarter" idx="16"/>
          </p:nvPr>
        </p:nvSpPr>
        <p:spPr>
          <a:xfrm>
            <a:off x="457201" y="5892614"/>
            <a:ext cx="243444" cy="452624"/>
          </a:xfrm>
        </p:spPr>
        <p:txBody>
          <a:bodyPr/>
          <a:lstStyle/>
          <a:p>
            <a:pPr marL="0" indent="0"/>
            <a:r>
              <a:rPr lang="en-US" dirty="0"/>
              <a:t> </a:t>
            </a:r>
            <a:r>
              <a:rPr lang="en-US" sz="100" dirty="0"/>
              <a:t> </a:t>
            </a:r>
            <a:endParaRPr lang="en-IN" sz="100" dirty="0"/>
          </a:p>
        </p:txBody>
      </p:sp>
      <p:graphicFrame>
        <p:nvGraphicFramePr>
          <p:cNvPr id="23" name="Object 22" descr="d.f. equals n subscript 1 plus n subscript 2 minus 2">
            <a:extLst>
              <a:ext uri="{FF2B5EF4-FFF2-40B4-BE49-F238E27FC236}">
                <a16:creationId xmlns:a16="http://schemas.microsoft.com/office/drawing/2014/main" id="{1F085C67-CB40-4F85-951B-9A230A846DB0}"/>
              </a:ext>
            </a:extLst>
          </p:cNvPr>
          <p:cNvGraphicFramePr>
            <a:graphicFrameLocks noChangeAspect="1"/>
          </p:cNvGraphicFramePr>
          <p:nvPr/>
        </p:nvGraphicFramePr>
        <p:xfrm>
          <a:off x="833582" y="5922653"/>
          <a:ext cx="2032000" cy="392545"/>
        </p:xfrm>
        <a:graphic>
          <a:graphicData uri="http://schemas.openxmlformats.org/presentationml/2006/ole">
            <mc:AlternateContent xmlns:mc="http://schemas.openxmlformats.org/markup-compatibility/2006">
              <mc:Choice xmlns:v="urn:schemas-microsoft-com:vml" Requires="v">
                <p:oleObj name="Equation" r:id="rId10" imgW="2234880" imgH="431640" progId="Equation.DSMT4">
                  <p:embed/>
                </p:oleObj>
              </mc:Choice>
              <mc:Fallback>
                <p:oleObj name="Equation" r:id="rId10" imgW="2234880" imgH="431640" progId="Equation.DSMT4">
                  <p:embed/>
                  <p:pic>
                    <p:nvPicPr>
                      <p:cNvPr id="23" name="Object 22" descr="d.f. equals n subscript 1 plus n subscript 2 minus 2">
                        <a:extLst>
                          <a:ext uri="{FF2B5EF4-FFF2-40B4-BE49-F238E27FC236}">
                            <a16:creationId xmlns:a16="http://schemas.microsoft.com/office/drawing/2014/main" id="{1F085C67-CB40-4F85-951B-9A230A846DB0}"/>
                          </a:ext>
                        </a:extLst>
                      </p:cNvPr>
                      <p:cNvPicPr/>
                      <p:nvPr/>
                    </p:nvPicPr>
                    <p:blipFill>
                      <a:blip r:embed="rId11"/>
                      <a:stretch>
                        <a:fillRect/>
                      </a:stretch>
                    </p:blipFill>
                    <p:spPr>
                      <a:xfrm>
                        <a:off x="833582" y="5922653"/>
                        <a:ext cx="2032000" cy="392545"/>
                      </a:xfrm>
                      <a:prstGeom prst="rect">
                        <a:avLst/>
                      </a:prstGeom>
                    </p:spPr>
                  </p:pic>
                </p:oleObj>
              </mc:Fallback>
            </mc:AlternateContent>
          </a:graphicData>
        </a:graphic>
      </p:graphicFrame>
    </p:spTree>
    <p:extLst>
      <p:ext uri="{BB962C8B-B14F-4D97-AF65-F5344CB8AC3E}">
        <p14:creationId xmlns:p14="http://schemas.microsoft.com/office/powerpoint/2010/main" val="903303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ltLang="en-US" sz="3400" dirty="0"/>
              <a:t>Two Sample </a:t>
            </a:r>
            <a:r>
              <a:rPr lang="en-US" altLang="en-US" sz="3400" i="1" dirty="0"/>
              <a:t>t</a:t>
            </a:r>
            <a:r>
              <a:rPr lang="en-US" altLang="en-US" sz="3400" dirty="0"/>
              <a:t>-Test for the Difference Between Means </a:t>
            </a:r>
            <a:r>
              <a:rPr lang="en-US" altLang="en-US" sz="2000" b="0" dirty="0"/>
              <a:t>(4 of 4)</a:t>
            </a:r>
            <a:endParaRPr lang="en-IN" sz="2000" dirty="0"/>
          </a:p>
        </p:txBody>
      </p:sp>
      <p:sp>
        <p:nvSpPr>
          <p:cNvPr id="2" name="Content Placeholder 1"/>
          <p:cNvSpPr>
            <a:spLocks noGrp="1"/>
          </p:cNvSpPr>
          <p:nvPr>
            <p:ph sz="quarter" idx="13"/>
          </p:nvPr>
        </p:nvSpPr>
        <p:spPr>
          <a:xfrm>
            <a:off x="457200" y="1556327"/>
            <a:ext cx="8229600" cy="854364"/>
          </a:xfrm>
        </p:spPr>
        <p:txBody>
          <a:bodyPr/>
          <a:lstStyle/>
          <a:p>
            <a:r>
              <a:rPr lang="en-US" altLang="en-US" b="1" dirty="0"/>
              <a:t>Variances are not equal: </a:t>
            </a:r>
            <a:r>
              <a:rPr lang="en-US" altLang="en-US" dirty="0">
                <a:ea typeface="Times New Roman" panose="02020603050405020304" pitchFamily="18" charset="0"/>
              </a:rPr>
              <a:t>If the population variances are not equal, then the standard error is</a:t>
            </a:r>
          </a:p>
        </p:txBody>
      </p:sp>
      <p:graphicFrame>
        <p:nvGraphicFramePr>
          <p:cNvPr id="6" name="Object 5" descr="s subscript x bar subscript 1 minus x bar subscript 2 end subscript equals square root of fraction numerator s subscript 1 squared divided by denominator n subscript 1 end fraction plus fraction numerator s subscript 2 squared divided by denominator n subscript 2 end fraction end root">
            <a:extLst>
              <a:ext uri="{FF2B5EF4-FFF2-40B4-BE49-F238E27FC236}">
                <a16:creationId xmlns:a16="http://schemas.microsoft.com/office/drawing/2014/main" id="{CF05E4D5-5136-45D6-A6FA-F13B4B1BA456}"/>
              </a:ext>
            </a:extLst>
          </p:cNvPr>
          <p:cNvGraphicFramePr>
            <a:graphicFrameLocks noChangeAspect="1"/>
          </p:cNvGraphicFramePr>
          <p:nvPr/>
        </p:nvGraphicFramePr>
        <p:xfrm>
          <a:off x="3384550" y="2587541"/>
          <a:ext cx="2374900" cy="1079500"/>
        </p:xfrm>
        <a:graphic>
          <a:graphicData uri="http://schemas.openxmlformats.org/presentationml/2006/ole">
            <mc:AlternateContent xmlns:mc="http://schemas.openxmlformats.org/markup-compatibility/2006">
              <mc:Choice xmlns:v="urn:schemas-microsoft-com:vml" Requires="v">
                <p:oleObj name="Equation" r:id="rId2" imgW="2374560" imgH="1079280" progId="Equation.DSMT4">
                  <p:embed/>
                </p:oleObj>
              </mc:Choice>
              <mc:Fallback>
                <p:oleObj name="Equation" r:id="rId2" imgW="2374560" imgH="1079280" progId="Equation.DSMT4">
                  <p:embed/>
                  <p:pic>
                    <p:nvPicPr>
                      <p:cNvPr id="6" name="Object 5" descr="s subscript x bar subscript 1 minus x bar subscript 2 end subscript equals square root of fraction numerator s subscript 1 squared divided by denominator n subscript 1 end fraction plus fraction numerator s subscript 2 squared divided by denominator n subscript 2 end fraction end root">
                        <a:extLst>
                          <a:ext uri="{FF2B5EF4-FFF2-40B4-BE49-F238E27FC236}">
                            <a16:creationId xmlns:a16="http://schemas.microsoft.com/office/drawing/2014/main" id="{CF05E4D5-5136-45D6-A6FA-F13B4B1BA456}"/>
                          </a:ext>
                        </a:extLst>
                      </p:cNvPr>
                      <p:cNvPicPr/>
                      <p:nvPr/>
                    </p:nvPicPr>
                    <p:blipFill>
                      <a:blip r:embed="rId3"/>
                      <a:stretch>
                        <a:fillRect/>
                      </a:stretch>
                    </p:blipFill>
                    <p:spPr>
                      <a:xfrm>
                        <a:off x="3384550" y="2587541"/>
                        <a:ext cx="2374900" cy="1079500"/>
                      </a:xfrm>
                      <a:prstGeom prst="rect">
                        <a:avLst/>
                      </a:prstGeom>
                    </p:spPr>
                  </p:pic>
                </p:oleObj>
              </mc:Fallback>
            </mc:AlternateContent>
          </a:graphicData>
        </a:graphic>
      </p:graphicFrame>
      <p:sp>
        <p:nvSpPr>
          <p:cNvPr id="3" name="Content Placeholder 2"/>
          <p:cNvSpPr>
            <a:spLocks noGrp="1"/>
          </p:cNvSpPr>
          <p:nvPr>
            <p:ph sz="quarter" idx="14"/>
          </p:nvPr>
        </p:nvSpPr>
        <p:spPr>
          <a:xfrm>
            <a:off x="457200" y="4031301"/>
            <a:ext cx="267195" cy="410070"/>
          </a:xfrm>
        </p:spPr>
        <p:txBody>
          <a:bodyPr/>
          <a:lstStyle/>
          <a:p>
            <a:pPr marL="0" indent="0"/>
            <a:r>
              <a:rPr lang="en-US" dirty="0"/>
              <a:t> </a:t>
            </a:r>
            <a:r>
              <a:rPr lang="en-US" sz="100" dirty="0"/>
              <a:t> </a:t>
            </a:r>
            <a:endParaRPr lang="en-IN" sz="100" dirty="0"/>
          </a:p>
        </p:txBody>
      </p:sp>
      <p:graphicFrame>
        <p:nvGraphicFramePr>
          <p:cNvPr id="7" name="Object 6" descr="d.f. equals smaller of n subscript 1 minus 1 or n subscript 2 minus 1">
            <a:extLst>
              <a:ext uri="{FF2B5EF4-FFF2-40B4-BE49-F238E27FC236}">
                <a16:creationId xmlns:a16="http://schemas.microsoft.com/office/drawing/2014/main" id="{27769E3F-05E9-4B46-89B1-5B6028AF071C}"/>
              </a:ext>
            </a:extLst>
          </p:cNvPr>
          <p:cNvGraphicFramePr>
            <a:graphicFrameLocks noChangeAspect="1"/>
          </p:cNvGraphicFramePr>
          <p:nvPr/>
        </p:nvGraphicFramePr>
        <p:xfrm>
          <a:off x="831107" y="4011104"/>
          <a:ext cx="4320066" cy="423292"/>
        </p:xfrm>
        <a:graphic>
          <a:graphicData uri="http://schemas.openxmlformats.org/presentationml/2006/ole">
            <mc:AlternateContent xmlns:mc="http://schemas.openxmlformats.org/markup-compatibility/2006">
              <mc:Choice xmlns:v="urn:schemas-microsoft-com:vml" Requires="v">
                <p:oleObj name="Equation" r:id="rId4" imgW="4406760" imgH="431640" progId="Equation.DSMT4">
                  <p:embed/>
                </p:oleObj>
              </mc:Choice>
              <mc:Fallback>
                <p:oleObj name="Equation" r:id="rId4" imgW="4406760" imgH="431640" progId="Equation.DSMT4">
                  <p:embed/>
                  <p:pic>
                    <p:nvPicPr>
                      <p:cNvPr id="7" name="Object 6" descr="d.f. equals smaller of n subscript 1 minus 1 or n subscript 2 minus 1">
                        <a:extLst>
                          <a:ext uri="{FF2B5EF4-FFF2-40B4-BE49-F238E27FC236}">
                            <a16:creationId xmlns:a16="http://schemas.microsoft.com/office/drawing/2014/main" id="{27769E3F-05E9-4B46-89B1-5B6028AF071C}"/>
                          </a:ext>
                        </a:extLst>
                      </p:cNvPr>
                      <p:cNvPicPr/>
                      <p:nvPr/>
                    </p:nvPicPr>
                    <p:blipFill>
                      <a:blip r:embed="rId5"/>
                      <a:stretch>
                        <a:fillRect/>
                      </a:stretch>
                    </p:blipFill>
                    <p:spPr>
                      <a:xfrm>
                        <a:off x="831107" y="4011104"/>
                        <a:ext cx="4320066" cy="423292"/>
                      </a:xfrm>
                      <a:prstGeom prst="rect">
                        <a:avLst/>
                      </a:prstGeom>
                    </p:spPr>
                  </p:pic>
                </p:oleObj>
              </mc:Fallback>
            </mc:AlternateContent>
          </a:graphicData>
        </a:graphic>
      </p:graphicFrame>
    </p:spTree>
    <p:extLst>
      <p:ext uri="{BB962C8B-B14F-4D97-AF65-F5344CB8AC3E}">
        <p14:creationId xmlns:p14="http://schemas.microsoft.com/office/powerpoint/2010/main" val="2538705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sz="3400" dirty="0"/>
              <a:t>Two-Sample Tests for Independent Samples</a:t>
            </a:r>
          </a:p>
        </p:txBody>
      </p:sp>
      <p:pic>
        <p:nvPicPr>
          <p:cNvPr id="2" name="Content Placeholder 1" descr="&quot;Are both population standard deviations known?&quot;, if Yes then &quot;Are both populations normal or are both sample sizes at least 30?&quot; if Yes then the output is &quot;Use the z ­ test.&quot; For long description in Notes pane, press F6."/>
          <p:cNvPicPr>
            <a:picLocks noGrp="1" noChangeAspect="1"/>
          </p:cNvPicPr>
          <p:nvPr>
            <p:ph sz="quarter" idx="13"/>
          </p:nvPr>
        </p:nvPicPr>
        <p:blipFill rotWithShape="1">
          <a:blip r:embed="rId3"/>
          <a:srcRect t="4462"/>
          <a:stretch/>
        </p:blipFill>
        <p:spPr>
          <a:xfrm>
            <a:off x="1924532" y="1514170"/>
            <a:ext cx="5294934" cy="4809228"/>
          </a:xfrm>
          <a:prstGeom prst="rect">
            <a:avLst/>
          </a:prstGeom>
        </p:spPr>
      </p:pic>
    </p:spTree>
    <p:extLst>
      <p:ext uri="{BB962C8B-B14F-4D97-AF65-F5344CB8AC3E}">
        <p14:creationId xmlns:p14="http://schemas.microsoft.com/office/powerpoint/2010/main" val="242755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57200" y="71251"/>
            <a:ext cx="8229600" cy="1241399"/>
          </a:xfrm>
        </p:spPr>
        <p:txBody>
          <a:bodyPr/>
          <a:lstStyle/>
          <a:p>
            <a:r>
              <a:rPr lang="en-US" altLang="en-US" sz="2600" dirty="0"/>
              <a:t>Two-Sample </a:t>
            </a:r>
            <a:r>
              <a:rPr lang="en-US" altLang="en-US" sz="2600" i="1" dirty="0"/>
              <a:t>t</a:t>
            </a:r>
            <a:r>
              <a:rPr lang="en-US" altLang="en-US" sz="2600" dirty="0"/>
              <a:t>-Test for the Difference Between Means (Independent Samples </a:t>
            </a:r>
            <a:r>
              <a:rPr lang="en-US" altLang="en-US" sz="2600" dirty="0">
                <a:ea typeface="MS PGothic" panose="020B0600070205080204" pitchFamily="34" charset="-128"/>
              </a:rPr>
              <a:t>Sigma Subscript 2 </a:t>
            </a:r>
            <a:r>
              <a:rPr lang="en-US" altLang="en-US" sz="2600" dirty="0">
                <a:ea typeface="Times New Roman" panose="02020603050405020304" pitchFamily="18" charset="0"/>
              </a:rPr>
              <a:t>and </a:t>
            </a:r>
            <a:r>
              <a:rPr lang="en-US" altLang="en-US" sz="2600" dirty="0">
                <a:ea typeface="MS PGothic" panose="020B0600070205080204" pitchFamily="34" charset="-128"/>
              </a:rPr>
              <a:t>Sigma Subscript 2</a:t>
            </a:r>
            <a:r>
              <a:rPr lang="en-US" altLang="en-US" sz="2600" baseline="-25000" dirty="0">
                <a:ea typeface="Times New Roman" panose="02020603050405020304" pitchFamily="18" charset="0"/>
              </a:rPr>
              <a:t> </a:t>
            </a:r>
            <a:r>
              <a:rPr lang="en-US" altLang="en-US" sz="2600" dirty="0">
                <a:ea typeface="Times New Roman" panose="02020603050405020304" pitchFamily="18" charset="0"/>
              </a:rPr>
              <a:t>Unknown</a:t>
            </a:r>
            <a:r>
              <a:rPr lang="en-US" altLang="en-US" sz="2600" dirty="0"/>
              <a:t>) </a:t>
            </a:r>
            <a:r>
              <a:rPr lang="en-US" altLang="en-US" sz="2000" b="0" dirty="0"/>
              <a:t>(1 of 3)</a:t>
            </a:r>
            <a:endParaRPr lang="en-US" sz="2000" b="0" dirty="0"/>
          </a:p>
        </p:txBody>
      </p:sp>
      <p:graphicFrame>
        <p:nvGraphicFramePr>
          <p:cNvPr id="2" name="Content Placeholder 1"/>
          <p:cNvGraphicFramePr>
            <a:graphicFrameLocks noGrp="1"/>
          </p:cNvGraphicFramePr>
          <p:nvPr>
            <p:ph sz="quarter" idx="13"/>
          </p:nvPr>
        </p:nvGraphicFramePr>
        <p:xfrm>
          <a:off x="457200" y="1555750"/>
          <a:ext cx="8229600" cy="4476634"/>
        </p:xfrm>
        <a:graphic>
          <a:graphicData uri="http://schemas.openxmlformats.org/drawingml/2006/table">
            <a:tbl>
              <a:tblPr firstRow="1" bandRow="1">
                <a:tableStyleId>{2D5ABB26-0587-4C30-8999-92F81FD0307C}</a:tableStyleId>
              </a:tblPr>
              <a:tblGrid>
                <a:gridCol w="4803569">
                  <a:extLst>
                    <a:ext uri="{9D8B030D-6E8A-4147-A177-3AD203B41FA5}">
                      <a16:colId xmlns:a16="http://schemas.microsoft.com/office/drawing/2014/main" val="2541443687"/>
                    </a:ext>
                  </a:extLst>
                </a:gridCol>
                <a:gridCol w="3426031">
                  <a:extLst>
                    <a:ext uri="{9D8B030D-6E8A-4147-A177-3AD203B41FA5}">
                      <a16:colId xmlns:a16="http://schemas.microsoft.com/office/drawing/2014/main" val="3602413770"/>
                    </a:ext>
                  </a:extLst>
                </a:gridCol>
              </a:tblGrid>
              <a:tr h="415188">
                <a:tc>
                  <a:txBody>
                    <a:bodyPr/>
                    <a:lstStyle/>
                    <a:p>
                      <a:r>
                        <a:rPr lang="en-IN" sz="2200" b="1" dirty="0"/>
                        <a:t>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b="1" dirty="0"/>
                        <a:t>In Symbols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484966"/>
                  </a:ext>
                </a:extLst>
              </a:tr>
              <a:tr h="1948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solidFill>
                            <a:srgbClr val="000000"/>
                          </a:solidFill>
                          <a:latin typeface="+mn-lt"/>
                          <a:cs typeface="Times New Roman" panose="02020603050405020304" pitchFamily="18" charset="0"/>
                        </a:rPr>
                        <a:t>1. Verify that </a:t>
                      </a:r>
                      <a:r>
                        <a:rPr lang="en-IN" altLang="en-US" sz="100" dirty="0" err="1">
                          <a:solidFill>
                            <a:srgbClr val="000000"/>
                          </a:solidFill>
                          <a:latin typeface="+mn-lt"/>
                          <a:cs typeface="Times New Roman" panose="02020603050405020304" pitchFamily="18" charset="0"/>
                        </a:rPr>
                        <a:t>si</a:t>
                      </a:r>
                      <a:r>
                        <a:rPr lang="en-US" altLang="en-US" sz="100" dirty="0">
                          <a:solidFill>
                            <a:srgbClr val="000000"/>
                          </a:solidFill>
                          <a:latin typeface="+mn-lt"/>
                          <a:cs typeface="Times New Roman" panose="02020603050405020304" pitchFamily="18" charset="0"/>
                        </a:rPr>
                        <a:t>Sigma sub 1 and sigma sub 2.</a:t>
                      </a:r>
                      <a:r>
                        <a:rPr lang="en-US" altLang="en-US" sz="2200" dirty="0">
                          <a:solidFill>
                            <a:srgbClr val="000000"/>
                          </a:solidFill>
                          <a:latin typeface="+mn-lt"/>
                          <a:cs typeface="Times New Roman" panose="02020603050405020304" pitchFamily="18" charset="0"/>
                        </a:rPr>
                        <a:t>              </a:t>
                      </a:r>
                      <a:r>
                        <a:rPr lang="en-US" altLang="en-US" sz="2200" dirty="0">
                          <a:solidFill>
                            <a:srgbClr val="000000"/>
                          </a:solidFill>
                          <a:latin typeface="+mn-lt"/>
                          <a:cs typeface="Times New Roman" panose="02020603050405020304" pitchFamily="18" charset="0"/>
                          <a:sym typeface="Symbol" panose="05050102010706020507" pitchFamily="18" charset="2"/>
                        </a:rPr>
                        <a:t>are known, the samples are random and independent, and either the populations are normally distributed </a:t>
                      </a:r>
                      <a:r>
                        <a:rPr lang="en-US" altLang="en-US" sz="2200" i="0" dirty="0">
                          <a:solidFill>
                            <a:srgbClr val="000000"/>
                          </a:solidFill>
                          <a:latin typeface="+mn-lt"/>
                          <a:cs typeface="Times New Roman" panose="02020603050405020304" pitchFamily="18" charset="0"/>
                          <a:sym typeface="Symbol" panose="05050102010706020507" pitchFamily="18" charset="2"/>
                        </a:rPr>
                        <a:t>or</a:t>
                      </a:r>
                      <a:r>
                        <a:rPr lang="en-US" altLang="en-US" sz="2200" dirty="0">
                          <a:solidFill>
                            <a:srgbClr val="000000"/>
                          </a:solidFill>
                          <a:latin typeface="+mn-lt"/>
                          <a:cs typeface="Times New Roman" panose="02020603050405020304" pitchFamily="18" charset="0"/>
                          <a:sym typeface="Symbol" panose="05050102010706020507" pitchFamily="18" charset="2"/>
                        </a:rPr>
                        <a:t> both  </a:t>
                      </a:r>
                      <a:r>
                        <a:rPr lang="en-US" altLang="en-US" sz="100" dirty="0">
                          <a:solidFill>
                            <a:srgbClr val="000000"/>
                          </a:solidFill>
                          <a:latin typeface="+mn-lt"/>
                          <a:cs typeface="Times New Roman" panose="02020603050405020304" pitchFamily="18" charset="0"/>
                          <a:sym typeface="Symbol" panose="05050102010706020507" pitchFamily="18" charset="2"/>
                        </a:rPr>
                        <a:t>n sub 1 greater than or equal to 30.</a:t>
                      </a:r>
                      <a:r>
                        <a:rPr lang="en-US" altLang="en-US" sz="2200" dirty="0">
                          <a:solidFill>
                            <a:srgbClr val="000000"/>
                          </a:solidFill>
                          <a:latin typeface="+mn-lt"/>
                          <a:cs typeface="Times New Roman" panose="02020603050405020304" pitchFamily="18" charset="0"/>
                          <a:sym typeface="Symbol" panose="05050102010706020507" pitchFamily="18" charset="2"/>
                        </a:rPr>
                        <a:t>         </a:t>
                      </a:r>
                      <a:r>
                        <a:rPr lang="en-US" altLang="en-US" sz="2200" dirty="0">
                          <a:latin typeface="+mn-lt"/>
                          <a:cs typeface="Times New Roman" panose="02020603050405020304" pitchFamily="18" charset="0"/>
                        </a:rPr>
                        <a:t>and </a:t>
                      </a:r>
                      <a:r>
                        <a:rPr lang="en-US" altLang="en-US" sz="100" dirty="0">
                          <a:latin typeface="+mn-lt"/>
                          <a:cs typeface="Times New Roman" panose="02020603050405020304" pitchFamily="18" charset="0"/>
                        </a:rPr>
                        <a:t>n sub 2 greater than or equal to 30.</a:t>
                      </a:r>
                      <a:endParaRPr lang="en-IN" altLang="en-US" sz="100" dirty="0">
                        <a:latin typeface="+mn-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dirty="0"/>
                        <a:t>Blank</a:t>
                      </a:r>
                      <a:endParaRPr lang="en-IN"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695750"/>
                  </a:ext>
                </a:extLst>
              </a:tr>
              <a:tr h="12786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n-ea"/>
                          <a:cs typeface="Arial" charset="0"/>
                        </a:rPr>
                        <a:t>2. State the claim mathematically and verbally.  Identify the null and alternative hypotheses.</a:t>
                      </a:r>
                      <a:endParaRPr lang="en-US" altLang="en-US" sz="2400" dirty="0">
                        <a:ea typeface="+mn-ea"/>
                        <a:cs typeface="Arial" charset="0"/>
                        <a:sym typeface="Symbol"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mn-lt"/>
                        </a:rPr>
                        <a:t>State </a:t>
                      </a:r>
                      <a:r>
                        <a:rPr lang="pt-BR" sz="100" dirty="0">
                          <a:latin typeface="+mn-lt"/>
                        </a:rPr>
                        <a:t>H sub 0 and H sub a.</a:t>
                      </a:r>
                      <a:endParaRPr lang="en-IN" sz="2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689095"/>
                  </a:ext>
                </a:extLst>
              </a:tr>
              <a:tr h="8007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n-ea"/>
                          <a:cs typeface="Arial" charset="0"/>
                          <a:sym typeface="Symbol" pitchFamily="18" charset="2"/>
                        </a:rPr>
                        <a:t>3. Specify the level of</a:t>
                      </a:r>
                      <a:r>
                        <a:rPr lang="en-US" altLang="en-US" sz="2400" baseline="0" dirty="0">
                          <a:ea typeface="+mn-ea"/>
                          <a:cs typeface="Arial" charset="0"/>
                          <a:sym typeface="Symbol" pitchFamily="18" charset="2"/>
                        </a:rPr>
                        <a:t> </a:t>
                      </a:r>
                      <a:r>
                        <a:rPr lang="en-US" altLang="en-US" sz="2400" dirty="0">
                          <a:ea typeface="+mn-ea"/>
                          <a:cs typeface="Arial" charset="0"/>
                          <a:sym typeface="Symbol" pitchFamily="18" charset="2"/>
                        </a:rPr>
                        <a:t>significance.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dirty="0"/>
                        <a:t>Identify </a:t>
                      </a:r>
                      <a:r>
                        <a:rPr lang="en-IN" sz="100" dirty="0"/>
                        <a:t>alpha.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397605"/>
                  </a:ext>
                </a:extLst>
              </a:tr>
            </a:tbl>
          </a:graphicData>
        </a:graphic>
      </p:graphicFrame>
      <p:graphicFrame>
        <p:nvGraphicFramePr>
          <p:cNvPr id="5" name="Object 4">
            <a:extLst>
              <a:ext uri="{C183D7F6-B498-43B3-948B-1728B52AA6E4}">
                <adec:decorative xmlns:adec="http://schemas.microsoft.com/office/drawing/2017/decorative" val="1"/>
              </a:ext>
            </a:extLst>
          </p:cNvPr>
          <p:cNvGraphicFramePr>
            <a:graphicFrameLocks noChangeAspect="1"/>
          </p:cNvGraphicFramePr>
          <p:nvPr/>
        </p:nvGraphicFramePr>
        <p:xfrm>
          <a:off x="2187864" y="2037369"/>
          <a:ext cx="1175537" cy="356859"/>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5" name="Object 4">
                        <a:extLst>
                          <a:ext uri="{C183D7F6-B498-43B3-948B-1728B52AA6E4}">
                            <adec:decorative xmlns:adec="http://schemas.microsoft.com/office/drawing/2017/decorative" val="1"/>
                          </a:ext>
                        </a:extLst>
                      </p:cNvPr>
                      <p:cNvPicPr/>
                      <p:nvPr/>
                    </p:nvPicPr>
                    <p:blipFill>
                      <a:blip r:embed="rId3"/>
                      <a:stretch>
                        <a:fillRect/>
                      </a:stretch>
                    </p:blipFill>
                    <p:spPr>
                      <a:xfrm>
                        <a:off x="2187864" y="2037369"/>
                        <a:ext cx="1175537" cy="356859"/>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val="1"/>
              </a:ext>
            </a:extLst>
          </p:cNvPr>
          <p:cNvGraphicFramePr>
            <a:graphicFrameLocks noChangeAspect="1"/>
          </p:cNvGraphicFramePr>
          <p:nvPr/>
        </p:nvGraphicFramePr>
        <p:xfrm>
          <a:off x="1542737" y="3394941"/>
          <a:ext cx="842818" cy="357909"/>
        </p:xfrm>
        <a:graphic>
          <a:graphicData uri="http://schemas.openxmlformats.org/presentationml/2006/ole">
            <mc:AlternateContent xmlns:mc="http://schemas.openxmlformats.org/markup-compatibility/2006">
              <mc:Choice xmlns:v="urn:schemas-microsoft-com:vml" Requires="v">
                <p:oleObj name="Equation" r:id="rId4" imgW="927000" imgH="393480" progId="Equation.DSMT4">
                  <p:embed/>
                </p:oleObj>
              </mc:Choice>
              <mc:Fallback>
                <p:oleObj name="Equation" r:id="rId4" imgW="927000" imgH="393480" progId="Equation.DSMT4">
                  <p:embed/>
                  <p:pic>
                    <p:nvPicPr>
                      <p:cNvPr id="6" name="Object 5">
                        <a:extLst>
                          <a:ext uri="{C183D7F6-B498-43B3-948B-1728B52AA6E4}">
                            <adec:decorative xmlns:adec="http://schemas.microsoft.com/office/drawing/2017/decorative" val="1"/>
                          </a:ext>
                        </a:extLst>
                      </p:cNvPr>
                      <p:cNvPicPr/>
                      <p:nvPr/>
                    </p:nvPicPr>
                    <p:blipFill>
                      <a:blip r:embed="rId5"/>
                      <a:stretch>
                        <a:fillRect/>
                      </a:stretch>
                    </p:blipFill>
                    <p:spPr>
                      <a:xfrm>
                        <a:off x="1542737" y="3394941"/>
                        <a:ext cx="842818" cy="357909"/>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val="1"/>
              </a:ext>
            </a:extLst>
          </p:cNvPr>
          <p:cNvGraphicFramePr>
            <a:graphicFrameLocks noChangeAspect="1"/>
          </p:cNvGraphicFramePr>
          <p:nvPr/>
        </p:nvGraphicFramePr>
        <p:xfrm>
          <a:off x="2987965" y="3385415"/>
          <a:ext cx="946150" cy="357187"/>
        </p:xfrm>
        <a:graphic>
          <a:graphicData uri="http://schemas.openxmlformats.org/presentationml/2006/ole">
            <mc:AlternateContent xmlns:mc="http://schemas.openxmlformats.org/markup-compatibility/2006">
              <mc:Choice xmlns:v="urn:schemas-microsoft-com:vml" Requires="v">
                <p:oleObj name="Equation" r:id="rId6" imgW="1041120" imgH="393480" progId="Equation.DSMT4">
                  <p:embed/>
                </p:oleObj>
              </mc:Choice>
              <mc:Fallback>
                <p:oleObj name="Equation" r:id="rId6" imgW="1041120" imgH="393480" progId="Equation.DSMT4">
                  <p:embed/>
                  <p:pic>
                    <p:nvPicPr>
                      <p:cNvPr id="7" name="Object 6">
                        <a:extLst>
                          <a:ext uri="{C183D7F6-B498-43B3-948B-1728B52AA6E4}">
                            <adec:decorative xmlns:adec="http://schemas.microsoft.com/office/drawing/2017/decorative" val="1"/>
                          </a:ext>
                        </a:extLst>
                      </p:cNvPr>
                      <p:cNvPicPr/>
                      <p:nvPr/>
                    </p:nvPicPr>
                    <p:blipFill>
                      <a:blip r:embed="rId7"/>
                      <a:stretch>
                        <a:fillRect/>
                      </a:stretch>
                    </p:blipFill>
                    <p:spPr>
                      <a:xfrm>
                        <a:off x="2987965" y="3385415"/>
                        <a:ext cx="946150" cy="357187"/>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val="1"/>
              </a:ext>
            </a:extLst>
          </p:cNvPr>
          <p:cNvGraphicFramePr>
            <a:graphicFrameLocks noChangeAspect="1"/>
          </p:cNvGraphicFramePr>
          <p:nvPr/>
        </p:nvGraphicFramePr>
        <p:xfrm>
          <a:off x="6093602" y="3982423"/>
          <a:ext cx="1414745" cy="350858"/>
        </p:xfrm>
        <a:graphic>
          <a:graphicData uri="http://schemas.openxmlformats.org/presentationml/2006/ole">
            <mc:AlternateContent xmlns:mc="http://schemas.openxmlformats.org/markup-compatibility/2006">
              <mc:Choice xmlns:v="urn:schemas-microsoft-com:vml" Requires="v">
                <p:oleObj name="Equation" r:id="rId8" imgW="1587240" imgH="393480" progId="Equation.DSMT4">
                  <p:embed/>
                </p:oleObj>
              </mc:Choice>
              <mc:Fallback>
                <p:oleObj name="Equation" r:id="rId8" imgW="1587240" imgH="393480" progId="Equation.DSMT4">
                  <p:embed/>
                  <p:pic>
                    <p:nvPicPr>
                      <p:cNvPr id="8" name="Object 7">
                        <a:extLst>
                          <a:ext uri="{C183D7F6-B498-43B3-948B-1728B52AA6E4}">
                            <adec:decorative xmlns:adec="http://schemas.microsoft.com/office/drawing/2017/decorative" val="1"/>
                          </a:ext>
                        </a:extLst>
                      </p:cNvPr>
                      <p:cNvPicPr/>
                      <p:nvPr/>
                    </p:nvPicPr>
                    <p:blipFill>
                      <a:blip r:embed="rId9"/>
                      <a:stretch>
                        <a:fillRect/>
                      </a:stretch>
                    </p:blipFill>
                    <p:spPr>
                      <a:xfrm>
                        <a:off x="6093602" y="3982423"/>
                        <a:ext cx="1414745" cy="350858"/>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8B5338C9-E967-4806-B03F-CFF1123D23FE}"/>
              </a:ext>
              <a:ext uri="{C183D7F6-B498-43B3-948B-1728B52AA6E4}">
                <adec:decorative xmlns:adec="http://schemas.microsoft.com/office/drawing/2017/decorative" val="1"/>
              </a:ext>
            </a:extLst>
          </p:cNvPr>
          <p:cNvGraphicFramePr>
            <a:graphicFrameLocks noChangeAspect="1"/>
          </p:cNvGraphicFramePr>
          <p:nvPr/>
        </p:nvGraphicFramePr>
        <p:xfrm>
          <a:off x="6339560" y="5345636"/>
          <a:ext cx="321310" cy="237490"/>
        </p:xfrm>
        <a:graphic>
          <a:graphicData uri="http://schemas.openxmlformats.org/presentationml/2006/ole">
            <mc:AlternateContent xmlns:mc="http://schemas.openxmlformats.org/markup-compatibility/2006">
              <mc:Choice xmlns:v="urn:schemas-microsoft-com:vml" Requires="v">
                <p:oleObj name="Equation" r:id="rId10" imgW="291960" imgH="215640" progId="Equation.DSMT4">
                  <p:embed/>
                </p:oleObj>
              </mc:Choice>
              <mc:Fallback>
                <p:oleObj name="Equation" r:id="rId10" imgW="291960" imgH="215640" progId="Equation.DSMT4">
                  <p:embed/>
                  <p:pic>
                    <p:nvPicPr>
                      <p:cNvPr id="9" name="Object 8">
                        <a:extLst>
                          <a:ext uri="{FF2B5EF4-FFF2-40B4-BE49-F238E27FC236}">
                            <a16:creationId xmlns:a16="http://schemas.microsoft.com/office/drawing/2014/main" id="{8B5338C9-E967-4806-B03F-CFF1123D23FE}"/>
                          </a:ext>
                          <a:ext uri="{C183D7F6-B498-43B3-948B-1728B52AA6E4}">
                            <adec:decorative xmlns:adec="http://schemas.microsoft.com/office/drawing/2017/decorative" val="1"/>
                          </a:ext>
                        </a:extLst>
                      </p:cNvPr>
                      <p:cNvPicPr/>
                      <p:nvPr/>
                    </p:nvPicPr>
                    <p:blipFill>
                      <a:blip r:embed="rId11"/>
                      <a:stretch>
                        <a:fillRect/>
                      </a:stretch>
                    </p:blipFill>
                    <p:spPr>
                      <a:xfrm>
                        <a:off x="6339560" y="5345636"/>
                        <a:ext cx="321310" cy="23749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016785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57200" y="71251"/>
            <a:ext cx="8229600" cy="1241399"/>
          </a:xfrm>
        </p:spPr>
        <p:txBody>
          <a:bodyPr/>
          <a:lstStyle/>
          <a:p>
            <a:r>
              <a:rPr lang="en-US" altLang="en-US" sz="2600" dirty="0"/>
              <a:t>Two-Sample </a:t>
            </a:r>
            <a:r>
              <a:rPr lang="en-US" altLang="en-US" sz="2600" i="1" dirty="0"/>
              <a:t>t</a:t>
            </a:r>
            <a:r>
              <a:rPr lang="en-US" altLang="en-US" sz="2600" dirty="0"/>
              <a:t>-Test for the Difference Between Means (Independent Samples </a:t>
            </a:r>
            <a:r>
              <a:rPr lang="en-US" altLang="en-US" sz="2600" dirty="0">
                <a:ea typeface="MS PGothic" panose="020B0600070205080204" pitchFamily="34" charset="-128"/>
              </a:rPr>
              <a:t>Sigma Subscript 2 </a:t>
            </a:r>
            <a:r>
              <a:rPr lang="en-US" altLang="en-US" sz="2600" dirty="0">
                <a:ea typeface="Times New Roman" panose="02020603050405020304" pitchFamily="18" charset="0"/>
              </a:rPr>
              <a:t>and </a:t>
            </a:r>
            <a:r>
              <a:rPr lang="en-US" altLang="en-US" sz="2600" dirty="0">
                <a:ea typeface="MS PGothic" panose="020B0600070205080204" pitchFamily="34" charset="-128"/>
              </a:rPr>
              <a:t>Sigma Subscript 2</a:t>
            </a:r>
            <a:r>
              <a:rPr lang="en-US" altLang="en-US" sz="2600" baseline="-25000" dirty="0">
                <a:ea typeface="Times New Roman" panose="02020603050405020304" pitchFamily="18" charset="0"/>
              </a:rPr>
              <a:t> </a:t>
            </a:r>
            <a:r>
              <a:rPr lang="en-US" altLang="en-US" sz="2600" dirty="0">
                <a:ea typeface="Times New Roman" panose="02020603050405020304" pitchFamily="18" charset="0"/>
              </a:rPr>
              <a:t>Unknown</a:t>
            </a:r>
            <a:r>
              <a:rPr lang="en-US" altLang="en-US" sz="2600" dirty="0"/>
              <a:t>) </a:t>
            </a:r>
            <a:r>
              <a:rPr lang="en-US" altLang="en-US" sz="2000" b="0" dirty="0"/>
              <a:t>(2 of 3)</a:t>
            </a:r>
            <a:endParaRPr lang="en-US" sz="2000" b="0" dirty="0"/>
          </a:p>
        </p:txBody>
      </p:sp>
      <p:graphicFrame>
        <p:nvGraphicFramePr>
          <p:cNvPr id="2" name="Content Placeholder 1"/>
          <p:cNvGraphicFramePr>
            <a:graphicFrameLocks noGrp="1"/>
          </p:cNvGraphicFramePr>
          <p:nvPr>
            <p:ph sz="quarter" idx="13"/>
          </p:nvPr>
        </p:nvGraphicFramePr>
        <p:xfrm>
          <a:off x="457200" y="1555750"/>
          <a:ext cx="7998031" cy="4454393"/>
        </p:xfrm>
        <a:graphic>
          <a:graphicData uri="http://schemas.openxmlformats.org/drawingml/2006/table">
            <a:tbl>
              <a:tblPr firstRow="1" bandRow="1">
                <a:tableStyleId>{2D5ABB26-0587-4C30-8999-92F81FD0307C}</a:tableStyleId>
              </a:tblPr>
              <a:tblGrid>
                <a:gridCol w="4803569">
                  <a:extLst>
                    <a:ext uri="{9D8B030D-6E8A-4147-A177-3AD203B41FA5}">
                      <a16:colId xmlns:a16="http://schemas.microsoft.com/office/drawing/2014/main" val="2541443687"/>
                    </a:ext>
                  </a:extLst>
                </a:gridCol>
                <a:gridCol w="3194462">
                  <a:extLst>
                    <a:ext uri="{9D8B030D-6E8A-4147-A177-3AD203B41FA5}">
                      <a16:colId xmlns:a16="http://schemas.microsoft.com/office/drawing/2014/main" val="3602413770"/>
                    </a:ext>
                  </a:extLst>
                </a:gridCol>
              </a:tblGrid>
              <a:tr h="415188">
                <a:tc>
                  <a:txBody>
                    <a:bodyPr/>
                    <a:lstStyle/>
                    <a:p>
                      <a:r>
                        <a:rPr lang="en-IN" sz="2200" b="1" dirty="0">
                          <a:latin typeface="+mn-lt"/>
                        </a:rPr>
                        <a:t>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b="1" dirty="0">
                          <a:latin typeface="+mn-lt"/>
                        </a:rPr>
                        <a:t>In Symbols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484966"/>
                  </a:ext>
                </a:extLst>
              </a:tr>
              <a:tr h="1948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sym typeface="Symbol" panose="05050102010706020507" pitchFamily="18" charset="2"/>
                        </a:rPr>
                        <a:t>4. Determine the degrees of freedom.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dirty="0" err="1">
                          <a:latin typeface="+mn-lt"/>
                        </a:rPr>
                        <a:t>d.f.</a:t>
                      </a:r>
                      <a:r>
                        <a:rPr lang="en-US" sz="100" dirty="0">
                          <a:latin typeface="+mn-lt"/>
                        </a:rPr>
                        <a:t> = n sub 1 + n sub 2 minus 2 or </a:t>
                      </a:r>
                      <a:r>
                        <a:rPr lang="en-US" sz="100" dirty="0" err="1">
                          <a:latin typeface="+mn-lt"/>
                        </a:rPr>
                        <a:t>d.f.</a:t>
                      </a:r>
                      <a:r>
                        <a:rPr lang="en-US" sz="100" dirty="0">
                          <a:latin typeface="+mn-lt"/>
                        </a:rPr>
                        <a:t> = smaller of n sub 1 minus 1 or n sub 2 minus 1.</a:t>
                      </a:r>
                      <a:endParaRPr lang="en-IN" sz="10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695750"/>
                  </a:ext>
                </a:extLst>
              </a:tr>
              <a:tr h="12786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sym typeface="Symbol" panose="05050102010706020507" pitchFamily="18" charset="2"/>
                        </a:rPr>
                        <a:t>5. Determine the critical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rPr>
                        <a:t>Use Table 5 in Appendix B.</a:t>
                      </a:r>
                      <a:endParaRPr lang="en-US" altLang="en-US" sz="2200" dirty="0">
                        <a:latin typeface="+mn-lt"/>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689095"/>
                  </a:ext>
                </a:extLst>
              </a:tr>
              <a:tr h="8007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sym typeface="Symbol" panose="05050102010706020507" pitchFamily="18" charset="2"/>
                        </a:rPr>
                        <a:t>6. Determine the rejection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dirty="0">
                          <a:latin typeface="+mn-lt"/>
                        </a:rPr>
                        <a:t>Blank</a:t>
                      </a:r>
                      <a:endParaRPr lang="en-IN" sz="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397605"/>
                  </a:ext>
                </a:extLst>
              </a:tr>
            </a:tbl>
          </a:graphicData>
        </a:graphic>
      </p:graphicFrame>
      <p:graphicFrame>
        <p:nvGraphicFramePr>
          <p:cNvPr id="10" name="Object 9">
            <a:extLst>
              <a:ext uri="{FF2B5EF4-FFF2-40B4-BE49-F238E27FC236}">
                <a16:creationId xmlns:a16="http://schemas.microsoft.com/office/drawing/2014/main" id="{EA3F6C59-565A-4771-B036-3B0CD96C5D9A}"/>
              </a:ext>
              <a:ext uri="{C183D7F6-B498-43B3-948B-1728B52AA6E4}">
                <adec:decorative xmlns:adec="http://schemas.microsoft.com/office/drawing/2017/decorative" val="1"/>
              </a:ext>
            </a:extLst>
          </p:cNvPr>
          <p:cNvGraphicFramePr>
            <a:graphicFrameLocks noChangeAspect="1"/>
          </p:cNvGraphicFramePr>
          <p:nvPr/>
        </p:nvGraphicFramePr>
        <p:xfrm>
          <a:off x="5551602" y="2380156"/>
          <a:ext cx="2701598" cy="1369473"/>
        </p:xfrm>
        <a:graphic>
          <a:graphicData uri="http://schemas.openxmlformats.org/presentationml/2006/ole">
            <mc:AlternateContent xmlns:mc="http://schemas.openxmlformats.org/markup-compatibility/2006">
              <mc:Choice xmlns:v="urn:schemas-microsoft-com:vml" Requires="v">
                <p:oleObj name="Equation" r:id="rId2" imgW="2755800" imgH="1396800" progId="Equation.DSMT4">
                  <p:embed/>
                </p:oleObj>
              </mc:Choice>
              <mc:Fallback>
                <p:oleObj name="Equation" r:id="rId2" imgW="2755800" imgH="1396800" progId="Equation.DSMT4">
                  <p:embed/>
                  <p:pic>
                    <p:nvPicPr>
                      <p:cNvPr id="10" name="Object 9">
                        <a:extLst>
                          <a:ext uri="{FF2B5EF4-FFF2-40B4-BE49-F238E27FC236}">
                            <a16:creationId xmlns:a16="http://schemas.microsoft.com/office/drawing/2014/main" id="{EA3F6C59-565A-4771-B036-3B0CD96C5D9A}"/>
                          </a:ext>
                          <a:ext uri="{C183D7F6-B498-43B3-948B-1728B52AA6E4}">
                            <adec:decorative xmlns:adec="http://schemas.microsoft.com/office/drawing/2017/decorative" val="1"/>
                          </a:ext>
                        </a:extLst>
                      </p:cNvPr>
                      <p:cNvPicPr/>
                      <p:nvPr/>
                    </p:nvPicPr>
                    <p:blipFill>
                      <a:blip r:embed="rId3"/>
                      <a:stretch>
                        <a:fillRect/>
                      </a:stretch>
                    </p:blipFill>
                    <p:spPr>
                      <a:xfrm>
                        <a:off x="5551602" y="2380156"/>
                        <a:ext cx="2701598" cy="136947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215481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57200" y="71251"/>
            <a:ext cx="8229600" cy="1241399"/>
          </a:xfrm>
        </p:spPr>
        <p:txBody>
          <a:bodyPr/>
          <a:lstStyle/>
          <a:p>
            <a:r>
              <a:rPr lang="en-US" altLang="en-US" sz="2600" dirty="0"/>
              <a:t>Two-Sample </a:t>
            </a:r>
            <a:r>
              <a:rPr lang="en-US" altLang="en-US" sz="2600" i="1" dirty="0"/>
              <a:t>t</a:t>
            </a:r>
            <a:r>
              <a:rPr lang="en-US" altLang="en-US" sz="2600" dirty="0"/>
              <a:t>-Test for the Difference Between Means (Independent Samples </a:t>
            </a:r>
            <a:r>
              <a:rPr lang="en-US" altLang="en-US" sz="2600" dirty="0">
                <a:ea typeface="MS PGothic" panose="020B0600070205080204" pitchFamily="34" charset="-128"/>
              </a:rPr>
              <a:t>Sigma Subscript 2 </a:t>
            </a:r>
            <a:r>
              <a:rPr lang="en-US" altLang="en-US" sz="2600" dirty="0">
                <a:ea typeface="Times New Roman" panose="02020603050405020304" pitchFamily="18" charset="0"/>
              </a:rPr>
              <a:t>and </a:t>
            </a:r>
            <a:r>
              <a:rPr lang="en-US" altLang="en-US" sz="2600" dirty="0">
                <a:ea typeface="MS PGothic" panose="020B0600070205080204" pitchFamily="34" charset="-128"/>
              </a:rPr>
              <a:t>Sigma Subscript 2</a:t>
            </a:r>
            <a:r>
              <a:rPr lang="en-US" altLang="en-US" sz="2600" baseline="-25000" dirty="0">
                <a:ea typeface="Times New Roman" panose="02020603050405020304" pitchFamily="18" charset="0"/>
              </a:rPr>
              <a:t> </a:t>
            </a:r>
            <a:r>
              <a:rPr lang="en-US" altLang="en-US" sz="2600" dirty="0">
                <a:ea typeface="Times New Roman" panose="02020603050405020304" pitchFamily="18" charset="0"/>
              </a:rPr>
              <a:t>Unknown</a:t>
            </a:r>
            <a:r>
              <a:rPr lang="en-US" altLang="en-US" sz="2600" dirty="0"/>
              <a:t>) </a:t>
            </a:r>
            <a:r>
              <a:rPr lang="en-US" altLang="en-US" sz="2000" b="0" dirty="0"/>
              <a:t>(3 of 3)</a:t>
            </a:r>
            <a:endParaRPr lang="en-US" sz="2000" b="0" dirty="0"/>
          </a:p>
        </p:txBody>
      </p:sp>
      <p:graphicFrame>
        <p:nvGraphicFramePr>
          <p:cNvPr id="2" name="Content Placeholder 1"/>
          <p:cNvGraphicFramePr>
            <a:graphicFrameLocks noGrp="1"/>
          </p:cNvGraphicFramePr>
          <p:nvPr>
            <p:ph sz="quarter" idx="13"/>
          </p:nvPr>
        </p:nvGraphicFramePr>
        <p:xfrm>
          <a:off x="457200" y="1555750"/>
          <a:ext cx="7998031" cy="4454393"/>
        </p:xfrm>
        <a:graphic>
          <a:graphicData uri="http://schemas.openxmlformats.org/drawingml/2006/table">
            <a:tbl>
              <a:tblPr firstRow="1" bandRow="1">
                <a:tableStyleId>{2D5ABB26-0587-4C30-8999-92F81FD0307C}</a:tableStyleId>
              </a:tblPr>
              <a:tblGrid>
                <a:gridCol w="4174177">
                  <a:extLst>
                    <a:ext uri="{9D8B030D-6E8A-4147-A177-3AD203B41FA5}">
                      <a16:colId xmlns:a16="http://schemas.microsoft.com/office/drawing/2014/main" val="2541443687"/>
                    </a:ext>
                  </a:extLst>
                </a:gridCol>
                <a:gridCol w="3823854">
                  <a:extLst>
                    <a:ext uri="{9D8B030D-6E8A-4147-A177-3AD203B41FA5}">
                      <a16:colId xmlns:a16="http://schemas.microsoft.com/office/drawing/2014/main" val="3602413770"/>
                    </a:ext>
                  </a:extLst>
                </a:gridCol>
              </a:tblGrid>
              <a:tr h="415188">
                <a:tc>
                  <a:txBody>
                    <a:bodyPr/>
                    <a:lstStyle/>
                    <a:p>
                      <a:r>
                        <a:rPr lang="en-IN" sz="2200" b="1" dirty="0">
                          <a:latin typeface="+mn-lt"/>
                        </a:rPr>
                        <a:t>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200" b="1" dirty="0">
                          <a:latin typeface="+mn-lt"/>
                        </a:rPr>
                        <a:t>In Symbols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484966"/>
                  </a:ext>
                </a:extLst>
              </a:tr>
              <a:tr h="1948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sym typeface="Symbol" panose="05050102010706020507" pitchFamily="18" charset="2"/>
                        </a:rPr>
                        <a:t>7. Find the standardized test statistic and sketch the sampling distribution.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 dirty="0">
                          <a:latin typeface="+mn-lt"/>
                        </a:rPr>
                        <a:t>t = start fraction left parenthesis x sub 1 bar minus x sub 2 bar right parenthesis minus left parenthesis mu sub 1 minus mu sub 2 right parenthesis over S sub start expression x sub 1 bar minus x sub 2 bar end expression end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5695750"/>
                  </a:ext>
                </a:extLst>
              </a:tr>
              <a:tr h="12786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sym typeface="Symbol" panose="05050102010706020507" pitchFamily="18" charset="2"/>
                        </a:rPr>
                        <a:t>8. Make a decision to reject or fail to reject the null hypothesis.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rPr>
                        <a:t>If </a:t>
                      </a:r>
                      <a:r>
                        <a:rPr lang="en-US" altLang="en-US" sz="2200" i="1" dirty="0">
                          <a:latin typeface="+mn-lt"/>
                        </a:rPr>
                        <a:t>t</a:t>
                      </a:r>
                      <a:r>
                        <a:rPr lang="en-US" altLang="en-US" sz="2200" dirty="0">
                          <a:latin typeface="+mn-lt"/>
                        </a:rPr>
                        <a:t> is in the rejection region, reject </a:t>
                      </a:r>
                      <a:r>
                        <a:rPr lang="en-US" altLang="en-US" sz="2200" i="1" baseline="0" dirty="0">
                          <a:latin typeface="+mn-lt"/>
                        </a:rPr>
                        <a:t> </a:t>
                      </a:r>
                      <a:r>
                        <a:rPr lang="en-US" altLang="en-US" sz="100" i="0" baseline="0" dirty="0">
                          <a:latin typeface="+mn-lt"/>
                        </a:rPr>
                        <a:t>H sub 0.</a:t>
                      </a:r>
                      <a:r>
                        <a:rPr lang="en-US" altLang="en-US" sz="2200" i="1" baseline="0" dirty="0">
                          <a:latin typeface="+mn-lt"/>
                        </a:rPr>
                        <a:t>     </a:t>
                      </a:r>
                      <a:r>
                        <a:rPr lang="en-US" altLang="en-US" sz="2200" dirty="0">
                          <a:latin typeface="+mn-lt"/>
                        </a:rPr>
                        <a:t>Otherwise, fail to reject </a:t>
                      </a:r>
                      <a:r>
                        <a:rPr lang="en-US" altLang="en-US" sz="100" dirty="0">
                          <a:latin typeface="+mn-lt"/>
                        </a:rPr>
                        <a:t>H sub 0.</a:t>
                      </a:r>
                      <a:endParaRPr lang="en-US" altLang="en-US" sz="100" dirty="0">
                        <a:latin typeface="+mn-lt"/>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4689095"/>
                  </a:ext>
                </a:extLst>
              </a:tr>
              <a:tr h="8007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dirty="0">
                          <a:latin typeface="+mn-lt"/>
                          <a:sym typeface="Symbol" panose="05050102010706020507" pitchFamily="18" charset="2"/>
                        </a:rPr>
                        <a:t>9. Interpret the decision in the context of the original claim.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dirty="0">
                          <a:latin typeface="+mn-lt"/>
                        </a:rPr>
                        <a:t>Blank</a:t>
                      </a:r>
                      <a:endParaRPr lang="en-IN" sz="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397605"/>
                  </a:ext>
                </a:extLst>
              </a:tr>
            </a:tbl>
          </a:graphicData>
        </a:graphic>
      </p:graphicFrame>
      <p:graphicFrame>
        <p:nvGraphicFramePr>
          <p:cNvPr id="5" name="Object 4">
            <a:extLst>
              <a:ext uri="{FF2B5EF4-FFF2-40B4-BE49-F238E27FC236}">
                <a16:creationId xmlns:a16="http://schemas.microsoft.com/office/drawing/2014/main" id="{35C4597E-CAB4-45C3-8DE6-016584B01E4B}"/>
              </a:ext>
              <a:ext uri="{C183D7F6-B498-43B3-948B-1728B52AA6E4}">
                <adec:decorative xmlns:adec="http://schemas.microsoft.com/office/drawing/2017/decorative" val="1"/>
              </a:ext>
            </a:extLst>
          </p:cNvPr>
          <p:cNvGraphicFramePr>
            <a:graphicFrameLocks noChangeAspect="1"/>
          </p:cNvGraphicFramePr>
          <p:nvPr/>
        </p:nvGraphicFramePr>
        <p:xfrm>
          <a:off x="5111388" y="2532698"/>
          <a:ext cx="2805545" cy="831273"/>
        </p:xfrm>
        <a:graphic>
          <a:graphicData uri="http://schemas.openxmlformats.org/presentationml/2006/ole">
            <mc:AlternateContent xmlns:mc="http://schemas.openxmlformats.org/markup-compatibility/2006">
              <mc:Choice xmlns:v="urn:schemas-microsoft-com:vml" Requires="v">
                <p:oleObj name="Equation" r:id="rId2" imgW="3085920" imgH="914400" progId="Equation.DSMT4">
                  <p:embed/>
                </p:oleObj>
              </mc:Choice>
              <mc:Fallback>
                <p:oleObj name="Equation" r:id="rId2" imgW="3085920" imgH="914400" progId="Equation.DSMT4">
                  <p:embed/>
                  <p:pic>
                    <p:nvPicPr>
                      <p:cNvPr id="5" name="Object 4">
                        <a:extLst>
                          <a:ext uri="{FF2B5EF4-FFF2-40B4-BE49-F238E27FC236}">
                            <a16:creationId xmlns:a16="http://schemas.microsoft.com/office/drawing/2014/main" id="{35C4597E-CAB4-45C3-8DE6-016584B01E4B}"/>
                          </a:ext>
                          <a:ext uri="{C183D7F6-B498-43B3-948B-1728B52AA6E4}">
                            <adec:decorative xmlns:adec="http://schemas.microsoft.com/office/drawing/2017/decorative" val="1"/>
                          </a:ext>
                        </a:extLst>
                      </p:cNvPr>
                      <p:cNvPicPr/>
                      <p:nvPr/>
                    </p:nvPicPr>
                    <p:blipFill>
                      <a:blip r:embed="rId3"/>
                      <a:stretch>
                        <a:fillRect/>
                      </a:stretch>
                    </p:blipFill>
                    <p:spPr>
                      <a:xfrm>
                        <a:off x="5111388" y="2532698"/>
                        <a:ext cx="2805545" cy="831273"/>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GraphicFramePr>
            <a:graphicFrameLocks noChangeAspect="1"/>
          </p:cNvGraphicFramePr>
          <p:nvPr/>
        </p:nvGraphicFramePr>
        <p:xfrm>
          <a:off x="5469123" y="4312950"/>
          <a:ext cx="450273" cy="357909"/>
        </p:xfrm>
        <a:graphic>
          <a:graphicData uri="http://schemas.openxmlformats.org/presentationml/2006/ole">
            <mc:AlternateContent xmlns:mc="http://schemas.openxmlformats.org/markup-compatibility/2006">
              <mc:Choice xmlns:v="urn:schemas-microsoft-com:vml" Requires="v">
                <p:oleObj name="Equation" r:id="rId4" imgW="495000" imgH="393480" progId="Equation.DSMT4">
                  <p:embed/>
                </p:oleObj>
              </mc:Choice>
              <mc:Fallback>
                <p:oleObj name="Equation" r:id="rId4" imgW="495000" imgH="393480" progId="Equation.DSMT4">
                  <p:embed/>
                  <p:pic>
                    <p:nvPicPr>
                      <p:cNvPr id="6" name="Object 5">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PicPr/>
                      <p:nvPr/>
                    </p:nvPicPr>
                    <p:blipFill>
                      <a:blip r:embed="rId5"/>
                      <a:stretch>
                        <a:fillRect/>
                      </a:stretch>
                    </p:blipFill>
                    <p:spPr>
                      <a:xfrm>
                        <a:off x="5469123" y="4312950"/>
                        <a:ext cx="450273" cy="357909"/>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GraphicFramePr>
            <a:graphicFrameLocks noChangeAspect="1"/>
          </p:cNvGraphicFramePr>
          <p:nvPr/>
        </p:nvGraphicFramePr>
        <p:xfrm>
          <a:off x="5469123" y="4670859"/>
          <a:ext cx="450273" cy="357909"/>
        </p:xfrm>
        <a:graphic>
          <a:graphicData uri="http://schemas.openxmlformats.org/presentationml/2006/ole">
            <mc:AlternateContent xmlns:mc="http://schemas.openxmlformats.org/markup-compatibility/2006">
              <mc:Choice xmlns:v="urn:schemas-microsoft-com:vml" Requires="v">
                <p:oleObj name="Equation" r:id="rId6" imgW="495000" imgH="393480" progId="Equation.DSMT4">
                  <p:embed/>
                </p:oleObj>
              </mc:Choice>
              <mc:Fallback>
                <p:oleObj name="Equation" r:id="rId6" imgW="495000" imgH="393480" progId="Equation.DSMT4">
                  <p:embed/>
                  <p:pic>
                    <p:nvPicPr>
                      <p:cNvPr id="7" name="Object 6">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PicPr/>
                      <p:nvPr/>
                    </p:nvPicPr>
                    <p:blipFill>
                      <a:blip r:embed="rId5"/>
                      <a:stretch>
                        <a:fillRect/>
                      </a:stretch>
                    </p:blipFill>
                    <p:spPr>
                      <a:xfrm>
                        <a:off x="5469123" y="4670859"/>
                        <a:ext cx="450273" cy="357909"/>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824836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sz="3400" dirty="0"/>
              <a:t>Example: Two-Sample </a:t>
            </a:r>
            <a:r>
              <a:rPr lang="en-US" sz="3400" i="1" dirty="0"/>
              <a:t>t</a:t>
            </a:r>
            <a:r>
              <a:rPr lang="en-US" sz="3400" dirty="0"/>
              <a:t>-Test for the Difference Between Means </a:t>
            </a:r>
            <a:r>
              <a:rPr lang="en-US" sz="2000" b="0" dirty="0"/>
              <a:t>(1 of 2)</a:t>
            </a:r>
          </a:p>
        </p:txBody>
      </p:sp>
      <p:sp>
        <p:nvSpPr>
          <p:cNvPr id="2" name="Content Placeholder 1"/>
          <p:cNvSpPr>
            <a:spLocks noGrp="1"/>
          </p:cNvSpPr>
          <p:nvPr>
            <p:ph sz="quarter" idx="13"/>
          </p:nvPr>
        </p:nvSpPr>
        <p:spPr>
          <a:xfrm>
            <a:off x="457200" y="1552575"/>
            <a:ext cx="8229601" cy="1499383"/>
          </a:xfrm>
        </p:spPr>
        <p:txBody>
          <a:bodyPr/>
          <a:lstStyle/>
          <a:p>
            <a:pPr marL="432" indent="0">
              <a:buNone/>
            </a:pPr>
            <a:r>
              <a:rPr lang="en-US" altLang="en-US" dirty="0"/>
              <a:t>The results of a state mathematics test for random samples of students taught by two different teachers at the same school are shown below. Can you conclude that there is a difference in the mean mathematics test scores for the</a:t>
            </a:r>
            <a:endParaRPr lang="en-US" dirty="0"/>
          </a:p>
        </p:txBody>
      </p:sp>
      <p:sp>
        <p:nvSpPr>
          <p:cNvPr id="3" name="Content Placeholder 2"/>
          <p:cNvSpPr>
            <a:spLocks noGrp="1"/>
          </p:cNvSpPr>
          <p:nvPr>
            <p:ph sz="quarter" idx="14"/>
          </p:nvPr>
        </p:nvSpPr>
        <p:spPr>
          <a:xfrm>
            <a:off x="457200" y="3123212"/>
            <a:ext cx="4732317" cy="403761"/>
          </a:xfrm>
        </p:spPr>
        <p:txBody>
          <a:bodyPr/>
          <a:lstStyle/>
          <a:p>
            <a:pPr marL="432" indent="0">
              <a:buNone/>
            </a:pPr>
            <a:r>
              <a:rPr lang="en-US" altLang="en-US" dirty="0"/>
              <a:t>students of the two teachers? Use</a:t>
            </a:r>
            <a:endParaRPr lang="en-US" dirty="0"/>
          </a:p>
        </p:txBody>
      </p:sp>
      <p:graphicFrame>
        <p:nvGraphicFramePr>
          <p:cNvPr id="19" name="Object 18" descr="alpha equals 0.10">
            <a:extLst>
              <a:ext uri="{FF2B5EF4-FFF2-40B4-BE49-F238E27FC236}">
                <a16:creationId xmlns:a16="http://schemas.microsoft.com/office/drawing/2014/main" id="{E9B5CF38-EB16-44C4-8331-81863C8528F9}"/>
              </a:ext>
            </a:extLst>
          </p:cNvPr>
          <p:cNvGraphicFramePr>
            <a:graphicFrameLocks noChangeAspect="1"/>
          </p:cNvGraphicFramePr>
          <p:nvPr/>
        </p:nvGraphicFramePr>
        <p:xfrm>
          <a:off x="5287819" y="3147565"/>
          <a:ext cx="1200727" cy="288636"/>
        </p:xfrm>
        <a:graphic>
          <a:graphicData uri="http://schemas.openxmlformats.org/presentationml/2006/ole">
            <mc:AlternateContent xmlns:mc="http://schemas.openxmlformats.org/markup-compatibility/2006">
              <mc:Choice xmlns:v="urn:schemas-microsoft-com:vml" Requires="v">
                <p:oleObj name="Equation" r:id="rId2" imgW="1320480" imgH="317160" progId="Equation.DSMT4">
                  <p:embed/>
                </p:oleObj>
              </mc:Choice>
              <mc:Fallback>
                <p:oleObj name="Equation" r:id="rId2" imgW="1320480" imgH="317160" progId="Equation.DSMT4">
                  <p:embed/>
                  <p:pic>
                    <p:nvPicPr>
                      <p:cNvPr id="19" name="Object 18" descr="alpha equals 0.10">
                        <a:extLst>
                          <a:ext uri="{FF2B5EF4-FFF2-40B4-BE49-F238E27FC236}">
                            <a16:creationId xmlns:a16="http://schemas.microsoft.com/office/drawing/2014/main" id="{E9B5CF38-EB16-44C4-8331-81863C8528F9}"/>
                          </a:ext>
                        </a:extLst>
                      </p:cNvPr>
                      <p:cNvPicPr/>
                      <p:nvPr/>
                    </p:nvPicPr>
                    <p:blipFill>
                      <a:blip r:embed="rId3"/>
                      <a:stretch>
                        <a:fillRect/>
                      </a:stretch>
                    </p:blipFill>
                    <p:spPr>
                      <a:xfrm>
                        <a:off x="5287819" y="3147565"/>
                        <a:ext cx="1200727" cy="288636"/>
                      </a:xfrm>
                      <a:prstGeom prst="rect">
                        <a:avLst/>
                      </a:prstGeom>
                    </p:spPr>
                  </p:pic>
                </p:oleObj>
              </mc:Fallback>
            </mc:AlternateContent>
          </a:graphicData>
        </a:graphic>
      </p:graphicFrame>
      <p:sp>
        <p:nvSpPr>
          <p:cNvPr id="4" name="Content Placeholder 3"/>
          <p:cNvSpPr>
            <a:spLocks noGrp="1"/>
          </p:cNvSpPr>
          <p:nvPr>
            <p:ph sz="quarter" idx="15"/>
          </p:nvPr>
        </p:nvSpPr>
        <p:spPr>
          <a:xfrm>
            <a:off x="6600703" y="3123212"/>
            <a:ext cx="1856508" cy="403762"/>
          </a:xfrm>
        </p:spPr>
        <p:txBody>
          <a:bodyPr/>
          <a:lstStyle/>
          <a:p>
            <a:pPr marL="432" indent="0">
              <a:buNone/>
            </a:pPr>
            <a:r>
              <a:rPr lang="en-US" altLang="en-US" dirty="0"/>
              <a:t>Assume the</a:t>
            </a:r>
            <a:endParaRPr lang="en-US" dirty="0"/>
          </a:p>
        </p:txBody>
      </p:sp>
      <p:sp>
        <p:nvSpPr>
          <p:cNvPr id="5" name="Content Placeholder 4"/>
          <p:cNvSpPr>
            <a:spLocks noGrp="1"/>
          </p:cNvSpPr>
          <p:nvPr>
            <p:ph sz="quarter" idx="16"/>
          </p:nvPr>
        </p:nvSpPr>
        <p:spPr>
          <a:xfrm>
            <a:off x="457200" y="3581569"/>
            <a:ext cx="8229600" cy="836053"/>
          </a:xfrm>
        </p:spPr>
        <p:txBody>
          <a:bodyPr/>
          <a:lstStyle/>
          <a:p>
            <a:pPr marL="0" indent="0">
              <a:buFont typeface="Arial" panose="020B0604020202020204" pitchFamily="34" charset="0"/>
              <a:buNone/>
            </a:pPr>
            <a:r>
              <a:rPr lang="en-US" altLang="en-US" dirty="0"/>
              <a:t>populations are normally distributed and the population variances are not equal.</a:t>
            </a:r>
            <a:endParaRPr lang="en-US" altLang="en-US" sz="2000" i="1" dirty="0">
              <a:solidFill>
                <a:schemeClr val="tx2"/>
              </a:solidFill>
            </a:endParaRPr>
          </a:p>
        </p:txBody>
      </p:sp>
      <p:graphicFrame>
        <p:nvGraphicFramePr>
          <p:cNvPr id="16" name="Content Placeholder 15"/>
          <p:cNvGraphicFramePr>
            <a:graphicFrameLocks noGrp="1"/>
          </p:cNvGraphicFramePr>
          <p:nvPr>
            <p:ph sz="quarter" idx="17"/>
          </p:nvPr>
        </p:nvGraphicFramePr>
        <p:xfrm>
          <a:off x="457200" y="4562473"/>
          <a:ext cx="4830620" cy="1782764"/>
        </p:xfrm>
        <a:graphic>
          <a:graphicData uri="http://schemas.openxmlformats.org/drawingml/2006/table">
            <a:tbl>
              <a:tblPr firstRow="1" bandRow="1">
                <a:tableStyleId>{2D5ABB26-0587-4C30-8999-92F81FD0307C}</a:tableStyleId>
              </a:tblPr>
              <a:tblGrid>
                <a:gridCol w="2415310">
                  <a:extLst>
                    <a:ext uri="{9D8B030D-6E8A-4147-A177-3AD203B41FA5}">
                      <a16:colId xmlns:a16="http://schemas.microsoft.com/office/drawing/2014/main" val="114372133"/>
                    </a:ext>
                  </a:extLst>
                </a:gridCol>
                <a:gridCol w="2415310">
                  <a:extLst>
                    <a:ext uri="{9D8B030D-6E8A-4147-A177-3AD203B41FA5}">
                      <a16:colId xmlns:a16="http://schemas.microsoft.com/office/drawing/2014/main" val="2844105102"/>
                    </a:ext>
                  </a:extLst>
                </a:gridCol>
              </a:tblGrid>
              <a:tr h="468230">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cs typeface="Arial" pitchFamily="34" charset="0"/>
                        </a:rPr>
                        <a:t>Teacher 1</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n-lt"/>
                          <a:cs typeface="Arial" pitchFamily="34" charset="0"/>
                        </a:rPr>
                        <a:t>Teacher 2</a:t>
                      </a:r>
                    </a:p>
                  </a:txBody>
                  <a:tcPr marT="45737" marB="4573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1442382"/>
                  </a:ext>
                </a:extLst>
              </a:tr>
              <a:tr h="438178">
                <a:tc>
                  <a:txBody>
                    <a:bodyPr/>
                    <a:lstStyle/>
                    <a:p>
                      <a:pPr algn="ctr"/>
                      <a:r>
                        <a:rPr lang="en-IN" sz="100" dirty="0"/>
                        <a:t>x sub 1 bar = 473.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 dirty="0"/>
                        <a:t>x sub 2 bar = 459.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7744863"/>
                  </a:ext>
                </a:extLst>
              </a:tr>
              <a:tr h="438178">
                <a:tc>
                  <a:txBody>
                    <a:bodyPr/>
                    <a:lstStyle/>
                    <a:p>
                      <a:pPr algn="ctr"/>
                      <a:r>
                        <a:rPr lang="en-IN" sz="100" dirty="0"/>
                        <a:t>s sub 1 = 39.7.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 dirty="0"/>
                        <a:t>s sub 2 = 24.5.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3120917"/>
                  </a:ext>
                </a:extLst>
              </a:tr>
              <a:tr h="438178">
                <a:tc>
                  <a:txBody>
                    <a:bodyPr/>
                    <a:lstStyle/>
                    <a:p>
                      <a:pPr algn="ctr"/>
                      <a:r>
                        <a:rPr lang="en-IN" sz="100" dirty="0"/>
                        <a:t>n sub 1 =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 dirty="0"/>
                        <a:t>n sub 2 = 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6627140"/>
                  </a:ext>
                </a:extLst>
              </a:tr>
            </a:tbl>
          </a:graphicData>
        </a:graphic>
      </p:graphicFrame>
      <p:graphicFrame>
        <p:nvGraphicFramePr>
          <p:cNvPr id="20" name="Object 19">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1012590" y="5087961"/>
          <a:ext cx="888213" cy="325372"/>
        </p:xfrm>
        <a:graphic>
          <a:graphicData uri="http://schemas.openxmlformats.org/presentationml/2006/ole">
            <mc:AlternateContent xmlns:mc="http://schemas.openxmlformats.org/markup-compatibility/2006">
              <mc:Choice xmlns:v="urn:schemas-microsoft-com:vml" Requires="v">
                <p:oleObj name="Equation" r:id="rId4" imgW="1180800" imgH="431640" progId="Equation.DSMT4">
                  <p:embed/>
                </p:oleObj>
              </mc:Choice>
              <mc:Fallback>
                <p:oleObj name="Equation" r:id="rId4" imgW="1180800" imgH="431640" progId="Equation.DSMT4">
                  <p:embed/>
                  <p:pic>
                    <p:nvPicPr>
                      <p:cNvPr id="20" name="Object 19">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5"/>
                      <a:stretch>
                        <a:fillRect/>
                      </a:stretch>
                    </p:blipFill>
                    <p:spPr>
                      <a:xfrm>
                        <a:off x="1012590" y="5087961"/>
                        <a:ext cx="888213" cy="325372"/>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3562350" y="5087938"/>
          <a:ext cx="925513" cy="325437"/>
        </p:xfrm>
        <a:graphic>
          <a:graphicData uri="http://schemas.openxmlformats.org/presentationml/2006/ole">
            <mc:AlternateContent xmlns:mc="http://schemas.openxmlformats.org/markup-compatibility/2006">
              <mc:Choice xmlns:v="urn:schemas-microsoft-com:vml" Requires="v">
                <p:oleObj name="Equation" r:id="rId6" imgW="1231560" imgH="431640" progId="Equation.DSMT4">
                  <p:embed/>
                </p:oleObj>
              </mc:Choice>
              <mc:Fallback>
                <p:oleObj name="Equation" r:id="rId6" imgW="1231560" imgH="431640" progId="Equation.DSMT4">
                  <p:embed/>
                  <p:pic>
                    <p:nvPicPr>
                      <p:cNvPr id="21" name="Object 20">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7"/>
                      <a:stretch>
                        <a:fillRect/>
                      </a:stretch>
                    </p:blipFill>
                    <p:spPr>
                      <a:xfrm>
                        <a:off x="3562350" y="5087938"/>
                        <a:ext cx="925513" cy="325437"/>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1008063" y="5524500"/>
          <a:ext cx="935037" cy="325438"/>
        </p:xfrm>
        <a:graphic>
          <a:graphicData uri="http://schemas.openxmlformats.org/presentationml/2006/ole">
            <mc:AlternateContent xmlns:mc="http://schemas.openxmlformats.org/markup-compatibility/2006">
              <mc:Choice xmlns:v="urn:schemas-microsoft-com:vml" Requires="v">
                <p:oleObj name="Equation" r:id="rId8" imgW="1244520" imgH="431640" progId="Equation.DSMT4">
                  <p:embed/>
                </p:oleObj>
              </mc:Choice>
              <mc:Fallback>
                <p:oleObj name="Equation" r:id="rId8" imgW="1244520" imgH="431640" progId="Equation.DSMT4">
                  <p:embed/>
                  <p:pic>
                    <p:nvPicPr>
                      <p:cNvPr id="22" name="Object 21">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9"/>
                      <a:stretch>
                        <a:fillRect/>
                      </a:stretch>
                    </p:blipFill>
                    <p:spPr>
                      <a:xfrm>
                        <a:off x="1008063" y="5524500"/>
                        <a:ext cx="935037" cy="325438"/>
                      </a:xfrm>
                      <a:prstGeom prst="rect">
                        <a:avLst/>
                      </a:prstGeom>
                      <a:solidFill>
                        <a:schemeClr val="bg1"/>
                      </a:solidFill>
                    </p:spPr>
                  </p:pic>
                </p:oleObj>
              </mc:Fallback>
            </mc:AlternateContent>
          </a:graphicData>
        </a:graphic>
      </p:graphicFrame>
      <p:graphicFrame>
        <p:nvGraphicFramePr>
          <p:cNvPr id="23" name="Object 22">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3574162" y="5514832"/>
          <a:ext cx="973138" cy="325437"/>
        </p:xfrm>
        <a:graphic>
          <a:graphicData uri="http://schemas.openxmlformats.org/presentationml/2006/ole">
            <mc:AlternateContent xmlns:mc="http://schemas.openxmlformats.org/markup-compatibility/2006">
              <mc:Choice xmlns:v="urn:schemas-microsoft-com:vml" Requires="v">
                <p:oleObj name="Equation" r:id="rId10" imgW="1295280" imgH="431640" progId="Equation.DSMT4">
                  <p:embed/>
                </p:oleObj>
              </mc:Choice>
              <mc:Fallback>
                <p:oleObj name="Equation" r:id="rId10" imgW="1295280" imgH="431640" progId="Equation.DSMT4">
                  <p:embed/>
                  <p:pic>
                    <p:nvPicPr>
                      <p:cNvPr id="23" name="Object 22">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11"/>
                      <a:stretch>
                        <a:fillRect/>
                      </a:stretch>
                    </p:blipFill>
                    <p:spPr>
                      <a:xfrm>
                        <a:off x="3574162" y="5514832"/>
                        <a:ext cx="973138" cy="325437"/>
                      </a:xfrm>
                      <a:prstGeom prst="rect">
                        <a:avLst/>
                      </a:prstGeom>
                      <a:solidFill>
                        <a:schemeClr val="bg1"/>
                      </a:solidFill>
                    </p:spPr>
                  </p:pic>
                </p:oleObj>
              </mc:Fallback>
            </mc:AlternateContent>
          </a:graphicData>
        </a:graphic>
      </p:graphicFrame>
      <p:graphicFrame>
        <p:nvGraphicFramePr>
          <p:cNvPr id="24" name="Object 23">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1012590" y="5961105"/>
          <a:ext cx="611188" cy="325438"/>
        </p:xfrm>
        <a:graphic>
          <a:graphicData uri="http://schemas.openxmlformats.org/presentationml/2006/ole">
            <mc:AlternateContent xmlns:mc="http://schemas.openxmlformats.org/markup-compatibility/2006">
              <mc:Choice xmlns:v="urn:schemas-microsoft-com:vml" Requires="v">
                <p:oleObj name="Equation" r:id="rId12" imgW="812520" imgH="431640" progId="Equation.DSMT4">
                  <p:embed/>
                </p:oleObj>
              </mc:Choice>
              <mc:Fallback>
                <p:oleObj name="Equation" r:id="rId12" imgW="812520" imgH="431640" progId="Equation.DSMT4">
                  <p:embed/>
                  <p:pic>
                    <p:nvPicPr>
                      <p:cNvPr id="24" name="Object 23">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13"/>
                      <a:stretch>
                        <a:fillRect/>
                      </a:stretch>
                    </p:blipFill>
                    <p:spPr>
                      <a:xfrm>
                        <a:off x="1012590" y="5961105"/>
                        <a:ext cx="611188" cy="325438"/>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3562350" y="5957888"/>
          <a:ext cx="763588" cy="325437"/>
        </p:xfrm>
        <a:graphic>
          <a:graphicData uri="http://schemas.openxmlformats.org/presentationml/2006/ole">
            <mc:AlternateContent xmlns:mc="http://schemas.openxmlformats.org/markup-compatibility/2006">
              <mc:Choice xmlns:v="urn:schemas-microsoft-com:vml" Requires="v">
                <p:oleObj name="Equation" r:id="rId14" imgW="1015920" imgH="431640" progId="Equation.DSMT4">
                  <p:embed/>
                </p:oleObj>
              </mc:Choice>
              <mc:Fallback>
                <p:oleObj name="Equation" r:id="rId14" imgW="1015920" imgH="431640" progId="Equation.DSMT4">
                  <p:embed/>
                  <p:pic>
                    <p:nvPicPr>
                      <p:cNvPr id="25" name="Object 24">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15"/>
                      <a:stretch>
                        <a:fillRect/>
                      </a:stretch>
                    </p:blipFill>
                    <p:spPr>
                      <a:xfrm>
                        <a:off x="3562350" y="5957888"/>
                        <a:ext cx="763588" cy="32543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967618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(1 of 9)</a:t>
            </a:r>
          </a:p>
        </p:txBody>
      </p:sp>
      <p:sp>
        <p:nvSpPr>
          <p:cNvPr id="4" name="Content Placeholder 3"/>
          <p:cNvSpPr>
            <a:spLocks noGrp="1"/>
          </p:cNvSpPr>
          <p:nvPr>
            <p:ph sz="quarter" idx="13"/>
          </p:nvPr>
        </p:nvSpPr>
        <p:spPr>
          <a:xfrm>
            <a:off x="457200" y="1552575"/>
            <a:ext cx="1525979" cy="406854"/>
          </a:xfrm>
        </p:spPr>
        <p:txBody>
          <a:bodyPr/>
          <a:lstStyle/>
          <a:p>
            <a:pPr marL="0" indent="0">
              <a:buNone/>
            </a:pPr>
            <a:r>
              <a:rPr lang="en-US" b="1" dirty="0">
                <a:solidFill>
                  <a:schemeClr val="tx1"/>
                </a:solidFill>
              </a:rPr>
              <a:t>Solution:</a:t>
            </a:r>
          </a:p>
        </p:txBody>
      </p:sp>
      <p:sp>
        <p:nvSpPr>
          <p:cNvPr id="5" name="Content Placeholder 4"/>
          <p:cNvSpPr>
            <a:spLocks noGrp="1"/>
          </p:cNvSpPr>
          <p:nvPr>
            <p:ph sz="quarter" idx="14"/>
          </p:nvPr>
        </p:nvSpPr>
        <p:spPr>
          <a:xfrm>
            <a:off x="457200" y="2137558"/>
            <a:ext cx="1395351" cy="427512"/>
          </a:xfrm>
        </p:spPr>
        <p:txBody>
          <a:bodyPr/>
          <a:lstStyle/>
          <a:p>
            <a:pPr marL="432" indent="0">
              <a:buNone/>
            </a:pPr>
            <a:r>
              <a:rPr lang="en-US" dirty="0"/>
              <a:t>Note that</a:t>
            </a:r>
          </a:p>
        </p:txBody>
      </p:sp>
      <p:graphicFrame>
        <p:nvGraphicFramePr>
          <p:cNvPr id="18" name="Object 17" descr="sigma subscript 1 and sigma subscript 2"/>
          <p:cNvGraphicFramePr>
            <a:graphicFrameLocks noChangeAspect="1"/>
          </p:cNvGraphicFramePr>
          <p:nvPr/>
        </p:nvGraphicFramePr>
        <p:xfrm>
          <a:off x="1949735" y="2161053"/>
          <a:ext cx="1267612" cy="384811"/>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18" name="Object 17" descr="sigma subscript 1 and sigma subscript 2"/>
                      <p:cNvPicPr/>
                      <p:nvPr/>
                    </p:nvPicPr>
                    <p:blipFill>
                      <a:blip r:embed="rId3"/>
                      <a:stretch>
                        <a:fillRect/>
                      </a:stretch>
                    </p:blipFill>
                    <p:spPr>
                      <a:xfrm>
                        <a:off x="1949735" y="2161053"/>
                        <a:ext cx="1267612" cy="384811"/>
                      </a:xfrm>
                      <a:prstGeom prst="rect">
                        <a:avLst/>
                      </a:prstGeom>
                    </p:spPr>
                  </p:pic>
                </p:oleObj>
              </mc:Fallback>
            </mc:AlternateContent>
          </a:graphicData>
        </a:graphic>
      </p:graphicFrame>
      <p:sp>
        <p:nvSpPr>
          <p:cNvPr id="6" name="Content Placeholder 5"/>
          <p:cNvSpPr>
            <a:spLocks noGrp="1"/>
          </p:cNvSpPr>
          <p:nvPr>
            <p:ph sz="quarter" idx="15"/>
          </p:nvPr>
        </p:nvSpPr>
        <p:spPr>
          <a:xfrm>
            <a:off x="3369952" y="2141813"/>
            <a:ext cx="5346536" cy="423292"/>
          </a:xfrm>
        </p:spPr>
        <p:txBody>
          <a:bodyPr/>
          <a:lstStyle/>
          <a:p>
            <a:pPr marL="432" indent="0">
              <a:buNone/>
            </a:pPr>
            <a:r>
              <a:rPr lang="en-US" dirty="0"/>
              <a:t>are unknown, the samples are random</a:t>
            </a:r>
          </a:p>
        </p:txBody>
      </p:sp>
      <p:sp>
        <p:nvSpPr>
          <p:cNvPr id="7" name="Content Placeholder 6"/>
          <p:cNvSpPr>
            <a:spLocks noGrp="1"/>
          </p:cNvSpPr>
          <p:nvPr>
            <p:ph sz="quarter" idx="16"/>
          </p:nvPr>
        </p:nvSpPr>
        <p:spPr>
          <a:xfrm>
            <a:off x="457200" y="2660073"/>
            <a:ext cx="8259288" cy="1888176"/>
          </a:xfrm>
        </p:spPr>
        <p:txBody>
          <a:bodyPr/>
          <a:lstStyle/>
          <a:p>
            <a:pPr marL="432" indent="0">
              <a:buNone/>
            </a:pPr>
            <a:r>
              <a:rPr lang="en-US" dirty="0"/>
              <a:t>and independent, and the populations are normally distributed. So, you can use the </a:t>
            </a:r>
            <a:r>
              <a:rPr lang="en-US" i="1" dirty="0"/>
              <a:t>t</a:t>
            </a:r>
            <a:r>
              <a:rPr lang="en-US" dirty="0"/>
              <a:t>-test. The claim is “there is a difference in the mean mathematics test scores for the students of the two teachers.” So, the null and alternative hypotheses are</a:t>
            </a:r>
          </a:p>
        </p:txBody>
      </p:sp>
      <p:graphicFrame>
        <p:nvGraphicFramePr>
          <p:cNvPr id="19" name="Object 18" descr="H sub-zero: mu subscript 1 equals mu subscript 2 and H sub-a: mu subscript 1 not equals to mu subscript 2">
            <a:extLst>
              <a:ext uri="{FF2B5EF4-FFF2-40B4-BE49-F238E27FC236}">
                <a16:creationId xmlns:a16="http://schemas.microsoft.com/office/drawing/2014/main" id="{AFEB3A6E-1D67-4B0C-BDF6-0C48C3671AAC}"/>
              </a:ext>
            </a:extLst>
          </p:cNvPr>
          <p:cNvGraphicFramePr>
            <a:graphicFrameLocks noChangeAspect="1"/>
          </p:cNvGraphicFramePr>
          <p:nvPr/>
        </p:nvGraphicFramePr>
        <p:xfrm>
          <a:off x="2079625" y="4865688"/>
          <a:ext cx="3908425" cy="403225"/>
        </p:xfrm>
        <a:graphic>
          <a:graphicData uri="http://schemas.openxmlformats.org/presentationml/2006/ole">
            <mc:AlternateContent xmlns:mc="http://schemas.openxmlformats.org/markup-compatibility/2006">
              <mc:Choice xmlns:v="urn:schemas-microsoft-com:vml" Requires="v">
                <p:oleObj name="Equation" r:id="rId4" imgW="4190760" imgH="431640" progId="Equation.DSMT4">
                  <p:embed/>
                </p:oleObj>
              </mc:Choice>
              <mc:Fallback>
                <p:oleObj name="Equation" r:id="rId4" imgW="4190760" imgH="431640" progId="Equation.DSMT4">
                  <p:embed/>
                  <p:pic>
                    <p:nvPicPr>
                      <p:cNvPr id="19" name="Object 18" descr="H sub-zero: mu subscript 1 equals mu subscript 2 and H sub-a: mu subscript 1 not equals to mu subscript 2">
                        <a:extLst>
                          <a:ext uri="{FF2B5EF4-FFF2-40B4-BE49-F238E27FC236}">
                            <a16:creationId xmlns:a16="http://schemas.microsoft.com/office/drawing/2014/main" id="{AFEB3A6E-1D67-4B0C-BDF6-0C48C3671AAC}"/>
                          </a:ext>
                        </a:extLst>
                      </p:cNvPr>
                      <p:cNvPicPr/>
                      <p:nvPr/>
                    </p:nvPicPr>
                    <p:blipFill>
                      <a:blip r:embed="rId5"/>
                      <a:stretch>
                        <a:fillRect/>
                      </a:stretch>
                    </p:blipFill>
                    <p:spPr>
                      <a:xfrm>
                        <a:off x="2079625" y="4865688"/>
                        <a:ext cx="3908425" cy="403225"/>
                      </a:xfrm>
                      <a:prstGeom prst="rect">
                        <a:avLst/>
                      </a:prstGeom>
                    </p:spPr>
                  </p:pic>
                </p:oleObj>
              </mc:Fallback>
            </mc:AlternateContent>
          </a:graphicData>
        </a:graphic>
      </p:graphicFrame>
      <p:sp>
        <p:nvSpPr>
          <p:cNvPr id="8" name="Content Placeholder 7"/>
          <p:cNvSpPr>
            <a:spLocks noGrp="1"/>
          </p:cNvSpPr>
          <p:nvPr>
            <p:ph sz="quarter" idx="17"/>
          </p:nvPr>
        </p:nvSpPr>
        <p:spPr>
          <a:xfrm>
            <a:off x="6280065" y="4865801"/>
            <a:ext cx="1140032" cy="430707"/>
          </a:xfrm>
        </p:spPr>
        <p:txBody>
          <a:bodyPr/>
          <a:lstStyle/>
          <a:p>
            <a:pPr marL="0" indent="0">
              <a:buNone/>
            </a:pPr>
            <a:r>
              <a:rPr lang="en-US" dirty="0">
                <a:solidFill>
                  <a:schemeClr val="tx1"/>
                </a:solidFill>
              </a:rPr>
              <a:t>(Claim)</a:t>
            </a:r>
          </a:p>
        </p:txBody>
      </p:sp>
    </p:spTree>
    <p:extLst>
      <p:ext uri="{BB962C8B-B14F-4D97-AF65-F5344CB8AC3E}">
        <p14:creationId xmlns:p14="http://schemas.microsoft.com/office/powerpoint/2010/main" val="24835838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(2 of 9)</a:t>
            </a:r>
          </a:p>
        </p:txBody>
      </p:sp>
      <p:sp>
        <p:nvSpPr>
          <p:cNvPr id="4" name="Content Placeholder 3"/>
          <p:cNvSpPr>
            <a:spLocks noGrp="1"/>
          </p:cNvSpPr>
          <p:nvPr>
            <p:ph sz="quarter" idx="13"/>
          </p:nvPr>
        </p:nvSpPr>
        <p:spPr>
          <a:xfrm>
            <a:off x="457200" y="1552575"/>
            <a:ext cx="7724899" cy="406854"/>
          </a:xfrm>
        </p:spPr>
        <p:txBody>
          <a:bodyPr/>
          <a:lstStyle/>
          <a:p>
            <a:pPr marL="432" indent="0">
              <a:buNone/>
            </a:pPr>
            <a:r>
              <a:rPr lang="en-US" dirty="0"/>
              <a:t>Because the population variances are not equal and the</a:t>
            </a:r>
          </a:p>
        </p:txBody>
      </p:sp>
      <p:sp>
        <p:nvSpPr>
          <p:cNvPr id="5" name="Content Placeholder 4"/>
          <p:cNvSpPr>
            <a:spLocks noGrp="1"/>
          </p:cNvSpPr>
          <p:nvPr>
            <p:ph sz="quarter" idx="14"/>
          </p:nvPr>
        </p:nvSpPr>
        <p:spPr>
          <a:xfrm>
            <a:off x="457200" y="2022475"/>
            <a:ext cx="4043548" cy="411967"/>
          </a:xfrm>
        </p:spPr>
        <p:txBody>
          <a:bodyPr/>
          <a:lstStyle/>
          <a:p>
            <a:pPr marL="432" indent="0">
              <a:buNone/>
            </a:pPr>
            <a:r>
              <a:rPr lang="en-US" dirty="0"/>
              <a:t>smaller sample size is 8, use</a:t>
            </a:r>
          </a:p>
        </p:txBody>
      </p:sp>
      <p:graphicFrame>
        <p:nvGraphicFramePr>
          <p:cNvPr id="18" name="Object 17" descr="d.f. equals 8 minus 1 equals 7">
            <a:extLst>
              <a:ext uri="{FF2B5EF4-FFF2-40B4-BE49-F238E27FC236}">
                <a16:creationId xmlns:a16="http://schemas.microsoft.com/office/drawing/2014/main" id="{2150B0C6-08FD-4A3E-9938-126104A695E9}"/>
              </a:ext>
            </a:extLst>
          </p:cNvPr>
          <p:cNvGraphicFramePr>
            <a:graphicFrameLocks noChangeAspect="1"/>
          </p:cNvGraphicFramePr>
          <p:nvPr/>
        </p:nvGraphicFramePr>
        <p:xfrm>
          <a:off x="4663787" y="2055036"/>
          <a:ext cx="1835727" cy="288636"/>
        </p:xfrm>
        <a:graphic>
          <a:graphicData uri="http://schemas.openxmlformats.org/presentationml/2006/ole">
            <mc:AlternateContent xmlns:mc="http://schemas.openxmlformats.org/markup-compatibility/2006">
              <mc:Choice xmlns:v="urn:schemas-microsoft-com:vml" Requires="v">
                <p:oleObj name="Equation" r:id="rId2" imgW="2019240" imgH="317160" progId="Equation.DSMT4">
                  <p:embed/>
                </p:oleObj>
              </mc:Choice>
              <mc:Fallback>
                <p:oleObj name="Equation" r:id="rId2" imgW="2019240" imgH="317160" progId="Equation.DSMT4">
                  <p:embed/>
                  <p:pic>
                    <p:nvPicPr>
                      <p:cNvPr id="18" name="Object 17" descr="d.f. equals 8 minus 1 equals 7">
                        <a:extLst>
                          <a:ext uri="{FF2B5EF4-FFF2-40B4-BE49-F238E27FC236}">
                            <a16:creationId xmlns:a16="http://schemas.microsoft.com/office/drawing/2014/main" id="{2150B0C6-08FD-4A3E-9938-126104A695E9}"/>
                          </a:ext>
                        </a:extLst>
                      </p:cNvPr>
                      <p:cNvPicPr/>
                      <p:nvPr/>
                    </p:nvPicPr>
                    <p:blipFill>
                      <a:blip r:embed="rId3"/>
                      <a:stretch>
                        <a:fillRect/>
                      </a:stretch>
                    </p:blipFill>
                    <p:spPr>
                      <a:xfrm>
                        <a:off x="4663787" y="2055036"/>
                        <a:ext cx="1835727" cy="288636"/>
                      </a:xfrm>
                      <a:prstGeom prst="rect">
                        <a:avLst/>
                      </a:prstGeom>
                    </p:spPr>
                  </p:pic>
                </p:oleObj>
              </mc:Fallback>
            </mc:AlternateContent>
          </a:graphicData>
        </a:graphic>
      </p:graphicFrame>
      <p:sp>
        <p:nvSpPr>
          <p:cNvPr id="6" name="Content Placeholder 5"/>
          <p:cNvSpPr>
            <a:spLocks noGrp="1"/>
          </p:cNvSpPr>
          <p:nvPr>
            <p:ph sz="quarter" idx="15"/>
          </p:nvPr>
        </p:nvSpPr>
        <p:spPr>
          <a:xfrm>
            <a:off x="6745677" y="2022476"/>
            <a:ext cx="1519547" cy="411966"/>
          </a:xfrm>
        </p:spPr>
        <p:txBody>
          <a:bodyPr/>
          <a:lstStyle/>
          <a:p>
            <a:pPr marL="432" indent="0">
              <a:buNone/>
            </a:pPr>
            <a:r>
              <a:rPr lang="en-US" dirty="0"/>
              <a:t>The test is</a:t>
            </a:r>
          </a:p>
        </p:txBody>
      </p:sp>
      <p:sp>
        <p:nvSpPr>
          <p:cNvPr id="7" name="Content Placeholder 6"/>
          <p:cNvSpPr>
            <a:spLocks noGrp="1"/>
          </p:cNvSpPr>
          <p:nvPr>
            <p:ph sz="quarter" idx="16"/>
          </p:nvPr>
        </p:nvSpPr>
        <p:spPr>
          <a:xfrm>
            <a:off x="457201" y="2497488"/>
            <a:ext cx="4506686" cy="411967"/>
          </a:xfrm>
        </p:spPr>
        <p:txBody>
          <a:bodyPr/>
          <a:lstStyle/>
          <a:p>
            <a:pPr marL="432" indent="0">
              <a:buNone/>
            </a:pPr>
            <a:r>
              <a:rPr lang="en-US" dirty="0"/>
              <a:t>a two-tailed test with </a:t>
            </a:r>
            <a:r>
              <a:rPr lang="en-US" dirty="0" err="1"/>
              <a:t>d.f.</a:t>
            </a:r>
            <a:r>
              <a:rPr lang="en-US" dirty="0"/>
              <a:t> = 7 and</a:t>
            </a:r>
          </a:p>
        </p:txBody>
      </p:sp>
      <p:graphicFrame>
        <p:nvGraphicFramePr>
          <p:cNvPr id="19" name="Object 18" descr="alpha equals 0.10&#10;">
            <a:extLst>
              <a:ext uri="{FF2B5EF4-FFF2-40B4-BE49-F238E27FC236}">
                <a16:creationId xmlns:a16="http://schemas.microsoft.com/office/drawing/2014/main" id="{6C10E0C5-24EB-4367-8831-A7F341AADE0B}"/>
              </a:ext>
            </a:extLst>
          </p:cNvPr>
          <p:cNvGraphicFramePr>
            <a:graphicFrameLocks noChangeAspect="1"/>
          </p:cNvGraphicFramePr>
          <p:nvPr/>
        </p:nvGraphicFramePr>
        <p:xfrm>
          <a:off x="5058887" y="2526506"/>
          <a:ext cx="1281467" cy="353929"/>
        </p:xfrm>
        <a:graphic>
          <a:graphicData uri="http://schemas.openxmlformats.org/presentationml/2006/ole">
            <mc:AlternateContent xmlns:mc="http://schemas.openxmlformats.org/markup-compatibility/2006">
              <mc:Choice xmlns:v="urn:schemas-microsoft-com:vml" Requires="v">
                <p:oleObj name="Equation" r:id="rId4" imgW="1333440" imgH="368280" progId="Equation.DSMT4">
                  <p:embed/>
                </p:oleObj>
              </mc:Choice>
              <mc:Fallback>
                <p:oleObj name="Equation" r:id="rId4" imgW="1333440" imgH="368280" progId="Equation.DSMT4">
                  <p:embed/>
                  <p:pic>
                    <p:nvPicPr>
                      <p:cNvPr id="19" name="Object 18" descr="alpha equals 0.10&#10;">
                        <a:extLst>
                          <a:ext uri="{FF2B5EF4-FFF2-40B4-BE49-F238E27FC236}">
                            <a16:creationId xmlns:a16="http://schemas.microsoft.com/office/drawing/2014/main" id="{6C10E0C5-24EB-4367-8831-A7F341AADE0B}"/>
                          </a:ext>
                        </a:extLst>
                      </p:cNvPr>
                      <p:cNvPicPr/>
                      <p:nvPr/>
                    </p:nvPicPr>
                    <p:blipFill>
                      <a:blip r:embed="rId5"/>
                      <a:stretch>
                        <a:fillRect/>
                      </a:stretch>
                    </p:blipFill>
                    <p:spPr>
                      <a:xfrm>
                        <a:off x="5058887" y="2526506"/>
                        <a:ext cx="1281467" cy="353929"/>
                      </a:xfrm>
                      <a:prstGeom prst="rect">
                        <a:avLst/>
                      </a:prstGeom>
                    </p:spPr>
                  </p:pic>
                </p:oleObj>
              </mc:Fallback>
            </mc:AlternateContent>
          </a:graphicData>
        </a:graphic>
      </p:graphicFrame>
      <p:sp>
        <p:nvSpPr>
          <p:cNvPr id="8" name="Content Placeholder 7"/>
          <p:cNvSpPr>
            <a:spLocks noGrp="1"/>
          </p:cNvSpPr>
          <p:nvPr>
            <p:ph sz="quarter" idx="17"/>
          </p:nvPr>
        </p:nvSpPr>
        <p:spPr>
          <a:xfrm>
            <a:off x="6435354" y="2497488"/>
            <a:ext cx="1948625" cy="411967"/>
          </a:xfrm>
        </p:spPr>
        <p:txBody>
          <a:bodyPr/>
          <a:lstStyle/>
          <a:p>
            <a:pPr marL="432" indent="0">
              <a:buNone/>
            </a:pPr>
            <a:r>
              <a:rPr lang="en-US" dirty="0"/>
              <a:t>so the critical</a:t>
            </a:r>
          </a:p>
        </p:txBody>
      </p:sp>
      <p:sp>
        <p:nvSpPr>
          <p:cNvPr id="9" name="Content Placeholder 8"/>
          <p:cNvSpPr>
            <a:spLocks noGrp="1"/>
          </p:cNvSpPr>
          <p:nvPr>
            <p:ph sz="quarter" idx="18"/>
          </p:nvPr>
        </p:nvSpPr>
        <p:spPr>
          <a:xfrm>
            <a:off x="457200" y="2972502"/>
            <a:ext cx="1585356" cy="423842"/>
          </a:xfrm>
        </p:spPr>
        <p:txBody>
          <a:bodyPr/>
          <a:lstStyle/>
          <a:p>
            <a:pPr marL="432" indent="0">
              <a:buNone/>
            </a:pPr>
            <a:r>
              <a:rPr lang="en-US" dirty="0"/>
              <a:t>values are</a:t>
            </a:r>
          </a:p>
        </p:txBody>
      </p:sp>
      <p:graphicFrame>
        <p:nvGraphicFramePr>
          <p:cNvPr id="20" name="Object 19" descr="minus t subscript 0 equals minus 1.895 and t subscript 0 equals 1.895">
            <a:extLst>
              <a:ext uri="{FF2B5EF4-FFF2-40B4-BE49-F238E27FC236}">
                <a16:creationId xmlns:a16="http://schemas.microsoft.com/office/drawing/2014/main" id="{E1D04B24-F520-4CAF-A5F7-9BB501DE270D}"/>
              </a:ext>
            </a:extLst>
          </p:cNvPr>
          <p:cNvGraphicFramePr>
            <a:graphicFrameLocks noChangeAspect="1"/>
          </p:cNvGraphicFramePr>
          <p:nvPr/>
        </p:nvGraphicFramePr>
        <p:xfrm>
          <a:off x="2121383" y="2978026"/>
          <a:ext cx="3720796" cy="406775"/>
        </p:xfrm>
        <a:graphic>
          <a:graphicData uri="http://schemas.openxmlformats.org/presentationml/2006/ole">
            <mc:AlternateContent xmlns:mc="http://schemas.openxmlformats.org/markup-compatibility/2006">
              <mc:Choice xmlns:v="urn:schemas-microsoft-com:vml" Requires="v">
                <p:oleObj name="Equation" r:id="rId6" imgW="3949560" imgH="431640" progId="Equation.DSMT4">
                  <p:embed/>
                </p:oleObj>
              </mc:Choice>
              <mc:Fallback>
                <p:oleObj name="Equation" r:id="rId6" imgW="3949560" imgH="431640" progId="Equation.DSMT4">
                  <p:embed/>
                  <p:pic>
                    <p:nvPicPr>
                      <p:cNvPr id="20" name="Object 19" descr="minus t subscript 0 equals minus 1.895 and t subscript 0 equals 1.895">
                        <a:extLst>
                          <a:ext uri="{FF2B5EF4-FFF2-40B4-BE49-F238E27FC236}">
                            <a16:creationId xmlns:a16="http://schemas.microsoft.com/office/drawing/2014/main" id="{E1D04B24-F520-4CAF-A5F7-9BB501DE270D}"/>
                          </a:ext>
                        </a:extLst>
                      </p:cNvPr>
                      <p:cNvPicPr/>
                      <p:nvPr/>
                    </p:nvPicPr>
                    <p:blipFill>
                      <a:blip r:embed="rId7"/>
                      <a:stretch>
                        <a:fillRect/>
                      </a:stretch>
                    </p:blipFill>
                    <p:spPr>
                      <a:xfrm>
                        <a:off x="2121383" y="2978026"/>
                        <a:ext cx="3720796" cy="406775"/>
                      </a:xfrm>
                      <a:prstGeom prst="rect">
                        <a:avLst/>
                      </a:prstGeom>
                    </p:spPr>
                  </p:pic>
                </p:oleObj>
              </mc:Fallback>
            </mc:AlternateContent>
          </a:graphicData>
        </a:graphic>
      </p:graphicFrame>
      <p:sp>
        <p:nvSpPr>
          <p:cNvPr id="10" name="Content Placeholder 9"/>
          <p:cNvSpPr>
            <a:spLocks noGrp="1"/>
          </p:cNvSpPr>
          <p:nvPr>
            <p:ph sz="quarter" idx="19"/>
          </p:nvPr>
        </p:nvSpPr>
        <p:spPr>
          <a:xfrm>
            <a:off x="5948716" y="2972501"/>
            <a:ext cx="1940459" cy="423843"/>
          </a:xfrm>
        </p:spPr>
        <p:txBody>
          <a:bodyPr/>
          <a:lstStyle/>
          <a:p>
            <a:pPr marL="432" indent="0">
              <a:buNone/>
            </a:pPr>
            <a:r>
              <a:rPr lang="en-US" dirty="0"/>
              <a:t>The rejection</a:t>
            </a:r>
          </a:p>
        </p:txBody>
      </p:sp>
      <p:sp>
        <p:nvSpPr>
          <p:cNvPr id="11" name="Content Placeholder 10"/>
          <p:cNvSpPr>
            <a:spLocks noGrp="1"/>
          </p:cNvSpPr>
          <p:nvPr>
            <p:ph sz="quarter" idx="20"/>
          </p:nvPr>
        </p:nvSpPr>
        <p:spPr>
          <a:xfrm>
            <a:off x="457201" y="3478213"/>
            <a:ext cx="1664182" cy="416893"/>
          </a:xfrm>
        </p:spPr>
        <p:txBody>
          <a:bodyPr/>
          <a:lstStyle/>
          <a:p>
            <a:pPr marL="432" indent="0">
              <a:buNone/>
            </a:pPr>
            <a:r>
              <a:rPr lang="en-US" dirty="0"/>
              <a:t>regions are</a:t>
            </a:r>
          </a:p>
        </p:txBody>
      </p:sp>
      <p:graphicFrame>
        <p:nvGraphicFramePr>
          <p:cNvPr id="21" name="Object 20" descr="t less than minus 1.895 and t greater than 1.895.">
            <a:extLst>
              <a:ext uri="{FF2B5EF4-FFF2-40B4-BE49-F238E27FC236}">
                <a16:creationId xmlns:a16="http://schemas.microsoft.com/office/drawing/2014/main" id="{6E1EB9DB-71A3-4A22-A94F-26AD318DFD7E}"/>
              </a:ext>
            </a:extLst>
          </p:cNvPr>
          <p:cNvGraphicFramePr>
            <a:graphicFrameLocks noChangeAspect="1"/>
          </p:cNvGraphicFramePr>
          <p:nvPr/>
        </p:nvGraphicFramePr>
        <p:xfrm>
          <a:off x="2199373" y="3499773"/>
          <a:ext cx="3186545" cy="357909"/>
        </p:xfrm>
        <a:graphic>
          <a:graphicData uri="http://schemas.openxmlformats.org/presentationml/2006/ole">
            <mc:AlternateContent xmlns:mc="http://schemas.openxmlformats.org/markup-compatibility/2006">
              <mc:Choice xmlns:v="urn:schemas-microsoft-com:vml" Requires="v">
                <p:oleObj name="Equation" r:id="rId8" imgW="3504960" imgH="393480" progId="Equation.DSMT4">
                  <p:embed/>
                </p:oleObj>
              </mc:Choice>
              <mc:Fallback>
                <p:oleObj name="Equation" r:id="rId8" imgW="3504960" imgH="393480" progId="Equation.DSMT4">
                  <p:embed/>
                  <p:pic>
                    <p:nvPicPr>
                      <p:cNvPr id="21" name="Object 20" descr="t less than minus 1.895 and t greater than 1.895.">
                        <a:extLst>
                          <a:ext uri="{FF2B5EF4-FFF2-40B4-BE49-F238E27FC236}">
                            <a16:creationId xmlns:a16="http://schemas.microsoft.com/office/drawing/2014/main" id="{6E1EB9DB-71A3-4A22-A94F-26AD318DFD7E}"/>
                          </a:ext>
                        </a:extLst>
                      </p:cNvPr>
                      <p:cNvPicPr/>
                      <p:nvPr/>
                    </p:nvPicPr>
                    <p:blipFill>
                      <a:blip r:embed="rId9"/>
                      <a:stretch>
                        <a:fillRect/>
                      </a:stretch>
                    </p:blipFill>
                    <p:spPr>
                      <a:xfrm>
                        <a:off x="2199373" y="3499773"/>
                        <a:ext cx="3186545" cy="357909"/>
                      </a:xfrm>
                      <a:prstGeom prst="rect">
                        <a:avLst/>
                      </a:prstGeom>
                    </p:spPr>
                  </p:pic>
                </p:oleObj>
              </mc:Fallback>
            </mc:AlternateContent>
          </a:graphicData>
        </a:graphic>
      </p:graphicFrame>
    </p:spTree>
    <p:extLst>
      <p:ext uri="{BB962C8B-B14F-4D97-AF65-F5344CB8AC3E}">
        <p14:creationId xmlns:p14="http://schemas.microsoft.com/office/powerpoint/2010/main" val="1161722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(3 of 9)</a:t>
            </a:r>
          </a:p>
        </p:txBody>
      </p:sp>
      <p:sp>
        <p:nvSpPr>
          <p:cNvPr id="4" name="Content Placeholder 3"/>
          <p:cNvSpPr>
            <a:spLocks noGrp="1"/>
          </p:cNvSpPr>
          <p:nvPr>
            <p:ph sz="quarter" idx="13"/>
          </p:nvPr>
        </p:nvSpPr>
        <p:spPr>
          <a:xfrm>
            <a:off x="457201" y="1552575"/>
            <a:ext cx="4459184" cy="418729"/>
          </a:xfrm>
        </p:spPr>
        <p:txBody>
          <a:bodyPr/>
          <a:lstStyle/>
          <a:p>
            <a:pPr marL="0" indent="0">
              <a:buNone/>
            </a:pPr>
            <a:r>
              <a:rPr lang="en-US" dirty="0"/>
              <a:t>The standardized test statistic is</a:t>
            </a:r>
          </a:p>
        </p:txBody>
      </p:sp>
      <p:graphicFrame>
        <p:nvGraphicFramePr>
          <p:cNvPr id="18" name="Object 17" descr="t equals fraction numerator open parenthesis x bar subscript 1 minus x bar subscript 2 close parenthesis minus open parenthesis mu subscript 1 minus mu subscript 2 close parenthesis divided by denominator square root of fraction numerator s subscript 1 squared divided by denominator n subscript 1 end fraction plus s subscript 2 squared divided by denominator n subscript 2 end fraction end root">
            <a:extLst>
              <a:ext uri="{FF2B5EF4-FFF2-40B4-BE49-F238E27FC236}">
                <a16:creationId xmlns:a16="http://schemas.microsoft.com/office/drawing/2014/main" id="{0680B5A0-A997-4B37-913D-9243EBD4F94B}"/>
              </a:ext>
            </a:extLst>
          </p:cNvPr>
          <p:cNvGraphicFramePr>
            <a:graphicFrameLocks noChangeAspect="1"/>
          </p:cNvGraphicFramePr>
          <p:nvPr/>
        </p:nvGraphicFramePr>
        <p:xfrm>
          <a:off x="431800" y="2074120"/>
          <a:ext cx="3013364" cy="1431636"/>
        </p:xfrm>
        <a:graphic>
          <a:graphicData uri="http://schemas.openxmlformats.org/presentationml/2006/ole">
            <mc:AlternateContent xmlns:mc="http://schemas.openxmlformats.org/markup-compatibility/2006">
              <mc:Choice xmlns:v="urn:schemas-microsoft-com:vml" Requires="v">
                <p:oleObj name="Equation" r:id="rId2" imgW="3314520" imgH="1574640" progId="Equation.DSMT4">
                  <p:embed/>
                </p:oleObj>
              </mc:Choice>
              <mc:Fallback>
                <p:oleObj name="Equation" r:id="rId2" imgW="3314520" imgH="1574640" progId="Equation.DSMT4">
                  <p:embed/>
                  <p:pic>
                    <p:nvPicPr>
                      <p:cNvPr id="18" name="Object 17" descr="t equals fraction numerator open parenthesis x bar subscript 1 minus x bar subscript 2 close parenthesis minus open parenthesis mu subscript 1 minus mu subscript 2 close parenthesis divided by denominator square root of fraction numerator s subscript 1 squared divided by denominator n subscript 1 end fraction plus s subscript 2 squared divided by denominator n subscript 2 end fraction end root">
                        <a:extLst>
                          <a:ext uri="{FF2B5EF4-FFF2-40B4-BE49-F238E27FC236}">
                            <a16:creationId xmlns:a16="http://schemas.microsoft.com/office/drawing/2014/main" id="{0680B5A0-A997-4B37-913D-9243EBD4F94B}"/>
                          </a:ext>
                        </a:extLst>
                      </p:cNvPr>
                      <p:cNvPicPr/>
                      <p:nvPr/>
                    </p:nvPicPr>
                    <p:blipFill>
                      <a:blip r:embed="rId3"/>
                      <a:stretch>
                        <a:fillRect/>
                      </a:stretch>
                    </p:blipFill>
                    <p:spPr>
                      <a:xfrm>
                        <a:off x="431800" y="2074120"/>
                        <a:ext cx="3013364" cy="1431636"/>
                      </a:xfrm>
                      <a:prstGeom prst="rect">
                        <a:avLst/>
                      </a:prstGeom>
                    </p:spPr>
                  </p:pic>
                </p:oleObj>
              </mc:Fallback>
            </mc:AlternateContent>
          </a:graphicData>
        </a:graphic>
      </p:graphicFrame>
      <p:sp>
        <p:nvSpPr>
          <p:cNvPr id="5" name="Content Placeholder 4"/>
          <p:cNvSpPr>
            <a:spLocks noGrp="1"/>
          </p:cNvSpPr>
          <p:nvPr>
            <p:ph sz="quarter" idx="14"/>
          </p:nvPr>
        </p:nvSpPr>
        <p:spPr>
          <a:xfrm>
            <a:off x="4090667" y="2284938"/>
            <a:ext cx="3568917" cy="790771"/>
          </a:xfrm>
        </p:spPr>
        <p:txBody>
          <a:bodyPr/>
          <a:lstStyle/>
          <a:p>
            <a:pPr marL="432" indent="0">
              <a:buNone/>
            </a:pPr>
            <a:r>
              <a:rPr lang="en-US" dirty="0">
                <a:solidFill>
                  <a:schemeClr val="tx1"/>
                </a:solidFill>
              </a:rPr>
              <a:t>Use the </a:t>
            </a:r>
            <a:r>
              <a:rPr lang="en-US" i="1" dirty="0">
                <a:solidFill>
                  <a:schemeClr val="tx1"/>
                </a:solidFill>
              </a:rPr>
              <a:t>t</a:t>
            </a:r>
            <a:r>
              <a:rPr lang="en-US" dirty="0">
                <a:solidFill>
                  <a:schemeClr val="tx1"/>
                </a:solidFill>
              </a:rPr>
              <a:t>-test (variances are not equal).</a:t>
            </a:r>
          </a:p>
        </p:txBody>
      </p:sp>
      <p:graphicFrame>
        <p:nvGraphicFramePr>
          <p:cNvPr id="19" name="Object 18" descr="equals fraction numerator 473 minus 459 minus 0 divided by denominator square root of fraction numerator open parenthesis 39.7 close parenthesis squared divided by denominator 8 end fraction plus fraction numerator open parenthesis 24.5 close parenthesis squared divided by denominator 18 end fraction end root end fraction">
            <a:extLst>
              <a:ext uri="{FF2B5EF4-FFF2-40B4-BE49-F238E27FC236}">
                <a16:creationId xmlns:a16="http://schemas.microsoft.com/office/drawing/2014/main" id="{8A45ED59-4B61-4E25-B56C-AB72F6F48C11}"/>
              </a:ext>
            </a:extLst>
          </p:cNvPr>
          <p:cNvGraphicFramePr>
            <a:graphicFrameLocks noChangeAspect="1"/>
          </p:cNvGraphicFramePr>
          <p:nvPr/>
        </p:nvGraphicFramePr>
        <p:xfrm>
          <a:off x="651920" y="3672895"/>
          <a:ext cx="2851727" cy="1373909"/>
        </p:xfrm>
        <a:graphic>
          <a:graphicData uri="http://schemas.openxmlformats.org/presentationml/2006/ole">
            <mc:AlternateContent xmlns:mc="http://schemas.openxmlformats.org/markup-compatibility/2006">
              <mc:Choice xmlns:v="urn:schemas-microsoft-com:vml" Requires="v">
                <p:oleObj name="Equation" r:id="rId4" imgW="3136680" imgH="1511280" progId="Equation.DSMT4">
                  <p:embed/>
                </p:oleObj>
              </mc:Choice>
              <mc:Fallback>
                <p:oleObj name="Equation" r:id="rId4" imgW="3136680" imgH="1511280" progId="Equation.DSMT4">
                  <p:embed/>
                  <p:pic>
                    <p:nvPicPr>
                      <p:cNvPr id="19" name="Object 18" descr="equals fraction numerator 473 minus 459 minus 0 divided by denominator square root of fraction numerator open parenthesis 39.7 close parenthesis squared divided by denominator 8 end fraction plus fraction numerator open parenthesis 24.5 close parenthesis squared divided by denominator 18 end fraction end root end fraction">
                        <a:extLst>
                          <a:ext uri="{FF2B5EF4-FFF2-40B4-BE49-F238E27FC236}">
                            <a16:creationId xmlns:a16="http://schemas.microsoft.com/office/drawing/2014/main" id="{8A45ED59-4B61-4E25-B56C-AB72F6F48C11}"/>
                          </a:ext>
                        </a:extLst>
                      </p:cNvPr>
                      <p:cNvPicPr/>
                      <p:nvPr/>
                    </p:nvPicPr>
                    <p:blipFill>
                      <a:blip r:embed="rId5"/>
                      <a:stretch>
                        <a:fillRect/>
                      </a:stretch>
                    </p:blipFill>
                    <p:spPr>
                      <a:xfrm>
                        <a:off x="651920" y="3672895"/>
                        <a:ext cx="2851727" cy="1373909"/>
                      </a:xfrm>
                      <a:prstGeom prst="rect">
                        <a:avLst/>
                      </a:prstGeom>
                    </p:spPr>
                  </p:pic>
                </p:oleObj>
              </mc:Fallback>
            </mc:AlternateContent>
          </a:graphicData>
        </a:graphic>
      </p:graphicFrame>
      <p:sp>
        <p:nvSpPr>
          <p:cNvPr id="6" name="Content Placeholder 5"/>
          <p:cNvSpPr>
            <a:spLocks noGrp="1"/>
          </p:cNvSpPr>
          <p:nvPr>
            <p:ph sz="quarter" idx="15"/>
          </p:nvPr>
        </p:nvSpPr>
        <p:spPr>
          <a:xfrm>
            <a:off x="4090667" y="4063297"/>
            <a:ext cx="1246909" cy="420956"/>
          </a:xfrm>
        </p:spPr>
        <p:txBody>
          <a:bodyPr/>
          <a:lstStyle/>
          <a:p>
            <a:pPr marL="432" indent="0">
              <a:buNone/>
            </a:pPr>
            <a:r>
              <a:rPr lang="en-US" dirty="0">
                <a:solidFill>
                  <a:schemeClr val="tx1"/>
                </a:solidFill>
              </a:rPr>
              <a:t>Assume</a:t>
            </a:r>
          </a:p>
        </p:txBody>
      </p:sp>
      <p:graphicFrame>
        <p:nvGraphicFramePr>
          <p:cNvPr id="20" name="Object 19" descr="mu subscript 1 equals mu subscript 2, so mu subscript 1 minus mu subscript 2 equals 0.">
            <a:extLst>
              <a:ext uri="{FF2B5EF4-FFF2-40B4-BE49-F238E27FC236}">
                <a16:creationId xmlns:a16="http://schemas.microsoft.com/office/drawing/2014/main" id="{8918D407-F039-4480-9B8F-461916BB11B6}"/>
              </a:ext>
            </a:extLst>
          </p:cNvPr>
          <p:cNvGraphicFramePr>
            <a:graphicFrameLocks noChangeAspect="1"/>
          </p:cNvGraphicFramePr>
          <p:nvPr/>
        </p:nvGraphicFramePr>
        <p:xfrm>
          <a:off x="5434444" y="4039915"/>
          <a:ext cx="2978727" cy="392545"/>
        </p:xfrm>
        <a:graphic>
          <a:graphicData uri="http://schemas.openxmlformats.org/presentationml/2006/ole">
            <mc:AlternateContent xmlns:mc="http://schemas.openxmlformats.org/markup-compatibility/2006">
              <mc:Choice xmlns:v="urn:schemas-microsoft-com:vml" Requires="v">
                <p:oleObj name="Equation" r:id="rId6" imgW="3276360" imgH="431640" progId="Equation.DSMT4">
                  <p:embed/>
                </p:oleObj>
              </mc:Choice>
              <mc:Fallback>
                <p:oleObj name="Equation" r:id="rId6" imgW="3276360" imgH="431640" progId="Equation.DSMT4">
                  <p:embed/>
                  <p:pic>
                    <p:nvPicPr>
                      <p:cNvPr id="20" name="Object 19" descr="mu subscript 1 equals mu subscript 2, so mu subscript 1 minus mu subscript 2 equals 0.">
                        <a:extLst>
                          <a:ext uri="{FF2B5EF4-FFF2-40B4-BE49-F238E27FC236}">
                            <a16:creationId xmlns:a16="http://schemas.microsoft.com/office/drawing/2014/main" id="{8918D407-F039-4480-9B8F-461916BB11B6}"/>
                          </a:ext>
                        </a:extLst>
                      </p:cNvPr>
                      <p:cNvPicPr/>
                      <p:nvPr/>
                    </p:nvPicPr>
                    <p:blipFill>
                      <a:blip r:embed="rId7"/>
                      <a:stretch>
                        <a:fillRect/>
                      </a:stretch>
                    </p:blipFill>
                    <p:spPr>
                      <a:xfrm>
                        <a:off x="5434444" y="4039915"/>
                        <a:ext cx="2978727" cy="392545"/>
                      </a:xfrm>
                      <a:prstGeom prst="rect">
                        <a:avLst/>
                      </a:prstGeom>
                    </p:spPr>
                  </p:pic>
                </p:oleObj>
              </mc:Fallback>
            </mc:AlternateContent>
          </a:graphicData>
        </a:graphic>
      </p:graphicFrame>
      <p:graphicFrame>
        <p:nvGraphicFramePr>
          <p:cNvPr id="21" name="Object 20" descr="approximately equals to 0.922">
            <a:extLst>
              <a:ext uri="{FF2B5EF4-FFF2-40B4-BE49-F238E27FC236}">
                <a16:creationId xmlns:a16="http://schemas.microsoft.com/office/drawing/2014/main" id="{DFEE7532-35B3-4051-A62F-7DF9273A7EFE}"/>
              </a:ext>
            </a:extLst>
          </p:cNvPr>
          <p:cNvGraphicFramePr>
            <a:graphicFrameLocks noChangeAspect="1"/>
          </p:cNvGraphicFramePr>
          <p:nvPr/>
        </p:nvGraphicFramePr>
        <p:xfrm>
          <a:off x="617538" y="5235575"/>
          <a:ext cx="1073150" cy="288925"/>
        </p:xfrm>
        <a:graphic>
          <a:graphicData uri="http://schemas.openxmlformats.org/presentationml/2006/ole">
            <mc:AlternateContent xmlns:mc="http://schemas.openxmlformats.org/markup-compatibility/2006">
              <mc:Choice xmlns:v="urn:schemas-microsoft-com:vml" Requires="v">
                <p:oleObj name="Equation" r:id="rId8" imgW="1180800" imgH="317160" progId="Equation.DSMT4">
                  <p:embed/>
                </p:oleObj>
              </mc:Choice>
              <mc:Fallback>
                <p:oleObj name="Equation" r:id="rId8" imgW="1180800" imgH="317160" progId="Equation.DSMT4">
                  <p:embed/>
                  <p:pic>
                    <p:nvPicPr>
                      <p:cNvPr id="21" name="Object 20" descr="approximately equals to 0.922">
                        <a:extLst>
                          <a:ext uri="{FF2B5EF4-FFF2-40B4-BE49-F238E27FC236}">
                            <a16:creationId xmlns:a16="http://schemas.microsoft.com/office/drawing/2014/main" id="{DFEE7532-35B3-4051-A62F-7DF9273A7EFE}"/>
                          </a:ext>
                        </a:extLst>
                      </p:cNvPr>
                      <p:cNvPicPr/>
                      <p:nvPr/>
                    </p:nvPicPr>
                    <p:blipFill>
                      <a:blip r:embed="rId9"/>
                      <a:stretch>
                        <a:fillRect/>
                      </a:stretch>
                    </p:blipFill>
                    <p:spPr>
                      <a:xfrm>
                        <a:off x="617538" y="5235575"/>
                        <a:ext cx="1073150" cy="288925"/>
                      </a:xfrm>
                      <a:prstGeom prst="rect">
                        <a:avLst/>
                      </a:prstGeom>
                    </p:spPr>
                  </p:pic>
                </p:oleObj>
              </mc:Fallback>
            </mc:AlternateContent>
          </a:graphicData>
        </a:graphic>
      </p:graphicFrame>
    </p:spTree>
    <p:extLst>
      <p:ext uri="{BB962C8B-B14F-4D97-AF65-F5344CB8AC3E}">
        <p14:creationId xmlns:p14="http://schemas.microsoft.com/office/powerpoint/2010/main" val="40391288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(4 of 9)</a:t>
            </a:r>
          </a:p>
        </p:txBody>
      </p:sp>
      <p:sp>
        <p:nvSpPr>
          <p:cNvPr id="4" name="Content Placeholder 3"/>
          <p:cNvSpPr>
            <a:spLocks noGrp="1"/>
          </p:cNvSpPr>
          <p:nvPr>
            <p:ph sz="quarter" idx="13"/>
          </p:nvPr>
        </p:nvSpPr>
        <p:spPr>
          <a:xfrm>
            <a:off x="457200" y="1552575"/>
            <a:ext cx="8229600" cy="1190625"/>
          </a:xfrm>
        </p:spPr>
        <p:txBody>
          <a:bodyPr/>
          <a:lstStyle/>
          <a:p>
            <a:pPr marL="0" indent="0">
              <a:buNone/>
            </a:pPr>
            <a:r>
              <a:rPr lang="en-US" dirty="0">
                <a:solidFill>
                  <a:schemeClr val="tx1"/>
                </a:solidFill>
              </a:rPr>
              <a:t>The figure shows the location of the rejection regions and the standardized test statistic </a:t>
            </a:r>
            <a:r>
              <a:rPr lang="en-US" i="1" dirty="0">
                <a:solidFill>
                  <a:schemeClr val="tx1"/>
                </a:solidFill>
              </a:rPr>
              <a:t>t</a:t>
            </a:r>
            <a:r>
              <a:rPr lang="en-US" dirty="0">
                <a:solidFill>
                  <a:schemeClr val="tx1"/>
                </a:solidFill>
              </a:rPr>
              <a:t>. Because </a:t>
            </a:r>
            <a:r>
              <a:rPr lang="en-US" i="1" dirty="0">
                <a:solidFill>
                  <a:schemeClr val="tx1"/>
                </a:solidFill>
              </a:rPr>
              <a:t>t </a:t>
            </a:r>
            <a:r>
              <a:rPr lang="en-US" dirty="0">
                <a:solidFill>
                  <a:schemeClr val="tx1"/>
                </a:solidFill>
              </a:rPr>
              <a:t>is not in the rejection region, you fail to reject the null hypothesis.</a:t>
            </a:r>
            <a:endParaRPr lang="en-US" b="1" dirty="0">
              <a:solidFill>
                <a:schemeClr val="tx1"/>
              </a:solidFill>
            </a:endParaRPr>
          </a:p>
        </p:txBody>
      </p:sp>
      <p:sp>
        <p:nvSpPr>
          <p:cNvPr id="5" name="Content Placeholder 4"/>
          <p:cNvSpPr>
            <a:spLocks noGrp="1"/>
          </p:cNvSpPr>
          <p:nvPr>
            <p:ph sz="quarter" idx="14"/>
          </p:nvPr>
        </p:nvSpPr>
        <p:spPr>
          <a:xfrm>
            <a:off x="457200" y="3025109"/>
            <a:ext cx="3331029" cy="3056466"/>
          </a:xfrm>
        </p:spPr>
        <p:txBody>
          <a:bodyPr/>
          <a:lstStyle/>
          <a:p>
            <a:pPr marL="432" indent="0">
              <a:buNone/>
            </a:pPr>
            <a:r>
              <a:rPr lang="en-US" dirty="0">
                <a:cs typeface="Times New Roman" panose="02020603050405020304" pitchFamily="18" charset="0"/>
              </a:rPr>
              <a:t>There is not enough evidence at the 10% level of significance to support the claim that the mean mathematics test scores for the students of the two teachers are different.</a:t>
            </a:r>
          </a:p>
        </p:txBody>
      </p:sp>
      <p:pic>
        <p:nvPicPr>
          <p:cNvPr id="18" name="Content Placeholder 17" descr="A bell curve on a horizontal line t. For long description in Notes pane, press F6."/>
          <p:cNvPicPr>
            <a:picLocks noGrp="1" noChangeAspect="1"/>
          </p:cNvPicPr>
          <p:nvPr>
            <p:ph sz="quarter" idx="15"/>
          </p:nvPr>
        </p:nvPicPr>
        <p:blipFill>
          <a:blip r:embed="rId3"/>
          <a:stretch>
            <a:fillRect/>
          </a:stretch>
        </p:blipFill>
        <p:spPr>
          <a:xfrm>
            <a:off x="4572000" y="3062169"/>
            <a:ext cx="3907875" cy="3194581"/>
          </a:xfrm>
          <a:prstGeom prst="rect">
            <a:avLst/>
          </a:prstGeom>
        </p:spPr>
      </p:pic>
    </p:spTree>
    <p:extLst>
      <p:ext uri="{BB962C8B-B14F-4D97-AF65-F5344CB8AC3E}">
        <p14:creationId xmlns:p14="http://schemas.microsoft.com/office/powerpoint/2010/main" val="2101922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sz="3400" dirty="0"/>
              <a:t>Example: Two-Sample </a:t>
            </a:r>
            <a:r>
              <a:rPr lang="en-US" sz="3400" i="1" dirty="0"/>
              <a:t>t</a:t>
            </a:r>
            <a:r>
              <a:rPr lang="en-US" sz="3400" dirty="0"/>
              <a:t>-Test for the Difference Between Means </a:t>
            </a:r>
            <a:r>
              <a:rPr lang="en-US" sz="2000" b="0" dirty="0"/>
              <a:t>(2 of 2)</a:t>
            </a:r>
          </a:p>
        </p:txBody>
      </p:sp>
      <p:sp>
        <p:nvSpPr>
          <p:cNvPr id="2" name="Content Placeholder 1"/>
          <p:cNvSpPr>
            <a:spLocks noGrp="1"/>
          </p:cNvSpPr>
          <p:nvPr>
            <p:ph sz="quarter" idx="13"/>
          </p:nvPr>
        </p:nvSpPr>
        <p:spPr>
          <a:xfrm>
            <a:off x="457200" y="1552575"/>
            <a:ext cx="7962405" cy="1511259"/>
          </a:xfrm>
        </p:spPr>
        <p:txBody>
          <a:bodyPr/>
          <a:lstStyle/>
          <a:p>
            <a:pPr marL="432" indent="0">
              <a:buNone/>
            </a:pPr>
            <a:r>
              <a:rPr lang="en-US" dirty="0">
                <a:solidFill>
                  <a:schemeClr val="tx1"/>
                </a:solidFill>
              </a:rPr>
              <a:t>An automobile manufacturer claims that the mean driving cost per mile of its sedans is less than that of its leading competitor. You conduct a study using 30 randomly selected sedans from the manufacturer and 32 from the</a:t>
            </a:r>
          </a:p>
        </p:txBody>
      </p:sp>
      <p:sp>
        <p:nvSpPr>
          <p:cNvPr id="3" name="Content Placeholder 2"/>
          <p:cNvSpPr>
            <a:spLocks noGrp="1"/>
          </p:cNvSpPr>
          <p:nvPr>
            <p:ph sz="quarter" idx="14"/>
          </p:nvPr>
        </p:nvSpPr>
        <p:spPr>
          <a:xfrm>
            <a:off x="457201" y="3123209"/>
            <a:ext cx="6287984" cy="415011"/>
          </a:xfrm>
        </p:spPr>
        <p:txBody>
          <a:bodyPr/>
          <a:lstStyle/>
          <a:p>
            <a:pPr marL="432" indent="0">
              <a:buNone/>
            </a:pPr>
            <a:r>
              <a:rPr lang="en-US" dirty="0">
                <a:solidFill>
                  <a:schemeClr val="tx1"/>
                </a:solidFill>
              </a:rPr>
              <a:t>leading competitor. The results are shown. At</a:t>
            </a:r>
          </a:p>
        </p:txBody>
      </p:sp>
      <p:graphicFrame>
        <p:nvGraphicFramePr>
          <p:cNvPr id="19" name="Object 18" descr="alpha equals 0.05">
            <a:extLst>
              <a:ext uri="{FF2B5EF4-FFF2-40B4-BE49-F238E27FC236}">
                <a16:creationId xmlns:a16="http://schemas.microsoft.com/office/drawing/2014/main" id="{E9B5CF38-EB16-44C4-8331-81863C8528F9}"/>
              </a:ext>
            </a:extLst>
          </p:cNvPr>
          <p:cNvGraphicFramePr>
            <a:graphicFrameLocks noChangeAspect="1"/>
          </p:cNvGraphicFramePr>
          <p:nvPr/>
        </p:nvGraphicFramePr>
        <p:xfrm>
          <a:off x="6820309" y="3140030"/>
          <a:ext cx="1224861" cy="341548"/>
        </p:xfrm>
        <a:graphic>
          <a:graphicData uri="http://schemas.openxmlformats.org/presentationml/2006/ole">
            <mc:AlternateContent xmlns:mc="http://schemas.openxmlformats.org/markup-compatibility/2006">
              <mc:Choice xmlns:v="urn:schemas-microsoft-com:vml" Requires="v">
                <p:oleObj name="Equation" r:id="rId2" imgW="1320480" imgH="368280" progId="Equation.DSMT4">
                  <p:embed/>
                </p:oleObj>
              </mc:Choice>
              <mc:Fallback>
                <p:oleObj name="Equation" r:id="rId2" imgW="1320480" imgH="368280" progId="Equation.DSMT4">
                  <p:embed/>
                  <p:pic>
                    <p:nvPicPr>
                      <p:cNvPr id="19" name="Object 18" descr="alpha equals 0.05">
                        <a:extLst>
                          <a:ext uri="{FF2B5EF4-FFF2-40B4-BE49-F238E27FC236}">
                            <a16:creationId xmlns:a16="http://schemas.microsoft.com/office/drawing/2014/main" id="{E9B5CF38-EB16-44C4-8331-81863C8528F9}"/>
                          </a:ext>
                        </a:extLst>
                      </p:cNvPr>
                      <p:cNvPicPr/>
                      <p:nvPr/>
                    </p:nvPicPr>
                    <p:blipFill>
                      <a:blip r:embed="rId3"/>
                      <a:stretch>
                        <a:fillRect/>
                      </a:stretch>
                    </p:blipFill>
                    <p:spPr>
                      <a:xfrm>
                        <a:off x="6820309" y="3140030"/>
                        <a:ext cx="1224861" cy="341548"/>
                      </a:xfrm>
                      <a:prstGeom prst="rect">
                        <a:avLst/>
                      </a:prstGeom>
                    </p:spPr>
                  </p:pic>
                </p:oleObj>
              </mc:Fallback>
            </mc:AlternateContent>
          </a:graphicData>
        </a:graphic>
      </p:graphicFrame>
      <p:sp>
        <p:nvSpPr>
          <p:cNvPr id="4" name="Content Placeholder 3"/>
          <p:cNvSpPr>
            <a:spLocks noGrp="1"/>
          </p:cNvSpPr>
          <p:nvPr>
            <p:ph sz="quarter" idx="15"/>
          </p:nvPr>
        </p:nvSpPr>
        <p:spPr>
          <a:xfrm>
            <a:off x="457200" y="3597595"/>
            <a:ext cx="8045532" cy="1140660"/>
          </a:xfrm>
        </p:spPr>
        <p:txBody>
          <a:bodyPr/>
          <a:lstStyle/>
          <a:p>
            <a:pPr marL="0" indent="0">
              <a:buNone/>
            </a:pPr>
            <a:r>
              <a:rPr lang="en-US" dirty="0">
                <a:solidFill>
                  <a:schemeClr val="tx1"/>
                </a:solidFill>
              </a:rPr>
              <a:t>can you support the manufacturer’s claim? Assume the population variances are equal. (Adapted from American Automobile Association)</a:t>
            </a:r>
            <a:endParaRPr lang="en-US" altLang="en-US" dirty="0">
              <a:solidFill>
                <a:schemeClr val="tx1"/>
              </a:solidFill>
            </a:endParaRPr>
          </a:p>
        </p:txBody>
      </p:sp>
      <p:graphicFrame>
        <p:nvGraphicFramePr>
          <p:cNvPr id="16" name="Content Placeholder 15"/>
          <p:cNvGraphicFramePr>
            <a:graphicFrameLocks noGrp="1"/>
          </p:cNvGraphicFramePr>
          <p:nvPr>
            <p:ph sz="quarter" idx="16"/>
          </p:nvPr>
        </p:nvGraphicFramePr>
        <p:xfrm>
          <a:off x="479240" y="4821380"/>
          <a:ext cx="4234048" cy="1523860"/>
        </p:xfrm>
        <a:graphic>
          <a:graphicData uri="http://schemas.openxmlformats.org/drawingml/2006/table">
            <a:tbl>
              <a:tblPr firstRow="1" bandRow="1">
                <a:tableStyleId>{2D5ABB26-0587-4C30-8999-92F81FD0307C}</a:tableStyleId>
              </a:tblPr>
              <a:tblGrid>
                <a:gridCol w="2117024">
                  <a:extLst>
                    <a:ext uri="{9D8B030D-6E8A-4147-A177-3AD203B41FA5}">
                      <a16:colId xmlns:a16="http://schemas.microsoft.com/office/drawing/2014/main" val="533041867"/>
                    </a:ext>
                  </a:extLst>
                </a:gridCol>
                <a:gridCol w="2117024">
                  <a:extLst>
                    <a:ext uri="{9D8B030D-6E8A-4147-A177-3AD203B41FA5}">
                      <a16:colId xmlns:a16="http://schemas.microsoft.com/office/drawing/2014/main" val="3946604651"/>
                    </a:ext>
                  </a:extLst>
                </a:gridCol>
              </a:tblGrid>
              <a:tr h="380965">
                <a:tc>
                  <a:txBody>
                    <a:bodyPr/>
                    <a:lstStyle/>
                    <a:p>
                      <a:pPr algn="ctr"/>
                      <a:r>
                        <a:rPr lang="en-US" sz="1600" b="1" dirty="0"/>
                        <a:t>Manufacturer</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Competitor</a:t>
                      </a:r>
                      <a:endParaRPr lang="en-IN"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9465069"/>
                  </a:ext>
                </a:extLst>
              </a:tr>
              <a:tr h="380965">
                <a:tc>
                  <a:txBody>
                    <a:bodyPr/>
                    <a:lstStyle/>
                    <a:p>
                      <a:pPr algn="ctr"/>
                      <a:r>
                        <a:rPr lang="en-US" sz="100" dirty="0"/>
                        <a:t>x sub 1 bar = $0.52 per mile.</a:t>
                      </a:r>
                      <a:endParaRPr lang="en-IN" sz="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dirty="0"/>
                        <a:t>x sub 2 bar = $0.55 per mile.</a:t>
                      </a:r>
                      <a:endParaRPr lang="en-IN" sz="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1565643"/>
                  </a:ext>
                </a:extLst>
              </a:tr>
              <a:tr h="380965">
                <a:tc>
                  <a:txBody>
                    <a:bodyPr/>
                    <a:lstStyle/>
                    <a:p>
                      <a:pPr algn="ctr"/>
                      <a:r>
                        <a:rPr lang="en-US" sz="100" dirty="0"/>
                        <a:t>s sub 1 = $0.05 per mile.</a:t>
                      </a:r>
                      <a:endParaRPr lang="en-IN" sz="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dirty="0"/>
                        <a:t>s sub 2 = $0.07 per mile.</a:t>
                      </a:r>
                      <a:endParaRPr lang="en-IN" sz="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5032784"/>
                  </a:ext>
                </a:extLst>
              </a:tr>
              <a:tr h="380965">
                <a:tc>
                  <a:txBody>
                    <a:bodyPr/>
                    <a:lstStyle/>
                    <a:p>
                      <a:pPr algn="ctr"/>
                      <a:r>
                        <a:rPr lang="en-IN" sz="100" dirty="0"/>
                        <a:t>n sub 1 =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 dirty="0"/>
                        <a:t>n sub 2 = 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427567"/>
                  </a:ext>
                </a:extLst>
              </a:tr>
            </a:tbl>
          </a:graphicData>
        </a:graphic>
      </p:graphicFrame>
      <p:graphicFrame>
        <p:nvGraphicFramePr>
          <p:cNvPr id="20" name="Object 19">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762762" y="5236391"/>
          <a:ext cx="1443182" cy="301756"/>
        </p:xfrm>
        <a:graphic>
          <a:graphicData uri="http://schemas.openxmlformats.org/presentationml/2006/ole">
            <mc:AlternateContent xmlns:mc="http://schemas.openxmlformats.org/markup-compatibility/2006">
              <mc:Choice xmlns:v="urn:schemas-microsoft-com:vml" Requires="v">
                <p:oleObj name="Equation" r:id="rId4" imgW="2070000" imgH="431640" progId="Equation.DSMT4">
                  <p:embed/>
                </p:oleObj>
              </mc:Choice>
              <mc:Fallback>
                <p:oleObj name="Equation" r:id="rId4" imgW="2070000" imgH="431640" progId="Equation.DSMT4">
                  <p:embed/>
                  <p:pic>
                    <p:nvPicPr>
                      <p:cNvPr id="20" name="Object 19">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5"/>
                      <a:stretch>
                        <a:fillRect/>
                      </a:stretch>
                    </p:blipFill>
                    <p:spPr>
                      <a:xfrm>
                        <a:off x="762762" y="5236391"/>
                        <a:ext cx="1443182" cy="301756"/>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2871788" y="5236391"/>
          <a:ext cx="1460500" cy="301625"/>
        </p:xfrm>
        <a:graphic>
          <a:graphicData uri="http://schemas.openxmlformats.org/presentationml/2006/ole">
            <mc:AlternateContent xmlns:mc="http://schemas.openxmlformats.org/markup-compatibility/2006">
              <mc:Choice xmlns:v="urn:schemas-microsoft-com:vml" Requires="v">
                <p:oleObj name="Equation" r:id="rId6" imgW="2095200" imgH="431640" progId="Equation.DSMT4">
                  <p:embed/>
                </p:oleObj>
              </mc:Choice>
              <mc:Fallback>
                <p:oleObj name="Equation" r:id="rId6" imgW="2095200" imgH="431640" progId="Equation.DSMT4">
                  <p:embed/>
                  <p:pic>
                    <p:nvPicPr>
                      <p:cNvPr id="21" name="Object 20">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7"/>
                      <a:stretch>
                        <a:fillRect/>
                      </a:stretch>
                    </p:blipFill>
                    <p:spPr>
                      <a:xfrm>
                        <a:off x="2871788" y="5236391"/>
                        <a:ext cx="1460500" cy="301625"/>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788163" y="5623050"/>
          <a:ext cx="1416050" cy="301625"/>
        </p:xfrm>
        <a:graphic>
          <a:graphicData uri="http://schemas.openxmlformats.org/presentationml/2006/ole">
            <mc:AlternateContent xmlns:mc="http://schemas.openxmlformats.org/markup-compatibility/2006">
              <mc:Choice xmlns:v="urn:schemas-microsoft-com:vml" Requires="v">
                <p:oleObj name="Equation" r:id="rId8" imgW="2031840" imgH="431640" progId="Equation.DSMT4">
                  <p:embed/>
                </p:oleObj>
              </mc:Choice>
              <mc:Fallback>
                <p:oleObj name="Equation" r:id="rId8" imgW="2031840" imgH="431640" progId="Equation.DSMT4">
                  <p:embed/>
                  <p:pic>
                    <p:nvPicPr>
                      <p:cNvPr id="22" name="Object 21">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9"/>
                      <a:stretch>
                        <a:fillRect/>
                      </a:stretch>
                    </p:blipFill>
                    <p:spPr>
                      <a:xfrm>
                        <a:off x="788163" y="5623050"/>
                        <a:ext cx="1416050" cy="301625"/>
                      </a:xfrm>
                      <a:prstGeom prst="rect">
                        <a:avLst/>
                      </a:prstGeom>
                      <a:solidFill>
                        <a:schemeClr val="bg1"/>
                      </a:solidFill>
                    </p:spPr>
                  </p:pic>
                </p:oleObj>
              </mc:Fallback>
            </mc:AlternateContent>
          </a:graphicData>
        </a:graphic>
      </p:graphicFrame>
      <p:graphicFrame>
        <p:nvGraphicFramePr>
          <p:cNvPr id="23" name="Object 22">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2854325" y="5614988"/>
          <a:ext cx="1452563" cy="301625"/>
        </p:xfrm>
        <a:graphic>
          <a:graphicData uri="http://schemas.openxmlformats.org/presentationml/2006/ole">
            <mc:AlternateContent xmlns:mc="http://schemas.openxmlformats.org/markup-compatibility/2006">
              <mc:Choice xmlns:v="urn:schemas-microsoft-com:vml" Requires="v">
                <p:oleObj name="Equation" r:id="rId10" imgW="2082600" imgH="431640" progId="Equation.DSMT4">
                  <p:embed/>
                </p:oleObj>
              </mc:Choice>
              <mc:Fallback>
                <p:oleObj name="Equation" r:id="rId10" imgW="2082600" imgH="431640" progId="Equation.DSMT4">
                  <p:embed/>
                  <p:pic>
                    <p:nvPicPr>
                      <p:cNvPr id="23" name="Object 22">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11"/>
                      <a:stretch>
                        <a:fillRect/>
                      </a:stretch>
                    </p:blipFill>
                    <p:spPr>
                      <a:xfrm>
                        <a:off x="2854325" y="5614988"/>
                        <a:ext cx="1452563" cy="301625"/>
                      </a:xfrm>
                      <a:prstGeom prst="rect">
                        <a:avLst/>
                      </a:prstGeom>
                      <a:solidFill>
                        <a:schemeClr val="bg1"/>
                      </a:solidFill>
                    </p:spPr>
                  </p:pic>
                </p:oleObj>
              </mc:Fallback>
            </mc:AlternateContent>
          </a:graphicData>
        </a:graphic>
      </p:graphicFrame>
      <p:graphicFrame>
        <p:nvGraphicFramePr>
          <p:cNvPr id="24" name="Object 23">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796100" y="6007800"/>
          <a:ext cx="700088" cy="301625"/>
        </p:xfrm>
        <a:graphic>
          <a:graphicData uri="http://schemas.openxmlformats.org/presentationml/2006/ole">
            <mc:AlternateContent xmlns:mc="http://schemas.openxmlformats.org/markup-compatibility/2006">
              <mc:Choice xmlns:v="urn:schemas-microsoft-com:vml" Requires="v">
                <p:oleObj name="Equation" r:id="rId12" imgW="1002960" imgH="431640" progId="Equation.DSMT4">
                  <p:embed/>
                </p:oleObj>
              </mc:Choice>
              <mc:Fallback>
                <p:oleObj name="Equation" r:id="rId12" imgW="1002960" imgH="431640" progId="Equation.DSMT4">
                  <p:embed/>
                  <p:pic>
                    <p:nvPicPr>
                      <p:cNvPr id="24" name="Object 23">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13"/>
                      <a:stretch>
                        <a:fillRect/>
                      </a:stretch>
                    </p:blipFill>
                    <p:spPr>
                      <a:xfrm>
                        <a:off x="796100" y="6007800"/>
                        <a:ext cx="700088" cy="301625"/>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GraphicFramePr>
            <a:graphicFrameLocks noChangeAspect="1"/>
          </p:cNvGraphicFramePr>
          <p:nvPr/>
        </p:nvGraphicFramePr>
        <p:xfrm>
          <a:off x="2841625" y="6007100"/>
          <a:ext cx="727075" cy="301625"/>
        </p:xfrm>
        <a:graphic>
          <a:graphicData uri="http://schemas.openxmlformats.org/presentationml/2006/ole">
            <mc:AlternateContent xmlns:mc="http://schemas.openxmlformats.org/markup-compatibility/2006">
              <mc:Choice xmlns:v="urn:schemas-microsoft-com:vml" Requires="v">
                <p:oleObj name="Equation" r:id="rId14" imgW="1041120" imgH="431640" progId="Equation.DSMT4">
                  <p:embed/>
                </p:oleObj>
              </mc:Choice>
              <mc:Fallback>
                <p:oleObj name="Equation" r:id="rId14" imgW="1041120" imgH="431640" progId="Equation.DSMT4">
                  <p:embed/>
                  <p:pic>
                    <p:nvPicPr>
                      <p:cNvPr id="25" name="Object 24">
                        <a:extLst>
                          <a:ext uri="{FF2B5EF4-FFF2-40B4-BE49-F238E27FC236}">
                            <a16:creationId xmlns:a16="http://schemas.microsoft.com/office/drawing/2014/main" id="{E9B5CF38-EB16-44C4-8331-81863C8528F9}"/>
                          </a:ext>
                          <a:ext uri="{C183D7F6-B498-43B3-948B-1728B52AA6E4}">
                            <adec:decorative xmlns:adec="http://schemas.microsoft.com/office/drawing/2017/decorative" val="1"/>
                          </a:ext>
                        </a:extLst>
                      </p:cNvPr>
                      <p:cNvPicPr/>
                      <p:nvPr/>
                    </p:nvPicPr>
                    <p:blipFill>
                      <a:blip r:embed="rId15"/>
                      <a:stretch>
                        <a:fillRect/>
                      </a:stretch>
                    </p:blipFill>
                    <p:spPr>
                      <a:xfrm>
                        <a:off x="2841625" y="6007100"/>
                        <a:ext cx="727075" cy="30162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356238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(5 of 9)</a:t>
            </a:r>
          </a:p>
        </p:txBody>
      </p:sp>
      <p:sp>
        <p:nvSpPr>
          <p:cNvPr id="4" name="Content Placeholder 3"/>
          <p:cNvSpPr>
            <a:spLocks noGrp="1"/>
          </p:cNvSpPr>
          <p:nvPr>
            <p:ph sz="quarter" idx="13"/>
          </p:nvPr>
        </p:nvSpPr>
        <p:spPr>
          <a:xfrm>
            <a:off x="457200" y="1552575"/>
            <a:ext cx="1490353" cy="442480"/>
          </a:xfrm>
        </p:spPr>
        <p:txBody>
          <a:bodyPr/>
          <a:lstStyle/>
          <a:p>
            <a:pPr marL="432" indent="0">
              <a:buNone/>
            </a:pPr>
            <a:r>
              <a:rPr lang="en-US" b="1" dirty="0"/>
              <a:t>Solution:</a:t>
            </a:r>
          </a:p>
        </p:txBody>
      </p:sp>
      <p:graphicFrame>
        <p:nvGraphicFramePr>
          <p:cNvPr id="18" name="Object 17" descr="sigma subscript 1 and sigma subscript 2"/>
          <p:cNvGraphicFramePr>
            <a:graphicFrameLocks noChangeAspect="1"/>
          </p:cNvGraphicFramePr>
          <p:nvPr/>
        </p:nvGraphicFramePr>
        <p:xfrm>
          <a:off x="494145" y="2109446"/>
          <a:ext cx="1293091" cy="392545"/>
        </p:xfrm>
        <a:graphic>
          <a:graphicData uri="http://schemas.openxmlformats.org/presentationml/2006/ole">
            <mc:AlternateContent xmlns:mc="http://schemas.openxmlformats.org/markup-compatibility/2006">
              <mc:Choice xmlns:v="urn:schemas-microsoft-com:vml" Requires="v">
                <p:oleObj name="Equation" r:id="rId2" imgW="1422360" imgH="431640" progId="Equation.DSMT4">
                  <p:embed/>
                </p:oleObj>
              </mc:Choice>
              <mc:Fallback>
                <p:oleObj name="Equation" r:id="rId2" imgW="1422360" imgH="431640" progId="Equation.DSMT4">
                  <p:embed/>
                  <p:pic>
                    <p:nvPicPr>
                      <p:cNvPr id="18" name="Object 17" descr="sigma subscript 1 and sigma subscript 2"/>
                      <p:cNvPicPr/>
                      <p:nvPr/>
                    </p:nvPicPr>
                    <p:blipFill>
                      <a:blip r:embed="rId3"/>
                      <a:stretch>
                        <a:fillRect/>
                      </a:stretch>
                    </p:blipFill>
                    <p:spPr>
                      <a:xfrm>
                        <a:off x="494145" y="2109446"/>
                        <a:ext cx="1293091" cy="392545"/>
                      </a:xfrm>
                      <a:prstGeom prst="rect">
                        <a:avLst/>
                      </a:prstGeom>
                    </p:spPr>
                  </p:pic>
                </p:oleObj>
              </mc:Fallback>
            </mc:AlternateContent>
          </a:graphicData>
        </a:graphic>
      </p:graphicFrame>
      <p:sp>
        <p:nvSpPr>
          <p:cNvPr id="5" name="Content Placeholder 4"/>
          <p:cNvSpPr>
            <a:spLocks noGrp="1"/>
          </p:cNvSpPr>
          <p:nvPr>
            <p:ph sz="quarter" idx="14"/>
          </p:nvPr>
        </p:nvSpPr>
        <p:spPr>
          <a:xfrm>
            <a:off x="1905988" y="2103674"/>
            <a:ext cx="5985163" cy="431800"/>
          </a:xfrm>
        </p:spPr>
        <p:txBody>
          <a:bodyPr/>
          <a:lstStyle/>
          <a:p>
            <a:pPr marL="432" indent="0">
              <a:buNone/>
            </a:pPr>
            <a:r>
              <a:rPr lang="en-US" dirty="0"/>
              <a:t>are unknown, the samples are random and</a:t>
            </a:r>
          </a:p>
        </p:txBody>
      </p:sp>
      <p:sp>
        <p:nvSpPr>
          <p:cNvPr id="6" name="Content Placeholder 5"/>
          <p:cNvSpPr>
            <a:spLocks noGrp="1"/>
          </p:cNvSpPr>
          <p:nvPr>
            <p:ph sz="quarter" idx="15"/>
          </p:nvPr>
        </p:nvSpPr>
        <p:spPr>
          <a:xfrm>
            <a:off x="457201" y="2588670"/>
            <a:ext cx="3164774" cy="407867"/>
          </a:xfrm>
        </p:spPr>
        <p:txBody>
          <a:bodyPr/>
          <a:lstStyle/>
          <a:p>
            <a:pPr marL="432" indent="0">
              <a:buNone/>
            </a:pPr>
            <a:r>
              <a:rPr lang="en-US" dirty="0"/>
              <a:t>independent, and both</a:t>
            </a:r>
          </a:p>
        </p:txBody>
      </p:sp>
      <p:graphicFrame>
        <p:nvGraphicFramePr>
          <p:cNvPr id="19" name="Object 18" descr="n subscript 1 and n subscript 2">
            <a:extLst>
              <a:ext uri="{FF2B5EF4-FFF2-40B4-BE49-F238E27FC236}">
                <a16:creationId xmlns:a16="http://schemas.microsoft.com/office/drawing/2014/main" id="{C44924AC-1926-403D-BB48-8AE137CC2100}"/>
              </a:ext>
            </a:extLst>
          </p:cNvPr>
          <p:cNvGraphicFramePr>
            <a:graphicFrameLocks noChangeAspect="1"/>
          </p:cNvGraphicFramePr>
          <p:nvPr/>
        </p:nvGraphicFramePr>
        <p:xfrm>
          <a:off x="3786339" y="2586435"/>
          <a:ext cx="1165750" cy="384810"/>
        </p:xfrm>
        <a:graphic>
          <a:graphicData uri="http://schemas.openxmlformats.org/presentationml/2006/ole">
            <mc:AlternateContent xmlns:mc="http://schemas.openxmlformats.org/markup-compatibility/2006">
              <mc:Choice xmlns:v="urn:schemas-microsoft-com:vml" Requires="v">
                <p:oleObj name="Equation" r:id="rId4" imgW="1307880" imgH="431640" progId="Equation.DSMT4">
                  <p:embed/>
                </p:oleObj>
              </mc:Choice>
              <mc:Fallback>
                <p:oleObj name="Equation" r:id="rId4" imgW="1307880" imgH="431640" progId="Equation.DSMT4">
                  <p:embed/>
                  <p:pic>
                    <p:nvPicPr>
                      <p:cNvPr id="19" name="Object 18" descr="n subscript 1 and n subscript 2">
                        <a:extLst>
                          <a:ext uri="{FF2B5EF4-FFF2-40B4-BE49-F238E27FC236}">
                            <a16:creationId xmlns:a16="http://schemas.microsoft.com/office/drawing/2014/main" id="{C44924AC-1926-403D-BB48-8AE137CC2100}"/>
                          </a:ext>
                        </a:extLst>
                      </p:cNvPr>
                      <p:cNvPicPr/>
                      <p:nvPr/>
                    </p:nvPicPr>
                    <p:blipFill>
                      <a:blip r:embed="rId5"/>
                      <a:stretch>
                        <a:fillRect/>
                      </a:stretch>
                    </p:blipFill>
                    <p:spPr>
                      <a:xfrm>
                        <a:off x="3786339" y="2586435"/>
                        <a:ext cx="1165750" cy="384810"/>
                      </a:xfrm>
                      <a:prstGeom prst="rect">
                        <a:avLst/>
                      </a:prstGeom>
                    </p:spPr>
                  </p:pic>
                </p:oleObj>
              </mc:Fallback>
            </mc:AlternateContent>
          </a:graphicData>
        </a:graphic>
      </p:graphicFrame>
      <p:sp>
        <p:nvSpPr>
          <p:cNvPr id="7" name="Content Placeholder 6"/>
          <p:cNvSpPr>
            <a:spLocks noGrp="1"/>
          </p:cNvSpPr>
          <p:nvPr>
            <p:ph sz="quarter" idx="16"/>
          </p:nvPr>
        </p:nvSpPr>
        <p:spPr>
          <a:xfrm>
            <a:off x="5116453" y="2588671"/>
            <a:ext cx="3255651" cy="419924"/>
          </a:xfrm>
        </p:spPr>
        <p:txBody>
          <a:bodyPr/>
          <a:lstStyle/>
          <a:p>
            <a:pPr marL="432" indent="0">
              <a:buNone/>
            </a:pPr>
            <a:r>
              <a:rPr lang="en-US" dirty="0"/>
              <a:t>are at least 30. So, you</a:t>
            </a:r>
          </a:p>
        </p:txBody>
      </p:sp>
      <p:sp>
        <p:nvSpPr>
          <p:cNvPr id="8" name="Content Placeholder 7"/>
          <p:cNvSpPr>
            <a:spLocks noGrp="1"/>
          </p:cNvSpPr>
          <p:nvPr>
            <p:ph sz="quarter" idx="17"/>
          </p:nvPr>
        </p:nvSpPr>
        <p:spPr>
          <a:xfrm>
            <a:off x="457201" y="3049734"/>
            <a:ext cx="7914904" cy="1530180"/>
          </a:xfrm>
        </p:spPr>
        <p:txBody>
          <a:bodyPr/>
          <a:lstStyle/>
          <a:p>
            <a:pPr marL="0" indent="0">
              <a:buNone/>
            </a:pPr>
            <a:r>
              <a:rPr lang="en-US" dirty="0"/>
              <a:t>can use the </a:t>
            </a:r>
            <a:r>
              <a:rPr lang="en-US" i="1" dirty="0"/>
              <a:t>t</a:t>
            </a:r>
            <a:r>
              <a:rPr lang="en-US" dirty="0"/>
              <a:t>-test. The claim is “the mean driving cost per mile of the manufacturer’s sedans is less than that of its leading competitor.” So, the null and alternative hypotheses are</a:t>
            </a:r>
          </a:p>
        </p:txBody>
      </p:sp>
      <p:graphicFrame>
        <p:nvGraphicFramePr>
          <p:cNvPr id="20" name="Object 19" descr="H sub-zero: mu subscript 1 greater than or equals to mu subscript 2 and H sub-a: mu subscript 1 less than mu subscript 2.">
            <a:extLst>
              <a:ext uri="{FF2B5EF4-FFF2-40B4-BE49-F238E27FC236}">
                <a16:creationId xmlns:a16="http://schemas.microsoft.com/office/drawing/2014/main" id="{AFEB3A6E-1D67-4B0C-BDF6-0C48C3671AAC}"/>
              </a:ext>
            </a:extLst>
          </p:cNvPr>
          <p:cNvGraphicFramePr>
            <a:graphicFrameLocks noChangeAspect="1"/>
          </p:cNvGraphicFramePr>
          <p:nvPr/>
        </p:nvGraphicFramePr>
        <p:xfrm>
          <a:off x="2137476" y="4919508"/>
          <a:ext cx="3798455" cy="392545"/>
        </p:xfrm>
        <a:graphic>
          <a:graphicData uri="http://schemas.openxmlformats.org/presentationml/2006/ole">
            <mc:AlternateContent xmlns:mc="http://schemas.openxmlformats.org/markup-compatibility/2006">
              <mc:Choice xmlns:v="urn:schemas-microsoft-com:vml" Requires="v">
                <p:oleObj name="Equation" r:id="rId6" imgW="4178160" imgH="431640" progId="Equation.DSMT4">
                  <p:embed/>
                </p:oleObj>
              </mc:Choice>
              <mc:Fallback>
                <p:oleObj name="Equation" r:id="rId6" imgW="4178160" imgH="431640" progId="Equation.DSMT4">
                  <p:embed/>
                  <p:pic>
                    <p:nvPicPr>
                      <p:cNvPr id="20" name="Object 19" descr="H sub-zero: mu subscript 1 greater than or equals to mu subscript 2 and H sub-a: mu subscript 1 less than mu subscript 2.">
                        <a:extLst>
                          <a:ext uri="{FF2B5EF4-FFF2-40B4-BE49-F238E27FC236}">
                            <a16:creationId xmlns:a16="http://schemas.microsoft.com/office/drawing/2014/main" id="{AFEB3A6E-1D67-4B0C-BDF6-0C48C3671AAC}"/>
                          </a:ext>
                        </a:extLst>
                      </p:cNvPr>
                      <p:cNvPicPr/>
                      <p:nvPr/>
                    </p:nvPicPr>
                    <p:blipFill>
                      <a:blip r:embed="rId7"/>
                      <a:stretch>
                        <a:fillRect/>
                      </a:stretch>
                    </p:blipFill>
                    <p:spPr>
                      <a:xfrm>
                        <a:off x="2137476" y="4919508"/>
                        <a:ext cx="3798455" cy="392545"/>
                      </a:xfrm>
                      <a:prstGeom prst="rect">
                        <a:avLst/>
                      </a:prstGeom>
                    </p:spPr>
                  </p:pic>
                </p:oleObj>
              </mc:Fallback>
            </mc:AlternateContent>
          </a:graphicData>
        </a:graphic>
      </p:graphicFrame>
      <p:sp>
        <p:nvSpPr>
          <p:cNvPr id="9" name="Content Placeholder 8"/>
          <p:cNvSpPr>
            <a:spLocks noGrp="1"/>
          </p:cNvSpPr>
          <p:nvPr>
            <p:ph sz="quarter" idx="18"/>
          </p:nvPr>
        </p:nvSpPr>
        <p:spPr>
          <a:xfrm>
            <a:off x="6220688" y="4899880"/>
            <a:ext cx="1163782" cy="431800"/>
          </a:xfrm>
        </p:spPr>
        <p:txBody>
          <a:bodyPr/>
          <a:lstStyle/>
          <a:p>
            <a:pPr marL="0" indent="0">
              <a:buNone/>
            </a:pPr>
            <a:r>
              <a:rPr lang="en-US" dirty="0">
                <a:solidFill>
                  <a:schemeClr val="tx1"/>
                </a:solidFill>
              </a:rPr>
              <a:t>(Claim)</a:t>
            </a:r>
          </a:p>
        </p:txBody>
      </p:sp>
    </p:spTree>
    <p:extLst>
      <p:ext uri="{BB962C8B-B14F-4D97-AF65-F5344CB8AC3E}">
        <p14:creationId xmlns:p14="http://schemas.microsoft.com/office/powerpoint/2010/main" val="1649321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(6 of 9)</a:t>
            </a:r>
          </a:p>
        </p:txBody>
      </p:sp>
      <p:sp>
        <p:nvSpPr>
          <p:cNvPr id="4" name="Content Placeholder 3"/>
          <p:cNvSpPr>
            <a:spLocks noGrp="1"/>
          </p:cNvSpPr>
          <p:nvPr>
            <p:ph sz="quarter" idx="13"/>
          </p:nvPr>
        </p:nvSpPr>
        <p:spPr>
          <a:xfrm>
            <a:off x="457200" y="1552575"/>
            <a:ext cx="5397335" cy="430604"/>
          </a:xfrm>
        </p:spPr>
        <p:txBody>
          <a:bodyPr/>
          <a:lstStyle/>
          <a:p>
            <a:pPr marL="432" indent="0">
              <a:buNone/>
            </a:pPr>
            <a:r>
              <a:rPr lang="en-US" dirty="0"/>
              <a:t>The population variances are equal, so</a:t>
            </a:r>
          </a:p>
        </p:txBody>
      </p:sp>
      <p:graphicFrame>
        <p:nvGraphicFramePr>
          <p:cNvPr id="18" name="Object 17" descr="d.f. equals n subscript 1 plus n subscript 2 minus 2&#10;">
            <a:extLst>
              <a:ext uri="{FF2B5EF4-FFF2-40B4-BE49-F238E27FC236}">
                <a16:creationId xmlns:a16="http://schemas.microsoft.com/office/drawing/2014/main" id="{2150B0C6-08FD-4A3E-9938-126104A695E9}"/>
              </a:ext>
            </a:extLst>
          </p:cNvPr>
          <p:cNvGraphicFramePr>
            <a:graphicFrameLocks noChangeAspect="1"/>
          </p:cNvGraphicFramePr>
          <p:nvPr/>
        </p:nvGraphicFramePr>
        <p:xfrm>
          <a:off x="5940297" y="1571007"/>
          <a:ext cx="2032000" cy="392545"/>
        </p:xfrm>
        <a:graphic>
          <a:graphicData uri="http://schemas.openxmlformats.org/presentationml/2006/ole">
            <mc:AlternateContent xmlns:mc="http://schemas.openxmlformats.org/markup-compatibility/2006">
              <mc:Choice xmlns:v="urn:schemas-microsoft-com:vml" Requires="v">
                <p:oleObj name="Equation" r:id="rId2" imgW="2234880" imgH="431640" progId="Equation.DSMT4">
                  <p:embed/>
                </p:oleObj>
              </mc:Choice>
              <mc:Fallback>
                <p:oleObj name="Equation" r:id="rId2" imgW="2234880" imgH="431640" progId="Equation.DSMT4">
                  <p:embed/>
                  <p:pic>
                    <p:nvPicPr>
                      <p:cNvPr id="18" name="Object 17" descr="d.f. equals n subscript 1 plus n subscript 2 minus 2&#10;">
                        <a:extLst>
                          <a:ext uri="{FF2B5EF4-FFF2-40B4-BE49-F238E27FC236}">
                            <a16:creationId xmlns:a16="http://schemas.microsoft.com/office/drawing/2014/main" id="{2150B0C6-08FD-4A3E-9938-126104A695E9}"/>
                          </a:ext>
                        </a:extLst>
                      </p:cNvPr>
                      <p:cNvPicPr/>
                      <p:nvPr/>
                    </p:nvPicPr>
                    <p:blipFill>
                      <a:blip r:embed="rId3"/>
                      <a:stretch>
                        <a:fillRect/>
                      </a:stretch>
                    </p:blipFill>
                    <p:spPr>
                      <a:xfrm>
                        <a:off x="5940297" y="1571007"/>
                        <a:ext cx="2032000" cy="392545"/>
                      </a:xfrm>
                      <a:prstGeom prst="rect">
                        <a:avLst/>
                      </a:prstGeom>
                    </p:spPr>
                  </p:pic>
                </p:oleObj>
              </mc:Fallback>
            </mc:AlternateContent>
          </a:graphicData>
        </a:graphic>
      </p:graphicFrame>
      <p:graphicFrame>
        <p:nvGraphicFramePr>
          <p:cNvPr id="19" name="Object 18" descr="equals 30 plus 32 minus 2 equals 60">
            <a:extLst>
              <a:ext uri="{FF2B5EF4-FFF2-40B4-BE49-F238E27FC236}">
                <a16:creationId xmlns:a16="http://schemas.microsoft.com/office/drawing/2014/main" id="{5EE0826B-B2D0-4F8B-8D85-A346C135979C}"/>
              </a:ext>
            </a:extLst>
          </p:cNvPr>
          <p:cNvGraphicFramePr>
            <a:graphicFrameLocks noChangeAspect="1"/>
          </p:cNvGraphicFramePr>
          <p:nvPr/>
        </p:nvGraphicFramePr>
        <p:xfrm>
          <a:off x="450846" y="2108079"/>
          <a:ext cx="2366818" cy="288636"/>
        </p:xfrm>
        <a:graphic>
          <a:graphicData uri="http://schemas.openxmlformats.org/presentationml/2006/ole">
            <mc:AlternateContent xmlns:mc="http://schemas.openxmlformats.org/markup-compatibility/2006">
              <mc:Choice xmlns:v="urn:schemas-microsoft-com:vml" Requires="v">
                <p:oleObj name="Equation" r:id="rId4" imgW="2603160" imgH="317160" progId="Equation.DSMT4">
                  <p:embed/>
                </p:oleObj>
              </mc:Choice>
              <mc:Fallback>
                <p:oleObj name="Equation" r:id="rId4" imgW="2603160" imgH="317160" progId="Equation.DSMT4">
                  <p:embed/>
                  <p:pic>
                    <p:nvPicPr>
                      <p:cNvPr id="19" name="Object 18" descr="equals 30 plus 32 minus 2 equals 60">
                        <a:extLst>
                          <a:ext uri="{FF2B5EF4-FFF2-40B4-BE49-F238E27FC236}">
                            <a16:creationId xmlns:a16="http://schemas.microsoft.com/office/drawing/2014/main" id="{5EE0826B-B2D0-4F8B-8D85-A346C135979C}"/>
                          </a:ext>
                        </a:extLst>
                      </p:cNvPr>
                      <p:cNvPicPr/>
                      <p:nvPr/>
                    </p:nvPicPr>
                    <p:blipFill>
                      <a:blip r:embed="rId5"/>
                      <a:stretch>
                        <a:fillRect/>
                      </a:stretch>
                    </p:blipFill>
                    <p:spPr>
                      <a:xfrm>
                        <a:off x="450846" y="2108079"/>
                        <a:ext cx="2366818" cy="288636"/>
                      </a:xfrm>
                      <a:prstGeom prst="rect">
                        <a:avLst/>
                      </a:prstGeom>
                    </p:spPr>
                  </p:pic>
                </p:oleObj>
              </mc:Fallback>
            </mc:AlternateContent>
          </a:graphicData>
        </a:graphic>
      </p:graphicFrame>
      <p:sp>
        <p:nvSpPr>
          <p:cNvPr id="5" name="Content Placeholder 4"/>
          <p:cNvSpPr>
            <a:spLocks noGrp="1"/>
          </p:cNvSpPr>
          <p:nvPr>
            <p:ph sz="quarter" idx="14"/>
          </p:nvPr>
        </p:nvSpPr>
        <p:spPr>
          <a:xfrm>
            <a:off x="2980703" y="2058024"/>
            <a:ext cx="4954647" cy="423920"/>
          </a:xfrm>
        </p:spPr>
        <p:txBody>
          <a:bodyPr/>
          <a:lstStyle/>
          <a:p>
            <a:pPr marL="432" indent="0">
              <a:buNone/>
            </a:pPr>
            <a:r>
              <a:rPr lang="en-US" dirty="0"/>
              <a:t>Because the test is a left-tailed test</a:t>
            </a:r>
          </a:p>
        </p:txBody>
      </p:sp>
      <p:sp>
        <p:nvSpPr>
          <p:cNvPr id="6" name="Content Placeholder 5"/>
          <p:cNvSpPr>
            <a:spLocks noGrp="1"/>
          </p:cNvSpPr>
          <p:nvPr>
            <p:ph sz="quarter" idx="15"/>
          </p:nvPr>
        </p:nvSpPr>
        <p:spPr>
          <a:xfrm>
            <a:off x="457200" y="2556789"/>
            <a:ext cx="2476005" cy="395961"/>
          </a:xfrm>
        </p:spPr>
        <p:txBody>
          <a:bodyPr/>
          <a:lstStyle/>
          <a:p>
            <a:pPr marL="432" indent="0">
              <a:buNone/>
            </a:pPr>
            <a:r>
              <a:rPr lang="en-US" dirty="0"/>
              <a:t>with </a:t>
            </a:r>
            <a:r>
              <a:rPr lang="en-US" dirty="0" err="1"/>
              <a:t>d.f.</a:t>
            </a:r>
            <a:r>
              <a:rPr lang="en-US" dirty="0"/>
              <a:t> = 60 and</a:t>
            </a:r>
          </a:p>
        </p:txBody>
      </p:sp>
      <p:graphicFrame>
        <p:nvGraphicFramePr>
          <p:cNvPr id="20" name="Object 19" descr="alpha equals 0.05&#10;">
            <a:extLst>
              <a:ext uri="{FF2B5EF4-FFF2-40B4-BE49-F238E27FC236}">
                <a16:creationId xmlns:a16="http://schemas.microsoft.com/office/drawing/2014/main" id="{6C10E0C5-24EB-4367-8831-A7F341AADE0B}"/>
              </a:ext>
            </a:extLst>
          </p:cNvPr>
          <p:cNvGraphicFramePr>
            <a:graphicFrameLocks noChangeAspect="1"/>
          </p:cNvGraphicFramePr>
          <p:nvPr/>
        </p:nvGraphicFramePr>
        <p:xfrm>
          <a:off x="3060700" y="2570619"/>
          <a:ext cx="1320800" cy="368300"/>
        </p:xfrm>
        <a:graphic>
          <a:graphicData uri="http://schemas.openxmlformats.org/presentationml/2006/ole">
            <mc:AlternateContent xmlns:mc="http://schemas.openxmlformats.org/markup-compatibility/2006">
              <mc:Choice xmlns:v="urn:schemas-microsoft-com:vml" Requires="v">
                <p:oleObj name="Equation" r:id="rId6" imgW="1320480" imgH="368280" progId="Equation.DSMT4">
                  <p:embed/>
                </p:oleObj>
              </mc:Choice>
              <mc:Fallback>
                <p:oleObj name="Equation" r:id="rId6" imgW="1320480" imgH="368280" progId="Equation.DSMT4">
                  <p:embed/>
                  <p:pic>
                    <p:nvPicPr>
                      <p:cNvPr id="20" name="Object 19" descr="alpha equals 0.05&#10;">
                        <a:extLst>
                          <a:ext uri="{FF2B5EF4-FFF2-40B4-BE49-F238E27FC236}">
                            <a16:creationId xmlns:a16="http://schemas.microsoft.com/office/drawing/2014/main" id="{6C10E0C5-24EB-4367-8831-A7F341AADE0B}"/>
                          </a:ext>
                        </a:extLst>
                      </p:cNvPr>
                      <p:cNvPicPr/>
                      <p:nvPr/>
                    </p:nvPicPr>
                    <p:blipFill>
                      <a:blip r:embed="rId7"/>
                      <a:stretch>
                        <a:fillRect/>
                      </a:stretch>
                    </p:blipFill>
                    <p:spPr>
                      <a:xfrm>
                        <a:off x="3060700" y="2570619"/>
                        <a:ext cx="1320800" cy="368300"/>
                      </a:xfrm>
                      <a:prstGeom prst="rect">
                        <a:avLst/>
                      </a:prstGeom>
                    </p:spPr>
                  </p:pic>
                </p:oleObj>
              </mc:Fallback>
            </mc:AlternateContent>
          </a:graphicData>
        </a:graphic>
      </p:graphicFrame>
      <p:sp>
        <p:nvSpPr>
          <p:cNvPr id="7" name="Content Placeholder 6"/>
          <p:cNvSpPr>
            <a:spLocks noGrp="1"/>
          </p:cNvSpPr>
          <p:nvPr>
            <p:ph sz="quarter" idx="16"/>
          </p:nvPr>
        </p:nvSpPr>
        <p:spPr>
          <a:xfrm>
            <a:off x="4508995" y="2556789"/>
            <a:ext cx="2651826" cy="395961"/>
          </a:xfrm>
        </p:spPr>
        <p:txBody>
          <a:bodyPr/>
          <a:lstStyle/>
          <a:p>
            <a:pPr marL="432" indent="0">
              <a:buNone/>
            </a:pPr>
            <a:r>
              <a:rPr lang="en-US" dirty="0"/>
              <a:t>the critical value is</a:t>
            </a:r>
          </a:p>
        </p:txBody>
      </p:sp>
      <p:graphicFrame>
        <p:nvGraphicFramePr>
          <p:cNvPr id="21" name="Object 20" descr="t subscript 0 equals minus 1.671">
            <a:extLst>
              <a:ext uri="{FF2B5EF4-FFF2-40B4-BE49-F238E27FC236}">
                <a16:creationId xmlns:a16="http://schemas.microsoft.com/office/drawing/2014/main" id="{E1D04B24-F520-4CAF-A5F7-9BB501DE270D}"/>
              </a:ext>
            </a:extLst>
          </p:cNvPr>
          <p:cNvGraphicFramePr>
            <a:graphicFrameLocks noChangeAspect="1"/>
          </p:cNvGraphicFramePr>
          <p:nvPr/>
        </p:nvGraphicFramePr>
        <p:xfrm>
          <a:off x="7243620" y="2549525"/>
          <a:ext cx="1622425" cy="414338"/>
        </p:xfrm>
        <a:graphic>
          <a:graphicData uri="http://schemas.openxmlformats.org/presentationml/2006/ole">
            <mc:AlternateContent xmlns:mc="http://schemas.openxmlformats.org/markup-compatibility/2006">
              <mc:Choice xmlns:v="urn:schemas-microsoft-com:vml" Requires="v">
                <p:oleObj name="Equation" r:id="rId8" imgW="1688760" imgH="431640" progId="Equation.DSMT4">
                  <p:embed/>
                </p:oleObj>
              </mc:Choice>
              <mc:Fallback>
                <p:oleObj name="Equation" r:id="rId8" imgW="1688760" imgH="431640" progId="Equation.DSMT4">
                  <p:embed/>
                  <p:pic>
                    <p:nvPicPr>
                      <p:cNvPr id="21" name="Object 20" descr="t subscript 0 equals minus 1.671">
                        <a:extLst>
                          <a:ext uri="{FF2B5EF4-FFF2-40B4-BE49-F238E27FC236}">
                            <a16:creationId xmlns:a16="http://schemas.microsoft.com/office/drawing/2014/main" id="{E1D04B24-F520-4CAF-A5F7-9BB501DE270D}"/>
                          </a:ext>
                        </a:extLst>
                      </p:cNvPr>
                      <p:cNvPicPr/>
                      <p:nvPr/>
                    </p:nvPicPr>
                    <p:blipFill>
                      <a:blip r:embed="rId9"/>
                      <a:stretch>
                        <a:fillRect/>
                      </a:stretch>
                    </p:blipFill>
                    <p:spPr>
                      <a:xfrm>
                        <a:off x="7243620" y="2549525"/>
                        <a:ext cx="1622425" cy="414338"/>
                      </a:xfrm>
                      <a:prstGeom prst="rect">
                        <a:avLst/>
                      </a:prstGeom>
                    </p:spPr>
                  </p:pic>
                </p:oleObj>
              </mc:Fallback>
            </mc:AlternateContent>
          </a:graphicData>
        </a:graphic>
      </p:graphicFrame>
      <p:sp>
        <p:nvSpPr>
          <p:cNvPr id="8" name="Content Placeholder 7"/>
          <p:cNvSpPr>
            <a:spLocks noGrp="1"/>
          </p:cNvSpPr>
          <p:nvPr>
            <p:ph sz="quarter" idx="17"/>
          </p:nvPr>
        </p:nvSpPr>
        <p:spPr>
          <a:xfrm>
            <a:off x="457200" y="3027595"/>
            <a:ext cx="3129148" cy="416250"/>
          </a:xfrm>
        </p:spPr>
        <p:txBody>
          <a:bodyPr/>
          <a:lstStyle/>
          <a:p>
            <a:pPr marL="432" indent="0">
              <a:buNone/>
            </a:pPr>
            <a:r>
              <a:rPr lang="en-US" dirty="0"/>
              <a:t>The rejection region is</a:t>
            </a:r>
          </a:p>
        </p:txBody>
      </p:sp>
      <p:graphicFrame>
        <p:nvGraphicFramePr>
          <p:cNvPr id="22" name="Object 21" descr="t less than minus 1.671.7">
            <a:extLst>
              <a:ext uri="{FF2B5EF4-FFF2-40B4-BE49-F238E27FC236}">
                <a16:creationId xmlns:a16="http://schemas.microsoft.com/office/drawing/2014/main" id="{6E1EB9DB-71A3-4A22-A94F-26AD318DFD7E}"/>
              </a:ext>
            </a:extLst>
          </p:cNvPr>
          <p:cNvGraphicFramePr>
            <a:graphicFrameLocks noChangeAspect="1"/>
          </p:cNvGraphicFramePr>
          <p:nvPr/>
        </p:nvGraphicFramePr>
        <p:xfrm>
          <a:off x="3695394" y="3049541"/>
          <a:ext cx="1531321" cy="311244"/>
        </p:xfrm>
        <a:graphic>
          <a:graphicData uri="http://schemas.openxmlformats.org/presentationml/2006/ole">
            <mc:AlternateContent xmlns:mc="http://schemas.openxmlformats.org/markup-compatibility/2006">
              <mc:Choice xmlns:v="urn:schemas-microsoft-com:vml" Requires="v">
                <p:oleObj name="Equation" r:id="rId10" imgW="1562040" imgH="317160" progId="Equation.DSMT4">
                  <p:embed/>
                </p:oleObj>
              </mc:Choice>
              <mc:Fallback>
                <p:oleObj name="Equation" r:id="rId10" imgW="1562040" imgH="317160" progId="Equation.DSMT4">
                  <p:embed/>
                  <p:pic>
                    <p:nvPicPr>
                      <p:cNvPr id="22" name="Object 21" descr="t less than minus 1.671.7">
                        <a:extLst>
                          <a:ext uri="{FF2B5EF4-FFF2-40B4-BE49-F238E27FC236}">
                            <a16:creationId xmlns:a16="http://schemas.microsoft.com/office/drawing/2014/main" id="{6E1EB9DB-71A3-4A22-A94F-26AD318DFD7E}"/>
                          </a:ext>
                        </a:extLst>
                      </p:cNvPr>
                      <p:cNvPicPr/>
                      <p:nvPr/>
                    </p:nvPicPr>
                    <p:blipFill>
                      <a:blip r:embed="rId11"/>
                      <a:stretch>
                        <a:fillRect/>
                      </a:stretch>
                    </p:blipFill>
                    <p:spPr>
                      <a:xfrm>
                        <a:off x="3695394" y="3049541"/>
                        <a:ext cx="1531321" cy="311244"/>
                      </a:xfrm>
                      <a:prstGeom prst="rect">
                        <a:avLst/>
                      </a:prstGeom>
                    </p:spPr>
                  </p:pic>
                </p:oleObj>
              </mc:Fallback>
            </mc:AlternateContent>
          </a:graphicData>
        </a:graphic>
      </p:graphicFrame>
    </p:spTree>
    <p:extLst>
      <p:ext uri="{BB962C8B-B14F-4D97-AF65-F5344CB8AC3E}">
        <p14:creationId xmlns:p14="http://schemas.microsoft.com/office/powerpoint/2010/main" val="2969448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(7 of 9)</a:t>
            </a:r>
          </a:p>
        </p:txBody>
      </p:sp>
      <p:sp>
        <p:nvSpPr>
          <p:cNvPr id="3" name="Content Placeholder 2"/>
          <p:cNvSpPr>
            <a:spLocks noGrp="1"/>
          </p:cNvSpPr>
          <p:nvPr>
            <p:ph sz="quarter" idx="13"/>
          </p:nvPr>
        </p:nvSpPr>
        <p:spPr>
          <a:xfrm>
            <a:off x="457200" y="1556327"/>
            <a:ext cx="8229600" cy="818738"/>
          </a:xfrm>
        </p:spPr>
        <p:txBody>
          <a:bodyPr/>
          <a:lstStyle/>
          <a:p>
            <a:pPr marL="0" indent="0">
              <a:buNone/>
            </a:pPr>
            <a:r>
              <a:rPr lang="en-US" dirty="0"/>
              <a:t>To make the calculation of the standardized test statistic easier, first find the standard error.</a:t>
            </a:r>
          </a:p>
        </p:txBody>
      </p:sp>
      <p:graphicFrame>
        <p:nvGraphicFramePr>
          <p:cNvPr id="4" name="Object 3" descr="s subscript x bar subscript 1 minus x bar subscript 2 end subscript equals square root of fraction numerator open parenthesis n subscript 1 minus 1 close parenthesis s subscript 1 squared plus open parenthesis n subscript minus 1 close parenthesis s subscript 2 squared divided by denominator n subscript 1 plus n subscript 2 plus n subscript 2 minus 2 end fraction end root times square root of fraction numerator 1 divided by denominator n subscript 1 end fraction plus fraction numerator 1 divided by denominator n subscript 2 end fraction end root">
            <a:extLst>
              <a:ext uri="{FF2B5EF4-FFF2-40B4-BE49-F238E27FC236}">
                <a16:creationId xmlns:a16="http://schemas.microsoft.com/office/drawing/2014/main" id="{1A3F30D2-9EA8-4E11-8DD4-54DB4A35D3FC}"/>
              </a:ext>
            </a:extLst>
          </p:cNvPr>
          <p:cNvGraphicFramePr>
            <a:graphicFrameLocks noChangeAspect="1"/>
          </p:cNvGraphicFramePr>
          <p:nvPr/>
        </p:nvGraphicFramePr>
        <p:xfrm>
          <a:off x="461238" y="2598205"/>
          <a:ext cx="5299364" cy="1004455"/>
        </p:xfrm>
        <a:graphic>
          <a:graphicData uri="http://schemas.openxmlformats.org/presentationml/2006/ole">
            <mc:AlternateContent xmlns:mc="http://schemas.openxmlformats.org/markup-compatibility/2006">
              <mc:Choice xmlns:v="urn:schemas-microsoft-com:vml" Requires="v">
                <p:oleObj name="Equation" r:id="rId2" imgW="5829120" imgH="1104840" progId="Equation.DSMT4">
                  <p:embed/>
                </p:oleObj>
              </mc:Choice>
              <mc:Fallback>
                <p:oleObj name="Equation" r:id="rId2" imgW="5829120" imgH="1104840" progId="Equation.DSMT4">
                  <p:embed/>
                  <p:pic>
                    <p:nvPicPr>
                      <p:cNvPr id="4" name="Object 3" descr="s subscript x bar subscript 1 minus x bar subscript 2 end subscript equals square root of fraction numerator open parenthesis n subscript 1 minus 1 close parenthesis s subscript 1 squared plus open parenthesis n subscript minus 1 close parenthesis s subscript 2 squared divided by denominator n subscript 1 plus n subscript 2 plus n subscript 2 minus 2 end fraction end root times square root of fraction numerator 1 divided by denominator n subscript 1 end fraction plus fraction numerator 1 divided by denominator n subscript 2 end fraction end root">
                        <a:extLst>
                          <a:ext uri="{FF2B5EF4-FFF2-40B4-BE49-F238E27FC236}">
                            <a16:creationId xmlns:a16="http://schemas.microsoft.com/office/drawing/2014/main" id="{1A3F30D2-9EA8-4E11-8DD4-54DB4A35D3FC}"/>
                          </a:ext>
                        </a:extLst>
                      </p:cNvPr>
                      <p:cNvPicPr/>
                      <p:nvPr/>
                    </p:nvPicPr>
                    <p:blipFill>
                      <a:blip r:embed="rId3"/>
                      <a:stretch>
                        <a:fillRect/>
                      </a:stretch>
                    </p:blipFill>
                    <p:spPr>
                      <a:xfrm>
                        <a:off x="461238" y="2598205"/>
                        <a:ext cx="5299364" cy="1004455"/>
                      </a:xfrm>
                      <a:prstGeom prst="rect">
                        <a:avLst/>
                      </a:prstGeom>
                    </p:spPr>
                  </p:pic>
                </p:oleObj>
              </mc:Fallback>
            </mc:AlternateContent>
          </a:graphicData>
        </a:graphic>
      </p:graphicFrame>
      <p:graphicFrame>
        <p:nvGraphicFramePr>
          <p:cNvPr id="5" name="Object 4" descr="s subscript x bar subscript 1 minus x bar subscript 2 end subscript equals square root of fraction numerator open parenthesis 30 minus 1 close parenthesis open parenthesis 0.05 close parenthesis squared plus open parenthesis 32 minus 1 close parenthesis open parenthesis 0.07 close parenthesis squared divided by denominator 30 plus 32 minus 2 end fraction end root times square root of fraction numerator 1 divided by denominator 30 end fraction plus fraction numerator 1 divided by denominator 32 end fraction end root">
            <a:extLst>
              <a:ext uri="{FF2B5EF4-FFF2-40B4-BE49-F238E27FC236}">
                <a16:creationId xmlns:a16="http://schemas.microsoft.com/office/drawing/2014/main" id="{9C24D391-FB58-4275-AA16-13FFFED10796}"/>
              </a:ext>
            </a:extLst>
          </p:cNvPr>
          <p:cNvGraphicFramePr>
            <a:graphicFrameLocks noChangeAspect="1"/>
          </p:cNvGraphicFramePr>
          <p:nvPr/>
        </p:nvGraphicFramePr>
        <p:xfrm>
          <a:off x="493564" y="3858662"/>
          <a:ext cx="6777182" cy="981364"/>
        </p:xfrm>
        <a:graphic>
          <a:graphicData uri="http://schemas.openxmlformats.org/presentationml/2006/ole">
            <mc:AlternateContent xmlns:mc="http://schemas.openxmlformats.org/markup-compatibility/2006">
              <mc:Choice xmlns:v="urn:schemas-microsoft-com:vml" Requires="v">
                <p:oleObj name="Equation" r:id="rId4" imgW="7454880" imgH="1079280" progId="Equation.DSMT4">
                  <p:embed/>
                </p:oleObj>
              </mc:Choice>
              <mc:Fallback>
                <p:oleObj name="Equation" r:id="rId4" imgW="7454880" imgH="1079280" progId="Equation.DSMT4">
                  <p:embed/>
                  <p:pic>
                    <p:nvPicPr>
                      <p:cNvPr id="5" name="Object 4" descr="s subscript x bar subscript 1 minus x bar subscript 2 end subscript equals square root of fraction numerator open parenthesis 30 minus 1 close parenthesis open parenthesis 0.05 close parenthesis squared plus open parenthesis 32 minus 1 close parenthesis open parenthesis 0.07 close parenthesis squared divided by denominator 30 plus 32 minus 2 end fraction end root times square root of fraction numerator 1 divided by denominator 30 end fraction plus fraction numerator 1 divided by denominator 32 end fraction end root">
                        <a:extLst>
                          <a:ext uri="{FF2B5EF4-FFF2-40B4-BE49-F238E27FC236}">
                            <a16:creationId xmlns:a16="http://schemas.microsoft.com/office/drawing/2014/main" id="{9C24D391-FB58-4275-AA16-13FFFED10796}"/>
                          </a:ext>
                        </a:extLst>
                      </p:cNvPr>
                      <p:cNvPicPr/>
                      <p:nvPr/>
                    </p:nvPicPr>
                    <p:blipFill>
                      <a:blip r:embed="rId5"/>
                      <a:stretch>
                        <a:fillRect/>
                      </a:stretch>
                    </p:blipFill>
                    <p:spPr>
                      <a:xfrm>
                        <a:off x="493564" y="3858662"/>
                        <a:ext cx="6777182" cy="981364"/>
                      </a:xfrm>
                      <a:prstGeom prst="rect">
                        <a:avLst/>
                      </a:prstGeom>
                    </p:spPr>
                  </p:pic>
                </p:oleObj>
              </mc:Fallback>
            </mc:AlternateContent>
          </a:graphicData>
        </a:graphic>
      </p:graphicFrame>
      <p:graphicFrame>
        <p:nvGraphicFramePr>
          <p:cNvPr id="6" name="Object 5" descr="approximately equals to 0.0155416">
            <a:extLst>
              <a:ext uri="{FF2B5EF4-FFF2-40B4-BE49-F238E27FC236}">
                <a16:creationId xmlns:a16="http://schemas.microsoft.com/office/drawing/2014/main" id="{DFEE7532-35B3-4051-A62F-7DF9273A7EFE}"/>
              </a:ext>
            </a:extLst>
          </p:cNvPr>
          <p:cNvGraphicFramePr>
            <a:graphicFrameLocks noChangeAspect="1"/>
          </p:cNvGraphicFramePr>
          <p:nvPr/>
        </p:nvGraphicFramePr>
        <p:xfrm>
          <a:off x="1164133" y="5108764"/>
          <a:ext cx="1651000" cy="288636"/>
        </p:xfrm>
        <a:graphic>
          <a:graphicData uri="http://schemas.openxmlformats.org/presentationml/2006/ole">
            <mc:AlternateContent xmlns:mc="http://schemas.openxmlformats.org/markup-compatibility/2006">
              <mc:Choice xmlns:v="urn:schemas-microsoft-com:vml" Requires="v">
                <p:oleObj name="Equation" r:id="rId6" imgW="1815840" imgH="317160" progId="Equation.DSMT4">
                  <p:embed/>
                </p:oleObj>
              </mc:Choice>
              <mc:Fallback>
                <p:oleObj name="Equation" r:id="rId6" imgW="1815840" imgH="317160" progId="Equation.DSMT4">
                  <p:embed/>
                  <p:pic>
                    <p:nvPicPr>
                      <p:cNvPr id="6" name="Object 5" descr="approximately equals to 0.0155416">
                        <a:extLst>
                          <a:ext uri="{FF2B5EF4-FFF2-40B4-BE49-F238E27FC236}">
                            <a16:creationId xmlns:a16="http://schemas.microsoft.com/office/drawing/2014/main" id="{DFEE7532-35B3-4051-A62F-7DF9273A7EFE}"/>
                          </a:ext>
                        </a:extLst>
                      </p:cNvPr>
                      <p:cNvPicPr/>
                      <p:nvPr/>
                    </p:nvPicPr>
                    <p:blipFill>
                      <a:blip r:embed="rId7"/>
                      <a:stretch>
                        <a:fillRect/>
                      </a:stretch>
                    </p:blipFill>
                    <p:spPr>
                      <a:xfrm>
                        <a:off x="1164133" y="5108764"/>
                        <a:ext cx="1651000" cy="288636"/>
                      </a:xfrm>
                      <a:prstGeom prst="rect">
                        <a:avLst/>
                      </a:prstGeom>
                    </p:spPr>
                  </p:pic>
                </p:oleObj>
              </mc:Fallback>
            </mc:AlternateContent>
          </a:graphicData>
        </a:graphic>
      </p:graphicFrame>
    </p:spTree>
    <p:extLst>
      <p:ext uri="{BB962C8B-B14F-4D97-AF65-F5344CB8AC3E}">
        <p14:creationId xmlns:p14="http://schemas.microsoft.com/office/powerpoint/2010/main" val="21553927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(8 of 9)</a:t>
            </a:r>
          </a:p>
        </p:txBody>
      </p:sp>
      <p:sp>
        <p:nvSpPr>
          <p:cNvPr id="4" name="Content Placeholder 3"/>
          <p:cNvSpPr>
            <a:spLocks noGrp="1"/>
          </p:cNvSpPr>
          <p:nvPr>
            <p:ph sz="quarter" idx="13"/>
          </p:nvPr>
        </p:nvSpPr>
        <p:spPr>
          <a:xfrm>
            <a:off x="457200" y="1552575"/>
            <a:ext cx="4542312" cy="418729"/>
          </a:xfrm>
        </p:spPr>
        <p:txBody>
          <a:bodyPr/>
          <a:lstStyle/>
          <a:p>
            <a:pPr marL="0" indent="0">
              <a:buNone/>
            </a:pPr>
            <a:r>
              <a:rPr lang="en-US" dirty="0">
                <a:solidFill>
                  <a:schemeClr val="tx1"/>
                </a:solidFill>
              </a:rPr>
              <a:t>The standardized test statistic is</a:t>
            </a:r>
          </a:p>
        </p:txBody>
      </p:sp>
      <p:graphicFrame>
        <p:nvGraphicFramePr>
          <p:cNvPr id="18" name="Object 17" descr="t = start fraction left parenthesis x sub 1 bar minus x sub 2 bar right parenthesis minus left parenthesis mu sub 1 minus mu sub 2 right parenthesis over S sub start expression x sub 1 bar minus x sub 2 bar end expression end fraction.">
            <a:extLst>
              <a:ext uri="{FF2B5EF4-FFF2-40B4-BE49-F238E27FC236}">
                <a16:creationId xmlns:a16="http://schemas.microsoft.com/office/drawing/2014/main" id="{0680B5A0-A997-4B37-913D-9243EBD4F94B}"/>
              </a:ext>
            </a:extLst>
          </p:cNvPr>
          <p:cNvGraphicFramePr>
            <a:graphicFrameLocks noChangeAspect="1"/>
          </p:cNvGraphicFramePr>
          <p:nvPr/>
        </p:nvGraphicFramePr>
        <p:xfrm>
          <a:off x="481013" y="2224088"/>
          <a:ext cx="3046412" cy="946150"/>
        </p:xfrm>
        <a:graphic>
          <a:graphicData uri="http://schemas.openxmlformats.org/presentationml/2006/ole">
            <mc:AlternateContent xmlns:mc="http://schemas.openxmlformats.org/markup-compatibility/2006">
              <mc:Choice xmlns:v="urn:schemas-microsoft-com:vml" Requires="v">
                <p:oleObj name="Equation" r:id="rId2" imgW="3352680" imgH="1041120" progId="Equation.DSMT4">
                  <p:embed/>
                </p:oleObj>
              </mc:Choice>
              <mc:Fallback>
                <p:oleObj name="Equation" r:id="rId2" imgW="3352680" imgH="1041120" progId="Equation.DSMT4">
                  <p:embed/>
                  <p:pic>
                    <p:nvPicPr>
                      <p:cNvPr id="18" name="Object 17" descr="t = start fraction left parenthesis x sub 1 bar minus x sub 2 bar right parenthesis minus left parenthesis mu sub 1 minus mu sub 2 right parenthesis over S sub start expression x sub 1 bar minus x sub 2 bar end expression end fraction.">
                        <a:extLst>
                          <a:ext uri="{FF2B5EF4-FFF2-40B4-BE49-F238E27FC236}">
                            <a16:creationId xmlns:a16="http://schemas.microsoft.com/office/drawing/2014/main" id="{0680B5A0-A997-4B37-913D-9243EBD4F94B}"/>
                          </a:ext>
                        </a:extLst>
                      </p:cNvPr>
                      <p:cNvPicPr/>
                      <p:nvPr/>
                    </p:nvPicPr>
                    <p:blipFill>
                      <a:blip r:embed="rId3"/>
                      <a:stretch>
                        <a:fillRect/>
                      </a:stretch>
                    </p:blipFill>
                    <p:spPr>
                      <a:xfrm>
                        <a:off x="481013" y="2224088"/>
                        <a:ext cx="3046412" cy="946150"/>
                      </a:xfrm>
                      <a:prstGeom prst="rect">
                        <a:avLst/>
                      </a:prstGeom>
                    </p:spPr>
                  </p:pic>
                </p:oleObj>
              </mc:Fallback>
            </mc:AlternateContent>
          </a:graphicData>
        </a:graphic>
      </p:graphicFrame>
      <p:sp>
        <p:nvSpPr>
          <p:cNvPr id="5" name="Content Placeholder 4"/>
          <p:cNvSpPr>
            <a:spLocks noGrp="1"/>
          </p:cNvSpPr>
          <p:nvPr>
            <p:ph sz="quarter" idx="14"/>
          </p:nvPr>
        </p:nvSpPr>
        <p:spPr>
          <a:xfrm>
            <a:off x="3960428" y="2495799"/>
            <a:ext cx="4934188" cy="381001"/>
          </a:xfrm>
        </p:spPr>
        <p:txBody>
          <a:bodyPr/>
          <a:lstStyle/>
          <a:p>
            <a:pPr marL="0" lvl="1" indent="0">
              <a:buNone/>
            </a:pPr>
            <a:r>
              <a:rPr lang="en-US" dirty="0">
                <a:solidFill>
                  <a:schemeClr val="tx1"/>
                </a:solidFill>
              </a:rPr>
              <a:t>Use the </a:t>
            </a:r>
            <a:r>
              <a:rPr lang="en-US" i="1" dirty="0">
                <a:solidFill>
                  <a:schemeClr val="tx1"/>
                </a:solidFill>
              </a:rPr>
              <a:t>t</a:t>
            </a:r>
            <a:r>
              <a:rPr lang="en-US" dirty="0">
                <a:solidFill>
                  <a:schemeClr val="tx1"/>
                </a:solidFill>
              </a:rPr>
              <a:t>-test (variances are equal).</a:t>
            </a:r>
          </a:p>
        </p:txBody>
      </p:sp>
      <p:graphicFrame>
        <p:nvGraphicFramePr>
          <p:cNvPr id="19" name="Object 18" descr="Equals start fraction left parenthesis 0.52 minus 0.55 right parenthesis minus 0 over 0.0155416 end fraction.">
            <a:extLst>
              <a:ext uri="{FF2B5EF4-FFF2-40B4-BE49-F238E27FC236}">
                <a16:creationId xmlns:a16="http://schemas.microsoft.com/office/drawing/2014/main" id="{8A45ED59-4B61-4E25-B56C-AB72F6F48C11}"/>
              </a:ext>
            </a:extLst>
          </p:cNvPr>
          <p:cNvGraphicFramePr>
            <a:graphicFrameLocks noChangeAspect="1"/>
          </p:cNvGraphicFramePr>
          <p:nvPr/>
        </p:nvGraphicFramePr>
        <p:xfrm>
          <a:off x="657225" y="3511550"/>
          <a:ext cx="2446338" cy="820738"/>
        </p:xfrm>
        <a:graphic>
          <a:graphicData uri="http://schemas.openxmlformats.org/presentationml/2006/ole">
            <mc:AlternateContent xmlns:mc="http://schemas.openxmlformats.org/markup-compatibility/2006">
              <mc:Choice xmlns:v="urn:schemas-microsoft-com:vml" Requires="v">
                <p:oleObj name="Equation" r:id="rId4" imgW="2692080" imgH="901440" progId="Equation.DSMT4">
                  <p:embed/>
                </p:oleObj>
              </mc:Choice>
              <mc:Fallback>
                <p:oleObj name="Equation" r:id="rId4" imgW="2692080" imgH="901440" progId="Equation.DSMT4">
                  <p:embed/>
                  <p:pic>
                    <p:nvPicPr>
                      <p:cNvPr id="19" name="Object 18" descr="Equals start fraction left parenthesis 0.52 minus 0.55 right parenthesis minus 0 over 0.0155416 end fraction.">
                        <a:extLst>
                          <a:ext uri="{FF2B5EF4-FFF2-40B4-BE49-F238E27FC236}">
                            <a16:creationId xmlns:a16="http://schemas.microsoft.com/office/drawing/2014/main" id="{8A45ED59-4B61-4E25-B56C-AB72F6F48C11}"/>
                          </a:ext>
                        </a:extLst>
                      </p:cNvPr>
                      <p:cNvPicPr/>
                      <p:nvPr/>
                    </p:nvPicPr>
                    <p:blipFill>
                      <a:blip r:embed="rId5"/>
                      <a:stretch>
                        <a:fillRect/>
                      </a:stretch>
                    </p:blipFill>
                    <p:spPr>
                      <a:xfrm>
                        <a:off x="657225" y="3511550"/>
                        <a:ext cx="2446338" cy="820738"/>
                      </a:xfrm>
                      <a:prstGeom prst="rect">
                        <a:avLst/>
                      </a:prstGeom>
                    </p:spPr>
                  </p:pic>
                </p:oleObj>
              </mc:Fallback>
            </mc:AlternateContent>
          </a:graphicData>
        </a:graphic>
      </p:graphicFrame>
      <p:sp>
        <p:nvSpPr>
          <p:cNvPr id="6" name="Content Placeholder 5"/>
          <p:cNvSpPr>
            <a:spLocks noGrp="1"/>
          </p:cNvSpPr>
          <p:nvPr>
            <p:ph sz="quarter" idx="15"/>
          </p:nvPr>
        </p:nvSpPr>
        <p:spPr>
          <a:xfrm>
            <a:off x="3960429" y="3763949"/>
            <a:ext cx="1235033" cy="416879"/>
          </a:xfrm>
        </p:spPr>
        <p:txBody>
          <a:bodyPr/>
          <a:lstStyle/>
          <a:p>
            <a:pPr marL="432" indent="0">
              <a:buNone/>
            </a:pPr>
            <a:r>
              <a:rPr lang="en-US" dirty="0">
                <a:solidFill>
                  <a:schemeClr val="tx1"/>
                </a:solidFill>
              </a:rPr>
              <a:t>Assume</a:t>
            </a:r>
          </a:p>
        </p:txBody>
      </p:sp>
      <p:graphicFrame>
        <p:nvGraphicFramePr>
          <p:cNvPr id="20" name="Object 19" descr="mu subscript 1 equals mu subscript 2,so mu subscript 1 minus mu subscript 2 equals 0.">
            <a:extLst>
              <a:ext uri="{FF2B5EF4-FFF2-40B4-BE49-F238E27FC236}">
                <a16:creationId xmlns:a16="http://schemas.microsoft.com/office/drawing/2014/main" id="{8918D407-F039-4480-9B8F-461916BB11B6}"/>
              </a:ext>
            </a:extLst>
          </p:cNvPr>
          <p:cNvGraphicFramePr>
            <a:graphicFrameLocks noChangeAspect="1"/>
          </p:cNvGraphicFramePr>
          <p:nvPr/>
        </p:nvGraphicFramePr>
        <p:xfrm>
          <a:off x="5322731" y="3781888"/>
          <a:ext cx="2870200" cy="381000"/>
        </p:xfrm>
        <a:graphic>
          <a:graphicData uri="http://schemas.openxmlformats.org/presentationml/2006/ole">
            <mc:AlternateContent xmlns:mc="http://schemas.openxmlformats.org/markup-compatibility/2006">
              <mc:Choice xmlns:v="urn:schemas-microsoft-com:vml" Requires="v">
                <p:oleObj name="Equation" r:id="rId6" imgW="2869920" imgH="380880" progId="Equation.DSMT4">
                  <p:embed/>
                </p:oleObj>
              </mc:Choice>
              <mc:Fallback>
                <p:oleObj name="Equation" r:id="rId6" imgW="2869920" imgH="380880" progId="Equation.DSMT4">
                  <p:embed/>
                  <p:pic>
                    <p:nvPicPr>
                      <p:cNvPr id="20" name="Object 19" descr="mu subscript 1 equals mu subscript 2,so mu subscript 1 minus mu subscript 2 equals 0.">
                        <a:extLst>
                          <a:ext uri="{FF2B5EF4-FFF2-40B4-BE49-F238E27FC236}">
                            <a16:creationId xmlns:a16="http://schemas.microsoft.com/office/drawing/2014/main" id="{8918D407-F039-4480-9B8F-461916BB11B6}"/>
                          </a:ext>
                        </a:extLst>
                      </p:cNvPr>
                      <p:cNvPicPr/>
                      <p:nvPr/>
                    </p:nvPicPr>
                    <p:blipFill>
                      <a:blip r:embed="rId7"/>
                      <a:stretch>
                        <a:fillRect/>
                      </a:stretch>
                    </p:blipFill>
                    <p:spPr>
                      <a:xfrm>
                        <a:off x="5322731" y="3781888"/>
                        <a:ext cx="2870200" cy="381000"/>
                      </a:xfrm>
                      <a:prstGeom prst="rect">
                        <a:avLst/>
                      </a:prstGeom>
                    </p:spPr>
                  </p:pic>
                </p:oleObj>
              </mc:Fallback>
            </mc:AlternateContent>
          </a:graphicData>
        </a:graphic>
      </p:graphicFrame>
      <p:graphicFrame>
        <p:nvGraphicFramePr>
          <p:cNvPr id="21" name="Object 20" descr="approximately equals to minus 1.930.">
            <a:extLst>
              <a:ext uri="{FF2B5EF4-FFF2-40B4-BE49-F238E27FC236}">
                <a16:creationId xmlns:a16="http://schemas.microsoft.com/office/drawing/2014/main" id="{DFEE7532-35B3-4051-A62F-7DF9273A7EFE}"/>
              </a:ext>
            </a:extLst>
          </p:cNvPr>
          <p:cNvGraphicFramePr>
            <a:graphicFrameLocks noChangeAspect="1"/>
          </p:cNvGraphicFramePr>
          <p:nvPr/>
        </p:nvGraphicFramePr>
        <p:xfrm>
          <a:off x="682625" y="4721225"/>
          <a:ext cx="1258888" cy="288925"/>
        </p:xfrm>
        <a:graphic>
          <a:graphicData uri="http://schemas.openxmlformats.org/presentationml/2006/ole">
            <mc:AlternateContent xmlns:mc="http://schemas.openxmlformats.org/markup-compatibility/2006">
              <mc:Choice xmlns:v="urn:schemas-microsoft-com:vml" Requires="v">
                <p:oleObj name="Equation" r:id="rId8" imgW="1384200" imgH="317160" progId="Equation.DSMT4">
                  <p:embed/>
                </p:oleObj>
              </mc:Choice>
              <mc:Fallback>
                <p:oleObj name="Equation" r:id="rId8" imgW="1384200" imgH="317160" progId="Equation.DSMT4">
                  <p:embed/>
                  <p:pic>
                    <p:nvPicPr>
                      <p:cNvPr id="21" name="Object 20" descr="approximately equals to minus 1.930.">
                        <a:extLst>
                          <a:ext uri="{FF2B5EF4-FFF2-40B4-BE49-F238E27FC236}">
                            <a16:creationId xmlns:a16="http://schemas.microsoft.com/office/drawing/2014/main" id="{DFEE7532-35B3-4051-A62F-7DF9273A7EFE}"/>
                          </a:ext>
                        </a:extLst>
                      </p:cNvPr>
                      <p:cNvPicPr/>
                      <p:nvPr/>
                    </p:nvPicPr>
                    <p:blipFill>
                      <a:blip r:embed="rId9"/>
                      <a:stretch>
                        <a:fillRect/>
                      </a:stretch>
                    </p:blipFill>
                    <p:spPr>
                      <a:xfrm>
                        <a:off x="682625" y="4721225"/>
                        <a:ext cx="1258888" cy="288925"/>
                      </a:xfrm>
                      <a:prstGeom prst="rect">
                        <a:avLst/>
                      </a:prstGeom>
                    </p:spPr>
                  </p:pic>
                </p:oleObj>
              </mc:Fallback>
            </mc:AlternateContent>
          </a:graphicData>
        </a:graphic>
      </p:graphicFrame>
    </p:spTree>
    <p:extLst>
      <p:ext uri="{BB962C8B-B14F-4D97-AF65-F5344CB8AC3E}">
        <p14:creationId xmlns:p14="http://schemas.microsoft.com/office/powerpoint/2010/main" val="4090017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(9 of 9)</a:t>
            </a:r>
          </a:p>
        </p:txBody>
      </p:sp>
      <p:sp>
        <p:nvSpPr>
          <p:cNvPr id="4" name="Content Placeholder 3"/>
          <p:cNvSpPr>
            <a:spLocks noGrp="1"/>
          </p:cNvSpPr>
          <p:nvPr>
            <p:ph sz="quarter" idx="13"/>
          </p:nvPr>
        </p:nvSpPr>
        <p:spPr>
          <a:xfrm>
            <a:off x="457200" y="1552575"/>
            <a:ext cx="8229600" cy="1216383"/>
          </a:xfrm>
        </p:spPr>
        <p:txBody>
          <a:bodyPr/>
          <a:lstStyle/>
          <a:p>
            <a:pPr marL="0" indent="0">
              <a:buNone/>
            </a:pPr>
            <a:r>
              <a:rPr lang="en-US" dirty="0">
                <a:solidFill>
                  <a:schemeClr val="tx1"/>
                </a:solidFill>
              </a:rPr>
              <a:t>The figure shows the location of the rejection region and the standardized test statistic </a:t>
            </a:r>
            <a:r>
              <a:rPr lang="en-US" i="1" dirty="0">
                <a:solidFill>
                  <a:schemeClr val="tx1"/>
                </a:solidFill>
              </a:rPr>
              <a:t>t</a:t>
            </a:r>
            <a:r>
              <a:rPr lang="en-US" dirty="0">
                <a:solidFill>
                  <a:schemeClr val="tx1"/>
                </a:solidFill>
              </a:rPr>
              <a:t>. Because </a:t>
            </a:r>
            <a:r>
              <a:rPr lang="en-US" i="1" dirty="0">
                <a:solidFill>
                  <a:schemeClr val="tx1"/>
                </a:solidFill>
              </a:rPr>
              <a:t>t </a:t>
            </a:r>
            <a:r>
              <a:rPr lang="en-US" dirty="0">
                <a:solidFill>
                  <a:schemeClr val="tx1"/>
                </a:solidFill>
              </a:rPr>
              <a:t>is in the rejection region, you reject the null hypothesis.</a:t>
            </a:r>
          </a:p>
        </p:txBody>
      </p:sp>
      <p:pic>
        <p:nvPicPr>
          <p:cNvPr id="18" name="Content Placeholder 17" descr="A bell curve on a horizontal line t. For long description in Notes pane, press F6."/>
          <p:cNvPicPr>
            <a:picLocks noGrp="1" noChangeAspect="1"/>
          </p:cNvPicPr>
          <p:nvPr>
            <p:ph sz="quarter" idx="14"/>
          </p:nvPr>
        </p:nvPicPr>
        <p:blipFill>
          <a:blip r:embed="rId3"/>
          <a:stretch>
            <a:fillRect/>
          </a:stretch>
        </p:blipFill>
        <p:spPr>
          <a:xfrm>
            <a:off x="431800" y="3008883"/>
            <a:ext cx="3401863" cy="3005588"/>
          </a:xfrm>
          <a:prstGeom prst="rect">
            <a:avLst/>
          </a:prstGeom>
        </p:spPr>
      </p:pic>
      <p:sp>
        <p:nvSpPr>
          <p:cNvPr id="6" name="Content Placeholder 5"/>
          <p:cNvSpPr>
            <a:spLocks noGrp="1"/>
          </p:cNvSpPr>
          <p:nvPr>
            <p:ph sz="quarter" idx="15"/>
          </p:nvPr>
        </p:nvSpPr>
        <p:spPr>
          <a:xfrm>
            <a:off x="4310742" y="3008883"/>
            <a:ext cx="4251367" cy="2739299"/>
          </a:xfrm>
        </p:spPr>
        <p:txBody>
          <a:bodyPr/>
          <a:lstStyle/>
          <a:p>
            <a:pPr marL="432" indent="0">
              <a:buNone/>
            </a:pPr>
            <a:r>
              <a:rPr lang="en-US" dirty="0">
                <a:cs typeface="Times New Roman" panose="02020603050405020304" pitchFamily="18" charset="0"/>
              </a:rPr>
              <a:t>There is enough evidence at </a:t>
            </a:r>
            <a:br>
              <a:rPr lang="en-US" dirty="0">
                <a:cs typeface="Times New Roman" panose="02020603050405020304" pitchFamily="18" charset="0"/>
              </a:rPr>
            </a:br>
            <a:r>
              <a:rPr lang="en-US" dirty="0">
                <a:cs typeface="Times New Roman" panose="02020603050405020304" pitchFamily="18" charset="0"/>
              </a:rPr>
              <a:t>the 5% level of significance </a:t>
            </a:r>
            <a:br>
              <a:rPr lang="en-US" dirty="0">
                <a:cs typeface="Times New Roman" panose="02020603050405020304" pitchFamily="18" charset="0"/>
              </a:rPr>
            </a:br>
            <a:r>
              <a:rPr lang="en-US" dirty="0">
                <a:cs typeface="Times New Roman" panose="02020603050405020304" pitchFamily="18" charset="0"/>
              </a:rPr>
              <a:t>to support the manufacturer’s claim that the mean driving cost per mile of its sedans is less than that of its competitor’s.</a:t>
            </a:r>
          </a:p>
        </p:txBody>
      </p:sp>
    </p:spTree>
    <p:extLst>
      <p:ext uri="{BB962C8B-B14F-4D97-AF65-F5344CB8AC3E}">
        <p14:creationId xmlns:p14="http://schemas.microsoft.com/office/powerpoint/2010/main" val="4041777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615052" cy="2838451"/>
          </a:xfrm>
        </p:spPr>
        <p:txBody>
          <a:bodyPr lIns="0" tIns="0" rIns="0" bIns="0"/>
          <a:lstStyle/>
          <a:p>
            <a:r>
              <a:rPr lang="en-US" sz="3200" dirty="0"/>
              <a:t>Section 7.3 Testing the Difference Between Means (Dependent Samples)</a:t>
            </a:r>
          </a:p>
        </p:txBody>
      </p:sp>
    </p:spTree>
    <p:extLst>
      <p:ext uri="{BB962C8B-B14F-4D97-AF65-F5344CB8AC3E}">
        <p14:creationId xmlns:p14="http://schemas.microsoft.com/office/powerpoint/2010/main" val="26992329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latin typeface="+mn-lt"/>
              </a:rPr>
              <a:t>t</a:t>
            </a:r>
            <a:r>
              <a:rPr lang="en-US" altLang="en-US" sz="3400" dirty="0">
                <a:latin typeface="+mn-lt"/>
              </a:rPr>
              <a:t>-Test for the Difference Between Means </a:t>
            </a:r>
            <a:r>
              <a:rPr lang="en-US" altLang="en-US" sz="2000" b="0" dirty="0">
                <a:latin typeface="+mn-lt"/>
              </a:rPr>
              <a:t>(1 of 4)</a:t>
            </a:r>
            <a:endParaRPr lang="en-IN" sz="2000" b="0" dirty="0">
              <a:latin typeface="+mn-lt"/>
            </a:endParaRPr>
          </a:p>
        </p:txBody>
      </p:sp>
      <p:sp>
        <p:nvSpPr>
          <p:cNvPr id="4" name="Content Placeholder 3"/>
          <p:cNvSpPr>
            <a:spLocks noGrp="1"/>
          </p:cNvSpPr>
          <p:nvPr>
            <p:ph sz="quarter" idx="13"/>
          </p:nvPr>
        </p:nvSpPr>
        <p:spPr>
          <a:xfrm>
            <a:off x="457200" y="1552575"/>
            <a:ext cx="8229600" cy="1166874"/>
          </a:xfrm>
        </p:spPr>
        <p:txBody>
          <a:bodyPr/>
          <a:lstStyle/>
          <a:p>
            <a:r>
              <a:rPr lang="en-US" altLang="en-US" dirty="0"/>
              <a:t>To perform a two-sample hypothesis test with dependent samples, the difference between each data pair is first found:</a:t>
            </a:r>
          </a:p>
        </p:txBody>
      </p:sp>
      <p:sp>
        <p:nvSpPr>
          <p:cNvPr id="5" name="Content Placeholder 4"/>
          <p:cNvSpPr>
            <a:spLocks noGrp="1"/>
          </p:cNvSpPr>
          <p:nvPr>
            <p:ph sz="quarter" idx="14"/>
          </p:nvPr>
        </p:nvSpPr>
        <p:spPr>
          <a:xfrm>
            <a:off x="457200" y="2814453"/>
            <a:ext cx="837210" cy="403762"/>
          </a:xfrm>
        </p:spPr>
        <p:txBody>
          <a:bodyPr/>
          <a:lstStyle/>
          <a:p>
            <a:pPr marL="486918" lvl="1" indent="0"/>
            <a:r>
              <a:rPr lang="en-US" dirty="0"/>
              <a:t> </a:t>
            </a:r>
            <a:r>
              <a:rPr lang="en-US" sz="100" dirty="0"/>
              <a:t> </a:t>
            </a:r>
            <a:endParaRPr lang="en-IN" sz="100" dirty="0"/>
          </a:p>
        </p:txBody>
      </p:sp>
      <p:graphicFrame>
        <p:nvGraphicFramePr>
          <p:cNvPr id="18" name="Object 17" descr="d equals x subscript 1 minus x subscript 2">
            <a:extLst>
              <a:ext uri="{FF2B5EF4-FFF2-40B4-BE49-F238E27FC236}">
                <a16:creationId xmlns:a16="http://schemas.microsoft.com/office/drawing/2014/main" id="{C83988C6-09F7-4BF2-A45C-F9844B169421}"/>
              </a:ext>
            </a:extLst>
          </p:cNvPr>
          <p:cNvGraphicFramePr>
            <a:graphicFrameLocks noChangeAspect="1"/>
          </p:cNvGraphicFramePr>
          <p:nvPr/>
        </p:nvGraphicFramePr>
        <p:xfrm>
          <a:off x="1342691" y="2800435"/>
          <a:ext cx="1473200" cy="431800"/>
        </p:xfrm>
        <a:graphic>
          <a:graphicData uri="http://schemas.openxmlformats.org/presentationml/2006/ole">
            <mc:AlternateContent xmlns:mc="http://schemas.openxmlformats.org/markup-compatibility/2006">
              <mc:Choice xmlns:v="urn:schemas-microsoft-com:vml" Requires="v">
                <p:oleObj name="Equation" r:id="rId2" imgW="1473120" imgH="431640" progId="Equation.DSMT4">
                  <p:embed/>
                </p:oleObj>
              </mc:Choice>
              <mc:Fallback>
                <p:oleObj name="Equation" r:id="rId2" imgW="1473120" imgH="431640" progId="Equation.DSMT4">
                  <p:embed/>
                  <p:pic>
                    <p:nvPicPr>
                      <p:cNvPr id="18" name="Object 17" descr="d equals x subscript 1 minus x subscript 2">
                        <a:extLst>
                          <a:ext uri="{FF2B5EF4-FFF2-40B4-BE49-F238E27FC236}">
                            <a16:creationId xmlns:a16="http://schemas.microsoft.com/office/drawing/2014/main" id="{C83988C6-09F7-4BF2-A45C-F9844B169421}"/>
                          </a:ext>
                        </a:extLst>
                      </p:cNvPr>
                      <p:cNvPicPr/>
                      <p:nvPr/>
                    </p:nvPicPr>
                    <p:blipFill>
                      <a:blip r:embed="rId3"/>
                      <a:stretch>
                        <a:fillRect/>
                      </a:stretch>
                    </p:blipFill>
                    <p:spPr>
                      <a:xfrm>
                        <a:off x="1342691" y="2800435"/>
                        <a:ext cx="1473200" cy="431800"/>
                      </a:xfrm>
                      <a:prstGeom prst="rect">
                        <a:avLst/>
                      </a:prstGeom>
                    </p:spPr>
                  </p:pic>
                </p:oleObj>
              </mc:Fallback>
            </mc:AlternateContent>
          </a:graphicData>
        </a:graphic>
      </p:graphicFrame>
      <p:sp>
        <p:nvSpPr>
          <p:cNvPr id="6" name="Content Placeholder 5"/>
          <p:cNvSpPr>
            <a:spLocks noGrp="1"/>
          </p:cNvSpPr>
          <p:nvPr>
            <p:ph sz="quarter" idx="15"/>
          </p:nvPr>
        </p:nvSpPr>
        <p:spPr>
          <a:xfrm>
            <a:off x="2921329" y="2814453"/>
            <a:ext cx="5812971" cy="403760"/>
          </a:xfrm>
        </p:spPr>
        <p:txBody>
          <a:bodyPr/>
          <a:lstStyle/>
          <a:p>
            <a:pPr marL="432" indent="0">
              <a:buNone/>
            </a:pPr>
            <a:r>
              <a:rPr lang="en-US" altLang="en-US" dirty="0">
                <a:solidFill>
                  <a:schemeClr val="tx1"/>
                </a:solidFill>
                <a:ea typeface="Times New Roman" panose="02020603050405020304" pitchFamily="18" charset="0"/>
              </a:rPr>
              <a:t>Difference between entries for a data pair</a:t>
            </a:r>
            <a:endParaRPr lang="en-IN" dirty="0">
              <a:solidFill>
                <a:schemeClr val="tx1"/>
              </a:solidFill>
            </a:endParaRPr>
          </a:p>
        </p:txBody>
      </p:sp>
      <p:sp>
        <p:nvSpPr>
          <p:cNvPr id="7" name="Content Placeholder 6"/>
          <p:cNvSpPr>
            <a:spLocks noGrp="1"/>
          </p:cNvSpPr>
          <p:nvPr>
            <p:ph sz="quarter" idx="16"/>
          </p:nvPr>
        </p:nvSpPr>
        <p:spPr>
          <a:xfrm>
            <a:off x="457200" y="3384468"/>
            <a:ext cx="4256088" cy="403759"/>
          </a:xfrm>
        </p:spPr>
        <p:txBody>
          <a:bodyPr/>
          <a:lstStyle/>
          <a:p>
            <a:r>
              <a:rPr lang="en-US" dirty="0">
                <a:solidFill>
                  <a:prstClr val="black"/>
                </a:solidFill>
                <a:cs typeface="Times New Roman" pitchFamily="18" charset="0"/>
              </a:rPr>
              <a:t>The test statistic is the mean</a:t>
            </a:r>
            <a:endParaRPr lang="en-IN" dirty="0"/>
          </a:p>
        </p:txBody>
      </p:sp>
      <p:graphicFrame>
        <p:nvGraphicFramePr>
          <p:cNvPr id="19" name="Object 18" descr="d bar">
            <a:extLst>
              <a:ext uri="{FF2B5EF4-FFF2-40B4-BE49-F238E27FC236}">
                <a16:creationId xmlns:a16="http://schemas.microsoft.com/office/drawing/2014/main" id="{40ED4FA4-0B12-4CE4-B34F-DE177A955954}"/>
              </a:ext>
            </a:extLst>
          </p:cNvPr>
          <p:cNvGraphicFramePr>
            <a:graphicFrameLocks noChangeAspect="1"/>
          </p:cNvGraphicFramePr>
          <p:nvPr/>
        </p:nvGraphicFramePr>
        <p:xfrm>
          <a:off x="4792408" y="3372094"/>
          <a:ext cx="254000" cy="346364"/>
        </p:xfrm>
        <a:graphic>
          <a:graphicData uri="http://schemas.openxmlformats.org/presentationml/2006/ole">
            <mc:AlternateContent xmlns:mc="http://schemas.openxmlformats.org/markup-compatibility/2006">
              <mc:Choice xmlns:v="urn:schemas-microsoft-com:vml" Requires="v">
                <p:oleObj name="Equation" r:id="rId4" imgW="279360" imgH="380880" progId="Equation.DSMT4">
                  <p:embed/>
                </p:oleObj>
              </mc:Choice>
              <mc:Fallback>
                <p:oleObj name="Equation" r:id="rId4" imgW="279360" imgH="380880" progId="Equation.DSMT4">
                  <p:embed/>
                  <p:pic>
                    <p:nvPicPr>
                      <p:cNvPr id="19" name="Object 18" descr="d bar">
                        <a:extLst>
                          <a:ext uri="{FF2B5EF4-FFF2-40B4-BE49-F238E27FC236}">
                            <a16:creationId xmlns:a16="http://schemas.microsoft.com/office/drawing/2014/main" id="{40ED4FA4-0B12-4CE4-B34F-DE177A955954}"/>
                          </a:ext>
                        </a:extLst>
                      </p:cNvPr>
                      <p:cNvPicPr/>
                      <p:nvPr/>
                    </p:nvPicPr>
                    <p:blipFill>
                      <a:blip r:embed="rId5"/>
                      <a:stretch>
                        <a:fillRect/>
                      </a:stretch>
                    </p:blipFill>
                    <p:spPr>
                      <a:xfrm>
                        <a:off x="4792408" y="3372094"/>
                        <a:ext cx="254000" cy="346364"/>
                      </a:xfrm>
                      <a:prstGeom prst="rect">
                        <a:avLst/>
                      </a:prstGeom>
                    </p:spPr>
                  </p:pic>
                </p:oleObj>
              </mc:Fallback>
            </mc:AlternateContent>
          </a:graphicData>
        </a:graphic>
      </p:graphicFrame>
      <p:sp>
        <p:nvSpPr>
          <p:cNvPr id="8" name="Content Placeholder 7"/>
          <p:cNvSpPr>
            <a:spLocks noGrp="1"/>
          </p:cNvSpPr>
          <p:nvPr>
            <p:ph sz="quarter" idx="17"/>
          </p:nvPr>
        </p:nvSpPr>
        <p:spPr>
          <a:xfrm>
            <a:off x="5153907" y="3384468"/>
            <a:ext cx="2962891" cy="403759"/>
          </a:xfrm>
        </p:spPr>
        <p:txBody>
          <a:bodyPr/>
          <a:lstStyle/>
          <a:p>
            <a:pPr marL="432" indent="0">
              <a:buNone/>
            </a:pPr>
            <a:r>
              <a:rPr lang="en-US" dirty="0">
                <a:solidFill>
                  <a:prstClr val="black"/>
                </a:solidFill>
                <a:cs typeface="Times New Roman" pitchFamily="18" charset="0"/>
              </a:rPr>
              <a:t>of these differences.</a:t>
            </a:r>
            <a:endParaRPr lang="en-IN" dirty="0"/>
          </a:p>
        </p:txBody>
      </p:sp>
      <p:sp>
        <p:nvSpPr>
          <p:cNvPr id="9" name="Content Placeholder 8"/>
          <p:cNvSpPr>
            <a:spLocks noGrp="1"/>
          </p:cNvSpPr>
          <p:nvPr>
            <p:ph sz="quarter" idx="18"/>
          </p:nvPr>
        </p:nvSpPr>
        <p:spPr>
          <a:xfrm>
            <a:off x="457201" y="4061354"/>
            <a:ext cx="837210" cy="427511"/>
          </a:xfrm>
        </p:spPr>
        <p:txBody>
          <a:bodyPr/>
          <a:lstStyle/>
          <a:p>
            <a:pPr marL="486918" lvl="1" indent="0"/>
            <a:r>
              <a:rPr lang="en-US" dirty="0"/>
              <a:t> </a:t>
            </a:r>
            <a:r>
              <a:rPr lang="en-US" sz="100" dirty="0"/>
              <a:t> </a:t>
            </a:r>
            <a:endParaRPr lang="en-IN" sz="100" dirty="0"/>
          </a:p>
        </p:txBody>
      </p:sp>
      <p:graphicFrame>
        <p:nvGraphicFramePr>
          <p:cNvPr id="20" name="Object 19" descr="d bar equals fraction numerator sum of d divided by denominator n end fraction">
            <a:extLst>
              <a:ext uri="{FF2B5EF4-FFF2-40B4-BE49-F238E27FC236}">
                <a16:creationId xmlns:a16="http://schemas.microsoft.com/office/drawing/2014/main" id="{5661B893-A8BE-4E26-9EBA-3EDCC48020F7}"/>
              </a:ext>
            </a:extLst>
          </p:cNvPr>
          <p:cNvGraphicFramePr>
            <a:graphicFrameLocks noChangeAspect="1"/>
          </p:cNvGraphicFramePr>
          <p:nvPr/>
        </p:nvGraphicFramePr>
        <p:xfrm>
          <a:off x="1342691" y="3840676"/>
          <a:ext cx="1193800" cy="838200"/>
        </p:xfrm>
        <a:graphic>
          <a:graphicData uri="http://schemas.openxmlformats.org/presentationml/2006/ole">
            <mc:AlternateContent xmlns:mc="http://schemas.openxmlformats.org/markup-compatibility/2006">
              <mc:Choice xmlns:v="urn:schemas-microsoft-com:vml" Requires="v">
                <p:oleObj name="Equation" r:id="rId6" imgW="1193760" imgH="838080" progId="Equation.DSMT4">
                  <p:embed/>
                </p:oleObj>
              </mc:Choice>
              <mc:Fallback>
                <p:oleObj name="Equation" r:id="rId6" imgW="1193760" imgH="838080" progId="Equation.DSMT4">
                  <p:embed/>
                  <p:pic>
                    <p:nvPicPr>
                      <p:cNvPr id="20" name="Object 19" descr="d bar equals fraction numerator sum of d divided by denominator n end fraction">
                        <a:extLst>
                          <a:ext uri="{FF2B5EF4-FFF2-40B4-BE49-F238E27FC236}">
                            <a16:creationId xmlns:a16="http://schemas.microsoft.com/office/drawing/2014/main" id="{5661B893-A8BE-4E26-9EBA-3EDCC48020F7}"/>
                          </a:ext>
                        </a:extLst>
                      </p:cNvPr>
                      <p:cNvPicPr/>
                      <p:nvPr/>
                    </p:nvPicPr>
                    <p:blipFill>
                      <a:blip r:embed="rId7"/>
                      <a:stretch>
                        <a:fillRect/>
                      </a:stretch>
                    </p:blipFill>
                    <p:spPr>
                      <a:xfrm>
                        <a:off x="1342691" y="3840676"/>
                        <a:ext cx="1193800" cy="838200"/>
                      </a:xfrm>
                      <a:prstGeom prst="rect">
                        <a:avLst/>
                      </a:prstGeom>
                    </p:spPr>
                  </p:pic>
                </p:oleObj>
              </mc:Fallback>
            </mc:AlternateContent>
          </a:graphicData>
        </a:graphic>
      </p:graphicFrame>
      <p:sp>
        <p:nvSpPr>
          <p:cNvPr id="10" name="Content Placeholder 9"/>
          <p:cNvSpPr>
            <a:spLocks noGrp="1"/>
          </p:cNvSpPr>
          <p:nvPr>
            <p:ph sz="quarter" idx="19"/>
          </p:nvPr>
        </p:nvSpPr>
        <p:spPr>
          <a:xfrm>
            <a:off x="2600696" y="3883230"/>
            <a:ext cx="5783283" cy="795646"/>
          </a:xfrm>
        </p:spPr>
        <p:txBody>
          <a:bodyPr/>
          <a:lstStyle/>
          <a:p>
            <a:pPr marL="432" indent="0">
              <a:spcBef>
                <a:spcPct val="0"/>
              </a:spcBef>
              <a:buClrTx/>
              <a:buNone/>
            </a:pPr>
            <a:r>
              <a:rPr lang="en-US" altLang="en-US" dirty="0">
                <a:solidFill>
                  <a:schemeClr val="tx1"/>
                </a:solidFill>
              </a:rPr>
              <a:t>Mean of the differences between paired data entries in the dependent samples</a:t>
            </a:r>
          </a:p>
        </p:txBody>
      </p:sp>
    </p:spTree>
    <p:extLst>
      <p:ext uri="{BB962C8B-B14F-4D97-AF65-F5344CB8AC3E}">
        <p14:creationId xmlns:p14="http://schemas.microsoft.com/office/powerpoint/2010/main" val="24361539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latin typeface="+mn-lt"/>
              </a:rPr>
              <a:t>t</a:t>
            </a:r>
            <a:r>
              <a:rPr lang="en-US" altLang="en-US" sz="3400" dirty="0">
                <a:latin typeface="+mn-lt"/>
              </a:rPr>
              <a:t>-Test for the Difference Between Means </a:t>
            </a:r>
            <a:r>
              <a:rPr lang="en-US" altLang="en-US" sz="2000" b="0" dirty="0">
                <a:latin typeface="+mn-lt"/>
              </a:rPr>
              <a:t>(2 of 4)</a:t>
            </a:r>
            <a:endParaRPr lang="en-IN" sz="2000" b="0" dirty="0">
              <a:latin typeface="+mn-lt"/>
            </a:endParaRPr>
          </a:p>
        </p:txBody>
      </p:sp>
      <p:sp>
        <p:nvSpPr>
          <p:cNvPr id="4" name="Content Placeholder 3"/>
          <p:cNvSpPr>
            <a:spLocks noGrp="1"/>
          </p:cNvSpPr>
          <p:nvPr>
            <p:ph sz="quarter" idx="13"/>
          </p:nvPr>
        </p:nvSpPr>
        <p:spPr>
          <a:xfrm>
            <a:off x="457200" y="1552574"/>
            <a:ext cx="8229600" cy="1653764"/>
          </a:xfrm>
        </p:spPr>
        <p:txBody>
          <a:bodyPr/>
          <a:lstStyle/>
          <a:p>
            <a:pPr>
              <a:spcBef>
                <a:spcPts val="600"/>
              </a:spcBef>
              <a:buFont typeface="Arial" panose="020B0604020202020204" pitchFamily="34" charset="0"/>
              <a:buNone/>
            </a:pPr>
            <a:r>
              <a:rPr lang="en-US" altLang="en-US" sz="1800" dirty="0"/>
              <a:t>Three conditions are required to conduct the test.</a:t>
            </a:r>
          </a:p>
          <a:p>
            <a:pPr marL="432000" indent="-432000">
              <a:spcBef>
                <a:spcPts val="600"/>
              </a:spcBef>
              <a:buFont typeface="+mj-lt"/>
              <a:buAutoNum type="arabicPeriod"/>
            </a:pPr>
            <a:r>
              <a:rPr lang="en-US" altLang="en-US" sz="1800" dirty="0"/>
              <a:t>The samples must be randomly selected.</a:t>
            </a:r>
          </a:p>
          <a:p>
            <a:pPr marL="432000" indent="-432000">
              <a:spcBef>
                <a:spcPts val="600"/>
              </a:spcBef>
              <a:buFont typeface="+mj-lt"/>
              <a:buAutoNum type="arabicPeriod"/>
            </a:pPr>
            <a:r>
              <a:rPr lang="en-US" altLang="en-US" sz="1800" dirty="0"/>
              <a:t>The samples must be dependent (paired).</a:t>
            </a:r>
          </a:p>
          <a:p>
            <a:pPr marL="432000" indent="-432000">
              <a:spcBef>
                <a:spcPts val="600"/>
              </a:spcBef>
              <a:buFont typeface="+mj-lt"/>
              <a:buAutoNum type="arabicPeriod"/>
            </a:pPr>
            <a:r>
              <a:rPr lang="en-US" altLang="en-US" sz="1800" dirty="0"/>
              <a:t>Both populations must be normally distributed or the number </a:t>
            </a:r>
            <a:r>
              <a:rPr lang="en-US" altLang="en-US" sz="1800" i="1" dirty="0"/>
              <a:t>n </a:t>
            </a:r>
            <a:r>
              <a:rPr lang="en-US" altLang="en-US" sz="1800" dirty="0"/>
              <a:t>of pairs of data is at least 30.</a:t>
            </a:r>
          </a:p>
        </p:txBody>
      </p:sp>
      <p:sp>
        <p:nvSpPr>
          <p:cNvPr id="5" name="Content Placeholder 4"/>
          <p:cNvSpPr>
            <a:spLocks noGrp="1"/>
          </p:cNvSpPr>
          <p:nvPr>
            <p:ph sz="quarter" idx="14"/>
          </p:nvPr>
        </p:nvSpPr>
        <p:spPr>
          <a:xfrm>
            <a:off x="457200" y="3313216"/>
            <a:ext cx="6525491" cy="328509"/>
          </a:xfrm>
        </p:spPr>
        <p:txBody>
          <a:bodyPr/>
          <a:lstStyle/>
          <a:p>
            <a:pPr marL="432" indent="0">
              <a:buNone/>
            </a:pPr>
            <a:r>
              <a:rPr lang="en-US" altLang="en-US" sz="1800" dirty="0"/>
              <a:t>If these conditions are met, then the </a:t>
            </a:r>
            <a:r>
              <a:rPr lang="en-US" altLang="en-US" sz="1800" b="1" dirty="0"/>
              <a:t>sampling distribution for</a:t>
            </a:r>
            <a:endParaRPr lang="en-IN" sz="1800" dirty="0"/>
          </a:p>
        </p:txBody>
      </p:sp>
      <p:graphicFrame>
        <p:nvGraphicFramePr>
          <p:cNvPr id="18" name="Object 17" descr="d bar">
            <a:extLst>
              <a:ext uri="{FF2B5EF4-FFF2-40B4-BE49-F238E27FC236}">
                <a16:creationId xmlns:a16="http://schemas.microsoft.com/office/drawing/2014/main" id="{D41EF490-64CB-48F6-8ACD-10D7033D38D0}"/>
              </a:ext>
            </a:extLst>
          </p:cNvPr>
          <p:cNvGraphicFramePr>
            <a:graphicFrameLocks noChangeAspect="1"/>
          </p:cNvGraphicFramePr>
          <p:nvPr/>
        </p:nvGraphicFramePr>
        <p:xfrm>
          <a:off x="7042066" y="3307803"/>
          <a:ext cx="267168" cy="324417"/>
        </p:xfrm>
        <a:graphic>
          <a:graphicData uri="http://schemas.openxmlformats.org/presentationml/2006/ole">
            <mc:AlternateContent xmlns:mc="http://schemas.openxmlformats.org/markup-compatibility/2006">
              <mc:Choice xmlns:v="urn:schemas-microsoft-com:vml" Requires="v">
                <p:oleObj name="Equation" r:id="rId3" imgW="355320" imgH="431640" progId="Equation.DSMT4">
                  <p:embed/>
                </p:oleObj>
              </mc:Choice>
              <mc:Fallback>
                <p:oleObj name="Equation" r:id="rId3" imgW="355320" imgH="431640" progId="Equation.DSMT4">
                  <p:embed/>
                  <p:pic>
                    <p:nvPicPr>
                      <p:cNvPr id="18" name="Object 17" descr="d bar">
                        <a:extLst>
                          <a:ext uri="{FF2B5EF4-FFF2-40B4-BE49-F238E27FC236}">
                            <a16:creationId xmlns:a16="http://schemas.microsoft.com/office/drawing/2014/main" id="{D41EF490-64CB-48F6-8ACD-10D7033D38D0}"/>
                          </a:ext>
                        </a:extLst>
                      </p:cNvPr>
                      <p:cNvPicPr/>
                      <p:nvPr/>
                    </p:nvPicPr>
                    <p:blipFill>
                      <a:blip r:embed="rId4"/>
                      <a:stretch>
                        <a:fillRect/>
                      </a:stretch>
                    </p:blipFill>
                    <p:spPr>
                      <a:xfrm>
                        <a:off x="7042066" y="3307803"/>
                        <a:ext cx="267168" cy="324417"/>
                      </a:xfrm>
                      <a:prstGeom prst="rect">
                        <a:avLst/>
                      </a:prstGeom>
                    </p:spPr>
                  </p:pic>
                </p:oleObj>
              </mc:Fallback>
            </mc:AlternateContent>
          </a:graphicData>
        </a:graphic>
      </p:graphicFrame>
      <p:sp>
        <p:nvSpPr>
          <p:cNvPr id="6" name="Content Placeholder 5"/>
          <p:cNvSpPr>
            <a:spLocks noGrp="1"/>
          </p:cNvSpPr>
          <p:nvPr>
            <p:ph sz="quarter" idx="15"/>
          </p:nvPr>
        </p:nvSpPr>
        <p:spPr>
          <a:xfrm>
            <a:off x="457201" y="3689228"/>
            <a:ext cx="3806042" cy="1155906"/>
          </a:xfrm>
        </p:spPr>
        <p:txBody>
          <a:bodyPr/>
          <a:lstStyle/>
          <a:p>
            <a:pPr marL="432" indent="0">
              <a:buNone/>
            </a:pPr>
            <a:r>
              <a:rPr lang="en-US" altLang="en-US" sz="1800" b="1" dirty="0"/>
              <a:t>the mean of the differences of the paired data entries in the dependent samples</a:t>
            </a:r>
            <a:r>
              <a:rPr lang="en-US" altLang="en-US" sz="1800" dirty="0"/>
              <a:t>, is approximated by a </a:t>
            </a:r>
            <a:r>
              <a:rPr lang="en-US" altLang="en-US" sz="1800" i="1" dirty="0"/>
              <a:t>t</a:t>
            </a:r>
            <a:r>
              <a:rPr lang="en-US" altLang="en-US" sz="1800" dirty="0"/>
              <a:t>-distribution with</a:t>
            </a:r>
            <a:endParaRPr lang="en-IN" sz="1800" dirty="0"/>
          </a:p>
        </p:txBody>
      </p:sp>
      <p:graphicFrame>
        <p:nvGraphicFramePr>
          <p:cNvPr id="19" name="Object 18" descr="n minus 1">
            <a:extLst>
              <a:ext uri="{FF2B5EF4-FFF2-40B4-BE49-F238E27FC236}">
                <a16:creationId xmlns:a16="http://schemas.microsoft.com/office/drawing/2014/main" id="{A087694F-B149-4F9B-BEAC-AC3E3EBDB075}"/>
              </a:ext>
            </a:extLst>
          </p:cNvPr>
          <p:cNvGraphicFramePr>
            <a:graphicFrameLocks noChangeAspect="1"/>
          </p:cNvGraphicFramePr>
          <p:nvPr/>
        </p:nvGraphicFramePr>
        <p:xfrm>
          <a:off x="481532" y="4918983"/>
          <a:ext cx="486626" cy="238542"/>
        </p:xfrm>
        <a:graphic>
          <a:graphicData uri="http://schemas.openxmlformats.org/presentationml/2006/ole">
            <mc:AlternateContent xmlns:mc="http://schemas.openxmlformats.org/markup-compatibility/2006">
              <mc:Choice xmlns:v="urn:schemas-microsoft-com:vml" Requires="v">
                <p:oleObj name="Equation" r:id="rId5" imgW="647640" imgH="317160" progId="Equation.DSMT4">
                  <p:embed/>
                </p:oleObj>
              </mc:Choice>
              <mc:Fallback>
                <p:oleObj name="Equation" r:id="rId5" imgW="647640" imgH="317160" progId="Equation.DSMT4">
                  <p:embed/>
                  <p:pic>
                    <p:nvPicPr>
                      <p:cNvPr id="19" name="Object 18" descr="n minus 1">
                        <a:extLst>
                          <a:ext uri="{FF2B5EF4-FFF2-40B4-BE49-F238E27FC236}">
                            <a16:creationId xmlns:a16="http://schemas.microsoft.com/office/drawing/2014/main" id="{A087694F-B149-4F9B-BEAC-AC3E3EBDB075}"/>
                          </a:ext>
                        </a:extLst>
                      </p:cNvPr>
                      <p:cNvPicPr/>
                      <p:nvPr/>
                    </p:nvPicPr>
                    <p:blipFill>
                      <a:blip r:embed="rId6"/>
                      <a:stretch>
                        <a:fillRect/>
                      </a:stretch>
                    </p:blipFill>
                    <p:spPr>
                      <a:xfrm>
                        <a:off x="481532" y="4918983"/>
                        <a:ext cx="486626" cy="238542"/>
                      </a:xfrm>
                      <a:prstGeom prst="rect">
                        <a:avLst/>
                      </a:prstGeom>
                    </p:spPr>
                  </p:pic>
                </p:oleObj>
              </mc:Fallback>
            </mc:AlternateContent>
          </a:graphicData>
        </a:graphic>
      </p:graphicFrame>
      <p:sp>
        <p:nvSpPr>
          <p:cNvPr id="7" name="Content Placeholder 6"/>
          <p:cNvSpPr>
            <a:spLocks noGrp="1"/>
          </p:cNvSpPr>
          <p:nvPr>
            <p:ph sz="quarter" idx="16"/>
          </p:nvPr>
        </p:nvSpPr>
        <p:spPr>
          <a:xfrm>
            <a:off x="1140030" y="4907055"/>
            <a:ext cx="3123213" cy="318087"/>
          </a:xfrm>
        </p:spPr>
        <p:txBody>
          <a:bodyPr/>
          <a:lstStyle/>
          <a:p>
            <a:pPr marL="432" indent="0">
              <a:buNone/>
            </a:pPr>
            <a:r>
              <a:rPr lang="en-US" altLang="en-US" sz="1800" dirty="0"/>
              <a:t>degrees of freedom, where </a:t>
            </a:r>
            <a:r>
              <a:rPr lang="en-US" altLang="en-US" sz="1800" i="1" dirty="0"/>
              <a:t>n</a:t>
            </a:r>
            <a:endParaRPr lang="en-IN" sz="1800" dirty="0"/>
          </a:p>
        </p:txBody>
      </p:sp>
      <p:sp>
        <p:nvSpPr>
          <p:cNvPr id="8" name="Content Placeholder 7"/>
          <p:cNvSpPr>
            <a:spLocks noGrp="1"/>
          </p:cNvSpPr>
          <p:nvPr>
            <p:ph sz="quarter" idx="17"/>
          </p:nvPr>
        </p:nvSpPr>
        <p:spPr>
          <a:xfrm>
            <a:off x="457200" y="5287063"/>
            <a:ext cx="2986644" cy="341841"/>
          </a:xfrm>
        </p:spPr>
        <p:txBody>
          <a:bodyPr/>
          <a:lstStyle/>
          <a:p>
            <a:pPr marL="0" indent="0">
              <a:buNone/>
            </a:pPr>
            <a:r>
              <a:rPr lang="en-US" altLang="en-US" sz="1800" dirty="0"/>
              <a:t>is the number of data pairs.</a:t>
            </a:r>
          </a:p>
        </p:txBody>
      </p:sp>
      <p:pic>
        <p:nvPicPr>
          <p:cNvPr id="20" name="Content Placeholder 19" descr="A bell curve on a horizontal line d bar representing the sampling distribution. For long description in Notes pane, press F6."/>
          <p:cNvPicPr>
            <a:picLocks noGrp="1" noChangeAspect="1"/>
          </p:cNvPicPr>
          <p:nvPr>
            <p:ph sz="quarter" idx="18"/>
          </p:nvPr>
        </p:nvPicPr>
        <p:blipFill>
          <a:blip r:embed="rId7"/>
          <a:stretch>
            <a:fillRect/>
          </a:stretch>
        </p:blipFill>
        <p:spPr>
          <a:xfrm>
            <a:off x="4662651" y="4251609"/>
            <a:ext cx="4024150" cy="2070908"/>
          </a:xfrm>
          <a:prstGeom prst="rect">
            <a:avLst/>
          </a:prstGeom>
        </p:spPr>
      </p:pic>
    </p:spTree>
    <p:extLst>
      <p:ext uri="{BB962C8B-B14F-4D97-AF65-F5344CB8AC3E}">
        <p14:creationId xmlns:p14="http://schemas.microsoft.com/office/powerpoint/2010/main" val="1440073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latin typeface="+mn-lt"/>
              </a:rPr>
              <a:t>Symbols used for the </a:t>
            </a:r>
            <a:r>
              <a:rPr lang="en-US" altLang="en-US" sz="3400" i="1" dirty="0">
                <a:latin typeface="+mn-lt"/>
              </a:rPr>
              <a:t>t</a:t>
            </a:r>
            <a:r>
              <a:rPr lang="en-US" altLang="en-US" sz="3400" dirty="0">
                <a:latin typeface="+mn-lt"/>
              </a:rPr>
              <a:t>-Test for mu Subscript </a:t>
            </a:r>
            <a:r>
              <a:rPr lang="en-US" altLang="en-US" sz="3400" i="1" dirty="0">
                <a:latin typeface="+mn-lt"/>
              </a:rPr>
              <a:t>d </a:t>
            </a:r>
            <a:r>
              <a:rPr lang="en-US" altLang="en-US" sz="2000" b="0" dirty="0">
                <a:latin typeface="+mn-lt"/>
              </a:rPr>
              <a:t>(1 of 2)</a:t>
            </a:r>
            <a:endParaRPr lang="en-US" sz="2000" b="0" dirty="0">
              <a:latin typeface="+mn-lt"/>
            </a:endParaRPr>
          </a:p>
        </p:txBody>
      </p:sp>
      <p:graphicFrame>
        <p:nvGraphicFramePr>
          <p:cNvPr id="18" name="Content Placeholder 17"/>
          <p:cNvGraphicFramePr>
            <a:graphicFrameLocks noGrp="1"/>
          </p:cNvGraphicFramePr>
          <p:nvPr>
            <p:ph sz="quarter" idx="13"/>
          </p:nvPr>
        </p:nvGraphicFramePr>
        <p:xfrm>
          <a:off x="457200" y="1555750"/>
          <a:ext cx="8229600" cy="3766593"/>
        </p:xfrm>
        <a:graphic>
          <a:graphicData uri="http://schemas.openxmlformats.org/drawingml/2006/table">
            <a:tbl>
              <a:tblPr firstRow="1" bandRow="1">
                <a:tableStyleId>{2D5ABB26-0587-4C30-8999-92F81FD0307C}</a:tableStyleId>
              </a:tblPr>
              <a:tblGrid>
                <a:gridCol w="1312223">
                  <a:extLst>
                    <a:ext uri="{9D8B030D-6E8A-4147-A177-3AD203B41FA5}">
                      <a16:colId xmlns:a16="http://schemas.microsoft.com/office/drawing/2014/main" val="3013566271"/>
                    </a:ext>
                  </a:extLst>
                </a:gridCol>
                <a:gridCol w="6917377">
                  <a:extLst>
                    <a:ext uri="{9D8B030D-6E8A-4147-A177-3AD203B41FA5}">
                      <a16:colId xmlns:a16="http://schemas.microsoft.com/office/drawing/2014/main" val="2921171718"/>
                    </a:ext>
                  </a:extLst>
                </a:gridCol>
              </a:tblGrid>
              <a:tr h="415554">
                <a:tc>
                  <a:txBody>
                    <a:bodyPr/>
                    <a:lstStyle/>
                    <a:p>
                      <a:pPr algn="l"/>
                      <a:r>
                        <a:rPr lang="en-US" sz="2200" b="1" noProof="0" dirty="0"/>
                        <a:t>Symbol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8655860"/>
                  </a:ext>
                </a:extLst>
              </a:tr>
              <a:tr h="1113291">
                <a:tc>
                  <a:txBody>
                    <a:bodyPr/>
                    <a:lstStyle/>
                    <a:p>
                      <a:pPr algn="ctr"/>
                      <a:r>
                        <a:rPr lang="en-US" sz="2200" i="1" noProof="0"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t>The number of pairs of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949617"/>
                  </a:ext>
                </a:extLst>
              </a:tr>
              <a:tr h="1113291">
                <a:tc>
                  <a:txBody>
                    <a:bodyPr/>
                    <a:lstStyle/>
                    <a:p>
                      <a:pPr algn="ctr"/>
                      <a:r>
                        <a:rPr lang="en-US" sz="2200" i="1" noProof="0"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2200" noProof="0" dirty="0"/>
                        <a:t>The difference between entries for a data pair,</a:t>
                      </a:r>
                    </a:p>
                    <a:p>
                      <a:endParaRPr lang="en-US" sz="100" noProof="0" dirty="0"/>
                    </a:p>
                    <a:p>
                      <a:r>
                        <a:rPr lang="en-US" sz="100" noProof="0" dirty="0"/>
                        <a:t>d = x sub 1 minus x sub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510893"/>
                  </a:ext>
                </a:extLst>
              </a:tr>
              <a:tr h="1113291">
                <a:tc>
                  <a:txBody>
                    <a:bodyPr/>
                    <a:lstStyle/>
                    <a:p>
                      <a:pPr algn="ctr"/>
                      <a:endParaRPr lang="en-US" sz="100" noProof="0" dirty="0"/>
                    </a:p>
                    <a:p>
                      <a:pPr algn="ctr"/>
                      <a:r>
                        <a:rPr lang="en-US" sz="100" noProof="0" dirty="0"/>
                        <a:t>mu sub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t>The hypothesized mean of the differences of paired data in the population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7545303"/>
                  </a:ext>
                </a:extLst>
              </a:tr>
            </a:tbl>
          </a:graphicData>
        </a:graphic>
      </p:graphicFrame>
      <p:graphicFrame>
        <p:nvGraphicFramePr>
          <p:cNvPr id="20" name="Object 19">
            <a:extLst>
              <a:ext uri="{FF2B5EF4-FFF2-40B4-BE49-F238E27FC236}">
                <a16:creationId xmlns:a16="http://schemas.microsoft.com/office/drawing/2014/main" id="{59B78A5A-04AC-4ED7-812A-93354AC4C61A}"/>
              </a:ext>
              <a:ext uri="{C183D7F6-B498-43B3-948B-1728B52AA6E4}">
                <adec:decorative xmlns:adec="http://schemas.microsoft.com/office/drawing/2017/decorative" val="1"/>
              </a:ext>
            </a:extLst>
          </p:cNvPr>
          <p:cNvGraphicFramePr>
            <a:graphicFrameLocks noChangeAspect="1"/>
          </p:cNvGraphicFramePr>
          <p:nvPr/>
        </p:nvGraphicFramePr>
        <p:xfrm>
          <a:off x="1836221" y="3472297"/>
          <a:ext cx="1339273" cy="392545"/>
        </p:xfrm>
        <a:graphic>
          <a:graphicData uri="http://schemas.openxmlformats.org/presentationml/2006/ole">
            <mc:AlternateContent xmlns:mc="http://schemas.openxmlformats.org/markup-compatibility/2006">
              <mc:Choice xmlns:v="urn:schemas-microsoft-com:vml" Requires="v">
                <p:oleObj name="Equation" r:id="rId2" imgW="1473120" imgH="431640" progId="Equation.DSMT4">
                  <p:embed/>
                </p:oleObj>
              </mc:Choice>
              <mc:Fallback>
                <p:oleObj name="Equation" r:id="rId2" imgW="1473120" imgH="431640" progId="Equation.DSMT4">
                  <p:embed/>
                  <p:pic>
                    <p:nvPicPr>
                      <p:cNvPr id="20" name="Object 19">
                        <a:extLst>
                          <a:ext uri="{FF2B5EF4-FFF2-40B4-BE49-F238E27FC236}">
                            <a16:creationId xmlns:a16="http://schemas.microsoft.com/office/drawing/2014/main" id="{59B78A5A-04AC-4ED7-812A-93354AC4C61A}"/>
                          </a:ext>
                          <a:ext uri="{C183D7F6-B498-43B3-948B-1728B52AA6E4}">
                            <adec:decorative xmlns:adec="http://schemas.microsoft.com/office/drawing/2017/decorative" val="1"/>
                          </a:ext>
                        </a:extLst>
                      </p:cNvPr>
                      <p:cNvPicPr/>
                      <p:nvPr/>
                    </p:nvPicPr>
                    <p:blipFill>
                      <a:blip r:embed="rId3"/>
                      <a:stretch>
                        <a:fillRect/>
                      </a:stretch>
                    </p:blipFill>
                    <p:spPr>
                      <a:xfrm>
                        <a:off x="1836221" y="3472297"/>
                        <a:ext cx="1339273" cy="392545"/>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268237A6-5EF2-46C5-94E2-9FE9EE9DFC63}"/>
              </a:ext>
              <a:ext uri="{C183D7F6-B498-43B3-948B-1728B52AA6E4}">
                <adec:decorative xmlns:adec="http://schemas.microsoft.com/office/drawing/2017/decorative" val="1"/>
              </a:ext>
            </a:extLst>
          </p:cNvPr>
          <p:cNvGraphicFramePr>
            <a:graphicFrameLocks noChangeAspect="1"/>
          </p:cNvGraphicFramePr>
          <p:nvPr/>
        </p:nvGraphicFramePr>
        <p:xfrm>
          <a:off x="962025" y="4231618"/>
          <a:ext cx="393700" cy="431800"/>
        </p:xfrm>
        <a:graphic>
          <a:graphicData uri="http://schemas.openxmlformats.org/presentationml/2006/ole">
            <mc:AlternateContent xmlns:mc="http://schemas.openxmlformats.org/markup-compatibility/2006">
              <mc:Choice xmlns:v="urn:schemas-microsoft-com:vml" Requires="v">
                <p:oleObj name="Equation" r:id="rId4" imgW="393480" imgH="431640" progId="Equation.DSMT4">
                  <p:embed/>
                </p:oleObj>
              </mc:Choice>
              <mc:Fallback>
                <p:oleObj name="Equation" r:id="rId4" imgW="393480" imgH="431640" progId="Equation.DSMT4">
                  <p:embed/>
                  <p:pic>
                    <p:nvPicPr>
                      <p:cNvPr id="21" name="Object 20">
                        <a:extLst>
                          <a:ext uri="{FF2B5EF4-FFF2-40B4-BE49-F238E27FC236}">
                            <a16:creationId xmlns:a16="http://schemas.microsoft.com/office/drawing/2014/main" id="{268237A6-5EF2-46C5-94E2-9FE9EE9DFC63}"/>
                          </a:ext>
                          <a:ext uri="{C183D7F6-B498-43B3-948B-1728B52AA6E4}">
                            <adec:decorative xmlns:adec="http://schemas.microsoft.com/office/drawing/2017/decorative" val="1"/>
                          </a:ext>
                        </a:extLst>
                      </p:cNvPr>
                      <p:cNvPicPr/>
                      <p:nvPr/>
                    </p:nvPicPr>
                    <p:blipFill>
                      <a:blip r:embed="rId5"/>
                      <a:stretch>
                        <a:fillRect/>
                      </a:stretch>
                    </p:blipFill>
                    <p:spPr>
                      <a:xfrm>
                        <a:off x="962025" y="4231618"/>
                        <a:ext cx="393700" cy="4318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928947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latin typeface="+mn-lt"/>
              </a:rPr>
              <a:t>Symbols used for the </a:t>
            </a:r>
            <a:r>
              <a:rPr lang="en-US" altLang="en-US" sz="3400" i="1" dirty="0">
                <a:latin typeface="+mn-lt"/>
              </a:rPr>
              <a:t>t</a:t>
            </a:r>
            <a:r>
              <a:rPr lang="en-US" altLang="en-US" sz="3400" dirty="0">
                <a:latin typeface="+mn-lt"/>
              </a:rPr>
              <a:t>-Test for mu Subscript </a:t>
            </a:r>
            <a:r>
              <a:rPr lang="en-US" altLang="en-US" sz="3400" i="1" dirty="0">
                <a:latin typeface="+mn-lt"/>
              </a:rPr>
              <a:t>d </a:t>
            </a:r>
            <a:r>
              <a:rPr lang="en-US" altLang="en-US" sz="2000" b="0" dirty="0">
                <a:latin typeface="+mn-lt"/>
              </a:rPr>
              <a:t>(2 of 2)</a:t>
            </a:r>
            <a:endParaRPr lang="en-US" sz="2000" b="0" dirty="0">
              <a:latin typeface="+mn-lt"/>
            </a:endParaRPr>
          </a:p>
        </p:txBody>
      </p:sp>
      <p:graphicFrame>
        <p:nvGraphicFramePr>
          <p:cNvPr id="18" name="Content Placeholder 17"/>
          <p:cNvGraphicFramePr>
            <a:graphicFrameLocks noGrp="1"/>
          </p:cNvGraphicFramePr>
          <p:nvPr>
            <p:ph sz="quarter" idx="13"/>
          </p:nvPr>
        </p:nvGraphicFramePr>
        <p:xfrm>
          <a:off x="457200" y="1555750"/>
          <a:ext cx="8229600" cy="4417538"/>
        </p:xfrm>
        <a:graphic>
          <a:graphicData uri="http://schemas.openxmlformats.org/drawingml/2006/table">
            <a:tbl>
              <a:tblPr firstRow="1" bandRow="1">
                <a:tableStyleId>{2D5ABB26-0587-4C30-8999-92F81FD0307C}</a:tableStyleId>
              </a:tblPr>
              <a:tblGrid>
                <a:gridCol w="1312223">
                  <a:extLst>
                    <a:ext uri="{9D8B030D-6E8A-4147-A177-3AD203B41FA5}">
                      <a16:colId xmlns:a16="http://schemas.microsoft.com/office/drawing/2014/main" val="3013566271"/>
                    </a:ext>
                  </a:extLst>
                </a:gridCol>
                <a:gridCol w="6917377">
                  <a:extLst>
                    <a:ext uri="{9D8B030D-6E8A-4147-A177-3AD203B41FA5}">
                      <a16:colId xmlns:a16="http://schemas.microsoft.com/office/drawing/2014/main" val="2921171718"/>
                    </a:ext>
                  </a:extLst>
                </a:gridCol>
              </a:tblGrid>
              <a:tr h="415554">
                <a:tc>
                  <a:txBody>
                    <a:bodyPr/>
                    <a:lstStyle/>
                    <a:p>
                      <a:pPr algn="l"/>
                      <a:r>
                        <a:rPr lang="en-US" sz="2200" b="1" noProof="0" dirty="0"/>
                        <a:t>Symbol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200" b="1" noProof="0"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8655860"/>
                  </a:ext>
                </a:extLst>
              </a:tr>
              <a:tr h="1722631">
                <a:tc>
                  <a:txBody>
                    <a:bodyPr/>
                    <a:lstStyle/>
                    <a:p>
                      <a:pPr algn="ctr"/>
                      <a:r>
                        <a:rPr lang="en-US" sz="100" i="0" noProof="0" dirty="0"/>
                        <a:t>d bar.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t>The mean of the differences between the paired data entries in the dependent samples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 noProof="0" dirty="0"/>
                        <a:t>d bar = start fraction summation of d over n end fraction.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949617"/>
                  </a:ext>
                </a:extLst>
              </a:tr>
              <a:tr h="2268187">
                <a:tc>
                  <a:txBody>
                    <a:bodyPr/>
                    <a:lstStyle/>
                    <a:p>
                      <a:pPr algn="ctr"/>
                      <a:r>
                        <a:rPr lang="en-US" sz="100" i="0" noProof="0" dirty="0"/>
                        <a:t>S sub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t>The standard deviation of the differences between the paired data entries in the dependent samples</a:t>
                      </a:r>
                    </a:p>
                    <a:p>
                      <a:r>
                        <a:rPr lang="en-US" sz="100" noProof="0" dirty="0"/>
                        <a:t>S sub d = square root of start expression start fraction summation of left parenthesis d minus d bar right parenthesis squared over n minus 1 end fraction end expression.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510893"/>
                  </a:ext>
                </a:extLst>
              </a:tr>
            </a:tbl>
          </a:graphicData>
        </a:graphic>
      </p:graphicFrame>
      <p:graphicFrame>
        <p:nvGraphicFramePr>
          <p:cNvPr id="6" name="Object 5">
            <a:extLst>
              <a:ext uri="{FF2B5EF4-FFF2-40B4-BE49-F238E27FC236}">
                <a16:creationId xmlns:a16="http://schemas.microsoft.com/office/drawing/2014/main" id="{AAFEDB46-5CB3-4CC4-97B6-06D7D8764745}"/>
              </a:ext>
              <a:ext uri="{C183D7F6-B498-43B3-948B-1728B52AA6E4}">
                <adec:decorative xmlns:adec="http://schemas.microsoft.com/office/drawing/2017/decorative" val="1"/>
              </a:ext>
            </a:extLst>
          </p:cNvPr>
          <p:cNvGraphicFramePr>
            <a:graphicFrameLocks noChangeAspect="1"/>
          </p:cNvGraphicFramePr>
          <p:nvPr/>
        </p:nvGraphicFramePr>
        <p:xfrm>
          <a:off x="983749" y="2009805"/>
          <a:ext cx="279400" cy="381000"/>
        </p:xfrm>
        <a:graphic>
          <a:graphicData uri="http://schemas.openxmlformats.org/presentationml/2006/ole">
            <mc:AlternateContent xmlns:mc="http://schemas.openxmlformats.org/markup-compatibility/2006">
              <mc:Choice xmlns:v="urn:schemas-microsoft-com:vml" Requires="v">
                <p:oleObj name="Equation" r:id="rId2" imgW="279360" imgH="380880" progId="Equation.DSMT4">
                  <p:embed/>
                </p:oleObj>
              </mc:Choice>
              <mc:Fallback>
                <p:oleObj name="Equation" r:id="rId2" imgW="279360" imgH="380880" progId="Equation.DSMT4">
                  <p:embed/>
                  <p:pic>
                    <p:nvPicPr>
                      <p:cNvPr id="6" name="Object 5">
                        <a:extLst>
                          <a:ext uri="{FF2B5EF4-FFF2-40B4-BE49-F238E27FC236}">
                            <a16:creationId xmlns:a16="http://schemas.microsoft.com/office/drawing/2014/main" id="{AAFEDB46-5CB3-4CC4-97B6-06D7D8764745}"/>
                          </a:ext>
                          <a:ext uri="{C183D7F6-B498-43B3-948B-1728B52AA6E4}">
                            <adec:decorative xmlns:adec="http://schemas.microsoft.com/office/drawing/2017/decorative" val="1"/>
                          </a:ext>
                        </a:extLst>
                      </p:cNvPr>
                      <p:cNvPicPr/>
                      <p:nvPr/>
                    </p:nvPicPr>
                    <p:blipFill>
                      <a:blip r:embed="rId3"/>
                      <a:stretch>
                        <a:fillRect/>
                      </a:stretch>
                    </p:blipFill>
                    <p:spPr>
                      <a:xfrm>
                        <a:off x="983749" y="2009805"/>
                        <a:ext cx="279400" cy="381000"/>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5733C7A3-B72B-4DA8-AA1A-302C7279F31D}"/>
              </a:ext>
              <a:ext uri="{C183D7F6-B498-43B3-948B-1728B52AA6E4}">
                <adec:decorative xmlns:adec="http://schemas.microsoft.com/office/drawing/2017/decorative" val="1"/>
              </a:ext>
            </a:extLst>
          </p:cNvPr>
          <p:cNvGraphicFramePr>
            <a:graphicFrameLocks noChangeAspect="1"/>
          </p:cNvGraphicFramePr>
          <p:nvPr/>
        </p:nvGraphicFramePr>
        <p:xfrm>
          <a:off x="1807507" y="2732789"/>
          <a:ext cx="1016000" cy="715818"/>
        </p:xfrm>
        <a:graphic>
          <a:graphicData uri="http://schemas.openxmlformats.org/presentationml/2006/ole">
            <mc:AlternateContent xmlns:mc="http://schemas.openxmlformats.org/markup-compatibility/2006">
              <mc:Choice xmlns:v="urn:schemas-microsoft-com:vml" Requires="v">
                <p:oleObj name="Equation" r:id="rId4" imgW="1117440" imgH="787320" progId="Equation.DSMT4">
                  <p:embed/>
                </p:oleObj>
              </mc:Choice>
              <mc:Fallback>
                <p:oleObj name="Equation" r:id="rId4" imgW="1117440" imgH="787320" progId="Equation.DSMT4">
                  <p:embed/>
                  <p:pic>
                    <p:nvPicPr>
                      <p:cNvPr id="8" name="Object 7">
                        <a:extLst>
                          <a:ext uri="{FF2B5EF4-FFF2-40B4-BE49-F238E27FC236}">
                            <a16:creationId xmlns:a16="http://schemas.microsoft.com/office/drawing/2014/main" id="{5733C7A3-B72B-4DA8-AA1A-302C7279F31D}"/>
                          </a:ext>
                          <a:ext uri="{C183D7F6-B498-43B3-948B-1728B52AA6E4}">
                            <adec:decorative xmlns:adec="http://schemas.microsoft.com/office/drawing/2017/decorative" val="1"/>
                          </a:ext>
                        </a:extLst>
                      </p:cNvPr>
                      <p:cNvPicPr/>
                      <p:nvPr/>
                    </p:nvPicPr>
                    <p:blipFill>
                      <a:blip r:embed="rId5"/>
                      <a:stretch>
                        <a:fillRect/>
                      </a:stretch>
                    </p:blipFill>
                    <p:spPr>
                      <a:xfrm>
                        <a:off x="1807507" y="2732789"/>
                        <a:ext cx="1016000" cy="715818"/>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268237A6-5EF2-46C5-94E2-9FE9EE9DFC63}"/>
              </a:ext>
              <a:ext uri="{C183D7F6-B498-43B3-948B-1728B52AA6E4}">
                <adec:decorative xmlns:adec="http://schemas.microsoft.com/office/drawing/2017/decorative" val="1"/>
              </a:ext>
            </a:extLst>
          </p:cNvPr>
          <p:cNvGraphicFramePr>
            <a:graphicFrameLocks noChangeAspect="1"/>
          </p:cNvGraphicFramePr>
          <p:nvPr/>
        </p:nvGraphicFramePr>
        <p:xfrm>
          <a:off x="983749" y="3733804"/>
          <a:ext cx="304800" cy="431800"/>
        </p:xfrm>
        <a:graphic>
          <a:graphicData uri="http://schemas.openxmlformats.org/presentationml/2006/ole">
            <mc:AlternateContent xmlns:mc="http://schemas.openxmlformats.org/markup-compatibility/2006">
              <mc:Choice xmlns:v="urn:schemas-microsoft-com:vml" Requires="v">
                <p:oleObj name="Equation" r:id="rId6" imgW="304560" imgH="431640" progId="Equation.DSMT4">
                  <p:embed/>
                </p:oleObj>
              </mc:Choice>
              <mc:Fallback>
                <p:oleObj name="Equation" r:id="rId6" imgW="304560" imgH="431640" progId="Equation.DSMT4">
                  <p:embed/>
                  <p:pic>
                    <p:nvPicPr>
                      <p:cNvPr id="7" name="Object 6">
                        <a:extLst>
                          <a:ext uri="{FF2B5EF4-FFF2-40B4-BE49-F238E27FC236}">
                            <a16:creationId xmlns:a16="http://schemas.microsoft.com/office/drawing/2014/main" id="{268237A6-5EF2-46C5-94E2-9FE9EE9DFC63}"/>
                          </a:ext>
                          <a:ext uri="{C183D7F6-B498-43B3-948B-1728B52AA6E4}">
                            <adec:decorative xmlns:adec="http://schemas.microsoft.com/office/drawing/2017/decorative" val="1"/>
                          </a:ext>
                        </a:extLst>
                      </p:cNvPr>
                      <p:cNvPicPr/>
                      <p:nvPr/>
                    </p:nvPicPr>
                    <p:blipFill>
                      <a:blip r:embed="rId7"/>
                      <a:stretch>
                        <a:fillRect/>
                      </a:stretch>
                    </p:blipFill>
                    <p:spPr>
                      <a:xfrm>
                        <a:off x="983749" y="3733804"/>
                        <a:ext cx="304800" cy="431800"/>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21F5FE68-5D1F-4591-AC6D-C25A9CC8222A}"/>
              </a:ext>
              <a:ext uri="{C183D7F6-B498-43B3-948B-1728B52AA6E4}">
                <adec:decorative xmlns:adec="http://schemas.microsoft.com/office/drawing/2017/decorative" val="1"/>
              </a:ext>
            </a:extLst>
          </p:cNvPr>
          <p:cNvGraphicFramePr>
            <a:graphicFrameLocks noChangeAspect="1"/>
          </p:cNvGraphicFramePr>
          <p:nvPr/>
        </p:nvGraphicFramePr>
        <p:xfrm>
          <a:off x="1854925" y="4849046"/>
          <a:ext cx="2124364" cy="981364"/>
        </p:xfrm>
        <a:graphic>
          <a:graphicData uri="http://schemas.openxmlformats.org/presentationml/2006/ole">
            <mc:AlternateContent xmlns:mc="http://schemas.openxmlformats.org/markup-compatibility/2006">
              <mc:Choice xmlns:v="urn:schemas-microsoft-com:vml" Requires="v">
                <p:oleObj name="Equation" r:id="rId8" imgW="2336760" imgH="1079280" progId="Equation.DSMT4">
                  <p:embed/>
                </p:oleObj>
              </mc:Choice>
              <mc:Fallback>
                <p:oleObj name="Equation" r:id="rId8" imgW="2336760" imgH="1079280" progId="Equation.DSMT4">
                  <p:embed/>
                  <p:pic>
                    <p:nvPicPr>
                      <p:cNvPr id="9" name="Object 8">
                        <a:extLst>
                          <a:ext uri="{FF2B5EF4-FFF2-40B4-BE49-F238E27FC236}">
                            <a16:creationId xmlns:a16="http://schemas.microsoft.com/office/drawing/2014/main" id="{21F5FE68-5D1F-4591-AC6D-C25A9CC8222A}"/>
                          </a:ext>
                          <a:ext uri="{C183D7F6-B498-43B3-948B-1728B52AA6E4}">
                            <adec:decorative xmlns:adec="http://schemas.microsoft.com/office/drawing/2017/decorative" val="1"/>
                          </a:ext>
                        </a:extLst>
                      </p:cNvPr>
                      <p:cNvPicPr/>
                      <p:nvPr/>
                    </p:nvPicPr>
                    <p:blipFill>
                      <a:blip r:embed="rId9"/>
                      <a:stretch>
                        <a:fillRect/>
                      </a:stretch>
                    </p:blipFill>
                    <p:spPr>
                      <a:xfrm>
                        <a:off x="1854925" y="4849046"/>
                        <a:ext cx="2124364" cy="981364"/>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365295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t>t</a:t>
            </a:r>
            <a:r>
              <a:rPr lang="en-US" altLang="en-US" sz="3400" dirty="0"/>
              <a:t>-Test for the Difference Between Means </a:t>
            </a:r>
            <a:r>
              <a:rPr lang="en-US" altLang="en-US" sz="2000" b="0" dirty="0"/>
              <a:t>(3 of 4)</a:t>
            </a:r>
            <a:endParaRPr lang="en-US" sz="2000" dirty="0"/>
          </a:p>
        </p:txBody>
      </p:sp>
      <p:sp>
        <p:nvSpPr>
          <p:cNvPr id="4" name="Content Placeholder 3"/>
          <p:cNvSpPr>
            <a:spLocks noGrp="1"/>
          </p:cNvSpPr>
          <p:nvPr>
            <p:ph sz="quarter" idx="13"/>
          </p:nvPr>
        </p:nvSpPr>
        <p:spPr>
          <a:xfrm>
            <a:off x="457200" y="1556326"/>
            <a:ext cx="8229600" cy="2445657"/>
          </a:xfrm>
        </p:spPr>
        <p:txBody>
          <a:bodyPr/>
          <a:lstStyle/>
          <a:p>
            <a:pPr marL="0" indent="0">
              <a:buFont typeface="Arial" panose="020B0604020202020204" pitchFamily="34" charset="0"/>
              <a:buNone/>
            </a:pPr>
            <a:r>
              <a:rPr lang="en-US" altLang="en-US" dirty="0"/>
              <a:t>A </a:t>
            </a:r>
            <a:r>
              <a:rPr lang="en-US" altLang="en-US" i="1" dirty="0"/>
              <a:t>t</a:t>
            </a:r>
            <a:r>
              <a:rPr lang="en-US" altLang="en-US" dirty="0"/>
              <a:t>-test can be used to test the difference of two population means when these conditions are met.</a:t>
            </a:r>
          </a:p>
          <a:p>
            <a:pPr marL="432000" indent="-432000">
              <a:buFont typeface="+mj-lt"/>
              <a:buAutoNum type="arabicPeriod"/>
            </a:pPr>
            <a:r>
              <a:rPr lang="en-US" altLang="en-US" dirty="0"/>
              <a:t>The samples are random.</a:t>
            </a:r>
          </a:p>
          <a:p>
            <a:pPr marL="432000" indent="-432000">
              <a:buFont typeface="+mj-lt"/>
              <a:buAutoNum type="arabicPeriod"/>
            </a:pPr>
            <a:r>
              <a:rPr lang="en-US" altLang="en-US" dirty="0"/>
              <a:t>The samples are dependent (paired).</a:t>
            </a:r>
          </a:p>
          <a:p>
            <a:pPr marL="432000" indent="-432000">
              <a:buFont typeface="+mj-lt"/>
              <a:buAutoNum type="arabicPeriod"/>
            </a:pPr>
            <a:r>
              <a:rPr lang="en-US" altLang="en-US" dirty="0"/>
              <a:t>The populations are normally distributed or the number</a:t>
            </a:r>
            <a:endParaRPr lang="en-US" dirty="0"/>
          </a:p>
        </p:txBody>
      </p:sp>
      <p:graphicFrame>
        <p:nvGraphicFramePr>
          <p:cNvPr id="6" name="Object 5" descr="n greater than or equal to 30.">
            <a:extLst>
              <a:ext uri="{FF2B5EF4-FFF2-40B4-BE49-F238E27FC236}">
                <a16:creationId xmlns:a16="http://schemas.microsoft.com/office/drawing/2014/main" id="{EDA0BD05-A739-473E-AEDC-D6614801AAF2}"/>
              </a:ext>
            </a:extLst>
          </p:cNvPr>
          <p:cNvGraphicFramePr>
            <a:graphicFrameLocks noChangeAspect="1"/>
          </p:cNvGraphicFramePr>
          <p:nvPr/>
        </p:nvGraphicFramePr>
        <p:xfrm>
          <a:off x="929615" y="4077525"/>
          <a:ext cx="990600" cy="317500"/>
        </p:xfrm>
        <a:graphic>
          <a:graphicData uri="http://schemas.openxmlformats.org/presentationml/2006/ole">
            <mc:AlternateContent xmlns:mc="http://schemas.openxmlformats.org/markup-compatibility/2006">
              <mc:Choice xmlns:v="urn:schemas-microsoft-com:vml" Requires="v">
                <p:oleObj name="Equation" r:id="rId2" imgW="990360" imgH="317160" progId="Equation.DSMT4">
                  <p:embed/>
                </p:oleObj>
              </mc:Choice>
              <mc:Fallback>
                <p:oleObj name="Equation" r:id="rId2" imgW="990360" imgH="317160" progId="Equation.DSMT4">
                  <p:embed/>
                  <p:pic>
                    <p:nvPicPr>
                      <p:cNvPr id="6" name="Object 5" descr="n greater than or equal to 30.">
                        <a:extLst>
                          <a:ext uri="{FF2B5EF4-FFF2-40B4-BE49-F238E27FC236}">
                            <a16:creationId xmlns:a16="http://schemas.microsoft.com/office/drawing/2014/main" id="{EDA0BD05-A739-473E-AEDC-D6614801AAF2}"/>
                          </a:ext>
                        </a:extLst>
                      </p:cNvPr>
                      <p:cNvPicPr/>
                      <p:nvPr/>
                    </p:nvPicPr>
                    <p:blipFill>
                      <a:blip r:embed="rId3"/>
                      <a:stretch>
                        <a:fillRect/>
                      </a:stretch>
                    </p:blipFill>
                    <p:spPr>
                      <a:xfrm>
                        <a:off x="929615" y="4077525"/>
                        <a:ext cx="990600" cy="317500"/>
                      </a:xfrm>
                      <a:prstGeom prst="rect">
                        <a:avLst/>
                      </a:prstGeom>
                    </p:spPr>
                  </p:pic>
                </p:oleObj>
              </mc:Fallback>
            </mc:AlternateContent>
          </a:graphicData>
        </a:graphic>
      </p:graphicFrame>
    </p:spTree>
    <p:extLst>
      <p:ext uri="{BB962C8B-B14F-4D97-AF65-F5344CB8AC3E}">
        <p14:creationId xmlns:p14="http://schemas.microsoft.com/office/powerpoint/2010/main" val="19400237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t>t</a:t>
            </a:r>
            <a:r>
              <a:rPr lang="en-US" altLang="en-US" sz="3400" dirty="0"/>
              <a:t>-Test for the Difference Between Means </a:t>
            </a:r>
            <a:r>
              <a:rPr lang="en-US" altLang="en-US" sz="2000" b="0" dirty="0"/>
              <a:t>(4 of 4)</a:t>
            </a:r>
            <a:endParaRPr lang="en-IN" sz="2000" dirty="0"/>
          </a:p>
        </p:txBody>
      </p:sp>
      <p:sp>
        <p:nvSpPr>
          <p:cNvPr id="4" name="Content Placeholder 3"/>
          <p:cNvSpPr>
            <a:spLocks noGrp="1"/>
          </p:cNvSpPr>
          <p:nvPr>
            <p:ph sz="quarter" idx="13"/>
          </p:nvPr>
        </p:nvSpPr>
        <p:spPr>
          <a:xfrm>
            <a:off x="457200" y="1552575"/>
            <a:ext cx="3188525" cy="442480"/>
          </a:xfrm>
        </p:spPr>
        <p:txBody>
          <a:bodyPr/>
          <a:lstStyle/>
          <a:p>
            <a:r>
              <a:rPr lang="en-US" altLang="en-US" dirty="0"/>
              <a:t>The </a:t>
            </a:r>
            <a:r>
              <a:rPr lang="en-US" altLang="en-US" b="1" dirty="0"/>
              <a:t>test statistic</a:t>
            </a:r>
            <a:r>
              <a:rPr lang="en-US" altLang="en-US" dirty="0"/>
              <a:t> is</a:t>
            </a:r>
          </a:p>
        </p:txBody>
      </p:sp>
      <p:graphicFrame>
        <p:nvGraphicFramePr>
          <p:cNvPr id="18" name="Object 17" descr="d bar equals fraction numerator sum of d divided by denominator n end fraction">
            <a:extLst>
              <a:ext uri="{FF2B5EF4-FFF2-40B4-BE49-F238E27FC236}">
                <a16:creationId xmlns:a16="http://schemas.microsoft.com/office/drawing/2014/main" id="{9151EC9A-F6F2-4ABE-A26C-B69C6B860966}"/>
              </a:ext>
            </a:extLst>
          </p:cNvPr>
          <p:cNvGraphicFramePr>
            <a:graphicFrameLocks noChangeAspect="1"/>
          </p:cNvGraphicFramePr>
          <p:nvPr/>
        </p:nvGraphicFramePr>
        <p:xfrm>
          <a:off x="2303184" y="2022445"/>
          <a:ext cx="1193800" cy="838200"/>
        </p:xfrm>
        <a:graphic>
          <a:graphicData uri="http://schemas.openxmlformats.org/presentationml/2006/ole">
            <mc:AlternateContent xmlns:mc="http://schemas.openxmlformats.org/markup-compatibility/2006">
              <mc:Choice xmlns:v="urn:schemas-microsoft-com:vml" Requires="v">
                <p:oleObj name="Equation" r:id="rId2" imgW="1193760" imgH="838080" progId="Equation.DSMT4">
                  <p:embed/>
                </p:oleObj>
              </mc:Choice>
              <mc:Fallback>
                <p:oleObj name="Equation" r:id="rId2" imgW="1193760" imgH="838080" progId="Equation.DSMT4">
                  <p:embed/>
                  <p:pic>
                    <p:nvPicPr>
                      <p:cNvPr id="18" name="Object 17" descr="d bar equals fraction numerator sum of d divided by denominator n end fraction">
                        <a:extLst>
                          <a:ext uri="{FF2B5EF4-FFF2-40B4-BE49-F238E27FC236}">
                            <a16:creationId xmlns:a16="http://schemas.microsoft.com/office/drawing/2014/main" id="{9151EC9A-F6F2-4ABE-A26C-B69C6B860966}"/>
                          </a:ext>
                        </a:extLst>
                      </p:cNvPr>
                      <p:cNvPicPr/>
                      <p:nvPr/>
                    </p:nvPicPr>
                    <p:blipFill>
                      <a:blip r:embed="rId3"/>
                      <a:stretch>
                        <a:fillRect/>
                      </a:stretch>
                    </p:blipFill>
                    <p:spPr>
                      <a:xfrm>
                        <a:off x="2303184" y="2022445"/>
                        <a:ext cx="1193800" cy="838200"/>
                      </a:xfrm>
                      <a:prstGeom prst="rect">
                        <a:avLst/>
                      </a:prstGeom>
                    </p:spPr>
                  </p:pic>
                </p:oleObj>
              </mc:Fallback>
            </mc:AlternateContent>
          </a:graphicData>
        </a:graphic>
      </p:graphicFrame>
      <p:sp>
        <p:nvSpPr>
          <p:cNvPr id="5" name="Content Placeholder 4"/>
          <p:cNvSpPr>
            <a:spLocks noGrp="1"/>
          </p:cNvSpPr>
          <p:nvPr>
            <p:ph sz="quarter" idx="14"/>
          </p:nvPr>
        </p:nvSpPr>
        <p:spPr>
          <a:xfrm>
            <a:off x="457200" y="2980688"/>
            <a:ext cx="5112327" cy="429519"/>
          </a:xfrm>
        </p:spPr>
        <p:txBody>
          <a:bodyPr/>
          <a:lstStyle/>
          <a:p>
            <a:r>
              <a:rPr lang="en-US" altLang="en-US" dirty="0"/>
              <a:t>The </a:t>
            </a:r>
            <a:r>
              <a:rPr lang="en-US" altLang="en-US" b="1" dirty="0"/>
              <a:t>standardized</a:t>
            </a:r>
            <a:r>
              <a:rPr lang="en-US" altLang="en-US" dirty="0"/>
              <a:t> </a:t>
            </a:r>
            <a:r>
              <a:rPr lang="en-US" altLang="en-US" b="1" dirty="0"/>
              <a:t>test</a:t>
            </a:r>
            <a:r>
              <a:rPr lang="en-US" altLang="en-US" dirty="0"/>
              <a:t> </a:t>
            </a:r>
            <a:r>
              <a:rPr lang="en-US" altLang="en-US" b="1" dirty="0"/>
              <a:t>statistic</a:t>
            </a:r>
            <a:r>
              <a:rPr lang="en-US" altLang="en-US" dirty="0"/>
              <a:t> is</a:t>
            </a:r>
          </a:p>
        </p:txBody>
      </p:sp>
      <p:graphicFrame>
        <p:nvGraphicFramePr>
          <p:cNvPr id="19" name="Object 18" descr="t equals fraction numerator d bar minus mu subscript d divided by denominator s subscript d divided by square root of n end root end fraction">
            <a:extLst>
              <a:ext uri="{FF2B5EF4-FFF2-40B4-BE49-F238E27FC236}">
                <a16:creationId xmlns:a16="http://schemas.microsoft.com/office/drawing/2014/main" id="{EB870184-9331-4DF4-8D1C-AC3FE5CE01EC}"/>
              </a:ext>
            </a:extLst>
          </p:cNvPr>
          <p:cNvGraphicFramePr>
            <a:graphicFrameLocks noChangeAspect="1"/>
          </p:cNvGraphicFramePr>
          <p:nvPr/>
        </p:nvGraphicFramePr>
        <p:xfrm>
          <a:off x="2303184" y="3480468"/>
          <a:ext cx="1498600" cy="1003300"/>
        </p:xfrm>
        <a:graphic>
          <a:graphicData uri="http://schemas.openxmlformats.org/presentationml/2006/ole">
            <mc:AlternateContent xmlns:mc="http://schemas.openxmlformats.org/markup-compatibility/2006">
              <mc:Choice xmlns:v="urn:schemas-microsoft-com:vml" Requires="v">
                <p:oleObj name="Equation" r:id="rId4" imgW="1498320" imgH="1002960" progId="Equation.DSMT4">
                  <p:embed/>
                </p:oleObj>
              </mc:Choice>
              <mc:Fallback>
                <p:oleObj name="Equation" r:id="rId4" imgW="1498320" imgH="1002960" progId="Equation.DSMT4">
                  <p:embed/>
                  <p:pic>
                    <p:nvPicPr>
                      <p:cNvPr id="19" name="Object 18" descr="t equals fraction numerator d bar minus mu subscript d divided by denominator s subscript d divided by square root of n end root end fraction">
                        <a:extLst>
                          <a:ext uri="{FF2B5EF4-FFF2-40B4-BE49-F238E27FC236}">
                            <a16:creationId xmlns:a16="http://schemas.microsoft.com/office/drawing/2014/main" id="{EB870184-9331-4DF4-8D1C-AC3FE5CE01EC}"/>
                          </a:ext>
                        </a:extLst>
                      </p:cNvPr>
                      <p:cNvPicPr/>
                      <p:nvPr/>
                    </p:nvPicPr>
                    <p:blipFill>
                      <a:blip r:embed="rId5"/>
                      <a:stretch>
                        <a:fillRect/>
                      </a:stretch>
                    </p:blipFill>
                    <p:spPr>
                      <a:xfrm>
                        <a:off x="2303184" y="3480468"/>
                        <a:ext cx="1498600" cy="1003300"/>
                      </a:xfrm>
                      <a:prstGeom prst="rect">
                        <a:avLst/>
                      </a:prstGeom>
                    </p:spPr>
                  </p:pic>
                </p:oleObj>
              </mc:Fallback>
            </mc:AlternateContent>
          </a:graphicData>
        </a:graphic>
      </p:graphicFrame>
      <p:sp>
        <p:nvSpPr>
          <p:cNvPr id="6" name="Content Placeholder 5"/>
          <p:cNvSpPr>
            <a:spLocks noGrp="1"/>
          </p:cNvSpPr>
          <p:nvPr>
            <p:ph sz="quarter" idx="15"/>
          </p:nvPr>
        </p:nvSpPr>
        <p:spPr>
          <a:xfrm>
            <a:off x="457200" y="4690719"/>
            <a:ext cx="4304805" cy="439387"/>
          </a:xfrm>
        </p:spPr>
        <p:txBody>
          <a:bodyPr/>
          <a:lstStyle/>
          <a:p>
            <a:pPr>
              <a:spcBef>
                <a:spcPct val="5000"/>
              </a:spcBef>
            </a:pPr>
            <a:r>
              <a:rPr lang="en-US" altLang="en-US" dirty="0"/>
              <a:t>The degrees of freedom are</a:t>
            </a:r>
          </a:p>
        </p:txBody>
      </p:sp>
      <p:graphicFrame>
        <p:nvGraphicFramePr>
          <p:cNvPr id="20" name="Object 19" descr="d.f. equals n minus 1">
            <a:extLst>
              <a:ext uri="{FF2B5EF4-FFF2-40B4-BE49-F238E27FC236}">
                <a16:creationId xmlns:a16="http://schemas.microsoft.com/office/drawing/2014/main" id="{EDA0BD05-A739-473E-AEDC-D6614801AAF2}"/>
              </a:ext>
            </a:extLst>
          </p:cNvPr>
          <p:cNvGraphicFramePr>
            <a:graphicFrameLocks noChangeAspect="1"/>
          </p:cNvGraphicFramePr>
          <p:nvPr/>
        </p:nvGraphicFramePr>
        <p:xfrm>
          <a:off x="2303184" y="5397500"/>
          <a:ext cx="1447800" cy="317500"/>
        </p:xfrm>
        <a:graphic>
          <a:graphicData uri="http://schemas.openxmlformats.org/presentationml/2006/ole">
            <mc:AlternateContent xmlns:mc="http://schemas.openxmlformats.org/markup-compatibility/2006">
              <mc:Choice xmlns:v="urn:schemas-microsoft-com:vml" Requires="v">
                <p:oleObj name="Equation" r:id="rId6" imgW="1447560" imgH="317160" progId="Equation.DSMT4">
                  <p:embed/>
                </p:oleObj>
              </mc:Choice>
              <mc:Fallback>
                <p:oleObj name="Equation" r:id="rId6" imgW="1447560" imgH="317160" progId="Equation.DSMT4">
                  <p:embed/>
                  <p:pic>
                    <p:nvPicPr>
                      <p:cNvPr id="20" name="Object 19" descr="d.f. equals n minus 1">
                        <a:extLst>
                          <a:ext uri="{FF2B5EF4-FFF2-40B4-BE49-F238E27FC236}">
                            <a16:creationId xmlns:a16="http://schemas.microsoft.com/office/drawing/2014/main" id="{EDA0BD05-A739-473E-AEDC-D6614801AAF2}"/>
                          </a:ext>
                        </a:extLst>
                      </p:cNvPr>
                      <p:cNvPicPr/>
                      <p:nvPr/>
                    </p:nvPicPr>
                    <p:blipFill>
                      <a:blip r:embed="rId7"/>
                      <a:stretch>
                        <a:fillRect/>
                      </a:stretch>
                    </p:blipFill>
                    <p:spPr>
                      <a:xfrm>
                        <a:off x="2303184" y="5397500"/>
                        <a:ext cx="1447800" cy="317500"/>
                      </a:xfrm>
                      <a:prstGeom prst="rect">
                        <a:avLst/>
                      </a:prstGeom>
                    </p:spPr>
                  </p:pic>
                </p:oleObj>
              </mc:Fallback>
            </mc:AlternateContent>
          </a:graphicData>
        </a:graphic>
      </p:graphicFrame>
    </p:spTree>
    <p:extLst>
      <p:ext uri="{BB962C8B-B14F-4D97-AF65-F5344CB8AC3E}">
        <p14:creationId xmlns:p14="http://schemas.microsoft.com/office/powerpoint/2010/main" val="13323679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t>t</a:t>
            </a:r>
            <a:r>
              <a:rPr lang="en-US" altLang="en-US" sz="3400" dirty="0"/>
              <a:t>-Test for the Difference Between Means (Dependent Samples) </a:t>
            </a:r>
            <a:r>
              <a:rPr lang="en-US" altLang="en-US" sz="2000" b="0" dirty="0"/>
              <a:t>(1 of 3)</a:t>
            </a:r>
            <a:endParaRPr lang="en-IN" sz="2000" b="0" dirty="0"/>
          </a:p>
        </p:txBody>
      </p:sp>
      <p:graphicFrame>
        <p:nvGraphicFramePr>
          <p:cNvPr id="4" name="Content Placeholder 3"/>
          <p:cNvGraphicFramePr>
            <a:graphicFrameLocks noGrp="1"/>
          </p:cNvGraphicFramePr>
          <p:nvPr>
            <p:ph sz="quarter" idx="13"/>
          </p:nvPr>
        </p:nvGraphicFramePr>
        <p:xfrm>
          <a:off x="457200" y="1555750"/>
          <a:ext cx="8229600" cy="4503811"/>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1364763023"/>
                    </a:ext>
                  </a:extLst>
                </a:gridCol>
                <a:gridCol w="4114800">
                  <a:extLst>
                    <a:ext uri="{9D8B030D-6E8A-4147-A177-3AD203B41FA5}">
                      <a16:colId xmlns:a16="http://schemas.microsoft.com/office/drawing/2014/main" val="3700408837"/>
                    </a:ext>
                  </a:extLst>
                </a:gridCol>
              </a:tblGrid>
              <a:tr h="510556">
                <a:tc>
                  <a:txBody>
                    <a:bodyPr/>
                    <a:lstStyle/>
                    <a:p>
                      <a:r>
                        <a:rPr lang="en-US" sz="2200" b="1" noProof="0" dirty="0"/>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dirty="0"/>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796723"/>
                  </a:ext>
                </a:extLst>
              </a:tr>
              <a:tr h="1128135">
                <a:tc>
                  <a:txBody>
                    <a:bodyPr/>
                    <a:lstStyle/>
                    <a:p>
                      <a:r>
                        <a:rPr lang="en-US" sz="2200" noProof="0" dirty="0">
                          <a:solidFill>
                            <a:prstClr val="black"/>
                          </a:solidFill>
                          <a:ea typeface="+mn-ea"/>
                        </a:rPr>
                        <a:t>1. Verify that </a:t>
                      </a:r>
                      <a:r>
                        <a:rPr lang="en-US" sz="2200" noProof="0" dirty="0">
                          <a:solidFill>
                            <a:prstClr val="black"/>
                          </a:solidFill>
                          <a:ea typeface="+mn-ea"/>
                          <a:sym typeface="Symbol"/>
                        </a:rPr>
                        <a:t>the samples are random and dependent, and either the populations are normally </a:t>
                      </a:r>
                      <a:r>
                        <a:rPr lang="en-US" sz="2200" i="0" noProof="0" dirty="0">
                          <a:solidFill>
                            <a:prstClr val="black"/>
                          </a:solidFill>
                          <a:ea typeface="+mn-ea"/>
                          <a:sym typeface="Symbol"/>
                        </a:rPr>
                        <a:t>distributed or </a:t>
                      </a:r>
                      <a:r>
                        <a:rPr lang="en-US" sz="100" i="0" noProof="0" dirty="0">
                          <a:solidFill>
                            <a:prstClr val="black"/>
                          </a:solidFill>
                          <a:ea typeface="+mn-ea"/>
                          <a:sym typeface="Symbol"/>
                        </a:rPr>
                        <a:t>n greater than or equal to 30.</a:t>
                      </a:r>
                      <a:endParaRPr lang="en-US" sz="100" i="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386059"/>
                  </a:ext>
                </a:extLst>
              </a:tr>
              <a:tr h="1128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ea typeface="+mn-ea"/>
                          <a:cs typeface="Arial" charset="0"/>
                        </a:rPr>
                        <a:t>2. State the claim mathematically and verbally.  Identify the null and alternative hypotheses.</a:t>
                      </a:r>
                      <a:endParaRPr lang="en-US" altLang="en-US" sz="2200" noProof="0" dirty="0">
                        <a:ea typeface="+mn-ea"/>
                        <a:cs typeface="Arial" charset="0"/>
                        <a:sym typeface="Symbol"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latin typeface="+mn-lt"/>
                        </a:rPr>
                        <a:t>State </a:t>
                      </a:r>
                      <a:r>
                        <a:rPr lang="en-US" sz="100" noProof="0" dirty="0">
                          <a:latin typeface="+mn-lt"/>
                        </a:rPr>
                        <a:t>H sub 0 and H sub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7847330"/>
                  </a:ext>
                </a:extLst>
              </a:tr>
              <a:tr h="1128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ea typeface="+mn-ea"/>
                          <a:cs typeface="Arial" charset="0"/>
                          <a:sym typeface="Symbol" pitchFamily="18" charset="2"/>
                        </a:rPr>
                        <a:t>3. Specify the level of significance.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noProof="0" dirty="0"/>
                        <a:t>Identify </a:t>
                      </a:r>
                      <a:r>
                        <a:rPr lang="en-US" sz="100" noProof="0" dirty="0"/>
                        <a:t>alpha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2542273"/>
                  </a:ext>
                </a:extLst>
              </a:tr>
            </a:tbl>
          </a:graphicData>
        </a:graphic>
      </p:graphicFrame>
      <p:graphicFrame>
        <p:nvGraphicFramePr>
          <p:cNvPr id="5" name="Object 4">
            <a:extLst>
              <a:ext uri="{FF2B5EF4-FFF2-40B4-BE49-F238E27FC236}">
                <a16:creationId xmlns:a16="http://schemas.microsoft.com/office/drawing/2014/main" id="{76C518EE-98BB-4D3B-962D-4A29C11C4D57}"/>
              </a:ext>
              <a:ext uri="{C183D7F6-B498-43B3-948B-1728B52AA6E4}">
                <adec:decorative xmlns:adec="http://schemas.microsoft.com/office/drawing/2017/decorative" val="1"/>
              </a:ext>
            </a:extLst>
          </p:cNvPr>
          <p:cNvGraphicFramePr>
            <a:graphicFrameLocks noChangeAspect="1"/>
          </p:cNvGraphicFramePr>
          <p:nvPr/>
        </p:nvGraphicFramePr>
        <p:xfrm>
          <a:off x="3380675" y="3144838"/>
          <a:ext cx="900113" cy="287337"/>
        </p:xfrm>
        <a:graphic>
          <a:graphicData uri="http://schemas.openxmlformats.org/presentationml/2006/ole">
            <mc:AlternateContent xmlns:mc="http://schemas.openxmlformats.org/markup-compatibility/2006">
              <mc:Choice xmlns:v="urn:schemas-microsoft-com:vml" Requires="v">
                <p:oleObj name="Equation" r:id="rId2" imgW="990360" imgH="317160" progId="Equation.DSMT4">
                  <p:embed/>
                </p:oleObj>
              </mc:Choice>
              <mc:Fallback>
                <p:oleObj name="Equation" r:id="rId2" imgW="990360" imgH="317160" progId="Equation.DSMT4">
                  <p:embed/>
                  <p:pic>
                    <p:nvPicPr>
                      <p:cNvPr id="5" name="Object 4">
                        <a:extLst>
                          <a:ext uri="{FF2B5EF4-FFF2-40B4-BE49-F238E27FC236}">
                            <a16:creationId xmlns:a16="http://schemas.microsoft.com/office/drawing/2014/main" id="{76C518EE-98BB-4D3B-962D-4A29C11C4D57}"/>
                          </a:ext>
                          <a:ext uri="{C183D7F6-B498-43B3-948B-1728B52AA6E4}">
                            <adec:decorative xmlns:adec="http://schemas.microsoft.com/office/drawing/2017/decorative" val="1"/>
                          </a:ext>
                        </a:extLst>
                      </p:cNvPr>
                      <p:cNvPicPr/>
                      <p:nvPr/>
                    </p:nvPicPr>
                    <p:blipFill>
                      <a:blip r:embed="rId3"/>
                      <a:stretch>
                        <a:fillRect/>
                      </a:stretch>
                    </p:blipFill>
                    <p:spPr>
                      <a:xfrm>
                        <a:off x="3380675" y="3144838"/>
                        <a:ext cx="900113" cy="287337"/>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val="1"/>
              </a:ext>
            </a:extLst>
          </p:cNvPr>
          <p:cNvGraphicFramePr>
            <a:graphicFrameLocks noChangeAspect="1"/>
          </p:cNvGraphicFramePr>
          <p:nvPr/>
        </p:nvGraphicFramePr>
        <p:xfrm>
          <a:off x="5343550" y="3594723"/>
          <a:ext cx="1443182" cy="357909"/>
        </p:xfrm>
        <a:graphic>
          <a:graphicData uri="http://schemas.openxmlformats.org/presentationml/2006/ole">
            <mc:AlternateContent xmlns:mc="http://schemas.openxmlformats.org/markup-compatibility/2006">
              <mc:Choice xmlns:v="urn:schemas-microsoft-com:vml" Requires="v">
                <p:oleObj name="Equation" r:id="rId4" imgW="1587240" imgH="393480" progId="Equation.DSMT4">
                  <p:embed/>
                </p:oleObj>
              </mc:Choice>
              <mc:Fallback>
                <p:oleObj name="Equation" r:id="rId4" imgW="1587240" imgH="393480" progId="Equation.DSMT4">
                  <p:embed/>
                  <p:pic>
                    <p:nvPicPr>
                      <p:cNvPr id="6" name="Object 5">
                        <a:extLst>
                          <a:ext uri="{C183D7F6-B498-43B3-948B-1728B52AA6E4}">
                            <adec:decorative xmlns:adec="http://schemas.microsoft.com/office/drawing/2017/decorative" val="1"/>
                          </a:ext>
                        </a:extLst>
                      </p:cNvPr>
                      <p:cNvPicPr/>
                      <p:nvPr/>
                    </p:nvPicPr>
                    <p:blipFill>
                      <a:blip r:embed="rId5"/>
                      <a:stretch>
                        <a:fillRect/>
                      </a:stretch>
                    </p:blipFill>
                    <p:spPr>
                      <a:xfrm>
                        <a:off x="5343550" y="3594723"/>
                        <a:ext cx="1443182" cy="357909"/>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8B5338C9-E967-4806-B03F-CFF1123D23FE}"/>
              </a:ext>
              <a:ext uri="{C183D7F6-B498-43B3-948B-1728B52AA6E4}">
                <adec:decorative xmlns:adec="http://schemas.microsoft.com/office/drawing/2017/decorative" val="1"/>
              </a:ext>
            </a:extLst>
          </p:cNvPr>
          <p:cNvGraphicFramePr>
            <a:graphicFrameLocks noChangeAspect="1"/>
          </p:cNvGraphicFramePr>
          <p:nvPr/>
        </p:nvGraphicFramePr>
        <p:xfrm>
          <a:off x="5644631" y="5062145"/>
          <a:ext cx="304800" cy="228600"/>
        </p:xfrm>
        <a:graphic>
          <a:graphicData uri="http://schemas.openxmlformats.org/presentationml/2006/ole">
            <mc:AlternateContent xmlns:mc="http://schemas.openxmlformats.org/markup-compatibility/2006">
              <mc:Choice xmlns:v="urn:schemas-microsoft-com:vml" Requires="v">
                <p:oleObj name="Equation" r:id="rId6" imgW="304560" imgH="228600" progId="Equation.DSMT4">
                  <p:embed/>
                </p:oleObj>
              </mc:Choice>
              <mc:Fallback>
                <p:oleObj name="Equation" r:id="rId6" imgW="304560" imgH="228600" progId="Equation.DSMT4">
                  <p:embed/>
                  <p:pic>
                    <p:nvPicPr>
                      <p:cNvPr id="7" name="Object 6">
                        <a:extLst>
                          <a:ext uri="{FF2B5EF4-FFF2-40B4-BE49-F238E27FC236}">
                            <a16:creationId xmlns:a16="http://schemas.microsoft.com/office/drawing/2014/main" id="{8B5338C9-E967-4806-B03F-CFF1123D23FE}"/>
                          </a:ext>
                          <a:ext uri="{C183D7F6-B498-43B3-948B-1728B52AA6E4}">
                            <adec:decorative xmlns:adec="http://schemas.microsoft.com/office/drawing/2017/decorative" val="1"/>
                          </a:ext>
                        </a:extLst>
                      </p:cNvPr>
                      <p:cNvPicPr/>
                      <p:nvPr/>
                    </p:nvPicPr>
                    <p:blipFill>
                      <a:blip r:embed="rId7"/>
                      <a:stretch>
                        <a:fillRect/>
                      </a:stretch>
                    </p:blipFill>
                    <p:spPr>
                      <a:xfrm>
                        <a:off x="5644631" y="5062145"/>
                        <a:ext cx="304800" cy="2286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0646471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t>t</a:t>
            </a:r>
            <a:r>
              <a:rPr lang="en-US" altLang="en-US" sz="3400" dirty="0"/>
              <a:t>-Test for the Difference Between Means (Dependent Samples) </a:t>
            </a:r>
            <a:r>
              <a:rPr lang="en-US" altLang="en-US" sz="2000" b="0" dirty="0"/>
              <a:t>(2 of 3)</a:t>
            </a:r>
            <a:endParaRPr lang="en-IN" sz="2000" b="0" dirty="0"/>
          </a:p>
        </p:txBody>
      </p:sp>
      <p:graphicFrame>
        <p:nvGraphicFramePr>
          <p:cNvPr id="4" name="Content Placeholder 3"/>
          <p:cNvGraphicFramePr>
            <a:graphicFrameLocks noGrp="1"/>
          </p:cNvGraphicFramePr>
          <p:nvPr>
            <p:ph sz="quarter" idx="13"/>
          </p:nvPr>
        </p:nvGraphicFramePr>
        <p:xfrm>
          <a:off x="457200" y="1555750"/>
          <a:ext cx="8229600" cy="4745658"/>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1364763023"/>
                    </a:ext>
                  </a:extLst>
                </a:gridCol>
                <a:gridCol w="4114800">
                  <a:extLst>
                    <a:ext uri="{9D8B030D-6E8A-4147-A177-3AD203B41FA5}">
                      <a16:colId xmlns:a16="http://schemas.microsoft.com/office/drawing/2014/main" val="3700408837"/>
                    </a:ext>
                  </a:extLst>
                </a:gridCol>
              </a:tblGrid>
              <a:tr h="506287">
                <a:tc>
                  <a:txBody>
                    <a:bodyPr/>
                    <a:lstStyle/>
                    <a:p>
                      <a:r>
                        <a:rPr lang="en-US" sz="2200" b="1" noProof="0" dirty="0"/>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dirty="0"/>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796723"/>
                  </a:ext>
                </a:extLst>
              </a:tr>
              <a:tr h="847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sym typeface="Symbol" panose="05050102010706020507" pitchFamily="18" charset="2"/>
                        </a:rPr>
                        <a:t>4. Identify the degrees of freedom.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00" noProof="0" dirty="0"/>
                    </a:p>
                    <a:p>
                      <a:endParaRPr lang="en-US" sz="100" noProof="0" dirty="0"/>
                    </a:p>
                    <a:p>
                      <a:endParaRPr lang="en-US" sz="100" noProof="0" dirty="0"/>
                    </a:p>
                    <a:p>
                      <a:endParaRPr lang="en-US" sz="100" noProof="0" dirty="0"/>
                    </a:p>
                    <a:p>
                      <a:endParaRPr lang="en-US" sz="100" noProof="0" dirty="0"/>
                    </a:p>
                    <a:p>
                      <a:r>
                        <a:rPr lang="en-US" sz="100" noProof="0" dirty="0" err="1"/>
                        <a:t>d.f.</a:t>
                      </a:r>
                      <a:r>
                        <a:rPr lang="en-US" sz="100" noProof="0" dirty="0"/>
                        <a:t> = n minus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386059"/>
                  </a:ext>
                </a:extLst>
              </a:tr>
              <a:tr h="9303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sym typeface="Symbol" panose="05050102010706020507" pitchFamily="18" charset="2"/>
                        </a:rPr>
                        <a:t>5. Determine the critical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t>Use Table 5 in Appendix B.</a:t>
                      </a:r>
                      <a:endParaRPr lang="en-US" altLang="en-US" sz="2400" noProof="0" dirty="0">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7847330"/>
                  </a:ext>
                </a:extLst>
              </a:tr>
              <a:tr h="9891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sym typeface="Symbol" panose="05050102010706020507" pitchFamily="18" charset="2"/>
                        </a:rPr>
                        <a:t>6. Determine the rejection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t>d bar = start fraction summation of d over n end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2542273"/>
                  </a:ext>
                </a:extLst>
              </a:tr>
              <a:tr h="1472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sym typeface="Symbol" panose="05050102010706020507" pitchFamily="18" charset="2"/>
                        </a:rPr>
                        <a:t>7. Calculate </a:t>
                      </a:r>
                      <a:r>
                        <a:rPr lang="en-US" altLang="en-US" sz="100" noProof="0" dirty="0">
                          <a:sym typeface="Symbol" panose="05050102010706020507" pitchFamily="18" charset="2"/>
                        </a:rPr>
                        <a:t>d bar and S sub d.</a:t>
                      </a:r>
                      <a:endParaRPr lang="en-US" altLang="en-US" sz="100" noProof="0" dirty="0">
                        <a:ea typeface="+mn-ea"/>
                        <a:cs typeface="Arial" charset="0"/>
                        <a:sym typeface="Symbol"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t>S sub d = square root of start expression start fraction summation of left parenthesis d minus d bar right parenthesis squared over n minus 1 end fraction end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7677973"/>
                  </a:ext>
                </a:extLst>
              </a:tr>
            </a:tbl>
          </a:graphicData>
        </a:graphic>
      </p:graphicFrame>
      <p:graphicFrame>
        <p:nvGraphicFramePr>
          <p:cNvPr id="8" name="Object 7">
            <a:extLst>
              <a:ext uri="{FF2B5EF4-FFF2-40B4-BE49-F238E27FC236}">
                <a16:creationId xmlns:a16="http://schemas.microsoft.com/office/drawing/2014/main" id="{EA3F6C59-565A-4771-B036-3B0CD96C5D9A}"/>
              </a:ext>
              <a:ext uri="{C183D7F6-B498-43B3-948B-1728B52AA6E4}">
                <adec:decorative xmlns:adec="http://schemas.microsoft.com/office/drawing/2017/decorative" val="1"/>
              </a:ext>
            </a:extLst>
          </p:cNvPr>
          <p:cNvGraphicFramePr>
            <a:graphicFrameLocks noChangeAspect="1"/>
          </p:cNvGraphicFramePr>
          <p:nvPr/>
        </p:nvGraphicFramePr>
        <p:xfrm>
          <a:off x="4661656" y="2110794"/>
          <a:ext cx="1447800" cy="317500"/>
        </p:xfrm>
        <a:graphic>
          <a:graphicData uri="http://schemas.openxmlformats.org/presentationml/2006/ole">
            <mc:AlternateContent xmlns:mc="http://schemas.openxmlformats.org/markup-compatibility/2006">
              <mc:Choice xmlns:v="urn:schemas-microsoft-com:vml" Requires="v">
                <p:oleObj name="Equation" r:id="rId2" imgW="1447560" imgH="317160" progId="Equation.DSMT4">
                  <p:embed/>
                </p:oleObj>
              </mc:Choice>
              <mc:Fallback>
                <p:oleObj name="Equation" r:id="rId2" imgW="1447560" imgH="317160" progId="Equation.DSMT4">
                  <p:embed/>
                  <p:pic>
                    <p:nvPicPr>
                      <p:cNvPr id="8" name="Object 7">
                        <a:extLst>
                          <a:ext uri="{FF2B5EF4-FFF2-40B4-BE49-F238E27FC236}">
                            <a16:creationId xmlns:a16="http://schemas.microsoft.com/office/drawing/2014/main" id="{EA3F6C59-565A-4771-B036-3B0CD96C5D9A}"/>
                          </a:ext>
                          <a:ext uri="{C183D7F6-B498-43B3-948B-1728B52AA6E4}">
                            <adec:decorative xmlns:adec="http://schemas.microsoft.com/office/drawing/2017/decorative" val="1"/>
                          </a:ext>
                        </a:extLst>
                      </p:cNvPr>
                      <p:cNvPicPr/>
                      <p:nvPr/>
                    </p:nvPicPr>
                    <p:blipFill>
                      <a:blip r:embed="rId3"/>
                      <a:stretch>
                        <a:fillRect/>
                      </a:stretch>
                    </p:blipFill>
                    <p:spPr>
                      <a:xfrm>
                        <a:off x="4661656" y="2110794"/>
                        <a:ext cx="1447800" cy="317500"/>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3B631928-BCAF-4EE1-8247-459B531994A1}"/>
              </a:ext>
              <a:ext uri="{C183D7F6-B498-43B3-948B-1728B52AA6E4}">
                <adec:decorative xmlns:adec="http://schemas.microsoft.com/office/drawing/2017/decorative" val="1"/>
              </a:ext>
            </a:extLst>
          </p:cNvPr>
          <p:cNvGraphicFramePr>
            <a:graphicFrameLocks noChangeAspect="1"/>
          </p:cNvGraphicFramePr>
          <p:nvPr/>
        </p:nvGraphicFramePr>
        <p:xfrm>
          <a:off x="4661656" y="3958944"/>
          <a:ext cx="1085273" cy="762000"/>
        </p:xfrm>
        <a:graphic>
          <a:graphicData uri="http://schemas.openxmlformats.org/presentationml/2006/ole">
            <mc:AlternateContent xmlns:mc="http://schemas.openxmlformats.org/markup-compatibility/2006">
              <mc:Choice xmlns:v="urn:schemas-microsoft-com:vml" Requires="v">
                <p:oleObj name="Equation" r:id="rId4" imgW="1193760" imgH="838080" progId="Equation.DSMT4">
                  <p:embed/>
                </p:oleObj>
              </mc:Choice>
              <mc:Fallback>
                <p:oleObj name="Equation" r:id="rId4" imgW="1193760" imgH="838080" progId="Equation.DSMT4">
                  <p:embed/>
                  <p:pic>
                    <p:nvPicPr>
                      <p:cNvPr id="9" name="Object 8">
                        <a:extLst>
                          <a:ext uri="{FF2B5EF4-FFF2-40B4-BE49-F238E27FC236}">
                            <a16:creationId xmlns:a16="http://schemas.microsoft.com/office/drawing/2014/main" id="{3B631928-BCAF-4EE1-8247-459B531994A1}"/>
                          </a:ext>
                          <a:ext uri="{C183D7F6-B498-43B3-948B-1728B52AA6E4}">
                            <adec:decorative xmlns:adec="http://schemas.microsoft.com/office/drawing/2017/decorative" val="1"/>
                          </a:ext>
                        </a:extLst>
                      </p:cNvPr>
                      <p:cNvPicPr/>
                      <p:nvPr/>
                    </p:nvPicPr>
                    <p:blipFill>
                      <a:blip r:embed="rId5"/>
                      <a:stretch>
                        <a:fillRect/>
                      </a:stretch>
                    </p:blipFill>
                    <p:spPr>
                      <a:xfrm>
                        <a:off x="4661656" y="3958944"/>
                        <a:ext cx="1085273" cy="76200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5E31FD5A-81F8-490D-814D-0250E7BEB94F}"/>
              </a:ext>
              <a:ext uri="{C183D7F6-B498-43B3-948B-1728B52AA6E4}">
                <adec:decorative xmlns:adec="http://schemas.microsoft.com/office/drawing/2017/decorative" val="1"/>
              </a:ext>
            </a:extLst>
          </p:cNvPr>
          <p:cNvGraphicFramePr>
            <a:graphicFrameLocks noChangeAspect="1"/>
          </p:cNvGraphicFramePr>
          <p:nvPr/>
        </p:nvGraphicFramePr>
        <p:xfrm>
          <a:off x="2245367" y="4891740"/>
          <a:ext cx="1235364" cy="427182"/>
        </p:xfrm>
        <a:graphic>
          <a:graphicData uri="http://schemas.openxmlformats.org/presentationml/2006/ole">
            <mc:AlternateContent xmlns:mc="http://schemas.openxmlformats.org/markup-compatibility/2006">
              <mc:Choice xmlns:v="urn:schemas-microsoft-com:vml" Requires="v">
                <p:oleObj name="Equation" r:id="rId6" imgW="1358640" imgH="469800" progId="Equation.DSMT4">
                  <p:embed/>
                </p:oleObj>
              </mc:Choice>
              <mc:Fallback>
                <p:oleObj name="Equation" r:id="rId6" imgW="1358640" imgH="469800" progId="Equation.DSMT4">
                  <p:embed/>
                  <p:pic>
                    <p:nvPicPr>
                      <p:cNvPr id="11" name="Object 10">
                        <a:extLst>
                          <a:ext uri="{FF2B5EF4-FFF2-40B4-BE49-F238E27FC236}">
                            <a16:creationId xmlns:a16="http://schemas.microsoft.com/office/drawing/2014/main" id="{5E31FD5A-81F8-490D-814D-0250E7BEB94F}"/>
                          </a:ext>
                          <a:ext uri="{C183D7F6-B498-43B3-948B-1728B52AA6E4}">
                            <adec:decorative xmlns:adec="http://schemas.microsoft.com/office/drawing/2017/decorative" val="1"/>
                          </a:ext>
                        </a:extLst>
                      </p:cNvPr>
                      <p:cNvPicPr/>
                      <p:nvPr/>
                    </p:nvPicPr>
                    <p:blipFill>
                      <a:blip r:embed="rId7"/>
                      <a:stretch>
                        <a:fillRect/>
                      </a:stretch>
                    </p:blipFill>
                    <p:spPr>
                      <a:xfrm>
                        <a:off x="2245367" y="4891740"/>
                        <a:ext cx="1235364" cy="427182"/>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4A5B2C08-2C91-49FC-B9A4-126C2A44DC16}"/>
              </a:ext>
              <a:ext uri="{C183D7F6-B498-43B3-948B-1728B52AA6E4}">
                <adec:decorative xmlns:adec="http://schemas.microsoft.com/office/drawing/2017/decorative" val="1"/>
              </a:ext>
            </a:extLst>
          </p:cNvPr>
          <p:cNvGraphicFramePr>
            <a:graphicFrameLocks noChangeAspect="1"/>
          </p:cNvGraphicFramePr>
          <p:nvPr/>
        </p:nvGraphicFramePr>
        <p:xfrm>
          <a:off x="4661656" y="4976452"/>
          <a:ext cx="2286000" cy="1050636"/>
        </p:xfrm>
        <a:graphic>
          <a:graphicData uri="http://schemas.openxmlformats.org/presentationml/2006/ole">
            <mc:AlternateContent xmlns:mc="http://schemas.openxmlformats.org/markup-compatibility/2006">
              <mc:Choice xmlns:v="urn:schemas-microsoft-com:vml" Requires="v">
                <p:oleObj name="Equation" r:id="rId8" imgW="2514600" imgH="1155600" progId="Equation.DSMT4">
                  <p:embed/>
                </p:oleObj>
              </mc:Choice>
              <mc:Fallback>
                <p:oleObj name="Equation" r:id="rId8" imgW="2514600" imgH="1155600" progId="Equation.DSMT4">
                  <p:embed/>
                  <p:pic>
                    <p:nvPicPr>
                      <p:cNvPr id="10" name="Object 9">
                        <a:extLst>
                          <a:ext uri="{FF2B5EF4-FFF2-40B4-BE49-F238E27FC236}">
                            <a16:creationId xmlns:a16="http://schemas.microsoft.com/office/drawing/2014/main" id="{4A5B2C08-2C91-49FC-B9A4-126C2A44DC16}"/>
                          </a:ext>
                          <a:ext uri="{C183D7F6-B498-43B3-948B-1728B52AA6E4}">
                            <adec:decorative xmlns:adec="http://schemas.microsoft.com/office/drawing/2017/decorative" val="1"/>
                          </a:ext>
                        </a:extLst>
                      </p:cNvPr>
                      <p:cNvPicPr/>
                      <p:nvPr/>
                    </p:nvPicPr>
                    <p:blipFill>
                      <a:blip r:embed="rId9"/>
                      <a:stretch>
                        <a:fillRect/>
                      </a:stretch>
                    </p:blipFill>
                    <p:spPr>
                      <a:xfrm>
                        <a:off x="4661656" y="4976452"/>
                        <a:ext cx="2286000" cy="105063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72566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i="1" dirty="0"/>
              <a:t>t</a:t>
            </a:r>
            <a:r>
              <a:rPr lang="en-US" altLang="en-US" sz="3400" dirty="0"/>
              <a:t>-Test for the Difference Between Means (Dependent Samples) </a:t>
            </a:r>
            <a:r>
              <a:rPr lang="en-US" altLang="en-US" sz="2000" b="0" dirty="0"/>
              <a:t>(3 of 3)</a:t>
            </a:r>
            <a:endParaRPr lang="en-IN" sz="2000" b="0" dirty="0"/>
          </a:p>
        </p:txBody>
      </p:sp>
      <p:graphicFrame>
        <p:nvGraphicFramePr>
          <p:cNvPr id="4" name="Content Placeholder 3"/>
          <p:cNvGraphicFramePr>
            <a:graphicFrameLocks noGrp="1"/>
          </p:cNvGraphicFramePr>
          <p:nvPr>
            <p:ph sz="quarter" idx="13"/>
          </p:nvPr>
        </p:nvGraphicFramePr>
        <p:xfrm>
          <a:off x="457200" y="1555749"/>
          <a:ext cx="8229600" cy="4548167"/>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1364763023"/>
                    </a:ext>
                  </a:extLst>
                </a:gridCol>
                <a:gridCol w="4114800">
                  <a:extLst>
                    <a:ext uri="{9D8B030D-6E8A-4147-A177-3AD203B41FA5}">
                      <a16:colId xmlns:a16="http://schemas.microsoft.com/office/drawing/2014/main" val="3700408837"/>
                    </a:ext>
                  </a:extLst>
                </a:gridCol>
              </a:tblGrid>
              <a:tr h="655308">
                <a:tc>
                  <a:txBody>
                    <a:bodyPr/>
                    <a:lstStyle/>
                    <a:p>
                      <a:r>
                        <a:rPr lang="en-US" sz="2200" b="1" noProof="0" dirty="0">
                          <a:latin typeface="+mn-lt"/>
                        </a:rPr>
                        <a:t>In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dirty="0">
                          <a:latin typeface="+mn-lt"/>
                        </a:rPr>
                        <a:t>In Symbols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0796723"/>
                  </a:ext>
                </a:extLst>
              </a:tr>
              <a:tr h="14083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latin typeface="+mn-lt"/>
                          <a:ea typeface="+mn-ea"/>
                          <a:cs typeface="Arial" charset="0"/>
                          <a:sym typeface="Symbol" pitchFamily="18" charset="2"/>
                        </a:rPr>
                        <a:t>8. Find the standardized test statistic and sketch the sampling distribution.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t = start fraction d bar minus mu sub d over start fraction S sub d over square root of n end fraction end fraction.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386059"/>
                  </a:ext>
                </a:extLst>
              </a:tr>
              <a:tr h="12041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latin typeface="+mn-lt"/>
                          <a:ea typeface="+mn-ea"/>
                          <a:cs typeface="Arial" charset="0"/>
                          <a:sym typeface="Symbol" pitchFamily="18" charset="2"/>
                        </a:rPr>
                        <a:t>9. Make a decision to reject or fail to reject the null hypothesis.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400" noProof="0" dirty="0"/>
                        <a:t>If </a:t>
                      </a:r>
                      <a:r>
                        <a:rPr lang="en-US" altLang="en-US" sz="2400" i="1" noProof="0" dirty="0"/>
                        <a:t>t</a:t>
                      </a:r>
                      <a:r>
                        <a:rPr lang="en-US" altLang="en-US" sz="2400" noProof="0" dirty="0"/>
                        <a:t> is in the rejection region, then reject </a:t>
                      </a:r>
                      <a:r>
                        <a:rPr lang="en-US" altLang="en-US" sz="100" noProof="0" dirty="0"/>
                        <a:t>H sub 0.o</a:t>
                      </a:r>
                      <a:r>
                        <a:rPr lang="en-US" altLang="en-US" sz="2400" noProof="0" dirty="0"/>
                        <a:t>     Otherwise, fail to reject </a:t>
                      </a:r>
                      <a:r>
                        <a:rPr lang="en-US" altLang="en-US" sz="100" noProof="0" dirty="0"/>
                        <a:t>H sub 0.</a:t>
                      </a:r>
                      <a:endParaRPr lang="en-US" altLang="en-US" sz="100" noProof="0" dirty="0">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7847330"/>
                  </a:ext>
                </a:extLst>
              </a:tr>
              <a:tr h="12803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latin typeface="+mn-lt"/>
                          <a:ea typeface="+mn-ea"/>
                          <a:cs typeface="Arial" charset="0"/>
                          <a:sym typeface="Symbol" pitchFamily="18" charset="2"/>
                        </a:rPr>
                        <a:t>10. Interpret the decision in the context of the original claim.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2542273"/>
                  </a:ext>
                </a:extLst>
              </a:tr>
            </a:tbl>
          </a:graphicData>
        </a:graphic>
      </p:graphicFrame>
      <p:graphicFrame>
        <p:nvGraphicFramePr>
          <p:cNvPr id="12" name="Object 11">
            <a:extLst>
              <a:ext uri="{FF2B5EF4-FFF2-40B4-BE49-F238E27FC236}">
                <a16:creationId xmlns:a16="http://schemas.microsoft.com/office/drawing/2014/main" id="{D6630767-4208-4815-A236-8CDC989FD77D}"/>
              </a:ext>
              <a:ext uri="{C183D7F6-B498-43B3-948B-1728B52AA6E4}">
                <adec:decorative xmlns:adec="http://schemas.microsoft.com/office/drawing/2017/decorative" val="1"/>
              </a:ext>
            </a:extLst>
          </p:cNvPr>
          <p:cNvGraphicFramePr>
            <a:graphicFrameLocks noChangeAspect="1"/>
          </p:cNvGraphicFramePr>
          <p:nvPr/>
        </p:nvGraphicFramePr>
        <p:xfrm>
          <a:off x="4626696" y="2405503"/>
          <a:ext cx="1498600" cy="1003300"/>
        </p:xfrm>
        <a:graphic>
          <a:graphicData uri="http://schemas.openxmlformats.org/presentationml/2006/ole">
            <mc:AlternateContent xmlns:mc="http://schemas.openxmlformats.org/markup-compatibility/2006">
              <mc:Choice xmlns:v="urn:schemas-microsoft-com:vml" Requires="v">
                <p:oleObj name="Equation" r:id="rId2" imgW="1498320" imgH="1002960" progId="Equation.DSMT4">
                  <p:embed/>
                </p:oleObj>
              </mc:Choice>
              <mc:Fallback>
                <p:oleObj name="Equation" r:id="rId2" imgW="1498320" imgH="1002960" progId="Equation.DSMT4">
                  <p:embed/>
                  <p:pic>
                    <p:nvPicPr>
                      <p:cNvPr id="12" name="Object 11">
                        <a:extLst>
                          <a:ext uri="{FF2B5EF4-FFF2-40B4-BE49-F238E27FC236}">
                            <a16:creationId xmlns:a16="http://schemas.microsoft.com/office/drawing/2014/main" id="{D6630767-4208-4815-A236-8CDC989FD77D}"/>
                          </a:ext>
                          <a:ext uri="{C183D7F6-B498-43B3-948B-1728B52AA6E4}">
                            <adec:decorative xmlns:adec="http://schemas.microsoft.com/office/drawing/2017/decorative" val="1"/>
                          </a:ext>
                        </a:extLst>
                      </p:cNvPr>
                      <p:cNvPicPr/>
                      <p:nvPr/>
                    </p:nvPicPr>
                    <p:blipFill>
                      <a:blip r:embed="rId3"/>
                      <a:stretch>
                        <a:fillRect/>
                      </a:stretch>
                    </p:blipFill>
                    <p:spPr>
                      <a:xfrm>
                        <a:off x="4626696" y="2405503"/>
                        <a:ext cx="1498600" cy="1003300"/>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GraphicFramePr>
            <a:graphicFrameLocks noChangeAspect="1"/>
          </p:cNvGraphicFramePr>
          <p:nvPr/>
        </p:nvGraphicFramePr>
        <p:xfrm>
          <a:off x="6178636" y="4083492"/>
          <a:ext cx="430331" cy="356859"/>
        </p:xfrm>
        <a:graphic>
          <a:graphicData uri="http://schemas.openxmlformats.org/presentationml/2006/ole">
            <mc:AlternateContent xmlns:mc="http://schemas.openxmlformats.org/markup-compatibility/2006">
              <mc:Choice xmlns:v="urn:schemas-microsoft-com:vml" Requires="v">
                <p:oleObj name="Equation" r:id="rId4" imgW="520560" imgH="431640" progId="Equation.DSMT4">
                  <p:embed/>
                </p:oleObj>
              </mc:Choice>
              <mc:Fallback>
                <p:oleObj name="Equation" r:id="rId4" imgW="520560" imgH="431640" progId="Equation.DSMT4">
                  <p:embed/>
                  <p:pic>
                    <p:nvPicPr>
                      <p:cNvPr id="13" name="Object 12">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PicPr/>
                      <p:nvPr/>
                    </p:nvPicPr>
                    <p:blipFill>
                      <a:blip r:embed="rId5"/>
                      <a:stretch>
                        <a:fillRect/>
                      </a:stretch>
                    </p:blipFill>
                    <p:spPr>
                      <a:xfrm>
                        <a:off x="6178636" y="4083492"/>
                        <a:ext cx="430331" cy="356859"/>
                      </a:xfrm>
                      <a:prstGeom prst="rect">
                        <a:avLst/>
                      </a:prstGeom>
                      <a:solidFill>
                        <a:schemeClr val="bg1"/>
                      </a:solidFill>
                    </p:spPr>
                  </p:pic>
                </p:oleObj>
              </mc:Fallback>
            </mc:AlternateContent>
          </a:graphicData>
        </a:graphic>
      </p:graphicFrame>
      <p:graphicFrame>
        <p:nvGraphicFramePr>
          <p:cNvPr id="14" name="Object 13">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GraphicFramePr>
            <a:graphicFrameLocks noChangeAspect="1"/>
          </p:cNvGraphicFramePr>
          <p:nvPr/>
        </p:nvGraphicFramePr>
        <p:xfrm>
          <a:off x="5826980" y="4432731"/>
          <a:ext cx="430331" cy="356859"/>
        </p:xfrm>
        <a:graphic>
          <a:graphicData uri="http://schemas.openxmlformats.org/presentationml/2006/ole">
            <mc:AlternateContent xmlns:mc="http://schemas.openxmlformats.org/markup-compatibility/2006">
              <mc:Choice xmlns:v="urn:schemas-microsoft-com:vml" Requires="v">
                <p:oleObj name="Equation" r:id="rId6" imgW="520560" imgH="431640" progId="Equation.DSMT4">
                  <p:embed/>
                </p:oleObj>
              </mc:Choice>
              <mc:Fallback>
                <p:oleObj name="Equation" r:id="rId6" imgW="520560" imgH="431640" progId="Equation.DSMT4">
                  <p:embed/>
                  <p:pic>
                    <p:nvPicPr>
                      <p:cNvPr id="14" name="Object 13">
                        <a:extLst>
                          <a:ext uri="{FF2B5EF4-FFF2-40B4-BE49-F238E27FC236}">
                            <a16:creationId xmlns:a16="http://schemas.microsoft.com/office/drawing/2014/main" id="{EC67A767-71B3-4970-B3E2-A16A5B5C078A}"/>
                          </a:ext>
                          <a:ext uri="{C183D7F6-B498-43B3-948B-1728B52AA6E4}">
                            <adec:decorative xmlns:adec="http://schemas.microsoft.com/office/drawing/2017/decorative" val="1"/>
                          </a:ext>
                        </a:extLst>
                      </p:cNvPr>
                      <p:cNvPicPr/>
                      <p:nvPr/>
                    </p:nvPicPr>
                    <p:blipFill>
                      <a:blip r:embed="rId7"/>
                      <a:stretch>
                        <a:fillRect/>
                      </a:stretch>
                    </p:blipFill>
                    <p:spPr>
                      <a:xfrm>
                        <a:off x="5826980" y="4432731"/>
                        <a:ext cx="430331" cy="356859"/>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4427095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a:t>
            </a:r>
            <a:r>
              <a:rPr lang="en-US" sz="3400" i="1" dirty="0"/>
              <a:t>t</a:t>
            </a:r>
            <a:r>
              <a:rPr lang="en-US" sz="3400" dirty="0"/>
              <a:t>-Test for the Difference Between Means </a:t>
            </a:r>
            <a:r>
              <a:rPr lang="en-US" sz="2000" b="0" dirty="0"/>
              <a:t>(1 of 3)</a:t>
            </a:r>
          </a:p>
        </p:txBody>
      </p:sp>
      <p:sp>
        <p:nvSpPr>
          <p:cNvPr id="24" name="Content Placeholder 23"/>
          <p:cNvSpPr>
            <a:spLocks noGrp="1"/>
          </p:cNvSpPr>
          <p:nvPr>
            <p:ph sz="quarter" idx="13"/>
          </p:nvPr>
        </p:nvSpPr>
        <p:spPr>
          <a:xfrm>
            <a:off x="457200" y="1552575"/>
            <a:ext cx="8294914" cy="1024370"/>
          </a:xfrm>
        </p:spPr>
        <p:txBody>
          <a:bodyPr/>
          <a:lstStyle/>
          <a:p>
            <a:pPr marL="432" indent="0">
              <a:buNone/>
            </a:pPr>
            <a:r>
              <a:rPr lang="en-US" altLang="en-US" sz="1600" dirty="0"/>
              <a:t>A golf instruction and club fitting company claims that people who play golf can improve (decrease) their average golf scores by taking lessons from one of their coaches. The average golf scores of eight randomly selected people who play golf are determined before and after taking lessons from one of the company’s coaches. The results are shown in the</a:t>
            </a:r>
            <a:endParaRPr lang="en-US" sz="1600" dirty="0"/>
          </a:p>
        </p:txBody>
      </p:sp>
      <p:sp>
        <p:nvSpPr>
          <p:cNvPr id="25" name="Content Placeholder 24"/>
          <p:cNvSpPr>
            <a:spLocks noGrp="1"/>
          </p:cNvSpPr>
          <p:nvPr>
            <p:ph sz="quarter" idx="14"/>
          </p:nvPr>
        </p:nvSpPr>
        <p:spPr>
          <a:xfrm>
            <a:off x="457201" y="2626921"/>
            <a:ext cx="866774" cy="278204"/>
          </a:xfrm>
        </p:spPr>
        <p:txBody>
          <a:bodyPr/>
          <a:lstStyle/>
          <a:p>
            <a:pPr marL="432" indent="0">
              <a:buNone/>
            </a:pPr>
            <a:r>
              <a:rPr lang="en-US" altLang="en-US" sz="1600" dirty="0"/>
              <a:t>table. At</a:t>
            </a:r>
            <a:endParaRPr lang="en-US" sz="1600" dirty="0"/>
          </a:p>
        </p:txBody>
      </p:sp>
      <p:graphicFrame>
        <p:nvGraphicFramePr>
          <p:cNvPr id="38" name="Object 37" descr="alpha equals 0.10">
            <a:extLst>
              <a:ext uri="{FF2B5EF4-FFF2-40B4-BE49-F238E27FC236}">
                <a16:creationId xmlns:a16="http://schemas.microsoft.com/office/drawing/2014/main" id="{E9B5CF38-EB16-44C4-8331-81863C8528F9}"/>
              </a:ext>
            </a:extLst>
          </p:cNvPr>
          <p:cNvGraphicFramePr>
            <a:graphicFrameLocks noChangeAspect="1"/>
          </p:cNvGraphicFramePr>
          <p:nvPr/>
        </p:nvGraphicFramePr>
        <p:xfrm>
          <a:off x="1371600" y="2651680"/>
          <a:ext cx="827998" cy="228685"/>
        </p:xfrm>
        <a:graphic>
          <a:graphicData uri="http://schemas.openxmlformats.org/presentationml/2006/ole">
            <mc:AlternateContent xmlns:mc="http://schemas.openxmlformats.org/markup-compatibility/2006">
              <mc:Choice xmlns:v="urn:schemas-microsoft-com:vml" Requires="v">
                <p:oleObj name="Equation" r:id="rId2" imgW="1333440" imgH="368280" progId="Equation.DSMT4">
                  <p:embed/>
                </p:oleObj>
              </mc:Choice>
              <mc:Fallback>
                <p:oleObj name="Equation" r:id="rId2" imgW="1333440" imgH="368280" progId="Equation.DSMT4">
                  <p:embed/>
                  <p:pic>
                    <p:nvPicPr>
                      <p:cNvPr id="38" name="Object 37" descr="alpha equals 0.10">
                        <a:extLst>
                          <a:ext uri="{FF2B5EF4-FFF2-40B4-BE49-F238E27FC236}">
                            <a16:creationId xmlns:a16="http://schemas.microsoft.com/office/drawing/2014/main" id="{E9B5CF38-EB16-44C4-8331-81863C8528F9}"/>
                          </a:ext>
                        </a:extLst>
                      </p:cNvPr>
                      <p:cNvPicPr/>
                      <p:nvPr/>
                    </p:nvPicPr>
                    <p:blipFill>
                      <a:blip r:embed="rId3"/>
                      <a:stretch>
                        <a:fillRect/>
                      </a:stretch>
                    </p:blipFill>
                    <p:spPr>
                      <a:xfrm>
                        <a:off x="1371600" y="2651680"/>
                        <a:ext cx="827998" cy="228685"/>
                      </a:xfrm>
                      <a:prstGeom prst="rect">
                        <a:avLst/>
                      </a:prstGeom>
                    </p:spPr>
                  </p:pic>
                </p:oleObj>
              </mc:Fallback>
            </mc:AlternateContent>
          </a:graphicData>
        </a:graphic>
      </p:graphicFrame>
      <p:sp>
        <p:nvSpPr>
          <p:cNvPr id="26" name="Content Placeholder 25"/>
          <p:cNvSpPr>
            <a:spLocks noGrp="1"/>
          </p:cNvSpPr>
          <p:nvPr>
            <p:ph sz="quarter" idx="15"/>
          </p:nvPr>
        </p:nvSpPr>
        <p:spPr>
          <a:xfrm>
            <a:off x="2274933" y="2626922"/>
            <a:ext cx="5334678" cy="278203"/>
          </a:xfrm>
        </p:spPr>
        <p:txBody>
          <a:bodyPr/>
          <a:lstStyle/>
          <a:p>
            <a:pPr marL="432" indent="0">
              <a:buNone/>
            </a:pPr>
            <a:r>
              <a:rPr lang="en-US" altLang="en-US" sz="1600" dirty="0"/>
              <a:t>is there enough evidence to support the company’s claim?</a:t>
            </a:r>
            <a:endParaRPr lang="en-US" sz="1600" dirty="0"/>
          </a:p>
        </p:txBody>
      </p:sp>
      <p:sp>
        <p:nvSpPr>
          <p:cNvPr id="27" name="Content Placeholder 26"/>
          <p:cNvSpPr>
            <a:spLocks noGrp="1"/>
          </p:cNvSpPr>
          <p:nvPr>
            <p:ph sz="quarter" idx="16"/>
          </p:nvPr>
        </p:nvSpPr>
        <p:spPr>
          <a:xfrm>
            <a:off x="457200" y="2951285"/>
            <a:ext cx="5400675" cy="277690"/>
          </a:xfrm>
        </p:spPr>
        <p:txBody>
          <a:bodyPr/>
          <a:lstStyle/>
          <a:p>
            <a:pPr marL="432" indent="0">
              <a:buNone/>
            </a:pPr>
            <a:r>
              <a:rPr lang="en-US" altLang="en-US" sz="1600" dirty="0"/>
              <a:t>Assuming the average golf scores are normally distributed</a:t>
            </a:r>
            <a:endParaRPr lang="en-US" sz="1600" dirty="0"/>
          </a:p>
        </p:txBody>
      </p:sp>
      <p:graphicFrame>
        <p:nvGraphicFramePr>
          <p:cNvPr id="39" name="Content Placeholder 38"/>
          <p:cNvGraphicFramePr>
            <a:graphicFrameLocks noGrp="1"/>
          </p:cNvGraphicFramePr>
          <p:nvPr>
            <p:ph sz="quarter" idx="26"/>
          </p:nvPr>
        </p:nvGraphicFramePr>
        <p:xfrm>
          <a:off x="431796" y="3514725"/>
          <a:ext cx="7916557" cy="1529128"/>
        </p:xfrm>
        <a:graphic>
          <a:graphicData uri="http://schemas.openxmlformats.org/drawingml/2006/table">
            <a:tbl>
              <a:tblPr firstCol="1" bandRow="1">
                <a:tableStyleId>{2D5ABB26-0587-4C30-8999-92F81FD0307C}</a:tableStyleId>
              </a:tblPr>
              <a:tblGrid>
                <a:gridCol w="2347030">
                  <a:extLst>
                    <a:ext uri="{9D8B030D-6E8A-4147-A177-3AD203B41FA5}">
                      <a16:colId xmlns:a16="http://schemas.microsoft.com/office/drawing/2014/main" val="585374789"/>
                    </a:ext>
                  </a:extLst>
                </a:gridCol>
                <a:gridCol w="546265">
                  <a:extLst>
                    <a:ext uri="{9D8B030D-6E8A-4147-A177-3AD203B41FA5}">
                      <a16:colId xmlns:a16="http://schemas.microsoft.com/office/drawing/2014/main" val="3237393686"/>
                    </a:ext>
                  </a:extLst>
                </a:gridCol>
                <a:gridCol w="641267">
                  <a:extLst>
                    <a:ext uri="{9D8B030D-6E8A-4147-A177-3AD203B41FA5}">
                      <a16:colId xmlns:a16="http://schemas.microsoft.com/office/drawing/2014/main" val="1517540858"/>
                    </a:ext>
                  </a:extLst>
                </a:gridCol>
                <a:gridCol w="760021">
                  <a:extLst>
                    <a:ext uri="{9D8B030D-6E8A-4147-A177-3AD203B41FA5}">
                      <a16:colId xmlns:a16="http://schemas.microsoft.com/office/drawing/2014/main" val="1330107209"/>
                    </a:ext>
                  </a:extLst>
                </a:gridCol>
                <a:gridCol w="605642">
                  <a:extLst>
                    <a:ext uri="{9D8B030D-6E8A-4147-A177-3AD203B41FA5}">
                      <a16:colId xmlns:a16="http://schemas.microsoft.com/office/drawing/2014/main" val="2024256494"/>
                    </a:ext>
                  </a:extLst>
                </a:gridCol>
                <a:gridCol w="733739">
                  <a:extLst>
                    <a:ext uri="{9D8B030D-6E8A-4147-A177-3AD203B41FA5}">
                      <a16:colId xmlns:a16="http://schemas.microsoft.com/office/drawing/2014/main" val="3151056286"/>
                    </a:ext>
                  </a:extLst>
                </a:gridCol>
                <a:gridCol w="750676">
                  <a:extLst>
                    <a:ext uri="{9D8B030D-6E8A-4147-A177-3AD203B41FA5}">
                      <a16:colId xmlns:a16="http://schemas.microsoft.com/office/drawing/2014/main" val="1405405484"/>
                    </a:ext>
                  </a:extLst>
                </a:gridCol>
                <a:gridCol w="783772">
                  <a:extLst>
                    <a:ext uri="{9D8B030D-6E8A-4147-A177-3AD203B41FA5}">
                      <a16:colId xmlns:a16="http://schemas.microsoft.com/office/drawing/2014/main" val="982892764"/>
                    </a:ext>
                  </a:extLst>
                </a:gridCol>
                <a:gridCol w="748145">
                  <a:extLst>
                    <a:ext uri="{9D8B030D-6E8A-4147-A177-3AD203B41FA5}">
                      <a16:colId xmlns:a16="http://schemas.microsoft.com/office/drawing/2014/main" val="1244062296"/>
                    </a:ext>
                  </a:extLst>
                </a:gridCol>
              </a:tblGrid>
              <a:tr h="370840">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1" i="0" u="none" strike="noStrike" cap="none" normalizeH="0" baseline="0" dirty="0">
                          <a:ln>
                            <a:noFill/>
                          </a:ln>
                          <a:solidFill>
                            <a:schemeClr val="tx1"/>
                          </a:solidFill>
                          <a:effectLst/>
                          <a:latin typeface="+mn-lt"/>
                          <a:cs typeface="Arial" pitchFamily="34" charset="0"/>
                        </a:rPr>
                        <a:t>Person</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1</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2</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3</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4</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5</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6</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7</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8</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4885813"/>
                  </a:ext>
                </a:extLst>
              </a:tr>
              <a:tr h="370840">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1" i="0" u="none" strike="noStrike" cap="none" normalizeH="0" baseline="0" dirty="0">
                          <a:ln>
                            <a:noFill/>
                          </a:ln>
                          <a:solidFill>
                            <a:schemeClr val="tx1"/>
                          </a:solidFill>
                          <a:effectLst/>
                          <a:latin typeface="+mn-lt"/>
                          <a:cs typeface="Arial" pitchFamily="34" charset="0"/>
                        </a:rPr>
                        <a:t>Average golf score (before lessons)</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96</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95</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95</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99</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87</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104</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105</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94</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1754084"/>
                  </a:ext>
                </a:extLst>
              </a:tr>
              <a:tr h="370840">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1" i="0" u="none" strike="noStrike" cap="none" normalizeH="0" baseline="0" dirty="0">
                          <a:ln>
                            <a:noFill/>
                          </a:ln>
                          <a:solidFill>
                            <a:schemeClr val="tx1"/>
                          </a:solidFill>
                          <a:effectLst/>
                          <a:latin typeface="+mn-lt"/>
                          <a:cs typeface="Arial" pitchFamily="34" charset="0"/>
                        </a:rPr>
                        <a:t>Average golf score (after lessons)</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89</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90</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95</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94</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91</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100</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103</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1pPr>
                      <a:lvl2pPr marL="742950" indent="-285750" eaLnBrk="0" hangingPunct="0">
                        <a:spcBef>
                          <a:spcPct val="20000"/>
                        </a:spcBef>
                        <a:buClr>
                          <a:schemeClr val="accent1"/>
                        </a:buClr>
                        <a:buFont typeface="Wingdings" pitchFamily="2" charset="2"/>
                        <a:defRPr sz="2400">
                          <a:solidFill>
                            <a:schemeClr val="tx1"/>
                          </a:solidFill>
                          <a:latin typeface="Times New Roman" pitchFamily="18" charset="0"/>
                          <a:cs typeface="Times New Roman" pitchFamily="18" charset="0"/>
                        </a:defRPr>
                      </a:lvl2pPr>
                      <a:lvl3pPr marL="11430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3pPr>
                      <a:lvl4pPr marL="16002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4pPr>
                      <a:lvl5pPr marL="2057400" indent="-228600" eaLnBrk="0" hangingPunct="0">
                        <a:spcBef>
                          <a:spcPct val="20000"/>
                        </a:spcBef>
                        <a:buClr>
                          <a:schemeClr val="accent1"/>
                        </a:buClr>
                        <a:buFont typeface="Arial" pitchFamily="34" charset="0"/>
                        <a:defRPr sz="2400">
                          <a:solidFill>
                            <a:schemeClr val="tx1"/>
                          </a:solidFill>
                          <a:latin typeface="Times New Roman" pitchFamily="18" charset="0"/>
                          <a:cs typeface="Times New Roman" pitchFamily="18" charset="0"/>
                        </a:defRPr>
                      </a:lvl5pPr>
                      <a:lvl6pPr marL="25146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6pPr>
                      <a:lvl7pPr marL="29718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7pPr>
                      <a:lvl8pPr marL="34290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8pPr>
                      <a:lvl9pPr marL="3886200" indent="-228600" eaLnBrk="0" fontAlgn="base" hangingPunct="0">
                        <a:spcBef>
                          <a:spcPct val="20000"/>
                        </a:spcBef>
                        <a:spcAft>
                          <a:spcPct val="0"/>
                        </a:spcAft>
                        <a:buClr>
                          <a:schemeClr val="accent1"/>
                        </a:buClr>
                        <a:buFont typeface="Arial" pitchFamily="34" charset="0"/>
                        <a:defRPr sz="2400">
                          <a:solidFill>
                            <a:schemeClr val="tx1"/>
                          </a:solidFill>
                          <a:latin typeface="Times New Roman" pitchFamily="18" charset="0"/>
                          <a:cs typeface="Times New Roman" pitchFamily="18"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0" lang="en-US" altLang="en-US" sz="1600" b="0" i="0" u="none" strike="noStrike" cap="none" normalizeH="0" baseline="0" dirty="0">
                          <a:ln>
                            <a:noFill/>
                          </a:ln>
                          <a:solidFill>
                            <a:schemeClr val="tx1"/>
                          </a:solidFill>
                          <a:effectLst/>
                          <a:latin typeface="+mn-lt"/>
                          <a:cs typeface="Arial" pitchFamily="34" charset="0"/>
                        </a:rPr>
                        <a:t>100</a:t>
                      </a:r>
                    </a:p>
                  </a:txBody>
                  <a:tcPr marL="139092" marR="139092"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3957761"/>
                  </a:ext>
                </a:extLst>
              </a:tr>
            </a:tbl>
          </a:graphicData>
        </a:graphic>
      </p:graphicFrame>
    </p:spTree>
    <p:extLst>
      <p:ext uri="{BB962C8B-B14F-4D97-AF65-F5344CB8AC3E}">
        <p14:creationId xmlns:p14="http://schemas.microsoft.com/office/powerpoint/2010/main" val="33794870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(1 of 5)</a:t>
            </a:r>
          </a:p>
        </p:txBody>
      </p:sp>
      <p:sp>
        <p:nvSpPr>
          <p:cNvPr id="4" name="Content Placeholder 3"/>
          <p:cNvSpPr>
            <a:spLocks noGrp="1"/>
          </p:cNvSpPr>
          <p:nvPr>
            <p:ph sz="quarter" idx="13"/>
          </p:nvPr>
        </p:nvSpPr>
        <p:spPr>
          <a:xfrm>
            <a:off x="457200" y="1552574"/>
            <a:ext cx="8229600" cy="2960049"/>
          </a:xfrm>
        </p:spPr>
        <p:txBody>
          <a:bodyPr/>
          <a:lstStyle/>
          <a:p>
            <a:pPr marL="0" indent="0">
              <a:buNone/>
            </a:pPr>
            <a:r>
              <a:rPr lang="en-US" sz="2200" b="1" dirty="0">
                <a:solidFill>
                  <a:schemeClr val="tx1"/>
                </a:solidFill>
              </a:rPr>
              <a:t>Solution:</a:t>
            </a:r>
          </a:p>
          <a:p>
            <a:pPr marL="0" indent="0">
              <a:buNone/>
            </a:pPr>
            <a:r>
              <a:rPr lang="en-US" sz="2200" dirty="0">
                <a:solidFill>
                  <a:schemeClr val="tx1"/>
                </a:solidFill>
              </a:rPr>
              <a:t>Because the samples are random and dependent, and the populations are normally distributed, you can use the </a:t>
            </a:r>
            <a:r>
              <a:rPr lang="en-US" sz="2200" i="1" dirty="0">
                <a:solidFill>
                  <a:schemeClr val="tx1"/>
                </a:solidFill>
              </a:rPr>
              <a:t>t</a:t>
            </a:r>
            <a:r>
              <a:rPr lang="en-US" sz="2200" dirty="0">
                <a:solidFill>
                  <a:schemeClr val="tx1"/>
                </a:solidFill>
              </a:rPr>
              <a:t>-test. The claim is that “people who play golf can improve (decrease) their average golf scores.” In other words, the company claims that a person’s average golf score before taking the lessons will be greater than the person’s average golf score after taking the lessons. Each difference is given by</a:t>
            </a:r>
          </a:p>
        </p:txBody>
      </p:sp>
      <p:graphicFrame>
        <p:nvGraphicFramePr>
          <p:cNvPr id="18" name="Object 17" descr="d = score before lessons minus score after lessons.">
            <a:extLst>
              <a:ext uri="{FF2B5EF4-FFF2-40B4-BE49-F238E27FC236}">
                <a16:creationId xmlns:a16="http://schemas.microsoft.com/office/drawing/2014/main" id="{4BE14F8C-53B4-48B2-A403-FD5C51A66465}"/>
              </a:ext>
            </a:extLst>
          </p:cNvPr>
          <p:cNvGraphicFramePr>
            <a:graphicFrameLocks noChangeAspect="1"/>
          </p:cNvGraphicFramePr>
          <p:nvPr/>
        </p:nvGraphicFramePr>
        <p:xfrm>
          <a:off x="1539132" y="4684924"/>
          <a:ext cx="6065736" cy="442667"/>
        </p:xfrm>
        <a:graphic>
          <a:graphicData uri="http://schemas.openxmlformats.org/presentationml/2006/ole">
            <mc:AlternateContent xmlns:mc="http://schemas.openxmlformats.org/markup-compatibility/2006">
              <mc:Choice xmlns:v="urn:schemas-microsoft-com:vml" Requires="v">
                <p:oleObj name="Equation" r:id="rId2" imgW="6438600" imgH="469800" progId="Equation.DSMT4">
                  <p:embed/>
                </p:oleObj>
              </mc:Choice>
              <mc:Fallback>
                <p:oleObj name="Equation" r:id="rId2" imgW="6438600" imgH="469800" progId="Equation.DSMT4">
                  <p:embed/>
                  <p:pic>
                    <p:nvPicPr>
                      <p:cNvPr id="18" name="Object 17" descr="d = score before lessons minus score after lessons.">
                        <a:extLst>
                          <a:ext uri="{FF2B5EF4-FFF2-40B4-BE49-F238E27FC236}">
                            <a16:creationId xmlns:a16="http://schemas.microsoft.com/office/drawing/2014/main" id="{4BE14F8C-53B4-48B2-A403-FD5C51A66465}"/>
                          </a:ext>
                        </a:extLst>
                      </p:cNvPr>
                      <p:cNvPicPr/>
                      <p:nvPr/>
                    </p:nvPicPr>
                    <p:blipFill>
                      <a:blip r:embed="rId3"/>
                      <a:stretch>
                        <a:fillRect/>
                      </a:stretch>
                    </p:blipFill>
                    <p:spPr>
                      <a:xfrm>
                        <a:off x="1539132" y="4684924"/>
                        <a:ext cx="6065736" cy="442667"/>
                      </a:xfrm>
                      <a:prstGeom prst="rect">
                        <a:avLst/>
                      </a:prstGeom>
                    </p:spPr>
                  </p:pic>
                </p:oleObj>
              </mc:Fallback>
            </mc:AlternateContent>
          </a:graphicData>
        </a:graphic>
      </p:graphicFrame>
      <p:sp>
        <p:nvSpPr>
          <p:cNvPr id="5" name="Content Placeholder 4"/>
          <p:cNvSpPr>
            <a:spLocks noGrp="1"/>
          </p:cNvSpPr>
          <p:nvPr>
            <p:ph sz="quarter" idx="14"/>
          </p:nvPr>
        </p:nvSpPr>
        <p:spPr>
          <a:xfrm>
            <a:off x="457200" y="5300103"/>
            <a:ext cx="5159829" cy="402522"/>
          </a:xfrm>
        </p:spPr>
        <p:txBody>
          <a:bodyPr/>
          <a:lstStyle/>
          <a:p>
            <a:pPr marL="0" indent="0">
              <a:buNone/>
            </a:pPr>
            <a:r>
              <a:rPr lang="en-US" sz="2200" dirty="0"/>
              <a:t>The null and alternative hypotheses are</a:t>
            </a:r>
          </a:p>
        </p:txBody>
      </p:sp>
      <p:graphicFrame>
        <p:nvGraphicFramePr>
          <p:cNvPr id="19" name="Object 18" descr="H sub 0 : mu sub d less than or equal to 0 and H sub a : mu sub d greater than 0.">
            <a:extLst>
              <a:ext uri="{FF2B5EF4-FFF2-40B4-BE49-F238E27FC236}">
                <a16:creationId xmlns:a16="http://schemas.microsoft.com/office/drawing/2014/main" id="{AFEB3A6E-1D67-4B0C-BDF6-0C48C3671AAC}"/>
              </a:ext>
            </a:extLst>
          </p:cNvPr>
          <p:cNvGraphicFramePr>
            <a:graphicFrameLocks noChangeAspect="1"/>
          </p:cNvGraphicFramePr>
          <p:nvPr/>
        </p:nvGraphicFramePr>
        <p:xfrm>
          <a:off x="1962150" y="5875338"/>
          <a:ext cx="3371850" cy="357187"/>
        </p:xfrm>
        <a:graphic>
          <a:graphicData uri="http://schemas.openxmlformats.org/presentationml/2006/ole">
            <mc:AlternateContent xmlns:mc="http://schemas.openxmlformats.org/markup-compatibility/2006">
              <mc:Choice xmlns:v="urn:schemas-microsoft-com:vml" Requires="v">
                <p:oleObj name="Equation" r:id="rId4" imgW="3708360" imgH="393480" progId="Equation.DSMT4">
                  <p:embed/>
                </p:oleObj>
              </mc:Choice>
              <mc:Fallback>
                <p:oleObj name="Equation" r:id="rId4" imgW="3708360" imgH="393480" progId="Equation.DSMT4">
                  <p:embed/>
                  <p:pic>
                    <p:nvPicPr>
                      <p:cNvPr id="19" name="Object 18" descr="H sub 0 : mu sub d less than or equal to 0 and H sub a : mu sub d greater than 0.">
                        <a:extLst>
                          <a:ext uri="{FF2B5EF4-FFF2-40B4-BE49-F238E27FC236}">
                            <a16:creationId xmlns:a16="http://schemas.microsoft.com/office/drawing/2014/main" id="{AFEB3A6E-1D67-4B0C-BDF6-0C48C3671AAC}"/>
                          </a:ext>
                        </a:extLst>
                      </p:cNvPr>
                      <p:cNvPicPr/>
                      <p:nvPr/>
                    </p:nvPicPr>
                    <p:blipFill>
                      <a:blip r:embed="rId5"/>
                      <a:stretch>
                        <a:fillRect/>
                      </a:stretch>
                    </p:blipFill>
                    <p:spPr>
                      <a:xfrm>
                        <a:off x="1962150" y="5875338"/>
                        <a:ext cx="3371850" cy="357187"/>
                      </a:xfrm>
                      <a:prstGeom prst="rect">
                        <a:avLst/>
                      </a:prstGeom>
                    </p:spPr>
                  </p:pic>
                </p:oleObj>
              </mc:Fallback>
            </mc:AlternateContent>
          </a:graphicData>
        </a:graphic>
      </p:graphicFrame>
      <p:sp>
        <p:nvSpPr>
          <p:cNvPr id="6" name="Content Placeholder 5"/>
          <p:cNvSpPr>
            <a:spLocks noGrp="1"/>
          </p:cNvSpPr>
          <p:nvPr>
            <p:ph sz="quarter" idx="15"/>
          </p:nvPr>
        </p:nvSpPr>
        <p:spPr>
          <a:xfrm>
            <a:off x="5474525" y="5875137"/>
            <a:ext cx="1116280" cy="408427"/>
          </a:xfrm>
        </p:spPr>
        <p:txBody>
          <a:bodyPr/>
          <a:lstStyle/>
          <a:p>
            <a:pPr marL="0" indent="0">
              <a:buNone/>
            </a:pPr>
            <a:r>
              <a:rPr lang="en-US" sz="2200" dirty="0">
                <a:solidFill>
                  <a:schemeClr val="tx1"/>
                </a:solidFill>
              </a:rPr>
              <a:t>(Claim)</a:t>
            </a:r>
          </a:p>
        </p:txBody>
      </p:sp>
    </p:spTree>
    <p:extLst>
      <p:ext uri="{BB962C8B-B14F-4D97-AF65-F5344CB8AC3E}">
        <p14:creationId xmlns:p14="http://schemas.microsoft.com/office/powerpoint/2010/main" val="37768608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(2 of 5)</a:t>
            </a:r>
          </a:p>
        </p:txBody>
      </p:sp>
      <p:sp>
        <p:nvSpPr>
          <p:cNvPr id="4" name="Content Placeholder 3"/>
          <p:cNvSpPr>
            <a:spLocks noGrp="1"/>
          </p:cNvSpPr>
          <p:nvPr>
            <p:ph sz="quarter" idx="13"/>
          </p:nvPr>
        </p:nvSpPr>
        <p:spPr>
          <a:xfrm>
            <a:off x="457200" y="1552575"/>
            <a:ext cx="5124203" cy="406854"/>
          </a:xfrm>
        </p:spPr>
        <p:txBody>
          <a:bodyPr/>
          <a:lstStyle/>
          <a:p>
            <a:pPr marL="432" indent="0">
              <a:buNone/>
            </a:pPr>
            <a:r>
              <a:rPr lang="en-US" dirty="0"/>
              <a:t>Because the test is a right-tailed test,</a:t>
            </a:r>
          </a:p>
        </p:txBody>
      </p:sp>
      <p:graphicFrame>
        <p:nvGraphicFramePr>
          <p:cNvPr id="18" name="Object 17" descr="alpha equals 0.10">
            <a:extLst>
              <a:ext uri="{FF2B5EF4-FFF2-40B4-BE49-F238E27FC236}">
                <a16:creationId xmlns:a16="http://schemas.microsoft.com/office/drawing/2014/main" id="{D20483D6-26EA-4DF0-8338-A7C3E5BCD6A8}"/>
              </a:ext>
            </a:extLst>
          </p:cNvPr>
          <p:cNvGraphicFramePr>
            <a:graphicFrameLocks noChangeAspect="1"/>
          </p:cNvGraphicFramePr>
          <p:nvPr/>
        </p:nvGraphicFramePr>
        <p:xfrm>
          <a:off x="5674489" y="1588593"/>
          <a:ext cx="1212273" cy="334818"/>
        </p:xfrm>
        <a:graphic>
          <a:graphicData uri="http://schemas.openxmlformats.org/presentationml/2006/ole">
            <mc:AlternateContent xmlns:mc="http://schemas.openxmlformats.org/markup-compatibility/2006">
              <mc:Choice xmlns:v="urn:schemas-microsoft-com:vml" Requires="v">
                <p:oleObj name="Equation" r:id="rId2" imgW="1333440" imgH="368280" progId="Equation.DSMT4">
                  <p:embed/>
                </p:oleObj>
              </mc:Choice>
              <mc:Fallback>
                <p:oleObj name="Equation" r:id="rId2" imgW="1333440" imgH="368280" progId="Equation.DSMT4">
                  <p:embed/>
                  <p:pic>
                    <p:nvPicPr>
                      <p:cNvPr id="18" name="Object 17" descr="alpha equals 0.10">
                        <a:extLst>
                          <a:ext uri="{FF2B5EF4-FFF2-40B4-BE49-F238E27FC236}">
                            <a16:creationId xmlns:a16="http://schemas.microsoft.com/office/drawing/2014/main" id="{D20483D6-26EA-4DF0-8338-A7C3E5BCD6A8}"/>
                          </a:ext>
                        </a:extLst>
                      </p:cNvPr>
                      <p:cNvPicPr/>
                      <p:nvPr/>
                    </p:nvPicPr>
                    <p:blipFill>
                      <a:blip r:embed="rId3"/>
                      <a:stretch>
                        <a:fillRect/>
                      </a:stretch>
                    </p:blipFill>
                    <p:spPr>
                      <a:xfrm>
                        <a:off x="5674489" y="1588593"/>
                        <a:ext cx="1212273" cy="334818"/>
                      </a:xfrm>
                      <a:prstGeom prst="rect">
                        <a:avLst/>
                      </a:prstGeom>
                    </p:spPr>
                  </p:pic>
                </p:oleObj>
              </mc:Fallback>
            </mc:AlternateContent>
          </a:graphicData>
        </a:graphic>
      </p:graphicFrame>
      <p:sp>
        <p:nvSpPr>
          <p:cNvPr id="5" name="Content Placeholder 4"/>
          <p:cNvSpPr>
            <a:spLocks noGrp="1"/>
          </p:cNvSpPr>
          <p:nvPr>
            <p:ph sz="quarter" idx="14"/>
          </p:nvPr>
        </p:nvSpPr>
        <p:spPr>
          <a:xfrm>
            <a:off x="6979848" y="1552576"/>
            <a:ext cx="750988" cy="406854"/>
          </a:xfrm>
        </p:spPr>
        <p:txBody>
          <a:bodyPr/>
          <a:lstStyle/>
          <a:p>
            <a:pPr marL="432" indent="0">
              <a:buNone/>
            </a:pPr>
            <a:r>
              <a:rPr lang="en-US" dirty="0"/>
              <a:t>and</a:t>
            </a:r>
          </a:p>
        </p:txBody>
      </p:sp>
      <p:graphicFrame>
        <p:nvGraphicFramePr>
          <p:cNvPr id="19" name="Object 18" descr="d.f. equals 8 minus 1 equals 7">
            <a:extLst>
              <a:ext uri="{FF2B5EF4-FFF2-40B4-BE49-F238E27FC236}">
                <a16:creationId xmlns:a16="http://schemas.microsoft.com/office/drawing/2014/main" id="{2150B0C6-08FD-4A3E-9938-126104A695E9}"/>
              </a:ext>
            </a:extLst>
          </p:cNvPr>
          <p:cNvGraphicFramePr>
            <a:graphicFrameLocks noChangeAspect="1"/>
          </p:cNvGraphicFramePr>
          <p:nvPr/>
        </p:nvGraphicFramePr>
        <p:xfrm>
          <a:off x="458693" y="2061104"/>
          <a:ext cx="1984565" cy="357468"/>
        </p:xfrm>
        <a:graphic>
          <a:graphicData uri="http://schemas.openxmlformats.org/presentationml/2006/ole">
            <mc:AlternateContent xmlns:mc="http://schemas.openxmlformats.org/markup-compatibility/2006">
              <mc:Choice xmlns:v="urn:schemas-microsoft-com:vml" Requires="v">
                <p:oleObj name="Equation" r:id="rId4" imgW="2044440" imgH="368280" progId="Equation.DSMT4">
                  <p:embed/>
                </p:oleObj>
              </mc:Choice>
              <mc:Fallback>
                <p:oleObj name="Equation" r:id="rId4" imgW="2044440" imgH="368280" progId="Equation.DSMT4">
                  <p:embed/>
                  <p:pic>
                    <p:nvPicPr>
                      <p:cNvPr id="19" name="Object 18" descr="d.f. equals 8 minus 1 equals 7">
                        <a:extLst>
                          <a:ext uri="{FF2B5EF4-FFF2-40B4-BE49-F238E27FC236}">
                            <a16:creationId xmlns:a16="http://schemas.microsoft.com/office/drawing/2014/main" id="{2150B0C6-08FD-4A3E-9938-126104A695E9}"/>
                          </a:ext>
                        </a:extLst>
                      </p:cNvPr>
                      <p:cNvPicPr/>
                      <p:nvPr/>
                    </p:nvPicPr>
                    <p:blipFill>
                      <a:blip r:embed="rId5"/>
                      <a:stretch>
                        <a:fillRect/>
                      </a:stretch>
                    </p:blipFill>
                    <p:spPr>
                      <a:xfrm>
                        <a:off x="458693" y="2061104"/>
                        <a:ext cx="1984565" cy="357468"/>
                      </a:xfrm>
                      <a:prstGeom prst="rect">
                        <a:avLst/>
                      </a:prstGeom>
                    </p:spPr>
                  </p:pic>
                </p:oleObj>
              </mc:Fallback>
            </mc:AlternateContent>
          </a:graphicData>
        </a:graphic>
      </p:graphicFrame>
      <p:sp>
        <p:nvSpPr>
          <p:cNvPr id="6" name="Content Placeholder 5"/>
          <p:cNvSpPr>
            <a:spLocks noGrp="1"/>
          </p:cNvSpPr>
          <p:nvPr>
            <p:ph sz="quarter" idx="15"/>
          </p:nvPr>
        </p:nvSpPr>
        <p:spPr>
          <a:xfrm>
            <a:off x="2600696" y="2022475"/>
            <a:ext cx="2624447" cy="423842"/>
          </a:xfrm>
        </p:spPr>
        <p:txBody>
          <a:bodyPr/>
          <a:lstStyle/>
          <a:p>
            <a:pPr marL="432" indent="0">
              <a:buNone/>
            </a:pPr>
            <a:r>
              <a:rPr lang="en-US" dirty="0"/>
              <a:t>the critical value is</a:t>
            </a:r>
          </a:p>
        </p:txBody>
      </p:sp>
      <p:graphicFrame>
        <p:nvGraphicFramePr>
          <p:cNvPr id="20" name="Object 19" descr="t subscript 0 equals minus 1.415">
            <a:extLst>
              <a:ext uri="{FF2B5EF4-FFF2-40B4-BE49-F238E27FC236}">
                <a16:creationId xmlns:a16="http://schemas.microsoft.com/office/drawing/2014/main" id="{6E1EB9DB-71A3-4A22-A94F-26AD318DFD7E}"/>
              </a:ext>
            </a:extLst>
          </p:cNvPr>
          <p:cNvGraphicFramePr>
            <a:graphicFrameLocks noChangeAspect="1"/>
          </p:cNvGraphicFramePr>
          <p:nvPr/>
        </p:nvGraphicFramePr>
        <p:xfrm>
          <a:off x="5315592" y="2026831"/>
          <a:ext cx="1535545" cy="392545"/>
        </p:xfrm>
        <a:graphic>
          <a:graphicData uri="http://schemas.openxmlformats.org/presentationml/2006/ole">
            <mc:AlternateContent xmlns:mc="http://schemas.openxmlformats.org/markup-compatibility/2006">
              <mc:Choice xmlns:v="urn:schemas-microsoft-com:vml" Requires="v">
                <p:oleObj name="Equation" r:id="rId6" imgW="1688760" imgH="431640" progId="Equation.DSMT4">
                  <p:embed/>
                </p:oleObj>
              </mc:Choice>
              <mc:Fallback>
                <p:oleObj name="Equation" r:id="rId6" imgW="1688760" imgH="431640" progId="Equation.DSMT4">
                  <p:embed/>
                  <p:pic>
                    <p:nvPicPr>
                      <p:cNvPr id="20" name="Object 19" descr="t subscript 0 equals minus 1.415">
                        <a:extLst>
                          <a:ext uri="{FF2B5EF4-FFF2-40B4-BE49-F238E27FC236}">
                            <a16:creationId xmlns:a16="http://schemas.microsoft.com/office/drawing/2014/main" id="{6E1EB9DB-71A3-4A22-A94F-26AD318DFD7E}"/>
                          </a:ext>
                        </a:extLst>
                      </p:cNvPr>
                      <p:cNvPicPr/>
                      <p:nvPr/>
                    </p:nvPicPr>
                    <p:blipFill>
                      <a:blip r:embed="rId7"/>
                      <a:stretch>
                        <a:fillRect/>
                      </a:stretch>
                    </p:blipFill>
                    <p:spPr>
                      <a:xfrm>
                        <a:off x="5315592" y="2026831"/>
                        <a:ext cx="1535545" cy="392545"/>
                      </a:xfrm>
                      <a:prstGeom prst="rect">
                        <a:avLst/>
                      </a:prstGeom>
                    </p:spPr>
                  </p:pic>
                </p:oleObj>
              </mc:Fallback>
            </mc:AlternateContent>
          </a:graphicData>
        </a:graphic>
      </p:graphicFrame>
      <p:sp>
        <p:nvSpPr>
          <p:cNvPr id="7" name="Content Placeholder 6"/>
          <p:cNvSpPr>
            <a:spLocks noGrp="1"/>
          </p:cNvSpPr>
          <p:nvPr>
            <p:ph sz="quarter" idx="16"/>
          </p:nvPr>
        </p:nvSpPr>
        <p:spPr>
          <a:xfrm>
            <a:off x="6941586" y="2022476"/>
            <a:ext cx="1917406" cy="423842"/>
          </a:xfrm>
        </p:spPr>
        <p:txBody>
          <a:bodyPr/>
          <a:lstStyle/>
          <a:p>
            <a:pPr marL="432" indent="0">
              <a:buNone/>
            </a:pPr>
            <a:r>
              <a:rPr lang="en-US" dirty="0"/>
              <a:t>The rejection</a:t>
            </a:r>
          </a:p>
        </p:txBody>
      </p:sp>
      <p:sp>
        <p:nvSpPr>
          <p:cNvPr id="8" name="Content Placeholder 7"/>
          <p:cNvSpPr>
            <a:spLocks noGrp="1"/>
          </p:cNvSpPr>
          <p:nvPr>
            <p:ph sz="quarter" idx="17"/>
          </p:nvPr>
        </p:nvSpPr>
        <p:spPr>
          <a:xfrm>
            <a:off x="457200" y="2520248"/>
            <a:ext cx="7796151" cy="412958"/>
          </a:xfrm>
        </p:spPr>
        <p:txBody>
          <a:bodyPr/>
          <a:lstStyle/>
          <a:p>
            <a:pPr marL="432" indent="0">
              <a:buNone/>
            </a:pPr>
            <a:r>
              <a:rPr lang="en-US" dirty="0"/>
              <a:t>region is </a:t>
            </a:r>
            <a:r>
              <a:rPr lang="en-US" i="1" dirty="0"/>
              <a:t>t </a:t>
            </a:r>
            <a:r>
              <a:rPr lang="en-US" dirty="0"/>
              <a:t>&gt; 1.415. Using the table on the next slide, you</a:t>
            </a:r>
          </a:p>
        </p:txBody>
      </p:sp>
      <p:sp>
        <p:nvSpPr>
          <p:cNvPr id="9" name="Content Placeholder 8"/>
          <p:cNvSpPr>
            <a:spLocks noGrp="1"/>
          </p:cNvSpPr>
          <p:nvPr>
            <p:ph sz="quarter" idx="18"/>
          </p:nvPr>
        </p:nvSpPr>
        <p:spPr>
          <a:xfrm>
            <a:off x="457201" y="3007137"/>
            <a:ext cx="1941615" cy="412958"/>
          </a:xfrm>
        </p:spPr>
        <p:txBody>
          <a:bodyPr/>
          <a:lstStyle/>
          <a:p>
            <a:pPr marL="432" indent="0">
              <a:buNone/>
            </a:pPr>
            <a:r>
              <a:rPr lang="en-US" dirty="0"/>
              <a:t>can calculate</a:t>
            </a:r>
          </a:p>
        </p:txBody>
      </p:sp>
      <p:graphicFrame>
        <p:nvGraphicFramePr>
          <p:cNvPr id="21" name="Object 20" descr="d bar and s subscript d">
            <a:extLst>
              <a:ext uri="{FF2B5EF4-FFF2-40B4-BE49-F238E27FC236}">
                <a16:creationId xmlns:a16="http://schemas.microsoft.com/office/drawing/2014/main" id="{E5D94196-000D-4A78-945A-86654EE2B6C9}"/>
              </a:ext>
            </a:extLst>
          </p:cNvPr>
          <p:cNvGraphicFramePr>
            <a:graphicFrameLocks noChangeAspect="1"/>
          </p:cNvGraphicFramePr>
          <p:nvPr/>
        </p:nvGraphicFramePr>
        <p:xfrm>
          <a:off x="2462351" y="2969617"/>
          <a:ext cx="1232650" cy="456081"/>
        </p:xfrm>
        <a:graphic>
          <a:graphicData uri="http://schemas.openxmlformats.org/presentationml/2006/ole">
            <mc:AlternateContent xmlns:mc="http://schemas.openxmlformats.org/markup-compatibility/2006">
              <mc:Choice xmlns:v="urn:schemas-microsoft-com:vml" Requires="v">
                <p:oleObj name="Equation" r:id="rId8" imgW="1269720" imgH="469800" progId="Equation.DSMT4">
                  <p:embed/>
                </p:oleObj>
              </mc:Choice>
              <mc:Fallback>
                <p:oleObj name="Equation" r:id="rId8" imgW="1269720" imgH="469800" progId="Equation.DSMT4">
                  <p:embed/>
                  <p:pic>
                    <p:nvPicPr>
                      <p:cNvPr id="21" name="Object 20" descr="d bar and s subscript d">
                        <a:extLst>
                          <a:ext uri="{FF2B5EF4-FFF2-40B4-BE49-F238E27FC236}">
                            <a16:creationId xmlns:a16="http://schemas.microsoft.com/office/drawing/2014/main" id="{E5D94196-000D-4A78-945A-86654EE2B6C9}"/>
                          </a:ext>
                        </a:extLst>
                      </p:cNvPr>
                      <p:cNvPicPr/>
                      <p:nvPr/>
                    </p:nvPicPr>
                    <p:blipFill>
                      <a:blip r:embed="rId9"/>
                      <a:stretch>
                        <a:fillRect/>
                      </a:stretch>
                    </p:blipFill>
                    <p:spPr>
                      <a:xfrm>
                        <a:off x="2462351" y="2969617"/>
                        <a:ext cx="1232650" cy="456081"/>
                      </a:xfrm>
                      <a:prstGeom prst="rect">
                        <a:avLst/>
                      </a:prstGeom>
                    </p:spPr>
                  </p:pic>
                </p:oleObj>
              </mc:Fallback>
            </mc:AlternateContent>
          </a:graphicData>
        </a:graphic>
      </p:graphicFrame>
      <p:sp>
        <p:nvSpPr>
          <p:cNvPr id="10" name="Content Placeholder 9"/>
          <p:cNvSpPr>
            <a:spLocks noGrp="1"/>
          </p:cNvSpPr>
          <p:nvPr>
            <p:ph sz="quarter" idx="19"/>
          </p:nvPr>
        </p:nvSpPr>
        <p:spPr>
          <a:xfrm>
            <a:off x="3859481" y="3007136"/>
            <a:ext cx="4827320" cy="412959"/>
          </a:xfrm>
        </p:spPr>
        <p:txBody>
          <a:bodyPr/>
          <a:lstStyle/>
          <a:p>
            <a:pPr marL="432" indent="0">
              <a:buNone/>
            </a:pPr>
            <a:r>
              <a:rPr lang="en-US" dirty="0"/>
              <a:t>as shown on the next slide. Notice</a:t>
            </a:r>
          </a:p>
        </p:txBody>
      </p:sp>
      <p:sp>
        <p:nvSpPr>
          <p:cNvPr id="11" name="Content Placeholder 10"/>
          <p:cNvSpPr>
            <a:spLocks noGrp="1"/>
          </p:cNvSpPr>
          <p:nvPr>
            <p:ph sz="quarter" idx="20"/>
          </p:nvPr>
        </p:nvSpPr>
        <p:spPr>
          <a:xfrm>
            <a:off x="458693" y="3494024"/>
            <a:ext cx="8228108" cy="858901"/>
          </a:xfrm>
        </p:spPr>
        <p:txBody>
          <a:bodyPr/>
          <a:lstStyle/>
          <a:p>
            <a:pPr marL="432" indent="0">
              <a:buNone/>
            </a:pPr>
            <a:r>
              <a:rPr lang="en-US" dirty="0"/>
              <a:t>that the alternate formula is used to calculate the standard deviation.</a:t>
            </a:r>
          </a:p>
        </p:txBody>
      </p:sp>
    </p:spTree>
    <p:extLst>
      <p:ext uri="{BB962C8B-B14F-4D97-AF65-F5344CB8AC3E}">
        <p14:creationId xmlns:p14="http://schemas.microsoft.com/office/powerpoint/2010/main" val="13588079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(3 of 5)</a:t>
            </a:r>
          </a:p>
        </p:txBody>
      </p:sp>
      <p:graphicFrame>
        <p:nvGraphicFramePr>
          <p:cNvPr id="5" name="Content Placeholder 4"/>
          <p:cNvGraphicFramePr>
            <a:graphicFrameLocks noGrp="1"/>
          </p:cNvGraphicFramePr>
          <p:nvPr>
            <p:ph sz="quarter" idx="13"/>
          </p:nvPr>
        </p:nvGraphicFramePr>
        <p:xfrm>
          <a:off x="457200" y="1555750"/>
          <a:ext cx="4447309" cy="4393790"/>
        </p:xfrm>
        <a:graphic>
          <a:graphicData uri="http://schemas.openxmlformats.org/drawingml/2006/table">
            <a:tbl>
              <a:tblPr firstRow="1" bandRow="1">
                <a:tableStyleId>{2D5ABB26-0587-4C30-8999-92F81FD0307C}</a:tableStyleId>
              </a:tblPr>
              <a:tblGrid>
                <a:gridCol w="944088">
                  <a:extLst>
                    <a:ext uri="{9D8B030D-6E8A-4147-A177-3AD203B41FA5}">
                      <a16:colId xmlns:a16="http://schemas.microsoft.com/office/drawing/2014/main" val="120946769"/>
                    </a:ext>
                  </a:extLst>
                </a:gridCol>
                <a:gridCol w="771896">
                  <a:extLst>
                    <a:ext uri="{9D8B030D-6E8A-4147-A177-3AD203B41FA5}">
                      <a16:colId xmlns:a16="http://schemas.microsoft.com/office/drawing/2014/main" val="4085185536"/>
                    </a:ext>
                  </a:extLst>
                </a:gridCol>
                <a:gridCol w="1307770">
                  <a:extLst>
                    <a:ext uri="{9D8B030D-6E8A-4147-A177-3AD203B41FA5}">
                      <a16:colId xmlns:a16="http://schemas.microsoft.com/office/drawing/2014/main" val="2252124335"/>
                    </a:ext>
                  </a:extLst>
                </a:gridCol>
                <a:gridCol w="1423555">
                  <a:extLst>
                    <a:ext uri="{9D8B030D-6E8A-4147-A177-3AD203B41FA5}">
                      <a16:colId xmlns:a16="http://schemas.microsoft.com/office/drawing/2014/main" val="4269459196"/>
                    </a:ext>
                  </a:extLst>
                </a:gridCol>
              </a:tblGrid>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n-lt"/>
                          <a:ea typeface="MS PGothic" panose="020B0600070205080204" pitchFamily="34" charset="-128"/>
                        </a:rPr>
                        <a:t>Before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n-lt"/>
                          <a:ea typeface="MS PGothic" panose="020B0600070205080204" pitchFamily="34" charset="-128"/>
                        </a:rPr>
                        <a:t>After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i="1" u="none" strike="noStrike" cap="none" normalizeH="0" baseline="0" dirty="0">
                          <a:ln>
                            <a:noFill/>
                          </a:ln>
                          <a:solidFill>
                            <a:schemeClr val="tx1"/>
                          </a:solidFill>
                          <a:effectLst/>
                          <a:latin typeface="+mn-lt"/>
                          <a:ea typeface="MS PGothic" panose="020B0600070205080204" pitchFamily="34"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00" b="1" i="1" u="none" strike="noStrike" cap="none" normalizeH="0" baseline="0" dirty="0">
                          <a:ln>
                            <a:noFill/>
                          </a:ln>
                          <a:solidFill>
                            <a:schemeClr val="tx1"/>
                          </a:solidFill>
                          <a:effectLst/>
                          <a:latin typeface="+mn-lt"/>
                          <a:ea typeface="MS PGothic" panose="020B0600070205080204" pitchFamily="34" charset="-128"/>
                        </a:rPr>
                        <a:t>d squared.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5885100"/>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89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49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8893405"/>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25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192639"/>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4298044"/>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25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6855984"/>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87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00" b="0" i="0" u="none" strike="noStrike" cap="none" normalizeH="0" baseline="0" dirty="0">
                          <a:ln>
                            <a:noFill/>
                          </a:ln>
                          <a:solidFill>
                            <a:schemeClr val="tx1"/>
                          </a:solidFill>
                          <a:effectLst/>
                          <a:latin typeface="+mn-lt"/>
                          <a:ea typeface="MS PGothic" panose="020B0600070205080204" pitchFamily="34" charset="-128"/>
                        </a:rPr>
                        <a:t>Negative 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119570"/>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104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9477690"/>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105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103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8391254"/>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94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00" b="0" i="0" u="none" strike="noStrike" cap="none" normalizeH="0" baseline="0" dirty="0">
                          <a:ln>
                            <a:noFill/>
                          </a:ln>
                          <a:solidFill>
                            <a:schemeClr val="tx1"/>
                          </a:solidFill>
                          <a:effectLst/>
                          <a:latin typeface="+mn-lt"/>
                          <a:ea typeface="MS PGothic" panose="020B0600070205080204" pitchFamily="34" charset="-128"/>
                        </a:rPr>
                        <a:t>Negative 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ea typeface="MS PGothic" panose="020B0600070205080204" pitchFamily="34" charset="-128"/>
                        </a:rPr>
                        <a:t>36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8984103"/>
                  </a:ext>
                </a:extLst>
              </a:tr>
              <a:tr h="439379">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altLang="en-US" sz="100" b="0" i="0" u="none" strike="noStrike" cap="none" normalizeH="0" baseline="0" dirty="0">
                          <a:ln>
                            <a:noFill/>
                          </a:ln>
                          <a:solidFill>
                            <a:schemeClr val="tx1"/>
                          </a:solidFill>
                          <a:effectLst/>
                          <a:latin typeface="+mn-lt"/>
                          <a:ea typeface="MS PGothic" panose="020B0600070205080204" pitchFamily="34" charset="-128"/>
                        </a:rPr>
                        <a:t>Blank</a:t>
                      </a:r>
                      <a:endParaRPr kumimoji="0" lang="en-US" altLang="en-US" sz="100" b="0" i="0" u="none" strike="noStrike" cap="none" normalizeH="0" baseline="0" dirty="0">
                        <a:ln>
                          <a:noFill/>
                        </a:ln>
                        <a:solidFill>
                          <a:schemeClr val="tx1"/>
                        </a:solidFill>
                        <a:effectLst/>
                        <a:latin typeface="+mn-lt"/>
                        <a:ea typeface="MS PGothic" panose="020B0600070205080204" pitchFamily="34"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IN" altLang="en-US" sz="100" b="0" i="0" u="none" strike="noStrike" cap="none" normalizeH="0" baseline="0" dirty="0">
                          <a:ln>
                            <a:noFill/>
                          </a:ln>
                          <a:solidFill>
                            <a:schemeClr val="tx1"/>
                          </a:solidFill>
                          <a:effectLst/>
                          <a:latin typeface="+mn-lt"/>
                          <a:ea typeface="MS PGothic" panose="020B0600070205080204" pitchFamily="34" charset="-128"/>
                        </a:rPr>
                        <a:t>Blank</a:t>
                      </a:r>
                      <a:endParaRPr kumimoji="0" lang="en-US" altLang="en-US" sz="100" b="0" i="0" u="none" strike="noStrike" cap="none" normalizeH="0" baseline="0" dirty="0">
                        <a:ln>
                          <a:noFill/>
                        </a:ln>
                        <a:solidFill>
                          <a:schemeClr val="tx1"/>
                        </a:solidFill>
                        <a:effectLst/>
                        <a:latin typeface="+mn-lt"/>
                        <a:ea typeface="MS PGothic" panose="020B0600070205080204" pitchFamily="34"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00" b="0" i="0" u="none" strike="noStrike" cap="none" normalizeH="0" baseline="0" dirty="0">
                          <a:ln>
                            <a:noFill/>
                          </a:ln>
                          <a:solidFill>
                            <a:schemeClr val="tx1"/>
                          </a:solidFill>
                          <a:effectLst/>
                          <a:latin typeface="+mn-lt"/>
                          <a:ea typeface="MS PGothic" panose="020B0600070205080204" pitchFamily="34" charset="-128"/>
                        </a:rPr>
                        <a:t>Summation = 13.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spcBef>
                          <a:spcPct val="20000"/>
                        </a:spcBef>
                        <a:buClr>
                          <a:schemeClr val="accent1"/>
                        </a:buClr>
                        <a:buFont typeface="Wingdings" panose="05000000000000000000" pitchFamily="2" charset="2"/>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30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3pPr>
                      <a:lvl4pPr marL="16002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4pPr>
                      <a:lvl5pPr marL="2057400" indent="-228600" eaLnBrk="0" hangingPunct="0">
                        <a:spcBef>
                          <a:spcPct val="20000"/>
                        </a:spcBef>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Font typeface="Arial" panose="020B0604020202020204" pitchFamily="34" charset="0"/>
                        <a:defRPr sz="24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00" b="0" i="0" u="none" strike="noStrike" cap="none" normalizeH="0" baseline="0" dirty="0">
                          <a:ln>
                            <a:noFill/>
                          </a:ln>
                          <a:solidFill>
                            <a:schemeClr val="tx1"/>
                          </a:solidFill>
                          <a:effectLst/>
                          <a:latin typeface="+mn-lt"/>
                          <a:ea typeface="MS PGothic" panose="020B0600070205080204" pitchFamily="34" charset="-128"/>
                        </a:rPr>
                        <a:t>Summation = 171.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3248416"/>
                  </a:ext>
                </a:extLst>
              </a:tr>
            </a:tbl>
          </a:graphicData>
        </a:graphic>
      </p:graphicFrame>
      <p:graphicFrame>
        <p:nvGraphicFramePr>
          <p:cNvPr id="6" name="Object 5">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3997254" y="1586026"/>
          <a:ext cx="324715" cy="336262"/>
        </p:xfrm>
        <a:graphic>
          <a:graphicData uri="http://schemas.openxmlformats.org/presentationml/2006/ole">
            <mc:AlternateContent xmlns:mc="http://schemas.openxmlformats.org/markup-compatibility/2006">
              <mc:Choice xmlns:v="urn:schemas-microsoft-com:vml" Requires="v">
                <p:oleObj name="Equation" r:id="rId2" imgW="368280" imgH="380880" progId="Equation.DSMT4">
                  <p:embed/>
                </p:oleObj>
              </mc:Choice>
              <mc:Fallback>
                <p:oleObj name="Equation" r:id="rId2" imgW="368280" imgH="380880" progId="Equation.DSMT4">
                  <p:embed/>
                  <p:pic>
                    <p:nvPicPr>
                      <p:cNvPr id="6" name="Object 5">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3"/>
                      <a:stretch>
                        <a:fillRect/>
                      </a:stretch>
                    </p:blipFill>
                    <p:spPr>
                      <a:xfrm>
                        <a:off x="3997254" y="1586026"/>
                        <a:ext cx="324715" cy="336262"/>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579702" y="3837643"/>
          <a:ext cx="326684" cy="244029"/>
        </p:xfrm>
        <a:graphic>
          <a:graphicData uri="http://schemas.openxmlformats.org/presentationml/2006/ole">
            <mc:AlternateContent xmlns:mc="http://schemas.openxmlformats.org/markup-compatibility/2006">
              <mc:Choice xmlns:v="urn:schemas-microsoft-com:vml" Requires="v">
                <p:oleObj name="Equation" r:id="rId4" imgW="406080" imgH="304560" progId="Equation.DSMT4">
                  <p:embed/>
                </p:oleObj>
              </mc:Choice>
              <mc:Fallback>
                <p:oleObj name="Equation" r:id="rId4" imgW="406080" imgH="304560" progId="Equation.DSMT4">
                  <p:embed/>
                  <p:pic>
                    <p:nvPicPr>
                      <p:cNvPr id="7" name="Object 6">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5"/>
                      <a:stretch>
                        <a:fillRect/>
                      </a:stretch>
                    </p:blipFill>
                    <p:spPr>
                      <a:xfrm>
                        <a:off x="2579702" y="3837643"/>
                        <a:ext cx="326684" cy="244029"/>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624650" y="5160325"/>
          <a:ext cx="327025" cy="255588"/>
        </p:xfrm>
        <a:graphic>
          <a:graphicData uri="http://schemas.openxmlformats.org/presentationml/2006/ole">
            <mc:AlternateContent xmlns:mc="http://schemas.openxmlformats.org/markup-compatibility/2006">
              <mc:Choice xmlns:v="urn:schemas-microsoft-com:vml" Requires="v">
                <p:oleObj name="Equation" r:id="rId6" imgW="406080" imgH="317160" progId="Equation.DSMT4">
                  <p:embed/>
                </p:oleObj>
              </mc:Choice>
              <mc:Fallback>
                <p:oleObj name="Equation" r:id="rId6" imgW="406080" imgH="317160" progId="Equation.DSMT4">
                  <p:embed/>
                  <p:pic>
                    <p:nvPicPr>
                      <p:cNvPr id="8" name="Object 7">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7"/>
                      <a:stretch>
                        <a:fillRect/>
                      </a:stretch>
                    </p:blipFill>
                    <p:spPr>
                      <a:xfrm>
                        <a:off x="2624650" y="5160325"/>
                        <a:ext cx="327025" cy="255588"/>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445734" y="5556437"/>
          <a:ext cx="684855" cy="338492"/>
        </p:xfrm>
        <a:graphic>
          <a:graphicData uri="http://schemas.openxmlformats.org/presentationml/2006/ole">
            <mc:AlternateContent xmlns:mc="http://schemas.openxmlformats.org/markup-compatibility/2006">
              <mc:Choice xmlns:v="urn:schemas-microsoft-com:vml" Requires="v">
                <p:oleObj name="Equation" r:id="rId8" imgW="1028520" imgH="507960" progId="Equation.DSMT4">
                  <p:embed/>
                </p:oleObj>
              </mc:Choice>
              <mc:Fallback>
                <p:oleObj name="Equation" r:id="rId8" imgW="1028520" imgH="507960" progId="Equation.DSMT4">
                  <p:embed/>
                  <p:pic>
                    <p:nvPicPr>
                      <p:cNvPr id="9" name="Object 8">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9"/>
                      <a:stretch>
                        <a:fillRect/>
                      </a:stretch>
                    </p:blipFill>
                    <p:spPr>
                      <a:xfrm>
                        <a:off x="2445734" y="5556437"/>
                        <a:ext cx="684855" cy="338492"/>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3812662" y="5560354"/>
          <a:ext cx="795062" cy="338492"/>
        </p:xfrm>
        <a:graphic>
          <a:graphicData uri="http://schemas.openxmlformats.org/presentationml/2006/ole">
            <mc:AlternateContent xmlns:mc="http://schemas.openxmlformats.org/markup-compatibility/2006">
              <mc:Choice xmlns:v="urn:schemas-microsoft-com:vml" Requires="v">
                <p:oleObj name="Equation" r:id="rId10" imgW="1193760" imgH="507960" progId="Equation.DSMT4">
                  <p:embed/>
                </p:oleObj>
              </mc:Choice>
              <mc:Fallback>
                <p:oleObj name="Equation" r:id="rId10" imgW="1193760" imgH="507960" progId="Equation.DSMT4">
                  <p:embed/>
                  <p:pic>
                    <p:nvPicPr>
                      <p:cNvPr id="10" name="Object 9">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11"/>
                      <a:stretch>
                        <a:fillRect/>
                      </a:stretch>
                    </p:blipFill>
                    <p:spPr>
                      <a:xfrm>
                        <a:off x="3812662" y="5560354"/>
                        <a:ext cx="795062" cy="338492"/>
                      </a:xfrm>
                      <a:prstGeom prst="rect">
                        <a:avLst/>
                      </a:prstGeom>
                      <a:solidFill>
                        <a:schemeClr val="bg1"/>
                      </a:solidFill>
                    </p:spPr>
                  </p:pic>
                </p:oleObj>
              </mc:Fallback>
            </mc:AlternateContent>
          </a:graphicData>
        </a:graphic>
      </p:graphicFrame>
      <p:graphicFrame>
        <p:nvGraphicFramePr>
          <p:cNvPr id="11" name="Object 10" descr="d bar = start fraction summation of d over n end fraction = start fraction 13 over 8 end fraction = negative 1.625.">
            <a:extLst>
              <a:ext uri="{FF2B5EF4-FFF2-40B4-BE49-F238E27FC236}">
                <a16:creationId xmlns:a16="http://schemas.microsoft.com/office/drawing/2014/main" id="{AD665EA4-7466-4FB2-9539-65EC89E9A88C}"/>
              </a:ext>
            </a:extLst>
          </p:cNvPr>
          <p:cNvGraphicFramePr>
            <a:graphicFrameLocks noChangeAspect="1"/>
          </p:cNvGraphicFramePr>
          <p:nvPr/>
        </p:nvGraphicFramePr>
        <p:xfrm>
          <a:off x="5313363" y="1557338"/>
          <a:ext cx="2989262" cy="762000"/>
        </p:xfrm>
        <a:graphic>
          <a:graphicData uri="http://schemas.openxmlformats.org/presentationml/2006/ole">
            <mc:AlternateContent xmlns:mc="http://schemas.openxmlformats.org/markup-compatibility/2006">
              <mc:Choice xmlns:v="urn:schemas-microsoft-com:vml" Requires="v">
                <p:oleObj name="Equation" r:id="rId12" imgW="3288960" imgH="838080" progId="Equation.DSMT4">
                  <p:embed/>
                </p:oleObj>
              </mc:Choice>
              <mc:Fallback>
                <p:oleObj name="Equation" r:id="rId12" imgW="3288960" imgH="838080" progId="Equation.DSMT4">
                  <p:embed/>
                  <p:pic>
                    <p:nvPicPr>
                      <p:cNvPr id="11" name="Object 10" descr="d bar = start fraction summation of d over n end fraction = start fraction 13 over 8 end fraction = negative 1.625.">
                        <a:extLst>
                          <a:ext uri="{FF2B5EF4-FFF2-40B4-BE49-F238E27FC236}">
                            <a16:creationId xmlns:a16="http://schemas.microsoft.com/office/drawing/2014/main" id="{AD665EA4-7466-4FB2-9539-65EC89E9A88C}"/>
                          </a:ext>
                        </a:extLst>
                      </p:cNvPr>
                      <p:cNvPicPr/>
                      <p:nvPr/>
                    </p:nvPicPr>
                    <p:blipFill>
                      <a:blip r:embed="rId13"/>
                      <a:stretch>
                        <a:fillRect/>
                      </a:stretch>
                    </p:blipFill>
                    <p:spPr>
                      <a:xfrm>
                        <a:off x="5313363" y="1557338"/>
                        <a:ext cx="2989262" cy="762000"/>
                      </a:xfrm>
                      <a:prstGeom prst="rect">
                        <a:avLst/>
                      </a:prstGeom>
                    </p:spPr>
                  </p:pic>
                </p:oleObj>
              </mc:Fallback>
            </mc:AlternateContent>
          </a:graphicData>
        </a:graphic>
      </p:graphicFrame>
      <p:graphicFrame>
        <p:nvGraphicFramePr>
          <p:cNvPr id="12" name="Object 11" descr="S sub d = square root of start expression summation of d squared minus left square bracket start fraction left parenthesis summation of d right parenthesis squared over n end fraction right square bracket over n minus 1 end fraction end expression.">
            <a:extLst>
              <a:ext uri="{FF2B5EF4-FFF2-40B4-BE49-F238E27FC236}">
                <a16:creationId xmlns:a16="http://schemas.microsoft.com/office/drawing/2014/main" id="{0F0D55B3-2714-437E-B544-07668F1BB9E0}"/>
              </a:ext>
            </a:extLst>
          </p:cNvPr>
          <p:cNvGraphicFramePr>
            <a:graphicFrameLocks noChangeAspect="1"/>
          </p:cNvGraphicFramePr>
          <p:nvPr/>
        </p:nvGraphicFramePr>
        <p:xfrm>
          <a:off x="5295582" y="2513271"/>
          <a:ext cx="3001818" cy="1547091"/>
        </p:xfrm>
        <a:graphic>
          <a:graphicData uri="http://schemas.openxmlformats.org/presentationml/2006/ole">
            <mc:AlternateContent xmlns:mc="http://schemas.openxmlformats.org/markup-compatibility/2006">
              <mc:Choice xmlns:v="urn:schemas-microsoft-com:vml" Requires="v">
                <p:oleObj name="Equation" r:id="rId14" imgW="3301920" imgH="1701720" progId="Equation.DSMT4">
                  <p:embed/>
                </p:oleObj>
              </mc:Choice>
              <mc:Fallback>
                <p:oleObj name="Equation" r:id="rId14" imgW="3301920" imgH="1701720" progId="Equation.DSMT4">
                  <p:embed/>
                  <p:pic>
                    <p:nvPicPr>
                      <p:cNvPr id="12" name="Object 11" descr="S sub d = square root of start expression summation of d squared minus left square bracket start fraction left parenthesis summation of d right parenthesis squared over n end fraction right square bracket over n minus 1 end fraction end expression.">
                        <a:extLst>
                          <a:ext uri="{FF2B5EF4-FFF2-40B4-BE49-F238E27FC236}">
                            <a16:creationId xmlns:a16="http://schemas.microsoft.com/office/drawing/2014/main" id="{0F0D55B3-2714-437E-B544-07668F1BB9E0}"/>
                          </a:ext>
                        </a:extLst>
                      </p:cNvPr>
                      <p:cNvPicPr/>
                      <p:nvPr/>
                    </p:nvPicPr>
                    <p:blipFill>
                      <a:blip r:embed="rId15"/>
                      <a:stretch>
                        <a:fillRect/>
                      </a:stretch>
                    </p:blipFill>
                    <p:spPr>
                      <a:xfrm>
                        <a:off x="5295582" y="2513271"/>
                        <a:ext cx="3001818" cy="1547091"/>
                      </a:xfrm>
                      <a:prstGeom prst="rect">
                        <a:avLst/>
                      </a:prstGeom>
                    </p:spPr>
                  </p:pic>
                </p:oleObj>
              </mc:Fallback>
            </mc:AlternateContent>
          </a:graphicData>
        </a:graphic>
      </p:graphicFrame>
      <p:graphicFrame>
        <p:nvGraphicFramePr>
          <p:cNvPr id="13" name="Object 12" descr="Equals square root of start expression 171 minus start fraction 13 squared over 8 end fraction over 8 minus 1 end fraction end expression.">
            <a:extLst>
              <a:ext uri="{FF2B5EF4-FFF2-40B4-BE49-F238E27FC236}">
                <a16:creationId xmlns:a16="http://schemas.microsoft.com/office/drawing/2014/main" id="{5E7C7763-D976-4545-BEE9-662BEE1DD7E1}"/>
              </a:ext>
            </a:extLst>
          </p:cNvPr>
          <p:cNvGraphicFramePr>
            <a:graphicFrameLocks noChangeAspect="1"/>
          </p:cNvGraphicFramePr>
          <p:nvPr/>
        </p:nvGraphicFramePr>
        <p:xfrm>
          <a:off x="5730875" y="4187825"/>
          <a:ext cx="2008188" cy="1339850"/>
        </p:xfrm>
        <a:graphic>
          <a:graphicData uri="http://schemas.openxmlformats.org/presentationml/2006/ole">
            <mc:AlternateContent xmlns:mc="http://schemas.openxmlformats.org/markup-compatibility/2006">
              <mc:Choice xmlns:v="urn:schemas-microsoft-com:vml" Requires="v">
                <p:oleObj name="Equation" r:id="rId16" imgW="2209680" imgH="1473120" progId="Equation.DSMT4">
                  <p:embed/>
                </p:oleObj>
              </mc:Choice>
              <mc:Fallback>
                <p:oleObj name="Equation" r:id="rId16" imgW="2209680" imgH="1473120" progId="Equation.DSMT4">
                  <p:embed/>
                  <p:pic>
                    <p:nvPicPr>
                      <p:cNvPr id="13" name="Object 12" descr="Equals square root of start expression 171 minus start fraction 13 squared over 8 end fraction over 8 minus 1 end fraction end expression.">
                        <a:extLst>
                          <a:ext uri="{FF2B5EF4-FFF2-40B4-BE49-F238E27FC236}">
                            <a16:creationId xmlns:a16="http://schemas.microsoft.com/office/drawing/2014/main" id="{5E7C7763-D976-4545-BEE9-662BEE1DD7E1}"/>
                          </a:ext>
                        </a:extLst>
                      </p:cNvPr>
                      <p:cNvPicPr/>
                      <p:nvPr/>
                    </p:nvPicPr>
                    <p:blipFill>
                      <a:blip r:embed="rId17"/>
                      <a:stretch>
                        <a:fillRect/>
                      </a:stretch>
                    </p:blipFill>
                    <p:spPr>
                      <a:xfrm>
                        <a:off x="5730875" y="4187825"/>
                        <a:ext cx="2008188" cy="1339850"/>
                      </a:xfrm>
                      <a:prstGeom prst="rect">
                        <a:avLst/>
                      </a:prstGeom>
                    </p:spPr>
                  </p:pic>
                </p:oleObj>
              </mc:Fallback>
            </mc:AlternateContent>
          </a:graphicData>
        </a:graphic>
      </p:graphicFrame>
      <p:graphicFrame>
        <p:nvGraphicFramePr>
          <p:cNvPr id="14" name="Object 13" descr="Approximately equal to 4.6272.">
            <a:extLst>
              <a:ext uri="{FF2B5EF4-FFF2-40B4-BE49-F238E27FC236}">
                <a16:creationId xmlns:a16="http://schemas.microsoft.com/office/drawing/2014/main" id="{03A05228-670E-400E-8152-0D78AE99FEC8}"/>
              </a:ext>
            </a:extLst>
          </p:cNvPr>
          <p:cNvGraphicFramePr>
            <a:graphicFrameLocks noChangeAspect="1"/>
          </p:cNvGraphicFramePr>
          <p:nvPr/>
        </p:nvGraphicFramePr>
        <p:xfrm>
          <a:off x="5672138" y="5726113"/>
          <a:ext cx="1179512" cy="288925"/>
        </p:xfrm>
        <a:graphic>
          <a:graphicData uri="http://schemas.openxmlformats.org/presentationml/2006/ole">
            <mc:AlternateContent xmlns:mc="http://schemas.openxmlformats.org/markup-compatibility/2006">
              <mc:Choice xmlns:v="urn:schemas-microsoft-com:vml" Requires="v">
                <p:oleObj name="Equation" r:id="rId18" imgW="1295280" imgH="317160" progId="Equation.DSMT4">
                  <p:embed/>
                </p:oleObj>
              </mc:Choice>
              <mc:Fallback>
                <p:oleObj name="Equation" r:id="rId18" imgW="1295280" imgH="317160" progId="Equation.DSMT4">
                  <p:embed/>
                  <p:pic>
                    <p:nvPicPr>
                      <p:cNvPr id="14" name="Object 13" descr="Approximately equal to 4.6272.">
                        <a:extLst>
                          <a:ext uri="{FF2B5EF4-FFF2-40B4-BE49-F238E27FC236}">
                            <a16:creationId xmlns:a16="http://schemas.microsoft.com/office/drawing/2014/main" id="{03A05228-670E-400E-8152-0D78AE99FEC8}"/>
                          </a:ext>
                        </a:extLst>
                      </p:cNvPr>
                      <p:cNvPicPr/>
                      <p:nvPr/>
                    </p:nvPicPr>
                    <p:blipFill>
                      <a:blip r:embed="rId19"/>
                      <a:stretch>
                        <a:fillRect/>
                      </a:stretch>
                    </p:blipFill>
                    <p:spPr>
                      <a:xfrm>
                        <a:off x="5672138" y="5726113"/>
                        <a:ext cx="1179512" cy="288925"/>
                      </a:xfrm>
                      <a:prstGeom prst="rect">
                        <a:avLst/>
                      </a:prstGeom>
                    </p:spPr>
                  </p:pic>
                </p:oleObj>
              </mc:Fallback>
            </mc:AlternateContent>
          </a:graphicData>
        </a:graphic>
      </p:graphicFrame>
    </p:spTree>
    <p:extLst>
      <p:ext uri="{BB962C8B-B14F-4D97-AF65-F5344CB8AC3E}">
        <p14:creationId xmlns:p14="http://schemas.microsoft.com/office/powerpoint/2010/main" val="18283567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(4 of 5)</a:t>
            </a:r>
          </a:p>
        </p:txBody>
      </p:sp>
      <p:sp>
        <p:nvSpPr>
          <p:cNvPr id="4" name="Content Placeholder 3"/>
          <p:cNvSpPr>
            <a:spLocks noGrp="1"/>
          </p:cNvSpPr>
          <p:nvPr>
            <p:ph sz="quarter" idx="13"/>
          </p:nvPr>
        </p:nvSpPr>
        <p:spPr>
          <a:xfrm>
            <a:off x="457200" y="1552575"/>
            <a:ext cx="4589813" cy="430604"/>
          </a:xfrm>
        </p:spPr>
        <p:txBody>
          <a:bodyPr/>
          <a:lstStyle/>
          <a:p>
            <a:pPr marL="432" indent="0">
              <a:buNone/>
            </a:pPr>
            <a:r>
              <a:rPr lang="en-US" dirty="0"/>
              <a:t>The standardized test statistic is</a:t>
            </a:r>
          </a:p>
        </p:txBody>
      </p:sp>
      <p:graphicFrame>
        <p:nvGraphicFramePr>
          <p:cNvPr id="18" name="Object 17" descr="t equals fraction numerator d bar minus mu subscript d divided by denominator s subscript d divided by square root of n end root end fraction end fraction approximately equals to fraction numerator minus 1.75 minus 0 divided by denominator fraction numerator 2.1213 divided by denominator square root of 8 end root end fraction end fraction approximately equals to minus 2.333">
            <a:extLst>
              <a:ext uri="{FF2B5EF4-FFF2-40B4-BE49-F238E27FC236}">
                <a16:creationId xmlns:a16="http://schemas.microsoft.com/office/drawing/2014/main" id="{9124A77B-B5CF-4643-BC2C-89FFC6502DF7}"/>
              </a:ext>
            </a:extLst>
          </p:cNvPr>
          <p:cNvGraphicFramePr>
            <a:graphicFrameLocks noChangeAspect="1"/>
          </p:cNvGraphicFramePr>
          <p:nvPr/>
        </p:nvGraphicFramePr>
        <p:xfrm>
          <a:off x="1192892" y="2063443"/>
          <a:ext cx="4364182" cy="912091"/>
        </p:xfrm>
        <a:graphic>
          <a:graphicData uri="http://schemas.openxmlformats.org/presentationml/2006/ole">
            <mc:AlternateContent xmlns:mc="http://schemas.openxmlformats.org/markup-compatibility/2006">
              <mc:Choice xmlns:v="urn:schemas-microsoft-com:vml" Requires="v">
                <p:oleObj name="Equation" r:id="rId3" imgW="4800600" imgH="1002960" progId="Equation.DSMT4">
                  <p:embed/>
                </p:oleObj>
              </mc:Choice>
              <mc:Fallback>
                <p:oleObj name="Equation" r:id="rId3" imgW="4800600" imgH="1002960" progId="Equation.DSMT4">
                  <p:embed/>
                  <p:pic>
                    <p:nvPicPr>
                      <p:cNvPr id="18" name="Object 17" descr="t equals fraction numerator d bar minus mu subscript d divided by denominator s subscript d divided by square root of n end root end fraction end fraction approximately equals to fraction numerator minus 1.75 minus 0 divided by denominator fraction numerator 2.1213 divided by denominator square root of 8 end root end fraction end fraction approximately equals to minus 2.333">
                        <a:extLst>
                          <a:ext uri="{FF2B5EF4-FFF2-40B4-BE49-F238E27FC236}">
                            <a16:creationId xmlns:a16="http://schemas.microsoft.com/office/drawing/2014/main" id="{9124A77B-B5CF-4643-BC2C-89FFC6502DF7}"/>
                          </a:ext>
                        </a:extLst>
                      </p:cNvPr>
                      <p:cNvPicPr/>
                      <p:nvPr/>
                    </p:nvPicPr>
                    <p:blipFill>
                      <a:blip r:embed="rId4"/>
                      <a:stretch>
                        <a:fillRect/>
                      </a:stretch>
                    </p:blipFill>
                    <p:spPr>
                      <a:xfrm>
                        <a:off x="1192892" y="2063443"/>
                        <a:ext cx="4364182" cy="912091"/>
                      </a:xfrm>
                      <a:prstGeom prst="rect">
                        <a:avLst/>
                      </a:prstGeom>
                    </p:spPr>
                  </p:pic>
                </p:oleObj>
              </mc:Fallback>
            </mc:AlternateContent>
          </a:graphicData>
        </a:graphic>
      </p:graphicFrame>
      <p:sp>
        <p:nvSpPr>
          <p:cNvPr id="5" name="Content Placeholder 4"/>
          <p:cNvSpPr>
            <a:spLocks noGrp="1"/>
          </p:cNvSpPr>
          <p:nvPr>
            <p:ph sz="quarter" idx="14"/>
          </p:nvPr>
        </p:nvSpPr>
        <p:spPr>
          <a:xfrm>
            <a:off x="457200" y="3253838"/>
            <a:ext cx="3544784" cy="3091399"/>
          </a:xfrm>
        </p:spPr>
        <p:txBody>
          <a:bodyPr/>
          <a:lstStyle/>
          <a:p>
            <a:pPr marL="432" indent="0">
              <a:buNone/>
            </a:pPr>
            <a:r>
              <a:rPr lang="en-US" dirty="0">
                <a:solidFill>
                  <a:schemeClr val="tx1"/>
                </a:solidFill>
              </a:rPr>
              <a:t>The figure shows the location of the rejection region and the standardized test statistic </a:t>
            </a:r>
            <a:r>
              <a:rPr lang="en-US" i="1" dirty="0">
                <a:solidFill>
                  <a:schemeClr val="tx1"/>
                </a:solidFill>
              </a:rPr>
              <a:t>t</a:t>
            </a:r>
            <a:r>
              <a:rPr lang="en-US" dirty="0">
                <a:solidFill>
                  <a:schemeClr val="tx1"/>
                </a:solidFill>
              </a:rPr>
              <a:t>. Because </a:t>
            </a:r>
            <a:r>
              <a:rPr lang="en-US" i="1" dirty="0">
                <a:solidFill>
                  <a:schemeClr val="tx1"/>
                </a:solidFill>
              </a:rPr>
              <a:t>t</a:t>
            </a:r>
            <a:r>
              <a:rPr lang="en-US" dirty="0">
                <a:solidFill>
                  <a:schemeClr val="tx1"/>
                </a:solidFill>
              </a:rPr>
              <a:t> is not in the rejection region, you fail to reject the null hypothesis.</a:t>
            </a:r>
            <a:endParaRPr lang="en-US" altLang="en-US" dirty="0">
              <a:solidFill>
                <a:schemeClr val="tx1"/>
              </a:solidFill>
            </a:endParaRPr>
          </a:p>
        </p:txBody>
      </p:sp>
      <p:pic>
        <p:nvPicPr>
          <p:cNvPr id="19" name="Content Placeholder 18" descr="A graph shows a normal distribution curve. For long description in Notes pane, press F6."/>
          <p:cNvPicPr>
            <a:picLocks noGrp="1" noChangeAspect="1"/>
          </p:cNvPicPr>
          <p:nvPr>
            <p:ph sz="quarter" idx="15"/>
          </p:nvPr>
        </p:nvPicPr>
        <p:blipFill>
          <a:blip r:embed="rId5"/>
          <a:stretch>
            <a:fillRect/>
          </a:stretch>
        </p:blipFill>
        <p:spPr>
          <a:xfrm>
            <a:off x="4468969" y="3253838"/>
            <a:ext cx="4224894" cy="2560542"/>
          </a:xfrm>
          <a:prstGeom prst="rect">
            <a:avLst/>
          </a:prstGeom>
        </p:spPr>
      </p:pic>
    </p:spTree>
    <p:extLst>
      <p:ext uri="{BB962C8B-B14F-4D97-AF65-F5344CB8AC3E}">
        <p14:creationId xmlns:p14="http://schemas.microsoft.com/office/powerpoint/2010/main" val="38954527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t</a:t>
            </a:r>
            <a:r>
              <a:rPr lang="en-US" sz="3400" dirty="0"/>
              <a:t>-Test for the Difference Between Means </a:t>
            </a:r>
            <a:r>
              <a:rPr lang="en-US" sz="2000" b="0" dirty="0"/>
              <a:t>(5 of 5)</a:t>
            </a:r>
          </a:p>
        </p:txBody>
      </p:sp>
      <p:sp>
        <p:nvSpPr>
          <p:cNvPr id="3" name="Content Placeholder 2"/>
          <p:cNvSpPr>
            <a:spLocks noGrp="1"/>
          </p:cNvSpPr>
          <p:nvPr>
            <p:ph sz="quarter" idx="13"/>
          </p:nvPr>
        </p:nvSpPr>
        <p:spPr>
          <a:xfrm>
            <a:off x="457200" y="1556327"/>
            <a:ext cx="8229600" cy="2635663"/>
          </a:xfrm>
        </p:spPr>
        <p:txBody>
          <a:bodyPr/>
          <a:lstStyle/>
          <a:p>
            <a:pPr marL="432" indent="0">
              <a:buNone/>
            </a:pPr>
            <a:r>
              <a:rPr lang="en-US" dirty="0">
                <a:cs typeface="Times New Roman" panose="02020603050405020304" pitchFamily="18" charset="0"/>
              </a:rPr>
              <a:t>There is not enough evidence at the 10% level of significance to support the golf instruction and club fitting company’s claim that people who play golf can improve (decrease) their average golf scores by taking lessons from one of their coaches.</a:t>
            </a:r>
          </a:p>
        </p:txBody>
      </p:sp>
    </p:spTree>
    <p:extLst>
      <p:ext uri="{BB962C8B-B14F-4D97-AF65-F5344CB8AC3E}">
        <p14:creationId xmlns:p14="http://schemas.microsoft.com/office/powerpoint/2010/main" val="28031423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a:t>
            </a:r>
            <a:r>
              <a:rPr lang="en-US" sz="3400" i="1" dirty="0"/>
              <a:t>t</a:t>
            </a:r>
            <a:r>
              <a:rPr lang="en-US" sz="3400" dirty="0"/>
              <a:t>-Test for the Difference Between Means </a:t>
            </a:r>
            <a:r>
              <a:rPr lang="en-US" sz="2000" b="0" dirty="0"/>
              <a:t>(2 of 3)</a:t>
            </a:r>
          </a:p>
        </p:txBody>
      </p:sp>
      <p:sp>
        <p:nvSpPr>
          <p:cNvPr id="4" name="Content Placeholder 3"/>
          <p:cNvSpPr>
            <a:spLocks noGrp="1"/>
          </p:cNvSpPr>
          <p:nvPr>
            <p:ph sz="quarter" idx="13"/>
          </p:nvPr>
        </p:nvSpPr>
        <p:spPr>
          <a:xfrm>
            <a:off x="457199" y="1552575"/>
            <a:ext cx="8176161" cy="1879394"/>
          </a:xfrm>
        </p:spPr>
        <p:txBody>
          <a:bodyPr/>
          <a:lstStyle/>
          <a:p>
            <a:pPr marL="432" indent="0">
              <a:buNone/>
            </a:pPr>
            <a:r>
              <a:rPr lang="en-US" dirty="0"/>
              <a:t>The campaign staff for a state legislator wants to determine whether the legislator’s performance rating (0 –100) has changed from last year to this year. The table below shows the legislator’s performance ratings from the same 16 randomly selected voters for last year and this year. At</a:t>
            </a:r>
          </a:p>
        </p:txBody>
      </p:sp>
      <p:graphicFrame>
        <p:nvGraphicFramePr>
          <p:cNvPr id="18" name="Object 17" descr="alpha equals 0.05,">
            <a:extLst>
              <a:ext uri="{FF2B5EF4-FFF2-40B4-BE49-F238E27FC236}">
                <a16:creationId xmlns:a16="http://schemas.microsoft.com/office/drawing/2014/main" id="{E9B5CF38-EB16-44C4-8331-81863C8528F9}"/>
              </a:ext>
            </a:extLst>
          </p:cNvPr>
          <p:cNvGraphicFramePr>
            <a:graphicFrameLocks noChangeAspect="1"/>
          </p:cNvGraphicFramePr>
          <p:nvPr/>
        </p:nvGraphicFramePr>
        <p:xfrm>
          <a:off x="456688" y="3549404"/>
          <a:ext cx="1294775" cy="361043"/>
        </p:xfrm>
        <a:graphic>
          <a:graphicData uri="http://schemas.openxmlformats.org/presentationml/2006/ole">
            <mc:AlternateContent xmlns:mc="http://schemas.openxmlformats.org/markup-compatibility/2006">
              <mc:Choice xmlns:v="urn:schemas-microsoft-com:vml" Requires="v">
                <p:oleObj name="Equation" r:id="rId2" imgW="1320480" imgH="368280" progId="Equation.DSMT4">
                  <p:embed/>
                </p:oleObj>
              </mc:Choice>
              <mc:Fallback>
                <p:oleObj name="Equation" r:id="rId2" imgW="1320480" imgH="368280" progId="Equation.DSMT4">
                  <p:embed/>
                  <p:pic>
                    <p:nvPicPr>
                      <p:cNvPr id="18" name="Object 17" descr="alpha equals 0.05,">
                        <a:extLst>
                          <a:ext uri="{FF2B5EF4-FFF2-40B4-BE49-F238E27FC236}">
                            <a16:creationId xmlns:a16="http://schemas.microsoft.com/office/drawing/2014/main" id="{E9B5CF38-EB16-44C4-8331-81863C8528F9}"/>
                          </a:ext>
                        </a:extLst>
                      </p:cNvPr>
                      <p:cNvPicPr/>
                      <p:nvPr/>
                    </p:nvPicPr>
                    <p:blipFill>
                      <a:blip r:embed="rId3"/>
                      <a:stretch>
                        <a:fillRect/>
                      </a:stretch>
                    </p:blipFill>
                    <p:spPr>
                      <a:xfrm>
                        <a:off x="456688" y="3549404"/>
                        <a:ext cx="1294775" cy="361043"/>
                      </a:xfrm>
                      <a:prstGeom prst="rect">
                        <a:avLst/>
                      </a:prstGeom>
                    </p:spPr>
                  </p:pic>
                </p:oleObj>
              </mc:Fallback>
            </mc:AlternateContent>
          </a:graphicData>
        </a:graphic>
      </p:graphicFrame>
      <p:sp>
        <p:nvSpPr>
          <p:cNvPr id="5" name="Content Placeholder 4"/>
          <p:cNvSpPr>
            <a:spLocks noGrp="1"/>
          </p:cNvSpPr>
          <p:nvPr>
            <p:ph sz="quarter" idx="14"/>
          </p:nvPr>
        </p:nvSpPr>
        <p:spPr>
          <a:xfrm>
            <a:off x="1876304" y="3513779"/>
            <a:ext cx="6400798" cy="416953"/>
          </a:xfrm>
        </p:spPr>
        <p:txBody>
          <a:bodyPr/>
          <a:lstStyle/>
          <a:p>
            <a:pPr marL="432" indent="0">
              <a:buNone/>
            </a:pPr>
            <a:r>
              <a:rPr lang="en-US" dirty="0"/>
              <a:t>is there enough evidence to conclude that the</a:t>
            </a:r>
          </a:p>
        </p:txBody>
      </p:sp>
      <p:sp>
        <p:nvSpPr>
          <p:cNvPr id="6" name="Content Placeholder 5"/>
          <p:cNvSpPr>
            <a:spLocks noGrp="1"/>
          </p:cNvSpPr>
          <p:nvPr>
            <p:ph sz="quarter" idx="15"/>
          </p:nvPr>
        </p:nvSpPr>
        <p:spPr>
          <a:xfrm>
            <a:off x="457200" y="4027882"/>
            <a:ext cx="8176160" cy="801294"/>
          </a:xfrm>
        </p:spPr>
        <p:txBody>
          <a:bodyPr/>
          <a:lstStyle/>
          <a:p>
            <a:pPr marL="432" indent="0">
              <a:buNone/>
            </a:pPr>
            <a:r>
              <a:rPr lang="en-US" dirty="0"/>
              <a:t>legislator’s performance rating has changed? Assume the performance ratings are normally distributed.</a:t>
            </a:r>
            <a:endParaRPr lang="en-US" altLang="en-US" sz="2000" i="1" dirty="0">
              <a:solidFill>
                <a:srgbClr val="1F97FF"/>
              </a:solidFill>
            </a:endParaRPr>
          </a:p>
        </p:txBody>
      </p:sp>
    </p:spTree>
    <p:extLst>
      <p:ext uri="{BB962C8B-B14F-4D97-AF65-F5344CB8AC3E}">
        <p14:creationId xmlns:p14="http://schemas.microsoft.com/office/powerpoint/2010/main" val="21028473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a:t>
            </a:r>
            <a:r>
              <a:rPr lang="en-US" sz="3400" i="1" dirty="0"/>
              <a:t>t</a:t>
            </a:r>
            <a:r>
              <a:rPr lang="en-US" sz="3400" dirty="0"/>
              <a:t>-Test for the Difference Between Means </a:t>
            </a:r>
            <a:r>
              <a:rPr lang="en-US" sz="2000" b="0" dirty="0"/>
              <a:t>(3 of 3)</a:t>
            </a:r>
          </a:p>
        </p:txBody>
      </p:sp>
      <p:graphicFrame>
        <p:nvGraphicFramePr>
          <p:cNvPr id="11" name="Content Placeholder 10"/>
          <p:cNvGraphicFramePr>
            <a:graphicFrameLocks noGrp="1"/>
          </p:cNvGraphicFramePr>
          <p:nvPr>
            <p:ph sz="quarter" idx="13"/>
          </p:nvPr>
        </p:nvGraphicFramePr>
        <p:xfrm>
          <a:off x="457200" y="1555750"/>
          <a:ext cx="7796151" cy="1401207"/>
        </p:xfrm>
        <a:graphic>
          <a:graphicData uri="http://schemas.openxmlformats.org/drawingml/2006/table">
            <a:tbl>
              <a:tblPr firstCol="1" bandRow="1">
                <a:tableStyleId>{2D5ABB26-0587-4C30-8999-92F81FD0307C}</a:tableStyleId>
              </a:tblPr>
              <a:tblGrid>
                <a:gridCol w="1965366">
                  <a:extLst>
                    <a:ext uri="{9D8B030D-6E8A-4147-A177-3AD203B41FA5}">
                      <a16:colId xmlns:a16="http://schemas.microsoft.com/office/drawing/2014/main" val="3581472211"/>
                    </a:ext>
                  </a:extLst>
                </a:gridCol>
                <a:gridCol w="676894">
                  <a:extLst>
                    <a:ext uri="{9D8B030D-6E8A-4147-A177-3AD203B41FA5}">
                      <a16:colId xmlns:a16="http://schemas.microsoft.com/office/drawing/2014/main" val="2703684920"/>
                    </a:ext>
                  </a:extLst>
                </a:gridCol>
                <a:gridCol w="629392">
                  <a:extLst>
                    <a:ext uri="{9D8B030D-6E8A-4147-A177-3AD203B41FA5}">
                      <a16:colId xmlns:a16="http://schemas.microsoft.com/office/drawing/2014/main" val="3214537585"/>
                    </a:ext>
                  </a:extLst>
                </a:gridCol>
                <a:gridCol w="783771">
                  <a:extLst>
                    <a:ext uri="{9D8B030D-6E8A-4147-A177-3AD203B41FA5}">
                      <a16:colId xmlns:a16="http://schemas.microsoft.com/office/drawing/2014/main" val="1856144797"/>
                    </a:ext>
                  </a:extLst>
                </a:gridCol>
                <a:gridCol w="736271">
                  <a:extLst>
                    <a:ext uri="{9D8B030D-6E8A-4147-A177-3AD203B41FA5}">
                      <a16:colId xmlns:a16="http://schemas.microsoft.com/office/drawing/2014/main" val="2344863115"/>
                    </a:ext>
                  </a:extLst>
                </a:gridCol>
                <a:gridCol w="694706">
                  <a:extLst>
                    <a:ext uri="{9D8B030D-6E8A-4147-A177-3AD203B41FA5}">
                      <a16:colId xmlns:a16="http://schemas.microsoft.com/office/drawing/2014/main" val="3287318197"/>
                    </a:ext>
                  </a:extLst>
                </a:gridCol>
                <a:gridCol w="682831">
                  <a:extLst>
                    <a:ext uri="{9D8B030D-6E8A-4147-A177-3AD203B41FA5}">
                      <a16:colId xmlns:a16="http://schemas.microsoft.com/office/drawing/2014/main" val="273238565"/>
                    </a:ext>
                  </a:extLst>
                </a:gridCol>
                <a:gridCol w="760021">
                  <a:extLst>
                    <a:ext uri="{9D8B030D-6E8A-4147-A177-3AD203B41FA5}">
                      <a16:colId xmlns:a16="http://schemas.microsoft.com/office/drawing/2014/main" val="1903218107"/>
                    </a:ext>
                  </a:extLst>
                </a:gridCol>
                <a:gridCol w="866899">
                  <a:extLst>
                    <a:ext uri="{9D8B030D-6E8A-4147-A177-3AD203B41FA5}">
                      <a16:colId xmlns:a16="http://schemas.microsoft.com/office/drawing/2014/main" val="3246495332"/>
                    </a:ext>
                  </a:extLst>
                </a:gridCol>
              </a:tblGrid>
              <a:tr h="467069">
                <a:tc>
                  <a:txBody>
                    <a:bodyPr/>
                    <a:lstStyle/>
                    <a:p>
                      <a:pPr marL="176213" indent="-112713"/>
                      <a:r>
                        <a:rPr lang="en-US" sz="1600" b="1" dirty="0"/>
                        <a:t>Voter</a:t>
                      </a:r>
                      <a:endParaRPr lang="en-GB"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115222"/>
                  </a:ext>
                </a:extLst>
              </a:tr>
              <a:tr h="467069">
                <a:tc>
                  <a:txBody>
                    <a:bodyPr/>
                    <a:lstStyle/>
                    <a:p>
                      <a:pPr marL="0" indent="63500"/>
                      <a:r>
                        <a:rPr lang="en-US" sz="1600" b="1" dirty="0"/>
                        <a:t>Rating (last year)</a:t>
                      </a:r>
                      <a:endParaRPr lang="en-GB"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60</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54</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84</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91</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25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50</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626912"/>
                  </a:ext>
                </a:extLst>
              </a:tr>
              <a:tr h="467069">
                <a:tc>
                  <a:txBody>
                    <a:bodyPr/>
                    <a:lstStyle/>
                    <a:p>
                      <a:pPr marL="0" indent="63500"/>
                      <a:r>
                        <a:rPr lang="en-US" sz="1600" b="1" dirty="0"/>
                        <a:t>Rating (this year)</a:t>
                      </a:r>
                      <a:endParaRPr lang="en-GB"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54</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83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38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8694689"/>
                  </a:ext>
                </a:extLst>
              </a:tr>
            </a:tbl>
          </a:graphicData>
        </a:graphic>
      </p:graphicFrame>
      <p:graphicFrame>
        <p:nvGraphicFramePr>
          <p:cNvPr id="12" name="Content Placeholder 11"/>
          <p:cNvGraphicFramePr>
            <a:graphicFrameLocks noGrp="1"/>
          </p:cNvGraphicFramePr>
          <p:nvPr>
            <p:ph sz="quarter" idx="14"/>
          </p:nvPr>
        </p:nvGraphicFramePr>
        <p:xfrm>
          <a:off x="457200" y="3240377"/>
          <a:ext cx="7843652" cy="1476036"/>
        </p:xfrm>
        <a:graphic>
          <a:graphicData uri="http://schemas.openxmlformats.org/drawingml/2006/table">
            <a:tbl>
              <a:tblPr firstCol="1" bandRow="1">
                <a:tableStyleId>{2D5ABB26-0587-4C30-8999-92F81FD0307C}</a:tableStyleId>
              </a:tblPr>
              <a:tblGrid>
                <a:gridCol w="1941616">
                  <a:extLst>
                    <a:ext uri="{9D8B030D-6E8A-4147-A177-3AD203B41FA5}">
                      <a16:colId xmlns:a16="http://schemas.microsoft.com/office/drawing/2014/main" val="3943977307"/>
                    </a:ext>
                  </a:extLst>
                </a:gridCol>
                <a:gridCol w="688768">
                  <a:extLst>
                    <a:ext uri="{9D8B030D-6E8A-4147-A177-3AD203B41FA5}">
                      <a16:colId xmlns:a16="http://schemas.microsoft.com/office/drawing/2014/main" val="2501084109"/>
                    </a:ext>
                  </a:extLst>
                </a:gridCol>
                <a:gridCol w="605642">
                  <a:extLst>
                    <a:ext uri="{9D8B030D-6E8A-4147-A177-3AD203B41FA5}">
                      <a16:colId xmlns:a16="http://schemas.microsoft.com/office/drawing/2014/main" val="732259406"/>
                    </a:ext>
                  </a:extLst>
                </a:gridCol>
                <a:gridCol w="783771">
                  <a:extLst>
                    <a:ext uri="{9D8B030D-6E8A-4147-A177-3AD203B41FA5}">
                      <a16:colId xmlns:a16="http://schemas.microsoft.com/office/drawing/2014/main" val="3456012562"/>
                    </a:ext>
                  </a:extLst>
                </a:gridCol>
                <a:gridCol w="760021">
                  <a:extLst>
                    <a:ext uri="{9D8B030D-6E8A-4147-A177-3AD203B41FA5}">
                      <a16:colId xmlns:a16="http://schemas.microsoft.com/office/drawing/2014/main" val="2255997444"/>
                    </a:ext>
                  </a:extLst>
                </a:gridCol>
                <a:gridCol w="706582">
                  <a:extLst>
                    <a:ext uri="{9D8B030D-6E8A-4147-A177-3AD203B41FA5}">
                      <a16:colId xmlns:a16="http://schemas.microsoft.com/office/drawing/2014/main" val="2221501170"/>
                    </a:ext>
                  </a:extLst>
                </a:gridCol>
                <a:gridCol w="706582">
                  <a:extLst>
                    <a:ext uri="{9D8B030D-6E8A-4147-A177-3AD203B41FA5}">
                      <a16:colId xmlns:a16="http://schemas.microsoft.com/office/drawing/2014/main" val="1255937764"/>
                    </a:ext>
                  </a:extLst>
                </a:gridCol>
                <a:gridCol w="748145">
                  <a:extLst>
                    <a:ext uri="{9D8B030D-6E8A-4147-A177-3AD203B41FA5}">
                      <a16:colId xmlns:a16="http://schemas.microsoft.com/office/drawing/2014/main" val="292596707"/>
                    </a:ext>
                  </a:extLst>
                </a:gridCol>
                <a:gridCol w="902525">
                  <a:extLst>
                    <a:ext uri="{9D8B030D-6E8A-4147-A177-3AD203B41FA5}">
                      <a16:colId xmlns:a16="http://schemas.microsoft.com/office/drawing/2014/main" val="750606406"/>
                    </a:ext>
                  </a:extLst>
                </a:gridCol>
              </a:tblGrid>
              <a:tr h="492012">
                <a:tc>
                  <a:txBody>
                    <a:bodyPr/>
                    <a:lstStyle/>
                    <a:p>
                      <a:pPr marL="0" indent="63500"/>
                      <a:r>
                        <a:rPr lang="en-US" sz="1600" b="1" dirty="0"/>
                        <a:t>Voter</a:t>
                      </a:r>
                      <a:endParaRPr lang="en-GB"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9</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10</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11</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12</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14</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16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6341907"/>
                  </a:ext>
                </a:extLst>
              </a:tr>
              <a:tr h="492012">
                <a:tc>
                  <a:txBody>
                    <a:bodyPr/>
                    <a:lstStyle/>
                    <a:p>
                      <a:pPr marL="0" indent="63500"/>
                      <a:r>
                        <a:rPr lang="en-US" sz="1600" b="1" dirty="0"/>
                        <a:t>Rating (last year)</a:t>
                      </a:r>
                      <a:endParaRPr lang="en-GB"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81</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45</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62</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79</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63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7897905"/>
                  </a:ext>
                </a:extLst>
              </a:tr>
              <a:tr h="492012">
                <a:tc>
                  <a:txBody>
                    <a:bodyPr/>
                    <a:lstStyle/>
                    <a:p>
                      <a:pPr marL="0" indent="63500"/>
                      <a:r>
                        <a:rPr lang="en-US" sz="1600" b="1" dirty="0"/>
                        <a:t>Rating (this year)</a:t>
                      </a:r>
                      <a:endParaRPr lang="en-GB"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72</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76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48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83</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51</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58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3636423"/>
                  </a:ext>
                </a:extLst>
              </a:tr>
            </a:tbl>
          </a:graphicData>
        </a:graphic>
      </p:graphicFrame>
    </p:spTree>
    <p:extLst>
      <p:ext uri="{BB962C8B-B14F-4D97-AF65-F5344CB8AC3E}">
        <p14:creationId xmlns:p14="http://schemas.microsoft.com/office/powerpoint/2010/main" val="2605692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a:t>
            </a:r>
            <a:r>
              <a:rPr lang="en-US" sz="3400" i="1" dirty="0"/>
              <a:t>t</a:t>
            </a:r>
            <a:r>
              <a:rPr lang="en-US" sz="3400" dirty="0"/>
              <a:t>-Test for the Difference Between Means </a:t>
            </a:r>
            <a:r>
              <a:rPr lang="en-US" sz="2000" b="0" dirty="0"/>
              <a:t>(1 of 5)</a:t>
            </a:r>
          </a:p>
        </p:txBody>
      </p:sp>
      <p:sp>
        <p:nvSpPr>
          <p:cNvPr id="4" name="Content Placeholder 3"/>
          <p:cNvSpPr>
            <a:spLocks noGrp="1"/>
          </p:cNvSpPr>
          <p:nvPr>
            <p:ph sz="quarter" idx="13"/>
          </p:nvPr>
        </p:nvSpPr>
        <p:spPr>
          <a:xfrm>
            <a:off x="457200" y="1556327"/>
            <a:ext cx="8229600" cy="2861294"/>
          </a:xfrm>
        </p:spPr>
        <p:txBody>
          <a:bodyPr/>
          <a:lstStyle/>
          <a:p>
            <a:pPr marL="0" indent="0">
              <a:buNone/>
            </a:pPr>
            <a:r>
              <a:rPr lang="en-US" b="1" dirty="0">
                <a:solidFill>
                  <a:schemeClr val="tx1"/>
                </a:solidFill>
              </a:rPr>
              <a:t>Solution:</a:t>
            </a:r>
          </a:p>
          <a:p>
            <a:pPr marL="0" indent="0">
              <a:buNone/>
            </a:pPr>
            <a:r>
              <a:rPr lang="en-US" dirty="0">
                <a:solidFill>
                  <a:schemeClr val="tx1"/>
                </a:solidFill>
              </a:rPr>
              <a:t>Because the samples are random and dependent, and the populations are normally distributed, you can use the </a:t>
            </a:r>
            <a:r>
              <a:rPr lang="en-US" i="1" dirty="0">
                <a:solidFill>
                  <a:schemeClr val="tx1"/>
                </a:solidFill>
              </a:rPr>
              <a:t>t</a:t>
            </a:r>
            <a:r>
              <a:rPr lang="en-US" dirty="0">
                <a:solidFill>
                  <a:schemeClr val="tx1"/>
                </a:solidFill>
              </a:rPr>
              <a:t>-test. If there is a change in the legislator’s rating, then there will be a difference between last year’s ratings and this year’s ratings. Because the legislator wants to determine whether there is a difference, the null and alternative hypotheses are</a:t>
            </a:r>
          </a:p>
        </p:txBody>
      </p:sp>
      <p:graphicFrame>
        <p:nvGraphicFramePr>
          <p:cNvPr id="6" name="Object 5" descr="H sub-zero: mu subscript d equals 0 and H sub-a: mu subscript d not equals to 0">
            <a:extLst>
              <a:ext uri="{FF2B5EF4-FFF2-40B4-BE49-F238E27FC236}">
                <a16:creationId xmlns:a16="http://schemas.microsoft.com/office/drawing/2014/main" id="{AFEB3A6E-1D67-4B0C-BDF6-0C48C3671AAC}"/>
              </a:ext>
            </a:extLst>
          </p:cNvPr>
          <p:cNvGraphicFramePr>
            <a:graphicFrameLocks noChangeAspect="1"/>
          </p:cNvGraphicFramePr>
          <p:nvPr/>
        </p:nvGraphicFramePr>
        <p:xfrm>
          <a:off x="1690688" y="4670425"/>
          <a:ext cx="3832225" cy="415925"/>
        </p:xfrm>
        <a:graphic>
          <a:graphicData uri="http://schemas.openxmlformats.org/presentationml/2006/ole">
            <mc:AlternateContent xmlns:mc="http://schemas.openxmlformats.org/markup-compatibility/2006">
              <mc:Choice xmlns:v="urn:schemas-microsoft-com:vml" Requires="v">
                <p:oleObj name="Equation" r:id="rId2" imgW="3987720" imgH="431640" progId="Equation.DSMT4">
                  <p:embed/>
                </p:oleObj>
              </mc:Choice>
              <mc:Fallback>
                <p:oleObj name="Equation" r:id="rId2" imgW="3987720" imgH="431640" progId="Equation.DSMT4">
                  <p:embed/>
                  <p:pic>
                    <p:nvPicPr>
                      <p:cNvPr id="6" name="Object 5" descr="H sub-zero: mu subscript d equals 0 and H sub-a: mu subscript d not equals to 0">
                        <a:extLst>
                          <a:ext uri="{FF2B5EF4-FFF2-40B4-BE49-F238E27FC236}">
                            <a16:creationId xmlns:a16="http://schemas.microsoft.com/office/drawing/2014/main" id="{AFEB3A6E-1D67-4B0C-BDF6-0C48C3671AAC}"/>
                          </a:ext>
                        </a:extLst>
                      </p:cNvPr>
                      <p:cNvPicPr/>
                      <p:nvPr/>
                    </p:nvPicPr>
                    <p:blipFill>
                      <a:blip r:embed="rId3"/>
                      <a:stretch>
                        <a:fillRect/>
                      </a:stretch>
                    </p:blipFill>
                    <p:spPr>
                      <a:xfrm>
                        <a:off x="1690688" y="4670425"/>
                        <a:ext cx="3832225" cy="415925"/>
                      </a:xfrm>
                      <a:prstGeom prst="rect">
                        <a:avLst/>
                      </a:prstGeom>
                    </p:spPr>
                  </p:pic>
                </p:oleObj>
              </mc:Fallback>
            </mc:AlternateContent>
          </a:graphicData>
        </a:graphic>
      </p:graphicFrame>
      <p:sp>
        <p:nvSpPr>
          <p:cNvPr id="5" name="Content Placeholder 4"/>
          <p:cNvSpPr>
            <a:spLocks noGrp="1"/>
          </p:cNvSpPr>
          <p:nvPr>
            <p:ph sz="quarter" idx="14"/>
          </p:nvPr>
        </p:nvSpPr>
        <p:spPr>
          <a:xfrm>
            <a:off x="5676409" y="4662618"/>
            <a:ext cx="1175658" cy="431800"/>
          </a:xfrm>
        </p:spPr>
        <p:txBody>
          <a:bodyPr/>
          <a:lstStyle/>
          <a:p>
            <a:pPr marL="0" indent="0">
              <a:buNone/>
            </a:pPr>
            <a:r>
              <a:rPr lang="en-US" dirty="0">
                <a:solidFill>
                  <a:schemeClr val="tx1"/>
                </a:solidFill>
              </a:rPr>
              <a:t>(Claim)</a:t>
            </a:r>
          </a:p>
        </p:txBody>
      </p:sp>
    </p:spTree>
    <p:extLst>
      <p:ext uri="{BB962C8B-B14F-4D97-AF65-F5344CB8AC3E}">
        <p14:creationId xmlns:p14="http://schemas.microsoft.com/office/powerpoint/2010/main" val="21710962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a:t>
            </a:r>
            <a:r>
              <a:rPr lang="en-US" sz="3400" i="1" dirty="0"/>
              <a:t>t</a:t>
            </a:r>
            <a:r>
              <a:rPr lang="en-US" sz="3400" dirty="0"/>
              <a:t>-Test for the Difference Between Means </a:t>
            </a:r>
            <a:r>
              <a:rPr lang="en-US" sz="2000" b="0" dirty="0"/>
              <a:t>(2 of 5)</a:t>
            </a:r>
          </a:p>
        </p:txBody>
      </p:sp>
      <p:sp>
        <p:nvSpPr>
          <p:cNvPr id="4" name="Content Placeholder 3"/>
          <p:cNvSpPr>
            <a:spLocks noGrp="1"/>
          </p:cNvSpPr>
          <p:nvPr>
            <p:ph sz="quarter" idx="13"/>
          </p:nvPr>
        </p:nvSpPr>
        <p:spPr>
          <a:xfrm>
            <a:off x="457200" y="1552575"/>
            <a:ext cx="5005449" cy="418729"/>
          </a:xfrm>
        </p:spPr>
        <p:txBody>
          <a:bodyPr/>
          <a:lstStyle/>
          <a:p>
            <a:pPr marL="432" indent="0">
              <a:buNone/>
            </a:pPr>
            <a:r>
              <a:rPr lang="en-US" dirty="0"/>
              <a:t>Because the test is a two-tailed test,</a:t>
            </a:r>
          </a:p>
        </p:txBody>
      </p:sp>
      <p:graphicFrame>
        <p:nvGraphicFramePr>
          <p:cNvPr id="18" name="Object 17" descr="alpha equals 0.05,">
            <a:extLst>
              <a:ext uri="{FF2B5EF4-FFF2-40B4-BE49-F238E27FC236}">
                <a16:creationId xmlns:a16="http://schemas.microsoft.com/office/drawing/2014/main" id="{6C10E0C5-24EB-4367-8831-A7F341AADE0B}"/>
              </a:ext>
            </a:extLst>
          </p:cNvPr>
          <p:cNvGraphicFramePr>
            <a:graphicFrameLocks noChangeAspect="1"/>
          </p:cNvGraphicFramePr>
          <p:nvPr/>
        </p:nvGraphicFramePr>
        <p:xfrm>
          <a:off x="5503863" y="1581150"/>
          <a:ext cx="1320800" cy="368300"/>
        </p:xfrm>
        <a:graphic>
          <a:graphicData uri="http://schemas.openxmlformats.org/presentationml/2006/ole">
            <mc:AlternateContent xmlns:mc="http://schemas.openxmlformats.org/markup-compatibility/2006">
              <mc:Choice xmlns:v="urn:schemas-microsoft-com:vml" Requires="v">
                <p:oleObj name="Equation" r:id="rId2" imgW="1320480" imgH="368280" progId="Equation.DSMT4">
                  <p:embed/>
                </p:oleObj>
              </mc:Choice>
              <mc:Fallback>
                <p:oleObj name="Equation" r:id="rId2" imgW="1320480" imgH="368280" progId="Equation.DSMT4">
                  <p:embed/>
                  <p:pic>
                    <p:nvPicPr>
                      <p:cNvPr id="18" name="Object 17" descr="alpha equals 0.05,">
                        <a:extLst>
                          <a:ext uri="{FF2B5EF4-FFF2-40B4-BE49-F238E27FC236}">
                            <a16:creationId xmlns:a16="http://schemas.microsoft.com/office/drawing/2014/main" id="{6C10E0C5-24EB-4367-8831-A7F341AADE0B}"/>
                          </a:ext>
                        </a:extLst>
                      </p:cNvPr>
                      <p:cNvPicPr/>
                      <p:nvPr/>
                    </p:nvPicPr>
                    <p:blipFill>
                      <a:blip r:embed="rId3"/>
                      <a:stretch>
                        <a:fillRect/>
                      </a:stretch>
                    </p:blipFill>
                    <p:spPr>
                      <a:xfrm>
                        <a:off x="5503863" y="1581150"/>
                        <a:ext cx="1320800" cy="368300"/>
                      </a:xfrm>
                      <a:prstGeom prst="rect">
                        <a:avLst/>
                      </a:prstGeom>
                    </p:spPr>
                  </p:pic>
                </p:oleObj>
              </mc:Fallback>
            </mc:AlternateContent>
          </a:graphicData>
        </a:graphic>
      </p:graphicFrame>
      <p:sp>
        <p:nvSpPr>
          <p:cNvPr id="5" name="Content Placeholder 4"/>
          <p:cNvSpPr>
            <a:spLocks noGrp="1"/>
          </p:cNvSpPr>
          <p:nvPr>
            <p:ph sz="quarter" idx="14"/>
          </p:nvPr>
        </p:nvSpPr>
        <p:spPr>
          <a:xfrm>
            <a:off x="6984627" y="1552575"/>
            <a:ext cx="698706" cy="418729"/>
          </a:xfrm>
        </p:spPr>
        <p:txBody>
          <a:bodyPr/>
          <a:lstStyle/>
          <a:p>
            <a:pPr marL="432" indent="0">
              <a:buNone/>
            </a:pPr>
            <a:r>
              <a:rPr lang="en-US" dirty="0"/>
              <a:t>and</a:t>
            </a:r>
          </a:p>
        </p:txBody>
      </p:sp>
      <p:graphicFrame>
        <p:nvGraphicFramePr>
          <p:cNvPr id="19" name="Object 18" descr="d.f. equals 16 minus 1 equals 15">
            <a:extLst>
              <a:ext uri="{FF2B5EF4-FFF2-40B4-BE49-F238E27FC236}">
                <a16:creationId xmlns:a16="http://schemas.microsoft.com/office/drawing/2014/main" id="{2150B0C6-08FD-4A3E-9938-126104A695E9}"/>
              </a:ext>
            </a:extLst>
          </p:cNvPr>
          <p:cNvGraphicFramePr>
            <a:graphicFrameLocks noChangeAspect="1"/>
          </p:cNvGraphicFramePr>
          <p:nvPr/>
        </p:nvGraphicFramePr>
        <p:xfrm>
          <a:off x="430213" y="2073150"/>
          <a:ext cx="2336800" cy="368300"/>
        </p:xfrm>
        <a:graphic>
          <a:graphicData uri="http://schemas.openxmlformats.org/presentationml/2006/ole">
            <mc:AlternateContent xmlns:mc="http://schemas.openxmlformats.org/markup-compatibility/2006">
              <mc:Choice xmlns:v="urn:schemas-microsoft-com:vml" Requires="v">
                <p:oleObj name="Equation" r:id="rId4" imgW="2336760" imgH="368280" progId="Equation.DSMT4">
                  <p:embed/>
                </p:oleObj>
              </mc:Choice>
              <mc:Fallback>
                <p:oleObj name="Equation" r:id="rId4" imgW="2336760" imgH="368280" progId="Equation.DSMT4">
                  <p:embed/>
                  <p:pic>
                    <p:nvPicPr>
                      <p:cNvPr id="19" name="Object 18" descr="d.f. equals 16 minus 1 equals 15">
                        <a:extLst>
                          <a:ext uri="{FF2B5EF4-FFF2-40B4-BE49-F238E27FC236}">
                            <a16:creationId xmlns:a16="http://schemas.microsoft.com/office/drawing/2014/main" id="{2150B0C6-08FD-4A3E-9938-126104A695E9}"/>
                          </a:ext>
                        </a:extLst>
                      </p:cNvPr>
                      <p:cNvPicPr/>
                      <p:nvPr/>
                    </p:nvPicPr>
                    <p:blipFill>
                      <a:blip r:embed="rId5"/>
                      <a:stretch>
                        <a:fillRect/>
                      </a:stretch>
                    </p:blipFill>
                    <p:spPr>
                      <a:xfrm>
                        <a:off x="430213" y="2073150"/>
                        <a:ext cx="2336800" cy="368300"/>
                      </a:xfrm>
                      <a:prstGeom prst="rect">
                        <a:avLst/>
                      </a:prstGeom>
                    </p:spPr>
                  </p:pic>
                </p:oleObj>
              </mc:Fallback>
            </mc:AlternateContent>
          </a:graphicData>
        </a:graphic>
      </p:graphicFrame>
      <p:sp>
        <p:nvSpPr>
          <p:cNvPr id="6" name="Content Placeholder 5"/>
          <p:cNvSpPr>
            <a:spLocks noGrp="1"/>
          </p:cNvSpPr>
          <p:nvPr>
            <p:ph sz="quarter" idx="15"/>
          </p:nvPr>
        </p:nvSpPr>
        <p:spPr>
          <a:xfrm>
            <a:off x="2909456" y="2061276"/>
            <a:ext cx="3004457" cy="408792"/>
          </a:xfrm>
        </p:spPr>
        <p:txBody>
          <a:bodyPr/>
          <a:lstStyle/>
          <a:p>
            <a:pPr marL="432" indent="0">
              <a:buNone/>
            </a:pPr>
            <a:r>
              <a:rPr lang="en-US" dirty="0"/>
              <a:t>the critical values are</a:t>
            </a:r>
          </a:p>
        </p:txBody>
      </p:sp>
      <p:graphicFrame>
        <p:nvGraphicFramePr>
          <p:cNvPr id="20" name="Object 19" descr="Negative t sub 0 = negative 2.131 and">
            <a:extLst>
              <a:ext uri="{FF2B5EF4-FFF2-40B4-BE49-F238E27FC236}">
                <a16:creationId xmlns:a16="http://schemas.microsoft.com/office/drawing/2014/main" id="{E1D04B24-F520-4CAF-A5F7-9BB501DE270D}"/>
              </a:ext>
            </a:extLst>
          </p:cNvPr>
          <p:cNvGraphicFramePr>
            <a:graphicFrameLocks noChangeAspect="1"/>
          </p:cNvGraphicFramePr>
          <p:nvPr/>
        </p:nvGraphicFramePr>
        <p:xfrm>
          <a:off x="5997763" y="2060575"/>
          <a:ext cx="2425700" cy="431800"/>
        </p:xfrm>
        <a:graphic>
          <a:graphicData uri="http://schemas.openxmlformats.org/presentationml/2006/ole">
            <mc:AlternateContent xmlns:mc="http://schemas.openxmlformats.org/markup-compatibility/2006">
              <mc:Choice xmlns:v="urn:schemas-microsoft-com:vml" Requires="v">
                <p:oleObj name="Equation" r:id="rId6" imgW="2425680" imgH="431640" progId="Equation.DSMT4">
                  <p:embed/>
                </p:oleObj>
              </mc:Choice>
              <mc:Fallback>
                <p:oleObj name="Equation" r:id="rId6" imgW="2425680" imgH="431640" progId="Equation.DSMT4">
                  <p:embed/>
                  <p:pic>
                    <p:nvPicPr>
                      <p:cNvPr id="20" name="Object 19" descr="Negative t sub 0 = negative 2.131 and">
                        <a:extLst>
                          <a:ext uri="{FF2B5EF4-FFF2-40B4-BE49-F238E27FC236}">
                            <a16:creationId xmlns:a16="http://schemas.microsoft.com/office/drawing/2014/main" id="{E1D04B24-F520-4CAF-A5F7-9BB501DE270D}"/>
                          </a:ext>
                        </a:extLst>
                      </p:cNvPr>
                      <p:cNvPicPr/>
                      <p:nvPr/>
                    </p:nvPicPr>
                    <p:blipFill>
                      <a:blip r:embed="rId7"/>
                      <a:stretch>
                        <a:fillRect/>
                      </a:stretch>
                    </p:blipFill>
                    <p:spPr>
                      <a:xfrm>
                        <a:off x="5997763" y="2060575"/>
                        <a:ext cx="2425700" cy="431800"/>
                      </a:xfrm>
                      <a:prstGeom prst="rect">
                        <a:avLst/>
                      </a:prstGeom>
                    </p:spPr>
                  </p:pic>
                </p:oleObj>
              </mc:Fallback>
            </mc:AlternateContent>
          </a:graphicData>
        </a:graphic>
      </p:graphicFrame>
      <p:graphicFrame>
        <p:nvGraphicFramePr>
          <p:cNvPr id="21" name="Object 20" descr="t sub 0 = 2.131.">
            <a:extLst>
              <a:ext uri="{FF2B5EF4-FFF2-40B4-BE49-F238E27FC236}">
                <a16:creationId xmlns:a16="http://schemas.microsoft.com/office/drawing/2014/main" id="{E770DE08-E911-4528-B216-05CE00C68AF9}"/>
              </a:ext>
            </a:extLst>
          </p:cNvPr>
          <p:cNvGraphicFramePr>
            <a:graphicFrameLocks noChangeAspect="1"/>
          </p:cNvGraphicFramePr>
          <p:nvPr/>
        </p:nvGraphicFramePr>
        <p:xfrm>
          <a:off x="457200" y="2543776"/>
          <a:ext cx="1485900" cy="431800"/>
        </p:xfrm>
        <a:graphic>
          <a:graphicData uri="http://schemas.openxmlformats.org/presentationml/2006/ole">
            <mc:AlternateContent xmlns:mc="http://schemas.openxmlformats.org/markup-compatibility/2006">
              <mc:Choice xmlns:v="urn:schemas-microsoft-com:vml" Requires="v">
                <p:oleObj name="Equation" r:id="rId8" imgW="1485720" imgH="431640" progId="Equation.DSMT4">
                  <p:embed/>
                </p:oleObj>
              </mc:Choice>
              <mc:Fallback>
                <p:oleObj name="Equation" r:id="rId8" imgW="1485720" imgH="431640" progId="Equation.DSMT4">
                  <p:embed/>
                  <p:pic>
                    <p:nvPicPr>
                      <p:cNvPr id="21" name="Object 20" descr="t sub 0 = 2.131.">
                        <a:extLst>
                          <a:ext uri="{FF2B5EF4-FFF2-40B4-BE49-F238E27FC236}">
                            <a16:creationId xmlns:a16="http://schemas.microsoft.com/office/drawing/2014/main" id="{E770DE08-E911-4528-B216-05CE00C68AF9}"/>
                          </a:ext>
                        </a:extLst>
                      </p:cNvPr>
                      <p:cNvPicPr/>
                      <p:nvPr/>
                    </p:nvPicPr>
                    <p:blipFill>
                      <a:blip r:embed="rId9"/>
                      <a:stretch>
                        <a:fillRect/>
                      </a:stretch>
                    </p:blipFill>
                    <p:spPr>
                      <a:xfrm>
                        <a:off x="457200" y="2543776"/>
                        <a:ext cx="1485900" cy="431800"/>
                      </a:xfrm>
                      <a:prstGeom prst="rect">
                        <a:avLst/>
                      </a:prstGeom>
                    </p:spPr>
                  </p:pic>
                </p:oleObj>
              </mc:Fallback>
            </mc:AlternateContent>
          </a:graphicData>
        </a:graphic>
      </p:graphicFrame>
      <p:sp>
        <p:nvSpPr>
          <p:cNvPr id="7" name="Content Placeholder 6"/>
          <p:cNvSpPr>
            <a:spLocks noGrp="1"/>
          </p:cNvSpPr>
          <p:nvPr>
            <p:ph sz="quarter" idx="16"/>
          </p:nvPr>
        </p:nvSpPr>
        <p:spPr>
          <a:xfrm>
            <a:off x="2054433" y="2567527"/>
            <a:ext cx="3526972" cy="413179"/>
          </a:xfrm>
        </p:spPr>
        <p:txBody>
          <a:bodyPr/>
          <a:lstStyle/>
          <a:p>
            <a:pPr marL="432" indent="0">
              <a:buNone/>
            </a:pPr>
            <a:r>
              <a:rPr lang="en-US" dirty="0"/>
              <a:t>The rejection regions are</a:t>
            </a:r>
          </a:p>
        </p:txBody>
      </p:sp>
      <p:graphicFrame>
        <p:nvGraphicFramePr>
          <p:cNvPr id="22" name="Object 21" descr="t less than negative 2.131 and t greater than 2.131.">
            <a:extLst>
              <a:ext uri="{FF2B5EF4-FFF2-40B4-BE49-F238E27FC236}">
                <a16:creationId xmlns:a16="http://schemas.microsoft.com/office/drawing/2014/main" id="{6E1EB9DB-71A3-4A22-A94F-26AD318DFD7E}"/>
              </a:ext>
            </a:extLst>
          </p:cNvPr>
          <p:cNvGraphicFramePr>
            <a:graphicFrameLocks noChangeAspect="1"/>
          </p:cNvGraphicFramePr>
          <p:nvPr/>
        </p:nvGraphicFramePr>
        <p:xfrm>
          <a:off x="5640388" y="2595563"/>
          <a:ext cx="3221037" cy="357187"/>
        </p:xfrm>
        <a:graphic>
          <a:graphicData uri="http://schemas.openxmlformats.org/presentationml/2006/ole">
            <mc:AlternateContent xmlns:mc="http://schemas.openxmlformats.org/markup-compatibility/2006">
              <mc:Choice xmlns:v="urn:schemas-microsoft-com:vml" Requires="v">
                <p:oleObj name="Equation" r:id="rId10" imgW="3543120" imgH="393480" progId="Equation.DSMT4">
                  <p:embed/>
                </p:oleObj>
              </mc:Choice>
              <mc:Fallback>
                <p:oleObj name="Equation" r:id="rId10" imgW="3543120" imgH="393480" progId="Equation.DSMT4">
                  <p:embed/>
                  <p:pic>
                    <p:nvPicPr>
                      <p:cNvPr id="22" name="Object 21" descr="t less than negative 2.131 and t greater than 2.131.">
                        <a:extLst>
                          <a:ext uri="{FF2B5EF4-FFF2-40B4-BE49-F238E27FC236}">
                            <a16:creationId xmlns:a16="http://schemas.microsoft.com/office/drawing/2014/main" id="{6E1EB9DB-71A3-4A22-A94F-26AD318DFD7E}"/>
                          </a:ext>
                        </a:extLst>
                      </p:cNvPr>
                      <p:cNvPicPr/>
                      <p:nvPr/>
                    </p:nvPicPr>
                    <p:blipFill>
                      <a:blip r:embed="rId11"/>
                      <a:stretch>
                        <a:fillRect/>
                      </a:stretch>
                    </p:blipFill>
                    <p:spPr>
                      <a:xfrm>
                        <a:off x="5640388" y="2595563"/>
                        <a:ext cx="3221037" cy="357187"/>
                      </a:xfrm>
                      <a:prstGeom prst="rect">
                        <a:avLst/>
                      </a:prstGeom>
                    </p:spPr>
                  </p:pic>
                </p:oleObj>
              </mc:Fallback>
            </mc:AlternateContent>
          </a:graphicData>
        </a:graphic>
      </p:graphicFrame>
    </p:spTree>
    <p:extLst>
      <p:ext uri="{BB962C8B-B14F-4D97-AF65-F5344CB8AC3E}">
        <p14:creationId xmlns:p14="http://schemas.microsoft.com/office/powerpoint/2010/main" val="2803128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a:t>
            </a:r>
            <a:r>
              <a:rPr lang="en-US" sz="3400" i="1" dirty="0"/>
              <a:t>t</a:t>
            </a:r>
            <a:r>
              <a:rPr lang="en-US" sz="3400" dirty="0"/>
              <a:t>-Test for the Difference Between Means </a:t>
            </a:r>
            <a:r>
              <a:rPr lang="en-US" sz="2000" b="0" dirty="0"/>
              <a:t>(3 of 5)</a:t>
            </a:r>
          </a:p>
        </p:txBody>
      </p:sp>
      <p:graphicFrame>
        <p:nvGraphicFramePr>
          <p:cNvPr id="5" name="Content Placeholder 4"/>
          <p:cNvGraphicFramePr>
            <a:graphicFrameLocks noGrp="1"/>
          </p:cNvGraphicFramePr>
          <p:nvPr>
            <p:ph sz="quarter" idx="13"/>
          </p:nvPr>
        </p:nvGraphicFramePr>
        <p:xfrm>
          <a:off x="457200" y="1555750"/>
          <a:ext cx="4019796" cy="4789494"/>
        </p:xfrm>
        <a:graphic>
          <a:graphicData uri="http://schemas.openxmlformats.org/drawingml/2006/table">
            <a:tbl>
              <a:tblPr firstRow="1" bandRow="1">
                <a:tableStyleId>{2D5ABB26-0587-4C30-8999-92F81FD0307C}</a:tableStyleId>
              </a:tblPr>
              <a:tblGrid>
                <a:gridCol w="1004949">
                  <a:extLst>
                    <a:ext uri="{9D8B030D-6E8A-4147-A177-3AD203B41FA5}">
                      <a16:colId xmlns:a16="http://schemas.microsoft.com/office/drawing/2014/main" val="1398516370"/>
                    </a:ext>
                  </a:extLst>
                </a:gridCol>
                <a:gridCol w="1004949">
                  <a:extLst>
                    <a:ext uri="{9D8B030D-6E8A-4147-A177-3AD203B41FA5}">
                      <a16:colId xmlns:a16="http://schemas.microsoft.com/office/drawing/2014/main" val="2226461227"/>
                    </a:ext>
                  </a:extLst>
                </a:gridCol>
                <a:gridCol w="1004949">
                  <a:extLst>
                    <a:ext uri="{9D8B030D-6E8A-4147-A177-3AD203B41FA5}">
                      <a16:colId xmlns:a16="http://schemas.microsoft.com/office/drawing/2014/main" val="4029769178"/>
                    </a:ext>
                  </a:extLst>
                </a:gridCol>
                <a:gridCol w="1004949">
                  <a:extLst>
                    <a:ext uri="{9D8B030D-6E8A-4147-A177-3AD203B41FA5}">
                      <a16:colId xmlns:a16="http://schemas.microsoft.com/office/drawing/2014/main" val="3049860697"/>
                    </a:ext>
                  </a:extLst>
                </a:gridCol>
              </a:tblGrid>
              <a:tr h="266083">
                <a:tc>
                  <a:txBody>
                    <a:bodyPr/>
                    <a:lstStyle/>
                    <a:p>
                      <a:pPr algn="ctr"/>
                      <a:r>
                        <a:rPr lang="en-US" sz="1200" b="1" noProof="0" dirty="0"/>
                        <a:t>Before</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noProof="0" dirty="0"/>
                        <a:t>After</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1" noProof="0" dirty="0"/>
                        <a:t>d</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d squared.</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3851371"/>
                  </a:ext>
                </a:extLst>
              </a:tr>
              <a:tr h="266083">
                <a:tc>
                  <a:txBody>
                    <a:bodyPr/>
                    <a:lstStyle/>
                    <a:p>
                      <a:pPr algn="ctr"/>
                      <a:r>
                        <a:rPr lang="en-US" sz="1200" noProof="0" dirty="0"/>
                        <a:t>60</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54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36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3466444"/>
                  </a:ext>
                </a:extLst>
              </a:tr>
              <a:tr h="266083">
                <a:tc>
                  <a:txBody>
                    <a:bodyPr/>
                    <a:lstStyle/>
                    <a:p>
                      <a:pPr algn="ctr"/>
                      <a:r>
                        <a:rPr lang="en-US" sz="1200" noProof="0" dirty="0"/>
                        <a:t>54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46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64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0138928"/>
                  </a:ext>
                </a:extLst>
              </a:tr>
              <a:tr h="266083">
                <a:tc>
                  <a:txBody>
                    <a:bodyPr/>
                    <a:lstStyle/>
                    <a:p>
                      <a:pPr algn="ctr"/>
                      <a:r>
                        <a:rPr lang="en-US" sz="1200" noProof="0" dirty="0"/>
                        <a:t>78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68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10</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100</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6714621"/>
                  </a:ext>
                </a:extLst>
              </a:tr>
              <a:tr h="266083">
                <a:tc>
                  <a:txBody>
                    <a:bodyPr/>
                    <a:lstStyle/>
                    <a:p>
                      <a:pPr algn="ctr"/>
                      <a:r>
                        <a:rPr lang="en-US" sz="1200" noProof="0" dirty="0"/>
                        <a:t>84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58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26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676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088635"/>
                  </a:ext>
                </a:extLst>
              </a:tr>
              <a:tr h="266083">
                <a:tc>
                  <a:txBody>
                    <a:bodyPr/>
                    <a:lstStyle/>
                    <a:p>
                      <a:pPr algn="ctr"/>
                      <a:r>
                        <a:rPr lang="en-US" sz="1200" noProof="0" dirty="0"/>
                        <a:t>91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83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64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6705029"/>
                  </a:ext>
                </a:extLst>
              </a:tr>
              <a:tr h="266083">
                <a:tc>
                  <a:txBody>
                    <a:bodyPr/>
                    <a:lstStyle/>
                    <a:p>
                      <a:pPr algn="ctr"/>
                      <a:r>
                        <a:rPr lang="en-US" sz="1200" noProof="0" dirty="0"/>
                        <a:t>25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38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negative 13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169</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4732016"/>
                  </a:ext>
                </a:extLst>
              </a:tr>
              <a:tr h="266083">
                <a:tc>
                  <a:txBody>
                    <a:bodyPr/>
                    <a:lstStyle/>
                    <a:p>
                      <a:pPr algn="ctr"/>
                      <a:r>
                        <a:rPr lang="en-US" sz="1200" noProof="0" dirty="0"/>
                        <a:t>50</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38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144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8434692"/>
                  </a:ext>
                </a:extLst>
              </a:tr>
              <a:tr h="266083">
                <a:tc>
                  <a:txBody>
                    <a:bodyPr/>
                    <a:lstStyle/>
                    <a:p>
                      <a:pPr algn="ctr"/>
                      <a:r>
                        <a:rPr lang="en-US" sz="1200" noProof="0" dirty="0"/>
                        <a:t>65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53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144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584542"/>
                  </a:ext>
                </a:extLst>
              </a:tr>
              <a:tr h="266083">
                <a:tc>
                  <a:txBody>
                    <a:bodyPr/>
                    <a:lstStyle/>
                    <a:p>
                      <a:pPr algn="ctr"/>
                      <a:r>
                        <a:rPr lang="en-US" sz="1200" noProof="0" dirty="0"/>
                        <a:t>68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78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negative 10</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100</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6510925"/>
                  </a:ext>
                </a:extLst>
              </a:tr>
              <a:tr h="266083">
                <a:tc>
                  <a:txBody>
                    <a:bodyPr/>
                    <a:lstStyle/>
                    <a:p>
                      <a:pPr algn="ctr"/>
                      <a:r>
                        <a:rPr lang="en-US" sz="1200" noProof="0" dirty="0"/>
                        <a:t>81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72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9</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81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8180883"/>
                  </a:ext>
                </a:extLst>
              </a:tr>
              <a:tr h="266083">
                <a:tc>
                  <a:txBody>
                    <a:bodyPr/>
                    <a:lstStyle/>
                    <a:p>
                      <a:pPr algn="ctr"/>
                      <a:r>
                        <a:rPr lang="en-US" sz="1200" noProof="0" dirty="0"/>
                        <a:t>75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76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negative 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8611264"/>
                  </a:ext>
                </a:extLst>
              </a:tr>
              <a:tr h="266083">
                <a:tc>
                  <a:txBody>
                    <a:bodyPr/>
                    <a:lstStyle/>
                    <a:p>
                      <a:pPr algn="ctr"/>
                      <a:r>
                        <a:rPr lang="en-US" sz="1200" noProof="0" dirty="0"/>
                        <a:t>45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48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negative 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9</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49288"/>
                  </a:ext>
                </a:extLst>
              </a:tr>
              <a:tr h="266083">
                <a:tc>
                  <a:txBody>
                    <a:bodyPr/>
                    <a:lstStyle/>
                    <a:p>
                      <a:pPr algn="ctr"/>
                      <a:r>
                        <a:rPr lang="en-US" sz="1200" noProof="0" dirty="0"/>
                        <a:t>62</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48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196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294503"/>
                  </a:ext>
                </a:extLst>
              </a:tr>
              <a:tr h="266083">
                <a:tc>
                  <a:txBody>
                    <a:bodyPr/>
                    <a:lstStyle/>
                    <a:p>
                      <a:pPr algn="ctr"/>
                      <a:r>
                        <a:rPr lang="en-US" sz="1200" noProof="0" dirty="0"/>
                        <a:t>79</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83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Negative 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16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3862947"/>
                  </a:ext>
                </a:extLst>
              </a:tr>
              <a:tr h="266083">
                <a:tc>
                  <a:txBody>
                    <a:bodyPr/>
                    <a:lstStyle/>
                    <a:p>
                      <a:pPr algn="ctr"/>
                      <a:r>
                        <a:rPr lang="en-US" sz="1200" noProof="0" dirty="0"/>
                        <a:t>58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51</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7</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49</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5972235"/>
                  </a:ext>
                </a:extLst>
              </a:tr>
              <a:tr h="266083">
                <a:tc>
                  <a:txBody>
                    <a:bodyPr/>
                    <a:lstStyle/>
                    <a:p>
                      <a:pPr algn="ctr"/>
                      <a:r>
                        <a:rPr lang="en-US" sz="1200" noProof="0" dirty="0"/>
                        <a:t>63</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58</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noProof="0" dirty="0"/>
                        <a:t>25</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5169275"/>
                  </a:ext>
                </a:extLst>
              </a:tr>
              <a:tr h="266083">
                <a:tc>
                  <a:txBody>
                    <a:bodyPr/>
                    <a:lstStyle/>
                    <a:p>
                      <a:pPr algn="ctr"/>
                      <a:r>
                        <a:rPr lang="en-US" sz="100" noProof="0" dirty="0"/>
                        <a:t>Blank</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 noProof="0" dirty="0"/>
                        <a:t>Blank</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summation = 86.</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summation = 1874.</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2034393"/>
                  </a:ext>
                </a:extLst>
              </a:tr>
            </a:tbl>
          </a:graphicData>
        </a:graphic>
      </p:graphicFrame>
      <p:graphicFrame>
        <p:nvGraphicFramePr>
          <p:cNvPr id="6" name="Object 5">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3819004" y="1585295"/>
          <a:ext cx="221785" cy="229672"/>
        </p:xfrm>
        <a:graphic>
          <a:graphicData uri="http://schemas.openxmlformats.org/presentationml/2006/ole">
            <mc:AlternateContent xmlns:mc="http://schemas.openxmlformats.org/markup-compatibility/2006">
              <mc:Choice xmlns:v="urn:schemas-microsoft-com:vml" Requires="v">
                <p:oleObj name="Equation" r:id="rId2" imgW="368280" imgH="380880" progId="Equation.DSMT4">
                  <p:embed/>
                </p:oleObj>
              </mc:Choice>
              <mc:Fallback>
                <p:oleObj name="Equation" r:id="rId2" imgW="368280" imgH="380880" progId="Equation.DSMT4">
                  <p:embed/>
                  <p:pic>
                    <p:nvPicPr>
                      <p:cNvPr id="6" name="Object 5">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3"/>
                      <a:stretch>
                        <a:fillRect/>
                      </a:stretch>
                    </p:blipFill>
                    <p:spPr>
                      <a:xfrm>
                        <a:off x="3819004" y="1585295"/>
                        <a:ext cx="221785" cy="229672"/>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799979" y="3196774"/>
          <a:ext cx="285856" cy="158700"/>
        </p:xfrm>
        <a:graphic>
          <a:graphicData uri="http://schemas.openxmlformats.org/presentationml/2006/ole">
            <mc:AlternateContent xmlns:mc="http://schemas.openxmlformats.org/markup-compatibility/2006">
              <mc:Choice xmlns:v="urn:schemas-microsoft-com:vml" Requires="v">
                <p:oleObj name="Equation" r:id="rId4" imgW="571320" imgH="317160" progId="Equation.DSMT4">
                  <p:embed/>
                </p:oleObj>
              </mc:Choice>
              <mc:Fallback>
                <p:oleObj name="Equation" r:id="rId4" imgW="571320" imgH="317160" progId="Equation.DSMT4">
                  <p:embed/>
                  <p:pic>
                    <p:nvPicPr>
                      <p:cNvPr id="9" name="Object 8">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5"/>
                      <a:stretch>
                        <a:fillRect/>
                      </a:stretch>
                    </p:blipFill>
                    <p:spPr>
                      <a:xfrm>
                        <a:off x="2799979" y="3196774"/>
                        <a:ext cx="285856" cy="15870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793735" y="3989658"/>
          <a:ext cx="292100" cy="158750"/>
        </p:xfrm>
        <a:graphic>
          <a:graphicData uri="http://schemas.openxmlformats.org/presentationml/2006/ole">
            <mc:AlternateContent xmlns:mc="http://schemas.openxmlformats.org/markup-compatibility/2006">
              <mc:Choice xmlns:v="urn:schemas-microsoft-com:vml" Requires="v">
                <p:oleObj name="Equation" r:id="rId6" imgW="583920" imgH="317160" progId="Equation.DSMT4">
                  <p:embed/>
                </p:oleObj>
              </mc:Choice>
              <mc:Fallback>
                <p:oleObj name="Equation" r:id="rId6" imgW="583920" imgH="317160" progId="Equation.DSMT4">
                  <p:embed/>
                  <p:pic>
                    <p:nvPicPr>
                      <p:cNvPr id="10" name="Object 9">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7"/>
                      <a:stretch>
                        <a:fillRect/>
                      </a:stretch>
                    </p:blipFill>
                    <p:spPr>
                      <a:xfrm>
                        <a:off x="2793735" y="3989658"/>
                        <a:ext cx="292100" cy="15875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852420" y="4529513"/>
          <a:ext cx="190500" cy="152400"/>
        </p:xfrm>
        <a:graphic>
          <a:graphicData uri="http://schemas.openxmlformats.org/presentationml/2006/ole">
            <mc:AlternateContent xmlns:mc="http://schemas.openxmlformats.org/markup-compatibility/2006">
              <mc:Choice xmlns:v="urn:schemas-microsoft-com:vml" Requires="v">
                <p:oleObj name="Equation" r:id="rId8" imgW="380880" imgH="304560" progId="Equation.DSMT4">
                  <p:embed/>
                </p:oleObj>
              </mc:Choice>
              <mc:Fallback>
                <p:oleObj name="Equation" r:id="rId8" imgW="380880" imgH="304560" progId="Equation.DSMT4">
                  <p:embed/>
                  <p:pic>
                    <p:nvPicPr>
                      <p:cNvPr id="11" name="Object 10">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9"/>
                      <a:stretch>
                        <a:fillRect/>
                      </a:stretch>
                    </p:blipFill>
                    <p:spPr>
                      <a:xfrm>
                        <a:off x="2852420" y="4529513"/>
                        <a:ext cx="190500" cy="152400"/>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857183" y="4792663"/>
          <a:ext cx="196850" cy="158750"/>
        </p:xfrm>
        <a:graphic>
          <a:graphicData uri="http://schemas.openxmlformats.org/presentationml/2006/ole">
            <mc:AlternateContent xmlns:mc="http://schemas.openxmlformats.org/markup-compatibility/2006">
              <mc:Choice xmlns:v="urn:schemas-microsoft-com:vml" Requires="v">
                <p:oleObj name="Equation" r:id="rId10" imgW="393480" imgH="317160" progId="Equation.DSMT4">
                  <p:embed/>
                </p:oleObj>
              </mc:Choice>
              <mc:Fallback>
                <p:oleObj name="Equation" r:id="rId10" imgW="393480" imgH="317160" progId="Equation.DSMT4">
                  <p:embed/>
                  <p:pic>
                    <p:nvPicPr>
                      <p:cNvPr id="12" name="Object 11">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11"/>
                      <a:stretch>
                        <a:fillRect/>
                      </a:stretch>
                    </p:blipFill>
                    <p:spPr>
                      <a:xfrm>
                        <a:off x="2857183" y="4792663"/>
                        <a:ext cx="196850" cy="158750"/>
                      </a:xfrm>
                      <a:prstGeom prst="rect">
                        <a:avLst/>
                      </a:prstGeom>
                      <a:solidFill>
                        <a:schemeClr val="bg1"/>
                      </a:solidFill>
                    </p:spPr>
                  </p:pic>
                </p:oleObj>
              </mc:Fallback>
            </mc:AlternateContent>
          </a:graphicData>
        </a:graphic>
      </p:graphicFrame>
      <p:graphicFrame>
        <p:nvGraphicFramePr>
          <p:cNvPr id="13" name="Object 12">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839875" y="5326168"/>
          <a:ext cx="203200" cy="152400"/>
        </p:xfrm>
        <a:graphic>
          <a:graphicData uri="http://schemas.openxmlformats.org/presentationml/2006/ole">
            <mc:AlternateContent xmlns:mc="http://schemas.openxmlformats.org/markup-compatibility/2006">
              <mc:Choice xmlns:v="urn:schemas-microsoft-com:vml" Requires="v">
                <p:oleObj name="Equation" r:id="rId12" imgW="406080" imgH="304560" progId="Equation.DSMT4">
                  <p:embed/>
                </p:oleObj>
              </mc:Choice>
              <mc:Fallback>
                <p:oleObj name="Equation" r:id="rId12" imgW="406080" imgH="304560" progId="Equation.DSMT4">
                  <p:embed/>
                  <p:pic>
                    <p:nvPicPr>
                      <p:cNvPr id="13" name="Object 12">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13"/>
                      <a:stretch>
                        <a:fillRect/>
                      </a:stretch>
                    </p:blipFill>
                    <p:spPr>
                      <a:xfrm>
                        <a:off x="2839875" y="5326168"/>
                        <a:ext cx="203200" cy="152400"/>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2719388" y="6110288"/>
          <a:ext cx="441325" cy="209550"/>
        </p:xfrm>
        <a:graphic>
          <a:graphicData uri="http://schemas.openxmlformats.org/presentationml/2006/ole">
            <mc:AlternateContent xmlns:mc="http://schemas.openxmlformats.org/markup-compatibility/2006">
              <mc:Choice xmlns:v="urn:schemas-microsoft-com:vml" Requires="v">
                <p:oleObj name="Equation" r:id="rId14" imgW="1066680" imgH="507960" progId="Equation.DSMT4">
                  <p:embed/>
                </p:oleObj>
              </mc:Choice>
              <mc:Fallback>
                <p:oleObj name="Equation" r:id="rId14" imgW="1066680" imgH="507960" progId="Equation.DSMT4">
                  <p:embed/>
                  <p:pic>
                    <p:nvPicPr>
                      <p:cNvPr id="7" name="Object 6">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15"/>
                      <a:stretch>
                        <a:fillRect/>
                      </a:stretch>
                    </p:blipFill>
                    <p:spPr>
                      <a:xfrm>
                        <a:off x="2719388" y="6110288"/>
                        <a:ext cx="441325" cy="209550"/>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GraphicFramePr>
            <a:graphicFrameLocks noChangeAspect="1"/>
          </p:cNvGraphicFramePr>
          <p:nvPr/>
        </p:nvGraphicFramePr>
        <p:xfrm>
          <a:off x="3641725" y="6110288"/>
          <a:ext cx="577850" cy="209550"/>
        </p:xfrm>
        <a:graphic>
          <a:graphicData uri="http://schemas.openxmlformats.org/presentationml/2006/ole">
            <mc:AlternateContent xmlns:mc="http://schemas.openxmlformats.org/markup-compatibility/2006">
              <mc:Choice xmlns:v="urn:schemas-microsoft-com:vml" Requires="v">
                <p:oleObj name="Equation" r:id="rId16" imgW="1396800" imgH="507960" progId="Equation.DSMT4">
                  <p:embed/>
                </p:oleObj>
              </mc:Choice>
              <mc:Fallback>
                <p:oleObj name="Equation" r:id="rId16" imgW="1396800" imgH="507960" progId="Equation.DSMT4">
                  <p:embed/>
                  <p:pic>
                    <p:nvPicPr>
                      <p:cNvPr id="8" name="Object 7">
                        <a:extLst>
                          <a:ext uri="{FF2B5EF4-FFF2-40B4-BE49-F238E27FC236}">
                            <a16:creationId xmlns:a16="http://schemas.microsoft.com/office/drawing/2014/main" id="{E5D94196-000D-4A78-945A-86654EE2B6C9}"/>
                          </a:ext>
                          <a:ext uri="{C183D7F6-B498-43B3-948B-1728B52AA6E4}">
                            <adec:decorative xmlns:adec="http://schemas.microsoft.com/office/drawing/2017/decorative" val="1"/>
                          </a:ext>
                        </a:extLst>
                      </p:cNvPr>
                      <p:cNvPicPr/>
                      <p:nvPr/>
                    </p:nvPicPr>
                    <p:blipFill>
                      <a:blip r:embed="rId17"/>
                      <a:stretch>
                        <a:fillRect/>
                      </a:stretch>
                    </p:blipFill>
                    <p:spPr>
                      <a:xfrm>
                        <a:off x="3641725" y="6110288"/>
                        <a:ext cx="577850" cy="209550"/>
                      </a:xfrm>
                      <a:prstGeom prst="rect">
                        <a:avLst/>
                      </a:prstGeom>
                      <a:solidFill>
                        <a:schemeClr val="bg1"/>
                      </a:solidFill>
                    </p:spPr>
                  </p:pic>
                </p:oleObj>
              </mc:Fallback>
            </mc:AlternateContent>
          </a:graphicData>
        </a:graphic>
      </p:graphicFrame>
      <p:graphicFrame>
        <p:nvGraphicFramePr>
          <p:cNvPr id="17" name="Object 16" descr="d bar = start fraction summation of d over n end fraction = start fraction 86 over 16 end fraction = 5.375.">
            <a:extLst>
              <a:ext uri="{FF2B5EF4-FFF2-40B4-BE49-F238E27FC236}">
                <a16:creationId xmlns:a16="http://schemas.microsoft.com/office/drawing/2014/main" id="{AD665EA4-7466-4FB2-9539-65EC89E9A88C}"/>
              </a:ext>
            </a:extLst>
          </p:cNvPr>
          <p:cNvGraphicFramePr>
            <a:graphicFrameLocks noChangeAspect="1"/>
          </p:cNvGraphicFramePr>
          <p:nvPr/>
        </p:nvGraphicFramePr>
        <p:xfrm>
          <a:off x="5175250" y="1555750"/>
          <a:ext cx="2806700" cy="762000"/>
        </p:xfrm>
        <a:graphic>
          <a:graphicData uri="http://schemas.openxmlformats.org/presentationml/2006/ole">
            <mc:AlternateContent xmlns:mc="http://schemas.openxmlformats.org/markup-compatibility/2006">
              <mc:Choice xmlns:v="urn:schemas-microsoft-com:vml" Requires="v">
                <p:oleObj name="Equation" r:id="rId18" imgW="3085920" imgH="838080" progId="Equation.DSMT4">
                  <p:embed/>
                </p:oleObj>
              </mc:Choice>
              <mc:Fallback>
                <p:oleObj name="Equation" r:id="rId18" imgW="3085920" imgH="838080" progId="Equation.DSMT4">
                  <p:embed/>
                  <p:pic>
                    <p:nvPicPr>
                      <p:cNvPr id="17" name="Object 16" descr="d bar = start fraction summation of d over n end fraction = start fraction 86 over 16 end fraction = 5.375.">
                        <a:extLst>
                          <a:ext uri="{FF2B5EF4-FFF2-40B4-BE49-F238E27FC236}">
                            <a16:creationId xmlns:a16="http://schemas.microsoft.com/office/drawing/2014/main" id="{AD665EA4-7466-4FB2-9539-65EC89E9A88C}"/>
                          </a:ext>
                        </a:extLst>
                      </p:cNvPr>
                      <p:cNvPicPr/>
                      <p:nvPr/>
                    </p:nvPicPr>
                    <p:blipFill>
                      <a:blip r:embed="rId19"/>
                      <a:stretch>
                        <a:fillRect/>
                      </a:stretch>
                    </p:blipFill>
                    <p:spPr>
                      <a:xfrm>
                        <a:off x="5175250" y="1555750"/>
                        <a:ext cx="2806700" cy="762000"/>
                      </a:xfrm>
                      <a:prstGeom prst="rect">
                        <a:avLst/>
                      </a:prstGeom>
                    </p:spPr>
                  </p:pic>
                </p:oleObj>
              </mc:Fallback>
            </mc:AlternateContent>
          </a:graphicData>
        </a:graphic>
      </p:graphicFrame>
      <p:graphicFrame>
        <p:nvGraphicFramePr>
          <p:cNvPr id="18" name="Object 17" descr="S sub d = square root of start expression summation of d squared minus left square bracket start fraction left parenthesis summation of d right parenthesis squared over n end fraction right square bracket over n minus 1 end fraction end expression.">
            <a:extLst>
              <a:ext uri="{FF2B5EF4-FFF2-40B4-BE49-F238E27FC236}">
                <a16:creationId xmlns:a16="http://schemas.microsoft.com/office/drawing/2014/main" id="{0F0D55B3-2714-437E-B544-07668F1BB9E0}"/>
              </a:ext>
            </a:extLst>
          </p:cNvPr>
          <p:cNvGraphicFramePr>
            <a:graphicFrameLocks noChangeAspect="1"/>
          </p:cNvGraphicFramePr>
          <p:nvPr/>
        </p:nvGraphicFramePr>
        <p:xfrm>
          <a:off x="5095009" y="2502578"/>
          <a:ext cx="3001818" cy="1547091"/>
        </p:xfrm>
        <a:graphic>
          <a:graphicData uri="http://schemas.openxmlformats.org/presentationml/2006/ole">
            <mc:AlternateContent xmlns:mc="http://schemas.openxmlformats.org/markup-compatibility/2006">
              <mc:Choice xmlns:v="urn:schemas-microsoft-com:vml" Requires="v">
                <p:oleObj name="Equation" r:id="rId20" imgW="3301920" imgH="1701720" progId="Equation.DSMT4">
                  <p:embed/>
                </p:oleObj>
              </mc:Choice>
              <mc:Fallback>
                <p:oleObj name="Equation" r:id="rId20" imgW="3301920" imgH="1701720" progId="Equation.DSMT4">
                  <p:embed/>
                  <p:pic>
                    <p:nvPicPr>
                      <p:cNvPr id="18" name="Object 17" descr="S sub d = square root of start expression summation of d squared minus left square bracket start fraction left parenthesis summation of d right parenthesis squared over n end fraction right square bracket over n minus 1 end fraction end expression.">
                        <a:extLst>
                          <a:ext uri="{FF2B5EF4-FFF2-40B4-BE49-F238E27FC236}">
                            <a16:creationId xmlns:a16="http://schemas.microsoft.com/office/drawing/2014/main" id="{0F0D55B3-2714-437E-B544-07668F1BB9E0}"/>
                          </a:ext>
                        </a:extLst>
                      </p:cNvPr>
                      <p:cNvPicPr/>
                      <p:nvPr/>
                    </p:nvPicPr>
                    <p:blipFill>
                      <a:blip r:embed="rId21"/>
                      <a:stretch>
                        <a:fillRect/>
                      </a:stretch>
                    </p:blipFill>
                    <p:spPr>
                      <a:xfrm>
                        <a:off x="5095009" y="2502578"/>
                        <a:ext cx="3001818" cy="1547091"/>
                      </a:xfrm>
                      <a:prstGeom prst="rect">
                        <a:avLst/>
                      </a:prstGeom>
                    </p:spPr>
                  </p:pic>
                </p:oleObj>
              </mc:Fallback>
            </mc:AlternateContent>
          </a:graphicData>
        </a:graphic>
      </p:graphicFrame>
      <p:graphicFrame>
        <p:nvGraphicFramePr>
          <p:cNvPr id="19" name="Object 18" descr="Equals square root of start expression 1874 minus start fraction 86 squared over 16 end fraction over 16 minus 1 end fraction end expression approximately equal to 9.7014.">
            <a:extLst>
              <a:ext uri="{FF2B5EF4-FFF2-40B4-BE49-F238E27FC236}">
                <a16:creationId xmlns:a16="http://schemas.microsoft.com/office/drawing/2014/main" id="{5E7C7763-D976-4545-BEE9-662BEE1DD7E1}"/>
              </a:ext>
            </a:extLst>
          </p:cNvPr>
          <p:cNvGraphicFramePr>
            <a:graphicFrameLocks noChangeAspect="1"/>
          </p:cNvGraphicFramePr>
          <p:nvPr/>
        </p:nvGraphicFramePr>
        <p:xfrm>
          <a:off x="5083175" y="4233863"/>
          <a:ext cx="3175000" cy="1270000"/>
        </p:xfrm>
        <a:graphic>
          <a:graphicData uri="http://schemas.openxmlformats.org/presentationml/2006/ole">
            <mc:AlternateContent xmlns:mc="http://schemas.openxmlformats.org/markup-compatibility/2006">
              <mc:Choice xmlns:v="urn:schemas-microsoft-com:vml" Requires="v">
                <p:oleObj name="Equation" r:id="rId22" imgW="3492360" imgH="1396800" progId="Equation.DSMT4">
                  <p:embed/>
                </p:oleObj>
              </mc:Choice>
              <mc:Fallback>
                <p:oleObj name="Equation" r:id="rId22" imgW="3492360" imgH="1396800" progId="Equation.DSMT4">
                  <p:embed/>
                  <p:pic>
                    <p:nvPicPr>
                      <p:cNvPr id="19" name="Object 18" descr="Equals square root of start expression 1874 minus start fraction 86 squared over 16 end fraction over 16 minus 1 end fraction end expression approximately equal to 9.7014.">
                        <a:extLst>
                          <a:ext uri="{FF2B5EF4-FFF2-40B4-BE49-F238E27FC236}">
                            <a16:creationId xmlns:a16="http://schemas.microsoft.com/office/drawing/2014/main" id="{5E7C7763-D976-4545-BEE9-662BEE1DD7E1}"/>
                          </a:ext>
                        </a:extLst>
                      </p:cNvPr>
                      <p:cNvPicPr/>
                      <p:nvPr/>
                    </p:nvPicPr>
                    <p:blipFill>
                      <a:blip r:embed="rId23"/>
                      <a:stretch>
                        <a:fillRect/>
                      </a:stretch>
                    </p:blipFill>
                    <p:spPr>
                      <a:xfrm>
                        <a:off x="5083175" y="4233863"/>
                        <a:ext cx="3175000" cy="1270000"/>
                      </a:xfrm>
                      <a:prstGeom prst="rect">
                        <a:avLst/>
                      </a:prstGeom>
                    </p:spPr>
                  </p:pic>
                </p:oleObj>
              </mc:Fallback>
            </mc:AlternateContent>
          </a:graphicData>
        </a:graphic>
      </p:graphicFrame>
    </p:spTree>
    <p:extLst>
      <p:ext uri="{BB962C8B-B14F-4D97-AF65-F5344CB8AC3E}">
        <p14:creationId xmlns:p14="http://schemas.microsoft.com/office/powerpoint/2010/main" val="6392782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a:t>
            </a:r>
            <a:r>
              <a:rPr lang="en-US" sz="3400" i="1" dirty="0"/>
              <a:t>t</a:t>
            </a:r>
            <a:r>
              <a:rPr lang="en-US" sz="3400" dirty="0"/>
              <a:t>-Test for the Difference Between Means </a:t>
            </a:r>
            <a:r>
              <a:rPr lang="en-US" sz="2000" b="0" dirty="0"/>
              <a:t>(4 of 5)</a:t>
            </a:r>
          </a:p>
        </p:txBody>
      </p:sp>
      <p:sp>
        <p:nvSpPr>
          <p:cNvPr id="4" name="Content Placeholder 3"/>
          <p:cNvSpPr>
            <a:spLocks noGrp="1"/>
          </p:cNvSpPr>
          <p:nvPr>
            <p:ph sz="quarter" idx="13"/>
          </p:nvPr>
        </p:nvSpPr>
        <p:spPr>
          <a:xfrm>
            <a:off x="457200" y="1552575"/>
            <a:ext cx="4554187" cy="430604"/>
          </a:xfrm>
        </p:spPr>
        <p:txBody>
          <a:bodyPr/>
          <a:lstStyle/>
          <a:p>
            <a:pPr marL="0" indent="0">
              <a:buNone/>
            </a:pPr>
            <a:r>
              <a:rPr lang="en-US" dirty="0"/>
              <a:t>The standardized test statistic is</a:t>
            </a:r>
          </a:p>
        </p:txBody>
      </p:sp>
      <p:graphicFrame>
        <p:nvGraphicFramePr>
          <p:cNvPr id="18" name="Object 17" descr="t equals fraction numerator d bar minus mu subscript d divided by denominator s subscript d divided by square root of n end root end fraction">
            <a:extLst>
              <a:ext uri="{FF2B5EF4-FFF2-40B4-BE49-F238E27FC236}">
                <a16:creationId xmlns:a16="http://schemas.microsoft.com/office/drawing/2014/main" id="{9124A77B-B5CF-4643-BC2C-89FFC6502DF7}"/>
              </a:ext>
            </a:extLst>
          </p:cNvPr>
          <p:cNvGraphicFramePr>
            <a:graphicFrameLocks noChangeAspect="1"/>
          </p:cNvGraphicFramePr>
          <p:nvPr/>
        </p:nvGraphicFramePr>
        <p:xfrm>
          <a:off x="901700" y="2082100"/>
          <a:ext cx="1498600" cy="1003300"/>
        </p:xfrm>
        <a:graphic>
          <a:graphicData uri="http://schemas.openxmlformats.org/presentationml/2006/ole">
            <mc:AlternateContent xmlns:mc="http://schemas.openxmlformats.org/markup-compatibility/2006">
              <mc:Choice xmlns:v="urn:schemas-microsoft-com:vml" Requires="v">
                <p:oleObj name="Equation" r:id="rId3" imgW="1498320" imgH="1002960" progId="Equation.DSMT4">
                  <p:embed/>
                </p:oleObj>
              </mc:Choice>
              <mc:Fallback>
                <p:oleObj name="Equation" r:id="rId3" imgW="1498320" imgH="1002960" progId="Equation.DSMT4">
                  <p:embed/>
                  <p:pic>
                    <p:nvPicPr>
                      <p:cNvPr id="18" name="Object 17" descr="t equals fraction numerator d bar minus mu subscript d divided by denominator s subscript d divided by square root of n end root end fraction">
                        <a:extLst>
                          <a:ext uri="{FF2B5EF4-FFF2-40B4-BE49-F238E27FC236}">
                            <a16:creationId xmlns:a16="http://schemas.microsoft.com/office/drawing/2014/main" id="{9124A77B-B5CF-4643-BC2C-89FFC6502DF7}"/>
                          </a:ext>
                        </a:extLst>
                      </p:cNvPr>
                      <p:cNvPicPr/>
                      <p:nvPr/>
                    </p:nvPicPr>
                    <p:blipFill>
                      <a:blip r:embed="rId4"/>
                      <a:stretch>
                        <a:fillRect/>
                      </a:stretch>
                    </p:blipFill>
                    <p:spPr>
                      <a:xfrm>
                        <a:off x="901700" y="2082100"/>
                        <a:ext cx="1498600" cy="1003300"/>
                      </a:xfrm>
                      <a:prstGeom prst="rect">
                        <a:avLst/>
                      </a:prstGeom>
                    </p:spPr>
                  </p:pic>
                </p:oleObj>
              </mc:Fallback>
            </mc:AlternateContent>
          </a:graphicData>
        </a:graphic>
      </p:graphicFrame>
      <p:sp>
        <p:nvSpPr>
          <p:cNvPr id="5" name="Content Placeholder 4"/>
          <p:cNvSpPr>
            <a:spLocks noGrp="1"/>
          </p:cNvSpPr>
          <p:nvPr>
            <p:ph sz="quarter" idx="14"/>
          </p:nvPr>
        </p:nvSpPr>
        <p:spPr>
          <a:xfrm>
            <a:off x="4286992" y="2362722"/>
            <a:ext cx="2161309" cy="425093"/>
          </a:xfrm>
        </p:spPr>
        <p:txBody>
          <a:bodyPr/>
          <a:lstStyle/>
          <a:p>
            <a:pPr marL="0" lvl="2" indent="0">
              <a:buNone/>
            </a:pPr>
            <a:r>
              <a:rPr lang="en-US" dirty="0">
                <a:solidFill>
                  <a:schemeClr val="tx1"/>
                </a:solidFill>
              </a:rPr>
              <a:t>Use the </a:t>
            </a:r>
            <a:r>
              <a:rPr lang="en-US" i="1" dirty="0">
                <a:solidFill>
                  <a:schemeClr val="tx1"/>
                </a:solidFill>
              </a:rPr>
              <a:t>t</a:t>
            </a:r>
            <a:r>
              <a:rPr lang="en-US" dirty="0">
                <a:solidFill>
                  <a:schemeClr val="tx1"/>
                </a:solidFill>
              </a:rPr>
              <a:t>-test.</a:t>
            </a:r>
          </a:p>
        </p:txBody>
      </p:sp>
      <p:graphicFrame>
        <p:nvGraphicFramePr>
          <p:cNvPr id="19" name="Object 18" descr="Equals start fraction 5.375 minus 0 over start fraction 9.7014 over square root of 16 end fraction end fraction.">
            <a:extLst>
              <a:ext uri="{FF2B5EF4-FFF2-40B4-BE49-F238E27FC236}">
                <a16:creationId xmlns:a16="http://schemas.microsoft.com/office/drawing/2014/main" id="{EFA3B149-DCF5-4A51-8677-AA3985EE0D82}"/>
              </a:ext>
            </a:extLst>
          </p:cNvPr>
          <p:cNvGraphicFramePr>
            <a:graphicFrameLocks noChangeAspect="1"/>
          </p:cNvGraphicFramePr>
          <p:nvPr/>
        </p:nvGraphicFramePr>
        <p:xfrm>
          <a:off x="1068270" y="3181084"/>
          <a:ext cx="2041760" cy="921282"/>
        </p:xfrm>
        <a:graphic>
          <a:graphicData uri="http://schemas.openxmlformats.org/presentationml/2006/ole">
            <mc:AlternateContent xmlns:mc="http://schemas.openxmlformats.org/markup-compatibility/2006">
              <mc:Choice xmlns:v="urn:schemas-microsoft-com:vml" Requires="v">
                <p:oleObj name="Equation" r:id="rId5" imgW="2082600" imgH="939600" progId="Equation.DSMT4">
                  <p:embed/>
                </p:oleObj>
              </mc:Choice>
              <mc:Fallback>
                <p:oleObj name="Equation" r:id="rId5" imgW="2082600" imgH="939600" progId="Equation.DSMT4">
                  <p:embed/>
                  <p:pic>
                    <p:nvPicPr>
                      <p:cNvPr id="19" name="Object 18" descr="Equals start fraction 5.375 minus 0 over start fraction 9.7014 over square root of 16 end fraction end fraction.">
                        <a:extLst>
                          <a:ext uri="{FF2B5EF4-FFF2-40B4-BE49-F238E27FC236}">
                            <a16:creationId xmlns:a16="http://schemas.microsoft.com/office/drawing/2014/main" id="{EFA3B149-DCF5-4A51-8677-AA3985EE0D82}"/>
                          </a:ext>
                        </a:extLst>
                      </p:cNvPr>
                      <p:cNvPicPr/>
                      <p:nvPr/>
                    </p:nvPicPr>
                    <p:blipFill>
                      <a:blip r:embed="rId6"/>
                      <a:stretch>
                        <a:fillRect/>
                      </a:stretch>
                    </p:blipFill>
                    <p:spPr>
                      <a:xfrm>
                        <a:off x="1068270" y="3181084"/>
                        <a:ext cx="2041760" cy="921282"/>
                      </a:xfrm>
                      <a:prstGeom prst="rect">
                        <a:avLst/>
                      </a:prstGeom>
                    </p:spPr>
                  </p:pic>
                </p:oleObj>
              </mc:Fallback>
            </mc:AlternateContent>
          </a:graphicData>
        </a:graphic>
      </p:graphicFrame>
      <p:sp>
        <p:nvSpPr>
          <p:cNvPr id="6" name="Content Placeholder 5"/>
          <p:cNvSpPr>
            <a:spLocks noGrp="1"/>
          </p:cNvSpPr>
          <p:nvPr>
            <p:ph sz="quarter" idx="15"/>
          </p:nvPr>
        </p:nvSpPr>
        <p:spPr>
          <a:xfrm>
            <a:off x="4286992" y="3384468"/>
            <a:ext cx="1258785" cy="415636"/>
          </a:xfrm>
        </p:spPr>
        <p:txBody>
          <a:bodyPr/>
          <a:lstStyle/>
          <a:p>
            <a:pPr marL="432" indent="0">
              <a:buNone/>
            </a:pPr>
            <a:r>
              <a:rPr lang="en-US" dirty="0">
                <a:solidFill>
                  <a:schemeClr val="tx1"/>
                </a:solidFill>
              </a:rPr>
              <a:t>Assume</a:t>
            </a:r>
          </a:p>
        </p:txBody>
      </p:sp>
      <p:graphicFrame>
        <p:nvGraphicFramePr>
          <p:cNvPr id="20" name="Object 19" descr="mu subscript d equals 0">
            <a:extLst>
              <a:ext uri="{FF2B5EF4-FFF2-40B4-BE49-F238E27FC236}">
                <a16:creationId xmlns:a16="http://schemas.microsoft.com/office/drawing/2014/main" id="{C1AAA9BD-4657-47B2-80AA-45B16DEBCD2C}"/>
              </a:ext>
            </a:extLst>
          </p:cNvPr>
          <p:cNvGraphicFramePr>
            <a:graphicFrameLocks noChangeAspect="1"/>
          </p:cNvGraphicFramePr>
          <p:nvPr/>
        </p:nvGraphicFramePr>
        <p:xfrm>
          <a:off x="5628902" y="3368304"/>
          <a:ext cx="1016000" cy="431800"/>
        </p:xfrm>
        <a:graphic>
          <a:graphicData uri="http://schemas.openxmlformats.org/presentationml/2006/ole">
            <mc:AlternateContent xmlns:mc="http://schemas.openxmlformats.org/markup-compatibility/2006">
              <mc:Choice xmlns:v="urn:schemas-microsoft-com:vml" Requires="v">
                <p:oleObj name="Equation" r:id="rId7" imgW="1015920" imgH="431640" progId="Equation.DSMT4">
                  <p:embed/>
                </p:oleObj>
              </mc:Choice>
              <mc:Fallback>
                <p:oleObj name="Equation" r:id="rId7" imgW="1015920" imgH="431640" progId="Equation.DSMT4">
                  <p:embed/>
                  <p:pic>
                    <p:nvPicPr>
                      <p:cNvPr id="20" name="Object 19" descr="mu subscript d equals 0">
                        <a:extLst>
                          <a:ext uri="{FF2B5EF4-FFF2-40B4-BE49-F238E27FC236}">
                            <a16:creationId xmlns:a16="http://schemas.microsoft.com/office/drawing/2014/main" id="{C1AAA9BD-4657-47B2-80AA-45B16DEBCD2C}"/>
                          </a:ext>
                        </a:extLst>
                      </p:cNvPr>
                      <p:cNvPicPr/>
                      <p:nvPr/>
                    </p:nvPicPr>
                    <p:blipFill>
                      <a:blip r:embed="rId8"/>
                      <a:stretch>
                        <a:fillRect/>
                      </a:stretch>
                    </p:blipFill>
                    <p:spPr>
                      <a:xfrm>
                        <a:off x="5628902" y="3368304"/>
                        <a:ext cx="1016000" cy="431800"/>
                      </a:xfrm>
                      <a:prstGeom prst="rect">
                        <a:avLst/>
                      </a:prstGeom>
                    </p:spPr>
                  </p:pic>
                </p:oleObj>
              </mc:Fallback>
            </mc:AlternateContent>
          </a:graphicData>
        </a:graphic>
      </p:graphicFrame>
      <p:graphicFrame>
        <p:nvGraphicFramePr>
          <p:cNvPr id="21" name="Object 20" descr="Approximately equal to 2.216.">
            <a:extLst>
              <a:ext uri="{FF2B5EF4-FFF2-40B4-BE49-F238E27FC236}">
                <a16:creationId xmlns:a16="http://schemas.microsoft.com/office/drawing/2014/main" id="{76974FF3-2FD5-4C3E-9A07-2445A7BF401B}"/>
              </a:ext>
            </a:extLst>
          </p:cNvPr>
          <p:cNvGraphicFramePr>
            <a:graphicFrameLocks noChangeAspect="1"/>
          </p:cNvGraphicFramePr>
          <p:nvPr/>
        </p:nvGraphicFramePr>
        <p:xfrm>
          <a:off x="1077818" y="4198844"/>
          <a:ext cx="1146364" cy="308162"/>
        </p:xfrm>
        <a:graphic>
          <a:graphicData uri="http://schemas.openxmlformats.org/presentationml/2006/ole">
            <mc:AlternateContent xmlns:mc="http://schemas.openxmlformats.org/markup-compatibility/2006">
              <mc:Choice xmlns:v="urn:schemas-microsoft-com:vml" Requires="v">
                <p:oleObj name="Equation" r:id="rId9" imgW="1180800" imgH="317160" progId="Equation.DSMT4">
                  <p:embed/>
                </p:oleObj>
              </mc:Choice>
              <mc:Fallback>
                <p:oleObj name="Equation" r:id="rId9" imgW="1180800" imgH="317160" progId="Equation.DSMT4">
                  <p:embed/>
                  <p:pic>
                    <p:nvPicPr>
                      <p:cNvPr id="21" name="Object 20" descr="Approximately equal to 2.216.">
                        <a:extLst>
                          <a:ext uri="{FF2B5EF4-FFF2-40B4-BE49-F238E27FC236}">
                            <a16:creationId xmlns:a16="http://schemas.microsoft.com/office/drawing/2014/main" id="{76974FF3-2FD5-4C3E-9A07-2445A7BF401B}"/>
                          </a:ext>
                        </a:extLst>
                      </p:cNvPr>
                      <p:cNvPicPr/>
                      <p:nvPr/>
                    </p:nvPicPr>
                    <p:blipFill>
                      <a:blip r:embed="rId10"/>
                      <a:stretch>
                        <a:fillRect/>
                      </a:stretch>
                    </p:blipFill>
                    <p:spPr>
                      <a:xfrm>
                        <a:off x="1077818" y="4198844"/>
                        <a:ext cx="1146364" cy="308162"/>
                      </a:xfrm>
                      <a:prstGeom prst="rect">
                        <a:avLst/>
                      </a:prstGeom>
                    </p:spPr>
                  </p:pic>
                </p:oleObj>
              </mc:Fallback>
            </mc:AlternateContent>
          </a:graphicData>
        </a:graphic>
      </p:graphicFrame>
      <p:sp>
        <p:nvSpPr>
          <p:cNvPr id="7" name="Content Placeholder 6"/>
          <p:cNvSpPr>
            <a:spLocks noGrp="1"/>
          </p:cNvSpPr>
          <p:nvPr>
            <p:ph sz="quarter" idx="16"/>
          </p:nvPr>
        </p:nvSpPr>
        <p:spPr>
          <a:xfrm>
            <a:off x="457200" y="4911116"/>
            <a:ext cx="2808514" cy="1226767"/>
          </a:xfrm>
        </p:spPr>
        <p:txBody>
          <a:bodyPr/>
          <a:lstStyle/>
          <a:p>
            <a:pPr marL="432" indent="0">
              <a:buNone/>
            </a:pPr>
            <a:r>
              <a:rPr lang="en-US" dirty="0">
                <a:cs typeface="Times New Roman" panose="02020603050405020304" pitchFamily="18" charset="0"/>
              </a:rPr>
              <a:t>You can check this result using technology</a:t>
            </a:r>
          </a:p>
        </p:txBody>
      </p:sp>
      <p:pic>
        <p:nvPicPr>
          <p:cNvPr id="22" name="Content Placeholder 21" descr="A graphing calculator screen titled, statcrunch.  For long description in Notes pane, press F6."/>
          <p:cNvPicPr>
            <a:picLocks noGrp="1" noChangeAspect="1"/>
          </p:cNvPicPr>
          <p:nvPr>
            <p:ph sz="quarter" idx="17"/>
          </p:nvPr>
        </p:nvPicPr>
        <p:blipFill>
          <a:blip r:embed="rId11"/>
          <a:stretch>
            <a:fillRect/>
          </a:stretch>
        </p:blipFill>
        <p:spPr>
          <a:xfrm>
            <a:off x="3579917" y="4118950"/>
            <a:ext cx="5208971" cy="2210043"/>
          </a:xfrm>
          <a:prstGeom prst="rect">
            <a:avLst/>
          </a:prstGeom>
        </p:spPr>
      </p:pic>
    </p:spTree>
    <p:extLst>
      <p:ext uri="{BB962C8B-B14F-4D97-AF65-F5344CB8AC3E}">
        <p14:creationId xmlns:p14="http://schemas.microsoft.com/office/powerpoint/2010/main" val="38613695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a:t>
            </a:r>
            <a:r>
              <a:rPr lang="en-US" sz="3400" i="1" dirty="0"/>
              <a:t>t</a:t>
            </a:r>
            <a:r>
              <a:rPr lang="en-US" sz="3400" dirty="0"/>
              <a:t>-Test for the Difference Between Means </a:t>
            </a:r>
            <a:r>
              <a:rPr lang="en-US" sz="2000" b="0" dirty="0"/>
              <a:t>(5 of 5)</a:t>
            </a:r>
          </a:p>
        </p:txBody>
      </p:sp>
      <p:sp>
        <p:nvSpPr>
          <p:cNvPr id="4" name="Content Placeholder 3"/>
          <p:cNvSpPr>
            <a:spLocks noGrp="1"/>
          </p:cNvSpPr>
          <p:nvPr>
            <p:ph sz="quarter" idx="13"/>
          </p:nvPr>
        </p:nvSpPr>
        <p:spPr>
          <a:xfrm>
            <a:off x="457200" y="1552576"/>
            <a:ext cx="7950530" cy="1166874"/>
          </a:xfrm>
        </p:spPr>
        <p:txBody>
          <a:bodyPr/>
          <a:lstStyle/>
          <a:p>
            <a:pPr marL="0" indent="0">
              <a:buNone/>
            </a:pPr>
            <a:r>
              <a:rPr lang="en-US" dirty="0">
                <a:solidFill>
                  <a:schemeClr val="tx1"/>
                </a:solidFill>
              </a:rPr>
              <a:t>The figure shows the location of the rejection region and the standardized test statistic </a:t>
            </a:r>
            <a:r>
              <a:rPr lang="en-US" i="1" dirty="0">
                <a:solidFill>
                  <a:schemeClr val="tx1"/>
                </a:solidFill>
              </a:rPr>
              <a:t>t</a:t>
            </a:r>
            <a:r>
              <a:rPr lang="en-US" dirty="0">
                <a:solidFill>
                  <a:schemeClr val="tx1"/>
                </a:solidFill>
              </a:rPr>
              <a:t>. Because </a:t>
            </a:r>
            <a:r>
              <a:rPr lang="en-US" i="1" dirty="0">
                <a:solidFill>
                  <a:schemeClr val="tx1"/>
                </a:solidFill>
              </a:rPr>
              <a:t>t </a:t>
            </a:r>
            <a:r>
              <a:rPr lang="en-US" dirty="0">
                <a:solidFill>
                  <a:schemeClr val="tx1"/>
                </a:solidFill>
              </a:rPr>
              <a:t>is in the rejection region, you reject the null hypothesis.</a:t>
            </a:r>
          </a:p>
        </p:txBody>
      </p:sp>
      <p:sp>
        <p:nvSpPr>
          <p:cNvPr id="5" name="Content Placeholder 4"/>
          <p:cNvSpPr>
            <a:spLocks noGrp="1"/>
          </p:cNvSpPr>
          <p:nvPr>
            <p:ph sz="quarter" idx="14"/>
          </p:nvPr>
        </p:nvSpPr>
        <p:spPr>
          <a:xfrm>
            <a:off x="457200" y="3063834"/>
            <a:ext cx="2879766" cy="2755075"/>
          </a:xfrm>
        </p:spPr>
        <p:txBody>
          <a:bodyPr/>
          <a:lstStyle/>
          <a:p>
            <a:pPr marL="432" indent="0">
              <a:buNone/>
            </a:pPr>
            <a:r>
              <a:rPr lang="en-US" dirty="0">
                <a:cs typeface="Times New Roman" panose="02020603050405020304" pitchFamily="18" charset="0"/>
              </a:rPr>
              <a:t>There is enough evidence at the 5% level of significance to conclude that the legislator’s performance rating has changed.</a:t>
            </a:r>
          </a:p>
        </p:txBody>
      </p:sp>
      <p:pic>
        <p:nvPicPr>
          <p:cNvPr id="18" name="Content Placeholder 17" descr="A graph shows a normal distribution curve. For long description in Notes pane, press F6."/>
          <p:cNvPicPr>
            <a:picLocks noGrp="1" noChangeAspect="1"/>
          </p:cNvPicPr>
          <p:nvPr>
            <p:ph sz="quarter" idx="15"/>
          </p:nvPr>
        </p:nvPicPr>
        <p:blipFill>
          <a:blip r:embed="rId3"/>
          <a:stretch>
            <a:fillRect/>
          </a:stretch>
        </p:blipFill>
        <p:spPr>
          <a:xfrm>
            <a:off x="3999144" y="3063834"/>
            <a:ext cx="4298053" cy="2584928"/>
          </a:xfrm>
          <a:prstGeom prst="rect">
            <a:avLst/>
          </a:prstGeom>
        </p:spPr>
      </p:pic>
    </p:spTree>
    <p:extLst>
      <p:ext uri="{BB962C8B-B14F-4D97-AF65-F5344CB8AC3E}">
        <p14:creationId xmlns:p14="http://schemas.microsoft.com/office/powerpoint/2010/main" val="36097865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0"/>
            <a:ext cx="7615052" cy="2838451"/>
          </a:xfrm>
        </p:spPr>
        <p:txBody>
          <a:bodyPr lIns="0" tIns="0" rIns="0" bIns="0"/>
          <a:lstStyle/>
          <a:p>
            <a:r>
              <a:rPr lang="en-US" dirty="0"/>
              <a:t>Section 7.4 Testing the Difference Between Proportions</a:t>
            </a:r>
          </a:p>
        </p:txBody>
      </p:sp>
    </p:spTree>
    <p:extLst>
      <p:ext uri="{BB962C8B-B14F-4D97-AF65-F5344CB8AC3E}">
        <p14:creationId xmlns:p14="http://schemas.microsoft.com/office/powerpoint/2010/main" val="2487375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Section 7.4 Objectives</a:t>
            </a:r>
            <a:endParaRPr lang="en-US" dirty="0"/>
          </a:p>
        </p:txBody>
      </p:sp>
      <p:sp>
        <p:nvSpPr>
          <p:cNvPr id="10" name="Content Placeholder 9"/>
          <p:cNvSpPr>
            <a:spLocks noGrp="1"/>
          </p:cNvSpPr>
          <p:nvPr>
            <p:ph sz="quarter" idx="13"/>
          </p:nvPr>
        </p:nvSpPr>
        <p:spPr>
          <a:xfrm>
            <a:off x="457200" y="1556327"/>
            <a:ext cx="8229600" cy="426852"/>
          </a:xfrm>
        </p:spPr>
        <p:txBody>
          <a:bodyPr/>
          <a:lstStyle/>
          <a:p>
            <a:pPr marL="432000" indent="-432000" eaLnBrk="1" hangingPunct="1">
              <a:buFont typeface="+mj-lt"/>
              <a:buAutoNum type="arabicPeriod"/>
            </a:pPr>
            <a:r>
              <a:rPr lang="en-US" altLang="en-US" dirty="0"/>
              <a:t>How to perform a two-sample </a:t>
            </a:r>
            <a:r>
              <a:rPr lang="en-US" altLang="en-US" i="1" dirty="0"/>
              <a:t>z</a:t>
            </a:r>
            <a:r>
              <a:rPr lang="en-US" altLang="en-US" dirty="0"/>
              <a:t>-test for the difference</a:t>
            </a:r>
          </a:p>
        </p:txBody>
      </p:sp>
      <p:sp>
        <p:nvSpPr>
          <p:cNvPr id="3" name="Content Placeholder 2"/>
          <p:cNvSpPr>
            <a:spLocks noGrp="1"/>
          </p:cNvSpPr>
          <p:nvPr>
            <p:ph sz="quarter" idx="14"/>
          </p:nvPr>
        </p:nvSpPr>
        <p:spPr>
          <a:xfrm>
            <a:off x="457200" y="2066307"/>
            <a:ext cx="5397335" cy="427511"/>
          </a:xfrm>
        </p:spPr>
        <p:txBody>
          <a:bodyPr/>
          <a:lstStyle/>
          <a:p>
            <a:pPr marL="432000" indent="0" eaLnBrk="1" hangingPunct="1">
              <a:buNone/>
            </a:pPr>
            <a:r>
              <a:rPr lang="en-US" altLang="en-US" dirty="0"/>
              <a:t>between two population proportions</a:t>
            </a:r>
          </a:p>
        </p:txBody>
      </p:sp>
      <p:graphicFrame>
        <p:nvGraphicFramePr>
          <p:cNvPr id="5" name="Object 4" descr="p subscript 1 and p subscript 2.">
            <a:extLst>
              <a:ext uri="{FF2B5EF4-FFF2-40B4-BE49-F238E27FC236}">
                <a16:creationId xmlns:a16="http://schemas.microsoft.com/office/drawing/2014/main" id="{A88D578B-BA0C-4B4B-862D-48C47E281749}"/>
              </a:ext>
            </a:extLst>
          </p:cNvPr>
          <p:cNvGraphicFramePr>
            <a:graphicFrameLocks noChangeAspect="1"/>
          </p:cNvGraphicFramePr>
          <p:nvPr/>
        </p:nvGraphicFramePr>
        <p:xfrm>
          <a:off x="5963507" y="2059518"/>
          <a:ext cx="1288415" cy="394227"/>
        </p:xfrm>
        <a:graphic>
          <a:graphicData uri="http://schemas.openxmlformats.org/presentationml/2006/ole">
            <mc:AlternateContent xmlns:mc="http://schemas.openxmlformats.org/markup-compatibility/2006">
              <mc:Choice xmlns:v="urn:schemas-microsoft-com:vml" Requires="v">
                <p:oleObj name="Equation" r:id="rId2" imgW="1409400" imgH="431640" progId="Equation.DSMT4">
                  <p:embed/>
                </p:oleObj>
              </mc:Choice>
              <mc:Fallback>
                <p:oleObj name="Equation" r:id="rId2" imgW="1409400" imgH="431640" progId="Equation.DSMT4">
                  <p:embed/>
                  <p:pic>
                    <p:nvPicPr>
                      <p:cNvPr id="5" name="Object 4" descr="p subscript 1 and p subscript 2.">
                        <a:extLst>
                          <a:ext uri="{FF2B5EF4-FFF2-40B4-BE49-F238E27FC236}">
                            <a16:creationId xmlns:a16="http://schemas.microsoft.com/office/drawing/2014/main" id="{A88D578B-BA0C-4B4B-862D-48C47E281749}"/>
                          </a:ext>
                        </a:extLst>
                      </p:cNvPr>
                      <p:cNvPicPr/>
                      <p:nvPr/>
                    </p:nvPicPr>
                    <p:blipFill>
                      <a:blip r:embed="rId3"/>
                      <a:stretch>
                        <a:fillRect/>
                      </a:stretch>
                    </p:blipFill>
                    <p:spPr>
                      <a:xfrm>
                        <a:off x="5963507" y="2059518"/>
                        <a:ext cx="1288415" cy="394227"/>
                      </a:xfrm>
                      <a:prstGeom prst="rect">
                        <a:avLst/>
                      </a:prstGeom>
                    </p:spPr>
                  </p:pic>
                </p:oleObj>
              </mc:Fallback>
            </mc:AlternateContent>
          </a:graphicData>
        </a:graphic>
      </p:graphicFrame>
    </p:spTree>
    <p:extLst>
      <p:ext uri="{BB962C8B-B14F-4D97-AF65-F5344CB8AC3E}">
        <p14:creationId xmlns:p14="http://schemas.microsoft.com/office/powerpoint/2010/main" val="41060378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Two-Sample </a:t>
            </a:r>
            <a:r>
              <a:rPr lang="en-US" altLang="en-US" i="1" dirty="0"/>
              <a:t>z</a:t>
            </a:r>
            <a:r>
              <a:rPr lang="en-US" altLang="en-US" dirty="0"/>
              <a:t>-Test for Proportions</a:t>
            </a:r>
            <a:endParaRPr lang="en-IN" dirty="0"/>
          </a:p>
        </p:txBody>
      </p:sp>
      <p:sp>
        <p:nvSpPr>
          <p:cNvPr id="4" name="Content Placeholder 3"/>
          <p:cNvSpPr>
            <a:spLocks noGrp="1"/>
          </p:cNvSpPr>
          <p:nvPr>
            <p:ph sz="quarter" idx="13"/>
          </p:nvPr>
        </p:nvSpPr>
        <p:spPr>
          <a:xfrm>
            <a:off x="457200" y="1552575"/>
            <a:ext cx="7309262" cy="430604"/>
          </a:xfrm>
        </p:spPr>
        <p:txBody>
          <a:bodyPr/>
          <a:lstStyle/>
          <a:p>
            <a:r>
              <a:rPr lang="en-US" altLang="en-US" dirty="0"/>
              <a:t>Used to test the difference between two population</a:t>
            </a:r>
            <a:endParaRPr lang="en-IN" dirty="0"/>
          </a:p>
        </p:txBody>
      </p:sp>
      <p:sp>
        <p:nvSpPr>
          <p:cNvPr id="5" name="Content Placeholder 4"/>
          <p:cNvSpPr>
            <a:spLocks noGrp="1"/>
          </p:cNvSpPr>
          <p:nvPr>
            <p:ph sz="quarter" idx="14"/>
          </p:nvPr>
        </p:nvSpPr>
        <p:spPr>
          <a:xfrm>
            <a:off x="457201" y="2058100"/>
            <a:ext cx="2000992" cy="411967"/>
          </a:xfrm>
        </p:spPr>
        <p:txBody>
          <a:bodyPr/>
          <a:lstStyle/>
          <a:p>
            <a:pPr marL="255600" indent="0">
              <a:buNone/>
            </a:pPr>
            <a:r>
              <a:rPr lang="en-US" altLang="en-US" dirty="0"/>
              <a:t>proportions,</a:t>
            </a:r>
            <a:endParaRPr lang="en-IN" dirty="0"/>
          </a:p>
        </p:txBody>
      </p:sp>
      <p:graphicFrame>
        <p:nvGraphicFramePr>
          <p:cNvPr id="18" name="Object 17" descr="p subscript 1 and p subscript 2.">
            <a:extLst>
              <a:ext uri="{FF2B5EF4-FFF2-40B4-BE49-F238E27FC236}">
                <a16:creationId xmlns:a16="http://schemas.microsoft.com/office/drawing/2014/main" id="{A88D578B-BA0C-4B4B-862D-48C47E281749}"/>
              </a:ext>
            </a:extLst>
          </p:cNvPr>
          <p:cNvGraphicFramePr>
            <a:graphicFrameLocks noChangeAspect="1"/>
          </p:cNvGraphicFramePr>
          <p:nvPr/>
        </p:nvGraphicFramePr>
        <p:xfrm>
          <a:off x="2541463" y="2067863"/>
          <a:ext cx="1309205" cy="377228"/>
        </p:xfrm>
        <a:graphic>
          <a:graphicData uri="http://schemas.openxmlformats.org/presentationml/2006/ole">
            <mc:AlternateContent xmlns:mc="http://schemas.openxmlformats.org/markup-compatibility/2006">
              <mc:Choice xmlns:v="urn:schemas-microsoft-com:vml" Requires="v">
                <p:oleObj name="Equation" r:id="rId2" imgW="1498320" imgH="431640" progId="Equation.DSMT4">
                  <p:embed/>
                </p:oleObj>
              </mc:Choice>
              <mc:Fallback>
                <p:oleObj name="Equation" r:id="rId2" imgW="1498320" imgH="431640" progId="Equation.DSMT4">
                  <p:embed/>
                  <p:pic>
                    <p:nvPicPr>
                      <p:cNvPr id="18" name="Object 17" descr="p subscript 1 and p subscript 2.">
                        <a:extLst>
                          <a:ext uri="{FF2B5EF4-FFF2-40B4-BE49-F238E27FC236}">
                            <a16:creationId xmlns:a16="http://schemas.microsoft.com/office/drawing/2014/main" id="{A88D578B-BA0C-4B4B-862D-48C47E281749}"/>
                          </a:ext>
                        </a:extLst>
                      </p:cNvPr>
                      <p:cNvPicPr/>
                      <p:nvPr/>
                    </p:nvPicPr>
                    <p:blipFill>
                      <a:blip r:embed="rId3"/>
                      <a:stretch>
                        <a:fillRect/>
                      </a:stretch>
                    </p:blipFill>
                    <p:spPr>
                      <a:xfrm>
                        <a:off x="2541463" y="2067863"/>
                        <a:ext cx="1309205" cy="377228"/>
                      </a:xfrm>
                      <a:prstGeom prst="rect">
                        <a:avLst/>
                      </a:prstGeom>
                    </p:spPr>
                  </p:pic>
                </p:oleObj>
              </mc:Fallback>
            </mc:AlternateContent>
          </a:graphicData>
        </a:graphic>
      </p:graphicFrame>
      <p:sp>
        <p:nvSpPr>
          <p:cNvPr id="6" name="Content Placeholder 5"/>
          <p:cNvSpPr>
            <a:spLocks noGrp="1"/>
          </p:cNvSpPr>
          <p:nvPr>
            <p:ph sz="quarter" idx="15"/>
          </p:nvPr>
        </p:nvSpPr>
        <p:spPr>
          <a:xfrm>
            <a:off x="457200" y="2557486"/>
            <a:ext cx="7178634" cy="423220"/>
          </a:xfrm>
        </p:spPr>
        <p:txBody>
          <a:bodyPr/>
          <a:lstStyle/>
          <a:p>
            <a:r>
              <a:rPr lang="en-US" altLang="en-US" dirty="0"/>
              <a:t>Three conditions are required to conduct the test.</a:t>
            </a:r>
          </a:p>
        </p:txBody>
      </p:sp>
      <p:sp>
        <p:nvSpPr>
          <p:cNvPr id="7" name="Content Placeholder 6"/>
          <p:cNvSpPr>
            <a:spLocks noGrp="1"/>
          </p:cNvSpPr>
          <p:nvPr>
            <p:ph sz="quarter" idx="16"/>
          </p:nvPr>
        </p:nvSpPr>
        <p:spPr>
          <a:xfrm>
            <a:off x="457200" y="3068126"/>
            <a:ext cx="8229601" cy="1284800"/>
          </a:xfrm>
        </p:spPr>
        <p:txBody>
          <a:bodyPr/>
          <a:lstStyle/>
          <a:p>
            <a:pPr marL="741600" lvl="1" indent="-428400">
              <a:buFont typeface="+mj-lt"/>
              <a:buAutoNum type="arabicPeriod"/>
            </a:pPr>
            <a:r>
              <a:rPr lang="en-US" altLang="en-US" dirty="0">
                <a:ea typeface="Times New Roman" panose="02020603050405020304" pitchFamily="18" charset="0"/>
              </a:rPr>
              <a:t>The samples must be randomly selected.</a:t>
            </a:r>
          </a:p>
          <a:p>
            <a:pPr marL="741600" lvl="1" indent="-428400">
              <a:buFont typeface="+mj-lt"/>
              <a:buAutoNum type="arabicPeriod"/>
            </a:pPr>
            <a:r>
              <a:rPr lang="en-US" altLang="en-US" dirty="0">
                <a:ea typeface="Times New Roman" panose="02020603050405020304" pitchFamily="18" charset="0"/>
              </a:rPr>
              <a:t>The samples must be independent.</a:t>
            </a:r>
          </a:p>
          <a:p>
            <a:pPr marL="741600" lvl="1" indent="-428400">
              <a:buFont typeface="+mj-lt"/>
              <a:buAutoNum type="arabicPeriod"/>
            </a:pPr>
            <a:r>
              <a:rPr lang="en-US" altLang="en-US" dirty="0">
                <a:ea typeface="Times New Roman" panose="02020603050405020304" pitchFamily="18" charset="0"/>
              </a:rPr>
              <a:t>The samples must be large enough to use a normal</a:t>
            </a:r>
            <a:endParaRPr lang="en-IN" dirty="0"/>
          </a:p>
        </p:txBody>
      </p:sp>
      <p:sp>
        <p:nvSpPr>
          <p:cNvPr id="8" name="Content Placeholder 7"/>
          <p:cNvSpPr>
            <a:spLocks noGrp="1"/>
          </p:cNvSpPr>
          <p:nvPr>
            <p:ph sz="quarter" idx="17"/>
          </p:nvPr>
        </p:nvSpPr>
        <p:spPr>
          <a:xfrm>
            <a:off x="457200" y="4411681"/>
            <a:ext cx="4839195" cy="427511"/>
          </a:xfrm>
        </p:spPr>
        <p:txBody>
          <a:bodyPr/>
          <a:lstStyle/>
          <a:p>
            <a:pPr marL="741600" lvl="1" indent="0">
              <a:buNone/>
            </a:pPr>
            <a:r>
              <a:rPr lang="en-US" altLang="en-US" dirty="0">
                <a:ea typeface="Times New Roman" panose="02020603050405020304" pitchFamily="18" charset="0"/>
              </a:rPr>
              <a:t>sampling distribution. That is,</a:t>
            </a:r>
            <a:endParaRPr lang="en-IN" dirty="0"/>
          </a:p>
        </p:txBody>
      </p:sp>
      <p:graphicFrame>
        <p:nvGraphicFramePr>
          <p:cNvPr id="19" name="Object 18" descr="n subscript 1 p subscript 1 greater than or equals to 5, n subscript 1 q subscript 1 greater than or equals to 5, n subscript 2 p subscript 2 greater than or equals to 5, and n subscript 2 q subscript 2 greater than or equals to 5">
            <a:extLst>
              <a:ext uri="{FF2B5EF4-FFF2-40B4-BE49-F238E27FC236}">
                <a16:creationId xmlns:a16="http://schemas.microsoft.com/office/drawing/2014/main" id="{52E06AAF-5E61-4EC9-9D5E-8DA567C33F1E}"/>
              </a:ext>
            </a:extLst>
          </p:cNvPr>
          <p:cNvGraphicFramePr>
            <a:graphicFrameLocks noChangeAspect="1"/>
          </p:cNvGraphicFramePr>
          <p:nvPr/>
        </p:nvGraphicFramePr>
        <p:xfrm>
          <a:off x="1230877" y="4880431"/>
          <a:ext cx="5552593" cy="423292"/>
        </p:xfrm>
        <a:graphic>
          <a:graphicData uri="http://schemas.openxmlformats.org/presentationml/2006/ole">
            <mc:AlternateContent xmlns:mc="http://schemas.openxmlformats.org/markup-compatibility/2006">
              <mc:Choice xmlns:v="urn:schemas-microsoft-com:vml" Requires="v">
                <p:oleObj name="Equation" r:id="rId4" imgW="5663880" imgH="431640" progId="Equation.DSMT4">
                  <p:embed/>
                </p:oleObj>
              </mc:Choice>
              <mc:Fallback>
                <p:oleObj name="Equation" r:id="rId4" imgW="5663880" imgH="431640" progId="Equation.DSMT4">
                  <p:embed/>
                  <p:pic>
                    <p:nvPicPr>
                      <p:cNvPr id="19" name="Object 18" descr="n subscript 1 p subscript 1 greater than or equals to 5, n subscript 1 q subscript 1 greater than or equals to 5, n subscript 2 p subscript 2 greater than or equals to 5, and n subscript 2 q subscript 2 greater than or equals to 5">
                        <a:extLst>
                          <a:ext uri="{FF2B5EF4-FFF2-40B4-BE49-F238E27FC236}">
                            <a16:creationId xmlns:a16="http://schemas.microsoft.com/office/drawing/2014/main" id="{52E06AAF-5E61-4EC9-9D5E-8DA567C33F1E}"/>
                          </a:ext>
                        </a:extLst>
                      </p:cNvPr>
                      <p:cNvPicPr/>
                      <p:nvPr/>
                    </p:nvPicPr>
                    <p:blipFill>
                      <a:blip r:embed="rId5"/>
                      <a:stretch>
                        <a:fillRect/>
                      </a:stretch>
                    </p:blipFill>
                    <p:spPr>
                      <a:xfrm>
                        <a:off x="1230877" y="4880431"/>
                        <a:ext cx="5552593" cy="423292"/>
                      </a:xfrm>
                      <a:prstGeom prst="rect">
                        <a:avLst/>
                      </a:prstGeom>
                    </p:spPr>
                  </p:pic>
                </p:oleObj>
              </mc:Fallback>
            </mc:AlternateContent>
          </a:graphicData>
        </a:graphic>
      </p:graphicFrame>
    </p:spTree>
    <p:extLst>
      <p:ext uri="{BB962C8B-B14F-4D97-AF65-F5344CB8AC3E}">
        <p14:creationId xmlns:p14="http://schemas.microsoft.com/office/powerpoint/2010/main" val="40878982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Two-Sample </a:t>
            </a:r>
            <a:r>
              <a:rPr lang="en-US" altLang="en-US" sz="3400" i="1" dirty="0"/>
              <a:t>z</a:t>
            </a:r>
            <a:r>
              <a:rPr lang="en-US" altLang="en-US" sz="3400" dirty="0"/>
              <a:t>-Test for the Difference Between Proportions </a:t>
            </a:r>
            <a:r>
              <a:rPr lang="en-US" altLang="en-US" sz="2000" b="0" dirty="0"/>
              <a:t>(1 of 5)</a:t>
            </a:r>
            <a:endParaRPr lang="en-IN" sz="2000" b="0" dirty="0"/>
          </a:p>
        </p:txBody>
      </p:sp>
      <p:sp>
        <p:nvSpPr>
          <p:cNvPr id="4" name="Content Placeholder 3"/>
          <p:cNvSpPr>
            <a:spLocks noGrp="1"/>
          </p:cNvSpPr>
          <p:nvPr>
            <p:ph sz="quarter" idx="13"/>
          </p:nvPr>
        </p:nvSpPr>
        <p:spPr>
          <a:xfrm>
            <a:off x="457200" y="1552574"/>
            <a:ext cx="8229601" cy="430605"/>
          </a:xfrm>
        </p:spPr>
        <p:txBody>
          <a:bodyPr/>
          <a:lstStyle/>
          <a:p>
            <a:r>
              <a:rPr lang="en-US" altLang="en-US" dirty="0"/>
              <a:t>If these conditions are met, then the sampling distribution</a:t>
            </a:r>
            <a:endParaRPr lang="en-IN" dirty="0"/>
          </a:p>
        </p:txBody>
      </p:sp>
      <p:sp>
        <p:nvSpPr>
          <p:cNvPr id="5" name="Content Placeholder 4"/>
          <p:cNvSpPr>
            <a:spLocks noGrp="1"/>
          </p:cNvSpPr>
          <p:nvPr>
            <p:ph sz="quarter" idx="14"/>
          </p:nvPr>
        </p:nvSpPr>
        <p:spPr>
          <a:xfrm>
            <a:off x="457201" y="2058100"/>
            <a:ext cx="742208" cy="400091"/>
          </a:xfrm>
        </p:spPr>
        <p:txBody>
          <a:bodyPr/>
          <a:lstStyle/>
          <a:p>
            <a:pPr marL="255600" indent="0">
              <a:buNone/>
            </a:pPr>
            <a:r>
              <a:rPr lang="en-US" altLang="en-US" dirty="0"/>
              <a:t>for</a:t>
            </a:r>
            <a:endParaRPr lang="en-IN" dirty="0"/>
          </a:p>
        </p:txBody>
      </p:sp>
      <p:graphicFrame>
        <p:nvGraphicFramePr>
          <p:cNvPr id="18" name="Object 17" descr="p hat subscript 1 minus p hat subscript 2">
            <a:extLst>
              <a:ext uri="{FF2B5EF4-FFF2-40B4-BE49-F238E27FC236}">
                <a16:creationId xmlns:a16="http://schemas.microsoft.com/office/drawing/2014/main" id="{538D8EC6-3F35-45AF-894B-9A3DD3125005}"/>
              </a:ext>
            </a:extLst>
          </p:cNvPr>
          <p:cNvGraphicFramePr>
            <a:graphicFrameLocks noChangeAspect="1"/>
          </p:cNvGraphicFramePr>
          <p:nvPr/>
        </p:nvGraphicFramePr>
        <p:xfrm>
          <a:off x="1258784" y="2032370"/>
          <a:ext cx="1117600" cy="431800"/>
        </p:xfrm>
        <a:graphic>
          <a:graphicData uri="http://schemas.openxmlformats.org/presentationml/2006/ole">
            <mc:AlternateContent xmlns:mc="http://schemas.openxmlformats.org/markup-compatibility/2006">
              <mc:Choice xmlns:v="urn:schemas-microsoft-com:vml" Requires="v">
                <p:oleObj name="Equation" r:id="rId2" imgW="1117440" imgH="431640" progId="Equation.DSMT4">
                  <p:embed/>
                </p:oleObj>
              </mc:Choice>
              <mc:Fallback>
                <p:oleObj name="Equation" r:id="rId2" imgW="1117440" imgH="431640" progId="Equation.DSMT4">
                  <p:embed/>
                  <p:pic>
                    <p:nvPicPr>
                      <p:cNvPr id="18" name="Object 17" descr="p hat subscript 1 minus p hat subscript 2">
                        <a:extLst>
                          <a:ext uri="{FF2B5EF4-FFF2-40B4-BE49-F238E27FC236}">
                            <a16:creationId xmlns:a16="http://schemas.microsoft.com/office/drawing/2014/main" id="{538D8EC6-3F35-45AF-894B-9A3DD3125005}"/>
                          </a:ext>
                        </a:extLst>
                      </p:cNvPr>
                      <p:cNvPicPr/>
                      <p:nvPr/>
                    </p:nvPicPr>
                    <p:blipFill>
                      <a:blip r:embed="rId3"/>
                      <a:stretch>
                        <a:fillRect/>
                      </a:stretch>
                    </p:blipFill>
                    <p:spPr>
                      <a:xfrm>
                        <a:off x="1258784" y="2032370"/>
                        <a:ext cx="1117600" cy="431800"/>
                      </a:xfrm>
                      <a:prstGeom prst="rect">
                        <a:avLst/>
                      </a:prstGeom>
                    </p:spPr>
                  </p:pic>
                </p:oleObj>
              </mc:Fallback>
            </mc:AlternateContent>
          </a:graphicData>
        </a:graphic>
      </p:graphicFrame>
      <p:sp>
        <p:nvSpPr>
          <p:cNvPr id="6" name="Content Placeholder 5"/>
          <p:cNvSpPr>
            <a:spLocks noGrp="1"/>
          </p:cNvSpPr>
          <p:nvPr>
            <p:ph sz="quarter" idx="15"/>
          </p:nvPr>
        </p:nvSpPr>
        <p:spPr>
          <a:xfrm>
            <a:off x="2463469" y="2071955"/>
            <a:ext cx="3335650" cy="419925"/>
          </a:xfrm>
        </p:spPr>
        <p:txBody>
          <a:bodyPr/>
          <a:lstStyle/>
          <a:p>
            <a:pPr marL="432" indent="0">
              <a:buNone/>
            </a:pPr>
            <a:r>
              <a:rPr lang="en-US" altLang="en-US" dirty="0"/>
              <a:t>is a normal distribution</a:t>
            </a:r>
            <a:endParaRPr lang="en-IN" dirty="0"/>
          </a:p>
        </p:txBody>
      </p:sp>
      <p:sp>
        <p:nvSpPr>
          <p:cNvPr id="7" name="Content Placeholder 6"/>
          <p:cNvSpPr>
            <a:spLocks noGrp="1"/>
          </p:cNvSpPr>
          <p:nvPr>
            <p:ph sz="quarter" idx="16"/>
          </p:nvPr>
        </p:nvSpPr>
        <p:spPr>
          <a:xfrm>
            <a:off x="457201" y="2588571"/>
            <a:ext cx="1229096" cy="399804"/>
          </a:xfrm>
        </p:spPr>
        <p:txBody>
          <a:bodyPr/>
          <a:lstStyle/>
          <a:p>
            <a:r>
              <a:rPr lang="en-US" altLang="en-US" dirty="0"/>
              <a:t>Mean:</a:t>
            </a:r>
          </a:p>
        </p:txBody>
      </p:sp>
      <p:graphicFrame>
        <p:nvGraphicFramePr>
          <p:cNvPr id="19" name="Object 18" descr="mu subscript p hat subscript 1 minus p hat subscript 2 end subscript equals p subscript 1 minus p subscript 2">
            <a:extLst>
              <a:ext uri="{FF2B5EF4-FFF2-40B4-BE49-F238E27FC236}">
                <a16:creationId xmlns:a16="http://schemas.microsoft.com/office/drawing/2014/main" id="{CBF8206E-5FDE-4819-A6E8-36AEE1987940}"/>
              </a:ext>
            </a:extLst>
          </p:cNvPr>
          <p:cNvGraphicFramePr>
            <a:graphicFrameLocks noChangeAspect="1"/>
          </p:cNvGraphicFramePr>
          <p:nvPr/>
        </p:nvGraphicFramePr>
        <p:xfrm>
          <a:off x="1770084" y="2535298"/>
          <a:ext cx="2159000" cy="482600"/>
        </p:xfrm>
        <a:graphic>
          <a:graphicData uri="http://schemas.openxmlformats.org/presentationml/2006/ole">
            <mc:AlternateContent xmlns:mc="http://schemas.openxmlformats.org/markup-compatibility/2006">
              <mc:Choice xmlns:v="urn:schemas-microsoft-com:vml" Requires="v">
                <p:oleObj name="Equation" r:id="rId4" imgW="2158920" imgH="482400" progId="Equation.DSMT4">
                  <p:embed/>
                </p:oleObj>
              </mc:Choice>
              <mc:Fallback>
                <p:oleObj name="Equation" r:id="rId4" imgW="2158920" imgH="482400" progId="Equation.DSMT4">
                  <p:embed/>
                  <p:pic>
                    <p:nvPicPr>
                      <p:cNvPr id="19" name="Object 18" descr="mu subscript p hat subscript 1 minus p hat subscript 2 end subscript equals p subscript 1 minus p subscript 2">
                        <a:extLst>
                          <a:ext uri="{FF2B5EF4-FFF2-40B4-BE49-F238E27FC236}">
                            <a16:creationId xmlns:a16="http://schemas.microsoft.com/office/drawing/2014/main" id="{CBF8206E-5FDE-4819-A6E8-36AEE1987940}"/>
                          </a:ext>
                        </a:extLst>
                      </p:cNvPr>
                      <p:cNvPicPr/>
                      <p:nvPr/>
                    </p:nvPicPr>
                    <p:blipFill>
                      <a:blip r:embed="rId5"/>
                      <a:stretch>
                        <a:fillRect/>
                      </a:stretch>
                    </p:blipFill>
                    <p:spPr>
                      <a:xfrm>
                        <a:off x="1770084" y="2535298"/>
                        <a:ext cx="2159000" cy="482600"/>
                      </a:xfrm>
                      <a:prstGeom prst="rect">
                        <a:avLst/>
                      </a:prstGeom>
                    </p:spPr>
                  </p:pic>
                </p:oleObj>
              </mc:Fallback>
            </mc:AlternateContent>
          </a:graphicData>
        </a:graphic>
      </p:graphicFrame>
      <p:sp>
        <p:nvSpPr>
          <p:cNvPr id="8" name="Content Placeholder 7"/>
          <p:cNvSpPr>
            <a:spLocks noGrp="1"/>
          </p:cNvSpPr>
          <p:nvPr>
            <p:ph sz="quarter" idx="17"/>
          </p:nvPr>
        </p:nvSpPr>
        <p:spPr>
          <a:xfrm>
            <a:off x="457201" y="3148278"/>
            <a:ext cx="3471884" cy="421739"/>
          </a:xfrm>
        </p:spPr>
        <p:txBody>
          <a:bodyPr/>
          <a:lstStyle/>
          <a:p>
            <a:r>
              <a:rPr lang="en-US" altLang="en-US" dirty="0"/>
              <a:t>A weighted estimate of</a:t>
            </a:r>
            <a:endParaRPr lang="en-IN" dirty="0"/>
          </a:p>
        </p:txBody>
      </p:sp>
      <p:graphicFrame>
        <p:nvGraphicFramePr>
          <p:cNvPr id="20" name="Object 19" descr="p subscript 1 and p subscript 2.">
            <a:extLst>
              <a:ext uri="{FF2B5EF4-FFF2-40B4-BE49-F238E27FC236}">
                <a16:creationId xmlns:a16="http://schemas.microsoft.com/office/drawing/2014/main" id="{A88D578B-BA0C-4B4B-862D-48C47E281749}"/>
              </a:ext>
            </a:extLst>
          </p:cNvPr>
          <p:cNvGraphicFramePr>
            <a:graphicFrameLocks noChangeAspect="1"/>
          </p:cNvGraphicFramePr>
          <p:nvPr/>
        </p:nvGraphicFramePr>
        <p:xfrm>
          <a:off x="4065588" y="3144838"/>
          <a:ext cx="1301750" cy="398462"/>
        </p:xfrm>
        <a:graphic>
          <a:graphicData uri="http://schemas.openxmlformats.org/presentationml/2006/ole">
            <mc:AlternateContent xmlns:mc="http://schemas.openxmlformats.org/markup-compatibility/2006">
              <mc:Choice xmlns:v="urn:schemas-microsoft-com:vml" Requires="v">
                <p:oleObj name="Equation" r:id="rId6" imgW="1409400" imgH="431640" progId="Equation.DSMT4">
                  <p:embed/>
                </p:oleObj>
              </mc:Choice>
              <mc:Fallback>
                <p:oleObj name="Equation" r:id="rId6" imgW="1409400" imgH="431640" progId="Equation.DSMT4">
                  <p:embed/>
                  <p:pic>
                    <p:nvPicPr>
                      <p:cNvPr id="20" name="Object 19" descr="p subscript 1 and p subscript 2.">
                        <a:extLst>
                          <a:ext uri="{FF2B5EF4-FFF2-40B4-BE49-F238E27FC236}">
                            <a16:creationId xmlns:a16="http://schemas.microsoft.com/office/drawing/2014/main" id="{A88D578B-BA0C-4B4B-862D-48C47E281749}"/>
                          </a:ext>
                        </a:extLst>
                      </p:cNvPr>
                      <p:cNvPicPr/>
                      <p:nvPr/>
                    </p:nvPicPr>
                    <p:blipFill>
                      <a:blip r:embed="rId7"/>
                      <a:stretch>
                        <a:fillRect/>
                      </a:stretch>
                    </p:blipFill>
                    <p:spPr>
                      <a:xfrm>
                        <a:off x="4065588" y="3144838"/>
                        <a:ext cx="1301750" cy="398462"/>
                      </a:xfrm>
                      <a:prstGeom prst="rect">
                        <a:avLst/>
                      </a:prstGeom>
                    </p:spPr>
                  </p:pic>
                </p:oleObj>
              </mc:Fallback>
            </mc:AlternateContent>
          </a:graphicData>
        </a:graphic>
      </p:graphicFrame>
      <p:sp>
        <p:nvSpPr>
          <p:cNvPr id="9" name="Content Placeholder 8"/>
          <p:cNvSpPr>
            <a:spLocks noGrp="1"/>
          </p:cNvSpPr>
          <p:nvPr>
            <p:ph sz="quarter" idx="18"/>
          </p:nvPr>
        </p:nvSpPr>
        <p:spPr>
          <a:xfrm>
            <a:off x="5504457" y="3148279"/>
            <a:ext cx="3182344" cy="421738"/>
          </a:xfrm>
        </p:spPr>
        <p:txBody>
          <a:bodyPr/>
          <a:lstStyle/>
          <a:p>
            <a:pPr marL="432" indent="0">
              <a:buNone/>
            </a:pPr>
            <a:r>
              <a:rPr lang="en-US" altLang="en-US" dirty="0"/>
              <a:t>can be found by using</a:t>
            </a:r>
            <a:endParaRPr lang="en-IN" dirty="0"/>
          </a:p>
        </p:txBody>
      </p:sp>
      <p:graphicFrame>
        <p:nvGraphicFramePr>
          <p:cNvPr id="21" name="Object 22" descr="p = start fraction x sub 1 + x sub 2 over n sub 1 + n sub 2, where x sub 1 = n sub 1 p sub 1 hat and x sub 2 = n sub 2 p sub 2 hat.">
            <a:extLst>
              <a:ext uri="{FF2B5EF4-FFF2-40B4-BE49-F238E27FC236}">
                <a16:creationId xmlns:a16="http://schemas.microsoft.com/office/drawing/2014/main" id="{A8A7A9DD-3A4F-4DE6-B552-8DAF91D8AE62}"/>
              </a:ext>
            </a:extLst>
          </p:cNvPr>
          <p:cNvGraphicFramePr>
            <a:graphicFrameLocks noChangeAspect="1"/>
          </p:cNvGraphicFramePr>
          <p:nvPr/>
        </p:nvGraphicFramePr>
        <p:xfrm>
          <a:off x="720147" y="3670516"/>
          <a:ext cx="5795963" cy="814387"/>
        </p:xfrm>
        <a:graphic>
          <a:graphicData uri="http://schemas.openxmlformats.org/presentationml/2006/ole">
            <mc:AlternateContent xmlns:mc="http://schemas.openxmlformats.org/markup-compatibility/2006">
              <mc:Choice xmlns:v="urn:schemas-microsoft-com:vml" Requires="v">
                <p:oleObj name="Equation" r:id="rId8" imgW="5067000" imgH="711000" progId="Equation.DSMT4">
                  <p:embed/>
                </p:oleObj>
              </mc:Choice>
              <mc:Fallback>
                <p:oleObj name="Equation" r:id="rId8" imgW="5067000" imgH="711000" progId="Equation.DSMT4">
                  <p:embed/>
                  <p:pic>
                    <p:nvPicPr>
                      <p:cNvPr id="21" name="Object 22" descr="p = start fraction x sub 1 + x sub 2 over n sub 1 + n sub 2, where x sub 1 = n sub 1 p sub 1 hat and x sub 2 = n sub 2 p sub 2 hat.">
                        <a:extLst>
                          <a:ext uri="{FF2B5EF4-FFF2-40B4-BE49-F238E27FC236}">
                            <a16:creationId xmlns:a16="http://schemas.microsoft.com/office/drawing/2014/main" id="{A8A7A9DD-3A4F-4DE6-B552-8DAF91D8AE62}"/>
                          </a:ext>
                        </a:extLst>
                      </p:cNvPr>
                      <p:cNvPicPr>
                        <a:picLocks noChangeAspect="1" noChangeArrowheads="1"/>
                      </p:cNvPicPr>
                      <p:nvPr/>
                    </p:nvPicPr>
                    <p:blipFill>
                      <a:blip r:embed="rId9"/>
                      <a:srcRect/>
                      <a:stretch>
                        <a:fillRect/>
                      </a:stretch>
                    </p:blipFill>
                    <p:spPr bwMode="auto">
                      <a:xfrm>
                        <a:off x="720147" y="3670516"/>
                        <a:ext cx="5795963" cy="814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 name="Content Placeholder 9"/>
          <p:cNvSpPr>
            <a:spLocks noGrp="1"/>
          </p:cNvSpPr>
          <p:nvPr>
            <p:ph sz="quarter" idx="19"/>
          </p:nvPr>
        </p:nvSpPr>
        <p:spPr>
          <a:xfrm>
            <a:off x="457201" y="4613112"/>
            <a:ext cx="2523506" cy="410149"/>
          </a:xfrm>
        </p:spPr>
        <p:txBody>
          <a:bodyPr/>
          <a:lstStyle/>
          <a:p>
            <a:r>
              <a:rPr lang="en-US" altLang="en-US" dirty="0"/>
              <a:t>Standard error:</a:t>
            </a:r>
          </a:p>
        </p:txBody>
      </p:sp>
      <p:graphicFrame>
        <p:nvGraphicFramePr>
          <p:cNvPr id="22" name="Object 21" descr="sigma subscript p hat subscript 1 minus p hat subscript 2 end subscript equals square root of p bar q bar open parenthesis fraction numerator 1 divided by denominator n subscript 1 end fraction plus fraction numerator 1 divided by denominator n subscript 2 end fraction close parenthesis end root">
            <a:extLst>
              <a:ext uri="{FF2B5EF4-FFF2-40B4-BE49-F238E27FC236}">
                <a16:creationId xmlns:a16="http://schemas.microsoft.com/office/drawing/2014/main" id="{A5357B72-E6FA-4029-93CD-547D64908845}"/>
              </a:ext>
            </a:extLst>
          </p:cNvPr>
          <p:cNvGraphicFramePr>
            <a:graphicFrameLocks noChangeAspect="1"/>
          </p:cNvGraphicFramePr>
          <p:nvPr/>
        </p:nvGraphicFramePr>
        <p:xfrm>
          <a:off x="744538" y="5137150"/>
          <a:ext cx="3003550" cy="1039813"/>
        </p:xfrm>
        <a:graphic>
          <a:graphicData uri="http://schemas.openxmlformats.org/presentationml/2006/ole">
            <mc:AlternateContent xmlns:mc="http://schemas.openxmlformats.org/markup-compatibility/2006">
              <mc:Choice xmlns:v="urn:schemas-microsoft-com:vml" Requires="v">
                <p:oleObj name="Equation" r:id="rId10" imgW="3301920" imgH="1143000" progId="Equation.DSMT4">
                  <p:embed/>
                </p:oleObj>
              </mc:Choice>
              <mc:Fallback>
                <p:oleObj name="Equation" r:id="rId10" imgW="3301920" imgH="1143000" progId="Equation.DSMT4">
                  <p:embed/>
                  <p:pic>
                    <p:nvPicPr>
                      <p:cNvPr id="22" name="Object 21" descr="sigma subscript p hat subscript 1 minus p hat subscript 2 end subscript equals square root of p bar q bar open parenthesis fraction numerator 1 divided by denominator n subscript 1 end fraction plus fraction numerator 1 divided by denominator n subscript 2 end fraction close parenthesis end root">
                        <a:extLst>
                          <a:ext uri="{FF2B5EF4-FFF2-40B4-BE49-F238E27FC236}">
                            <a16:creationId xmlns:a16="http://schemas.microsoft.com/office/drawing/2014/main" id="{A5357B72-E6FA-4029-93CD-547D64908845}"/>
                          </a:ext>
                        </a:extLst>
                      </p:cNvPr>
                      <p:cNvPicPr/>
                      <p:nvPr/>
                    </p:nvPicPr>
                    <p:blipFill>
                      <a:blip r:embed="rId11"/>
                      <a:stretch>
                        <a:fillRect/>
                      </a:stretch>
                    </p:blipFill>
                    <p:spPr>
                      <a:xfrm>
                        <a:off x="744538" y="5137150"/>
                        <a:ext cx="3003550" cy="1039813"/>
                      </a:xfrm>
                      <a:prstGeom prst="rect">
                        <a:avLst/>
                      </a:prstGeom>
                    </p:spPr>
                  </p:pic>
                </p:oleObj>
              </mc:Fallback>
            </mc:AlternateContent>
          </a:graphicData>
        </a:graphic>
      </p:graphicFrame>
    </p:spTree>
    <p:extLst>
      <p:ext uri="{BB962C8B-B14F-4D97-AF65-F5344CB8AC3E}">
        <p14:creationId xmlns:p14="http://schemas.microsoft.com/office/powerpoint/2010/main" val="13817536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Two-Sample </a:t>
            </a:r>
            <a:r>
              <a:rPr lang="en-US" altLang="en-US" sz="3400" i="1" dirty="0"/>
              <a:t>z</a:t>
            </a:r>
            <a:r>
              <a:rPr lang="en-US" altLang="en-US" sz="3400" dirty="0"/>
              <a:t>-Test for the Difference Between Proportions </a:t>
            </a:r>
            <a:r>
              <a:rPr lang="en-US" altLang="en-US" sz="2000" b="0" dirty="0"/>
              <a:t>(2 of 5)</a:t>
            </a:r>
            <a:endParaRPr lang="en-US" sz="2000" b="0" dirty="0"/>
          </a:p>
        </p:txBody>
      </p:sp>
      <p:sp>
        <p:nvSpPr>
          <p:cNvPr id="4" name="Content Placeholder 3"/>
          <p:cNvSpPr>
            <a:spLocks noGrp="1"/>
          </p:cNvSpPr>
          <p:nvPr>
            <p:ph sz="quarter" idx="13"/>
          </p:nvPr>
        </p:nvSpPr>
        <p:spPr>
          <a:xfrm>
            <a:off x="457200" y="1552574"/>
            <a:ext cx="8229600" cy="430605"/>
          </a:xfrm>
        </p:spPr>
        <p:txBody>
          <a:bodyPr/>
          <a:lstStyle/>
          <a:p>
            <a:pPr marL="432" indent="0">
              <a:buNone/>
            </a:pPr>
            <a:r>
              <a:rPr lang="en-US" dirty="0">
                <a:solidFill>
                  <a:schemeClr val="tx1"/>
                </a:solidFill>
                <a:cs typeface="Times New Roman" panose="02020603050405020304" pitchFamily="18" charset="0"/>
              </a:rPr>
              <a:t>A two-sample </a:t>
            </a:r>
            <a:r>
              <a:rPr lang="en-US" i="1" dirty="0">
                <a:solidFill>
                  <a:schemeClr val="tx1"/>
                </a:solidFill>
                <a:cs typeface="Times New Roman" panose="02020603050405020304" pitchFamily="18" charset="0"/>
              </a:rPr>
              <a:t>z</a:t>
            </a:r>
            <a:r>
              <a:rPr lang="en-US" dirty="0">
                <a:solidFill>
                  <a:schemeClr val="tx1"/>
                </a:solidFill>
                <a:cs typeface="Times New Roman" panose="02020603050405020304" pitchFamily="18" charset="0"/>
              </a:rPr>
              <a:t>-test is used to test the difference between</a:t>
            </a:r>
            <a:endParaRPr lang="en-US" dirty="0">
              <a:solidFill>
                <a:schemeClr val="tx1"/>
              </a:solidFill>
            </a:endParaRPr>
          </a:p>
        </p:txBody>
      </p:sp>
      <p:sp>
        <p:nvSpPr>
          <p:cNvPr id="5" name="Content Placeholder 4"/>
          <p:cNvSpPr>
            <a:spLocks noGrp="1"/>
          </p:cNvSpPr>
          <p:nvPr>
            <p:ph sz="quarter" idx="14"/>
          </p:nvPr>
        </p:nvSpPr>
        <p:spPr>
          <a:xfrm>
            <a:off x="457201" y="2016536"/>
            <a:ext cx="3734790" cy="423842"/>
          </a:xfrm>
        </p:spPr>
        <p:txBody>
          <a:bodyPr/>
          <a:lstStyle/>
          <a:p>
            <a:pPr marL="432" indent="0">
              <a:buNone/>
            </a:pPr>
            <a:r>
              <a:rPr lang="en-US" dirty="0">
                <a:solidFill>
                  <a:schemeClr val="tx1"/>
                </a:solidFill>
                <a:cs typeface="Times New Roman" panose="02020603050405020304" pitchFamily="18" charset="0"/>
              </a:rPr>
              <a:t>two population proportions</a:t>
            </a:r>
            <a:endParaRPr lang="en-US" dirty="0">
              <a:solidFill>
                <a:schemeClr val="tx1"/>
              </a:solidFill>
            </a:endParaRPr>
          </a:p>
        </p:txBody>
      </p:sp>
      <p:graphicFrame>
        <p:nvGraphicFramePr>
          <p:cNvPr id="18" name="Object 17" descr="p subscript 1 and p subscript 2.">
            <a:extLst>
              <a:ext uri="{FF2B5EF4-FFF2-40B4-BE49-F238E27FC236}">
                <a16:creationId xmlns:a16="http://schemas.microsoft.com/office/drawing/2014/main" id="{A88D578B-BA0C-4B4B-862D-48C47E281749}"/>
              </a:ext>
            </a:extLst>
          </p:cNvPr>
          <p:cNvGraphicFramePr>
            <a:graphicFrameLocks noChangeAspect="1"/>
          </p:cNvGraphicFramePr>
          <p:nvPr/>
        </p:nvGraphicFramePr>
        <p:xfrm>
          <a:off x="4243719" y="2016536"/>
          <a:ext cx="1301750" cy="398462"/>
        </p:xfrm>
        <a:graphic>
          <a:graphicData uri="http://schemas.openxmlformats.org/presentationml/2006/ole">
            <mc:AlternateContent xmlns:mc="http://schemas.openxmlformats.org/markup-compatibility/2006">
              <mc:Choice xmlns:v="urn:schemas-microsoft-com:vml" Requires="v">
                <p:oleObj name="Equation" r:id="rId2" imgW="1409400" imgH="431640" progId="Equation.DSMT4">
                  <p:embed/>
                </p:oleObj>
              </mc:Choice>
              <mc:Fallback>
                <p:oleObj name="Equation" r:id="rId2" imgW="1409400" imgH="431640" progId="Equation.DSMT4">
                  <p:embed/>
                  <p:pic>
                    <p:nvPicPr>
                      <p:cNvPr id="18" name="Object 17" descr="p subscript 1 and p subscript 2.">
                        <a:extLst>
                          <a:ext uri="{FF2B5EF4-FFF2-40B4-BE49-F238E27FC236}">
                            <a16:creationId xmlns:a16="http://schemas.microsoft.com/office/drawing/2014/main" id="{A88D578B-BA0C-4B4B-862D-48C47E281749}"/>
                          </a:ext>
                        </a:extLst>
                      </p:cNvPr>
                      <p:cNvPicPr/>
                      <p:nvPr/>
                    </p:nvPicPr>
                    <p:blipFill>
                      <a:blip r:embed="rId3"/>
                      <a:stretch>
                        <a:fillRect/>
                      </a:stretch>
                    </p:blipFill>
                    <p:spPr>
                      <a:xfrm>
                        <a:off x="4243719" y="2016536"/>
                        <a:ext cx="1301750" cy="398462"/>
                      </a:xfrm>
                      <a:prstGeom prst="rect">
                        <a:avLst/>
                      </a:prstGeom>
                    </p:spPr>
                  </p:pic>
                </p:oleObj>
              </mc:Fallback>
            </mc:AlternateContent>
          </a:graphicData>
        </a:graphic>
      </p:graphicFrame>
      <p:sp>
        <p:nvSpPr>
          <p:cNvPr id="6" name="Content Placeholder 5"/>
          <p:cNvSpPr>
            <a:spLocks noGrp="1"/>
          </p:cNvSpPr>
          <p:nvPr>
            <p:ph sz="quarter" idx="15"/>
          </p:nvPr>
        </p:nvSpPr>
        <p:spPr>
          <a:xfrm>
            <a:off x="5644696" y="2016536"/>
            <a:ext cx="1706129" cy="423842"/>
          </a:xfrm>
        </p:spPr>
        <p:txBody>
          <a:bodyPr/>
          <a:lstStyle/>
          <a:p>
            <a:pPr marL="432" indent="0">
              <a:buNone/>
            </a:pPr>
            <a:r>
              <a:rPr lang="en-US" dirty="0">
                <a:cs typeface="Times New Roman" panose="02020603050405020304" pitchFamily="18" charset="0"/>
              </a:rPr>
              <a:t>when these</a:t>
            </a:r>
            <a:endParaRPr lang="en-US" dirty="0"/>
          </a:p>
        </p:txBody>
      </p:sp>
      <p:sp>
        <p:nvSpPr>
          <p:cNvPr id="7" name="Content Placeholder 6"/>
          <p:cNvSpPr>
            <a:spLocks noGrp="1"/>
          </p:cNvSpPr>
          <p:nvPr>
            <p:ph sz="quarter" idx="16"/>
          </p:nvPr>
        </p:nvSpPr>
        <p:spPr>
          <a:xfrm>
            <a:off x="457200" y="2487590"/>
            <a:ext cx="2903517" cy="395885"/>
          </a:xfrm>
        </p:spPr>
        <p:txBody>
          <a:bodyPr/>
          <a:lstStyle/>
          <a:p>
            <a:pPr marL="432" indent="0">
              <a:buNone/>
            </a:pPr>
            <a:r>
              <a:rPr lang="en-US" dirty="0">
                <a:cs typeface="Times New Roman" panose="02020603050405020304" pitchFamily="18" charset="0"/>
              </a:rPr>
              <a:t>conditions are met.</a:t>
            </a:r>
          </a:p>
        </p:txBody>
      </p:sp>
      <p:sp>
        <p:nvSpPr>
          <p:cNvPr id="8" name="Content Placeholder 7"/>
          <p:cNvSpPr>
            <a:spLocks noGrp="1"/>
          </p:cNvSpPr>
          <p:nvPr>
            <p:ph sz="quarter" idx="17"/>
          </p:nvPr>
        </p:nvSpPr>
        <p:spPr>
          <a:xfrm>
            <a:off x="457200" y="2958398"/>
            <a:ext cx="5088269" cy="819932"/>
          </a:xfrm>
        </p:spPr>
        <p:txBody>
          <a:bodyPr/>
          <a:lstStyle/>
          <a:p>
            <a:pPr marL="432000" indent="-432000">
              <a:spcBef>
                <a:spcPts val="400"/>
              </a:spcBef>
              <a:buFont typeface="+mj-lt"/>
              <a:buAutoNum type="arabicPeriod"/>
            </a:pPr>
            <a:r>
              <a:rPr lang="en-US" dirty="0"/>
              <a:t>The samples are random.</a:t>
            </a:r>
          </a:p>
          <a:p>
            <a:pPr marL="432000" indent="-432000">
              <a:spcBef>
                <a:spcPts val="400"/>
              </a:spcBef>
              <a:buFont typeface="+mj-lt"/>
              <a:buAutoNum type="arabicPeriod"/>
            </a:pPr>
            <a:r>
              <a:rPr lang="en-US" dirty="0"/>
              <a:t>The samples are independent.</a:t>
            </a:r>
          </a:p>
        </p:txBody>
      </p:sp>
      <p:sp>
        <p:nvSpPr>
          <p:cNvPr id="9" name="Content Placeholder 8"/>
          <p:cNvSpPr>
            <a:spLocks noGrp="1"/>
          </p:cNvSpPr>
          <p:nvPr>
            <p:ph sz="quarter" idx="18"/>
          </p:nvPr>
        </p:nvSpPr>
        <p:spPr>
          <a:xfrm>
            <a:off x="457200" y="3841381"/>
            <a:ext cx="2487881" cy="400089"/>
          </a:xfrm>
        </p:spPr>
        <p:txBody>
          <a:bodyPr/>
          <a:lstStyle/>
          <a:p>
            <a:pPr marL="432000" indent="-432000">
              <a:spcBef>
                <a:spcPts val="600"/>
              </a:spcBef>
              <a:buFont typeface="+mj-lt"/>
              <a:buAutoNum type="arabicPeriod" startAt="3"/>
            </a:pPr>
            <a:r>
              <a:rPr lang="en-US" dirty="0">
                <a:cs typeface="Times New Roman" panose="02020603050405020304" pitchFamily="18" charset="0"/>
              </a:rPr>
              <a:t>The quantities</a:t>
            </a:r>
            <a:endParaRPr lang="en-US" dirty="0"/>
          </a:p>
        </p:txBody>
      </p:sp>
      <p:graphicFrame>
        <p:nvGraphicFramePr>
          <p:cNvPr id="19" name="Object 18" descr="n sub 1 p bar, n sub 1 q bar, n sub 2 p bar, and n sub 2 q bar.">
            <a:extLst>
              <a:ext uri="{FF2B5EF4-FFF2-40B4-BE49-F238E27FC236}">
                <a16:creationId xmlns:a16="http://schemas.microsoft.com/office/drawing/2014/main" id="{EBE42356-F190-4A67-8EA8-DF9AE7BAB7B8}"/>
              </a:ext>
            </a:extLst>
          </p:cNvPr>
          <p:cNvGraphicFramePr>
            <a:graphicFrameLocks noChangeAspect="1"/>
          </p:cNvGraphicFramePr>
          <p:nvPr/>
        </p:nvGraphicFramePr>
        <p:xfrm>
          <a:off x="3074988" y="3845500"/>
          <a:ext cx="2933700" cy="393700"/>
        </p:xfrm>
        <a:graphic>
          <a:graphicData uri="http://schemas.openxmlformats.org/presentationml/2006/ole">
            <mc:AlternateContent xmlns:mc="http://schemas.openxmlformats.org/markup-compatibility/2006">
              <mc:Choice xmlns:v="urn:schemas-microsoft-com:vml" Requires="v">
                <p:oleObj name="Equation" r:id="rId4" imgW="2844720" imgH="380880" progId="Equation.DSMT4">
                  <p:embed/>
                </p:oleObj>
              </mc:Choice>
              <mc:Fallback>
                <p:oleObj name="Equation" r:id="rId4" imgW="2844720" imgH="380880" progId="Equation.DSMT4">
                  <p:embed/>
                  <p:pic>
                    <p:nvPicPr>
                      <p:cNvPr id="19" name="Object 18" descr="n sub 1 p bar, n sub 1 q bar, n sub 2 p bar, and n sub 2 q bar.">
                        <a:extLst>
                          <a:ext uri="{FF2B5EF4-FFF2-40B4-BE49-F238E27FC236}">
                            <a16:creationId xmlns:a16="http://schemas.microsoft.com/office/drawing/2014/main" id="{EBE42356-F190-4A67-8EA8-DF9AE7BAB7B8}"/>
                          </a:ext>
                        </a:extLst>
                      </p:cNvPr>
                      <p:cNvPicPr/>
                      <p:nvPr/>
                    </p:nvPicPr>
                    <p:blipFill>
                      <a:blip r:embed="rId5"/>
                      <a:stretch>
                        <a:fillRect/>
                      </a:stretch>
                    </p:blipFill>
                    <p:spPr>
                      <a:xfrm>
                        <a:off x="3074988" y="3845500"/>
                        <a:ext cx="2933700" cy="393700"/>
                      </a:xfrm>
                      <a:prstGeom prst="rect">
                        <a:avLst/>
                      </a:prstGeom>
                    </p:spPr>
                  </p:pic>
                </p:oleObj>
              </mc:Fallback>
            </mc:AlternateContent>
          </a:graphicData>
        </a:graphic>
      </p:graphicFrame>
      <p:sp>
        <p:nvSpPr>
          <p:cNvPr id="10" name="Content Placeholder 9"/>
          <p:cNvSpPr>
            <a:spLocks noGrp="1"/>
          </p:cNvSpPr>
          <p:nvPr>
            <p:ph sz="quarter" idx="19"/>
          </p:nvPr>
        </p:nvSpPr>
        <p:spPr>
          <a:xfrm>
            <a:off x="6125476" y="3841381"/>
            <a:ext cx="2117985" cy="400089"/>
          </a:xfrm>
        </p:spPr>
        <p:txBody>
          <a:bodyPr/>
          <a:lstStyle/>
          <a:p>
            <a:pPr marL="432" indent="0">
              <a:buNone/>
            </a:pPr>
            <a:r>
              <a:rPr lang="en-US" dirty="0">
                <a:cs typeface="Times New Roman" panose="02020603050405020304" pitchFamily="18" charset="0"/>
              </a:rPr>
              <a:t>are at least 5.</a:t>
            </a:r>
            <a:endParaRPr lang="en-US" dirty="0"/>
          </a:p>
        </p:txBody>
      </p:sp>
      <p:sp>
        <p:nvSpPr>
          <p:cNvPr id="11" name="Content Placeholder 10"/>
          <p:cNvSpPr>
            <a:spLocks noGrp="1"/>
          </p:cNvSpPr>
          <p:nvPr>
            <p:ph sz="quarter" idx="20"/>
          </p:nvPr>
        </p:nvSpPr>
        <p:spPr>
          <a:xfrm>
            <a:off x="457201" y="4337568"/>
            <a:ext cx="2820389" cy="390790"/>
          </a:xfrm>
        </p:spPr>
        <p:txBody>
          <a:bodyPr/>
          <a:lstStyle/>
          <a:p>
            <a:pPr marL="432" indent="0">
              <a:buNone/>
            </a:pPr>
            <a:r>
              <a:rPr lang="en-US" altLang="en-US" dirty="0"/>
              <a:t>The </a:t>
            </a:r>
            <a:r>
              <a:rPr lang="en-US" altLang="en-US" b="1" dirty="0"/>
              <a:t>test statistic</a:t>
            </a:r>
            <a:r>
              <a:rPr lang="en-US" altLang="en-US" dirty="0"/>
              <a:t> is</a:t>
            </a:r>
            <a:endParaRPr lang="en-US" dirty="0"/>
          </a:p>
        </p:txBody>
      </p:sp>
      <p:graphicFrame>
        <p:nvGraphicFramePr>
          <p:cNvPr id="20" name="Object 19" descr="p hat subscript 1 minus p hat subscript 2">
            <a:extLst>
              <a:ext uri="{FF2B5EF4-FFF2-40B4-BE49-F238E27FC236}">
                <a16:creationId xmlns:a16="http://schemas.microsoft.com/office/drawing/2014/main" id="{538D8EC6-3F35-45AF-894B-9A3DD3125005}"/>
              </a:ext>
            </a:extLst>
          </p:cNvPr>
          <p:cNvGraphicFramePr>
            <a:graphicFrameLocks noChangeAspect="1"/>
          </p:cNvGraphicFramePr>
          <p:nvPr/>
        </p:nvGraphicFramePr>
        <p:xfrm>
          <a:off x="3385379" y="4349417"/>
          <a:ext cx="963707" cy="381001"/>
        </p:xfrm>
        <a:graphic>
          <a:graphicData uri="http://schemas.openxmlformats.org/presentationml/2006/ole">
            <mc:AlternateContent xmlns:mc="http://schemas.openxmlformats.org/markup-compatibility/2006">
              <mc:Choice xmlns:v="urn:schemas-microsoft-com:vml" Requires="v">
                <p:oleObj name="Equation" r:id="rId6" imgW="1091880" imgH="431640" progId="Equation.DSMT4">
                  <p:embed/>
                </p:oleObj>
              </mc:Choice>
              <mc:Fallback>
                <p:oleObj name="Equation" r:id="rId6" imgW="1091880" imgH="431640" progId="Equation.DSMT4">
                  <p:embed/>
                  <p:pic>
                    <p:nvPicPr>
                      <p:cNvPr id="20" name="Object 19" descr="p hat subscript 1 minus p hat subscript 2">
                        <a:extLst>
                          <a:ext uri="{FF2B5EF4-FFF2-40B4-BE49-F238E27FC236}">
                            <a16:creationId xmlns:a16="http://schemas.microsoft.com/office/drawing/2014/main" id="{538D8EC6-3F35-45AF-894B-9A3DD3125005}"/>
                          </a:ext>
                        </a:extLst>
                      </p:cNvPr>
                      <p:cNvPicPr/>
                      <p:nvPr/>
                    </p:nvPicPr>
                    <p:blipFill>
                      <a:blip r:embed="rId7"/>
                      <a:stretch>
                        <a:fillRect/>
                      </a:stretch>
                    </p:blipFill>
                    <p:spPr>
                      <a:xfrm>
                        <a:off x="3385379" y="4349417"/>
                        <a:ext cx="963707" cy="381001"/>
                      </a:xfrm>
                      <a:prstGeom prst="rect">
                        <a:avLst/>
                      </a:prstGeom>
                    </p:spPr>
                  </p:pic>
                </p:oleObj>
              </mc:Fallback>
            </mc:AlternateContent>
          </a:graphicData>
        </a:graphic>
      </p:graphicFrame>
      <p:sp>
        <p:nvSpPr>
          <p:cNvPr id="12" name="Content Placeholder 11"/>
          <p:cNvSpPr>
            <a:spLocks noGrp="1"/>
          </p:cNvSpPr>
          <p:nvPr>
            <p:ph sz="quarter" idx="21"/>
          </p:nvPr>
        </p:nvSpPr>
        <p:spPr>
          <a:xfrm>
            <a:off x="457202" y="4783242"/>
            <a:ext cx="4827318" cy="404294"/>
          </a:xfrm>
        </p:spPr>
        <p:txBody>
          <a:bodyPr/>
          <a:lstStyle/>
          <a:p>
            <a:pPr marL="432" indent="0">
              <a:buClr>
                <a:schemeClr val="accent1"/>
              </a:buClr>
              <a:buNone/>
            </a:pPr>
            <a:r>
              <a:rPr lang="en-US" altLang="en-US" dirty="0"/>
              <a:t>The </a:t>
            </a:r>
            <a:r>
              <a:rPr lang="en-US" altLang="en-US" b="1" dirty="0"/>
              <a:t>standardized</a:t>
            </a:r>
            <a:r>
              <a:rPr lang="en-US" altLang="en-US" dirty="0"/>
              <a:t> </a:t>
            </a:r>
            <a:r>
              <a:rPr lang="en-US" altLang="en-US" b="1" dirty="0"/>
              <a:t>test</a:t>
            </a:r>
            <a:r>
              <a:rPr lang="en-US" altLang="en-US" dirty="0"/>
              <a:t> </a:t>
            </a:r>
            <a:r>
              <a:rPr lang="en-US" altLang="en-US" b="1" dirty="0"/>
              <a:t>statistic</a:t>
            </a:r>
            <a:r>
              <a:rPr lang="en-US" altLang="en-US" dirty="0"/>
              <a:t> is</a:t>
            </a:r>
          </a:p>
        </p:txBody>
      </p:sp>
      <p:graphicFrame>
        <p:nvGraphicFramePr>
          <p:cNvPr id="21" name="Object 20" descr="z equals fraction numerator open parenthesis p hat subscript 1 minus p hat subscript 2 close parenthesis minus open parenthesis p subscript 1 minus p subscript 2 close parenthesis divided by denominator square root of p bar q bar open parenthesis fraction numerator 1 divided by denominator n subscript 1 end fraction plus fraction numerator 1 divided by denominator n subscript 2 end fraction close parenthesis end root end fraction where p bar equals fraction numerator x subscript 1 plus x subscript 2 divided by denominator n subscript 1 plus n subscript 2 end fraction and q bar equals 1 minus p bar">
            <a:extLst>
              <a:ext uri="{FF2B5EF4-FFF2-40B4-BE49-F238E27FC236}">
                <a16:creationId xmlns:a16="http://schemas.microsoft.com/office/drawing/2014/main" id="{41671FF0-F30B-4EF2-8958-91CD37466A59}"/>
              </a:ext>
            </a:extLst>
          </p:cNvPr>
          <p:cNvGraphicFramePr>
            <a:graphicFrameLocks noChangeAspect="1"/>
          </p:cNvGraphicFramePr>
          <p:nvPr/>
        </p:nvGraphicFramePr>
        <p:xfrm>
          <a:off x="1879736" y="5235024"/>
          <a:ext cx="5509881" cy="1127890"/>
        </p:xfrm>
        <a:graphic>
          <a:graphicData uri="http://schemas.openxmlformats.org/presentationml/2006/ole">
            <mc:AlternateContent xmlns:mc="http://schemas.openxmlformats.org/markup-compatibility/2006">
              <mc:Choice xmlns:v="urn:schemas-microsoft-com:vml" Requires="v">
                <p:oleObj name="Equation" r:id="rId8" imgW="6946560" imgH="1422360" progId="Equation.DSMT4">
                  <p:embed/>
                </p:oleObj>
              </mc:Choice>
              <mc:Fallback>
                <p:oleObj name="Equation" r:id="rId8" imgW="6946560" imgH="1422360" progId="Equation.DSMT4">
                  <p:embed/>
                  <p:pic>
                    <p:nvPicPr>
                      <p:cNvPr id="21" name="Object 20" descr="z equals fraction numerator open parenthesis p hat subscript 1 minus p hat subscript 2 close parenthesis minus open parenthesis p subscript 1 minus p subscript 2 close parenthesis divided by denominator square root of p bar q bar open parenthesis fraction numerator 1 divided by denominator n subscript 1 end fraction plus fraction numerator 1 divided by denominator n subscript 2 end fraction close parenthesis end root end fraction where p bar equals fraction numerator x subscript 1 plus x subscript 2 divided by denominator n subscript 1 plus n subscript 2 end fraction and q bar equals 1 minus p bar">
                        <a:extLst>
                          <a:ext uri="{FF2B5EF4-FFF2-40B4-BE49-F238E27FC236}">
                            <a16:creationId xmlns:a16="http://schemas.microsoft.com/office/drawing/2014/main" id="{41671FF0-F30B-4EF2-8958-91CD37466A59}"/>
                          </a:ext>
                        </a:extLst>
                      </p:cNvPr>
                      <p:cNvPicPr/>
                      <p:nvPr/>
                    </p:nvPicPr>
                    <p:blipFill>
                      <a:blip r:embed="rId9"/>
                      <a:stretch>
                        <a:fillRect/>
                      </a:stretch>
                    </p:blipFill>
                    <p:spPr>
                      <a:xfrm>
                        <a:off x="1879736" y="5235024"/>
                        <a:ext cx="5509881" cy="1127890"/>
                      </a:xfrm>
                      <a:prstGeom prst="rect">
                        <a:avLst/>
                      </a:prstGeom>
                    </p:spPr>
                  </p:pic>
                </p:oleObj>
              </mc:Fallback>
            </mc:AlternateContent>
          </a:graphicData>
        </a:graphic>
      </p:graphicFrame>
    </p:spTree>
    <p:extLst>
      <p:ext uri="{BB962C8B-B14F-4D97-AF65-F5344CB8AC3E}">
        <p14:creationId xmlns:p14="http://schemas.microsoft.com/office/powerpoint/2010/main" val="33102338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Two-Sample </a:t>
            </a:r>
            <a:r>
              <a:rPr lang="en-US" altLang="en-US" sz="3400" i="1" dirty="0"/>
              <a:t>z</a:t>
            </a:r>
            <a:r>
              <a:rPr lang="en-US" altLang="en-US" sz="3400" dirty="0"/>
              <a:t>-Test for the Difference Between Proportions </a:t>
            </a:r>
            <a:r>
              <a:rPr lang="en-US" altLang="en-US" sz="2000" b="0" dirty="0"/>
              <a:t>(3 of 5)</a:t>
            </a:r>
            <a:endParaRPr lang="en-IN" sz="2000" b="0" dirty="0"/>
          </a:p>
        </p:txBody>
      </p:sp>
      <p:graphicFrame>
        <p:nvGraphicFramePr>
          <p:cNvPr id="4" name="Content Placeholder 3"/>
          <p:cNvGraphicFramePr>
            <a:graphicFrameLocks noGrp="1"/>
          </p:cNvGraphicFramePr>
          <p:nvPr>
            <p:ph sz="quarter" idx="13"/>
          </p:nvPr>
        </p:nvGraphicFramePr>
        <p:xfrm>
          <a:off x="457200" y="1555750"/>
          <a:ext cx="8229600" cy="4581814"/>
        </p:xfrm>
        <a:graphic>
          <a:graphicData uri="http://schemas.openxmlformats.org/drawingml/2006/table">
            <a:tbl>
              <a:tblPr firstRow="1" bandRow="1">
                <a:tableStyleId>{2D5ABB26-0587-4C30-8999-92F81FD0307C}</a:tableStyleId>
              </a:tblPr>
              <a:tblGrid>
                <a:gridCol w="4874821">
                  <a:extLst>
                    <a:ext uri="{9D8B030D-6E8A-4147-A177-3AD203B41FA5}">
                      <a16:colId xmlns:a16="http://schemas.microsoft.com/office/drawing/2014/main" val="2922467539"/>
                    </a:ext>
                  </a:extLst>
                </a:gridCol>
                <a:gridCol w="3354779">
                  <a:extLst>
                    <a:ext uri="{9D8B030D-6E8A-4147-A177-3AD203B41FA5}">
                      <a16:colId xmlns:a16="http://schemas.microsoft.com/office/drawing/2014/main" val="3048265993"/>
                    </a:ext>
                  </a:extLst>
                </a:gridCol>
              </a:tblGrid>
              <a:tr h="464737">
                <a:tc>
                  <a:txBody>
                    <a:bodyPr/>
                    <a:lstStyle/>
                    <a:p>
                      <a:r>
                        <a:rPr lang="en-US" sz="2200" b="1" noProof="0" dirty="0"/>
                        <a:t>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a:t>In Symbols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114632"/>
                  </a:ext>
                </a:extLst>
              </a:tr>
              <a:tr h="8533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solidFill>
                            <a:prstClr val="black"/>
                          </a:solidFill>
                          <a:ea typeface="+mn-ea"/>
                        </a:rPr>
                        <a:t>1. Verify that </a:t>
                      </a:r>
                      <a:r>
                        <a:rPr lang="en-US" sz="2200" noProof="0" dirty="0">
                          <a:solidFill>
                            <a:prstClr val="black"/>
                          </a:solidFill>
                          <a:ea typeface="+mn-ea"/>
                          <a:sym typeface="Symbol"/>
                        </a:rPr>
                        <a:t>the samples are random and independent.</a:t>
                      </a:r>
                      <a:endParaRPr lang="en-US" altLang="en-US" sz="2200" noProof="0" dirty="0">
                        <a:ea typeface="+mn-ea"/>
                        <a:cs typeface="Arial"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896755"/>
                  </a:ext>
                </a:extLst>
              </a:tr>
              <a:tr h="12112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ea typeface="+mn-ea"/>
                          <a:cs typeface="Arial" charset="0"/>
                          <a:sym typeface="Symbol" pitchFamily="18" charset="2"/>
                        </a:rPr>
                        <a:t>2. Find the weighted estimate of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 baseline="0" noProof="0" dirty="0">
                          <a:ea typeface="+mn-ea"/>
                          <a:cs typeface="Arial" charset="0"/>
                          <a:sym typeface="Symbol" pitchFamily="18" charset="2"/>
                        </a:rPr>
                        <a:t>p sub 1 and p sub 2..</a:t>
                      </a:r>
                      <a:r>
                        <a:rPr lang="en-US" altLang="en-US" sz="2200" baseline="0" noProof="0" dirty="0">
                          <a:ea typeface="+mn-ea"/>
                          <a:cs typeface="Arial" charset="0"/>
                          <a:sym typeface="Symbol" pitchFamily="18" charset="2"/>
                        </a:rPr>
                        <a:t>                </a:t>
                      </a:r>
                      <a:r>
                        <a:rPr lang="en-US" altLang="en-US" sz="2200" noProof="0" dirty="0">
                          <a:ea typeface="+mn-ea"/>
                          <a:cs typeface="Arial" charset="0"/>
                          <a:sym typeface="Symbol" pitchFamily="18" charset="2"/>
                        </a:rPr>
                        <a:t>Verify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 noProof="0" dirty="0">
                          <a:ea typeface="+mn-ea"/>
                          <a:cs typeface="Arial" charset="0"/>
                          <a:sym typeface="Symbol" pitchFamily="18" charset="2"/>
                        </a:rPr>
                        <a:t>n sub 1 p bar, n sub 1 q bar, n sub 2 p bar, and n sub 2 q bar.</a:t>
                      </a:r>
                      <a:r>
                        <a:rPr lang="en-US" altLang="en-US" sz="2200" noProof="0" dirty="0">
                          <a:ea typeface="+mn-ea"/>
                          <a:cs typeface="Arial" charset="0"/>
                          <a:sym typeface="Symbol" pitchFamily="18" charset="2"/>
                        </a:rPr>
                        <a:t>                        are at least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t>p bar = start fraction x sub 1 + x sub 2 over n sub 1 + n sub 2, q bar = 1 minus p bar.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5141345"/>
                  </a:ext>
                </a:extLst>
              </a:tr>
              <a:tr h="1195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dirty="0">
                          <a:ea typeface="+mn-ea"/>
                          <a:cs typeface="Arial" charset="0"/>
                        </a:rPr>
                        <a:t>3. State the claim mathematically and verbally. Identify the null</a:t>
                      </a:r>
                      <a:r>
                        <a:rPr lang="en-US" altLang="en-US" sz="2200" baseline="0" noProof="0" dirty="0">
                          <a:ea typeface="+mn-ea"/>
                          <a:cs typeface="Arial" charset="0"/>
                        </a:rPr>
                        <a:t> </a:t>
                      </a:r>
                      <a:r>
                        <a:rPr lang="en-US" altLang="en-US" sz="2200" noProof="0" dirty="0">
                          <a:ea typeface="+mn-ea"/>
                          <a:cs typeface="Arial" charset="0"/>
                        </a:rPr>
                        <a:t>and alternative hypotheses.</a:t>
                      </a:r>
                      <a:endParaRPr lang="en-US" altLang="en-US" sz="2200" noProof="0" dirty="0">
                        <a:ea typeface="+mn-ea"/>
                        <a:cs typeface="Arial" charset="0"/>
                        <a:sym typeface="Symbol"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noProof="0" dirty="0"/>
                        <a:t>State </a:t>
                      </a:r>
                      <a:r>
                        <a:rPr lang="en-US" sz="100" noProof="0" dirty="0"/>
                        <a:t>H sub 0 and H sub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7609304"/>
                  </a:ext>
                </a:extLst>
              </a:tr>
              <a:tr h="857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ea typeface="+mn-ea"/>
                          <a:cs typeface="Arial" charset="0"/>
                          <a:sym typeface="Symbol" pitchFamily="18" charset="2"/>
                        </a:rPr>
                        <a:t>4. Specify the level of significance.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noProof="0" dirty="0"/>
                        <a:t>Identify </a:t>
                      </a:r>
                      <a:r>
                        <a:rPr lang="en-US" sz="100" noProof="0" dirty="0"/>
                        <a:t>alpha.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7862728"/>
                  </a:ext>
                </a:extLst>
              </a:tr>
            </a:tbl>
          </a:graphicData>
        </a:graphic>
      </p:graphicFrame>
      <p:graphicFrame>
        <p:nvGraphicFramePr>
          <p:cNvPr id="5" name="Object 4">
            <a:extLst>
              <a:ext uri="{FF2B5EF4-FFF2-40B4-BE49-F238E27FC236}">
                <a16:creationId xmlns:a16="http://schemas.microsoft.com/office/drawing/2014/main" id="{A88D578B-BA0C-4B4B-862D-48C47E281749}"/>
              </a:ext>
              <a:ext uri="{C183D7F6-B498-43B3-948B-1728B52AA6E4}">
                <adec:decorative xmlns:adec="http://schemas.microsoft.com/office/drawing/2017/decorative" val="1"/>
              </a:ext>
            </a:extLst>
          </p:cNvPr>
          <p:cNvGraphicFramePr>
            <a:graphicFrameLocks noChangeAspect="1"/>
          </p:cNvGraphicFramePr>
          <p:nvPr/>
        </p:nvGraphicFramePr>
        <p:xfrm>
          <a:off x="496886" y="3242455"/>
          <a:ext cx="1309205" cy="377228"/>
        </p:xfrm>
        <a:graphic>
          <a:graphicData uri="http://schemas.openxmlformats.org/presentationml/2006/ole">
            <mc:AlternateContent xmlns:mc="http://schemas.openxmlformats.org/markup-compatibility/2006">
              <mc:Choice xmlns:v="urn:schemas-microsoft-com:vml" Requires="v">
                <p:oleObj name="Equation" r:id="rId2" imgW="1498320" imgH="431640" progId="Equation.DSMT4">
                  <p:embed/>
                </p:oleObj>
              </mc:Choice>
              <mc:Fallback>
                <p:oleObj name="Equation" r:id="rId2" imgW="1498320" imgH="431640" progId="Equation.DSMT4">
                  <p:embed/>
                  <p:pic>
                    <p:nvPicPr>
                      <p:cNvPr id="5" name="Object 4">
                        <a:extLst>
                          <a:ext uri="{FF2B5EF4-FFF2-40B4-BE49-F238E27FC236}">
                            <a16:creationId xmlns:a16="http://schemas.microsoft.com/office/drawing/2014/main" id="{A88D578B-BA0C-4B4B-862D-48C47E281749}"/>
                          </a:ext>
                          <a:ext uri="{C183D7F6-B498-43B3-948B-1728B52AA6E4}">
                            <adec:decorative xmlns:adec="http://schemas.microsoft.com/office/drawing/2017/decorative" val="1"/>
                          </a:ext>
                        </a:extLst>
                      </p:cNvPr>
                      <p:cNvPicPr/>
                      <p:nvPr/>
                    </p:nvPicPr>
                    <p:blipFill>
                      <a:blip r:embed="rId3"/>
                      <a:stretch>
                        <a:fillRect/>
                      </a:stretch>
                    </p:blipFill>
                    <p:spPr>
                      <a:xfrm>
                        <a:off x="496886" y="3242455"/>
                        <a:ext cx="1309205" cy="377228"/>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12A493DC-A8F2-4BA8-8485-EF02BC4848D5}"/>
              </a:ext>
              <a:ext uri="{C183D7F6-B498-43B3-948B-1728B52AA6E4}">
                <adec:decorative xmlns:adec="http://schemas.microsoft.com/office/drawing/2017/decorative" val="1"/>
              </a:ext>
            </a:extLst>
          </p:cNvPr>
          <p:cNvGraphicFramePr>
            <a:graphicFrameLocks noChangeAspect="1"/>
          </p:cNvGraphicFramePr>
          <p:nvPr/>
        </p:nvGraphicFramePr>
        <p:xfrm>
          <a:off x="542358" y="3635355"/>
          <a:ext cx="2097774" cy="382034"/>
        </p:xfrm>
        <a:graphic>
          <a:graphicData uri="http://schemas.openxmlformats.org/presentationml/2006/ole">
            <mc:AlternateContent xmlns:mc="http://schemas.openxmlformats.org/markup-compatibility/2006">
              <mc:Choice xmlns:v="urn:schemas-microsoft-com:vml" Requires="v">
                <p:oleObj name="Equation" r:id="rId4" imgW="2095500" imgH="381000" progId="Equation.DSMT4">
                  <p:embed/>
                </p:oleObj>
              </mc:Choice>
              <mc:Fallback>
                <p:oleObj name="Equation" r:id="rId4" imgW="2095500" imgH="381000" progId="Equation.DSMT4">
                  <p:embed/>
                  <p:pic>
                    <p:nvPicPr>
                      <p:cNvPr id="6" name="Object 5">
                        <a:extLst>
                          <a:ext uri="{FF2B5EF4-FFF2-40B4-BE49-F238E27FC236}">
                            <a16:creationId xmlns:a16="http://schemas.microsoft.com/office/drawing/2014/main" id="{12A493DC-A8F2-4BA8-8485-EF02BC4848D5}"/>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358" y="3635355"/>
                        <a:ext cx="2097774" cy="382034"/>
                      </a:xfrm>
                      <a:prstGeom prst="rect">
                        <a:avLst/>
                      </a:prstGeom>
                      <a:solidFill>
                        <a:schemeClr val="bg1"/>
                      </a:solidFill>
                      <a:ln>
                        <a:noFill/>
                      </a:ln>
                      <a:effectLst/>
                    </p:spPr>
                  </p:pic>
                </p:oleObj>
              </mc:Fallback>
            </mc:AlternateContent>
          </a:graphicData>
        </a:graphic>
      </p:graphicFrame>
      <p:graphicFrame>
        <p:nvGraphicFramePr>
          <p:cNvPr id="7" name="Object 6">
            <a:extLst>
              <a:ext uri="{FF2B5EF4-FFF2-40B4-BE49-F238E27FC236}">
                <a16:creationId xmlns:a16="http://schemas.microsoft.com/office/drawing/2014/main" id="{371DD508-9AEF-4533-8D6A-86E12C34A816}"/>
              </a:ext>
              <a:ext uri="{C183D7F6-B498-43B3-948B-1728B52AA6E4}">
                <adec:decorative xmlns:adec="http://schemas.microsoft.com/office/drawing/2017/decorative" val="1"/>
              </a:ext>
            </a:extLst>
          </p:cNvPr>
          <p:cNvGraphicFramePr>
            <a:graphicFrameLocks noChangeAspect="1"/>
          </p:cNvGraphicFramePr>
          <p:nvPr/>
        </p:nvGraphicFramePr>
        <p:xfrm>
          <a:off x="5383913" y="2953625"/>
          <a:ext cx="2710295" cy="787977"/>
        </p:xfrm>
        <a:graphic>
          <a:graphicData uri="http://schemas.openxmlformats.org/presentationml/2006/ole">
            <mc:AlternateContent xmlns:mc="http://schemas.openxmlformats.org/markup-compatibility/2006">
              <mc:Choice xmlns:v="urn:schemas-microsoft-com:vml" Requires="v">
                <p:oleObj name="Equation" r:id="rId6" imgW="2552700" imgH="711200" progId="Equation.DSMT4">
                  <p:embed/>
                </p:oleObj>
              </mc:Choice>
              <mc:Fallback>
                <p:oleObj name="Equation" r:id="rId6" imgW="2552700" imgH="711200" progId="Equation.DSMT4">
                  <p:embed/>
                  <p:pic>
                    <p:nvPicPr>
                      <p:cNvPr id="7" name="Object 6">
                        <a:extLst>
                          <a:ext uri="{FF2B5EF4-FFF2-40B4-BE49-F238E27FC236}">
                            <a16:creationId xmlns:a16="http://schemas.microsoft.com/office/drawing/2014/main" id="{371DD508-9AEF-4533-8D6A-86E12C34A816}"/>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3913" y="2953625"/>
                        <a:ext cx="2710295" cy="787977"/>
                      </a:xfrm>
                      <a:prstGeom prst="rect">
                        <a:avLst/>
                      </a:prstGeom>
                      <a:solidFill>
                        <a:schemeClr val="bg1"/>
                      </a:solidFill>
                      <a:ln>
                        <a:noFill/>
                      </a:ln>
                    </p:spPr>
                  </p:pic>
                </p:oleObj>
              </mc:Fallback>
            </mc:AlternateContent>
          </a:graphicData>
        </a:graphic>
      </p:graphicFrame>
      <p:graphicFrame>
        <p:nvGraphicFramePr>
          <p:cNvPr id="8" name="Object 7">
            <a:extLst>
              <a:ext uri="{FF2B5EF4-FFF2-40B4-BE49-F238E27FC236}">
                <a16:creationId xmlns:a16="http://schemas.microsoft.com/office/drawing/2014/main" id="{A88D578B-BA0C-4B4B-862D-48C47E281749}"/>
              </a:ext>
              <a:ext uri="{C183D7F6-B498-43B3-948B-1728B52AA6E4}">
                <adec:decorative xmlns:adec="http://schemas.microsoft.com/office/drawing/2017/decorative" val="1"/>
              </a:ext>
            </a:extLst>
          </p:cNvPr>
          <p:cNvGraphicFramePr>
            <a:graphicFrameLocks noChangeAspect="1"/>
          </p:cNvGraphicFramePr>
          <p:nvPr/>
        </p:nvGraphicFramePr>
        <p:xfrm>
          <a:off x="6150165" y="4107512"/>
          <a:ext cx="1465263" cy="376238"/>
        </p:xfrm>
        <a:graphic>
          <a:graphicData uri="http://schemas.openxmlformats.org/presentationml/2006/ole">
            <mc:AlternateContent xmlns:mc="http://schemas.openxmlformats.org/markup-compatibility/2006">
              <mc:Choice xmlns:v="urn:schemas-microsoft-com:vml" Requires="v">
                <p:oleObj name="Equation" r:id="rId8" imgW="1676160" imgH="431640" progId="Equation.DSMT4">
                  <p:embed/>
                </p:oleObj>
              </mc:Choice>
              <mc:Fallback>
                <p:oleObj name="Equation" r:id="rId8" imgW="1676160" imgH="431640" progId="Equation.DSMT4">
                  <p:embed/>
                  <p:pic>
                    <p:nvPicPr>
                      <p:cNvPr id="8" name="Object 7">
                        <a:extLst>
                          <a:ext uri="{FF2B5EF4-FFF2-40B4-BE49-F238E27FC236}">
                            <a16:creationId xmlns:a16="http://schemas.microsoft.com/office/drawing/2014/main" id="{A88D578B-BA0C-4B4B-862D-48C47E281749}"/>
                          </a:ext>
                          <a:ext uri="{C183D7F6-B498-43B3-948B-1728B52AA6E4}">
                            <adec:decorative xmlns:adec="http://schemas.microsoft.com/office/drawing/2017/decorative" val="1"/>
                          </a:ext>
                        </a:extLst>
                      </p:cNvPr>
                      <p:cNvPicPr/>
                      <p:nvPr/>
                    </p:nvPicPr>
                    <p:blipFill>
                      <a:blip r:embed="rId9"/>
                      <a:stretch>
                        <a:fillRect/>
                      </a:stretch>
                    </p:blipFill>
                    <p:spPr>
                      <a:xfrm>
                        <a:off x="6150165" y="4107512"/>
                        <a:ext cx="1465263" cy="376238"/>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A88D578B-BA0C-4B4B-862D-48C47E281749}"/>
              </a:ext>
              <a:ext uri="{C183D7F6-B498-43B3-948B-1728B52AA6E4}">
                <adec:decorative xmlns:adec="http://schemas.microsoft.com/office/drawing/2017/decorative" val="1"/>
              </a:ext>
            </a:extLst>
          </p:cNvPr>
          <p:cNvGraphicFramePr>
            <a:graphicFrameLocks noChangeAspect="1"/>
          </p:cNvGraphicFramePr>
          <p:nvPr/>
        </p:nvGraphicFramePr>
        <p:xfrm>
          <a:off x="6413192" y="5402388"/>
          <a:ext cx="288925" cy="209550"/>
        </p:xfrm>
        <a:graphic>
          <a:graphicData uri="http://schemas.openxmlformats.org/presentationml/2006/ole">
            <mc:AlternateContent xmlns:mc="http://schemas.openxmlformats.org/markup-compatibility/2006">
              <mc:Choice xmlns:v="urn:schemas-microsoft-com:vml" Requires="v">
                <p:oleObj name="Equation" r:id="rId10" imgW="330120" imgH="241200" progId="Equation.DSMT4">
                  <p:embed/>
                </p:oleObj>
              </mc:Choice>
              <mc:Fallback>
                <p:oleObj name="Equation" r:id="rId10" imgW="330120" imgH="241200" progId="Equation.DSMT4">
                  <p:embed/>
                  <p:pic>
                    <p:nvPicPr>
                      <p:cNvPr id="9" name="Object 8">
                        <a:extLst>
                          <a:ext uri="{FF2B5EF4-FFF2-40B4-BE49-F238E27FC236}">
                            <a16:creationId xmlns:a16="http://schemas.microsoft.com/office/drawing/2014/main" id="{A88D578B-BA0C-4B4B-862D-48C47E281749}"/>
                          </a:ext>
                          <a:ext uri="{C183D7F6-B498-43B3-948B-1728B52AA6E4}">
                            <adec:decorative xmlns:adec="http://schemas.microsoft.com/office/drawing/2017/decorative" val="1"/>
                          </a:ext>
                        </a:extLst>
                      </p:cNvPr>
                      <p:cNvPicPr/>
                      <p:nvPr/>
                    </p:nvPicPr>
                    <p:blipFill>
                      <a:blip r:embed="rId11"/>
                      <a:stretch>
                        <a:fillRect/>
                      </a:stretch>
                    </p:blipFill>
                    <p:spPr>
                      <a:xfrm>
                        <a:off x="6413192" y="5402388"/>
                        <a:ext cx="288925" cy="20955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6038138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Two-Sample </a:t>
            </a:r>
            <a:r>
              <a:rPr lang="en-US" altLang="en-US" sz="3400" i="1" dirty="0"/>
              <a:t>z</a:t>
            </a:r>
            <a:r>
              <a:rPr lang="en-US" altLang="en-US" sz="3400" dirty="0"/>
              <a:t>-Test for the Difference Between Proportions </a:t>
            </a:r>
            <a:r>
              <a:rPr lang="en-US" altLang="en-US" sz="2000" b="0" dirty="0"/>
              <a:t>(4 of 5)</a:t>
            </a:r>
            <a:endParaRPr lang="en-IN" sz="2000" b="0" dirty="0"/>
          </a:p>
        </p:txBody>
      </p:sp>
      <p:graphicFrame>
        <p:nvGraphicFramePr>
          <p:cNvPr id="4" name="Content Placeholder 3"/>
          <p:cNvGraphicFramePr>
            <a:graphicFrameLocks noGrp="1"/>
          </p:cNvGraphicFramePr>
          <p:nvPr>
            <p:ph sz="quarter" idx="13"/>
          </p:nvPr>
        </p:nvGraphicFramePr>
        <p:xfrm>
          <a:off x="457200" y="1555750"/>
          <a:ext cx="7879278" cy="3829050"/>
        </p:xfrm>
        <a:graphic>
          <a:graphicData uri="http://schemas.openxmlformats.org/drawingml/2006/table">
            <a:tbl>
              <a:tblPr firstRow="1" bandRow="1">
                <a:tableStyleId>{2D5ABB26-0587-4C30-8999-92F81FD0307C}</a:tableStyleId>
              </a:tblPr>
              <a:tblGrid>
                <a:gridCol w="4874821">
                  <a:extLst>
                    <a:ext uri="{9D8B030D-6E8A-4147-A177-3AD203B41FA5}">
                      <a16:colId xmlns:a16="http://schemas.microsoft.com/office/drawing/2014/main" val="2922467539"/>
                    </a:ext>
                  </a:extLst>
                </a:gridCol>
                <a:gridCol w="3004457">
                  <a:extLst>
                    <a:ext uri="{9D8B030D-6E8A-4147-A177-3AD203B41FA5}">
                      <a16:colId xmlns:a16="http://schemas.microsoft.com/office/drawing/2014/main" val="3048265993"/>
                    </a:ext>
                  </a:extLst>
                </a:gridCol>
              </a:tblGrid>
              <a:tr h="566046">
                <a:tc>
                  <a:txBody>
                    <a:bodyPr/>
                    <a:lstStyle/>
                    <a:p>
                      <a:r>
                        <a:rPr lang="en-US" sz="2200" b="1" noProof="0" dirty="0">
                          <a:latin typeface="+mn-lt"/>
                        </a:rPr>
                        <a:t>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a:latin typeface="+mn-lt"/>
                        </a:rPr>
                        <a:t>In Symbols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114632"/>
                  </a:ext>
                </a:extLst>
              </a:tr>
              <a:tr h="10393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latin typeface="+mn-lt"/>
                          <a:sym typeface="Symbol" panose="05050102010706020507" pitchFamily="18" charset="2"/>
                        </a:rPr>
                        <a:t>5. Determine the critical 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latin typeface="+mn-lt"/>
                        </a:rPr>
                        <a:t>Use Table 4 in Appendix B.</a:t>
                      </a:r>
                      <a:endParaRPr lang="en-US" altLang="en-US" sz="2200" noProof="0">
                        <a:latin typeface="+mn-lt"/>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896755"/>
                  </a:ext>
                </a:extLst>
              </a:tr>
              <a:tr h="7933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latin typeface="+mn-lt"/>
                          <a:sym typeface="Symbol" panose="05050102010706020507" pitchFamily="18" charset="2"/>
                        </a:rPr>
                        <a:t>6. Determine the rejection region(s).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a:latin typeface="+mn-lt"/>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5141345"/>
                  </a:ext>
                </a:extLst>
              </a:tr>
              <a:tr h="14303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200" noProof="0">
                          <a:latin typeface="+mn-lt"/>
                          <a:sym typeface="Symbol" panose="05050102010706020507" pitchFamily="18" charset="2"/>
                        </a:rPr>
                        <a:t>7. Find the standardized test statistic and sketch the sampling distribution.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z = start fraction left parenthesis p sub 1 hat minus p sub 2 hat right parenthesis minus left parenthesis p sub 1 minus p sub 2 right parenthesis over square root of start expression p bar q bar left parenthesis start fraction 1 over n sub 1 end fraction + start fraction 1 over n sub 2 end fraction right parenthesis end expression end fraction.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7609304"/>
                  </a:ext>
                </a:extLst>
              </a:tr>
            </a:tbl>
          </a:graphicData>
        </a:graphic>
      </p:graphicFrame>
      <p:graphicFrame>
        <p:nvGraphicFramePr>
          <p:cNvPr id="10" name="Object 9">
            <a:extLst>
              <a:ext uri="{FF2B5EF4-FFF2-40B4-BE49-F238E27FC236}">
                <a16:creationId xmlns:a16="http://schemas.microsoft.com/office/drawing/2014/main" id="{97B14B13-3A4B-4B3F-A031-AFDA0A57087D}"/>
              </a:ext>
              <a:ext uri="{C183D7F6-B498-43B3-948B-1728B52AA6E4}">
                <adec:decorative xmlns:adec="http://schemas.microsoft.com/office/drawing/2017/decorative" val="1"/>
              </a:ext>
            </a:extLst>
          </p:cNvPr>
          <p:cNvGraphicFramePr>
            <a:graphicFrameLocks noChangeAspect="1"/>
          </p:cNvGraphicFramePr>
          <p:nvPr/>
        </p:nvGraphicFramePr>
        <p:xfrm>
          <a:off x="5406414" y="3979163"/>
          <a:ext cx="2731944" cy="1119909"/>
        </p:xfrm>
        <a:graphic>
          <a:graphicData uri="http://schemas.openxmlformats.org/presentationml/2006/ole">
            <mc:AlternateContent xmlns:mc="http://schemas.openxmlformats.org/markup-compatibility/2006">
              <mc:Choice xmlns:v="urn:schemas-microsoft-com:vml" Requires="v">
                <p:oleObj name="Equation" r:id="rId2" imgW="2819400" imgH="1155700" progId="Equation.DSMT4">
                  <p:embed/>
                </p:oleObj>
              </mc:Choice>
              <mc:Fallback>
                <p:oleObj name="Equation" r:id="rId2" imgW="2819400" imgH="1155700" progId="Equation.DSMT4">
                  <p:embed/>
                  <p:pic>
                    <p:nvPicPr>
                      <p:cNvPr id="10" name="Object 9">
                        <a:extLst>
                          <a:ext uri="{FF2B5EF4-FFF2-40B4-BE49-F238E27FC236}">
                            <a16:creationId xmlns:a16="http://schemas.microsoft.com/office/drawing/2014/main" id="{97B14B13-3A4B-4B3F-A031-AFDA0A57087D}"/>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6414" y="3979163"/>
                        <a:ext cx="2731944" cy="1119909"/>
                      </a:xfrm>
                      <a:prstGeom prst="rect">
                        <a:avLst/>
                      </a:prstGeom>
                      <a:solidFill>
                        <a:schemeClr val="bg1"/>
                      </a:solidFill>
                      <a:ln>
                        <a:noFill/>
                      </a:ln>
                      <a:effectLst/>
                    </p:spPr>
                  </p:pic>
                </p:oleObj>
              </mc:Fallback>
            </mc:AlternateContent>
          </a:graphicData>
        </a:graphic>
      </p:graphicFrame>
    </p:spTree>
    <p:extLst>
      <p:ext uri="{BB962C8B-B14F-4D97-AF65-F5344CB8AC3E}">
        <p14:creationId xmlns:p14="http://schemas.microsoft.com/office/powerpoint/2010/main" val="8507020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400" dirty="0"/>
              <a:t>Two-Sample </a:t>
            </a:r>
            <a:r>
              <a:rPr lang="en-US" altLang="en-US" sz="3400" i="1" dirty="0"/>
              <a:t>z</a:t>
            </a:r>
            <a:r>
              <a:rPr lang="en-US" altLang="en-US" sz="3400" dirty="0"/>
              <a:t>-Test for the Difference Between Proportions </a:t>
            </a:r>
            <a:r>
              <a:rPr lang="en-US" altLang="en-US" sz="2000" b="0" dirty="0"/>
              <a:t>(5 of 5)</a:t>
            </a:r>
            <a:endParaRPr lang="en-IN" sz="2000" b="0" dirty="0"/>
          </a:p>
        </p:txBody>
      </p:sp>
      <p:graphicFrame>
        <p:nvGraphicFramePr>
          <p:cNvPr id="4" name="Content Placeholder 3"/>
          <p:cNvGraphicFramePr>
            <a:graphicFrameLocks noGrp="1"/>
          </p:cNvGraphicFramePr>
          <p:nvPr>
            <p:ph sz="quarter" idx="13"/>
          </p:nvPr>
        </p:nvGraphicFramePr>
        <p:xfrm>
          <a:off x="457200" y="1555750"/>
          <a:ext cx="7879278" cy="2791929"/>
        </p:xfrm>
        <a:graphic>
          <a:graphicData uri="http://schemas.openxmlformats.org/drawingml/2006/table">
            <a:tbl>
              <a:tblPr firstRow="1" bandRow="1">
                <a:tableStyleId>{2D5ABB26-0587-4C30-8999-92F81FD0307C}</a:tableStyleId>
              </a:tblPr>
              <a:tblGrid>
                <a:gridCol w="4874821">
                  <a:extLst>
                    <a:ext uri="{9D8B030D-6E8A-4147-A177-3AD203B41FA5}">
                      <a16:colId xmlns:a16="http://schemas.microsoft.com/office/drawing/2014/main" val="2922467539"/>
                    </a:ext>
                  </a:extLst>
                </a:gridCol>
                <a:gridCol w="3004457">
                  <a:extLst>
                    <a:ext uri="{9D8B030D-6E8A-4147-A177-3AD203B41FA5}">
                      <a16:colId xmlns:a16="http://schemas.microsoft.com/office/drawing/2014/main" val="3048265993"/>
                    </a:ext>
                  </a:extLst>
                </a:gridCol>
              </a:tblGrid>
              <a:tr h="566046">
                <a:tc>
                  <a:txBody>
                    <a:bodyPr/>
                    <a:lstStyle/>
                    <a:p>
                      <a:r>
                        <a:rPr lang="en-US" sz="2200" b="1" noProof="0" dirty="0">
                          <a:latin typeface="+mn-lt"/>
                        </a:rPr>
                        <a:t>In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200" b="1" noProof="0">
                          <a:latin typeface="+mn-lt"/>
                        </a:rPr>
                        <a:t>In Symbols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9114632"/>
                  </a:ext>
                </a:extLst>
              </a:tr>
              <a:tr h="1039364">
                <a:tc>
                  <a:txBody>
                    <a:bodyPr/>
                    <a:lstStyle/>
                    <a:p>
                      <a:pPr eaLnBrk="1" hangingPunct="1">
                        <a:buClr>
                          <a:schemeClr val="accent1"/>
                        </a:buClr>
                        <a:buFont typeface="Arial" panose="020B0604020202020204" pitchFamily="34" charset="0"/>
                        <a:buNone/>
                      </a:pPr>
                      <a:r>
                        <a:rPr lang="en-US" altLang="en-US" sz="2200" noProof="0" dirty="0">
                          <a:latin typeface="+mn-lt"/>
                          <a:sym typeface="Symbol" panose="05050102010706020507" pitchFamily="18" charset="2"/>
                        </a:rPr>
                        <a:t>8. Make a decision to reject or fail to reject the null hypothesis.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eaLnBrk="1" hangingPunct="1"/>
                      <a:r>
                        <a:rPr lang="en-US" altLang="en-US" sz="2200" noProof="0" dirty="0">
                          <a:latin typeface="+mn-lt"/>
                        </a:rPr>
                        <a:t>If </a:t>
                      </a:r>
                      <a:r>
                        <a:rPr lang="en-US" altLang="en-US" sz="2200" i="1" noProof="0" dirty="0">
                          <a:latin typeface="+mn-lt"/>
                        </a:rPr>
                        <a:t>z</a:t>
                      </a:r>
                      <a:r>
                        <a:rPr lang="en-US" altLang="en-US" sz="2200" noProof="0" dirty="0">
                          <a:latin typeface="+mn-lt"/>
                        </a:rPr>
                        <a:t> is in the rejection region, reject </a:t>
                      </a:r>
                      <a:r>
                        <a:rPr lang="en-US" altLang="en-US" sz="100" noProof="0" dirty="0">
                          <a:latin typeface="+mn-lt"/>
                        </a:rPr>
                        <a:t>H sub 0.</a:t>
                      </a:r>
                      <a:r>
                        <a:rPr lang="en-US" altLang="en-US" sz="2200" noProof="0" dirty="0">
                          <a:latin typeface="+mn-lt"/>
                        </a:rPr>
                        <a:t>Otherwise, fail to reject </a:t>
                      </a:r>
                      <a:r>
                        <a:rPr lang="en-US" altLang="en-US" sz="100" noProof="0" dirty="0">
                          <a:latin typeface="+mn-lt"/>
                        </a:rPr>
                        <a:t>H sub 0.</a:t>
                      </a:r>
                      <a:endParaRPr lang="en-US" altLang="en-US" sz="2200" noProof="0" dirty="0">
                        <a:latin typeface="+mn-lt"/>
                        <a:sym typeface="Symbol" panose="05050102010706020507" pitchFamily="18" charset="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896755"/>
                  </a:ext>
                </a:extLst>
              </a:tr>
              <a:tr h="793323">
                <a:tc>
                  <a:txBody>
                    <a:bodyPr/>
                    <a:lstStyle/>
                    <a:p>
                      <a:pPr eaLnBrk="1" hangingPunct="1">
                        <a:buClr>
                          <a:schemeClr val="accent1"/>
                        </a:buClr>
                        <a:buFont typeface="Arial" panose="020B0604020202020204" pitchFamily="34" charset="0"/>
                        <a:buNone/>
                      </a:pPr>
                      <a:r>
                        <a:rPr lang="en-US" altLang="en-US" sz="2200" noProof="0">
                          <a:latin typeface="+mn-lt"/>
                          <a:sym typeface="Symbol" panose="05050102010706020507" pitchFamily="18" charset="2"/>
                        </a:rPr>
                        <a:t>9. Interpret the decision in the context of the original claim.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0" noProof="0" dirty="0">
                          <a:latin typeface="+mn-lt"/>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5141345"/>
                  </a:ext>
                </a:extLst>
              </a:tr>
            </a:tbl>
          </a:graphicData>
        </a:graphic>
      </p:graphicFrame>
      <p:graphicFrame>
        <p:nvGraphicFramePr>
          <p:cNvPr id="5" name="Object 4">
            <a:extLst>
              <a:ext uri="{FF2B5EF4-FFF2-40B4-BE49-F238E27FC236}">
                <a16:creationId xmlns:a16="http://schemas.microsoft.com/office/drawing/2014/main" id="{79273440-1B12-46DD-AB35-082AE47FE94D}"/>
              </a:ext>
              <a:ext uri="{C183D7F6-B498-43B3-948B-1728B52AA6E4}">
                <adec:decorative xmlns:adec="http://schemas.microsoft.com/office/drawing/2017/decorative" val="1"/>
              </a:ext>
            </a:extLst>
          </p:cNvPr>
          <p:cNvGraphicFramePr>
            <a:graphicFrameLocks noChangeAspect="1"/>
          </p:cNvGraphicFramePr>
          <p:nvPr/>
        </p:nvGraphicFramePr>
        <p:xfrm>
          <a:off x="7120156" y="2514621"/>
          <a:ext cx="430213" cy="355600"/>
        </p:xfrm>
        <a:graphic>
          <a:graphicData uri="http://schemas.openxmlformats.org/presentationml/2006/ole">
            <mc:AlternateContent xmlns:mc="http://schemas.openxmlformats.org/markup-compatibility/2006">
              <mc:Choice xmlns:v="urn:schemas-microsoft-com:vml" Requires="v">
                <p:oleObj name="Equation" r:id="rId2" imgW="520560" imgH="431640" progId="Equation.DSMT4">
                  <p:embed/>
                </p:oleObj>
              </mc:Choice>
              <mc:Fallback>
                <p:oleObj name="Equation" r:id="rId2" imgW="520560" imgH="431640" progId="Equation.DSMT4">
                  <p:embed/>
                  <p:pic>
                    <p:nvPicPr>
                      <p:cNvPr id="5" name="Object 4">
                        <a:extLst>
                          <a:ext uri="{FF2B5EF4-FFF2-40B4-BE49-F238E27FC236}">
                            <a16:creationId xmlns:a16="http://schemas.microsoft.com/office/drawing/2014/main" id="{79273440-1B12-46DD-AB35-082AE47FE94D}"/>
                          </a:ext>
                          <a:ext uri="{C183D7F6-B498-43B3-948B-1728B52AA6E4}">
                            <adec:decorative xmlns:adec="http://schemas.microsoft.com/office/drawing/2017/decorative" val="1"/>
                          </a:ext>
                        </a:extLst>
                      </p:cNvPr>
                      <p:cNvPicPr/>
                      <p:nvPr/>
                    </p:nvPicPr>
                    <p:blipFill>
                      <a:blip r:embed="rId3"/>
                      <a:stretch>
                        <a:fillRect/>
                      </a:stretch>
                    </p:blipFill>
                    <p:spPr>
                      <a:xfrm>
                        <a:off x="7120156" y="2514621"/>
                        <a:ext cx="430213" cy="355600"/>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79273440-1B12-46DD-AB35-082AE47FE94D}"/>
              </a:ext>
              <a:ext uri="{C183D7F6-B498-43B3-948B-1728B52AA6E4}">
                <adec:decorative xmlns:adec="http://schemas.microsoft.com/office/drawing/2017/decorative" val="1"/>
              </a:ext>
            </a:extLst>
          </p:cNvPr>
          <p:cNvGraphicFramePr>
            <a:graphicFrameLocks noChangeAspect="1"/>
          </p:cNvGraphicFramePr>
          <p:nvPr/>
        </p:nvGraphicFramePr>
        <p:xfrm>
          <a:off x="6176662" y="3189535"/>
          <a:ext cx="430213" cy="355600"/>
        </p:xfrm>
        <a:graphic>
          <a:graphicData uri="http://schemas.openxmlformats.org/presentationml/2006/ole">
            <mc:AlternateContent xmlns:mc="http://schemas.openxmlformats.org/markup-compatibility/2006">
              <mc:Choice xmlns:v="urn:schemas-microsoft-com:vml" Requires="v">
                <p:oleObj name="Equation" r:id="rId4" imgW="520560" imgH="431640" progId="Equation.DSMT4">
                  <p:embed/>
                </p:oleObj>
              </mc:Choice>
              <mc:Fallback>
                <p:oleObj name="Equation" r:id="rId4" imgW="520560" imgH="431640" progId="Equation.DSMT4">
                  <p:embed/>
                  <p:pic>
                    <p:nvPicPr>
                      <p:cNvPr id="6" name="Object 5">
                        <a:extLst>
                          <a:ext uri="{FF2B5EF4-FFF2-40B4-BE49-F238E27FC236}">
                            <a16:creationId xmlns:a16="http://schemas.microsoft.com/office/drawing/2014/main" id="{79273440-1B12-46DD-AB35-082AE47FE94D}"/>
                          </a:ext>
                          <a:ext uri="{C183D7F6-B498-43B3-948B-1728B52AA6E4}">
                            <adec:decorative xmlns:adec="http://schemas.microsoft.com/office/drawing/2017/decorative" val="1"/>
                          </a:ext>
                        </a:extLst>
                      </p:cNvPr>
                      <p:cNvPicPr/>
                      <p:nvPr/>
                    </p:nvPicPr>
                    <p:blipFill>
                      <a:blip r:embed="rId3"/>
                      <a:stretch>
                        <a:fillRect/>
                      </a:stretch>
                    </p:blipFill>
                    <p:spPr>
                      <a:xfrm>
                        <a:off x="6176662" y="3189535"/>
                        <a:ext cx="430213" cy="3556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1567828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Two-Sample </a:t>
            </a:r>
            <a:r>
              <a:rPr lang="en-US" sz="3400" i="1" dirty="0"/>
              <a:t>z</a:t>
            </a:r>
            <a:r>
              <a:rPr lang="en-US" sz="3400" dirty="0"/>
              <a:t>-Test for the Difference Between Proportions </a:t>
            </a:r>
            <a:r>
              <a:rPr lang="en-US" sz="2000" b="0" dirty="0"/>
              <a:t>(1 of 2)</a:t>
            </a:r>
          </a:p>
        </p:txBody>
      </p:sp>
      <p:sp>
        <p:nvSpPr>
          <p:cNvPr id="4" name="Content Placeholder 3"/>
          <p:cNvSpPr>
            <a:spLocks noGrp="1"/>
          </p:cNvSpPr>
          <p:nvPr>
            <p:ph sz="quarter" idx="13"/>
          </p:nvPr>
        </p:nvSpPr>
        <p:spPr>
          <a:xfrm>
            <a:off x="457199" y="1552575"/>
            <a:ext cx="8378043" cy="976869"/>
          </a:xfrm>
        </p:spPr>
        <p:txBody>
          <a:bodyPr/>
          <a:lstStyle/>
          <a:p>
            <a:pPr marL="432" indent="0">
              <a:buNone/>
            </a:pPr>
            <a:r>
              <a:rPr lang="en-US" sz="2000" dirty="0">
                <a:solidFill>
                  <a:schemeClr val="tx1"/>
                </a:solidFill>
              </a:rPr>
              <a:t>A study of 200 randomly selected people driving vehicles in Washington and 250 randomly selected people driving vehicles in Vermont shows that 93.0% of people driving vehicles in Washington and 88.8% of people</a:t>
            </a:r>
          </a:p>
        </p:txBody>
      </p:sp>
      <p:sp>
        <p:nvSpPr>
          <p:cNvPr id="5" name="Content Placeholder 4"/>
          <p:cNvSpPr>
            <a:spLocks noGrp="1"/>
          </p:cNvSpPr>
          <p:nvPr>
            <p:ph sz="quarter" idx="14"/>
          </p:nvPr>
        </p:nvSpPr>
        <p:spPr>
          <a:xfrm>
            <a:off x="457199" y="2600694"/>
            <a:ext cx="6798623" cy="344385"/>
          </a:xfrm>
        </p:spPr>
        <p:txBody>
          <a:bodyPr/>
          <a:lstStyle/>
          <a:p>
            <a:pPr marL="432" indent="0">
              <a:buNone/>
            </a:pPr>
            <a:r>
              <a:rPr lang="en-US" sz="2000" dirty="0">
                <a:solidFill>
                  <a:schemeClr val="tx1"/>
                </a:solidFill>
              </a:rPr>
              <a:t>driving vehicles in Vermont wear seat belts while driving. At</a:t>
            </a:r>
          </a:p>
        </p:txBody>
      </p:sp>
      <p:graphicFrame>
        <p:nvGraphicFramePr>
          <p:cNvPr id="18" name="Object 17" descr="alpha equals 0.10">
            <a:extLst>
              <a:ext uri="{FF2B5EF4-FFF2-40B4-BE49-F238E27FC236}">
                <a16:creationId xmlns:a16="http://schemas.microsoft.com/office/drawing/2014/main" id="{7B50FC36-47F3-4AB5-840B-F2727354630E}"/>
              </a:ext>
            </a:extLst>
          </p:cNvPr>
          <p:cNvGraphicFramePr>
            <a:graphicFrameLocks noChangeAspect="1"/>
          </p:cNvGraphicFramePr>
          <p:nvPr/>
        </p:nvGraphicFramePr>
        <p:xfrm>
          <a:off x="7344944" y="2616410"/>
          <a:ext cx="1102066" cy="304380"/>
        </p:xfrm>
        <a:graphic>
          <a:graphicData uri="http://schemas.openxmlformats.org/presentationml/2006/ole">
            <mc:AlternateContent xmlns:mc="http://schemas.openxmlformats.org/markup-compatibility/2006">
              <mc:Choice xmlns:v="urn:schemas-microsoft-com:vml" Requires="v">
                <p:oleObj name="Equation" r:id="rId2" imgW="1333440" imgH="368280" progId="Equation.DSMT4">
                  <p:embed/>
                </p:oleObj>
              </mc:Choice>
              <mc:Fallback>
                <p:oleObj name="Equation" r:id="rId2" imgW="1333440" imgH="368280" progId="Equation.DSMT4">
                  <p:embed/>
                  <p:pic>
                    <p:nvPicPr>
                      <p:cNvPr id="18" name="Object 17" descr="alpha equals 0.10">
                        <a:extLst>
                          <a:ext uri="{FF2B5EF4-FFF2-40B4-BE49-F238E27FC236}">
                            <a16:creationId xmlns:a16="http://schemas.microsoft.com/office/drawing/2014/main" id="{7B50FC36-47F3-4AB5-840B-F2727354630E}"/>
                          </a:ext>
                        </a:extLst>
                      </p:cNvPr>
                      <p:cNvPicPr/>
                      <p:nvPr/>
                    </p:nvPicPr>
                    <p:blipFill>
                      <a:blip r:embed="rId3"/>
                      <a:stretch>
                        <a:fillRect/>
                      </a:stretch>
                    </p:blipFill>
                    <p:spPr>
                      <a:xfrm>
                        <a:off x="7344944" y="2616410"/>
                        <a:ext cx="1102066" cy="304380"/>
                      </a:xfrm>
                      <a:prstGeom prst="rect">
                        <a:avLst/>
                      </a:prstGeom>
                    </p:spPr>
                  </p:pic>
                </p:oleObj>
              </mc:Fallback>
            </mc:AlternateContent>
          </a:graphicData>
        </a:graphic>
      </p:graphicFrame>
      <p:sp>
        <p:nvSpPr>
          <p:cNvPr id="6" name="Content Placeholder 5"/>
          <p:cNvSpPr>
            <a:spLocks noGrp="1"/>
          </p:cNvSpPr>
          <p:nvPr>
            <p:ph sz="quarter" idx="15"/>
          </p:nvPr>
        </p:nvSpPr>
        <p:spPr>
          <a:xfrm>
            <a:off x="457201" y="3032045"/>
            <a:ext cx="8378042" cy="958064"/>
          </a:xfrm>
        </p:spPr>
        <p:txBody>
          <a:bodyPr/>
          <a:lstStyle/>
          <a:p>
            <a:pPr marL="432" indent="0">
              <a:buNone/>
            </a:pPr>
            <a:r>
              <a:rPr lang="en-US" sz="2000" dirty="0">
                <a:solidFill>
                  <a:schemeClr val="tx1"/>
                </a:solidFill>
              </a:rPr>
              <a:t>can you reject the claim that the proportion of people who wear seat belts while driving is the same for Washington and Vermont? (Adapted from National Highway Traffic Safety Administration)</a:t>
            </a:r>
          </a:p>
        </p:txBody>
      </p:sp>
      <p:sp>
        <p:nvSpPr>
          <p:cNvPr id="7" name="Content Placeholder 6"/>
          <p:cNvSpPr>
            <a:spLocks noGrp="1"/>
          </p:cNvSpPr>
          <p:nvPr>
            <p:ph sz="quarter" idx="16"/>
          </p:nvPr>
        </p:nvSpPr>
        <p:spPr>
          <a:xfrm>
            <a:off x="457201" y="4077074"/>
            <a:ext cx="4399808" cy="340547"/>
          </a:xfrm>
        </p:spPr>
        <p:txBody>
          <a:bodyPr/>
          <a:lstStyle/>
          <a:p>
            <a:pPr marL="432" indent="0">
              <a:buNone/>
            </a:pPr>
            <a:r>
              <a:rPr lang="en-US" sz="2000" b="1" dirty="0"/>
              <a:t>Sample Statistics for Seat Belt Use</a:t>
            </a:r>
          </a:p>
        </p:txBody>
      </p:sp>
      <p:graphicFrame>
        <p:nvGraphicFramePr>
          <p:cNvPr id="19" name="Content Placeholder 18"/>
          <p:cNvGraphicFramePr>
            <a:graphicFrameLocks noGrp="1"/>
          </p:cNvGraphicFramePr>
          <p:nvPr>
            <p:ph sz="quarter" idx="17"/>
          </p:nvPr>
        </p:nvGraphicFramePr>
        <p:xfrm>
          <a:off x="431800" y="4504586"/>
          <a:ext cx="3570184" cy="1483360"/>
        </p:xfrm>
        <a:graphic>
          <a:graphicData uri="http://schemas.openxmlformats.org/drawingml/2006/table">
            <a:tbl>
              <a:tblPr firstRow="1" bandRow="1">
                <a:tableStyleId>{2D5ABB26-0587-4C30-8999-92F81FD0307C}</a:tableStyleId>
              </a:tblPr>
              <a:tblGrid>
                <a:gridCol w="1785092">
                  <a:extLst>
                    <a:ext uri="{9D8B030D-6E8A-4147-A177-3AD203B41FA5}">
                      <a16:colId xmlns:a16="http://schemas.microsoft.com/office/drawing/2014/main" val="3023670930"/>
                    </a:ext>
                  </a:extLst>
                </a:gridCol>
                <a:gridCol w="1785092">
                  <a:extLst>
                    <a:ext uri="{9D8B030D-6E8A-4147-A177-3AD203B41FA5}">
                      <a16:colId xmlns:a16="http://schemas.microsoft.com/office/drawing/2014/main" val="3184486813"/>
                    </a:ext>
                  </a:extLst>
                </a:gridCol>
              </a:tblGrid>
              <a:tr h="370840">
                <a:tc>
                  <a:txBody>
                    <a:bodyPr/>
                    <a:lstStyle/>
                    <a:p>
                      <a:pPr algn="ctr"/>
                      <a:r>
                        <a:rPr lang="en-US" sz="1600" b="1" noProof="0" dirty="0"/>
                        <a:t>Washington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noProof="0"/>
                        <a:t>Vermont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0804817"/>
                  </a:ext>
                </a:extLst>
              </a:tr>
              <a:tr h="370840">
                <a:tc>
                  <a:txBody>
                    <a:bodyPr/>
                    <a:lstStyle/>
                    <a:p>
                      <a:pPr algn="ctr"/>
                      <a:r>
                        <a:rPr lang="en-US" sz="100" noProof="0" dirty="0"/>
                        <a:t>n sub 1 = 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a:t>n sub 2 = 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8306956"/>
                  </a:ext>
                </a:extLst>
              </a:tr>
              <a:tr h="370840">
                <a:tc>
                  <a:txBody>
                    <a:bodyPr/>
                    <a:lstStyle/>
                    <a:p>
                      <a:pPr algn="ctr"/>
                      <a:r>
                        <a:rPr lang="en-US" sz="100" noProof="0"/>
                        <a:t>p sub 1 hat = 0.930.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p sub 2 hat = 0.888.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7526123"/>
                  </a:ext>
                </a:extLst>
              </a:tr>
              <a:tr h="370840">
                <a:tc>
                  <a:txBody>
                    <a:bodyPr/>
                    <a:lstStyle/>
                    <a:p>
                      <a:pPr algn="ctr"/>
                      <a:r>
                        <a:rPr lang="en-US" sz="100" noProof="0"/>
                        <a:t>x sub 1 = 186.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x sub 2 = 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2346388"/>
                  </a:ext>
                </a:extLst>
              </a:tr>
            </a:tbl>
          </a:graphicData>
        </a:graphic>
      </p:graphicFrame>
      <p:graphicFrame>
        <p:nvGraphicFramePr>
          <p:cNvPr id="20" name="Object 19">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654099" y="4906434"/>
          <a:ext cx="814741" cy="295195"/>
        </p:xfrm>
        <a:graphic>
          <a:graphicData uri="http://schemas.openxmlformats.org/presentationml/2006/ole">
            <mc:AlternateContent xmlns:mc="http://schemas.openxmlformats.org/markup-compatibility/2006">
              <mc:Choice xmlns:v="urn:schemas-microsoft-com:vml" Requires="v">
                <p:oleObj name="Equation" r:id="rId4" imgW="1193760" imgH="431640" progId="Equation.DSMT4">
                  <p:embed/>
                </p:oleObj>
              </mc:Choice>
              <mc:Fallback>
                <p:oleObj name="Equation" r:id="rId4" imgW="1193760" imgH="431640" progId="Equation.DSMT4">
                  <p:embed/>
                  <p:pic>
                    <p:nvPicPr>
                      <p:cNvPr id="20" name="Object 19">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5"/>
                      <a:stretch>
                        <a:fillRect/>
                      </a:stretch>
                    </p:blipFill>
                    <p:spPr>
                      <a:xfrm>
                        <a:off x="654099" y="4906434"/>
                        <a:ext cx="814741" cy="295195"/>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2644775" y="4906963"/>
          <a:ext cx="841375" cy="295275"/>
        </p:xfrm>
        <a:graphic>
          <a:graphicData uri="http://schemas.openxmlformats.org/presentationml/2006/ole">
            <mc:AlternateContent xmlns:mc="http://schemas.openxmlformats.org/markup-compatibility/2006">
              <mc:Choice xmlns:v="urn:schemas-microsoft-com:vml" Requires="v">
                <p:oleObj name="Equation" r:id="rId6" imgW="1231560" imgH="431640" progId="Equation.DSMT4">
                  <p:embed/>
                </p:oleObj>
              </mc:Choice>
              <mc:Fallback>
                <p:oleObj name="Equation" r:id="rId6" imgW="1231560" imgH="431640" progId="Equation.DSMT4">
                  <p:embed/>
                  <p:pic>
                    <p:nvPicPr>
                      <p:cNvPr id="21" name="Object 20">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7"/>
                      <a:stretch>
                        <a:fillRect/>
                      </a:stretch>
                    </p:blipFill>
                    <p:spPr>
                      <a:xfrm>
                        <a:off x="2644775" y="4906963"/>
                        <a:ext cx="841375" cy="295275"/>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642938" y="5283200"/>
          <a:ext cx="1033462" cy="295275"/>
        </p:xfrm>
        <a:graphic>
          <a:graphicData uri="http://schemas.openxmlformats.org/presentationml/2006/ole">
            <mc:AlternateContent xmlns:mc="http://schemas.openxmlformats.org/markup-compatibility/2006">
              <mc:Choice xmlns:v="urn:schemas-microsoft-com:vml" Requires="v">
                <p:oleObj name="Equation" r:id="rId8" imgW="1511280" imgH="431640" progId="Equation.DSMT4">
                  <p:embed/>
                </p:oleObj>
              </mc:Choice>
              <mc:Fallback>
                <p:oleObj name="Equation" r:id="rId8" imgW="1511280" imgH="431640" progId="Equation.DSMT4">
                  <p:embed/>
                  <p:pic>
                    <p:nvPicPr>
                      <p:cNvPr id="22" name="Object 21">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9"/>
                      <a:stretch>
                        <a:fillRect/>
                      </a:stretch>
                    </p:blipFill>
                    <p:spPr>
                      <a:xfrm>
                        <a:off x="642938" y="5283200"/>
                        <a:ext cx="1033462" cy="295275"/>
                      </a:xfrm>
                      <a:prstGeom prst="rect">
                        <a:avLst/>
                      </a:prstGeom>
                      <a:solidFill>
                        <a:schemeClr val="bg1"/>
                      </a:solidFill>
                    </p:spPr>
                  </p:pic>
                </p:oleObj>
              </mc:Fallback>
            </mc:AlternateContent>
          </a:graphicData>
        </a:graphic>
      </p:graphicFrame>
      <p:graphicFrame>
        <p:nvGraphicFramePr>
          <p:cNvPr id="23" name="Object 22">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2635250" y="5287963"/>
          <a:ext cx="1050925" cy="295275"/>
        </p:xfrm>
        <a:graphic>
          <a:graphicData uri="http://schemas.openxmlformats.org/presentationml/2006/ole">
            <mc:AlternateContent xmlns:mc="http://schemas.openxmlformats.org/markup-compatibility/2006">
              <mc:Choice xmlns:v="urn:schemas-microsoft-com:vml" Requires="v">
                <p:oleObj name="Equation" r:id="rId10" imgW="1536480" imgH="431640" progId="Equation.DSMT4">
                  <p:embed/>
                </p:oleObj>
              </mc:Choice>
              <mc:Fallback>
                <p:oleObj name="Equation" r:id="rId10" imgW="1536480" imgH="431640" progId="Equation.DSMT4">
                  <p:embed/>
                  <p:pic>
                    <p:nvPicPr>
                      <p:cNvPr id="23" name="Object 22">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11"/>
                      <a:stretch>
                        <a:fillRect/>
                      </a:stretch>
                    </p:blipFill>
                    <p:spPr>
                      <a:xfrm>
                        <a:off x="2635250" y="5287963"/>
                        <a:ext cx="1050925" cy="295275"/>
                      </a:xfrm>
                      <a:prstGeom prst="rect">
                        <a:avLst/>
                      </a:prstGeom>
                      <a:solidFill>
                        <a:schemeClr val="bg1"/>
                      </a:solidFill>
                    </p:spPr>
                  </p:pic>
                </p:oleObj>
              </mc:Fallback>
            </mc:AlternateContent>
          </a:graphicData>
        </a:graphic>
      </p:graphicFrame>
      <p:graphicFrame>
        <p:nvGraphicFramePr>
          <p:cNvPr id="24" name="Object 23">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682347" y="5660046"/>
          <a:ext cx="788987" cy="295275"/>
        </p:xfrm>
        <a:graphic>
          <a:graphicData uri="http://schemas.openxmlformats.org/presentationml/2006/ole">
            <mc:AlternateContent xmlns:mc="http://schemas.openxmlformats.org/markup-compatibility/2006">
              <mc:Choice xmlns:v="urn:schemas-microsoft-com:vml" Requires="v">
                <p:oleObj name="Equation" r:id="rId12" imgW="1155600" imgH="431640" progId="Equation.DSMT4">
                  <p:embed/>
                </p:oleObj>
              </mc:Choice>
              <mc:Fallback>
                <p:oleObj name="Equation" r:id="rId12" imgW="1155600" imgH="431640" progId="Equation.DSMT4">
                  <p:embed/>
                  <p:pic>
                    <p:nvPicPr>
                      <p:cNvPr id="24" name="Object 23">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13"/>
                      <a:stretch>
                        <a:fillRect/>
                      </a:stretch>
                    </p:blipFill>
                    <p:spPr>
                      <a:xfrm>
                        <a:off x="682347" y="5660046"/>
                        <a:ext cx="788987" cy="295275"/>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2682875" y="5649150"/>
          <a:ext cx="841375" cy="295275"/>
        </p:xfrm>
        <a:graphic>
          <a:graphicData uri="http://schemas.openxmlformats.org/presentationml/2006/ole">
            <mc:AlternateContent xmlns:mc="http://schemas.openxmlformats.org/markup-compatibility/2006">
              <mc:Choice xmlns:v="urn:schemas-microsoft-com:vml" Requires="v">
                <p:oleObj name="Equation" r:id="rId14" imgW="1231560" imgH="431640" progId="Equation.DSMT4">
                  <p:embed/>
                </p:oleObj>
              </mc:Choice>
              <mc:Fallback>
                <p:oleObj name="Equation" r:id="rId14" imgW="1231560" imgH="431640" progId="Equation.DSMT4">
                  <p:embed/>
                  <p:pic>
                    <p:nvPicPr>
                      <p:cNvPr id="25" name="Object 24">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15"/>
                      <a:stretch>
                        <a:fillRect/>
                      </a:stretch>
                    </p:blipFill>
                    <p:spPr>
                      <a:xfrm>
                        <a:off x="2682875" y="5649150"/>
                        <a:ext cx="841375" cy="2952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9343961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(1 of 8)</a:t>
            </a:r>
          </a:p>
        </p:txBody>
      </p:sp>
      <p:sp>
        <p:nvSpPr>
          <p:cNvPr id="18" name="Content Placeholder 17"/>
          <p:cNvSpPr>
            <a:spLocks noGrp="1"/>
          </p:cNvSpPr>
          <p:nvPr>
            <p:ph sz="quarter" idx="13"/>
          </p:nvPr>
        </p:nvSpPr>
        <p:spPr>
          <a:xfrm>
            <a:off x="457200" y="1552574"/>
            <a:ext cx="7903029" cy="786865"/>
          </a:xfrm>
        </p:spPr>
        <p:txBody>
          <a:bodyPr/>
          <a:lstStyle/>
          <a:p>
            <a:pPr marL="0" indent="0">
              <a:spcBef>
                <a:spcPts val="600"/>
              </a:spcBef>
              <a:buNone/>
            </a:pPr>
            <a:r>
              <a:rPr lang="en-US" sz="2200" b="1" dirty="0">
                <a:solidFill>
                  <a:schemeClr val="tx1"/>
                </a:solidFill>
              </a:rPr>
              <a:t>Solution:</a:t>
            </a:r>
          </a:p>
          <a:p>
            <a:pPr marL="0" indent="0">
              <a:spcBef>
                <a:spcPts val="600"/>
              </a:spcBef>
              <a:buNone/>
            </a:pPr>
            <a:r>
              <a:rPr lang="en-US" sz="2200" dirty="0">
                <a:solidFill>
                  <a:schemeClr val="tx1"/>
                </a:solidFill>
              </a:rPr>
              <a:t>The samples are random and independent. Also, the weighted</a:t>
            </a:r>
          </a:p>
        </p:txBody>
      </p:sp>
      <p:sp>
        <p:nvSpPr>
          <p:cNvPr id="19" name="Content Placeholder 18"/>
          <p:cNvSpPr>
            <a:spLocks noGrp="1"/>
          </p:cNvSpPr>
          <p:nvPr>
            <p:ph sz="quarter" idx="14"/>
          </p:nvPr>
        </p:nvSpPr>
        <p:spPr>
          <a:xfrm>
            <a:off x="457199" y="2423353"/>
            <a:ext cx="1490353" cy="367349"/>
          </a:xfrm>
        </p:spPr>
        <p:txBody>
          <a:bodyPr/>
          <a:lstStyle/>
          <a:p>
            <a:pPr marL="0" indent="0">
              <a:buNone/>
            </a:pPr>
            <a:r>
              <a:rPr lang="en-US" sz="2200" dirty="0">
                <a:solidFill>
                  <a:schemeClr val="tx1"/>
                </a:solidFill>
              </a:rPr>
              <a:t>estimate of</a:t>
            </a:r>
          </a:p>
        </p:txBody>
      </p:sp>
      <p:graphicFrame>
        <p:nvGraphicFramePr>
          <p:cNvPr id="32" name="Object 31" descr="p subscript 1 and p subscript 2 is">
            <a:extLst>
              <a:ext uri="{FF2B5EF4-FFF2-40B4-BE49-F238E27FC236}">
                <a16:creationId xmlns:a16="http://schemas.microsoft.com/office/drawing/2014/main" id="{A88D578B-BA0C-4B4B-862D-48C47E281749}"/>
              </a:ext>
            </a:extLst>
          </p:cNvPr>
          <p:cNvGraphicFramePr>
            <a:graphicFrameLocks noChangeAspect="1"/>
          </p:cNvGraphicFramePr>
          <p:nvPr/>
        </p:nvGraphicFramePr>
        <p:xfrm>
          <a:off x="2011152" y="2423506"/>
          <a:ext cx="1400739" cy="355039"/>
        </p:xfrm>
        <a:graphic>
          <a:graphicData uri="http://schemas.openxmlformats.org/presentationml/2006/ole">
            <mc:AlternateContent xmlns:mc="http://schemas.openxmlformats.org/markup-compatibility/2006">
              <mc:Choice xmlns:v="urn:schemas-microsoft-com:vml" Requires="v">
                <p:oleObj name="Equation" r:id="rId2" imgW="1701720" imgH="431640" progId="Equation.DSMT4">
                  <p:embed/>
                </p:oleObj>
              </mc:Choice>
              <mc:Fallback>
                <p:oleObj name="Equation" r:id="rId2" imgW="1701720" imgH="431640" progId="Equation.DSMT4">
                  <p:embed/>
                  <p:pic>
                    <p:nvPicPr>
                      <p:cNvPr id="32" name="Object 31" descr="p subscript 1 and p subscript 2 is">
                        <a:extLst>
                          <a:ext uri="{FF2B5EF4-FFF2-40B4-BE49-F238E27FC236}">
                            <a16:creationId xmlns:a16="http://schemas.microsoft.com/office/drawing/2014/main" id="{A88D578B-BA0C-4B4B-862D-48C47E281749}"/>
                          </a:ext>
                        </a:extLst>
                      </p:cNvPr>
                      <p:cNvPicPr/>
                      <p:nvPr/>
                    </p:nvPicPr>
                    <p:blipFill>
                      <a:blip r:embed="rId3"/>
                      <a:stretch>
                        <a:fillRect/>
                      </a:stretch>
                    </p:blipFill>
                    <p:spPr>
                      <a:xfrm>
                        <a:off x="2011152" y="2423506"/>
                        <a:ext cx="1400739" cy="355039"/>
                      </a:xfrm>
                      <a:prstGeom prst="rect">
                        <a:avLst/>
                      </a:prstGeom>
                    </p:spPr>
                  </p:pic>
                </p:oleObj>
              </mc:Fallback>
            </mc:AlternateContent>
          </a:graphicData>
        </a:graphic>
      </p:graphicFrame>
      <p:graphicFrame>
        <p:nvGraphicFramePr>
          <p:cNvPr id="33" name="Object 32" descr="p bar = start fraction x sub 1 + x sub 2 over n sub 1 + n sub 2 end fraction = start fraction 186 + 222 over 200 + 250 end fraction approximately equal to 0.9067.">
            <a:extLst>
              <a:ext uri="{FF2B5EF4-FFF2-40B4-BE49-F238E27FC236}">
                <a16:creationId xmlns:a16="http://schemas.microsoft.com/office/drawing/2014/main" id="{C897086A-8ACD-4663-9ACC-6CA4CFC3FE55}"/>
              </a:ext>
            </a:extLst>
          </p:cNvPr>
          <p:cNvGraphicFramePr>
            <a:graphicFrameLocks noChangeAspect="1"/>
          </p:cNvGraphicFramePr>
          <p:nvPr/>
        </p:nvGraphicFramePr>
        <p:xfrm>
          <a:off x="2619769" y="2859861"/>
          <a:ext cx="3904463" cy="755703"/>
        </p:xfrm>
        <a:graphic>
          <a:graphicData uri="http://schemas.openxmlformats.org/presentationml/2006/ole">
            <mc:AlternateContent xmlns:mc="http://schemas.openxmlformats.org/markup-compatibility/2006">
              <mc:Choice xmlns:v="urn:schemas-microsoft-com:vml" Requires="v">
                <p:oleObj name="Equation" r:id="rId4" imgW="4724280" imgH="914400" progId="Equation.DSMT4">
                  <p:embed/>
                </p:oleObj>
              </mc:Choice>
              <mc:Fallback>
                <p:oleObj name="Equation" r:id="rId4" imgW="4724280" imgH="914400" progId="Equation.DSMT4">
                  <p:embed/>
                  <p:pic>
                    <p:nvPicPr>
                      <p:cNvPr id="33" name="Object 32" descr="p bar = start fraction x sub 1 + x sub 2 over n sub 1 + n sub 2 end fraction = start fraction 186 + 222 over 200 + 250 end fraction approximately equal to 0.9067.">
                        <a:extLst>
                          <a:ext uri="{FF2B5EF4-FFF2-40B4-BE49-F238E27FC236}">
                            <a16:creationId xmlns:a16="http://schemas.microsoft.com/office/drawing/2014/main" id="{C897086A-8ACD-4663-9ACC-6CA4CFC3FE55}"/>
                          </a:ext>
                        </a:extLst>
                      </p:cNvPr>
                      <p:cNvPicPr/>
                      <p:nvPr/>
                    </p:nvPicPr>
                    <p:blipFill>
                      <a:blip r:embed="rId5"/>
                      <a:stretch>
                        <a:fillRect/>
                      </a:stretch>
                    </p:blipFill>
                    <p:spPr>
                      <a:xfrm>
                        <a:off x="2619769" y="2859861"/>
                        <a:ext cx="3904463" cy="755703"/>
                      </a:xfrm>
                      <a:prstGeom prst="rect">
                        <a:avLst/>
                      </a:prstGeom>
                    </p:spPr>
                  </p:pic>
                </p:oleObj>
              </mc:Fallback>
            </mc:AlternateContent>
          </a:graphicData>
        </a:graphic>
      </p:graphicFrame>
      <p:sp>
        <p:nvSpPr>
          <p:cNvPr id="20" name="Content Placeholder 19"/>
          <p:cNvSpPr>
            <a:spLocks noGrp="1"/>
          </p:cNvSpPr>
          <p:nvPr>
            <p:ph sz="quarter" idx="15"/>
          </p:nvPr>
        </p:nvSpPr>
        <p:spPr>
          <a:xfrm>
            <a:off x="457201" y="3689672"/>
            <a:ext cx="2725386" cy="423071"/>
          </a:xfrm>
        </p:spPr>
        <p:txBody>
          <a:bodyPr/>
          <a:lstStyle/>
          <a:p>
            <a:pPr marL="0" indent="0">
              <a:buNone/>
            </a:pPr>
            <a:r>
              <a:rPr lang="en-US" sz="2200" dirty="0"/>
              <a:t>and the value of </a:t>
            </a:r>
            <a:r>
              <a:rPr lang="en-US" sz="2200" i="1" dirty="0"/>
              <a:t>q </a:t>
            </a:r>
            <a:r>
              <a:rPr lang="en-US" sz="2200" dirty="0"/>
              <a:t>is</a:t>
            </a:r>
          </a:p>
        </p:txBody>
      </p:sp>
      <p:graphicFrame>
        <p:nvGraphicFramePr>
          <p:cNvPr id="34" name="Object 33" descr="q bar = left parenthesis 1 minus p bar right parenthesis approximately equal to 1 minus 0.9067 = 0.0933.">
            <a:extLst>
              <a:ext uri="{FF2B5EF4-FFF2-40B4-BE49-F238E27FC236}">
                <a16:creationId xmlns:a16="http://schemas.microsoft.com/office/drawing/2014/main" id="{54C332B4-A400-47F8-9041-335334056555}"/>
              </a:ext>
            </a:extLst>
          </p:cNvPr>
          <p:cNvGraphicFramePr>
            <a:graphicFrameLocks noChangeAspect="1"/>
          </p:cNvGraphicFramePr>
          <p:nvPr/>
        </p:nvGraphicFramePr>
        <p:xfrm>
          <a:off x="2632075" y="4186238"/>
          <a:ext cx="3881438" cy="400050"/>
        </p:xfrm>
        <a:graphic>
          <a:graphicData uri="http://schemas.openxmlformats.org/presentationml/2006/ole">
            <mc:AlternateContent xmlns:mc="http://schemas.openxmlformats.org/markup-compatibility/2006">
              <mc:Choice xmlns:v="urn:schemas-microsoft-com:vml" Requires="v">
                <p:oleObj name="Equation" r:id="rId6" imgW="4698720" imgH="482400" progId="Equation.DSMT4">
                  <p:embed/>
                </p:oleObj>
              </mc:Choice>
              <mc:Fallback>
                <p:oleObj name="Equation" r:id="rId6" imgW="4698720" imgH="482400" progId="Equation.DSMT4">
                  <p:embed/>
                  <p:pic>
                    <p:nvPicPr>
                      <p:cNvPr id="34" name="Object 33" descr="q bar = left parenthesis 1 minus p bar right parenthesis approximately equal to 1 minus 0.9067 = 0.0933.">
                        <a:extLst>
                          <a:ext uri="{FF2B5EF4-FFF2-40B4-BE49-F238E27FC236}">
                            <a16:creationId xmlns:a16="http://schemas.microsoft.com/office/drawing/2014/main" id="{54C332B4-A400-47F8-9041-335334056555}"/>
                          </a:ext>
                        </a:extLst>
                      </p:cNvPr>
                      <p:cNvPicPr/>
                      <p:nvPr/>
                    </p:nvPicPr>
                    <p:blipFill>
                      <a:blip r:embed="rId7"/>
                      <a:stretch>
                        <a:fillRect/>
                      </a:stretch>
                    </p:blipFill>
                    <p:spPr>
                      <a:xfrm>
                        <a:off x="2632075" y="4186238"/>
                        <a:ext cx="3881438" cy="400050"/>
                      </a:xfrm>
                      <a:prstGeom prst="rect">
                        <a:avLst/>
                      </a:prstGeom>
                    </p:spPr>
                  </p:pic>
                </p:oleObj>
              </mc:Fallback>
            </mc:AlternateContent>
          </a:graphicData>
        </a:graphic>
      </p:graphicFrame>
      <p:sp>
        <p:nvSpPr>
          <p:cNvPr id="21" name="Content Placeholder 20"/>
          <p:cNvSpPr>
            <a:spLocks noGrp="1"/>
          </p:cNvSpPr>
          <p:nvPr>
            <p:ph sz="quarter" idx="16"/>
          </p:nvPr>
        </p:nvSpPr>
        <p:spPr>
          <a:xfrm>
            <a:off x="457200" y="4684031"/>
            <a:ext cx="1252847" cy="386733"/>
          </a:xfrm>
        </p:spPr>
        <p:txBody>
          <a:bodyPr/>
          <a:lstStyle/>
          <a:p>
            <a:pPr marL="432" indent="0">
              <a:buNone/>
            </a:pPr>
            <a:r>
              <a:rPr lang="en-US" sz="2200" dirty="0"/>
              <a:t>Because</a:t>
            </a:r>
          </a:p>
        </p:txBody>
      </p:sp>
      <p:graphicFrame>
        <p:nvGraphicFramePr>
          <p:cNvPr id="35" name="Object 34" descr="n sub 1 p bar approximately equal to 200 times 0.9067, n sub 1 q bar approximately equal to 200 times 0.0933, n sub 2 p bar approximately equal to 250 times 0.9067,">
            <a:extLst>
              <a:ext uri="{FF2B5EF4-FFF2-40B4-BE49-F238E27FC236}">
                <a16:creationId xmlns:a16="http://schemas.microsoft.com/office/drawing/2014/main" id="{67D82ECB-16EA-4FC9-948E-50E3F356A182}"/>
              </a:ext>
            </a:extLst>
          </p:cNvPr>
          <p:cNvGraphicFramePr>
            <a:graphicFrameLocks noChangeAspect="1"/>
          </p:cNvGraphicFramePr>
          <p:nvPr/>
        </p:nvGraphicFramePr>
        <p:xfrm>
          <a:off x="1819894" y="4678165"/>
          <a:ext cx="6961187" cy="398463"/>
        </p:xfrm>
        <a:graphic>
          <a:graphicData uri="http://schemas.openxmlformats.org/presentationml/2006/ole">
            <mc:AlternateContent xmlns:mc="http://schemas.openxmlformats.org/markup-compatibility/2006">
              <mc:Choice xmlns:v="urn:schemas-microsoft-com:vml" Requires="v">
                <p:oleObj name="Equation" r:id="rId8" imgW="8420040" imgH="482400" progId="Equation.DSMT4">
                  <p:embed/>
                </p:oleObj>
              </mc:Choice>
              <mc:Fallback>
                <p:oleObj name="Equation" r:id="rId8" imgW="8420040" imgH="482400" progId="Equation.DSMT4">
                  <p:embed/>
                  <p:pic>
                    <p:nvPicPr>
                      <p:cNvPr id="35" name="Object 34" descr="n sub 1 p bar approximately equal to 200 times 0.9067, n sub 1 q bar approximately equal to 200 times 0.0933, n sub 2 p bar approximately equal to 250 times 0.9067,">
                        <a:extLst>
                          <a:ext uri="{FF2B5EF4-FFF2-40B4-BE49-F238E27FC236}">
                            <a16:creationId xmlns:a16="http://schemas.microsoft.com/office/drawing/2014/main" id="{67D82ECB-16EA-4FC9-948E-50E3F356A182}"/>
                          </a:ext>
                        </a:extLst>
                      </p:cNvPr>
                      <p:cNvPicPr/>
                      <p:nvPr/>
                    </p:nvPicPr>
                    <p:blipFill>
                      <a:blip r:embed="rId9"/>
                      <a:stretch>
                        <a:fillRect/>
                      </a:stretch>
                    </p:blipFill>
                    <p:spPr>
                      <a:xfrm>
                        <a:off x="1819894" y="4678165"/>
                        <a:ext cx="6961187" cy="398463"/>
                      </a:xfrm>
                      <a:prstGeom prst="rect">
                        <a:avLst/>
                      </a:prstGeom>
                    </p:spPr>
                  </p:pic>
                </p:oleObj>
              </mc:Fallback>
            </mc:AlternateContent>
          </a:graphicData>
        </a:graphic>
      </p:graphicFrame>
      <p:graphicFrame>
        <p:nvGraphicFramePr>
          <p:cNvPr id="36" name="Object 35" descr="and n sub 2 q bar approximately equal to 250 times 0.9033.">
            <a:extLst>
              <a:ext uri="{FF2B5EF4-FFF2-40B4-BE49-F238E27FC236}">
                <a16:creationId xmlns:a16="http://schemas.microsoft.com/office/drawing/2014/main" id="{E2F3AE44-3E6E-4AED-9E7F-5E98AC676EC4}"/>
              </a:ext>
            </a:extLst>
          </p:cNvPr>
          <p:cNvGraphicFramePr>
            <a:graphicFrameLocks noChangeAspect="1"/>
          </p:cNvGraphicFramePr>
          <p:nvPr/>
        </p:nvGraphicFramePr>
        <p:xfrm>
          <a:off x="447514" y="5169099"/>
          <a:ext cx="2749917" cy="398843"/>
        </p:xfrm>
        <a:graphic>
          <a:graphicData uri="http://schemas.openxmlformats.org/presentationml/2006/ole">
            <mc:AlternateContent xmlns:mc="http://schemas.openxmlformats.org/markup-compatibility/2006">
              <mc:Choice xmlns:v="urn:schemas-microsoft-com:vml" Requires="v">
                <p:oleObj name="Equation" r:id="rId10" imgW="3327120" imgH="482400" progId="Equation.DSMT4">
                  <p:embed/>
                </p:oleObj>
              </mc:Choice>
              <mc:Fallback>
                <p:oleObj name="Equation" r:id="rId10" imgW="3327120" imgH="482400" progId="Equation.DSMT4">
                  <p:embed/>
                  <p:pic>
                    <p:nvPicPr>
                      <p:cNvPr id="36" name="Object 35" descr="and n sub 2 q bar approximately equal to 250 times 0.9033.">
                        <a:extLst>
                          <a:ext uri="{FF2B5EF4-FFF2-40B4-BE49-F238E27FC236}">
                            <a16:creationId xmlns:a16="http://schemas.microsoft.com/office/drawing/2014/main" id="{E2F3AE44-3E6E-4AED-9E7F-5E98AC676EC4}"/>
                          </a:ext>
                        </a:extLst>
                      </p:cNvPr>
                      <p:cNvPicPr/>
                      <p:nvPr/>
                    </p:nvPicPr>
                    <p:blipFill>
                      <a:blip r:embed="rId11"/>
                      <a:stretch>
                        <a:fillRect/>
                      </a:stretch>
                    </p:blipFill>
                    <p:spPr>
                      <a:xfrm>
                        <a:off x="447514" y="5169099"/>
                        <a:ext cx="2749917" cy="398843"/>
                      </a:xfrm>
                      <a:prstGeom prst="rect">
                        <a:avLst/>
                      </a:prstGeom>
                    </p:spPr>
                  </p:pic>
                </p:oleObj>
              </mc:Fallback>
            </mc:AlternateContent>
          </a:graphicData>
        </a:graphic>
      </p:graphicFrame>
      <p:sp>
        <p:nvSpPr>
          <p:cNvPr id="22" name="Content Placeholder 21"/>
          <p:cNvSpPr>
            <a:spLocks noGrp="1"/>
          </p:cNvSpPr>
          <p:nvPr>
            <p:ph sz="quarter" idx="17"/>
          </p:nvPr>
        </p:nvSpPr>
        <p:spPr>
          <a:xfrm>
            <a:off x="3313216" y="5169099"/>
            <a:ext cx="5237018" cy="398843"/>
          </a:xfrm>
        </p:spPr>
        <p:txBody>
          <a:bodyPr/>
          <a:lstStyle/>
          <a:p>
            <a:pPr marL="432" indent="0">
              <a:buNone/>
            </a:pPr>
            <a:r>
              <a:rPr lang="en-US" sz="2200" dirty="0"/>
              <a:t>are at least 5, you can use a two-sample</a:t>
            </a:r>
          </a:p>
        </p:txBody>
      </p:sp>
      <p:sp>
        <p:nvSpPr>
          <p:cNvPr id="23" name="Content Placeholder 22"/>
          <p:cNvSpPr>
            <a:spLocks noGrp="1"/>
          </p:cNvSpPr>
          <p:nvPr>
            <p:ph sz="quarter" idx="18"/>
          </p:nvPr>
        </p:nvSpPr>
        <p:spPr>
          <a:xfrm>
            <a:off x="457200" y="5660413"/>
            <a:ext cx="1039091" cy="407878"/>
          </a:xfrm>
        </p:spPr>
        <p:txBody>
          <a:bodyPr/>
          <a:lstStyle/>
          <a:p>
            <a:pPr marL="432" indent="0">
              <a:buNone/>
            </a:pPr>
            <a:r>
              <a:rPr lang="en-US" sz="2200" i="1" dirty="0"/>
              <a:t>z</a:t>
            </a:r>
            <a:r>
              <a:rPr lang="en-US" sz="2200" dirty="0"/>
              <a:t>-test.</a:t>
            </a:r>
          </a:p>
        </p:txBody>
      </p:sp>
    </p:spTree>
    <p:extLst>
      <p:ext uri="{BB962C8B-B14F-4D97-AF65-F5344CB8AC3E}">
        <p14:creationId xmlns:p14="http://schemas.microsoft.com/office/powerpoint/2010/main" val="33069771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(2 of 8)</a:t>
            </a:r>
          </a:p>
        </p:txBody>
      </p:sp>
      <p:sp>
        <p:nvSpPr>
          <p:cNvPr id="3" name="Content Placeholder 2"/>
          <p:cNvSpPr>
            <a:spLocks noGrp="1"/>
          </p:cNvSpPr>
          <p:nvPr>
            <p:ph sz="quarter" idx="13"/>
          </p:nvPr>
        </p:nvSpPr>
        <p:spPr>
          <a:xfrm>
            <a:off x="457200" y="1552576"/>
            <a:ext cx="8229601" cy="1178750"/>
          </a:xfrm>
        </p:spPr>
        <p:txBody>
          <a:bodyPr/>
          <a:lstStyle/>
          <a:p>
            <a:pPr marL="0" indent="0">
              <a:buNone/>
            </a:pPr>
            <a:r>
              <a:rPr lang="en-US" dirty="0"/>
              <a:t>The claim is “the proportion of people who wear seatbelts while driving is the same for Washington and Vermont.” So, the null and alternative hypotheses are</a:t>
            </a:r>
          </a:p>
        </p:txBody>
      </p:sp>
      <p:graphicFrame>
        <p:nvGraphicFramePr>
          <p:cNvPr id="18" name="Object 17" descr="H sub-zero: p subscript 1 equals p subscript 2 (Claim) and H sub-a: p subscript 1 not equals to p subscript 2">
            <a:extLst>
              <a:ext uri="{FF2B5EF4-FFF2-40B4-BE49-F238E27FC236}">
                <a16:creationId xmlns:a16="http://schemas.microsoft.com/office/drawing/2014/main" id="{8A768BD9-2271-4D1C-86DA-282B3FBE04A3}"/>
              </a:ext>
            </a:extLst>
          </p:cNvPr>
          <p:cNvGraphicFramePr>
            <a:graphicFrameLocks noChangeAspect="1"/>
          </p:cNvGraphicFramePr>
          <p:nvPr/>
        </p:nvGraphicFramePr>
        <p:xfrm>
          <a:off x="2132013" y="2871209"/>
          <a:ext cx="4881562" cy="393700"/>
        </p:xfrm>
        <a:graphic>
          <a:graphicData uri="http://schemas.openxmlformats.org/presentationml/2006/ole">
            <mc:AlternateContent xmlns:mc="http://schemas.openxmlformats.org/markup-compatibility/2006">
              <mc:Choice xmlns:v="urn:schemas-microsoft-com:vml" Requires="v">
                <p:oleObj name="Equation" r:id="rId2" imgW="5371920" imgH="431640" progId="Equation.DSMT4">
                  <p:embed/>
                </p:oleObj>
              </mc:Choice>
              <mc:Fallback>
                <p:oleObj name="Equation" r:id="rId2" imgW="5371920" imgH="431640" progId="Equation.DSMT4">
                  <p:embed/>
                  <p:pic>
                    <p:nvPicPr>
                      <p:cNvPr id="18" name="Object 17" descr="H sub-zero: p subscript 1 equals p subscript 2 (Claim) and H sub-a: p subscript 1 not equals to p subscript 2">
                        <a:extLst>
                          <a:ext uri="{FF2B5EF4-FFF2-40B4-BE49-F238E27FC236}">
                            <a16:creationId xmlns:a16="http://schemas.microsoft.com/office/drawing/2014/main" id="{8A768BD9-2271-4D1C-86DA-282B3FBE04A3}"/>
                          </a:ext>
                        </a:extLst>
                      </p:cNvPr>
                      <p:cNvPicPr/>
                      <p:nvPr/>
                    </p:nvPicPr>
                    <p:blipFill>
                      <a:blip r:embed="rId3"/>
                      <a:stretch>
                        <a:fillRect/>
                      </a:stretch>
                    </p:blipFill>
                    <p:spPr>
                      <a:xfrm>
                        <a:off x="2132013" y="2871209"/>
                        <a:ext cx="4881562" cy="393700"/>
                      </a:xfrm>
                      <a:prstGeom prst="rect">
                        <a:avLst/>
                      </a:prstGeom>
                    </p:spPr>
                  </p:pic>
                </p:oleObj>
              </mc:Fallback>
            </mc:AlternateContent>
          </a:graphicData>
        </a:graphic>
      </p:graphicFrame>
      <p:sp>
        <p:nvSpPr>
          <p:cNvPr id="4" name="Content Placeholder 3"/>
          <p:cNvSpPr>
            <a:spLocks noGrp="1"/>
          </p:cNvSpPr>
          <p:nvPr>
            <p:ph sz="quarter" idx="14"/>
          </p:nvPr>
        </p:nvSpPr>
        <p:spPr>
          <a:xfrm>
            <a:off x="457200" y="3570890"/>
            <a:ext cx="8229601" cy="431087"/>
          </a:xfrm>
        </p:spPr>
        <p:txBody>
          <a:bodyPr/>
          <a:lstStyle/>
          <a:p>
            <a:pPr marL="432" indent="0">
              <a:buNone/>
            </a:pPr>
            <a:r>
              <a:rPr lang="en-US" dirty="0"/>
              <a:t>Because the test is two-tailed and the level of significance is</a:t>
            </a:r>
          </a:p>
        </p:txBody>
      </p:sp>
      <p:graphicFrame>
        <p:nvGraphicFramePr>
          <p:cNvPr id="19" name="Object 18" descr="alpha equals 0.10">
            <a:extLst>
              <a:ext uri="{FF2B5EF4-FFF2-40B4-BE49-F238E27FC236}">
                <a16:creationId xmlns:a16="http://schemas.microsoft.com/office/drawing/2014/main" id="{9E528670-393D-49C1-AD90-A09BE7D131DB}"/>
              </a:ext>
            </a:extLst>
          </p:cNvPr>
          <p:cNvGraphicFramePr>
            <a:graphicFrameLocks noChangeAspect="1"/>
          </p:cNvGraphicFramePr>
          <p:nvPr/>
        </p:nvGraphicFramePr>
        <p:xfrm>
          <a:off x="457200" y="4078394"/>
          <a:ext cx="1307225" cy="361043"/>
        </p:xfrm>
        <a:graphic>
          <a:graphicData uri="http://schemas.openxmlformats.org/presentationml/2006/ole">
            <mc:AlternateContent xmlns:mc="http://schemas.openxmlformats.org/markup-compatibility/2006">
              <mc:Choice xmlns:v="urn:schemas-microsoft-com:vml" Requires="v">
                <p:oleObj name="Equation" r:id="rId4" imgW="1333440" imgH="368280" progId="Equation.DSMT4">
                  <p:embed/>
                </p:oleObj>
              </mc:Choice>
              <mc:Fallback>
                <p:oleObj name="Equation" r:id="rId4" imgW="1333440" imgH="368280" progId="Equation.DSMT4">
                  <p:embed/>
                  <p:pic>
                    <p:nvPicPr>
                      <p:cNvPr id="19" name="Object 18" descr="alpha equals 0.10">
                        <a:extLst>
                          <a:ext uri="{FF2B5EF4-FFF2-40B4-BE49-F238E27FC236}">
                            <a16:creationId xmlns:a16="http://schemas.microsoft.com/office/drawing/2014/main" id="{9E528670-393D-49C1-AD90-A09BE7D131DB}"/>
                          </a:ext>
                        </a:extLst>
                      </p:cNvPr>
                      <p:cNvPicPr/>
                      <p:nvPr/>
                    </p:nvPicPr>
                    <p:blipFill>
                      <a:blip r:embed="rId5"/>
                      <a:stretch>
                        <a:fillRect/>
                      </a:stretch>
                    </p:blipFill>
                    <p:spPr>
                      <a:xfrm>
                        <a:off x="457200" y="4078394"/>
                        <a:ext cx="1307225" cy="361043"/>
                      </a:xfrm>
                      <a:prstGeom prst="rect">
                        <a:avLst/>
                      </a:prstGeom>
                    </p:spPr>
                  </p:pic>
                </p:oleObj>
              </mc:Fallback>
            </mc:AlternateContent>
          </a:graphicData>
        </a:graphic>
      </p:graphicFrame>
      <p:sp>
        <p:nvSpPr>
          <p:cNvPr id="5" name="Content Placeholder 4"/>
          <p:cNvSpPr>
            <a:spLocks noGrp="1"/>
          </p:cNvSpPr>
          <p:nvPr>
            <p:ph sz="quarter" idx="15"/>
          </p:nvPr>
        </p:nvSpPr>
        <p:spPr>
          <a:xfrm>
            <a:off x="1911927" y="4066519"/>
            <a:ext cx="3016333" cy="410471"/>
          </a:xfrm>
        </p:spPr>
        <p:txBody>
          <a:bodyPr/>
          <a:lstStyle/>
          <a:p>
            <a:pPr marL="432" indent="0">
              <a:buNone/>
            </a:pPr>
            <a:r>
              <a:rPr lang="en-US" dirty="0"/>
              <a:t>the critical values are</a:t>
            </a:r>
          </a:p>
        </p:txBody>
      </p:sp>
      <p:graphicFrame>
        <p:nvGraphicFramePr>
          <p:cNvPr id="20" name="Object 19" descr="minus z subscript 0 equals minus 1.645 and z subscript 0 equals 1.645">
            <a:extLst>
              <a:ext uri="{FF2B5EF4-FFF2-40B4-BE49-F238E27FC236}">
                <a16:creationId xmlns:a16="http://schemas.microsoft.com/office/drawing/2014/main" id="{0DB6496A-A0A7-4C3E-A808-234C0AD8DBED}"/>
              </a:ext>
            </a:extLst>
          </p:cNvPr>
          <p:cNvGraphicFramePr>
            <a:graphicFrameLocks noChangeAspect="1"/>
          </p:cNvGraphicFramePr>
          <p:nvPr/>
        </p:nvGraphicFramePr>
        <p:xfrm>
          <a:off x="5017933" y="4076900"/>
          <a:ext cx="3697950" cy="382122"/>
        </p:xfrm>
        <a:graphic>
          <a:graphicData uri="http://schemas.openxmlformats.org/presentationml/2006/ole">
            <mc:AlternateContent xmlns:mc="http://schemas.openxmlformats.org/markup-compatibility/2006">
              <mc:Choice xmlns:v="urn:schemas-microsoft-com:vml" Requires="v">
                <p:oleObj name="Equation" r:id="rId6" imgW="3809880" imgH="393480" progId="Equation.DSMT4">
                  <p:embed/>
                </p:oleObj>
              </mc:Choice>
              <mc:Fallback>
                <p:oleObj name="Equation" r:id="rId6" imgW="3809880" imgH="393480" progId="Equation.DSMT4">
                  <p:embed/>
                  <p:pic>
                    <p:nvPicPr>
                      <p:cNvPr id="20" name="Object 19" descr="minus z subscript 0 equals minus 1.645 and z subscript 0 equals 1.645">
                        <a:extLst>
                          <a:ext uri="{FF2B5EF4-FFF2-40B4-BE49-F238E27FC236}">
                            <a16:creationId xmlns:a16="http://schemas.microsoft.com/office/drawing/2014/main" id="{0DB6496A-A0A7-4C3E-A808-234C0AD8DBED}"/>
                          </a:ext>
                        </a:extLst>
                      </p:cNvPr>
                      <p:cNvPicPr/>
                      <p:nvPr/>
                    </p:nvPicPr>
                    <p:blipFill>
                      <a:blip r:embed="rId7"/>
                      <a:stretch>
                        <a:fillRect/>
                      </a:stretch>
                    </p:blipFill>
                    <p:spPr>
                      <a:xfrm>
                        <a:off x="5017933" y="4076900"/>
                        <a:ext cx="3697950" cy="382122"/>
                      </a:xfrm>
                      <a:prstGeom prst="rect">
                        <a:avLst/>
                      </a:prstGeom>
                    </p:spPr>
                  </p:pic>
                </p:oleObj>
              </mc:Fallback>
            </mc:AlternateContent>
          </a:graphicData>
        </a:graphic>
      </p:graphicFrame>
      <p:sp>
        <p:nvSpPr>
          <p:cNvPr id="6" name="Content Placeholder 5"/>
          <p:cNvSpPr>
            <a:spLocks noGrp="1"/>
          </p:cNvSpPr>
          <p:nvPr>
            <p:ph sz="quarter" idx="16"/>
          </p:nvPr>
        </p:nvSpPr>
        <p:spPr>
          <a:xfrm>
            <a:off x="457200" y="4533944"/>
            <a:ext cx="3532909" cy="418059"/>
          </a:xfrm>
        </p:spPr>
        <p:txBody>
          <a:bodyPr/>
          <a:lstStyle/>
          <a:p>
            <a:pPr marL="432" indent="0">
              <a:buNone/>
            </a:pPr>
            <a:r>
              <a:rPr lang="en-US" dirty="0"/>
              <a:t>The rejection regions are</a:t>
            </a:r>
          </a:p>
        </p:txBody>
      </p:sp>
      <p:graphicFrame>
        <p:nvGraphicFramePr>
          <p:cNvPr id="21" name="Object 20" descr="z less than minus 1.645 and z greater than 1.645">
            <a:extLst>
              <a:ext uri="{FF2B5EF4-FFF2-40B4-BE49-F238E27FC236}">
                <a16:creationId xmlns:a16="http://schemas.microsoft.com/office/drawing/2014/main" id="{A87C9B2C-92DA-4A60-96F7-752A78D62F87}"/>
              </a:ext>
            </a:extLst>
          </p:cNvPr>
          <p:cNvGraphicFramePr>
            <a:graphicFrameLocks noChangeAspect="1"/>
          </p:cNvGraphicFramePr>
          <p:nvPr/>
        </p:nvGraphicFramePr>
        <p:xfrm>
          <a:off x="4107235" y="4567865"/>
          <a:ext cx="3421698" cy="370884"/>
        </p:xfrm>
        <a:graphic>
          <a:graphicData uri="http://schemas.openxmlformats.org/presentationml/2006/ole">
            <mc:AlternateContent xmlns:mc="http://schemas.openxmlformats.org/markup-compatibility/2006">
              <mc:Choice xmlns:v="urn:schemas-microsoft-com:vml" Requires="v">
                <p:oleObj name="Equation" r:id="rId8" imgW="3632040" imgH="393480" progId="Equation.DSMT4">
                  <p:embed/>
                </p:oleObj>
              </mc:Choice>
              <mc:Fallback>
                <p:oleObj name="Equation" r:id="rId8" imgW="3632040" imgH="393480" progId="Equation.DSMT4">
                  <p:embed/>
                  <p:pic>
                    <p:nvPicPr>
                      <p:cNvPr id="21" name="Object 20" descr="z less than minus 1.645 and z greater than 1.645">
                        <a:extLst>
                          <a:ext uri="{FF2B5EF4-FFF2-40B4-BE49-F238E27FC236}">
                            <a16:creationId xmlns:a16="http://schemas.microsoft.com/office/drawing/2014/main" id="{A87C9B2C-92DA-4A60-96F7-752A78D62F87}"/>
                          </a:ext>
                        </a:extLst>
                      </p:cNvPr>
                      <p:cNvPicPr/>
                      <p:nvPr/>
                    </p:nvPicPr>
                    <p:blipFill>
                      <a:blip r:embed="rId9"/>
                      <a:stretch>
                        <a:fillRect/>
                      </a:stretch>
                    </p:blipFill>
                    <p:spPr>
                      <a:xfrm>
                        <a:off x="4107235" y="4567865"/>
                        <a:ext cx="3421698" cy="370884"/>
                      </a:xfrm>
                      <a:prstGeom prst="rect">
                        <a:avLst/>
                      </a:prstGeom>
                    </p:spPr>
                  </p:pic>
                </p:oleObj>
              </mc:Fallback>
            </mc:AlternateContent>
          </a:graphicData>
        </a:graphic>
      </p:graphicFrame>
    </p:spTree>
    <p:extLst>
      <p:ext uri="{BB962C8B-B14F-4D97-AF65-F5344CB8AC3E}">
        <p14:creationId xmlns:p14="http://schemas.microsoft.com/office/powerpoint/2010/main" val="11288262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(3 of 8)</a:t>
            </a:r>
          </a:p>
        </p:txBody>
      </p:sp>
      <p:sp>
        <p:nvSpPr>
          <p:cNvPr id="17" name="Content Placeholder 16"/>
          <p:cNvSpPr>
            <a:spLocks noGrp="1"/>
          </p:cNvSpPr>
          <p:nvPr>
            <p:ph sz="quarter" idx="13"/>
          </p:nvPr>
        </p:nvSpPr>
        <p:spPr>
          <a:xfrm>
            <a:off x="457200" y="1556327"/>
            <a:ext cx="4637314" cy="426852"/>
          </a:xfrm>
        </p:spPr>
        <p:txBody>
          <a:bodyPr/>
          <a:lstStyle/>
          <a:p>
            <a:pPr marL="0" indent="0">
              <a:buNone/>
            </a:pPr>
            <a:r>
              <a:rPr lang="en-US" dirty="0">
                <a:solidFill>
                  <a:schemeClr val="tx1"/>
                </a:solidFill>
              </a:rPr>
              <a:t>The standardized test statistic is</a:t>
            </a:r>
          </a:p>
        </p:txBody>
      </p:sp>
      <p:graphicFrame>
        <p:nvGraphicFramePr>
          <p:cNvPr id="4" name="Object 3" descr="z = start fraction left parenthesis p sub 1 hat minus p sub 2 hat right parenthesis minus left parenthesis p sub 1 minus p sub 2 right parenthesis over square root of start expression p bar q bar left parenthesis start fraction 1 over n sub 1 end fraction + start fraction 1 over n sub 2 end fraction right parenthesis end expression end fraction approximately equal to stat fraction left parenthesis 0.930 minus 0.888 right parenthesis minus 0 over square root of start expression left parenthesis 0.9067 right parenthesis left parenthesis 0.0933 right parenthesis left parenthesis start fraction 1 over 200 end fraction + start fraction 1 over 250 end fraction right parenthesis end fraction approximately equal to 1.52.">
            <a:extLst>
              <a:ext uri="{FF2B5EF4-FFF2-40B4-BE49-F238E27FC236}">
                <a16:creationId xmlns:a16="http://schemas.microsoft.com/office/drawing/2014/main" id="{F4258F63-A0E7-4A42-89E6-3E7B3B3F74F2}"/>
              </a:ext>
            </a:extLst>
          </p:cNvPr>
          <p:cNvGraphicFramePr>
            <a:graphicFrameLocks noChangeAspect="1"/>
          </p:cNvGraphicFramePr>
          <p:nvPr/>
        </p:nvGraphicFramePr>
        <p:xfrm>
          <a:off x="457200" y="2220913"/>
          <a:ext cx="8153400" cy="1422400"/>
        </p:xfrm>
        <a:graphic>
          <a:graphicData uri="http://schemas.openxmlformats.org/presentationml/2006/ole">
            <mc:AlternateContent xmlns:mc="http://schemas.openxmlformats.org/markup-compatibility/2006">
              <mc:Choice xmlns:v="urn:schemas-microsoft-com:vml" Requires="v">
                <p:oleObj name="Equation" r:id="rId2" imgW="8153280" imgH="1422360" progId="Equation.DSMT4">
                  <p:embed/>
                </p:oleObj>
              </mc:Choice>
              <mc:Fallback>
                <p:oleObj name="Equation" r:id="rId2" imgW="8153280" imgH="1422360" progId="Equation.DSMT4">
                  <p:embed/>
                  <p:pic>
                    <p:nvPicPr>
                      <p:cNvPr id="4" name="Object 3" descr="z = start fraction left parenthesis p sub 1 hat minus p sub 2 hat right parenthesis minus left parenthesis p sub 1 minus p sub 2 right parenthesis over square root of start expression p bar q bar left parenthesis start fraction 1 over n sub 1 end fraction + start fraction 1 over n sub 2 end fraction right parenthesis end expression end fraction approximately equal to stat fraction left parenthesis 0.930 minus 0.888 right parenthesis minus 0 over square root of start expression left parenthesis 0.9067 right parenthesis left parenthesis 0.0933 right parenthesis left parenthesis start fraction 1 over 200 end fraction + start fraction 1 over 250 end fraction right parenthesis end fraction approximately equal to 1.52.">
                        <a:extLst>
                          <a:ext uri="{FF2B5EF4-FFF2-40B4-BE49-F238E27FC236}">
                            <a16:creationId xmlns:a16="http://schemas.microsoft.com/office/drawing/2014/main" id="{F4258F63-A0E7-4A42-89E6-3E7B3B3F74F2}"/>
                          </a:ext>
                        </a:extLst>
                      </p:cNvPr>
                      <p:cNvPicPr/>
                      <p:nvPr/>
                    </p:nvPicPr>
                    <p:blipFill>
                      <a:blip r:embed="rId3"/>
                      <a:stretch>
                        <a:fillRect/>
                      </a:stretch>
                    </p:blipFill>
                    <p:spPr>
                      <a:xfrm>
                        <a:off x="457200" y="2220913"/>
                        <a:ext cx="8153400" cy="1422400"/>
                      </a:xfrm>
                      <a:prstGeom prst="rect">
                        <a:avLst/>
                      </a:prstGeom>
                    </p:spPr>
                  </p:pic>
                </p:oleObj>
              </mc:Fallback>
            </mc:AlternateContent>
          </a:graphicData>
        </a:graphic>
      </p:graphicFrame>
    </p:spTree>
    <p:extLst>
      <p:ext uri="{BB962C8B-B14F-4D97-AF65-F5344CB8AC3E}">
        <p14:creationId xmlns:p14="http://schemas.microsoft.com/office/powerpoint/2010/main" val="2581931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(4 of 8)</a:t>
            </a:r>
          </a:p>
        </p:txBody>
      </p:sp>
      <p:sp>
        <p:nvSpPr>
          <p:cNvPr id="3" name="Content Placeholder 2"/>
          <p:cNvSpPr>
            <a:spLocks noGrp="1"/>
          </p:cNvSpPr>
          <p:nvPr>
            <p:ph sz="quarter" idx="13"/>
          </p:nvPr>
        </p:nvSpPr>
        <p:spPr>
          <a:xfrm>
            <a:off x="457200" y="1552575"/>
            <a:ext cx="8229600" cy="1216383"/>
          </a:xfrm>
        </p:spPr>
        <p:txBody>
          <a:bodyPr/>
          <a:lstStyle/>
          <a:p>
            <a:pPr marL="0" indent="0">
              <a:buNone/>
            </a:pPr>
            <a:r>
              <a:rPr lang="en-US" dirty="0">
                <a:solidFill>
                  <a:schemeClr val="tx1"/>
                </a:solidFill>
              </a:rPr>
              <a:t>The figure below shows the location of the rejection regions and the standardized test statistic </a:t>
            </a:r>
            <a:r>
              <a:rPr lang="en-US" i="1" dirty="0">
                <a:solidFill>
                  <a:schemeClr val="tx1"/>
                </a:solidFill>
              </a:rPr>
              <a:t>z</a:t>
            </a:r>
            <a:r>
              <a:rPr lang="en-US" dirty="0">
                <a:solidFill>
                  <a:schemeClr val="tx1"/>
                </a:solidFill>
              </a:rPr>
              <a:t>. Because </a:t>
            </a:r>
            <a:r>
              <a:rPr lang="en-US" i="1" dirty="0">
                <a:solidFill>
                  <a:schemeClr val="tx1"/>
                </a:solidFill>
              </a:rPr>
              <a:t>z </a:t>
            </a:r>
            <a:r>
              <a:rPr lang="en-US" dirty="0">
                <a:solidFill>
                  <a:schemeClr val="tx1"/>
                </a:solidFill>
              </a:rPr>
              <a:t>is not in the rejection region, you fail to reject the null hypothesis.</a:t>
            </a:r>
          </a:p>
        </p:txBody>
      </p:sp>
      <p:pic>
        <p:nvPicPr>
          <p:cNvPr id="18" name="Content Placeholder 17" descr="A graph shows a normal distribution curve. For long description in Notes pane, press F6."/>
          <p:cNvPicPr>
            <a:picLocks noGrp="1" noChangeAspect="1"/>
          </p:cNvPicPr>
          <p:nvPr>
            <p:ph sz="quarter" idx="14"/>
          </p:nvPr>
        </p:nvPicPr>
        <p:blipFill>
          <a:blip r:embed="rId3"/>
          <a:stretch>
            <a:fillRect/>
          </a:stretch>
        </p:blipFill>
        <p:spPr>
          <a:xfrm>
            <a:off x="457200" y="3008883"/>
            <a:ext cx="4008241" cy="2366660"/>
          </a:xfrm>
          <a:prstGeom prst="rect">
            <a:avLst/>
          </a:prstGeom>
        </p:spPr>
      </p:pic>
      <p:sp>
        <p:nvSpPr>
          <p:cNvPr id="5" name="Content Placeholder 4"/>
          <p:cNvSpPr>
            <a:spLocks noGrp="1"/>
          </p:cNvSpPr>
          <p:nvPr>
            <p:ph sz="quarter" idx="15"/>
          </p:nvPr>
        </p:nvSpPr>
        <p:spPr>
          <a:xfrm>
            <a:off x="4669901" y="3008883"/>
            <a:ext cx="4016900" cy="2976280"/>
          </a:xfrm>
        </p:spPr>
        <p:txBody>
          <a:bodyPr/>
          <a:lstStyle/>
          <a:p>
            <a:pPr marL="432" indent="0">
              <a:buNone/>
            </a:pPr>
            <a:r>
              <a:rPr lang="en-US" dirty="0">
                <a:cs typeface="Times New Roman" panose="02020603050405020304" pitchFamily="18" charset="0"/>
              </a:rPr>
              <a:t>There is not enough evidence at the 10% level of significance to reject the claim that the proportion of people who wear seat belts while driving is the same for Washington and Vermont.</a:t>
            </a:r>
          </a:p>
        </p:txBody>
      </p:sp>
    </p:spTree>
    <p:extLst>
      <p:ext uri="{BB962C8B-B14F-4D97-AF65-F5344CB8AC3E}">
        <p14:creationId xmlns:p14="http://schemas.microsoft.com/office/powerpoint/2010/main" val="5151505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Example: Two-Sample </a:t>
            </a:r>
            <a:r>
              <a:rPr lang="en-US" sz="3400" i="1" dirty="0"/>
              <a:t>z</a:t>
            </a:r>
            <a:r>
              <a:rPr lang="en-US" sz="3400" dirty="0"/>
              <a:t>-Test for the Difference Between Proportions </a:t>
            </a:r>
            <a:r>
              <a:rPr lang="en-US" sz="2000" b="0" dirty="0"/>
              <a:t>(2 of 2)</a:t>
            </a:r>
          </a:p>
        </p:txBody>
      </p:sp>
      <p:sp>
        <p:nvSpPr>
          <p:cNvPr id="4" name="Content Placeholder 3"/>
          <p:cNvSpPr>
            <a:spLocks noGrp="1"/>
          </p:cNvSpPr>
          <p:nvPr>
            <p:ph sz="quarter" idx="13"/>
          </p:nvPr>
        </p:nvSpPr>
        <p:spPr>
          <a:xfrm>
            <a:off x="457200" y="1552575"/>
            <a:ext cx="8229600" cy="1891270"/>
          </a:xfrm>
        </p:spPr>
        <p:txBody>
          <a:bodyPr/>
          <a:lstStyle/>
          <a:p>
            <a:pPr marL="432" indent="0">
              <a:buNone/>
            </a:pPr>
            <a:r>
              <a:rPr lang="en-US" altLang="en-US" sz="2000" dirty="0">
                <a:solidFill>
                  <a:schemeClr val="tx1"/>
                </a:solidFill>
              </a:rPr>
              <a:t>A medical research team conducted a study to test the effect of a medication to treat patients with post-traumatic stress disorder (P</a:t>
            </a:r>
            <a:r>
              <a:rPr lang="en-US" altLang="en-US" sz="100" dirty="0">
                <a:solidFill>
                  <a:schemeClr val="tx1"/>
                </a:solidFill>
              </a:rPr>
              <a:t> </a:t>
            </a:r>
            <a:r>
              <a:rPr lang="en-US" altLang="en-US" sz="2000" dirty="0">
                <a:solidFill>
                  <a:schemeClr val="tx1"/>
                </a:solidFill>
              </a:rPr>
              <a:t>T</a:t>
            </a:r>
            <a:r>
              <a:rPr lang="en-US" altLang="en-US" sz="100" dirty="0">
                <a:solidFill>
                  <a:schemeClr val="tx1"/>
                </a:solidFill>
              </a:rPr>
              <a:t> </a:t>
            </a:r>
            <a:r>
              <a:rPr lang="en-US" altLang="en-US" sz="2000" dirty="0">
                <a:solidFill>
                  <a:schemeClr val="tx1"/>
                </a:solidFill>
              </a:rPr>
              <a:t>S</a:t>
            </a:r>
            <a:r>
              <a:rPr lang="en-US" altLang="en-US" sz="100" dirty="0">
                <a:solidFill>
                  <a:schemeClr val="tx1"/>
                </a:solidFill>
              </a:rPr>
              <a:t> </a:t>
            </a:r>
            <a:r>
              <a:rPr lang="en-US" altLang="en-US" sz="2000" dirty="0">
                <a:solidFill>
                  <a:schemeClr val="tx1"/>
                </a:solidFill>
              </a:rPr>
              <a:t>D). At the end of the study, the researchers found that of the 42 randomly selected subjects who took the medication, 28 no longer met the diagnostic criteria for P</a:t>
            </a:r>
            <a:r>
              <a:rPr lang="en-US" altLang="en-US" sz="100" dirty="0">
                <a:solidFill>
                  <a:schemeClr val="tx1"/>
                </a:solidFill>
              </a:rPr>
              <a:t> </a:t>
            </a:r>
            <a:r>
              <a:rPr lang="en-US" altLang="en-US" sz="2000" dirty="0">
                <a:solidFill>
                  <a:schemeClr val="tx1"/>
                </a:solidFill>
              </a:rPr>
              <a:t>T</a:t>
            </a:r>
            <a:r>
              <a:rPr lang="en-US" altLang="en-US" sz="100" dirty="0">
                <a:solidFill>
                  <a:schemeClr val="tx1"/>
                </a:solidFill>
              </a:rPr>
              <a:t> </a:t>
            </a:r>
            <a:r>
              <a:rPr lang="en-US" altLang="en-US" sz="2000" dirty="0">
                <a:solidFill>
                  <a:schemeClr val="tx1"/>
                </a:solidFill>
              </a:rPr>
              <a:t>S</a:t>
            </a:r>
            <a:r>
              <a:rPr lang="en-US" altLang="en-US" sz="100" dirty="0">
                <a:solidFill>
                  <a:schemeClr val="tx1"/>
                </a:solidFill>
              </a:rPr>
              <a:t> </a:t>
            </a:r>
            <a:r>
              <a:rPr lang="en-US" altLang="en-US" sz="2000" dirty="0">
                <a:solidFill>
                  <a:schemeClr val="tx1"/>
                </a:solidFill>
              </a:rPr>
              <a:t>D. Of the 37 randomly selected subjects who took a placebo, 12 no longer met the diagnostic criteria for P</a:t>
            </a:r>
            <a:r>
              <a:rPr lang="en-US" altLang="en-US" sz="100" dirty="0">
                <a:solidFill>
                  <a:schemeClr val="tx1"/>
                </a:solidFill>
              </a:rPr>
              <a:t> </a:t>
            </a:r>
            <a:r>
              <a:rPr lang="en-US" altLang="en-US" sz="2000" dirty="0">
                <a:solidFill>
                  <a:schemeClr val="tx1"/>
                </a:solidFill>
              </a:rPr>
              <a:t>T</a:t>
            </a:r>
            <a:r>
              <a:rPr lang="en-US" altLang="en-US" sz="100" dirty="0">
                <a:solidFill>
                  <a:schemeClr val="tx1"/>
                </a:solidFill>
              </a:rPr>
              <a:t> </a:t>
            </a:r>
            <a:r>
              <a:rPr lang="en-US" altLang="en-US" sz="2000" dirty="0">
                <a:solidFill>
                  <a:schemeClr val="tx1"/>
                </a:solidFill>
              </a:rPr>
              <a:t>S</a:t>
            </a:r>
            <a:r>
              <a:rPr lang="en-US" altLang="en-US" sz="100" dirty="0">
                <a:solidFill>
                  <a:schemeClr val="tx1"/>
                </a:solidFill>
              </a:rPr>
              <a:t> </a:t>
            </a:r>
            <a:r>
              <a:rPr lang="en-US" altLang="en-US" sz="2000" dirty="0">
                <a:solidFill>
                  <a:schemeClr val="tx1"/>
                </a:solidFill>
              </a:rPr>
              <a:t>D. At</a:t>
            </a:r>
            <a:endParaRPr lang="en-US" sz="2000" dirty="0">
              <a:solidFill>
                <a:schemeClr val="tx1"/>
              </a:solidFill>
            </a:endParaRPr>
          </a:p>
        </p:txBody>
      </p:sp>
      <p:graphicFrame>
        <p:nvGraphicFramePr>
          <p:cNvPr id="18" name="Object 17" descr="alpha equals 0.01">
            <a:extLst>
              <a:ext uri="{FF2B5EF4-FFF2-40B4-BE49-F238E27FC236}">
                <a16:creationId xmlns:a16="http://schemas.microsoft.com/office/drawing/2014/main" id="{EEFF3CFD-65F5-4CE8-BF54-8271179717A5}"/>
              </a:ext>
            </a:extLst>
          </p:cNvPr>
          <p:cNvGraphicFramePr>
            <a:graphicFrameLocks noChangeAspect="1"/>
          </p:cNvGraphicFramePr>
          <p:nvPr/>
        </p:nvGraphicFramePr>
        <p:xfrm>
          <a:off x="470509" y="3564193"/>
          <a:ext cx="934132" cy="241405"/>
        </p:xfrm>
        <a:graphic>
          <a:graphicData uri="http://schemas.openxmlformats.org/presentationml/2006/ole">
            <mc:AlternateContent xmlns:mc="http://schemas.openxmlformats.org/markup-compatibility/2006">
              <mc:Choice xmlns:v="urn:schemas-microsoft-com:vml" Requires="v">
                <p:oleObj name="Equation" r:id="rId2" imgW="1130040" imgH="291960" progId="Equation.DSMT4">
                  <p:embed/>
                </p:oleObj>
              </mc:Choice>
              <mc:Fallback>
                <p:oleObj name="Equation" r:id="rId2" imgW="1130040" imgH="291960" progId="Equation.DSMT4">
                  <p:embed/>
                  <p:pic>
                    <p:nvPicPr>
                      <p:cNvPr id="18" name="Object 17" descr="alpha equals 0.01">
                        <a:extLst>
                          <a:ext uri="{FF2B5EF4-FFF2-40B4-BE49-F238E27FC236}">
                            <a16:creationId xmlns:a16="http://schemas.microsoft.com/office/drawing/2014/main" id="{EEFF3CFD-65F5-4CE8-BF54-8271179717A5}"/>
                          </a:ext>
                        </a:extLst>
                      </p:cNvPr>
                      <p:cNvPicPr/>
                      <p:nvPr/>
                    </p:nvPicPr>
                    <p:blipFill>
                      <a:blip r:embed="rId3"/>
                      <a:stretch>
                        <a:fillRect/>
                      </a:stretch>
                    </p:blipFill>
                    <p:spPr>
                      <a:xfrm>
                        <a:off x="470509" y="3564193"/>
                        <a:ext cx="934132" cy="241405"/>
                      </a:xfrm>
                      <a:prstGeom prst="rect">
                        <a:avLst/>
                      </a:prstGeom>
                    </p:spPr>
                  </p:pic>
                </p:oleObj>
              </mc:Fallback>
            </mc:AlternateContent>
          </a:graphicData>
        </a:graphic>
      </p:graphicFrame>
      <p:sp>
        <p:nvSpPr>
          <p:cNvPr id="5" name="Content Placeholder 4"/>
          <p:cNvSpPr>
            <a:spLocks noGrp="1"/>
          </p:cNvSpPr>
          <p:nvPr>
            <p:ph sz="quarter" idx="14"/>
          </p:nvPr>
        </p:nvSpPr>
        <p:spPr>
          <a:xfrm>
            <a:off x="1567542" y="3504818"/>
            <a:ext cx="6293923" cy="342787"/>
          </a:xfrm>
        </p:spPr>
        <p:txBody>
          <a:bodyPr/>
          <a:lstStyle/>
          <a:p>
            <a:pPr marL="432" indent="0">
              <a:buNone/>
            </a:pPr>
            <a:r>
              <a:rPr lang="en-US" altLang="en-US" sz="2000" dirty="0">
                <a:solidFill>
                  <a:schemeClr val="tx1"/>
                </a:solidFill>
              </a:rPr>
              <a:t>can you support the claim that the reduction rate in the</a:t>
            </a:r>
            <a:endParaRPr lang="en-US" sz="2000" dirty="0">
              <a:solidFill>
                <a:schemeClr val="tx1"/>
              </a:solidFill>
            </a:endParaRPr>
          </a:p>
        </p:txBody>
      </p:sp>
      <p:sp>
        <p:nvSpPr>
          <p:cNvPr id="6" name="Content Placeholder 5"/>
          <p:cNvSpPr>
            <a:spLocks noGrp="1"/>
          </p:cNvSpPr>
          <p:nvPr>
            <p:ph sz="quarter" idx="15"/>
          </p:nvPr>
        </p:nvSpPr>
        <p:spPr>
          <a:xfrm>
            <a:off x="457200" y="3908579"/>
            <a:ext cx="8229601" cy="663421"/>
          </a:xfrm>
        </p:spPr>
        <p:txBody>
          <a:bodyPr/>
          <a:lstStyle/>
          <a:p>
            <a:pPr marL="432" indent="0">
              <a:buNone/>
            </a:pPr>
            <a:r>
              <a:rPr lang="en-US" altLang="en-US" sz="2000" dirty="0">
                <a:solidFill>
                  <a:schemeClr val="tx1"/>
                </a:solidFill>
              </a:rPr>
              <a:t>diagnostic criteria for P</a:t>
            </a:r>
            <a:r>
              <a:rPr lang="en-US" altLang="en-US" sz="100" dirty="0">
                <a:solidFill>
                  <a:schemeClr val="tx1"/>
                </a:solidFill>
              </a:rPr>
              <a:t> </a:t>
            </a:r>
            <a:r>
              <a:rPr lang="en-US" altLang="en-US" sz="2000" dirty="0">
                <a:solidFill>
                  <a:schemeClr val="tx1"/>
                </a:solidFill>
              </a:rPr>
              <a:t>T</a:t>
            </a:r>
            <a:r>
              <a:rPr lang="en-US" altLang="en-US" sz="100" dirty="0">
                <a:solidFill>
                  <a:schemeClr val="tx1"/>
                </a:solidFill>
              </a:rPr>
              <a:t> </a:t>
            </a:r>
            <a:r>
              <a:rPr lang="en-US" altLang="en-US" sz="2000" dirty="0">
                <a:solidFill>
                  <a:schemeClr val="tx1"/>
                </a:solidFill>
              </a:rPr>
              <a:t>S</a:t>
            </a:r>
            <a:r>
              <a:rPr lang="en-US" altLang="en-US" sz="100" dirty="0">
                <a:solidFill>
                  <a:schemeClr val="tx1"/>
                </a:solidFill>
              </a:rPr>
              <a:t> </a:t>
            </a:r>
            <a:r>
              <a:rPr lang="en-US" altLang="en-US" sz="2000" dirty="0">
                <a:solidFill>
                  <a:schemeClr val="tx1"/>
                </a:solidFill>
              </a:rPr>
              <a:t>D is higher for those who took the medication than for those who took the placebo? (Adapted Nature Medicine)</a:t>
            </a:r>
            <a:endParaRPr lang="en-US" sz="2000" dirty="0">
              <a:solidFill>
                <a:schemeClr val="tx1"/>
              </a:solidFill>
            </a:endParaRPr>
          </a:p>
        </p:txBody>
      </p:sp>
      <p:graphicFrame>
        <p:nvGraphicFramePr>
          <p:cNvPr id="19" name="Content Placeholder 18"/>
          <p:cNvGraphicFramePr>
            <a:graphicFrameLocks noGrp="1"/>
          </p:cNvGraphicFramePr>
          <p:nvPr>
            <p:ph sz="quarter" idx="16"/>
          </p:nvPr>
        </p:nvGraphicFramePr>
        <p:xfrm>
          <a:off x="470509" y="4698729"/>
          <a:ext cx="4303372" cy="1646508"/>
        </p:xfrm>
        <a:graphic>
          <a:graphicData uri="http://schemas.openxmlformats.org/drawingml/2006/table">
            <a:tbl>
              <a:tblPr firstRow="1" bandRow="1">
                <a:tableStyleId>{2D5ABB26-0587-4C30-8999-92F81FD0307C}</a:tableStyleId>
              </a:tblPr>
              <a:tblGrid>
                <a:gridCol w="2320192">
                  <a:extLst>
                    <a:ext uri="{9D8B030D-6E8A-4147-A177-3AD203B41FA5}">
                      <a16:colId xmlns:a16="http://schemas.microsoft.com/office/drawing/2014/main" val="3660678725"/>
                    </a:ext>
                  </a:extLst>
                </a:gridCol>
                <a:gridCol w="1983180">
                  <a:extLst>
                    <a:ext uri="{9D8B030D-6E8A-4147-A177-3AD203B41FA5}">
                      <a16:colId xmlns:a16="http://schemas.microsoft.com/office/drawing/2014/main" val="2384923559"/>
                    </a:ext>
                  </a:extLst>
                </a:gridCol>
              </a:tblGrid>
              <a:tr h="411627">
                <a:tc>
                  <a:txBody>
                    <a:bodyPr/>
                    <a:lstStyle/>
                    <a:p>
                      <a:r>
                        <a:rPr lang="en-US" sz="1600" b="1" noProof="0" dirty="0"/>
                        <a:t>Received medication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noProof="0"/>
                        <a:t>Received placebo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5659532"/>
                  </a:ext>
                </a:extLst>
              </a:tr>
              <a:tr h="411627">
                <a:tc>
                  <a:txBody>
                    <a:bodyPr/>
                    <a:lstStyle/>
                    <a:p>
                      <a:pPr algn="ctr"/>
                      <a:r>
                        <a:rPr lang="en-US" sz="100" noProof="0"/>
                        <a:t>n sub 1 = 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a:t>n sub 2 = 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4511022"/>
                  </a:ext>
                </a:extLst>
              </a:tr>
              <a:tr h="411627">
                <a:tc>
                  <a:txBody>
                    <a:bodyPr/>
                    <a:lstStyle/>
                    <a:p>
                      <a:pPr algn="ctr"/>
                      <a:r>
                        <a:rPr lang="en-US" sz="100" noProof="0"/>
                        <a:t>x sub 1 = 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a:t>x sub 2 =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508079"/>
                  </a:ext>
                </a:extLst>
              </a:tr>
              <a:tr h="411627">
                <a:tc>
                  <a:txBody>
                    <a:bodyPr/>
                    <a:lstStyle/>
                    <a:p>
                      <a:pPr algn="ctr"/>
                      <a:r>
                        <a:rPr lang="en-US" sz="100" noProof="0"/>
                        <a:t>p sub 1 hat approximately equal to 0.6667.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noProof="0" dirty="0"/>
                        <a:t>p sub 2 hat approximately equal to 0.3243.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0157097"/>
                  </a:ext>
                </a:extLst>
              </a:tr>
            </a:tbl>
          </a:graphicData>
        </a:graphic>
      </p:graphicFrame>
      <p:graphicFrame>
        <p:nvGraphicFramePr>
          <p:cNvPr id="20" name="Object 19">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1011380" y="5154738"/>
          <a:ext cx="693738" cy="295275"/>
        </p:xfrm>
        <a:graphic>
          <a:graphicData uri="http://schemas.openxmlformats.org/presentationml/2006/ole">
            <mc:AlternateContent xmlns:mc="http://schemas.openxmlformats.org/markup-compatibility/2006">
              <mc:Choice xmlns:v="urn:schemas-microsoft-com:vml" Requires="v">
                <p:oleObj name="Equation" r:id="rId4" imgW="1015920" imgH="431640" progId="Equation.DSMT4">
                  <p:embed/>
                </p:oleObj>
              </mc:Choice>
              <mc:Fallback>
                <p:oleObj name="Equation" r:id="rId4" imgW="1015920" imgH="431640" progId="Equation.DSMT4">
                  <p:embed/>
                  <p:pic>
                    <p:nvPicPr>
                      <p:cNvPr id="20" name="Object 19">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5"/>
                      <a:stretch>
                        <a:fillRect/>
                      </a:stretch>
                    </p:blipFill>
                    <p:spPr>
                      <a:xfrm>
                        <a:off x="1011380" y="5154738"/>
                        <a:ext cx="693738" cy="295275"/>
                      </a:xfrm>
                      <a:prstGeom prst="rect">
                        <a:avLst/>
                      </a:prstGeom>
                      <a:solidFill>
                        <a:schemeClr val="bg1"/>
                      </a:solidFill>
                    </p:spPr>
                  </p:pic>
                </p:oleObj>
              </mc:Fallback>
            </mc:AlternateContent>
          </a:graphicData>
        </a:graphic>
      </p:graphicFrame>
      <p:graphicFrame>
        <p:nvGraphicFramePr>
          <p:cNvPr id="21" name="Object 20">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3199766" y="5154738"/>
          <a:ext cx="719137" cy="295275"/>
        </p:xfrm>
        <a:graphic>
          <a:graphicData uri="http://schemas.openxmlformats.org/presentationml/2006/ole">
            <mc:AlternateContent xmlns:mc="http://schemas.openxmlformats.org/markup-compatibility/2006">
              <mc:Choice xmlns:v="urn:schemas-microsoft-com:vml" Requires="v">
                <p:oleObj name="Equation" r:id="rId6" imgW="1054080" imgH="431640" progId="Equation.DSMT4">
                  <p:embed/>
                </p:oleObj>
              </mc:Choice>
              <mc:Fallback>
                <p:oleObj name="Equation" r:id="rId6" imgW="1054080" imgH="431640" progId="Equation.DSMT4">
                  <p:embed/>
                  <p:pic>
                    <p:nvPicPr>
                      <p:cNvPr id="21" name="Object 20">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7"/>
                      <a:stretch>
                        <a:fillRect/>
                      </a:stretch>
                    </p:blipFill>
                    <p:spPr>
                      <a:xfrm>
                        <a:off x="3199766" y="5154738"/>
                        <a:ext cx="719137" cy="295275"/>
                      </a:xfrm>
                      <a:prstGeom prst="rect">
                        <a:avLst/>
                      </a:prstGeom>
                      <a:solidFill>
                        <a:schemeClr val="bg1"/>
                      </a:solidFill>
                    </p:spPr>
                  </p:pic>
                </p:oleObj>
              </mc:Fallback>
            </mc:AlternateContent>
          </a:graphicData>
        </a:graphic>
      </p:graphicFrame>
      <p:graphicFrame>
        <p:nvGraphicFramePr>
          <p:cNvPr id="22" name="Object 21">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1011380" y="5564106"/>
          <a:ext cx="693738" cy="295275"/>
        </p:xfrm>
        <a:graphic>
          <a:graphicData uri="http://schemas.openxmlformats.org/presentationml/2006/ole">
            <mc:AlternateContent xmlns:mc="http://schemas.openxmlformats.org/markup-compatibility/2006">
              <mc:Choice xmlns:v="urn:schemas-microsoft-com:vml" Requires="v">
                <p:oleObj name="Equation" r:id="rId8" imgW="1015920" imgH="431640" progId="Equation.DSMT4">
                  <p:embed/>
                </p:oleObj>
              </mc:Choice>
              <mc:Fallback>
                <p:oleObj name="Equation" r:id="rId8" imgW="1015920" imgH="431640" progId="Equation.DSMT4">
                  <p:embed/>
                  <p:pic>
                    <p:nvPicPr>
                      <p:cNvPr id="22" name="Object 21">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9"/>
                      <a:stretch>
                        <a:fillRect/>
                      </a:stretch>
                    </p:blipFill>
                    <p:spPr>
                      <a:xfrm>
                        <a:off x="1011380" y="5564106"/>
                        <a:ext cx="693738" cy="295275"/>
                      </a:xfrm>
                      <a:prstGeom prst="rect">
                        <a:avLst/>
                      </a:prstGeom>
                      <a:solidFill>
                        <a:schemeClr val="bg1"/>
                      </a:solidFill>
                    </p:spPr>
                  </p:pic>
                </p:oleObj>
              </mc:Fallback>
            </mc:AlternateContent>
          </a:graphicData>
        </a:graphic>
      </p:graphicFrame>
      <p:graphicFrame>
        <p:nvGraphicFramePr>
          <p:cNvPr id="23" name="Object 22">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3225165" y="5578498"/>
          <a:ext cx="693738" cy="295275"/>
        </p:xfrm>
        <a:graphic>
          <a:graphicData uri="http://schemas.openxmlformats.org/presentationml/2006/ole">
            <mc:AlternateContent xmlns:mc="http://schemas.openxmlformats.org/markup-compatibility/2006">
              <mc:Choice xmlns:v="urn:schemas-microsoft-com:vml" Requires="v">
                <p:oleObj name="Equation" r:id="rId10" imgW="1015920" imgH="431640" progId="Equation.DSMT4">
                  <p:embed/>
                </p:oleObj>
              </mc:Choice>
              <mc:Fallback>
                <p:oleObj name="Equation" r:id="rId10" imgW="1015920" imgH="431640" progId="Equation.DSMT4">
                  <p:embed/>
                  <p:pic>
                    <p:nvPicPr>
                      <p:cNvPr id="23" name="Object 22">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11"/>
                      <a:stretch>
                        <a:fillRect/>
                      </a:stretch>
                    </p:blipFill>
                    <p:spPr>
                      <a:xfrm>
                        <a:off x="3225165" y="5578498"/>
                        <a:ext cx="693738" cy="295275"/>
                      </a:xfrm>
                      <a:prstGeom prst="rect">
                        <a:avLst/>
                      </a:prstGeom>
                      <a:solidFill>
                        <a:schemeClr val="bg1"/>
                      </a:solidFill>
                    </p:spPr>
                  </p:pic>
                </p:oleObj>
              </mc:Fallback>
            </mc:AlternateContent>
          </a:graphicData>
        </a:graphic>
      </p:graphicFrame>
      <p:graphicFrame>
        <p:nvGraphicFramePr>
          <p:cNvPr id="24" name="Object 23">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932205" y="5983222"/>
          <a:ext cx="1154112" cy="295275"/>
        </p:xfrm>
        <a:graphic>
          <a:graphicData uri="http://schemas.openxmlformats.org/presentationml/2006/ole">
            <mc:AlternateContent xmlns:mc="http://schemas.openxmlformats.org/markup-compatibility/2006">
              <mc:Choice xmlns:v="urn:schemas-microsoft-com:vml" Requires="v">
                <p:oleObj name="Equation" r:id="rId12" imgW="1688760" imgH="431640" progId="Equation.DSMT4">
                  <p:embed/>
                </p:oleObj>
              </mc:Choice>
              <mc:Fallback>
                <p:oleObj name="Equation" r:id="rId12" imgW="1688760" imgH="431640" progId="Equation.DSMT4">
                  <p:embed/>
                  <p:pic>
                    <p:nvPicPr>
                      <p:cNvPr id="24" name="Object 23">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13"/>
                      <a:stretch>
                        <a:fillRect/>
                      </a:stretch>
                    </p:blipFill>
                    <p:spPr>
                      <a:xfrm>
                        <a:off x="932205" y="5983222"/>
                        <a:ext cx="1154112" cy="295275"/>
                      </a:xfrm>
                      <a:prstGeom prst="rect">
                        <a:avLst/>
                      </a:prstGeom>
                      <a:solidFill>
                        <a:schemeClr val="bg1"/>
                      </a:solidFill>
                    </p:spPr>
                  </p:pic>
                </p:oleObj>
              </mc:Fallback>
            </mc:AlternateContent>
          </a:graphicData>
        </a:graphic>
      </p:graphicFrame>
      <p:graphicFrame>
        <p:nvGraphicFramePr>
          <p:cNvPr id="25" name="Object 24">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GraphicFramePr>
            <a:graphicFrameLocks noChangeAspect="1"/>
          </p:cNvGraphicFramePr>
          <p:nvPr/>
        </p:nvGraphicFramePr>
        <p:xfrm>
          <a:off x="3046413" y="5977000"/>
          <a:ext cx="1169987" cy="295275"/>
        </p:xfrm>
        <a:graphic>
          <a:graphicData uri="http://schemas.openxmlformats.org/presentationml/2006/ole">
            <mc:AlternateContent xmlns:mc="http://schemas.openxmlformats.org/markup-compatibility/2006">
              <mc:Choice xmlns:v="urn:schemas-microsoft-com:vml" Requires="v">
                <p:oleObj name="Equation" r:id="rId14" imgW="1714320" imgH="431640" progId="Equation.DSMT4">
                  <p:embed/>
                </p:oleObj>
              </mc:Choice>
              <mc:Fallback>
                <p:oleObj name="Equation" r:id="rId14" imgW="1714320" imgH="431640" progId="Equation.DSMT4">
                  <p:embed/>
                  <p:pic>
                    <p:nvPicPr>
                      <p:cNvPr id="25" name="Object 24">
                        <a:extLst>
                          <a:ext uri="{FF2B5EF4-FFF2-40B4-BE49-F238E27FC236}">
                            <a16:creationId xmlns:a16="http://schemas.microsoft.com/office/drawing/2014/main" id="{7B50FC36-47F3-4AB5-840B-F2727354630E}"/>
                          </a:ext>
                          <a:ext uri="{C183D7F6-B498-43B3-948B-1728B52AA6E4}">
                            <adec:decorative xmlns:adec="http://schemas.microsoft.com/office/drawing/2017/decorative" val="1"/>
                          </a:ext>
                        </a:extLst>
                      </p:cNvPr>
                      <p:cNvPicPr/>
                      <p:nvPr/>
                    </p:nvPicPr>
                    <p:blipFill>
                      <a:blip r:embed="rId15"/>
                      <a:stretch>
                        <a:fillRect/>
                      </a:stretch>
                    </p:blipFill>
                    <p:spPr>
                      <a:xfrm>
                        <a:off x="3046413" y="5977000"/>
                        <a:ext cx="1169987" cy="295275"/>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285072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(5 of 8)</a:t>
            </a:r>
          </a:p>
        </p:txBody>
      </p:sp>
      <p:sp>
        <p:nvSpPr>
          <p:cNvPr id="18" name="Content Placeholder 17"/>
          <p:cNvSpPr>
            <a:spLocks noGrp="1"/>
          </p:cNvSpPr>
          <p:nvPr>
            <p:ph sz="quarter" idx="13"/>
          </p:nvPr>
        </p:nvSpPr>
        <p:spPr>
          <a:xfrm>
            <a:off x="457200" y="1552574"/>
            <a:ext cx="7903029" cy="786865"/>
          </a:xfrm>
        </p:spPr>
        <p:txBody>
          <a:bodyPr/>
          <a:lstStyle/>
          <a:p>
            <a:pPr marL="0" indent="0">
              <a:spcBef>
                <a:spcPts val="600"/>
              </a:spcBef>
              <a:buNone/>
            </a:pPr>
            <a:r>
              <a:rPr lang="en-US" sz="2200" b="1" dirty="0">
                <a:solidFill>
                  <a:schemeClr val="tx1"/>
                </a:solidFill>
              </a:rPr>
              <a:t>Solution:</a:t>
            </a:r>
          </a:p>
          <a:p>
            <a:pPr marL="0" indent="0">
              <a:spcBef>
                <a:spcPts val="600"/>
              </a:spcBef>
              <a:buNone/>
            </a:pPr>
            <a:r>
              <a:rPr lang="en-US" sz="2200" dirty="0">
                <a:solidFill>
                  <a:schemeClr val="tx1"/>
                </a:solidFill>
              </a:rPr>
              <a:t>The samples are random and independent. Also, the weighted</a:t>
            </a:r>
          </a:p>
        </p:txBody>
      </p:sp>
      <p:sp>
        <p:nvSpPr>
          <p:cNvPr id="19" name="Content Placeholder 18"/>
          <p:cNvSpPr>
            <a:spLocks noGrp="1"/>
          </p:cNvSpPr>
          <p:nvPr>
            <p:ph sz="quarter" idx="14"/>
          </p:nvPr>
        </p:nvSpPr>
        <p:spPr>
          <a:xfrm>
            <a:off x="457199" y="2423353"/>
            <a:ext cx="1490353" cy="367349"/>
          </a:xfrm>
        </p:spPr>
        <p:txBody>
          <a:bodyPr/>
          <a:lstStyle/>
          <a:p>
            <a:pPr marL="0" indent="0">
              <a:buNone/>
            </a:pPr>
            <a:r>
              <a:rPr lang="en-US" sz="2200" dirty="0">
                <a:solidFill>
                  <a:schemeClr val="tx1"/>
                </a:solidFill>
              </a:rPr>
              <a:t>estimate of</a:t>
            </a:r>
          </a:p>
        </p:txBody>
      </p:sp>
      <p:graphicFrame>
        <p:nvGraphicFramePr>
          <p:cNvPr id="32" name="Object 31" descr="p subscript 1 and p subscript 2 is">
            <a:extLst>
              <a:ext uri="{FF2B5EF4-FFF2-40B4-BE49-F238E27FC236}">
                <a16:creationId xmlns:a16="http://schemas.microsoft.com/office/drawing/2014/main" id="{A88D578B-BA0C-4B4B-862D-48C47E281749}"/>
              </a:ext>
            </a:extLst>
          </p:cNvPr>
          <p:cNvGraphicFramePr>
            <a:graphicFrameLocks noChangeAspect="1"/>
          </p:cNvGraphicFramePr>
          <p:nvPr/>
        </p:nvGraphicFramePr>
        <p:xfrm>
          <a:off x="2011152" y="2423506"/>
          <a:ext cx="1400739" cy="355039"/>
        </p:xfrm>
        <a:graphic>
          <a:graphicData uri="http://schemas.openxmlformats.org/presentationml/2006/ole">
            <mc:AlternateContent xmlns:mc="http://schemas.openxmlformats.org/markup-compatibility/2006">
              <mc:Choice xmlns:v="urn:schemas-microsoft-com:vml" Requires="v">
                <p:oleObj name="Equation" r:id="rId2" imgW="1701720" imgH="431640" progId="Equation.DSMT4">
                  <p:embed/>
                </p:oleObj>
              </mc:Choice>
              <mc:Fallback>
                <p:oleObj name="Equation" r:id="rId2" imgW="1701720" imgH="431640" progId="Equation.DSMT4">
                  <p:embed/>
                  <p:pic>
                    <p:nvPicPr>
                      <p:cNvPr id="32" name="Object 31" descr="p subscript 1 and p subscript 2 is">
                        <a:extLst>
                          <a:ext uri="{FF2B5EF4-FFF2-40B4-BE49-F238E27FC236}">
                            <a16:creationId xmlns:a16="http://schemas.microsoft.com/office/drawing/2014/main" id="{A88D578B-BA0C-4B4B-862D-48C47E281749}"/>
                          </a:ext>
                        </a:extLst>
                      </p:cNvPr>
                      <p:cNvPicPr/>
                      <p:nvPr/>
                    </p:nvPicPr>
                    <p:blipFill>
                      <a:blip r:embed="rId3"/>
                      <a:stretch>
                        <a:fillRect/>
                      </a:stretch>
                    </p:blipFill>
                    <p:spPr>
                      <a:xfrm>
                        <a:off x="2011152" y="2423506"/>
                        <a:ext cx="1400739" cy="355039"/>
                      </a:xfrm>
                      <a:prstGeom prst="rect">
                        <a:avLst/>
                      </a:prstGeom>
                    </p:spPr>
                  </p:pic>
                </p:oleObj>
              </mc:Fallback>
            </mc:AlternateContent>
          </a:graphicData>
        </a:graphic>
      </p:graphicFrame>
      <p:graphicFrame>
        <p:nvGraphicFramePr>
          <p:cNvPr id="33" name="Object 32" descr="p bar = start fraction x sub 1 + x sub 2 over n sub 1 + n sub 2 end fraction = start fraction 28 + 12 over 42 + 37 end fraction approximately equal to 0.5063.">
            <a:extLst>
              <a:ext uri="{FF2B5EF4-FFF2-40B4-BE49-F238E27FC236}">
                <a16:creationId xmlns:a16="http://schemas.microsoft.com/office/drawing/2014/main" id="{C897086A-8ACD-4663-9ACC-6CA4CFC3FE55}"/>
              </a:ext>
            </a:extLst>
          </p:cNvPr>
          <p:cNvGraphicFramePr>
            <a:graphicFrameLocks noChangeAspect="1"/>
          </p:cNvGraphicFramePr>
          <p:nvPr/>
        </p:nvGraphicFramePr>
        <p:xfrm>
          <a:off x="2776538" y="2859088"/>
          <a:ext cx="3590925" cy="757237"/>
        </p:xfrm>
        <a:graphic>
          <a:graphicData uri="http://schemas.openxmlformats.org/presentationml/2006/ole">
            <mc:AlternateContent xmlns:mc="http://schemas.openxmlformats.org/markup-compatibility/2006">
              <mc:Choice xmlns:v="urn:schemas-microsoft-com:vml" Requires="v">
                <p:oleObj name="Equation" r:id="rId4" imgW="4343400" imgH="914400" progId="Equation.DSMT4">
                  <p:embed/>
                </p:oleObj>
              </mc:Choice>
              <mc:Fallback>
                <p:oleObj name="Equation" r:id="rId4" imgW="4343400" imgH="914400" progId="Equation.DSMT4">
                  <p:embed/>
                  <p:pic>
                    <p:nvPicPr>
                      <p:cNvPr id="33" name="Object 32" descr="p bar = start fraction x sub 1 + x sub 2 over n sub 1 + n sub 2 end fraction = start fraction 28 + 12 over 42 + 37 end fraction approximately equal to 0.5063.">
                        <a:extLst>
                          <a:ext uri="{FF2B5EF4-FFF2-40B4-BE49-F238E27FC236}">
                            <a16:creationId xmlns:a16="http://schemas.microsoft.com/office/drawing/2014/main" id="{C897086A-8ACD-4663-9ACC-6CA4CFC3FE55}"/>
                          </a:ext>
                        </a:extLst>
                      </p:cNvPr>
                      <p:cNvPicPr/>
                      <p:nvPr/>
                    </p:nvPicPr>
                    <p:blipFill>
                      <a:blip r:embed="rId5"/>
                      <a:stretch>
                        <a:fillRect/>
                      </a:stretch>
                    </p:blipFill>
                    <p:spPr>
                      <a:xfrm>
                        <a:off x="2776538" y="2859088"/>
                        <a:ext cx="3590925" cy="757237"/>
                      </a:xfrm>
                      <a:prstGeom prst="rect">
                        <a:avLst/>
                      </a:prstGeom>
                    </p:spPr>
                  </p:pic>
                </p:oleObj>
              </mc:Fallback>
            </mc:AlternateContent>
          </a:graphicData>
        </a:graphic>
      </p:graphicFrame>
      <p:sp>
        <p:nvSpPr>
          <p:cNvPr id="20" name="Content Placeholder 19"/>
          <p:cNvSpPr>
            <a:spLocks noGrp="1"/>
          </p:cNvSpPr>
          <p:nvPr>
            <p:ph sz="quarter" idx="15"/>
          </p:nvPr>
        </p:nvSpPr>
        <p:spPr>
          <a:xfrm>
            <a:off x="457201" y="3689672"/>
            <a:ext cx="2107869" cy="423071"/>
          </a:xfrm>
        </p:spPr>
        <p:txBody>
          <a:bodyPr/>
          <a:lstStyle/>
          <a:p>
            <a:pPr marL="0" indent="0">
              <a:buNone/>
            </a:pPr>
            <a:r>
              <a:rPr lang="en-US" sz="2200" dirty="0"/>
              <a:t>and the value of</a:t>
            </a:r>
          </a:p>
        </p:txBody>
      </p:sp>
      <p:graphicFrame>
        <p:nvGraphicFramePr>
          <p:cNvPr id="14" name="Object 13" descr="q bar is">
            <a:extLst>
              <a:ext uri="{FF2B5EF4-FFF2-40B4-BE49-F238E27FC236}">
                <a16:creationId xmlns:a16="http://schemas.microsoft.com/office/drawing/2014/main" id="{C897086A-8ACD-4663-9ACC-6CA4CFC3FE55}"/>
              </a:ext>
            </a:extLst>
          </p:cNvPr>
          <p:cNvGraphicFramePr>
            <a:graphicFrameLocks noChangeAspect="1"/>
          </p:cNvGraphicFramePr>
          <p:nvPr/>
        </p:nvGraphicFramePr>
        <p:xfrm>
          <a:off x="2652729" y="3701685"/>
          <a:ext cx="461963" cy="315913"/>
        </p:xfrm>
        <a:graphic>
          <a:graphicData uri="http://schemas.openxmlformats.org/presentationml/2006/ole">
            <mc:AlternateContent xmlns:mc="http://schemas.openxmlformats.org/markup-compatibility/2006">
              <mc:Choice xmlns:v="urn:schemas-microsoft-com:vml" Requires="v">
                <p:oleObj name="Equation" r:id="rId6" imgW="558720" imgH="380880" progId="Equation.DSMT4">
                  <p:embed/>
                </p:oleObj>
              </mc:Choice>
              <mc:Fallback>
                <p:oleObj name="Equation" r:id="rId6" imgW="558720" imgH="380880" progId="Equation.DSMT4">
                  <p:embed/>
                  <p:pic>
                    <p:nvPicPr>
                      <p:cNvPr id="14" name="Object 13" descr="q bar is">
                        <a:extLst>
                          <a:ext uri="{FF2B5EF4-FFF2-40B4-BE49-F238E27FC236}">
                            <a16:creationId xmlns:a16="http://schemas.microsoft.com/office/drawing/2014/main" id="{C897086A-8ACD-4663-9ACC-6CA4CFC3FE55}"/>
                          </a:ext>
                        </a:extLst>
                      </p:cNvPr>
                      <p:cNvPicPr/>
                      <p:nvPr/>
                    </p:nvPicPr>
                    <p:blipFill>
                      <a:blip r:embed="rId7"/>
                      <a:stretch>
                        <a:fillRect/>
                      </a:stretch>
                    </p:blipFill>
                    <p:spPr>
                      <a:xfrm>
                        <a:off x="2652729" y="3701685"/>
                        <a:ext cx="461963" cy="315913"/>
                      </a:xfrm>
                      <a:prstGeom prst="rect">
                        <a:avLst/>
                      </a:prstGeom>
                    </p:spPr>
                  </p:pic>
                </p:oleObj>
              </mc:Fallback>
            </mc:AlternateContent>
          </a:graphicData>
        </a:graphic>
      </p:graphicFrame>
      <p:graphicFrame>
        <p:nvGraphicFramePr>
          <p:cNvPr id="34" name="Object 33" descr="q bar = 1 minus p bar approximately equal to 1 minus 0.5063 = 0.4937.">
            <a:extLst>
              <a:ext uri="{FF2B5EF4-FFF2-40B4-BE49-F238E27FC236}">
                <a16:creationId xmlns:a16="http://schemas.microsoft.com/office/drawing/2014/main" id="{54C332B4-A400-47F8-9041-335334056555}"/>
              </a:ext>
            </a:extLst>
          </p:cNvPr>
          <p:cNvGraphicFramePr>
            <a:graphicFrameLocks noChangeAspect="1"/>
          </p:cNvGraphicFramePr>
          <p:nvPr/>
        </p:nvGraphicFramePr>
        <p:xfrm>
          <a:off x="2732088" y="4222750"/>
          <a:ext cx="3681412" cy="327025"/>
        </p:xfrm>
        <a:graphic>
          <a:graphicData uri="http://schemas.openxmlformats.org/presentationml/2006/ole">
            <mc:AlternateContent xmlns:mc="http://schemas.openxmlformats.org/markup-compatibility/2006">
              <mc:Choice xmlns:v="urn:schemas-microsoft-com:vml" Requires="v">
                <p:oleObj name="Equation" r:id="rId8" imgW="4457520" imgH="393480" progId="Equation.DSMT4">
                  <p:embed/>
                </p:oleObj>
              </mc:Choice>
              <mc:Fallback>
                <p:oleObj name="Equation" r:id="rId8" imgW="4457520" imgH="393480" progId="Equation.DSMT4">
                  <p:embed/>
                  <p:pic>
                    <p:nvPicPr>
                      <p:cNvPr id="34" name="Object 33" descr="q bar = 1 minus p bar approximately equal to 1 minus 0.5063 = 0.4937.">
                        <a:extLst>
                          <a:ext uri="{FF2B5EF4-FFF2-40B4-BE49-F238E27FC236}">
                            <a16:creationId xmlns:a16="http://schemas.microsoft.com/office/drawing/2014/main" id="{54C332B4-A400-47F8-9041-335334056555}"/>
                          </a:ext>
                        </a:extLst>
                      </p:cNvPr>
                      <p:cNvPicPr/>
                      <p:nvPr/>
                    </p:nvPicPr>
                    <p:blipFill>
                      <a:blip r:embed="rId9"/>
                      <a:stretch>
                        <a:fillRect/>
                      </a:stretch>
                    </p:blipFill>
                    <p:spPr>
                      <a:xfrm>
                        <a:off x="2732088" y="4222750"/>
                        <a:ext cx="3681412" cy="327025"/>
                      </a:xfrm>
                      <a:prstGeom prst="rect">
                        <a:avLst/>
                      </a:prstGeom>
                    </p:spPr>
                  </p:pic>
                </p:oleObj>
              </mc:Fallback>
            </mc:AlternateContent>
          </a:graphicData>
        </a:graphic>
      </p:graphicFrame>
      <p:sp>
        <p:nvSpPr>
          <p:cNvPr id="21" name="Content Placeholder 20"/>
          <p:cNvSpPr>
            <a:spLocks noGrp="1"/>
          </p:cNvSpPr>
          <p:nvPr>
            <p:ph sz="quarter" idx="16"/>
          </p:nvPr>
        </p:nvSpPr>
        <p:spPr>
          <a:xfrm>
            <a:off x="457200" y="4684031"/>
            <a:ext cx="1252847" cy="386733"/>
          </a:xfrm>
        </p:spPr>
        <p:txBody>
          <a:bodyPr/>
          <a:lstStyle/>
          <a:p>
            <a:pPr marL="432" indent="0">
              <a:buNone/>
            </a:pPr>
            <a:r>
              <a:rPr lang="en-US" sz="2200" dirty="0"/>
              <a:t>Because</a:t>
            </a:r>
          </a:p>
        </p:txBody>
      </p:sp>
      <p:graphicFrame>
        <p:nvGraphicFramePr>
          <p:cNvPr id="35" name="Object 34" descr="n sub 1 p bar approximately equal to 42 times 0.5063, n sub 1 q bar approximately equal to 42 times 0.4937, n sub 2 p bar approximately equal to 37 times 0.5063,">
            <a:extLst>
              <a:ext uri="{FF2B5EF4-FFF2-40B4-BE49-F238E27FC236}">
                <a16:creationId xmlns:a16="http://schemas.microsoft.com/office/drawing/2014/main" id="{67D82ECB-16EA-4FC9-948E-50E3F356A182}"/>
              </a:ext>
            </a:extLst>
          </p:cNvPr>
          <p:cNvGraphicFramePr>
            <a:graphicFrameLocks noChangeAspect="1"/>
          </p:cNvGraphicFramePr>
          <p:nvPr/>
        </p:nvGraphicFramePr>
        <p:xfrm>
          <a:off x="1770785" y="4678363"/>
          <a:ext cx="6615113" cy="398462"/>
        </p:xfrm>
        <a:graphic>
          <a:graphicData uri="http://schemas.openxmlformats.org/presentationml/2006/ole">
            <mc:AlternateContent xmlns:mc="http://schemas.openxmlformats.org/markup-compatibility/2006">
              <mc:Choice xmlns:v="urn:schemas-microsoft-com:vml" Requires="v">
                <p:oleObj name="Equation" r:id="rId10" imgW="8001000" imgH="482400" progId="Equation.DSMT4">
                  <p:embed/>
                </p:oleObj>
              </mc:Choice>
              <mc:Fallback>
                <p:oleObj name="Equation" r:id="rId10" imgW="8001000" imgH="482400" progId="Equation.DSMT4">
                  <p:embed/>
                  <p:pic>
                    <p:nvPicPr>
                      <p:cNvPr id="35" name="Object 34" descr="n sub 1 p bar approximately equal to 42 times 0.5063, n sub 1 q bar approximately equal to 42 times 0.4937, n sub 2 p bar approximately equal to 37 times 0.5063,">
                        <a:extLst>
                          <a:ext uri="{FF2B5EF4-FFF2-40B4-BE49-F238E27FC236}">
                            <a16:creationId xmlns:a16="http://schemas.microsoft.com/office/drawing/2014/main" id="{67D82ECB-16EA-4FC9-948E-50E3F356A182}"/>
                          </a:ext>
                        </a:extLst>
                      </p:cNvPr>
                      <p:cNvPicPr/>
                      <p:nvPr/>
                    </p:nvPicPr>
                    <p:blipFill>
                      <a:blip r:embed="rId11"/>
                      <a:stretch>
                        <a:fillRect/>
                      </a:stretch>
                    </p:blipFill>
                    <p:spPr>
                      <a:xfrm>
                        <a:off x="1770785" y="4678363"/>
                        <a:ext cx="6615113" cy="398462"/>
                      </a:xfrm>
                      <a:prstGeom prst="rect">
                        <a:avLst/>
                      </a:prstGeom>
                    </p:spPr>
                  </p:pic>
                </p:oleObj>
              </mc:Fallback>
            </mc:AlternateContent>
          </a:graphicData>
        </a:graphic>
      </p:graphicFrame>
      <p:graphicFrame>
        <p:nvGraphicFramePr>
          <p:cNvPr id="36" name="Object 35" descr="and n sub 2 q bar approximately equal to 37 times 0.4937.">
            <a:extLst>
              <a:ext uri="{FF2B5EF4-FFF2-40B4-BE49-F238E27FC236}">
                <a16:creationId xmlns:a16="http://schemas.microsoft.com/office/drawing/2014/main" id="{E2F3AE44-3E6E-4AED-9E7F-5E98AC676EC4}"/>
              </a:ext>
            </a:extLst>
          </p:cNvPr>
          <p:cNvGraphicFramePr>
            <a:graphicFrameLocks noChangeAspect="1"/>
          </p:cNvGraphicFramePr>
          <p:nvPr/>
        </p:nvGraphicFramePr>
        <p:xfrm>
          <a:off x="515938" y="5168900"/>
          <a:ext cx="2613025" cy="398463"/>
        </p:xfrm>
        <a:graphic>
          <a:graphicData uri="http://schemas.openxmlformats.org/presentationml/2006/ole">
            <mc:AlternateContent xmlns:mc="http://schemas.openxmlformats.org/markup-compatibility/2006">
              <mc:Choice xmlns:v="urn:schemas-microsoft-com:vml" Requires="v">
                <p:oleObj name="Equation" r:id="rId12" imgW="3162240" imgH="482400" progId="Equation.DSMT4">
                  <p:embed/>
                </p:oleObj>
              </mc:Choice>
              <mc:Fallback>
                <p:oleObj name="Equation" r:id="rId12" imgW="3162240" imgH="482400" progId="Equation.DSMT4">
                  <p:embed/>
                  <p:pic>
                    <p:nvPicPr>
                      <p:cNvPr id="36" name="Object 35" descr="and n sub 2 q bar approximately equal to 37 times 0.4937.">
                        <a:extLst>
                          <a:ext uri="{FF2B5EF4-FFF2-40B4-BE49-F238E27FC236}">
                            <a16:creationId xmlns:a16="http://schemas.microsoft.com/office/drawing/2014/main" id="{E2F3AE44-3E6E-4AED-9E7F-5E98AC676EC4}"/>
                          </a:ext>
                        </a:extLst>
                      </p:cNvPr>
                      <p:cNvPicPr/>
                      <p:nvPr/>
                    </p:nvPicPr>
                    <p:blipFill>
                      <a:blip r:embed="rId13"/>
                      <a:stretch>
                        <a:fillRect/>
                      </a:stretch>
                    </p:blipFill>
                    <p:spPr>
                      <a:xfrm>
                        <a:off x="515938" y="5168900"/>
                        <a:ext cx="2613025" cy="398463"/>
                      </a:xfrm>
                      <a:prstGeom prst="rect">
                        <a:avLst/>
                      </a:prstGeom>
                    </p:spPr>
                  </p:pic>
                </p:oleObj>
              </mc:Fallback>
            </mc:AlternateContent>
          </a:graphicData>
        </a:graphic>
      </p:graphicFrame>
      <p:sp>
        <p:nvSpPr>
          <p:cNvPr id="22" name="Content Placeholder 21"/>
          <p:cNvSpPr>
            <a:spLocks noGrp="1"/>
          </p:cNvSpPr>
          <p:nvPr>
            <p:ph sz="quarter" idx="17"/>
          </p:nvPr>
        </p:nvSpPr>
        <p:spPr>
          <a:xfrm>
            <a:off x="3313216" y="5169099"/>
            <a:ext cx="5237018" cy="398843"/>
          </a:xfrm>
        </p:spPr>
        <p:txBody>
          <a:bodyPr/>
          <a:lstStyle/>
          <a:p>
            <a:pPr marL="432" indent="0">
              <a:buNone/>
            </a:pPr>
            <a:r>
              <a:rPr lang="en-US" sz="2200" dirty="0"/>
              <a:t>are at least 5, you can use a two-sample</a:t>
            </a:r>
          </a:p>
        </p:txBody>
      </p:sp>
      <p:sp>
        <p:nvSpPr>
          <p:cNvPr id="23" name="Content Placeholder 22"/>
          <p:cNvSpPr>
            <a:spLocks noGrp="1"/>
          </p:cNvSpPr>
          <p:nvPr>
            <p:ph sz="quarter" idx="18"/>
          </p:nvPr>
        </p:nvSpPr>
        <p:spPr>
          <a:xfrm>
            <a:off x="457200" y="5660413"/>
            <a:ext cx="1039091" cy="407878"/>
          </a:xfrm>
        </p:spPr>
        <p:txBody>
          <a:bodyPr/>
          <a:lstStyle/>
          <a:p>
            <a:pPr marL="432" indent="0">
              <a:buNone/>
            </a:pPr>
            <a:r>
              <a:rPr lang="en-US" sz="2200" i="1" dirty="0"/>
              <a:t>z</a:t>
            </a:r>
            <a:r>
              <a:rPr lang="en-US" sz="2200" dirty="0"/>
              <a:t>-test.</a:t>
            </a:r>
          </a:p>
        </p:txBody>
      </p:sp>
    </p:spTree>
    <p:extLst>
      <p:ext uri="{BB962C8B-B14F-4D97-AF65-F5344CB8AC3E}">
        <p14:creationId xmlns:p14="http://schemas.microsoft.com/office/powerpoint/2010/main" val="18296993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(6 of 8)</a:t>
            </a:r>
          </a:p>
        </p:txBody>
      </p:sp>
      <p:sp>
        <p:nvSpPr>
          <p:cNvPr id="3" name="Content Placeholder 2"/>
          <p:cNvSpPr>
            <a:spLocks noGrp="1"/>
          </p:cNvSpPr>
          <p:nvPr>
            <p:ph sz="quarter" idx="13"/>
          </p:nvPr>
        </p:nvSpPr>
        <p:spPr>
          <a:xfrm>
            <a:off x="457200" y="1552576"/>
            <a:ext cx="8201891" cy="1511258"/>
          </a:xfrm>
        </p:spPr>
        <p:txBody>
          <a:bodyPr/>
          <a:lstStyle/>
          <a:p>
            <a:pPr marL="0" indent="0">
              <a:buNone/>
            </a:pPr>
            <a:r>
              <a:rPr lang="en-US" dirty="0"/>
              <a:t>The claim is “the reduction rate in the diagnostic criteria for P</a:t>
            </a:r>
            <a:r>
              <a:rPr lang="en-US" sz="100" dirty="0"/>
              <a:t> </a:t>
            </a:r>
            <a:r>
              <a:rPr lang="en-US" dirty="0"/>
              <a:t>T</a:t>
            </a:r>
            <a:r>
              <a:rPr lang="en-US" sz="100" dirty="0"/>
              <a:t> </a:t>
            </a:r>
            <a:r>
              <a:rPr lang="en-US" dirty="0"/>
              <a:t>S</a:t>
            </a:r>
            <a:r>
              <a:rPr lang="en-US" sz="100" dirty="0"/>
              <a:t> </a:t>
            </a:r>
            <a:r>
              <a:rPr lang="en-US" dirty="0"/>
              <a:t>D is higher for those who took the medication than for those who took the placebo.” So, the null and alternative hypotheses are</a:t>
            </a:r>
          </a:p>
        </p:txBody>
      </p:sp>
      <p:graphicFrame>
        <p:nvGraphicFramePr>
          <p:cNvPr id="18" name="Object 17" descr="H 0 : p sub 1 greater than or equal to p sub 2 and H sub a : p sub 1 less than p sub 2 left parenthesis claim right parenthesis.">
            <a:extLst>
              <a:ext uri="{FF2B5EF4-FFF2-40B4-BE49-F238E27FC236}">
                <a16:creationId xmlns:a16="http://schemas.microsoft.com/office/drawing/2014/main" id="{8A768BD9-2271-4D1C-86DA-282B3FBE04A3}"/>
              </a:ext>
            </a:extLst>
          </p:cNvPr>
          <p:cNvGraphicFramePr>
            <a:graphicFrameLocks noChangeAspect="1"/>
          </p:cNvGraphicFramePr>
          <p:nvPr/>
        </p:nvGraphicFramePr>
        <p:xfrm>
          <a:off x="2154238" y="3179763"/>
          <a:ext cx="4835525" cy="393700"/>
        </p:xfrm>
        <a:graphic>
          <a:graphicData uri="http://schemas.openxmlformats.org/presentationml/2006/ole">
            <mc:AlternateContent xmlns:mc="http://schemas.openxmlformats.org/markup-compatibility/2006">
              <mc:Choice xmlns:v="urn:schemas-microsoft-com:vml" Requires="v">
                <p:oleObj name="Equation" r:id="rId2" imgW="5321160" imgH="431640" progId="Equation.DSMT4">
                  <p:embed/>
                </p:oleObj>
              </mc:Choice>
              <mc:Fallback>
                <p:oleObj name="Equation" r:id="rId2" imgW="5321160" imgH="431640" progId="Equation.DSMT4">
                  <p:embed/>
                  <p:pic>
                    <p:nvPicPr>
                      <p:cNvPr id="18" name="Object 17" descr="H 0 : p sub 1 greater than or equal to p sub 2 and H sub a : p sub 1 less than p sub 2 left parenthesis claim right parenthesis.">
                        <a:extLst>
                          <a:ext uri="{FF2B5EF4-FFF2-40B4-BE49-F238E27FC236}">
                            <a16:creationId xmlns:a16="http://schemas.microsoft.com/office/drawing/2014/main" id="{8A768BD9-2271-4D1C-86DA-282B3FBE04A3}"/>
                          </a:ext>
                        </a:extLst>
                      </p:cNvPr>
                      <p:cNvPicPr/>
                      <p:nvPr/>
                    </p:nvPicPr>
                    <p:blipFill>
                      <a:blip r:embed="rId3"/>
                      <a:stretch>
                        <a:fillRect/>
                      </a:stretch>
                    </p:blipFill>
                    <p:spPr>
                      <a:xfrm>
                        <a:off x="2154238" y="3179763"/>
                        <a:ext cx="4835525" cy="393700"/>
                      </a:xfrm>
                      <a:prstGeom prst="rect">
                        <a:avLst/>
                      </a:prstGeom>
                    </p:spPr>
                  </p:pic>
                </p:oleObj>
              </mc:Fallback>
            </mc:AlternateContent>
          </a:graphicData>
        </a:graphic>
      </p:graphicFrame>
      <p:sp>
        <p:nvSpPr>
          <p:cNvPr id="4" name="Content Placeholder 3"/>
          <p:cNvSpPr>
            <a:spLocks noGrp="1"/>
          </p:cNvSpPr>
          <p:nvPr>
            <p:ph sz="quarter" idx="14"/>
          </p:nvPr>
        </p:nvSpPr>
        <p:spPr>
          <a:xfrm>
            <a:off x="457201" y="3796515"/>
            <a:ext cx="8615548" cy="431087"/>
          </a:xfrm>
        </p:spPr>
        <p:txBody>
          <a:bodyPr/>
          <a:lstStyle/>
          <a:p>
            <a:pPr marL="432" indent="0">
              <a:buNone/>
            </a:pPr>
            <a:r>
              <a:rPr lang="en-US" dirty="0"/>
              <a:t>Because the test is a right-tailed and the level of significance is</a:t>
            </a:r>
          </a:p>
        </p:txBody>
      </p:sp>
      <p:graphicFrame>
        <p:nvGraphicFramePr>
          <p:cNvPr id="19" name="Object 18" descr="alpha equals 0.01">
            <a:extLst>
              <a:ext uri="{FF2B5EF4-FFF2-40B4-BE49-F238E27FC236}">
                <a16:creationId xmlns:a16="http://schemas.microsoft.com/office/drawing/2014/main" id="{9E528670-393D-49C1-AD90-A09BE7D131DB}"/>
              </a:ext>
            </a:extLst>
          </p:cNvPr>
          <p:cNvGraphicFramePr>
            <a:graphicFrameLocks noChangeAspect="1"/>
          </p:cNvGraphicFramePr>
          <p:nvPr/>
        </p:nvGraphicFramePr>
        <p:xfrm>
          <a:off x="485287" y="4315890"/>
          <a:ext cx="1194918" cy="337597"/>
        </p:xfrm>
        <a:graphic>
          <a:graphicData uri="http://schemas.openxmlformats.org/presentationml/2006/ole">
            <mc:AlternateContent xmlns:mc="http://schemas.openxmlformats.org/markup-compatibility/2006">
              <mc:Choice xmlns:v="urn:schemas-microsoft-com:vml" Requires="v">
                <p:oleObj name="Equation" r:id="rId4" imgW="1307880" imgH="368280" progId="Equation.DSMT4">
                  <p:embed/>
                </p:oleObj>
              </mc:Choice>
              <mc:Fallback>
                <p:oleObj name="Equation" r:id="rId4" imgW="1307880" imgH="368280" progId="Equation.DSMT4">
                  <p:embed/>
                  <p:pic>
                    <p:nvPicPr>
                      <p:cNvPr id="19" name="Object 18" descr="alpha equals 0.01">
                        <a:extLst>
                          <a:ext uri="{FF2B5EF4-FFF2-40B4-BE49-F238E27FC236}">
                            <a16:creationId xmlns:a16="http://schemas.microsoft.com/office/drawing/2014/main" id="{9E528670-393D-49C1-AD90-A09BE7D131DB}"/>
                          </a:ext>
                        </a:extLst>
                      </p:cNvPr>
                      <p:cNvPicPr/>
                      <p:nvPr/>
                    </p:nvPicPr>
                    <p:blipFill>
                      <a:blip r:embed="rId5"/>
                      <a:stretch>
                        <a:fillRect/>
                      </a:stretch>
                    </p:blipFill>
                    <p:spPr>
                      <a:xfrm>
                        <a:off x="485287" y="4315890"/>
                        <a:ext cx="1194918" cy="337597"/>
                      </a:xfrm>
                      <a:prstGeom prst="rect">
                        <a:avLst/>
                      </a:prstGeom>
                    </p:spPr>
                  </p:pic>
                </p:oleObj>
              </mc:Fallback>
            </mc:AlternateContent>
          </a:graphicData>
        </a:graphic>
      </p:graphicFrame>
      <p:sp>
        <p:nvSpPr>
          <p:cNvPr id="5" name="Content Placeholder 4"/>
          <p:cNvSpPr>
            <a:spLocks noGrp="1"/>
          </p:cNvSpPr>
          <p:nvPr>
            <p:ph sz="quarter" idx="15"/>
          </p:nvPr>
        </p:nvSpPr>
        <p:spPr>
          <a:xfrm>
            <a:off x="1842653" y="4292144"/>
            <a:ext cx="2840183" cy="410471"/>
          </a:xfrm>
        </p:spPr>
        <p:txBody>
          <a:bodyPr/>
          <a:lstStyle/>
          <a:p>
            <a:pPr marL="432" indent="0">
              <a:buNone/>
            </a:pPr>
            <a:r>
              <a:rPr lang="en-US" dirty="0"/>
              <a:t>the critical values is</a:t>
            </a:r>
          </a:p>
        </p:txBody>
      </p:sp>
      <p:graphicFrame>
        <p:nvGraphicFramePr>
          <p:cNvPr id="20" name="Object 19" descr="Negative z sub 0 = negative 2.33.">
            <a:extLst>
              <a:ext uri="{FF2B5EF4-FFF2-40B4-BE49-F238E27FC236}">
                <a16:creationId xmlns:a16="http://schemas.microsoft.com/office/drawing/2014/main" id="{0DB6496A-A0A7-4C3E-A808-234C0AD8DBED}"/>
              </a:ext>
            </a:extLst>
          </p:cNvPr>
          <p:cNvGraphicFramePr>
            <a:graphicFrameLocks noChangeAspect="1"/>
          </p:cNvGraphicFramePr>
          <p:nvPr/>
        </p:nvGraphicFramePr>
        <p:xfrm>
          <a:off x="4740094" y="4320027"/>
          <a:ext cx="1601787" cy="382588"/>
        </p:xfrm>
        <a:graphic>
          <a:graphicData uri="http://schemas.openxmlformats.org/presentationml/2006/ole">
            <mc:AlternateContent xmlns:mc="http://schemas.openxmlformats.org/markup-compatibility/2006">
              <mc:Choice xmlns:v="urn:schemas-microsoft-com:vml" Requires="v">
                <p:oleObj name="Equation" r:id="rId6" imgW="1650960" imgH="393480" progId="Equation.DSMT4">
                  <p:embed/>
                </p:oleObj>
              </mc:Choice>
              <mc:Fallback>
                <p:oleObj name="Equation" r:id="rId6" imgW="1650960" imgH="393480" progId="Equation.DSMT4">
                  <p:embed/>
                  <p:pic>
                    <p:nvPicPr>
                      <p:cNvPr id="20" name="Object 19" descr="Negative z sub 0 = negative 2.33.">
                        <a:extLst>
                          <a:ext uri="{FF2B5EF4-FFF2-40B4-BE49-F238E27FC236}">
                            <a16:creationId xmlns:a16="http://schemas.microsoft.com/office/drawing/2014/main" id="{0DB6496A-A0A7-4C3E-A808-234C0AD8DBED}"/>
                          </a:ext>
                        </a:extLst>
                      </p:cNvPr>
                      <p:cNvPicPr/>
                      <p:nvPr/>
                    </p:nvPicPr>
                    <p:blipFill>
                      <a:blip r:embed="rId7"/>
                      <a:stretch>
                        <a:fillRect/>
                      </a:stretch>
                    </p:blipFill>
                    <p:spPr>
                      <a:xfrm>
                        <a:off x="4740094" y="4320027"/>
                        <a:ext cx="1601787" cy="382588"/>
                      </a:xfrm>
                      <a:prstGeom prst="rect">
                        <a:avLst/>
                      </a:prstGeom>
                    </p:spPr>
                  </p:pic>
                </p:oleObj>
              </mc:Fallback>
            </mc:AlternateContent>
          </a:graphicData>
        </a:graphic>
      </p:graphicFrame>
      <p:sp>
        <p:nvSpPr>
          <p:cNvPr id="6" name="Content Placeholder 5"/>
          <p:cNvSpPr>
            <a:spLocks noGrp="1"/>
          </p:cNvSpPr>
          <p:nvPr>
            <p:ph sz="quarter" idx="16"/>
          </p:nvPr>
        </p:nvSpPr>
        <p:spPr>
          <a:xfrm>
            <a:off x="457200" y="4759569"/>
            <a:ext cx="3141023" cy="418059"/>
          </a:xfrm>
        </p:spPr>
        <p:txBody>
          <a:bodyPr/>
          <a:lstStyle/>
          <a:p>
            <a:pPr marL="432" indent="0">
              <a:buNone/>
            </a:pPr>
            <a:r>
              <a:rPr lang="en-US" dirty="0"/>
              <a:t>The rejection region is</a:t>
            </a:r>
          </a:p>
        </p:txBody>
      </p:sp>
      <p:graphicFrame>
        <p:nvGraphicFramePr>
          <p:cNvPr id="21" name="Object 20" descr="z less than negative 2.33.">
            <a:extLst>
              <a:ext uri="{FF2B5EF4-FFF2-40B4-BE49-F238E27FC236}">
                <a16:creationId xmlns:a16="http://schemas.microsoft.com/office/drawing/2014/main" id="{A87C9B2C-92DA-4A60-96F7-752A78D62F87}"/>
              </a:ext>
            </a:extLst>
          </p:cNvPr>
          <p:cNvGraphicFramePr>
            <a:graphicFrameLocks noChangeAspect="1"/>
          </p:cNvGraphicFramePr>
          <p:nvPr/>
        </p:nvGraphicFramePr>
        <p:xfrm>
          <a:off x="3692525" y="4818063"/>
          <a:ext cx="1311275" cy="273050"/>
        </p:xfrm>
        <a:graphic>
          <a:graphicData uri="http://schemas.openxmlformats.org/presentationml/2006/ole">
            <mc:AlternateContent xmlns:mc="http://schemas.openxmlformats.org/markup-compatibility/2006">
              <mc:Choice xmlns:v="urn:schemas-microsoft-com:vml" Requires="v">
                <p:oleObj name="Equation" r:id="rId8" imgW="1460160" imgH="304560" progId="Equation.DSMT4">
                  <p:embed/>
                </p:oleObj>
              </mc:Choice>
              <mc:Fallback>
                <p:oleObj name="Equation" r:id="rId8" imgW="1460160" imgH="304560" progId="Equation.DSMT4">
                  <p:embed/>
                  <p:pic>
                    <p:nvPicPr>
                      <p:cNvPr id="21" name="Object 20" descr="z less than negative 2.33.">
                        <a:extLst>
                          <a:ext uri="{FF2B5EF4-FFF2-40B4-BE49-F238E27FC236}">
                            <a16:creationId xmlns:a16="http://schemas.microsoft.com/office/drawing/2014/main" id="{A87C9B2C-92DA-4A60-96F7-752A78D62F87}"/>
                          </a:ext>
                        </a:extLst>
                      </p:cNvPr>
                      <p:cNvPicPr/>
                      <p:nvPr/>
                    </p:nvPicPr>
                    <p:blipFill>
                      <a:blip r:embed="rId9"/>
                      <a:stretch>
                        <a:fillRect/>
                      </a:stretch>
                    </p:blipFill>
                    <p:spPr>
                      <a:xfrm>
                        <a:off x="3692525" y="4818063"/>
                        <a:ext cx="1311275" cy="273050"/>
                      </a:xfrm>
                      <a:prstGeom prst="rect">
                        <a:avLst/>
                      </a:prstGeom>
                    </p:spPr>
                  </p:pic>
                </p:oleObj>
              </mc:Fallback>
            </mc:AlternateContent>
          </a:graphicData>
        </a:graphic>
      </p:graphicFrame>
    </p:spTree>
    <p:extLst>
      <p:ext uri="{BB962C8B-B14F-4D97-AF65-F5344CB8AC3E}">
        <p14:creationId xmlns:p14="http://schemas.microsoft.com/office/powerpoint/2010/main" val="32578501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(7 of 8)</a:t>
            </a:r>
          </a:p>
        </p:txBody>
      </p:sp>
      <p:sp>
        <p:nvSpPr>
          <p:cNvPr id="17" name="Content Placeholder 16"/>
          <p:cNvSpPr>
            <a:spLocks noGrp="1"/>
          </p:cNvSpPr>
          <p:nvPr>
            <p:ph sz="quarter" idx="13"/>
          </p:nvPr>
        </p:nvSpPr>
        <p:spPr>
          <a:xfrm>
            <a:off x="457200" y="1556327"/>
            <a:ext cx="4542312" cy="414977"/>
          </a:xfrm>
        </p:spPr>
        <p:txBody>
          <a:bodyPr/>
          <a:lstStyle/>
          <a:p>
            <a:pPr marL="0" indent="0">
              <a:buNone/>
            </a:pPr>
            <a:r>
              <a:rPr lang="en-US" dirty="0"/>
              <a:t>The standardized test statistic is</a:t>
            </a:r>
          </a:p>
        </p:txBody>
      </p:sp>
      <p:graphicFrame>
        <p:nvGraphicFramePr>
          <p:cNvPr id="4" name="Object 3" descr="z = start fraction left parenthesis p sub 1 hat minus p sub 2 hat right parenthesis minus left parenthesis p sub 1 minus p sub 2 right parenthesis over square root of start expression p bar q bar left parenthesis start fraction 1 over n sub 1 end fraction + start fraction 1 over n sub 2 end fraction right parenthesis end fraction approximately equal to start fraction left parenthesis 0.6667 minus 0.3243 right parenthesis minus 0 over square root of start expression left parenthesis 0.5063 right parenthesis left parenthesis 0.4937 right parenthesis left parenthesis start fraction 1 over 42 end fraction + start fraction 1 over 37 end fraction right parenthesis end expression end fraction approximately equal to 3.04.">
            <a:extLst>
              <a:ext uri="{FF2B5EF4-FFF2-40B4-BE49-F238E27FC236}">
                <a16:creationId xmlns:a16="http://schemas.microsoft.com/office/drawing/2014/main" id="{482F9DE0-4742-4F23-809F-A1FD7349FAD4}"/>
              </a:ext>
            </a:extLst>
          </p:cNvPr>
          <p:cNvGraphicFramePr>
            <a:graphicFrameLocks noChangeAspect="1"/>
          </p:cNvGraphicFramePr>
          <p:nvPr/>
        </p:nvGraphicFramePr>
        <p:xfrm>
          <a:off x="457200" y="2214563"/>
          <a:ext cx="7861300" cy="1422400"/>
        </p:xfrm>
        <a:graphic>
          <a:graphicData uri="http://schemas.openxmlformats.org/presentationml/2006/ole">
            <mc:AlternateContent xmlns:mc="http://schemas.openxmlformats.org/markup-compatibility/2006">
              <mc:Choice xmlns:v="urn:schemas-microsoft-com:vml" Requires="v">
                <p:oleObj name="Equation" r:id="rId2" imgW="7860960" imgH="1422360" progId="Equation.DSMT4">
                  <p:embed/>
                </p:oleObj>
              </mc:Choice>
              <mc:Fallback>
                <p:oleObj name="Equation" r:id="rId2" imgW="7860960" imgH="1422360" progId="Equation.DSMT4">
                  <p:embed/>
                  <p:pic>
                    <p:nvPicPr>
                      <p:cNvPr id="4" name="Object 3" descr="z = start fraction left parenthesis p sub 1 hat minus p sub 2 hat right parenthesis minus left parenthesis p sub 1 minus p sub 2 right parenthesis over square root of start expression p bar q bar left parenthesis start fraction 1 over n sub 1 end fraction + start fraction 1 over n sub 2 end fraction right parenthesis end fraction approximately equal to start fraction left parenthesis 0.6667 minus 0.3243 right parenthesis minus 0 over square root of start expression left parenthesis 0.5063 right parenthesis left parenthesis 0.4937 right parenthesis left parenthesis start fraction 1 over 42 end fraction + start fraction 1 over 37 end fraction right parenthesis end expression end fraction approximately equal to 3.04.">
                        <a:extLst>
                          <a:ext uri="{FF2B5EF4-FFF2-40B4-BE49-F238E27FC236}">
                            <a16:creationId xmlns:a16="http://schemas.microsoft.com/office/drawing/2014/main" id="{482F9DE0-4742-4F23-809F-A1FD7349FAD4}"/>
                          </a:ext>
                        </a:extLst>
                      </p:cNvPr>
                      <p:cNvPicPr/>
                      <p:nvPr/>
                    </p:nvPicPr>
                    <p:blipFill>
                      <a:blip r:embed="rId3"/>
                      <a:stretch>
                        <a:fillRect/>
                      </a:stretch>
                    </p:blipFill>
                    <p:spPr>
                      <a:xfrm>
                        <a:off x="457200" y="2214563"/>
                        <a:ext cx="7861300" cy="1422400"/>
                      </a:xfrm>
                      <a:prstGeom prst="rect">
                        <a:avLst/>
                      </a:prstGeom>
                    </p:spPr>
                  </p:pic>
                </p:oleObj>
              </mc:Fallback>
            </mc:AlternateContent>
          </a:graphicData>
        </a:graphic>
      </p:graphicFrame>
    </p:spTree>
    <p:extLst>
      <p:ext uri="{BB962C8B-B14F-4D97-AF65-F5344CB8AC3E}">
        <p14:creationId xmlns:p14="http://schemas.microsoft.com/office/powerpoint/2010/main" val="11025186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Solution: Two-Sample </a:t>
            </a:r>
            <a:r>
              <a:rPr lang="en-US" sz="3400" i="1" dirty="0"/>
              <a:t>z</a:t>
            </a:r>
            <a:r>
              <a:rPr lang="en-US" sz="3400" dirty="0"/>
              <a:t>-Test for the Difference Between Proportions </a:t>
            </a:r>
            <a:r>
              <a:rPr lang="en-US" sz="2000" b="0" dirty="0"/>
              <a:t>(8 of 8)</a:t>
            </a:r>
          </a:p>
        </p:txBody>
      </p:sp>
      <p:sp>
        <p:nvSpPr>
          <p:cNvPr id="3" name="Content Placeholder 2"/>
          <p:cNvSpPr>
            <a:spLocks noGrp="1"/>
          </p:cNvSpPr>
          <p:nvPr>
            <p:ph sz="quarter" idx="13"/>
          </p:nvPr>
        </p:nvSpPr>
        <p:spPr>
          <a:xfrm>
            <a:off x="457200" y="1552576"/>
            <a:ext cx="8057408" cy="1107498"/>
          </a:xfrm>
        </p:spPr>
        <p:txBody>
          <a:bodyPr/>
          <a:lstStyle/>
          <a:p>
            <a:pPr marL="0" indent="0">
              <a:buNone/>
            </a:pPr>
            <a:r>
              <a:rPr lang="en-US" sz="2200" dirty="0">
                <a:solidFill>
                  <a:schemeClr val="tx1"/>
                </a:solidFill>
              </a:rPr>
              <a:t>The figure below shows the location of the rejection region and the standardized test statistic </a:t>
            </a:r>
            <a:r>
              <a:rPr lang="en-US" sz="2200" i="1" dirty="0">
                <a:solidFill>
                  <a:schemeClr val="tx1"/>
                </a:solidFill>
              </a:rPr>
              <a:t>z</a:t>
            </a:r>
            <a:r>
              <a:rPr lang="en-US" sz="2200" dirty="0">
                <a:solidFill>
                  <a:schemeClr val="tx1"/>
                </a:solidFill>
              </a:rPr>
              <a:t>. Because </a:t>
            </a:r>
            <a:r>
              <a:rPr lang="en-US" sz="2200" i="1" dirty="0">
                <a:solidFill>
                  <a:schemeClr val="tx1"/>
                </a:solidFill>
              </a:rPr>
              <a:t>z </a:t>
            </a:r>
            <a:r>
              <a:rPr lang="en-US" sz="2200" dirty="0">
                <a:solidFill>
                  <a:schemeClr val="tx1"/>
                </a:solidFill>
              </a:rPr>
              <a:t>is in the rejection region, you reject the null hypothesis.</a:t>
            </a:r>
          </a:p>
        </p:txBody>
      </p:sp>
      <p:pic>
        <p:nvPicPr>
          <p:cNvPr id="18" name="Content Placeholder 17" descr="A graph shows a normal distribution curve. For long description in Notes pane, press F6."/>
          <p:cNvPicPr>
            <a:picLocks noGrp="1" noChangeAspect="1"/>
          </p:cNvPicPr>
          <p:nvPr>
            <p:ph sz="quarter" idx="14"/>
          </p:nvPr>
        </p:nvPicPr>
        <p:blipFill>
          <a:blip r:embed="rId3"/>
          <a:stretch>
            <a:fillRect/>
          </a:stretch>
        </p:blipFill>
        <p:spPr>
          <a:xfrm>
            <a:off x="457200" y="2983124"/>
            <a:ext cx="3790932" cy="2399815"/>
          </a:xfrm>
          <a:prstGeom prst="rect">
            <a:avLst/>
          </a:prstGeom>
        </p:spPr>
      </p:pic>
      <p:sp>
        <p:nvSpPr>
          <p:cNvPr id="5" name="Content Placeholder 4"/>
          <p:cNvSpPr>
            <a:spLocks noGrp="1"/>
          </p:cNvSpPr>
          <p:nvPr>
            <p:ph sz="quarter" idx="15"/>
          </p:nvPr>
        </p:nvSpPr>
        <p:spPr>
          <a:xfrm>
            <a:off x="4560125" y="2983125"/>
            <a:ext cx="4168239" cy="2859536"/>
          </a:xfrm>
        </p:spPr>
        <p:txBody>
          <a:bodyPr/>
          <a:lstStyle/>
          <a:p>
            <a:pPr marL="432" indent="0">
              <a:buNone/>
            </a:pPr>
            <a:r>
              <a:rPr lang="en-US" sz="2200" dirty="0">
                <a:cs typeface="Times New Roman" panose="02020603050405020304" pitchFamily="18" charset="0"/>
              </a:rPr>
              <a:t>There is enough evidence at the 1% level of significance to support the claim that the reduction rate in the diagnostic criteria for P</a:t>
            </a:r>
            <a:r>
              <a:rPr lang="en-US" sz="100" dirty="0">
                <a:cs typeface="Times New Roman" panose="02020603050405020304" pitchFamily="18" charset="0"/>
              </a:rPr>
              <a:t> </a:t>
            </a:r>
            <a:r>
              <a:rPr lang="en-US" sz="2200" dirty="0">
                <a:cs typeface="Times New Roman" panose="02020603050405020304" pitchFamily="18" charset="0"/>
              </a:rPr>
              <a:t>T</a:t>
            </a:r>
            <a:r>
              <a:rPr lang="en-US" sz="100" dirty="0">
                <a:cs typeface="Times New Roman" panose="02020603050405020304" pitchFamily="18" charset="0"/>
              </a:rPr>
              <a:t> </a:t>
            </a:r>
            <a:r>
              <a:rPr lang="en-US" sz="2200" dirty="0">
                <a:cs typeface="Times New Roman" panose="02020603050405020304" pitchFamily="18" charset="0"/>
              </a:rPr>
              <a:t>S</a:t>
            </a:r>
            <a:r>
              <a:rPr lang="en-US" sz="100" dirty="0">
                <a:cs typeface="Times New Roman" panose="02020603050405020304" pitchFamily="18" charset="0"/>
              </a:rPr>
              <a:t> </a:t>
            </a:r>
            <a:r>
              <a:rPr lang="en-US" sz="2200" dirty="0">
                <a:cs typeface="Times New Roman" panose="02020603050405020304" pitchFamily="18" charset="0"/>
              </a:rPr>
              <a:t>D is higher for those who took the medication than for those who took the placebo.</a:t>
            </a:r>
          </a:p>
        </p:txBody>
      </p:sp>
    </p:spTree>
    <p:extLst>
      <p:ext uri="{BB962C8B-B14F-4D97-AF65-F5344CB8AC3E}">
        <p14:creationId xmlns:p14="http://schemas.microsoft.com/office/powerpoint/2010/main" val="1116254295"/>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150448</TotalTime>
  <Words>7239</Words>
  <Application>Microsoft Office PowerPoint</Application>
  <PresentationFormat>On-screen Show (4:3)</PresentationFormat>
  <Paragraphs>911</Paragraphs>
  <Slides>87</Slides>
  <Notes>15</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87</vt:i4>
      </vt:variant>
    </vt:vector>
  </HeadingPairs>
  <TitlesOfParts>
    <vt:vector size="98" baseType="lpstr">
      <vt:lpstr>Arial</vt:lpstr>
      <vt:lpstr>Calibri</vt:lpstr>
      <vt:lpstr>MS PGothic</vt:lpstr>
      <vt:lpstr>Wingdings</vt:lpstr>
      <vt:lpstr>Verdana</vt:lpstr>
      <vt:lpstr>Symbol</vt:lpstr>
      <vt:lpstr>Noto Sans Symbols</vt:lpstr>
      <vt:lpstr>Times New Roman</vt:lpstr>
      <vt:lpstr>USHE</vt:lpstr>
      <vt:lpstr>USHE_slide options</vt:lpstr>
      <vt:lpstr>Equation</vt:lpstr>
      <vt:lpstr>Inferential Statistics</vt:lpstr>
      <vt:lpstr>Chapter Outline</vt:lpstr>
      <vt:lpstr>Two-Sample Tests</vt:lpstr>
      <vt:lpstr>Section 7.1 Testing the Difference Between Means (Independent Samples, Sigma  1 and Sigma 2 Known)</vt:lpstr>
      <vt:lpstr>Section 7.1 Objectives</vt:lpstr>
      <vt:lpstr>Two Sample Hypothesis Test</vt:lpstr>
      <vt:lpstr>Independent and Dependent Samples</vt:lpstr>
      <vt:lpstr>Example: Independent and Dependent Samples (1 of 2)</vt:lpstr>
      <vt:lpstr>Example: Independent and Dependent Samples (2 of 2)</vt:lpstr>
      <vt:lpstr>Two Sample Hypothesis Test With Independent Samples (1 of 2)</vt:lpstr>
      <vt:lpstr>Two Sample Hypothesis Test With Independent Samples (2 of 2)</vt:lpstr>
      <vt:lpstr>Two Sample z-Test for the Difference Between Means (1 of 4)</vt:lpstr>
      <vt:lpstr>Two Sample z-Test for the Difference Between Means (2 of 4)</vt:lpstr>
      <vt:lpstr>Two Sample z-Test for the Difference Between Means (3 of 4)</vt:lpstr>
      <vt:lpstr>Two Sample z-Test for the Difference Between Means (4 of 4)</vt:lpstr>
      <vt:lpstr>Using a Two-Sample z-Test for the Difference Between Means (Independent Samples, Sigma Subscript 1 and Sigma Subscript 2 Known) (1 of 3)</vt:lpstr>
      <vt:lpstr>Using a Two-Sample z-Test for the Difference Between Means (Independent Samples, Sigma Subscript 1 and Sigma Subscript 2 Known) (2 of 3)</vt:lpstr>
      <vt:lpstr>Using a Two-Sample z-Test for the Difference Between Means (Independent Samples, Sigma Subscript 1 and Sigma Subscript 2 Known) (3 of 3)</vt:lpstr>
      <vt:lpstr>Example: Two-Sample z-Test for the Difference Between Means</vt:lpstr>
      <vt:lpstr>Solution: Two-Sample z-Test for the Difference Between Means (1 of 3)</vt:lpstr>
      <vt:lpstr>Solution: Two-Sample z-Test for the Difference Between Means (2 of 3)</vt:lpstr>
      <vt:lpstr>Solution: Two-Sample z-Test for the Difference Between Means (3 of 3)</vt:lpstr>
      <vt:lpstr>Example 2: Perform a Two-Sample z-Test</vt:lpstr>
      <vt:lpstr>Solution: Using Technology to Perform a Two-Sample z-Test (1 of 3)</vt:lpstr>
      <vt:lpstr>Solution: Using Technology to Perform a Two-Sample z-Test (3 of 3)</vt:lpstr>
      <vt:lpstr>Chapter Outline</vt:lpstr>
      <vt:lpstr>Section 7.2 Objectives</vt:lpstr>
      <vt:lpstr>Two Sample t-Test for the Difference Between Means (1 of 4)</vt:lpstr>
      <vt:lpstr>Two Sample t-Test for the Difference Between Means (2 of 4)</vt:lpstr>
      <vt:lpstr>Two Sample t-Test for the Difference Between Means (3 of 4)</vt:lpstr>
      <vt:lpstr>Two Sample t-Test for the Difference Between Means (4 of 4)</vt:lpstr>
      <vt:lpstr>Two-Sample Tests for Independent Samples</vt:lpstr>
      <vt:lpstr>Two-Sample t-Test for the Difference Between Means (Independent Samples Sigma Subscript 2 and Sigma Subscript 2 Unknown) (1 of 3)</vt:lpstr>
      <vt:lpstr>Two-Sample t-Test for the Difference Between Means (Independent Samples Sigma Subscript 2 and Sigma Subscript 2 Unknown) (2 of 3)</vt:lpstr>
      <vt:lpstr>Two-Sample t-Test for the Difference Between Means (Independent Samples Sigma Subscript 2 and Sigma Subscript 2 Unknown) (3 of 3)</vt:lpstr>
      <vt:lpstr>Example: Two-Sample t-Test for the Difference Between Means (1 of 2)</vt:lpstr>
      <vt:lpstr>Solution: Two-Sample t-Test for the Difference Between Means (1 of 9)</vt:lpstr>
      <vt:lpstr>Solution: Two-Sample t-Test for the Difference Between Means (2 of 9)</vt:lpstr>
      <vt:lpstr>Solution: Two-Sample t-Test for the Difference Between Means (3 of 9)</vt:lpstr>
      <vt:lpstr>Solution: Two-Sample t-Test for the Difference Between Means (4 of 9)</vt:lpstr>
      <vt:lpstr>Example: Two-Sample t-Test for the Difference Between Means (2 of 2)</vt:lpstr>
      <vt:lpstr>Solution: Two-Sample t-Test for the Difference Between Means (5 of 9)</vt:lpstr>
      <vt:lpstr>Solution: Two-Sample t-Test for the Difference Between Means (6 of 9)</vt:lpstr>
      <vt:lpstr>Solution: Two-Sample t-Test for the Difference Between Means (7 of 9)</vt:lpstr>
      <vt:lpstr>Solution: Two-Sample t-Test for the Difference Between Means (8 of 9)</vt:lpstr>
      <vt:lpstr>Solution: Two-Sample t-Test for the Difference Between Means (9 of 9)</vt:lpstr>
      <vt:lpstr>Section 7.3 Testing the Difference Between Means (Dependent Samples)</vt:lpstr>
      <vt:lpstr>t-Test for the Difference Between Means (1 of 4)</vt:lpstr>
      <vt:lpstr>t-Test for the Difference Between Means (2 of 4)</vt:lpstr>
      <vt:lpstr>Symbols used for the t-Test for mu Subscript d (1 of 2)</vt:lpstr>
      <vt:lpstr>Symbols used for the t-Test for mu Subscript d (2 of 2)</vt:lpstr>
      <vt:lpstr>t-Test for the Difference Between Means (3 of 4)</vt:lpstr>
      <vt:lpstr>t-Test for the Difference Between Means (4 of 4)</vt:lpstr>
      <vt:lpstr>t-Test for the Difference Between Means (Dependent Samples) (1 of 3)</vt:lpstr>
      <vt:lpstr>t-Test for the Difference Between Means (Dependent Samples) (2 of 3)</vt:lpstr>
      <vt:lpstr>t-Test for the Difference Between Means (Dependent Samples) (3 of 3)</vt:lpstr>
      <vt:lpstr>Example: t-Test for the Difference Between Means (1 of 3)</vt:lpstr>
      <vt:lpstr>Solution: Two-Sample t-Test for the Difference Between Means (1 of 5)</vt:lpstr>
      <vt:lpstr>Solution: Two-Sample t-Test for the Difference Between Means (2 of 5)</vt:lpstr>
      <vt:lpstr>Solution: Two-Sample t-Test for the Difference Between Means (3 of 5)</vt:lpstr>
      <vt:lpstr>Solution: Two-Sample t-Test for the Difference Between Means (4 of 5)</vt:lpstr>
      <vt:lpstr>Solution: Two-Sample t-Test for the Difference Between Means (5 of 5)</vt:lpstr>
      <vt:lpstr>Example: t-Test for the Difference Between Means (2 of 3)</vt:lpstr>
      <vt:lpstr>Example: t-Test for the Difference Between Means (3 of 3)</vt:lpstr>
      <vt:lpstr>Solution: t-Test for the Difference Between Means (1 of 5)</vt:lpstr>
      <vt:lpstr>Solution: t-Test for the Difference Between Means (2 of 5)</vt:lpstr>
      <vt:lpstr>Solution: t-Test for the Difference Between Means (3 of 5)</vt:lpstr>
      <vt:lpstr>Solution: t-Test for the Difference Between Means (4 of 5)</vt:lpstr>
      <vt:lpstr>Solution: t-Test for the Difference Between Means (5 of 5)</vt:lpstr>
      <vt:lpstr>Section 7.4 Testing the Difference Between Proportions</vt:lpstr>
      <vt:lpstr>Section 7.4 Objectives</vt:lpstr>
      <vt:lpstr>Two-Sample z-Test for Proportions</vt:lpstr>
      <vt:lpstr>Two-Sample z-Test for the Difference Between Proportions (1 of 5)</vt:lpstr>
      <vt:lpstr>Two-Sample z-Test for the Difference Between Proportions (2 of 5)</vt:lpstr>
      <vt:lpstr>Two-Sample z-Test for the Difference Between Proportions (3 of 5)</vt:lpstr>
      <vt:lpstr>Two-Sample z-Test for the Difference Between Proportions (4 of 5)</vt:lpstr>
      <vt:lpstr>Two-Sample z-Test for the Difference Between Proportions (5 of 5)</vt:lpstr>
      <vt:lpstr>Example: Two-Sample z-Test for the Difference Between Proportions (1 of 2)</vt:lpstr>
      <vt:lpstr>Solution: Two-Sample z-Test for the Difference Between Proportions (1 of 8)</vt:lpstr>
      <vt:lpstr>Solution: Two-Sample z-Test for the Difference Between Proportions (2 of 8)</vt:lpstr>
      <vt:lpstr>Solution: Two-Sample z-Test for the Difference Between Proportions (3 of 8)</vt:lpstr>
      <vt:lpstr>Solution: Two-Sample z-Test for the Difference Between Proportions (4 of 8)</vt:lpstr>
      <vt:lpstr>Example: Two-Sample z-Test for the Difference Between Proportions (2 of 2)</vt:lpstr>
      <vt:lpstr>Solution: Two-Sample z-Test for the Difference Between Proportions (5 of 8)</vt:lpstr>
      <vt:lpstr>Solution: Two-Sample z-Test for the Difference Between Proportions (6 of 8)</vt:lpstr>
      <vt:lpstr>Solution: Two-Sample z-Test for the Difference Between Proportions (7 of 8)</vt:lpstr>
      <vt:lpstr>Solution: Two-Sample z-Test for the Difference Between Proportions (8 of 8)</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Elementary Statistics, Eighth Edition, Chapter 8, Hypothesis Testing with Two Samples</dc:title>
  <dc:subject>Math</dc:subject>
  <dc:creator>Larson</dc:creator>
  <cp:keywords>Elementary Statistics</cp:keywords>
  <dc:description>Long description alt-text is inserted in the notes pane; Alt text for images/math equations within table cells have been placed behind the object intentionally to provide a better screen reader user experience.</dc:description>
  <cp:lastModifiedBy>Siham Rahoui</cp:lastModifiedBy>
  <cp:revision>2258</cp:revision>
  <dcterms:modified xsi:type="dcterms:W3CDTF">2024-04-23T22:19:50Z</dcterms:modified>
</cp:coreProperties>
</file>