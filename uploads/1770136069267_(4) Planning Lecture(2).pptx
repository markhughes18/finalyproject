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slides/slide58.xml" ContentType="application/vnd.openxmlformats-officedocument.presentationml.slide+xml"/>
  <Override PartName="/ppt/slides/slide6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Default Extension="jpeg" ContentType="image/jpeg"/>
  <Override PartName="/ppt/slideLayouts/slideLayout3.xml" ContentType="application/vnd.openxmlformats-officedocument.presentationml.slideLayout+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Default Extension="gif" ContentType="image/gif"/>
  <Override PartName="/ppt/slides/slide8.xml" ContentType="application/vnd.openxmlformats-officedocument.presentationml.slide+xml"/>
  <Override PartName="/ppt/slides/slide49.xml" ContentType="application/vnd.openxmlformats-officedocument.presentationml.slide+xml"/>
  <Override PartName="/ppt/handoutMasters/handoutMaster1.xml" ContentType="application/vnd.openxmlformats-officedocument.presentationml.handoutMaster+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69"/>
  </p:notesMasterIdLst>
  <p:handoutMasterIdLst>
    <p:handoutMasterId r:id="rId70"/>
  </p:handoutMasterIdLst>
  <p:sldIdLst>
    <p:sldId id="256" r:id="rId2"/>
    <p:sldId id="265" r:id="rId3"/>
    <p:sldId id="305" r:id="rId4"/>
    <p:sldId id="266" r:id="rId5"/>
    <p:sldId id="330" r:id="rId6"/>
    <p:sldId id="328" r:id="rId7"/>
    <p:sldId id="267" r:id="rId8"/>
    <p:sldId id="329" r:id="rId9"/>
    <p:sldId id="299" r:id="rId10"/>
    <p:sldId id="314" r:id="rId11"/>
    <p:sldId id="331" r:id="rId12"/>
    <p:sldId id="315" r:id="rId13"/>
    <p:sldId id="268" r:id="rId14"/>
    <p:sldId id="258" r:id="rId15"/>
    <p:sldId id="332" r:id="rId16"/>
    <p:sldId id="316" r:id="rId17"/>
    <p:sldId id="273" r:id="rId18"/>
    <p:sldId id="317" r:id="rId19"/>
    <p:sldId id="272" r:id="rId20"/>
    <p:sldId id="333" r:id="rId21"/>
    <p:sldId id="259" r:id="rId22"/>
    <p:sldId id="318" r:id="rId23"/>
    <p:sldId id="275" r:id="rId24"/>
    <p:sldId id="319" r:id="rId25"/>
    <p:sldId id="276" r:id="rId26"/>
    <p:sldId id="334" r:id="rId27"/>
    <p:sldId id="277" r:id="rId28"/>
    <p:sldId id="320" r:id="rId29"/>
    <p:sldId id="321" r:id="rId30"/>
    <p:sldId id="301" r:id="rId31"/>
    <p:sldId id="279" r:id="rId32"/>
    <p:sldId id="335" r:id="rId33"/>
    <p:sldId id="300" r:id="rId34"/>
    <p:sldId id="302" r:id="rId35"/>
    <p:sldId id="281" r:id="rId36"/>
    <p:sldId id="336" r:id="rId37"/>
    <p:sldId id="274" r:id="rId38"/>
    <p:sldId id="303" r:id="rId39"/>
    <p:sldId id="337" r:id="rId40"/>
    <p:sldId id="304" r:id="rId41"/>
    <p:sldId id="282" r:id="rId42"/>
    <p:sldId id="322" r:id="rId43"/>
    <p:sldId id="323" r:id="rId44"/>
    <p:sldId id="284" r:id="rId45"/>
    <p:sldId id="324" r:id="rId46"/>
    <p:sldId id="338" r:id="rId47"/>
    <p:sldId id="285" r:id="rId48"/>
    <p:sldId id="286" r:id="rId49"/>
    <p:sldId id="309" r:id="rId50"/>
    <p:sldId id="340" r:id="rId51"/>
    <p:sldId id="341" r:id="rId52"/>
    <p:sldId id="306" r:id="rId53"/>
    <p:sldId id="287" r:id="rId54"/>
    <p:sldId id="325" r:id="rId55"/>
    <p:sldId id="339" r:id="rId56"/>
    <p:sldId id="326" r:id="rId57"/>
    <p:sldId id="288" r:id="rId58"/>
    <p:sldId id="310" r:id="rId59"/>
    <p:sldId id="311" r:id="rId60"/>
    <p:sldId id="327" r:id="rId61"/>
    <p:sldId id="342" r:id="rId62"/>
    <p:sldId id="289" r:id="rId63"/>
    <p:sldId id="312" r:id="rId64"/>
    <p:sldId id="343" r:id="rId65"/>
    <p:sldId id="344" r:id="rId66"/>
    <p:sldId id="260" r:id="rId67"/>
    <p:sldId id="313" r:id="rId6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546" y="-108"/>
      </p:cViewPr>
      <p:guideLst>
        <p:guide orient="horz" pos="2160"/>
        <p:guide pos="2880"/>
      </p:guideLst>
    </p:cSldViewPr>
  </p:slideViewPr>
  <p:notesTextViewPr>
    <p:cViewPr>
      <p:scale>
        <a:sx n="100" d="100"/>
        <a:sy n="100" d="100"/>
      </p:scale>
      <p:origin x="0" y="0"/>
    </p:cViewPr>
  </p:notesTextViewPr>
  <p:notesViewPr>
    <p:cSldViewPr>
      <p:cViewPr varScale="1">
        <p:scale>
          <a:sx n="56" d="100"/>
          <a:sy n="56" d="100"/>
        </p:scale>
        <p:origin x="-1860" y="-96"/>
      </p:cViewPr>
      <p:guideLst>
        <p:guide orient="horz" pos="2880"/>
        <p:guide pos="2160"/>
      </p:guideLst>
    </p:cSldViewPr>
  </p:notes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 Type="http://schemas.openxmlformats.org/officeDocument/2006/relationships/slide" Target="slides/slide6.xml"/><Relationship Id="rId71"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r>
              <a:rPr lang="en-GB" dirty="0" smtClean="0"/>
              <a:t>Lecture Notes - Principles of Management :  Planning  (</a:t>
            </a:r>
            <a:r>
              <a:rPr lang="en-GB" dirty="0" err="1" smtClean="0"/>
              <a:t>Orla</a:t>
            </a:r>
            <a:r>
              <a:rPr lang="en-GB" dirty="0" smtClean="0"/>
              <a:t> Gregory</a:t>
            </a:r>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ECCE2DB-1AFA-474D-B4D6-2374AEB04EE8}" type="slidenum">
              <a:rPr lang="en-US" smtClean="0"/>
              <a:pPr/>
              <a:t>‹#›</a:t>
            </a:fld>
            <a:endParaRPr lang="en-US" dirty="0"/>
          </a:p>
        </p:txBody>
      </p:sp>
    </p:spTree>
    <p:extLst>
      <p:ext uri="{BB962C8B-B14F-4D97-AF65-F5344CB8AC3E}">
        <p14:creationId xmlns:p14="http://schemas.microsoft.com/office/powerpoint/2010/main" xmlns="" val="88285038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74BAAFC-2195-4495-B5FC-8B2670A54BE2}" type="datetimeFigureOut">
              <a:rPr lang="en-US" smtClean="0"/>
              <a:pPr/>
              <a:t>7/31/2014</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BEC6DB4-22DA-4732-B751-13D47725E256}" type="slidenum">
              <a:rPr lang="en-US" smtClean="0"/>
              <a:pPr/>
              <a:t>‹#›</a:t>
            </a:fld>
            <a:endParaRPr lang="en-US" dirty="0"/>
          </a:p>
        </p:txBody>
      </p:sp>
    </p:spTree>
    <p:extLst>
      <p:ext uri="{BB962C8B-B14F-4D97-AF65-F5344CB8AC3E}">
        <p14:creationId xmlns:p14="http://schemas.microsoft.com/office/powerpoint/2010/main" xmlns="" val="288073102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BEC6DB4-22DA-4732-B751-13D47725E256}" type="slidenum">
              <a:rPr lang="en-US" smtClean="0"/>
              <a:pPr/>
              <a:t>13</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grpSp>
        <p:nvGrpSpPr>
          <p:cNvPr id="7" name="Group 16"/>
          <p:cNvGrpSpPr/>
          <p:nvPr/>
        </p:nvGrpSpPr>
        <p:grpSpPr>
          <a:xfrm>
            <a:off x="0" y="3268345"/>
            <a:ext cx="9144000" cy="146304"/>
            <a:chOff x="0" y="3268345"/>
            <a:chExt cx="9144000" cy="146304"/>
          </a:xfrm>
        </p:grpSpPr>
        <p:sp>
          <p:nvSpPr>
            <p:cNvPr id="13" name="Rectangle 12"/>
            <p:cNvSpPr/>
            <p:nvPr userDrawn="1"/>
          </p:nvSpPr>
          <p:spPr>
            <a:xfrm>
              <a:off x="0" y="3268345"/>
              <a:ext cx="9144000" cy="14630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p:cNvSpPr/>
            <p:nvPr userDrawn="1"/>
          </p:nvSpPr>
          <p:spPr>
            <a:xfrm>
              <a:off x="5181600" y="3268345"/>
              <a:ext cx="1097280" cy="14630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p:cNvSpPr/>
            <p:nvPr userDrawn="1"/>
          </p:nvSpPr>
          <p:spPr>
            <a:xfrm>
              <a:off x="6278880" y="3268345"/>
              <a:ext cx="1097280" cy="14630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p:cNvSpPr/>
            <p:nvPr userDrawn="1"/>
          </p:nvSpPr>
          <p:spPr>
            <a:xfrm>
              <a:off x="7376160" y="3268345"/>
              <a:ext cx="1097280" cy="14630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 name="Title 1"/>
          <p:cNvSpPr>
            <a:spLocks noGrp="1"/>
          </p:cNvSpPr>
          <p:nvPr>
            <p:ph type="ctrTitle"/>
          </p:nvPr>
        </p:nvSpPr>
        <p:spPr>
          <a:xfrm>
            <a:off x="609600" y="1752600"/>
            <a:ext cx="7924800" cy="1470025"/>
          </a:xfrm>
          <a:prstGeom prst="rect">
            <a:avLst/>
          </a:prstGeom>
        </p:spPr>
        <p:txBody>
          <a:bodyPr anchor="b"/>
          <a:lstStyle>
            <a:lvl1pPr algn="ctr">
              <a:defRPr/>
            </a:lvl1pPr>
          </a:lstStyle>
          <a:p>
            <a:r>
              <a:rPr lang="en-US" smtClean="0"/>
              <a:t>Click to edit Master title style</a:t>
            </a:r>
            <a:endParaRPr lang="en-US"/>
          </a:p>
        </p:txBody>
      </p:sp>
      <p:sp>
        <p:nvSpPr>
          <p:cNvPr id="3" name="Subtitle 2"/>
          <p:cNvSpPr>
            <a:spLocks noGrp="1"/>
          </p:cNvSpPr>
          <p:nvPr>
            <p:ph type="subTitle" idx="1"/>
          </p:nvPr>
        </p:nvSpPr>
        <p:spPr>
          <a:xfrm>
            <a:off x="1371600" y="3505200"/>
            <a:ext cx="6400800" cy="1752600"/>
          </a:xfrm>
        </p:spPr>
        <p:txBody>
          <a:bodyPr>
            <a:normAutofit/>
          </a:bodyPr>
          <a:lstStyle>
            <a:lvl1pPr marL="0" indent="0" algn="ctr">
              <a:buNone/>
              <a:defRPr sz="2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E6EECB3A-003F-42D6-A682-D9AD62FCE177}" type="datetime1">
              <a:rPr lang="en-US" smtClean="0"/>
              <a:pPr/>
              <a:t>7/31/2014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99616"/>
            <a:ext cx="8229600" cy="462654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34EAD16-5542-4243-ACCD-A96D94B7776E}" type="datetime1">
              <a:rPr lang="en-US" smtClean="0"/>
              <a:pPr/>
              <a:t>7/31/2014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grpSp>
        <p:nvGrpSpPr>
          <p:cNvPr id="2" name="Group 13"/>
          <p:cNvGrpSpPr/>
          <p:nvPr/>
        </p:nvGrpSpPr>
        <p:grpSpPr>
          <a:xfrm>
            <a:off x="0" y="1371600"/>
            <a:ext cx="9144000" cy="73152"/>
            <a:chOff x="0" y="3268345"/>
            <a:chExt cx="9144000" cy="146304"/>
          </a:xfrm>
        </p:grpSpPr>
        <p:sp>
          <p:nvSpPr>
            <p:cNvPr id="15" name="Rectangle 14"/>
            <p:cNvSpPr/>
            <p:nvPr userDrawn="1"/>
          </p:nvSpPr>
          <p:spPr>
            <a:xfrm>
              <a:off x="0" y="3268345"/>
              <a:ext cx="9144000" cy="14630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p:cNvSpPr/>
            <p:nvPr userDrawn="1"/>
          </p:nvSpPr>
          <p:spPr>
            <a:xfrm>
              <a:off x="5181600" y="3268345"/>
              <a:ext cx="1097280" cy="14630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p:cNvSpPr/>
            <p:nvPr userDrawn="1"/>
          </p:nvSpPr>
          <p:spPr>
            <a:xfrm>
              <a:off x="6278880" y="3268345"/>
              <a:ext cx="1097280" cy="14630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p:cNvSpPr/>
            <p:nvPr userDrawn="1"/>
          </p:nvSpPr>
          <p:spPr>
            <a:xfrm>
              <a:off x="7376160" y="3268345"/>
              <a:ext cx="1097280" cy="14630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9" name="Title 18"/>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67512" y="4406900"/>
            <a:ext cx="7827201" cy="1362075"/>
          </a:xfrm>
          <a:prstGeom prst="rect">
            <a:avLst/>
          </a:prstGeo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667512" y="2667000"/>
            <a:ext cx="7827201" cy="1500187"/>
          </a:xfrm>
        </p:spPr>
        <p:txBody>
          <a:bodyPr anchor="b"/>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C4E641D-BC47-442C-99E0-D47DCED8D331}" type="datetime1">
              <a:rPr lang="en-US" smtClean="0"/>
              <a:pPr/>
              <a:t>7/31/2014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grpSp>
        <p:nvGrpSpPr>
          <p:cNvPr id="7" name="Group 12"/>
          <p:cNvGrpSpPr/>
          <p:nvPr/>
        </p:nvGrpSpPr>
        <p:grpSpPr>
          <a:xfrm flipH="1">
            <a:off x="0" y="4228465"/>
            <a:ext cx="9144000" cy="146304"/>
            <a:chOff x="0" y="3268345"/>
            <a:chExt cx="9144000" cy="146304"/>
          </a:xfrm>
        </p:grpSpPr>
        <p:sp>
          <p:nvSpPr>
            <p:cNvPr id="14" name="Rectangle 13"/>
            <p:cNvSpPr/>
            <p:nvPr userDrawn="1"/>
          </p:nvSpPr>
          <p:spPr>
            <a:xfrm>
              <a:off x="0" y="3268345"/>
              <a:ext cx="9144000" cy="14630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p:cNvSpPr/>
            <p:nvPr userDrawn="1"/>
          </p:nvSpPr>
          <p:spPr>
            <a:xfrm>
              <a:off x="5181600" y="3268345"/>
              <a:ext cx="1097280" cy="14630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p:cNvSpPr/>
            <p:nvPr userDrawn="1"/>
          </p:nvSpPr>
          <p:spPr>
            <a:xfrm>
              <a:off x="6278880" y="3268345"/>
              <a:ext cx="1097280" cy="14630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p:cNvSpPr/>
            <p:nvPr userDrawn="1"/>
          </p:nvSpPr>
          <p:spPr>
            <a:xfrm>
              <a:off x="7376160" y="3268345"/>
              <a:ext cx="1097280" cy="14630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0EFC9C09-7442-4393-A04D-7CC084358920}" type="datetime1">
              <a:rPr lang="en-US" smtClean="0"/>
              <a:pPr/>
              <a:t>7/31/2014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
        <p:nvSpPr>
          <p:cNvPr id="14" name="Title 13"/>
          <p:cNvSpPr>
            <a:spLocks noGrp="1"/>
          </p:cNvSpPr>
          <p:nvPr>
            <p:ph type="title"/>
          </p:nvPr>
        </p:nvSpPr>
        <p:spPr/>
        <p:txBody>
          <a:bodyPr/>
          <a:lstStyle/>
          <a:p>
            <a:r>
              <a:rPr lang="en-US" smtClean="0"/>
              <a:t>Click to edit Master title style</a:t>
            </a:r>
            <a:endParaRPr lang="en-US"/>
          </a:p>
        </p:txBody>
      </p:sp>
      <p:grpSp>
        <p:nvGrpSpPr>
          <p:cNvPr id="2" name="Group 14"/>
          <p:cNvGrpSpPr/>
          <p:nvPr/>
        </p:nvGrpSpPr>
        <p:grpSpPr>
          <a:xfrm>
            <a:off x="0" y="1371600"/>
            <a:ext cx="9144000" cy="73152"/>
            <a:chOff x="0" y="3268345"/>
            <a:chExt cx="9144000" cy="146304"/>
          </a:xfrm>
        </p:grpSpPr>
        <p:sp>
          <p:nvSpPr>
            <p:cNvPr id="16" name="Rectangle 15"/>
            <p:cNvSpPr/>
            <p:nvPr userDrawn="1"/>
          </p:nvSpPr>
          <p:spPr>
            <a:xfrm>
              <a:off x="0" y="3268345"/>
              <a:ext cx="9144000" cy="14630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p:cNvSpPr/>
            <p:nvPr userDrawn="1"/>
          </p:nvSpPr>
          <p:spPr>
            <a:xfrm>
              <a:off x="5181600" y="3268345"/>
              <a:ext cx="1097280" cy="14630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p:cNvSpPr/>
            <p:nvPr userDrawn="1"/>
          </p:nvSpPr>
          <p:spPr>
            <a:xfrm>
              <a:off x="6278880" y="3268345"/>
              <a:ext cx="1097280" cy="14630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p:cNvSpPr/>
            <p:nvPr userDrawn="1"/>
          </p:nvSpPr>
          <p:spPr>
            <a:xfrm>
              <a:off x="7376160" y="3268345"/>
              <a:ext cx="1097280" cy="14630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600200"/>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297112"/>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600200"/>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297112"/>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B25FCA8-21FE-466A-8360-9547BE3C90CE}" type="datetime1">
              <a:rPr lang="en-US" smtClean="0"/>
              <a:pPr/>
              <a:t>7/31/2014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
        <p:nvSpPr>
          <p:cNvPr id="16" name="Title 15"/>
          <p:cNvSpPr>
            <a:spLocks noGrp="1"/>
          </p:cNvSpPr>
          <p:nvPr>
            <p:ph type="title"/>
          </p:nvPr>
        </p:nvSpPr>
        <p:spPr/>
        <p:txBody>
          <a:bodyPr/>
          <a:lstStyle/>
          <a:p>
            <a:r>
              <a:rPr lang="en-US" smtClean="0"/>
              <a:t>Click to edit Master title style</a:t>
            </a:r>
            <a:endParaRPr lang="en-US"/>
          </a:p>
        </p:txBody>
      </p:sp>
      <p:grpSp>
        <p:nvGrpSpPr>
          <p:cNvPr id="2" name="Group 16"/>
          <p:cNvGrpSpPr/>
          <p:nvPr/>
        </p:nvGrpSpPr>
        <p:grpSpPr>
          <a:xfrm>
            <a:off x="0" y="1371600"/>
            <a:ext cx="9144000" cy="73152"/>
            <a:chOff x="0" y="3268345"/>
            <a:chExt cx="9144000" cy="146304"/>
          </a:xfrm>
        </p:grpSpPr>
        <p:sp>
          <p:nvSpPr>
            <p:cNvPr id="18" name="Rectangle 17"/>
            <p:cNvSpPr/>
            <p:nvPr userDrawn="1"/>
          </p:nvSpPr>
          <p:spPr>
            <a:xfrm>
              <a:off x="0" y="3268345"/>
              <a:ext cx="9144000" cy="14630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p:cNvSpPr/>
            <p:nvPr userDrawn="1"/>
          </p:nvSpPr>
          <p:spPr>
            <a:xfrm>
              <a:off x="5181600" y="3268345"/>
              <a:ext cx="1097280" cy="14630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p:cNvSpPr/>
            <p:nvPr userDrawn="1"/>
          </p:nvSpPr>
          <p:spPr>
            <a:xfrm>
              <a:off x="6278880" y="3268345"/>
              <a:ext cx="1097280" cy="14630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p:cNvSpPr/>
            <p:nvPr userDrawn="1"/>
          </p:nvSpPr>
          <p:spPr>
            <a:xfrm>
              <a:off x="7376160" y="3268345"/>
              <a:ext cx="1097280" cy="14630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80C2DE6-C5AE-4359-97FA-818B570CAB51}" type="datetime1">
              <a:rPr lang="en-US" smtClean="0"/>
              <a:pPr/>
              <a:t>7/31/2014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
        <p:nvSpPr>
          <p:cNvPr id="12" name="Title 11"/>
          <p:cNvSpPr>
            <a:spLocks noGrp="1"/>
          </p:cNvSpPr>
          <p:nvPr>
            <p:ph type="title"/>
          </p:nvPr>
        </p:nvSpPr>
        <p:spPr/>
        <p:txBody>
          <a:bodyPr/>
          <a:lstStyle/>
          <a:p>
            <a:r>
              <a:rPr lang="en-US" smtClean="0"/>
              <a:t>Click to edit Master title style</a:t>
            </a:r>
            <a:endParaRPr lang="en-US"/>
          </a:p>
        </p:txBody>
      </p:sp>
      <p:grpSp>
        <p:nvGrpSpPr>
          <p:cNvPr id="2" name="Group 12"/>
          <p:cNvGrpSpPr/>
          <p:nvPr/>
        </p:nvGrpSpPr>
        <p:grpSpPr>
          <a:xfrm flipH="1">
            <a:off x="0" y="1371600"/>
            <a:ext cx="9144000" cy="73152"/>
            <a:chOff x="0" y="3268345"/>
            <a:chExt cx="9144000" cy="146304"/>
          </a:xfrm>
        </p:grpSpPr>
        <p:sp>
          <p:nvSpPr>
            <p:cNvPr id="14" name="Rectangle 13"/>
            <p:cNvSpPr/>
            <p:nvPr userDrawn="1"/>
          </p:nvSpPr>
          <p:spPr>
            <a:xfrm>
              <a:off x="0" y="3268345"/>
              <a:ext cx="9144000" cy="14630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p:cNvSpPr/>
            <p:nvPr userDrawn="1"/>
          </p:nvSpPr>
          <p:spPr>
            <a:xfrm>
              <a:off x="5181600" y="3268345"/>
              <a:ext cx="1097280" cy="14630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p:cNvSpPr/>
            <p:nvPr userDrawn="1"/>
          </p:nvSpPr>
          <p:spPr>
            <a:xfrm>
              <a:off x="6278880" y="3268345"/>
              <a:ext cx="1097280" cy="14630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p:cNvSpPr/>
            <p:nvPr userDrawn="1"/>
          </p:nvSpPr>
          <p:spPr>
            <a:xfrm>
              <a:off x="7376160" y="3268345"/>
              <a:ext cx="1097280" cy="14630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Ref idx="1003">
        <a:schemeClr val="bg2"/>
      </p:bgRef>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99D22DA-6CED-4AA2-8750-527F24150E07}" type="datetime1">
              <a:rPr lang="en-US" smtClean="0"/>
              <a:pPr/>
              <a:t>7/31/2014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grpSp>
        <p:nvGrpSpPr>
          <p:cNvPr id="5" name="Group 10"/>
          <p:cNvGrpSpPr/>
          <p:nvPr/>
        </p:nvGrpSpPr>
        <p:grpSpPr>
          <a:xfrm>
            <a:off x="-9144" y="-18288"/>
            <a:ext cx="9144000" cy="146304"/>
            <a:chOff x="0" y="3268345"/>
            <a:chExt cx="9144000" cy="146304"/>
          </a:xfrm>
        </p:grpSpPr>
        <p:sp>
          <p:nvSpPr>
            <p:cNvPr id="12" name="Rectangle 11"/>
            <p:cNvSpPr/>
            <p:nvPr userDrawn="1"/>
          </p:nvSpPr>
          <p:spPr>
            <a:xfrm>
              <a:off x="0" y="3268345"/>
              <a:ext cx="9144000" cy="14630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userDrawn="1"/>
          </p:nvSpPr>
          <p:spPr>
            <a:xfrm>
              <a:off x="5495544" y="3268345"/>
              <a:ext cx="1097280" cy="14630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p:cNvSpPr/>
            <p:nvPr userDrawn="1"/>
          </p:nvSpPr>
          <p:spPr>
            <a:xfrm>
              <a:off x="6592824" y="3268345"/>
              <a:ext cx="1097280" cy="14630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p:cNvSpPr/>
            <p:nvPr userDrawn="1"/>
          </p:nvSpPr>
          <p:spPr>
            <a:xfrm>
              <a:off x="7690104" y="3268345"/>
              <a:ext cx="1097280" cy="14630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793750"/>
          </a:xfrm>
          <a:prstGeom prst="rect">
            <a:avLst/>
          </a:prstGeom>
        </p:spPr>
        <p:txBody>
          <a:bodyPr anchor="b">
            <a:normAutofit/>
          </a:bodyPr>
          <a:lstStyle>
            <a:lvl1pPr algn="l">
              <a:defRPr sz="2800" b="1"/>
            </a:lvl1pPr>
          </a:lstStyle>
          <a:p>
            <a:r>
              <a:rPr lang="en-US" smtClean="0"/>
              <a:t>Click to edit Master title style</a:t>
            </a:r>
            <a:endParaRPr lang="en-US"/>
          </a:p>
        </p:txBody>
      </p:sp>
      <p:sp>
        <p:nvSpPr>
          <p:cNvPr id="3" name="Content Placeholder 2"/>
          <p:cNvSpPr>
            <a:spLocks noGrp="1"/>
          </p:cNvSpPr>
          <p:nvPr>
            <p:ph idx="1"/>
          </p:nvPr>
        </p:nvSpPr>
        <p:spPr>
          <a:xfrm>
            <a:off x="3575050" y="1371600"/>
            <a:ext cx="5111750" cy="47545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371600"/>
            <a:ext cx="3008313" cy="47545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A8E8019-96D3-4060-9946-F7DFCC3F9BFB}" type="datetime1">
              <a:rPr lang="en-US" smtClean="0"/>
              <a:pPr/>
              <a:t>7/31/2014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grpSp>
        <p:nvGrpSpPr>
          <p:cNvPr id="8" name="Group 13"/>
          <p:cNvGrpSpPr/>
          <p:nvPr/>
        </p:nvGrpSpPr>
        <p:grpSpPr>
          <a:xfrm flipH="1">
            <a:off x="0" y="1143000"/>
            <a:ext cx="9144000" cy="73152"/>
            <a:chOff x="0" y="3268345"/>
            <a:chExt cx="9144000" cy="146304"/>
          </a:xfrm>
        </p:grpSpPr>
        <p:sp>
          <p:nvSpPr>
            <p:cNvPr id="15" name="Rectangle 14"/>
            <p:cNvSpPr/>
            <p:nvPr userDrawn="1"/>
          </p:nvSpPr>
          <p:spPr>
            <a:xfrm>
              <a:off x="0" y="3268345"/>
              <a:ext cx="9144000" cy="14630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p:cNvSpPr/>
            <p:nvPr userDrawn="1"/>
          </p:nvSpPr>
          <p:spPr>
            <a:xfrm>
              <a:off x="5181600" y="3268345"/>
              <a:ext cx="1097280" cy="14630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p:cNvSpPr/>
            <p:nvPr userDrawn="1"/>
          </p:nvSpPr>
          <p:spPr>
            <a:xfrm>
              <a:off x="6278880" y="3268345"/>
              <a:ext cx="1097280" cy="14630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p:cNvSpPr/>
            <p:nvPr userDrawn="1"/>
          </p:nvSpPr>
          <p:spPr>
            <a:xfrm>
              <a:off x="7376160" y="3268345"/>
              <a:ext cx="1097280" cy="14630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15" name="Picture Placeholder 14"/>
          <p:cNvSpPr>
            <a:spLocks noGrp="1"/>
          </p:cNvSpPr>
          <p:nvPr>
            <p:ph type="pic" sz="quarter" idx="13"/>
          </p:nvPr>
        </p:nvSpPr>
        <p:spPr>
          <a:xfrm>
            <a:off x="1801368" y="685800"/>
            <a:ext cx="5495544" cy="3886200"/>
          </a:xfrm>
          <a:solidFill>
            <a:schemeClr val="accent1"/>
          </a:solidFill>
          <a:effectLst>
            <a:reflection blurRad="6350" stA="52000" endA="300" endPos="35000" dir="5400000" sy="-100000" algn="bl" rotWithShape="0"/>
          </a:effectLst>
          <a:scene3d>
            <a:camera prst="orthographicFront"/>
            <a:lightRig rig="contrasting" dir="t"/>
          </a:scene3d>
          <a:sp3d contourW="12700" prstMaterial="softEdge">
            <a:bevelT prst="cross"/>
            <a:contourClr>
              <a:srgbClr val="FFFFFF"/>
            </a:contourClr>
          </a:sp3d>
        </p:spPr>
        <p:txBody>
          <a:bodyPr/>
          <a:lstStyle/>
          <a:p>
            <a:r>
              <a:rPr lang="en-US" dirty="0" smtClean="0"/>
              <a:t>Click icon to add picture</a:t>
            </a:r>
            <a:endParaRPr lang="en-US" dirty="0"/>
          </a:p>
        </p:txBody>
      </p:sp>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smtClean="0"/>
              <a:t>Click to edit Master title style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3558AEC-A0A2-470B-9568-24D7212403B7}" type="datetime1">
              <a:rPr lang="en-US" smtClean="0"/>
              <a:pPr/>
              <a:t>7/31/2014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grpSp>
        <p:nvGrpSpPr>
          <p:cNvPr id="3" name="Group 15"/>
          <p:cNvGrpSpPr/>
          <p:nvPr/>
        </p:nvGrpSpPr>
        <p:grpSpPr>
          <a:xfrm>
            <a:off x="-9144" y="-18288"/>
            <a:ext cx="9144000" cy="146304"/>
            <a:chOff x="0" y="3268345"/>
            <a:chExt cx="9144000" cy="146304"/>
          </a:xfrm>
        </p:grpSpPr>
        <p:sp>
          <p:nvSpPr>
            <p:cNvPr id="17" name="Rectangle 16"/>
            <p:cNvSpPr/>
            <p:nvPr userDrawn="1"/>
          </p:nvSpPr>
          <p:spPr>
            <a:xfrm>
              <a:off x="0" y="3268345"/>
              <a:ext cx="9144000" cy="14630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p:cNvSpPr/>
            <p:nvPr userDrawn="1"/>
          </p:nvSpPr>
          <p:spPr>
            <a:xfrm>
              <a:off x="5495544" y="3268345"/>
              <a:ext cx="1097280" cy="14630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p:cNvSpPr/>
            <p:nvPr userDrawn="1"/>
          </p:nvSpPr>
          <p:spPr>
            <a:xfrm>
              <a:off x="6592824" y="3268345"/>
              <a:ext cx="1097280" cy="14630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p:cNvSpPr/>
            <p:nvPr userDrawn="1"/>
          </p:nvSpPr>
          <p:spPr>
            <a:xfrm>
              <a:off x="7690104" y="3268345"/>
              <a:ext cx="1097280" cy="14630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Vertical Text">
    <p:bg>
      <p:bgRef idx="1003">
        <a:schemeClr val="bg2"/>
      </p:bgRef>
    </p:bg>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52E22CD-0AD3-463E-89D9-CABC4D6BA405}" type="datetime1">
              <a:rPr lang="en-US" smtClean="0"/>
              <a:pPr/>
              <a:t>7/31/2014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
        <p:nvSpPr>
          <p:cNvPr id="7" name="Title 6"/>
          <p:cNvSpPr>
            <a:spLocks noGrp="1"/>
          </p:cNvSpPr>
          <p:nvPr>
            <p:ph type="title"/>
          </p:nvPr>
        </p:nvSpPr>
        <p:spPr/>
        <p:txBody>
          <a:bodyPr/>
          <a:lstStyle/>
          <a:p>
            <a:r>
              <a:rPr lang="en-US" smtClean="0"/>
              <a:t>Click to edit Master title style</a:t>
            </a:r>
            <a:endParaRPr lang="en-US"/>
          </a:p>
        </p:txBody>
      </p:sp>
      <p:grpSp>
        <p:nvGrpSpPr>
          <p:cNvPr id="2" name="Group 7"/>
          <p:cNvGrpSpPr/>
          <p:nvPr/>
        </p:nvGrpSpPr>
        <p:grpSpPr>
          <a:xfrm flipH="1">
            <a:off x="0" y="1371600"/>
            <a:ext cx="9144000" cy="73152"/>
            <a:chOff x="0" y="3268345"/>
            <a:chExt cx="9144000" cy="146304"/>
          </a:xfrm>
        </p:grpSpPr>
        <p:sp>
          <p:nvSpPr>
            <p:cNvPr id="9" name="Rectangle 8"/>
            <p:cNvSpPr/>
            <p:nvPr userDrawn="1"/>
          </p:nvSpPr>
          <p:spPr>
            <a:xfrm>
              <a:off x="0" y="3268345"/>
              <a:ext cx="9144000" cy="14630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p:cNvSpPr/>
            <p:nvPr userDrawn="1"/>
          </p:nvSpPr>
          <p:spPr>
            <a:xfrm>
              <a:off x="5181600" y="3268345"/>
              <a:ext cx="1097280" cy="14630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p:cNvSpPr/>
            <p:nvPr userDrawn="1"/>
          </p:nvSpPr>
          <p:spPr>
            <a:xfrm>
              <a:off x="6278880" y="3268345"/>
              <a:ext cx="1097280" cy="14630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p:cNvSpPr/>
            <p:nvPr userDrawn="1"/>
          </p:nvSpPr>
          <p:spPr>
            <a:xfrm>
              <a:off x="7376160" y="3268345"/>
              <a:ext cx="1097280" cy="14630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8"/>
            <a:ext cx="1828800" cy="5851525"/>
          </a:xfrm>
          <a:prstGeom prst="rect">
            <a:avLst/>
          </a:prstGeo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1722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6839712" y="6356350"/>
            <a:ext cx="1868424" cy="365125"/>
          </a:xfrm>
        </p:spPr>
        <p:txBody>
          <a:bodyPr/>
          <a:lstStyle/>
          <a:p>
            <a:fld id="{7409B0EC-65EA-4536-B193-FA2A990E60E8}" type="datetime1">
              <a:rPr lang="en-US" smtClean="0"/>
              <a:pPr/>
              <a:t>7/31/2014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grpSp>
        <p:nvGrpSpPr>
          <p:cNvPr id="7" name="Group 6"/>
          <p:cNvGrpSpPr/>
          <p:nvPr/>
        </p:nvGrpSpPr>
        <p:grpSpPr>
          <a:xfrm rot="5400000" flipH="1">
            <a:off x="3332988" y="3384804"/>
            <a:ext cx="6867144" cy="73152"/>
            <a:chOff x="0" y="3268345"/>
            <a:chExt cx="9144000" cy="146304"/>
          </a:xfrm>
        </p:grpSpPr>
        <p:sp>
          <p:nvSpPr>
            <p:cNvPr id="8" name="Rectangle 7"/>
            <p:cNvSpPr/>
            <p:nvPr userDrawn="1"/>
          </p:nvSpPr>
          <p:spPr>
            <a:xfrm>
              <a:off x="0" y="3268345"/>
              <a:ext cx="9144000" cy="14630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userDrawn="1"/>
          </p:nvSpPr>
          <p:spPr>
            <a:xfrm>
              <a:off x="5181600" y="3268345"/>
              <a:ext cx="1097280" cy="14630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p:cNvSpPr/>
            <p:nvPr userDrawn="1"/>
          </p:nvSpPr>
          <p:spPr>
            <a:xfrm>
              <a:off x="6278880" y="3268345"/>
              <a:ext cx="1097280" cy="14630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p:cNvSpPr/>
            <p:nvPr userDrawn="1"/>
          </p:nvSpPr>
          <p:spPr>
            <a:xfrm>
              <a:off x="7376160" y="3268345"/>
              <a:ext cx="1097280" cy="14630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6826" y="0"/>
            <a:ext cx="9144000" cy="6286520"/>
          </a:xfrm>
          <a:prstGeom prst="rect">
            <a:avLst/>
          </a:prstGeom>
          <a:gradFill flip="none" rotWithShape="1">
            <a:gsLst>
              <a:gs pos="1000">
                <a:schemeClr val="bg2">
                  <a:alpha val="0"/>
                </a:schemeClr>
              </a:gs>
              <a:gs pos="100000">
                <a:schemeClr val="bg1">
                  <a:alpha val="92000"/>
                </a:schemeClr>
              </a:gs>
            </a:gsLst>
            <a:lin ang="16200000" scaled="1"/>
            <a:tileRect/>
          </a:gradFill>
          <a:ln w="28575"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574536" y="6356350"/>
            <a:ext cx="2133600" cy="365125"/>
          </a:xfrm>
          <a:prstGeom prst="rect">
            <a:avLst/>
          </a:prstGeom>
        </p:spPr>
        <p:txBody>
          <a:bodyPr vert="horz" lIns="91440" tIns="45720" rIns="91440" bIns="45720" rtlCol="0" anchor="ctr"/>
          <a:lstStyle>
            <a:lvl1pPr algn="r">
              <a:defRPr sz="1200">
                <a:solidFill>
                  <a:sysClr val="windowText" lastClr="000000"/>
                </a:solidFill>
              </a:defRPr>
            </a:lvl1pPr>
          </a:lstStyle>
          <a:p>
            <a:fld id="{55909F6A-26A3-4E03-83FA-9660B090FF39}" type="datetime1">
              <a:rPr lang="en-US" smtClean="0"/>
              <a:pPr/>
              <a:t>7/31/2014</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ysClr val="windowText" lastClr="000000"/>
                </a:solidFill>
              </a:defRPr>
            </a:lvl1pPr>
          </a:lstStyle>
          <a:p>
            <a:endParaRPr lang="en-US" dirty="0"/>
          </a:p>
        </p:txBody>
      </p:sp>
      <p:sp>
        <p:nvSpPr>
          <p:cNvPr id="6" name="Slide Number Placeholder 5"/>
          <p:cNvSpPr>
            <a:spLocks noGrp="1"/>
          </p:cNvSpPr>
          <p:nvPr>
            <p:ph type="sldNum" sz="quarter" idx="4"/>
          </p:nvPr>
        </p:nvSpPr>
        <p:spPr>
          <a:xfrm>
            <a:off x="460248" y="6356350"/>
            <a:ext cx="2133600" cy="365125"/>
          </a:xfrm>
          <a:prstGeom prst="rect">
            <a:avLst/>
          </a:prstGeom>
        </p:spPr>
        <p:txBody>
          <a:bodyPr vert="horz" lIns="91440" tIns="45720" rIns="91440" bIns="45720" rtlCol="0" anchor="ctr"/>
          <a:lstStyle>
            <a:lvl1pPr algn="l">
              <a:defRPr sz="1200">
                <a:solidFill>
                  <a:sysClr val="windowText" lastClr="000000"/>
                </a:solidFill>
              </a:defRPr>
            </a:lvl1pPr>
          </a:lstStyle>
          <a:p>
            <a:fld id="{B6F15528-21DE-4FAA-801E-634DDDAF4B2B}" type="slidenum">
              <a:rPr lang="en-US" smtClean="0"/>
              <a:pPr/>
              <a:t>‹#›</a:t>
            </a:fld>
            <a:endParaRPr lang="en-US" dirty="0"/>
          </a:p>
        </p:txBody>
      </p:sp>
      <p:sp>
        <p:nvSpPr>
          <p:cNvPr id="8" name="Title Placeholder 7"/>
          <p:cNvSpPr>
            <a:spLocks noGrp="1"/>
          </p:cNvSpPr>
          <p:nvPr>
            <p:ph type="title"/>
          </p:nvPr>
        </p:nvSpPr>
        <p:spPr>
          <a:xfrm>
            <a:off x="457200" y="152400"/>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914400" rtl="0" eaLnBrk="1" latinLnBrk="0" hangingPunct="1">
        <a:spcBef>
          <a:spcPct val="0"/>
        </a:spcBef>
        <a:buNone/>
        <a:defRPr sz="4400" kern="1200">
          <a:ln>
            <a:noFill/>
          </a:ln>
          <a:solidFill>
            <a:srgbClr val="FFFFFF"/>
          </a:solidFill>
          <a:effectLst>
            <a:glow rad="101600">
              <a:schemeClr val="tx2"/>
            </a:glo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914400" rtl="0" eaLnBrk="1" latinLnBrk="0" hangingPunct="1">
        <a:spcBef>
          <a:spcPct val="20000"/>
        </a:spcBef>
        <a:buClr>
          <a:schemeClr val="tx2"/>
        </a:buClr>
        <a:buSzPct val="70000"/>
        <a:buFont typeface="Wingdings 2" pitchFamily="18" charset="2"/>
        <a:buChar char="¥"/>
        <a:defRPr sz="3200" kern="1200">
          <a:solidFill>
            <a:schemeClr val="tx1"/>
          </a:solidFill>
          <a:latin typeface="+mn-lt"/>
          <a:ea typeface="+mn-ea"/>
          <a:cs typeface="+mn-cs"/>
        </a:defRPr>
      </a:lvl1pPr>
      <a:lvl2pPr marL="742950" indent="-285750" algn="l" defTabSz="914400" rtl="0" eaLnBrk="1" latinLnBrk="0" hangingPunct="1">
        <a:spcBef>
          <a:spcPct val="20000"/>
        </a:spcBef>
        <a:buClr>
          <a:schemeClr val="accent4"/>
        </a:buClr>
        <a:buSzPct val="60000"/>
        <a:buFont typeface="Wingdings 2" pitchFamily="18" charset="2"/>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Clr>
          <a:schemeClr val="accent5"/>
        </a:buClr>
        <a:buSzPct val="57000"/>
        <a:buFont typeface="Wingdings 2" pitchFamily="18" charset="2"/>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Clr>
          <a:schemeClr val="accent6"/>
        </a:buClr>
        <a:buSzPct val="55000"/>
        <a:buFont typeface="Wingdings 2" pitchFamily="18" charset="2"/>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Clr>
          <a:schemeClr val="accent2"/>
        </a:buClr>
        <a:buSzPct val="50000"/>
        <a:buFont typeface="Wingdings 2" pitchFamily="18" charset="2"/>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www.youtube.com/watch?v=azrUt008Uf0" TargetMode="External"/><Relationship Id="rId2" Type="http://schemas.openxmlformats.org/officeDocument/2006/relationships/hyperlink" Target="http://www.youtube.com/watch?v=VN1W35lX_O4&amp;list=PLB628C837430CB736"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jpeg"/></Relationships>
</file>

<file path=ppt/slides/_rels/slide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6.gi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0.jpeg"/></Relationships>
</file>

<file path=ppt/slides/_rels/slide14.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9.gif"/><Relationship Id="rId2" Type="http://schemas.openxmlformats.org/officeDocument/2006/relationships/image" Target="../media/image28.jpe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image" Target="../media/image44.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image" Target="../media/image48.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59.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image" Target="../media/image61.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63.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64.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65.jpe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hyperlink" Target="http://www.mcdonalds.co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GB" sz="8000" dirty="0" smtClean="0"/>
              <a:t>Planning</a:t>
            </a:r>
            <a:endParaRPr lang="en-US" sz="8000" dirty="0"/>
          </a:p>
        </p:txBody>
      </p:sp>
      <p:sp>
        <p:nvSpPr>
          <p:cNvPr id="3" name="Subtitle 2"/>
          <p:cNvSpPr>
            <a:spLocks noGrp="1"/>
          </p:cNvSpPr>
          <p:nvPr>
            <p:ph type="subTitle" idx="1"/>
          </p:nvPr>
        </p:nvSpPr>
        <p:spPr/>
        <p:txBody>
          <a:bodyPr>
            <a:noAutofit/>
          </a:bodyPr>
          <a:lstStyle/>
          <a:p>
            <a:r>
              <a:rPr lang="en-GB" sz="4000" dirty="0" smtClean="0"/>
              <a:t>Principles of Management </a:t>
            </a:r>
          </a:p>
          <a:p>
            <a:endParaRPr lang="en-US" sz="40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a:t>
            </a:fld>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noFill/>
        </p:spPr>
        <p:txBody>
          <a:bodyPr>
            <a:normAutofit fontScale="92500" lnSpcReduction="10000"/>
          </a:bodyPr>
          <a:lstStyle/>
          <a:p>
            <a:pPr marL="457200" indent="-457200"/>
            <a:r>
              <a:rPr lang="en-US" b="1" dirty="0" smtClean="0">
                <a:cs typeface="Arial" charset="0"/>
              </a:rPr>
              <a:t>Defining </a:t>
            </a:r>
            <a:r>
              <a:rPr lang="en-US" dirty="0" smtClean="0">
                <a:cs typeface="Arial" charset="0"/>
              </a:rPr>
              <a:t>the nature and purposes of planning.</a:t>
            </a:r>
          </a:p>
          <a:p>
            <a:pPr marL="457200" indent="-457200"/>
            <a:endParaRPr lang="en-US" b="1" dirty="0" smtClean="0">
              <a:cs typeface="Arial" charset="0"/>
            </a:endParaRPr>
          </a:p>
          <a:p>
            <a:pPr marL="457200" indent="-457200"/>
            <a:r>
              <a:rPr lang="en-US" b="1" dirty="0" smtClean="0">
                <a:cs typeface="Arial" charset="0"/>
              </a:rPr>
              <a:t>Classifying </a:t>
            </a:r>
            <a:r>
              <a:rPr lang="en-US" dirty="0" smtClean="0">
                <a:cs typeface="Arial" charset="0"/>
              </a:rPr>
              <a:t>the types of goals organisations might have and the plans they use.</a:t>
            </a:r>
          </a:p>
          <a:p>
            <a:pPr marL="457200" indent="-457200"/>
            <a:endParaRPr lang="en-US" b="1" dirty="0" smtClean="0">
              <a:cs typeface="Arial" charset="0"/>
            </a:endParaRPr>
          </a:p>
          <a:p>
            <a:pPr marL="457200" indent="-457200"/>
            <a:r>
              <a:rPr lang="en-US" b="1" dirty="0" smtClean="0">
                <a:cs typeface="Arial" charset="0"/>
              </a:rPr>
              <a:t>Compare </a:t>
            </a:r>
            <a:r>
              <a:rPr lang="en-US" dirty="0" smtClean="0">
                <a:cs typeface="Arial" charset="0"/>
              </a:rPr>
              <a:t>and contrast approaches to goal-setting and planning.</a:t>
            </a:r>
          </a:p>
          <a:p>
            <a:pPr marL="457200" indent="-457200"/>
            <a:endParaRPr lang="en-US" b="1" dirty="0" smtClean="0">
              <a:cs typeface="Arial" charset="0"/>
            </a:endParaRPr>
          </a:p>
          <a:p>
            <a:pPr marL="457200" indent="-457200"/>
            <a:r>
              <a:rPr lang="en-US" b="1" dirty="0" smtClean="0">
                <a:cs typeface="Arial" charset="0"/>
              </a:rPr>
              <a:t>Discussion </a:t>
            </a:r>
            <a:r>
              <a:rPr lang="en-US" dirty="0" smtClean="0">
                <a:cs typeface="Arial" charset="0"/>
              </a:rPr>
              <a:t>on contemporary issues in planning.</a:t>
            </a:r>
          </a:p>
          <a:p>
            <a:endParaRPr lang="en-US" dirty="0"/>
          </a:p>
        </p:txBody>
      </p:sp>
      <p:sp>
        <p:nvSpPr>
          <p:cNvPr id="2" name="Title 1"/>
          <p:cNvSpPr>
            <a:spLocks noGrp="1"/>
          </p:cNvSpPr>
          <p:nvPr>
            <p:ph type="title"/>
          </p:nvPr>
        </p:nvSpPr>
        <p:spPr/>
        <p:txBody>
          <a:bodyPr/>
          <a:lstStyle/>
          <a:p>
            <a:r>
              <a:rPr lang="en-GB" dirty="0" smtClean="0"/>
              <a:t>Material covered will include:</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IE" dirty="0" smtClean="0">
                <a:hlinkClick r:id="rId2"/>
              </a:rPr>
              <a:t>Planning ( Lecture) (10.02 mins)</a:t>
            </a:r>
            <a:r>
              <a:rPr lang="en-IE" dirty="0" smtClean="0"/>
              <a:t> (Management Planning #13)</a:t>
            </a:r>
          </a:p>
          <a:p>
            <a:r>
              <a:rPr lang="en-IE" dirty="0" smtClean="0">
                <a:hlinkClick r:id="rId3"/>
              </a:rPr>
              <a:t>Fly to the sun strategic planning animated video (2.20 mins)</a:t>
            </a:r>
            <a:endParaRPr lang="en-IE"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3</a:t>
            </a:fld>
            <a:endParaRPr lang="en-US" dirty="0"/>
          </a:p>
        </p:txBody>
      </p:sp>
      <p:sp>
        <p:nvSpPr>
          <p:cNvPr id="4" name="Title 3"/>
          <p:cNvSpPr>
            <a:spLocks noGrp="1"/>
          </p:cNvSpPr>
          <p:nvPr>
            <p:ph type="title"/>
          </p:nvPr>
        </p:nvSpPr>
        <p:spPr/>
        <p:txBody>
          <a:bodyPr/>
          <a:lstStyle/>
          <a:p>
            <a:r>
              <a:rPr lang="en-IE" dirty="0" smtClean="0"/>
              <a:t>Planning – Video Clips</a:t>
            </a:r>
            <a:endParaRPr lang="en-IE" dirty="0"/>
          </a:p>
        </p:txBody>
      </p:sp>
    </p:spTree>
    <p:extLst>
      <p:ext uri="{BB962C8B-B14F-4D97-AF65-F5344CB8AC3E}">
        <p14:creationId xmlns:p14="http://schemas.microsoft.com/office/powerpoint/2010/main" xmlns="" val="197781838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252" name="Picture 4" descr="https://encrypted-tbn3.gstatic.com/images?q=tbn:ANd9GcQcTdubyRLai3l4m5bZ_At2xbEjVahkC65mIt33UKlQWPIl0tZAXA"/>
          <p:cNvPicPr>
            <a:picLocks noChangeAspect="1" noChangeArrowheads="1"/>
          </p:cNvPicPr>
          <p:nvPr/>
        </p:nvPicPr>
        <p:blipFill>
          <a:blip r:embed="rId2" cstate="print"/>
          <a:srcRect/>
          <a:stretch>
            <a:fillRect/>
          </a:stretch>
        </p:blipFill>
        <p:spPr bwMode="auto">
          <a:xfrm>
            <a:off x="7543800" y="3505200"/>
            <a:ext cx="1600200" cy="2057401"/>
          </a:xfrm>
          <a:prstGeom prst="rect">
            <a:avLst/>
          </a:prstGeom>
          <a:noFill/>
        </p:spPr>
      </p:pic>
      <p:pic>
        <p:nvPicPr>
          <p:cNvPr id="53250" name="Picture 2" descr="http://developmentcrossroads.com/wp-content/uploads/2011/08/plan.jpg"/>
          <p:cNvPicPr>
            <a:picLocks noChangeAspect="1" noChangeArrowheads="1"/>
          </p:cNvPicPr>
          <p:nvPr/>
        </p:nvPicPr>
        <p:blipFill>
          <a:blip r:embed="rId3" cstate="print"/>
          <a:srcRect/>
          <a:stretch>
            <a:fillRect/>
          </a:stretch>
        </p:blipFill>
        <p:spPr bwMode="auto">
          <a:xfrm>
            <a:off x="5791200" y="1"/>
            <a:ext cx="3352800" cy="1371600"/>
          </a:xfrm>
          <a:prstGeom prst="rect">
            <a:avLst/>
          </a:prstGeom>
          <a:noFill/>
        </p:spPr>
      </p:pic>
      <p:sp>
        <p:nvSpPr>
          <p:cNvPr id="3" name="Content Placeholder 2"/>
          <p:cNvSpPr>
            <a:spLocks noGrp="1"/>
          </p:cNvSpPr>
          <p:nvPr>
            <p:ph idx="1"/>
          </p:nvPr>
        </p:nvSpPr>
        <p:spPr>
          <a:xfrm>
            <a:off x="457200" y="1600200"/>
            <a:ext cx="8229600" cy="4876800"/>
          </a:xfrm>
        </p:spPr>
        <p:txBody>
          <a:bodyPr>
            <a:normAutofit fontScale="85000" lnSpcReduction="20000"/>
          </a:bodyPr>
          <a:lstStyle/>
          <a:p>
            <a:r>
              <a:rPr lang="en-US" dirty="0" smtClean="0">
                <a:cs typeface="Arial" charset="0"/>
              </a:rPr>
              <a:t>Planning involves;</a:t>
            </a:r>
          </a:p>
          <a:p>
            <a:pPr marL="742950" lvl="2" indent="-342900">
              <a:buClr>
                <a:schemeClr val="tx2"/>
              </a:buClr>
              <a:buSzPct val="70000"/>
            </a:pPr>
            <a:r>
              <a:rPr lang="en-US" sz="2600" dirty="0" smtClean="0">
                <a:cs typeface="Arial" charset="0"/>
              </a:rPr>
              <a:t>defining the organisation’s goals, </a:t>
            </a:r>
          </a:p>
          <a:p>
            <a:pPr marL="742950" lvl="2" indent="-342900">
              <a:buClr>
                <a:schemeClr val="tx2"/>
              </a:buClr>
              <a:buSzPct val="70000"/>
            </a:pPr>
            <a:r>
              <a:rPr lang="en-US" sz="2600" dirty="0" smtClean="0">
                <a:cs typeface="Arial" charset="0"/>
              </a:rPr>
              <a:t>establishing an overall strategy for achieving those goals, </a:t>
            </a:r>
          </a:p>
          <a:p>
            <a:pPr marL="742950" lvl="2" indent="-342900">
              <a:buClr>
                <a:schemeClr val="tx2"/>
              </a:buClr>
              <a:buSzPct val="70000"/>
            </a:pPr>
            <a:r>
              <a:rPr lang="en-US" sz="2600" dirty="0" smtClean="0">
                <a:cs typeface="Arial" charset="0"/>
              </a:rPr>
              <a:t>and developing plans to integrate and coordinate work activities.</a:t>
            </a:r>
          </a:p>
          <a:p>
            <a:endParaRPr lang="en-US" dirty="0" smtClean="0">
              <a:cs typeface="Arial" charset="0"/>
            </a:endParaRPr>
          </a:p>
          <a:p>
            <a:r>
              <a:rPr lang="en-US" dirty="0" smtClean="0">
                <a:cs typeface="Arial" charset="0"/>
              </a:rPr>
              <a:t>The term Planning in this section, refers to ‘formal’ </a:t>
            </a:r>
            <a:r>
              <a:rPr lang="en-US" dirty="0" smtClean="0">
                <a:cs typeface="Arial" charset="0"/>
              </a:rPr>
              <a:t>planning, </a:t>
            </a:r>
            <a:r>
              <a:rPr lang="en-US" dirty="0" smtClean="0">
                <a:cs typeface="Arial" charset="0"/>
              </a:rPr>
              <a:t>which are …</a:t>
            </a:r>
          </a:p>
          <a:p>
            <a:pPr marL="742950" lvl="2" indent="-342900">
              <a:buClr>
                <a:schemeClr val="tx2"/>
              </a:buClr>
              <a:buSzPct val="70000"/>
            </a:pPr>
            <a:r>
              <a:rPr lang="en-US" sz="2800" dirty="0" smtClean="0">
                <a:cs typeface="Arial" charset="0"/>
              </a:rPr>
              <a:t>Specific goals covering a specific time </a:t>
            </a:r>
            <a:r>
              <a:rPr lang="en-US" sz="2800" dirty="0" smtClean="0">
                <a:cs typeface="Arial" charset="0"/>
              </a:rPr>
              <a:t>period,</a:t>
            </a:r>
            <a:endParaRPr lang="en-US" sz="2800" dirty="0" smtClean="0">
              <a:cs typeface="Arial" charset="0"/>
            </a:endParaRPr>
          </a:p>
          <a:p>
            <a:pPr marL="742950" lvl="2" indent="-342900">
              <a:buClr>
                <a:schemeClr val="tx2"/>
              </a:buClr>
              <a:buSzPct val="70000"/>
            </a:pPr>
            <a:r>
              <a:rPr lang="en-US" sz="2800" dirty="0" smtClean="0">
                <a:cs typeface="Arial" charset="0"/>
              </a:rPr>
              <a:t>Written and shared with organisational </a:t>
            </a:r>
            <a:r>
              <a:rPr lang="en-US" sz="2800" dirty="0" smtClean="0">
                <a:cs typeface="Arial" charset="0"/>
              </a:rPr>
              <a:t>members.</a:t>
            </a:r>
            <a:endParaRPr lang="en-US" sz="2800" dirty="0" smtClean="0">
              <a:cs typeface="Arial" charset="0"/>
            </a:endParaRPr>
          </a:p>
          <a:p>
            <a:endParaRPr lang="en-US" sz="3300" b="1" dirty="0" smtClean="0">
              <a:cs typeface="Arial" charset="0"/>
            </a:endParaRPr>
          </a:p>
          <a:p>
            <a:r>
              <a:rPr lang="en-US" b="1" dirty="0" smtClean="0">
                <a:cs typeface="Arial" charset="0"/>
              </a:rPr>
              <a:t>Planning</a:t>
            </a:r>
            <a:r>
              <a:rPr lang="en-US" dirty="0" smtClean="0">
                <a:cs typeface="Arial" charset="0"/>
              </a:rPr>
              <a:t> is concerned with both the ends (what) and the means (how), an organisation will achieve its goals. </a:t>
            </a:r>
            <a:endParaRPr lang="en-US" sz="3200" dirty="0" smtClean="0"/>
          </a:p>
          <a:p>
            <a:endParaRPr lang="en-US" dirty="0"/>
          </a:p>
        </p:txBody>
      </p:sp>
      <p:sp>
        <p:nvSpPr>
          <p:cNvPr id="2" name="Title 1"/>
          <p:cNvSpPr>
            <a:spLocks noGrp="1"/>
          </p:cNvSpPr>
          <p:nvPr>
            <p:ph type="title"/>
          </p:nvPr>
        </p:nvSpPr>
        <p:spPr/>
        <p:txBody>
          <a:bodyPr/>
          <a:lstStyle/>
          <a:p>
            <a:r>
              <a:rPr lang="en-US" sz="4000" dirty="0" smtClean="0"/>
              <a:t>What Is Planning?</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a:t>
            </a:fld>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US"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5</a:t>
            </a:fld>
            <a:endParaRPr lang="en-US" dirty="0"/>
          </a:p>
        </p:txBody>
      </p:sp>
      <p:sp>
        <p:nvSpPr>
          <p:cNvPr id="4" name="Title 3"/>
          <p:cNvSpPr>
            <a:spLocks noGrp="1"/>
          </p:cNvSpPr>
          <p:nvPr>
            <p:ph type="title"/>
          </p:nvPr>
        </p:nvSpPr>
        <p:spPr/>
        <p:txBody>
          <a:bodyPr/>
          <a:lstStyle/>
          <a:p>
            <a:endParaRPr lang="en-US"/>
          </a:p>
        </p:txBody>
      </p:sp>
      <p:pic>
        <p:nvPicPr>
          <p:cNvPr id="72706" name="Picture 2" descr="https://encrypted-tbn0.gstatic.com/images?q=tbn:ANd9GcT8tFkLMJV_0t2uUyKRtfUjtOiPiCNbN5dl_svF3VQInWlwIv1C3g"/>
          <p:cNvPicPr>
            <a:picLocks noChangeAspect="1" noChangeArrowheads="1"/>
          </p:cNvPicPr>
          <p:nvPr/>
        </p:nvPicPr>
        <p:blipFill>
          <a:blip r:embed="rId2" cstate="print"/>
          <a:srcRect/>
          <a:stretch>
            <a:fillRect/>
          </a:stretch>
        </p:blipFill>
        <p:spPr bwMode="auto">
          <a:xfrm>
            <a:off x="4267200" y="1752600"/>
            <a:ext cx="4604892" cy="4267200"/>
          </a:xfrm>
          <a:prstGeom prst="rect">
            <a:avLst/>
          </a:prstGeom>
          <a:noFill/>
          <a:ln>
            <a:solidFill>
              <a:schemeClr val="accent3">
                <a:lumMod val="75000"/>
              </a:schemeClr>
            </a:solidFill>
          </a:ln>
        </p:spPr>
      </p:pic>
      <p:pic>
        <p:nvPicPr>
          <p:cNvPr id="72708" name="Picture 4" descr="http://www.gaebler.com/images/Article/Small-Business-Goal-Setting.jpg"/>
          <p:cNvPicPr>
            <a:picLocks noChangeAspect="1" noChangeArrowheads="1"/>
          </p:cNvPicPr>
          <p:nvPr/>
        </p:nvPicPr>
        <p:blipFill>
          <a:blip r:embed="rId3" cstate="print"/>
          <a:srcRect/>
          <a:stretch>
            <a:fillRect/>
          </a:stretch>
        </p:blipFill>
        <p:spPr bwMode="auto">
          <a:xfrm>
            <a:off x="533400" y="1600200"/>
            <a:ext cx="3581400" cy="4572000"/>
          </a:xfrm>
          <a:prstGeom prst="rect">
            <a:avLst/>
          </a:prstGeom>
          <a:noFill/>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US"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6</a:t>
            </a:fld>
            <a:endParaRPr lang="en-US" dirty="0"/>
          </a:p>
        </p:txBody>
      </p:sp>
      <p:sp>
        <p:nvSpPr>
          <p:cNvPr id="4" name="Title 3"/>
          <p:cNvSpPr>
            <a:spLocks noGrp="1"/>
          </p:cNvSpPr>
          <p:nvPr>
            <p:ph type="title"/>
          </p:nvPr>
        </p:nvSpPr>
        <p:spPr/>
        <p:txBody>
          <a:bodyPr/>
          <a:lstStyle/>
          <a:p>
            <a:endParaRPr lang="en-US" dirty="0"/>
          </a:p>
        </p:txBody>
      </p:sp>
      <p:pic>
        <p:nvPicPr>
          <p:cNvPr id="70660" name="Picture 4" descr="http://www.eci.com/blog/images/3-6-12%20tabletop%20meeting.jpg"/>
          <p:cNvPicPr>
            <a:picLocks noChangeAspect="1" noChangeArrowheads="1"/>
          </p:cNvPicPr>
          <p:nvPr/>
        </p:nvPicPr>
        <p:blipFill>
          <a:blip r:embed="rId2" cstate="print"/>
          <a:srcRect/>
          <a:stretch>
            <a:fillRect/>
          </a:stretch>
        </p:blipFill>
        <p:spPr bwMode="auto">
          <a:xfrm>
            <a:off x="990600" y="2362200"/>
            <a:ext cx="2806700" cy="2105025"/>
          </a:xfrm>
          <a:prstGeom prst="rect">
            <a:avLst/>
          </a:prstGeom>
          <a:noFill/>
        </p:spPr>
      </p:pic>
      <p:pic>
        <p:nvPicPr>
          <p:cNvPr id="70662" name="Picture 6" descr="http://www.managingamericans.com/pub/images/HowToBudgetAndForecast.jpg"/>
          <p:cNvPicPr>
            <a:picLocks noChangeAspect="1" noChangeArrowheads="1"/>
          </p:cNvPicPr>
          <p:nvPr/>
        </p:nvPicPr>
        <p:blipFill>
          <a:blip r:embed="rId3" cstate="print"/>
          <a:srcRect/>
          <a:stretch>
            <a:fillRect/>
          </a:stretch>
        </p:blipFill>
        <p:spPr bwMode="auto">
          <a:xfrm>
            <a:off x="5257800" y="3810000"/>
            <a:ext cx="3200400" cy="2136117"/>
          </a:xfrm>
          <a:prstGeom prst="rect">
            <a:avLst/>
          </a:prstGeom>
          <a:noFill/>
        </p:spPr>
      </p:pic>
      <p:pic>
        <p:nvPicPr>
          <p:cNvPr id="70664" name="Picture 8" descr="http://2.bp.blogspot.com/-TUCwdJhbPMo/UoMbgi83r3I/AAAAAAAAgPQ/vMysTs-4A8Y/s1600/plan.jpg"/>
          <p:cNvPicPr>
            <a:picLocks noChangeAspect="1" noChangeArrowheads="1"/>
          </p:cNvPicPr>
          <p:nvPr/>
        </p:nvPicPr>
        <p:blipFill>
          <a:blip r:embed="rId4" cstate="print"/>
          <a:srcRect/>
          <a:stretch>
            <a:fillRect/>
          </a:stretch>
        </p:blipFill>
        <p:spPr bwMode="auto">
          <a:xfrm>
            <a:off x="1295400" y="4648200"/>
            <a:ext cx="2131872" cy="1762126"/>
          </a:xfrm>
          <a:prstGeom prst="rect">
            <a:avLst/>
          </a:prstGeom>
          <a:noFill/>
        </p:spPr>
      </p:pic>
      <p:pic>
        <p:nvPicPr>
          <p:cNvPr id="70666" name="Picture 10" descr="http://thumb10.shutterstock.com/display_pic_with_logo/1734793/169528127/stock-photo-what-is-your-plan-169528127.jpg"/>
          <p:cNvPicPr>
            <a:picLocks noChangeAspect="1" noChangeArrowheads="1"/>
          </p:cNvPicPr>
          <p:nvPr/>
        </p:nvPicPr>
        <p:blipFill>
          <a:blip r:embed="rId5" cstate="print"/>
          <a:srcRect/>
          <a:stretch>
            <a:fillRect/>
          </a:stretch>
        </p:blipFill>
        <p:spPr bwMode="auto">
          <a:xfrm>
            <a:off x="1143000" y="381000"/>
            <a:ext cx="2667000" cy="2121748"/>
          </a:xfrm>
          <a:prstGeom prst="rect">
            <a:avLst/>
          </a:prstGeom>
          <a:noFill/>
        </p:spPr>
      </p:pic>
      <p:pic>
        <p:nvPicPr>
          <p:cNvPr id="10" name="Picture 2" descr="http://2.bp.blogspot.com/_rYqp4ZZBCoU/TPkNvrCvYvI/AAAAAAAAADo/L7Mh_qnGOAY/s1600/bus-planning.jpg"/>
          <p:cNvPicPr>
            <a:picLocks noChangeAspect="1" noChangeArrowheads="1"/>
          </p:cNvPicPr>
          <p:nvPr/>
        </p:nvPicPr>
        <p:blipFill>
          <a:blip r:embed="rId6" cstate="print"/>
          <a:srcRect/>
          <a:stretch>
            <a:fillRect/>
          </a:stretch>
        </p:blipFill>
        <p:spPr bwMode="auto">
          <a:xfrm>
            <a:off x="4800600" y="1219200"/>
            <a:ext cx="3767282" cy="1600200"/>
          </a:xfrm>
          <a:prstGeom prst="rect">
            <a:avLst/>
          </a:prstGeom>
          <a:noFill/>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499616"/>
            <a:ext cx="8229600" cy="3224784"/>
          </a:xfrm>
        </p:spPr>
        <p:txBody>
          <a:bodyPr>
            <a:normAutofit fontScale="92500" lnSpcReduction="10000"/>
          </a:bodyPr>
          <a:lstStyle/>
          <a:p>
            <a:pPr hangingPunct="0"/>
            <a:r>
              <a:rPr lang="en-US" dirty="0" smtClean="0"/>
              <a:t>Planning serves a number of significant purposes.</a:t>
            </a:r>
          </a:p>
          <a:p>
            <a:pPr hangingPunct="0"/>
            <a:endParaRPr lang="en-US" sz="900" dirty="0" smtClean="0"/>
          </a:p>
          <a:p>
            <a:pPr marL="514350" indent="-514350" hangingPunct="0">
              <a:buFont typeface="+mj-lt"/>
              <a:buAutoNum type="arabicPeriod"/>
            </a:pPr>
            <a:r>
              <a:rPr lang="en-US" sz="2800" dirty="0" smtClean="0"/>
              <a:t>Planning gives direction to managers and non managers of an organisation.</a:t>
            </a:r>
          </a:p>
          <a:p>
            <a:pPr marL="514350" indent="-514350" hangingPunct="0">
              <a:buFont typeface="+mj-lt"/>
              <a:buAutoNum type="arabicPeriod"/>
            </a:pPr>
            <a:r>
              <a:rPr lang="en-US" sz="2800" dirty="0" smtClean="0"/>
              <a:t>Planning reduces uncertainty.</a:t>
            </a:r>
          </a:p>
          <a:p>
            <a:pPr marL="514350" indent="-514350" hangingPunct="0">
              <a:buFont typeface="+mj-lt"/>
              <a:buAutoNum type="arabicPeriod"/>
            </a:pPr>
            <a:r>
              <a:rPr lang="en-US" sz="2800" dirty="0" smtClean="0"/>
              <a:t>Planning minimises waste and redundancy.</a:t>
            </a:r>
          </a:p>
          <a:p>
            <a:pPr marL="514350" lvl="0" indent="-514350" hangingPunct="0">
              <a:buFont typeface="+mj-lt"/>
              <a:buAutoNum type="arabicPeriod"/>
            </a:pPr>
            <a:r>
              <a:rPr lang="en-US" sz="2800" dirty="0" smtClean="0"/>
              <a:t>Planning establishes goals or standards used in controlling.</a:t>
            </a:r>
          </a:p>
        </p:txBody>
      </p:sp>
      <p:sp>
        <p:nvSpPr>
          <p:cNvPr id="3" name="Title 2"/>
          <p:cNvSpPr>
            <a:spLocks noGrp="1"/>
          </p:cNvSpPr>
          <p:nvPr>
            <p:ph type="title"/>
          </p:nvPr>
        </p:nvSpPr>
        <p:spPr/>
        <p:txBody>
          <a:bodyPr>
            <a:normAutofit/>
          </a:bodyPr>
          <a:lstStyle/>
          <a:p>
            <a:r>
              <a:rPr lang="en-GB" dirty="0" smtClean="0"/>
              <a:t>Why do managers plan?</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7</a:t>
            </a:fld>
            <a:endParaRPr lang="en-US" dirty="0"/>
          </a:p>
        </p:txBody>
      </p:sp>
      <p:pic>
        <p:nvPicPr>
          <p:cNvPr id="52226" name="Picture 2" descr="http://www.leoisaac.com/planning/images/what_is_strategic_planning.jpg"/>
          <p:cNvPicPr>
            <a:picLocks noChangeAspect="1" noChangeArrowheads="1"/>
          </p:cNvPicPr>
          <p:nvPr/>
        </p:nvPicPr>
        <p:blipFill>
          <a:blip r:embed="rId2" cstate="print"/>
          <a:srcRect/>
          <a:stretch>
            <a:fillRect/>
          </a:stretch>
        </p:blipFill>
        <p:spPr bwMode="auto">
          <a:xfrm>
            <a:off x="838200" y="4953000"/>
            <a:ext cx="7315200" cy="1581150"/>
          </a:xfrm>
          <a:prstGeom prst="rect">
            <a:avLst/>
          </a:prstGeom>
          <a:noFill/>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905000"/>
            <a:ext cx="4343400" cy="4419599"/>
          </a:xfrm>
          <a:ln>
            <a:solidFill>
              <a:srgbClr val="0070C0"/>
            </a:solidFill>
          </a:ln>
        </p:spPr>
        <p:txBody>
          <a:bodyPr>
            <a:normAutofit fontScale="77500" lnSpcReduction="20000"/>
          </a:bodyPr>
          <a:lstStyle/>
          <a:p>
            <a:r>
              <a:rPr lang="en-US" sz="3600" dirty="0" smtClean="0">
                <a:cs typeface="Arial" charset="0"/>
              </a:rPr>
              <a:t>Planning </a:t>
            </a:r>
            <a:r>
              <a:rPr lang="en-US" sz="3600" i="1" dirty="0" smtClean="0">
                <a:cs typeface="Arial" charset="0"/>
              </a:rPr>
              <a:t>provides direction </a:t>
            </a:r>
            <a:r>
              <a:rPr lang="en-US" sz="3600" dirty="0" smtClean="0">
                <a:cs typeface="Arial" charset="0"/>
              </a:rPr>
              <a:t>to managers and non managers alike. </a:t>
            </a:r>
          </a:p>
          <a:p>
            <a:endParaRPr lang="en-US" dirty="0" smtClean="0">
              <a:cs typeface="Arial" charset="0"/>
            </a:endParaRPr>
          </a:p>
          <a:p>
            <a:r>
              <a:rPr lang="en-US" sz="3100" dirty="0" smtClean="0">
                <a:cs typeface="Arial" charset="0"/>
              </a:rPr>
              <a:t>When </a:t>
            </a:r>
            <a:r>
              <a:rPr lang="en-US" sz="3100" dirty="0" smtClean="0">
                <a:cs typeface="Arial" charset="0"/>
              </a:rPr>
              <a:t>employees know what their organisation or work unit is trying to accomplish and what they must contribute to reach goals, they can coordinate their activities, cooperate with each other, and do what it takes to accomplish those goals.</a:t>
            </a:r>
          </a:p>
          <a:p>
            <a:endParaRPr lang="en-US"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8</a:t>
            </a:fld>
            <a:endParaRPr lang="en-US" dirty="0"/>
          </a:p>
        </p:txBody>
      </p:sp>
      <p:sp>
        <p:nvSpPr>
          <p:cNvPr id="4" name="Title 3"/>
          <p:cNvSpPr>
            <a:spLocks noGrp="1"/>
          </p:cNvSpPr>
          <p:nvPr>
            <p:ph type="title"/>
          </p:nvPr>
        </p:nvSpPr>
        <p:spPr/>
        <p:txBody>
          <a:bodyPr/>
          <a:lstStyle/>
          <a:p>
            <a:r>
              <a:rPr lang="en-GB" dirty="0" smtClean="0"/>
              <a:t>Why do managers plan? (cont.)</a:t>
            </a:r>
            <a:endParaRPr lang="en-US" dirty="0"/>
          </a:p>
        </p:txBody>
      </p:sp>
      <p:pic>
        <p:nvPicPr>
          <p:cNvPr id="71682" name="Picture 2" descr="http://markarnold.typepad.com/.a/6a011571275931970c0120a57ab0d7970b-800wi"/>
          <p:cNvPicPr>
            <a:picLocks noChangeAspect="1" noChangeArrowheads="1"/>
          </p:cNvPicPr>
          <p:nvPr/>
        </p:nvPicPr>
        <p:blipFill>
          <a:blip r:embed="rId2" cstate="print"/>
          <a:srcRect/>
          <a:stretch>
            <a:fillRect/>
          </a:stretch>
        </p:blipFill>
        <p:spPr bwMode="auto">
          <a:xfrm>
            <a:off x="5105400" y="1905000"/>
            <a:ext cx="3790950" cy="4419600"/>
          </a:xfrm>
          <a:prstGeom prst="rect">
            <a:avLst/>
          </a:prstGeom>
          <a:noFill/>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752600"/>
            <a:ext cx="4038600" cy="4724400"/>
          </a:xfrm>
          <a:ln>
            <a:solidFill>
              <a:srgbClr val="0070C0"/>
            </a:solidFill>
          </a:ln>
        </p:spPr>
        <p:txBody>
          <a:bodyPr>
            <a:normAutofit fontScale="70000" lnSpcReduction="20000"/>
          </a:bodyPr>
          <a:lstStyle/>
          <a:p>
            <a:r>
              <a:rPr lang="en-US" sz="4000" dirty="0" smtClean="0">
                <a:cs typeface="Arial" charset="0"/>
              </a:rPr>
              <a:t>Planning </a:t>
            </a:r>
            <a:r>
              <a:rPr lang="en-US" sz="4000" i="1" dirty="0" smtClean="0">
                <a:cs typeface="Arial" charset="0"/>
              </a:rPr>
              <a:t>reduces uncertainty </a:t>
            </a:r>
            <a:r>
              <a:rPr lang="en-US" sz="4000" dirty="0" smtClean="0">
                <a:cs typeface="Arial" charset="0"/>
              </a:rPr>
              <a:t>by forcing managers to look ahead</a:t>
            </a:r>
            <a:r>
              <a:rPr lang="en-US" sz="2900" dirty="0" smtClean="0">
                <a:cs typeface="Arial" charset="0"/>
              </a:rPr>
              <a:t>, </a:t>
            </a:r>
            <a:endParaRPr lang="en-US" sz="2900" dirty="0" smtClean="0">
              <a:cs typeface="Arial" charset="0"/>
            </a:endParaRPr>
          </a:p>
          <a:p>
            <a:endParaRPr lang="en-US" dirty="0" smtClean="0">
              <a:cs typeface="Arial" charset="0"/>
            </a:endParaRPr>
          </a:p>
          <a:p>
            <a:r>
              <a:rPr lang="en-US" sz="3400" dirty="0" smtClean="0">
                <a:cs typeface="Arial" charset="0"/>
              </a:rPr>
              <a:t>Anticipate </a:t>
            </a:r>
            <a:r>
              <a:rPr lang="en-US" sz="3400" dirty="0" smtClean="0">
                <a:cs typeface="Arial" charset="0"/>
              </a:rPr>
              <a:t>change, consider the impact of change, and develop appropriate responses. </a:t>
            </a:r>
            <a:endParaRPr lang="en-US" sz="3400" dirty="0" smtClean="0">
              <a:cs typeface="Arial" charset="0"/>
            </a:endParaRPr>
          </a:p>
          <a:p>
            <a:endParaRPr lang="en-US" sz="3500" dirty="0" smtClean="0">
              <a:cs typeface="Arial" charset="0"/>
            </a:endParaRPr>
          </a:p>
          <a:p>
            <a:r>
              <a:rPr lang="en-US" sz="3400" dirty="0" smtClean="0">
                <a:cs typeface="Arial" charset="0"/>
              </a:rPr>
              <a:t>Although </a:t>
            </a:r>
            <a:r>
              <a:rPr lang="en-US" sz="3400" dirty="0" smtClean="0">
                <a:cs typeface="Arial" charset="0"/>
              </a:rPr>
              <a:t>planning </a:t>
            </a:r>
            <a:r>
              <a:rPr lang="en-US" sz="3400" dirty="0" smtClean="0">
                <a:cs typeface="Arial" charset="0"/>
              </a:rPr>
              <a:t>will not  eliminate </a:t>
            </a:r>
            <a:r>
              <a:rPr lang="en-US" sz="3400" dirty="0" smtClean="0">
                <a:cs typeface="Arial" charset="0"/>
              </a:rPr>
              <a:t>uncertainty, managers plan so they can respond effectively.</a:t>
            </a:r>
          </a:p>
          <a:p>
            <a:endParaRPr lang="en-US" dirty="0" smtClean="0">
              <a:cs typeface="Arial" charset="0"/>
            </a:endParaRPr>
          </a:p>
        </p:txBody>
      </p:sp>
      <p:sp>
        <p:nvSpPr>
          <p:cNvPr id="3" name="Slide Number Placeholder 2"/>
          <p:cNvSpPr>
            <a:spLocks noGrp="1"/>
          </p:cNvSpPr>
          <p:nvPr>
            <p:ph type="sldNum" sz="quarter" idx="12"/>
          </p:nvPr>
        </p:nvSpPr>
        <p:spPr/>
        <p:txBody>
          <a:bodyPr/>
          <a:lstStyle/>
          <a:p>
            <a:fld id="{B6F15528-21DE-4FAA-801E-634DDDAF4B2B}" type="slidenum">
              <a:rPr lang="en-US" smtClean="0"/>
              <a:pPr/>
              <a:t>9</a:t>
            </a:fld>
            <a:endParaRPr lang="en-US" dirty="0"/>
          </a:p>
        </p:txBody>
      </p:sp>
      <p:sp>
        <p:nvSpPr>
          <p:cNvPr id="4" name="Title 3"/>
          <p:cNvSpPr>
            <a:spLocks noGrp="1"/>
          </p:cNvSpPr>
          <p:nvPr>
            <p:ph type="title"/>
          </p:nvPr>
        </p:nvSpPr>
        <p:spPr/>
        <p:txBody>
          <a:bodyPr/>
          <a:lstStyle/>
          <a:p>
            <a:r>
              <a:rPr lang="en-GB" dirty="0" smtClean="0"/>
              <a:t>Why do managers plan? (cont.)</a:t>
            </a:r>
            <a:endParaRPr lang="en-US" dirty="0"/>
          </a:p>
        </p:txBody>
      </p:sp>
      <p:pic>
        <p:nvPicPr>
          <p:cNvPr id="51202" name="Picture 2" descr="http://www.insurancesystemsgroup.com/isa/wp-content/themes/insurance-systems/library/timthumb.php?src=http://www.insurancesystemsgroup.com/isa/wp-content/uploads/2011/03/Uncertainty.png&amp;w=630&amp;h=350&amp;zc=1"/>
          <p:cNvPicPr>
            <a:picLocks noChangeAspect="1" noChangeArrowheads="1"/>
          </p:cNvPicPr>
          <p:nvPr/>
        </p:nvPicPr>
        <p:blipFill>
          <a:blip r:embed="rId2" cstate="print"/>
          <a:srcRect/>
          <a:stretch>
            <a:fillRect/>
          </a:stretch>
        </p:blipFill>
        <p:spPr bwMode="auto">
          <a:xfrm>
            <a:off x="4876800" y="1752600"/>
            <a:ext cx="3867150" cy="2133600"/>
          </a:xfrm>
          <a:prstGeom prst="rect">
            <a:avLst/>
          </a:prstGeom>
          <a:noFill/>
        </p:spPr>
      </p:pic>
      <p:sp>
        <p:nvSpPr>
          <p:cNvPr id="51204" name="AutoShape 4" descr="data:image/jpeg;base64,/9j/4AAQSkZJRgABAQAAAQABAAD/2wCEAAkGBwgHBhUUBxQVFBUSFyEaGBcVGBwgGxcbHx0WGhwdISIfICshJBomHR8YIjMiJSkrLi4uHCA/ODMtNygtMC4BCgoKDg0OGxAQGzQkICUsLCw0ODc3LDI1NiwsLCwsLDcxLjcsLCwtLy8sLCwwNDgsLCwsLCwsMCwsLCwsLiwvLP/AABEIAL4BCgMBEQACEQEDEQH/xAAbAAEAAwEBAQEAAAAAAAAAAAAABAUGAwIHAf/EAEYQAAEDAwIDBAUHCQUJAAAAAAEAAgMEBRESIQYxYRMiQVEHMlJxgRQjQkNicpEVJDM0gpKhorFTY3PB0SZUg5OUo7PS8f/EABsBAQACAwEBAAAAAAAAAAAAAAAEBQIDBgEH/8QANhEBAAEDAQUGBAYBBAMAAAAAAAECAwQRBRIhMVEGQWGBkaEicbHRExQyM8Hw4VJTYvEWI0L/2gAMAwEAAhEDEQA/APuKAgICAgICAgICAgICAgICAgICAgICAgICAgICAgICAgICAgICAgICAgICAgICAgICAgICAgICAgICAgICAgICAgICAgICAgICAgICAg4z1dNT/rD2N+84D+qCIb9Zgd6mD/ms/wBUEiCvoqj9Xljd914P9CgkoCAgICAgICAgICAgICAgICAgICAgICAgICAgIKW4cTUFJMWU+qeVvOOEAlp8nOJDGno5wK0X8mzj0712qIZU0VVTpTCpnud/rfVdHStPgwdpJ0Op4DAemhw6rn8ntPapnSzRveM8I9Of0S6MOqf1ToiPtzZzmuknmPj2krtJ97GkR/yqlu9oM25yqin5R99Z90inFtx4kNotkH6GCJvujb/ooFzaOXc/Vcqnzlti1RHKISRBCBgNb+AWv83kf7lXrL3cp6OE1rt1QPn4YnZ9pjT/AFCzoz8mjXduVRr4y8m1RPOIc2WmmhP5mZIcchDK9jf3Wu0n4hTbW3c63/8AevziJ9+fu11Y1ue5Lgqr5Rn5mcTD2ahjc9AHxhuPeWOKt8ftRE8L9HnH2n7o9eF/plYQcVwR7XiN1P8AbPei/fHqjq8NV/i7Rxsr9qrj05T6fZFrs10c4aCORksYdEQ4HcEHIIU5rekBAQEBAQEBAQEBAQEBAQEBAQEBAQEEO63SktVNrrXYycNAGXPd4Na0bl3QdV5VVFMTVM6RBEa8GVqqm5Xr9dJghPKBju+7/Ee0+7uMOOeXPBXKbR7RRTrbxeP/AC+0fzPp3p1rE76/R0ggipoQ2na1jW8mtAAHwC5O7eru1b9yZmfFOppimNIdFrZCAgICAgIC9iZjk8Q4qWagkLrI/sSTksxmF/nqZkYJ9phac888lf4HaC/Y+G78dPvHn3/KfWEW7i01caeEr+zcQx1swirm9jPj1Cctf5mN+BqHTAcPFo2XZ4uXZyaN+zVrHvHzjuV9duqidKoXaksBAQEBAQEBAQEBAQEBAQEBAQEBBXXu7w2imBeC97zpjjb60jvIeQA3LjsACStd27RaomuudIjjL2mmap0hl4aeaWrM9yIfMRjI9WNp+hGDyb5nm7AzyAHAbU2xczJ3KeFEd3Xxn+6QtLGPFvj3papkkQEEeepcyZsdMx0sr9xGzGcci5xJAaweZPQZOArLZ+y72bPwcKe+Z5f5lpu36bfPmkstPEDocvFM13sB8jh7tegfjp/FdHT2Xs7vG5Ovl9OP1Q/ztXRFE9RBVCK6RmGR3q97VHJgZOh+BnHsuDXbE6cbqj2hsS/iRvx8VPXp84/7hJtZNNzhylJVMkiAgICDhWUsFbBpqRkc/EEEcnAjcOB3BG4UjGyruNci5anSf7z6sK6Ka40qTbNe5qOobBeXag46Ypz9M+DJMDAk8nbB3Q7Hv9mbVt5tOkcKo5x/MeHvCrvWJtz4NQrVoEBAQEBAQEBAQEBAQEBAQEBBwrquCgo3yVZ0sjaXOPkB/n0QYynE9bVmpuIIkkGGsP1EexEYxtqJAc8jm7xIa3HBbc2pOTcm1bn4Kfeevy6eq0xrG5G9POUxUCUICAvYiZnSHibwRTtNkbUO9esAmcTzDXDMTOgbGWjHnqPNxX1PFxqMa1Tao7o9Z7581JXXNdU1SvhNE6TS1wyPDIypDFDvdtZdra6N5wTuxw5seN2vHUHB/wDqxroprpmmqNYng9iZidYZe21JrLfHI4YL2AkeRIGR8DkL5dm4/wCXyK7XSdPLu9l1bq3qYqSVGZiAgICDnUQRVMBZUAOa4YIPitlq7XariuidJhjVTFUaSm8NXWZlT8luRLnAZhkP1rBjId/es8faGHD6Qb9H2btGjNtb0cKo5x0/xP8AhUXrU26tO5pVYtQgICAgICAgICAgICAgICAgyXElT+ULy2Bv6OnxJL5OkO8TP2QDIR5mJUe3s+caxuUfqr4eXf8AbzScW1v1azyh+L5+tRAQEDbxWVFU0VRVHOOLyY1jR849I/F81p9H9LQ0EhZMPmZi04eGwhrfA5AkGh482nqvqtm9Tet03aeVUaqOqmaZ3ZfE2PdG8FhIIOQRzBW14+6+hn0jTSWyeDiCR0jqdnaxOccve3YGPJ3LtRbpG5OrHgEmYjjI2dqp5KW2RsmxqawB2OWrHe+Gcr5ftC/F/JuXI5TM6fLu9l1ap3aIhLUNsEBAQEBBGrqY1MI7I6XsIfG/2HjkfdzBHiCR4qds7NqxL8XI5d/jH992q7bi5To09iuYu1tbIRpdu2RnsPacOb7s8j4gg+K+mUV010xVTOsTxj5Sp5iYnSVgsnggICAgICAgICAgICAgIOdRPHTU7nzHDWNLnHyAGSfwQYe0CR1J2lSMSTuMrweYL9w0/dbpZ7mBfOdt5X5jLq6U/DHlz9Z1W2NRu248eKcqlIEBAQEGU424HoOK2BzyYpmjDZAM5HsuHiP4hXWy9sV4fwVRvUdOnyRr2PFzjHN83k9EPEQlwx9OR7Wtw/hoyuljtFhTTrrPy0/se6H+UuatxwT6N6Ph2oE1c7tp2+rgYZH1A5l3U/h4qi2nt6rIp/Dsxu09/WftH98EqzixROtXGW7XOpYgICAgICDjV1dNRRaqx7WNzjLiAMnkN/E+S3WMe7fq3bVM1T4Maq6aeMy7cJ/KjepXwRSNp5mAudI3RmVpDQ5rXYedUexcQBiNmM5K+hbHx8jHxot3+cTw468Ppz6KrIrprr1pa5WjQICAgICAgICAgICAgICCi41f/s89n9u5kR+7I9rXfyFy05F38K1Vc6RM+zKineqiFcvlK7EeiAgICAgICAgICAgIIX5ShkmLKEOnkGxZCNWk+Tneow/ecFbYmxMvI0nd3Ynvnh7c/ZHryaKO/VPgsl4rf1p7aZvlHh8v7zhoaeml/vXTYvZzGtaTdma59I9Ofv5IdeXXVy4Le28O2u3Ta4WapcY7WQl8mDuQHOyQ37IwOivbdum3Tu0RpHgjTMzOsrVZvBAQEBAQEBAQEBAQEBAQEGc4ycdVI32qjf4Qzu/qAq3bEzGDd06fzDdj/uQiL5quBAQEBAQEBAQEBBwq6umo481b2sBOBqOMnyHmegW+xjXr9W7apmZ/vowqrppjWZKdl0uGPyfAWtP1lRlgx0ZjtCehDR1XR4nZmurSrIq0jpHP15R7olzMiP0wsYOEoZhm9yvqPNg7kPkRoacub0kc8LpMXZuLjft0Rr1njPr9tESu9XXzloKenhpYQyma1jWjAa0AADoBsFOanRAQEBAQEBAQEBAQEBAQEBAQEGc4xBElIfKoI/GGoCrdsRM4N3Tp/MN2P+7CIvmq4EBAQEBAQEBHiELjHNKWW9r6h45thGQD5OcSGNPRzgVcYmw8vI4zTux1n7c2ivJop8U+Cw3et/XZG0zfZhw+T4veNAyOYDD0culxOzuNa43Pjn0j0+8odeXXVy4Lm2WC2WyTVTR5kIwZXkvkI8tbiXY6Zx0V5RRTRTu0RER4cEaZmeMrNZvBBAvt3o7DaZKi5EtjiGXEAk7kAYA6kBAsV3or9aWVFsdrilGWnBHIlpBB8QQR8EEqmnZU0zXx8ntDhnyIyEHVAQEBAQEBBwhrKWeocyF7HPj9docC5ueWRzCDugICAgICAgIKHjRh/IusfUyxyHo0PaHn9wuWjKtfi2K7fWJj2ZUVbtUSr18qXYj0QEBAQEBBwraSGupHR1Q1MeMOGSMg9Rut2PfrsXIuUc4Y10xVGkvVtuVwsbAyVvyiBuwLGtbNGPujDZGj7Ia7A5PO67XB7Q2b2lN74Kuvd/jz9VddxKqeNPGGpt1xo7nT66F4e3kcc2nxBB3Dh5EAroURKQEBBkfSu6U8BVDKcZfNoiaPMySMZ/mgvrXRU1hsUcUOzKeIN+DW7n3nBJ96CtF9tHDlNSQXiVsUk7A1moEBxY1gdl2NLebR3iM52QXFuuVDdIC+2SxzNBLS6NwcA4YyMg4zuNuqDlU3u00tY2KqqIWSPOGsdI0OcfIAnOUH5dL7aLO5ou1RDCX50iWRrdWMZxqIz4IO09xoaeh7aeWNsQGe0c8BmPA6s4wgg8V3U2rh2eWnPzjIZHx90uGprHOBIH0cjmdkGb9HXGFXceDIp+Ig8HDzJUFrGRaWueA4nI8B4NxlBZ8M+kHhriivdDaJi6RoJDXMc3UBzLdQ393Pog4cOv4coeJrmbbHJFKxzH1biDocS10gc3c+08nYHOduSC1tPF3D14ZH+T6qFxmz2bdQD3YzkaHYdkeWEGV9JHF90sfEduis5OJ5y2ZvZZLwDCNLSejz6p543CDc0lwZUAds10TnHDWy6Q52Bk4Acc7IJHbw/KNGoa9OrTkatOcZxzxnbKDogICAgj3CkiuFBJFP6srCx3ucCD/VBjbRNJPb2/KP0jMsk/xGEsfz8NQOOmF8y2ni/lsqu33a6x8p4x9lzZr36IlMUBtEBAQEBAQEBBFmomuqO0pnOilH1kZAcR5OBBa9vPZwI8sFWmDtfIxOFM609J5eXRou2KLnPmn0fE81F3eIGgD/AHiIHs/225Lo/HfvM83Dku0wNr4+ZGlM6VdJ/ie/6+Cuu2K7fPk08cjJYw6IhwIyCDkEdFaNL0gouM7fUXCyYom63xSxTNZkd/spWSFoyQMkNIGdskIPMtwN9p+yo4p2h50yumhfGGM+mO+BqLhlo0ahvnOyCj9Jljp79crZFWDMZqzqGOYEUkmn3HRg9Cg0EVNHRXmVtGGs7aBrmtaMDVGXtc7bbOHQt9zWoMD6OOAuFq/heKa8sZPUyvL5HOcQ5sgcT2ZAdzbjdp5nOR4IPV74eukvpPmkNd8kFTHGIHOgZIJGgESQtc/ZrwRq0jdwfnB0lBIv3CVr4b9FNdHSSSTseDJmRzSA8FvqhoDWgOGcAILMWSKi9FcxILp5Le7tJXZdI9xhJIycu052Dc4GBhBO4JoaOb0Z0jLhE2SM0zHOY5ocHd0O5HYnxQYhlzoJb3a6mgjpYe+CIKVhdJHBI1zNcz2Yaxo1M7hZsc97YoPo1soqem4mrexGHTtikd1JbLED/wBvkgx3o74aorR6NDK1gMztU7nlve1RucWAeIADRsPEu80FhxxD2/pGshAyNdQem0cbgfftn4II3pnhNFTUVfAxxNFVse8s5iI+v8CWsbv5jwQdbRxfaOKuPqd1j7VzY4JmOlLC2Nxcad4aCdy4ac4IHMc0H0RAQEBAQY6705tvERP1dZuOkzGgOH7cbWkAeMb/ADXNdpML8S1F+nnTwn5T9p+qZh3NKt2e97XELIQEBAQEBAQEBAXsTMTrDxEgp6i3SarK/ssnJjIzC/xOW/Rcd+8zG5yQ7kugwO0N6x8N746fePPv8/VFu4tNXGnhK7tfE0FRMI7k008x2DXHLJD/AHb+TvHunS/7IXZY2ZYyad6zVr9fOOavrt1UfqhfKSwEHCpo6eqew1DQ4xP1sJ+i7Dm5HXS5w+JQd0EaOgo4qoyRxxiR3N4aA4+84yUHSqpqeshLKtjXtPNr2gg/A7IPM9HS1NGYp2MdG4aSwtBaW+WOWOiDq6NjotLgC0jGMbY5Yx5II1st1NaqQRUILY27NaXEho8hknDR4DkPBB0p6KlpdXyaNjNZy7S0DUfM4G56oPQgibUl4Hec0NJ8w0uIHwLnfiUHmjo6ehpwykaGtBJDRyy5xcf5iSg5XC2UlxdGapuXQu1xuBIcx2CMgjfcEgjkQd0HSonp4dLakj506Gh30jpc4jfoCgp4H0k/ETIra1mijY4v0ABrJH6Qxm22rR2jiOYBZn1gg0CAgICAgg3q2su1udG86ScFjxzY9py1w6ggHHjy8V5VTFUTTPKXsTpxhlaGofMxzakBssTtErB9FwAO32XAhzT4tcF812ns+rCvbnOmeMT4feO9b2bsXKdUpVzcICAgICAgICAgIOdRBDUwltQ0Pa7m1wBB+BWy1drtVRXbnSYY1UxVGkvNJU3Ozj8zJniH1Mru80fYkO/7L8j7TQuswO0kcKMmPOP5j7eiDdw++hobPfKG7ZFOS2RvrxSDTIzw3b7Oc4cMtPgSupouU3KYqonWJ6IUxMTpKzWbwQEBAQEBAQEBAQRrhQUdypjHcY2SsPNsjQ5p+B2ygW630VrpRHbY2RRt5MjaGtGdzsPFBJQEBAQEBBn+I7PJNKKi2DM7G6XNzgTR5J0Hw1AklrjyJI5OKhZ+FRmWZt1+U9J/vNstXJt1awqqOqirINUB23BBGC0jYtcDuHA7EHkV84ysW5jXZtXI0mPeOseC3oriuNYd1HZiAgICAgICAgICAgj1dFBVlplB1MOWPaS17D5tcNx8OfipmHn38SrW1V5d0+X9lruWqa4+KFpwfcK6uZKKlwljjcGxzYAdIRntAcd12k4GtoAJ1DHdJP0fDu3Ltimu7TuzPcqLlMU1TFM6tEpLAQEBAQEBAQEBAQEBAQEBAQEBBn75YXyzme0aWzH12u2ZOBsA7HJ4GweB5A5GMQc7Z9nMo3bnOOU98f3o2WrtVudYVFJWMqSWkOZIz143jD2E+Y8jvhwyDjYlcBn7OvYde7cjh3T3StbV2m5GsJKgNogICAgICAgICD8JAG/gvaaZqnSI1l5M6OFBSS8SD5kuZSnnINnTjyj8RGfGTxHq89S7PZGwvw5i9kR8XdHTxnxV9/J1+GhsqeCKmgaynaGsYA1rWjAaBsAB4ABdQhOiAgICAgICAgICAgICAgICAgICAgrbxZKK7gGcFsjPUlZtIzPPB9k7ZactONwVhct0XKZprjWJexMxOsM7U010tQ/PW9tGPrYWnUB9uMZPxZqz5NXK53ZrWd7Gnyn+J+/qm2szurKapgq4tVK5rx5tOd/L39Fy1/Hu2Kt27TMT4p1NdNUaxLstLIQEBAQEBBEkr2GoMdG100o5xxYJb9450sH3iOmVbYexcrJmJ3d2nrP8RzlouZFFHzWNFwzJWODuIS1wByKdmTEPvk4Mh6EBvLukgFdngbJx8PjTGtXWf46eXHxV12/Vc58mnAAGys2l+oCAgICAgICAgICAgICAgICAgICAgICCruPD9suEuuVmmT+0jJY/4uaQSOhyOiwuW6LlO7XGseL2JmJ1hUy8O3anP5lUMlb7NQzDv348DHvjJ6qmyOz2Hd40xNM+E8PSdfbRIpyrlPPijSQ3qn/T0pd1glY4fz6D/BVd3stVr/67kecafTVvpzY74cnVckf6aCpb/wAB7v4sDh/FQKuzmbEcIifP76NkZdt4FxaTtFU/9NP/AOix/wDHs7/THrH3e/mrXX6ugmrJP1elqX/sNZ/5HNW+jszlzOlU0x5z9mM5lDuy3X+o9SOKEecshc4fsMGD++FPtdl6I/cuTPyjT66/RqqzZ7oS4eE2zHN3nkl+wz5qPPuYdZHRz3DorvG2XiY0626OPWeM+/Ly0Rq79dfOV9RUdLQUwjoWMjY3k1jQ1o+A2Vg1O6AgICAgICAgICAgICAgICAgICAgICAgICAgICAgICAgICAgICAgICAgICAgICAgICAgICAgICAgICAgICAgICAgICAgICAgICAgICAgICAgICAgICAgICAgICAgICAgICAgICAgICAgICAgICAgICAgICAgICAgICAgICAgICAgICAgICAgICAgICAgICAgICAgICAgICAgICD/2Q=="/>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51206" name="AutoShape 6" descr="data:image/jpeg;base64,/9j/4AAQSkZJRgABAQAAAQABAAD/2wCEAAkGBwgHBhUUBxQVFBUSFyEaGBcVGBwgGxcbHx0WGhwdISIfICshJBomHR8YIjMiJSkrLi4uHCA/ODMtNygtMC4BCgoKDg0OGxAQGzQkICUsLCw0ODc3LDI1NiwsLCwsLDcxLjcsLCwtLy8sLCwwNDgsLCwsLCwsMCwsLCwsLiwvLP/AABEIAL4BCgMBEQACEQEDEQH/xAAbAAEAAwEBAQEAAAAAAAAAAAAABAUGAwIHAf/EAEYQAAEDAwIDBAUHCQUJAAAAAAEAAgMEBRESIQYxYRMiQVEHMlJxgRQjQkNicpEVJDM0gpKhorFTY3PB0SZUg5OUo7PS8f/EABsBAQACAwEBAAAAAAAAAAAAAAAEBQIDBgEH/8QANhEBAAEDAQUGBAYBBAMAAAAAAAECAwQRBRIhMVEGQWGBkaEicbHRExQyM8Hw4VJTYvEWI0L/2gAMAwEAAhEDEQA/APuKAgICAgICAgICAgICAgICAgICAgICAgICAgICAgICAgICAgICAgICAgICAgICAgICAgICAgICAgICAgICAgICAgICAgICAgICAgICAg4z1dNT/rD2N+84D+qCIb9Zgd6mD/ms/wBUEiCvoqj9Xljd914P9CgkoCAgICAgICAgICAgICAgICAgICAgICAgICAgIKW4cTUFJMWU+qeVvOOEAlp8nOJDGno5wK0X8mzj0712qIZU0VVTpTCpnud/rfVdHStPgwdpJ0Op4DAemhw6rn8ntPapnSzRveM8I9Of0S6MOqf1ToiPtzZzmuknmPj2krtJ97GkR/yqlu9oM25yqin5R99Z90inFtx4kNotkH6GCJvujb/ooFzaOXc/Vcqnzlti1RHKISRBCBgNb+AWv83kf7lXrL3cp6OE1rt1QPn4YnZ9pjT/AFCzoz8mjXduVRr4y8m1RPOIc2WmmhP5mZIcchDK9jf3Wu0n4hTbW3c63/8AevziJ9+fu11Y1ue5Lgqr5Rn5mcTD2ahjc9AHxhuPeWOKt8ftRE8L9HnH2n7o9eF/plYQcVwR7XiN1P8AbPei/fHqjq8NV/i7Rxsr9qrj05T6fZFrs10c4aCORksYdEQ4HcEHIIU5rekBAQEBAQEBAQEBAQEBAQEBAQEBAQEEO63SktVNrrXYycNAGXPd4Na0bl3QdV5VVFMTVM6RBEa8GVqqm5Xr9dJghPKBju+7/Ee0+7uMOOeXPBXKbR7RRTrbxeP/AC+0fzPp3p1rE76/R0ggipoQ2na1jW8mtAAHwC5O7eru1b9yZmfFOppimNIdFrZCAgICAgIC9iZjk8Q4qWagkLrI/sSTksxmF/nqZkYJ9phac888lf4HaC/Y+G78dPvHn3/KfWEW7i01caeEr+zcQx1swirm9jPj1Cctf5mN+BqHTAcPFo2XZ4uXZyaN+zVrHvHzjuV9duqidKoXaksBAQEBAQEBAQEBAQEBAQEBAQEBBXXu7w2imBeC97zpjjb60jvIeQA3LjsACStd27RaomuudIjjL2mmap0hl4aeaWrM9yIfMRjI9WNp+hGDyb5nm7AzyAHAbU2xczJ3KeFEd3Xxn+6QtLGPFvj3papkkQEEeepcyZsdMx0sr9xGzGcci5xJAaweZPQZOArLZ+y72bPwcKe+Z5f5lpu36bfPmkstPEDocvFM13sB8jh7tegfjp/FdHT2Xs7vG5Ovl9OP1Q/ztXRFE9RBVCK6RmGR3q97VHJgZOh+BnHsuDXbE6cbqj2hsS/iRvx8VPXp84/7hJtZNNzhylJVMkiAgICDhWUsFbBpqRkc/EEEcnAjcOB3BG4UjGyruNci5anSf7z6sK6Ka40qTbNe5qOobBeXag46Ypz9M+DJMDAk8nbB3Q7Hv9mbVt5tOkcKo5x/MeHvCrvWJtz4NQrVoEBAQEBAQEBAQEBAQEBAQEBBwrquCgo3yVZ0sjaXOPkB/n0QYynE9bVmpuIIkkGGsP1EexEYxtqJAc8jm7xIa3HBbc2pOTcm1bn4Kfeevy6eq0xrG5G9POUxUCUICAvYiZnSHibwRTtNkbUO9esAmcTzDXDMTOgbGWjHnqPNxX1PFxqMa1Tao7o9Z7581JXXNdU1SvhNE6TS1wyPDIypDFDvdtZdra6N5wTuxw5seN2vHUHB/wDqxroprpmmqNYng9iZidYZe21JrLfHI4YL2AkeRIGR8DkL5dm4/wCXyK7XSdPLu9l1bq3qYqSVGZiAgICDnUQRVMBZUAOa4YIPitlq7XariuidJhjVTFUaSm8NXWZlT8luRLnAZhkP1rBjId/es8faGHD6Qb9H2btGjNtb0cKo5x0/xP8AhUXrU26tO5pVYtQgICAgICAgICAgICAgICAgyXElT+ULy2Bv6OnxJL5OkO8TP2QDIR5mJUe3s+caxuUfqr4eXf8AbzScW1v1azyh+L5+tRAQEDbxWVFU0VRVHOOLyY1jR849I/F81p9H9LQ0EhZMPmZi04eGwhrfA5AkGh482nqvqtm9Tet03aeVUaqOqmaZ3ZfE2PdG8FhIIOQRzBW14+6+hn0jTSWyeDiCR0jqdnaxOccve3YGPJ3LtRbpG5OrHgEmYjjI2dqp5KW2RsmxqawB2OWrHe+Gcr5ftC/F/JuXI5TM6fLu9l1ap3aIhLUNsEBAQEBBGrqY1MI7I6XsIfG/2HjkfdzBHiCR4qds7NqxL8XI5d/jH992q7bi5To09iuYu1tbIRpdu2RnsPacOb7s8j4gg+K+mUV010xVTOsTxj5Sp5iYnSVgsnggICAgICAgICAgICAgIOdRPHTU7nzHDWNLnHyAGSfwQYe0CR1J2lSMSTuMrweYL9w0/dbpZ7mBfOdt5X5jLq6U/DHlz9Z1W2NRu248eKcqlIEBAQEGU424HoOK2BzyYpmjDZAM5HsuHiP4hXWy9sV4fwVRvUdOnyRr2PFzjHN83k9EPEQlwx9OR7Wtw/hoyuljtFhTTrrPy0/se6H+UuatxwT6N6Ph2oE1c7tp2+rgYZH1A5l3U/h4qi2nt6rIp/Dsxu09/WftH98EqzixROtXGW7XOpYgICAgICDjV1dNRRaqx7WNzjLiAMnkN/E+S3WMe7fq3bVM1T4Maq6aeMy7cJ/KjepXwRSNp5mAudI3RmVpDQ5rXYedUexcQBiNmM5K+hbHx8jHxot3+cTw468Ppz6KrIrprr1pa5WjQICAgICAgICAgICAgICCi41f/s89n9u5kR+7I9rXfyFy05F38K1Vc6RM+zKineqiFcvlK7EeiAgICAgICAgICAgIIX5ShkmLKEOnkGxZCNWk+Tneow/ecFbYmxMvI0nd3Ynvnh7c/ZHryaKO/VPgsl4rf1p7aZvlHh8v7zhoaeml/vXTYvZzGtaTdma59I9Ofv5IdeXXVy4Le28O2u3Ta4WapcY7WQl8mDuQHOyQ37IwOivbdum3Tu0RpHgjTMzOsrVZvBAQEBAQEBAQEBAQEBAQEGc4ycdVI32qjf4Qzu/qAq3bEzGDd06fzDdj/uQiL5quBAQEBAQEBAQEBBwq6umo481b2sBOBqOMnyHmegW+xjXr9W7apmZ/vowqrppjWZKdl0uGPyfAWtP1lRlgx0ZjtCehDR1XR4nZmurSrIq0jpHP15R7olzMiP0wsYOEoZhm9yvqPNg7kPkRoacub0kc8LpMXZuLjft0Rr1njPr9tESu9XXzloKenhpYQyma1jWjAa0AADoBsFOanRAQEBAQEBAQEBAQEBAQEBAQEGc4xBElIfKoI/GGoCrdsRM4N3Tp/MN2P+7CIvmq4EBAQEBAQEBHiELjHNKWW9r6h45thGQD5OcSGNPRzgVcYmw8vI4zTux1n7c2ivJop8U+Cw3et/XZG0zfZhw+T4veNAyOYDD0culxOzuNa43Pjn0j0+8odeXXVy4Lm2WC2WyTVTR5kIwZXkvkI8tbiXY6Zx0V5RRTRTu0RER4cEaZmeMrNZvBBAvt3o7DaZKi5EtjiGXEAk7kAYA6kBAsV3or9aWVFsdrilGWnBHIlpBB8QQR8EEqmnZU0zXx8ntDhnyIyEHVAQEBAQEBBwhrKWeocyF7HPj9docC5ueWRzCDugICAgICAgIKHjRh/IusfUyxyHo0PaHn9wuWjKtfi2K7fWJj2ZUVbtUSr18qXYj0QEBAQEBBwraSGupHR1Q1MeMOGSMg9Rut2PfrsXIuUc4Y10xVGkvVtuVwsbAyVvyiBuwLGtbNGPujDZGj7Ia7A5PO67XB7Q2b2lN74Kuvd/jz9VddxKqeNPGGpt1xo7nT66F4e3kcc2nxBB3Dh5EAroURKQEBBkfSu6U8BVDKcZfNoiaPMySMZ/mgvrXRU1hsUcUOzKeIN+DW7n3nBJ96CtF9tHDlNSQXiVsUk7A1moEBxY1gdl2NLebR3iM52QXFuuVDdIC+2SxzNBLS6NwcA4YyMg4zuNuqDlU3u00tY2KqqIWSPOGsdI0OcfIAnOUH5dL7aLO5ou1RDCX50iWRrdWMZxqIz4IO09xoaeh7aeWNsQGe0c8BmPA6s4wgg8V3U2rh2eWnPzjIZHx90uGprHOBIH0cjmdkGb9HXGFXceDIp+Ig8HDzJUFrGRaWueA4nI8B4NxlBZ8M+kHhriivdDaJi6RoJDXMc3UBzLdQ393Pog4cOv4coeJrmbbHJFKxzH1biDocS10gc3c+08nYHOduSC1tPF3D14ZH+T6qFxmz2bdQD3YzkaHYdkeWEGV9JHF90sfEduis5OJ5y2ZvZZLwDCNLSejz6p543CDc0lwZUAds10TnHDWy6Q52Bk4Acc7IJHbw/KNGoa9OrTkatOcZxzxnbKDogICAgj3CkiuFBJFP6srCx3ucCD/VBjbRNJPb2/KP0jMsk/xGEsfz8NQOOmF8y2ni/lsqu33a6x8p4x9lzZr36IlMUBtEBAQEBAQEBBFmomuqO0pnOilH1kZAcR5OBBa9vPZwI8sFWmDtfIxOFM609J5eXRou2KLnPmn0fE81F3eIGgD/AHiIHs/225Lo/HfvM83Dku0wNr4+ZGlM6VdJ/ie/6+Cuu2K7fPk08cjJYw6IhwIyCDkEdFaNL0gouM7fUXCyYom63xSxTNZkd/spWSFoyQMkNIGdskIPMtwN9p+yo4p2h50yumhfGGM+mO+BqLhlo0ahvnOyCj9Jljp79crZFWDMZqzqGOYEUkmn3HRg9Cg0EVNHRXmVtGGs7aBrmtaMDVGXtc7bbOHQt9zWoMD6OOAuFq/heKa8sZPUyvL5HOcQ5sgcT2ZAdzbjdp5nOR4IPV74eukvpPmkNd8kFTHGIHOgZIJGgESQtc/ZrwRq0jdwfnB0lBIv3CVr4b9FNdHSSSTseDJmRzSA8FvqhoDWgOGcAILMWSKi9FcxILp5Le7tJXZdI9xhJIycu052Dc4GBhBO4JoaOb0Z0jLhE2SM0zHOY5ocHd0O5HYnxQYhlzoJb3a6mgjpYe+CIKVhdJHBI1zNcz2Yaxo1M7hZsc97YoPo1soqem4mrexGHTtikd1JbLED/wBvkgx3o74aorR6NDK1gMztU7nlve1RucWAeIADRsPEu80FhxxD2/pGshAyNdQem0cbgfftn4II3pnhNFTUVfAxxNFVse8s5iI+v8CWsbv5jwQdbRxfaOKuPqd1j7VzY4JmOlLC2Nxcad4aCdy4ac4IHMc0H0RAQEBAQY6705tvERP1dZuOkzGgOH7cbWkAeMb/ADXNdpML8S1F+nnTwn5T9p+qZh3NKt2e97XELIQEBAQEBAQEBAXsTMTrDxEgp6i3SarK/ssnJjIzC/xOW/Rcd+8zG5yQ7kugwO0N6x8N746fePPv8/VFu4tNXGnhK7tfE0FRMI7k008x2DXHLJD/AHb+TvHunS/7IXZY2ZYyad6zVr9fOOavrt1UfqhfKSwEHCpo6eqew1DQ4xP1sJ+i7Dm5HXS5w+JQd0EaOgo4qoyRxxiR3N4aA4+84yUHSqpqeshLKtjXtPNr2gg/A7IPM9HS1NGYp2MdG4aSwtBaW+WOWOiDq6NjotLgC0jGMbY5Yx5II1st1NaqQRUILY27NaXEho8hknDR4DkPBB0p6KlpdXyaNjNZy7S0DUfM4G56oPQgibUl4Hec0NJ8w0uIHwLnfiUHmjo6ehpwykaGtBJDRyy5xcf5iSg5XC2UlxdGapuXQu1xuBIcx2CMgjfcEgjkQd0HSonp4dLakj506Gh30jpc4jfoCgp4H0k/ETIra1mijY4v0ABrJH6Qxm22rR2jiOYBZn1gg0CAgICAgg3q2su1udG86ScFjxzY9py1w6ggHHjy8V5VTFUTTPKXsTpxhlaGofMxzakBssTtErB9FwAO32XAhzT4tcF812ns+rCvbnOmeMT4feO9b2bsXKdUpVzcICAgICAgICAgIOdRBDUwltQ0Pa7m1wBB+BWy1drtVRXbnSYY1UxVGkvNJU3Ozj8zJniH1Mru80fYkO/7L8j7TQuswO0kcKMmPOP5j7eiDdw++hobPfKG7ZFOS2RvrxSDTIzw3b7Oc4cMtPgSupouU3KYqonWJ6IUxMTpKzWbwQEBAQEBAQEBAQRrhQUdypjHcY2SsPNsjQ5p+B2ygW630VrpRHbY2RRt5MjaGtGdzsPFBJQEBAQEBBn+I7PJNKKi2DM7G6XNzgTR5J0Hw1AklrjyJI5OKhZ+FRmWZt1+U9J/vNstXJt1awqqOqirINUB23BBGC0jYtcDuHA7EHkV84ysW5jXZtXI0mPeOseC3oriuNYd1HZiAgICAgICAgICAgj1dFBVlplB1MOWPaS17D5tcNx8OfipmHn38SrW1V5d0+X9lruWqa4+KFpwfcK6uZKKlwljjcGxzYAdIRntAcd12k4GtoAJ1DHdJP0fDu3Ltimu7TuzPcqLlMU1TFM6tEpLAQEBAQEBAQEBAQEBAQEBAQEBBn75YXyzme0aWzH12u2ZOBsA7HJ4GweB5A5GMQc7Z9nMo3bnOOU98f3o2WrtVudYVFJWMqSWkOZIz143jD2E+Y8jvhwyDjYlcBn7OvYde7cjh3T3StbV2m5GsJKgNogICAgICAgICD8JAG/gvaaZqnSI1l5M6OFBSS8SD5kuZSnnINnTjyj8RGfGTxHq89S7PZGwvw5i9kR8XdHTxnxV9/J1+GhsqeCKmgaynaGsYA1rWjAaBsAB4ABdQhOiAgICAgICAgICAgICAgICAgICAgrbxZKK7gGcFsjPUlZtIzPPB9k7ZactONwVhct0XKZprjWJexMxOsM7U010tQ/PW9tGPrYWnUB9uMZPxZqz5NXK53ZrWd7Gnyn+J+/qm2szurKapgq4tVK5rx5tOd/L39Fy1/Hu2Kt27TMT4p1NdNUaxLstLIQEBAQEBBEkr2GoMdG100o5xxYJb9450sH3iOmVbYexcrJmJ3d2nrP8RzlouZFFHzWNFwzJWODuIS1wByKdmTEPvk4Mh6EBvLukgFdngbJx8PjTGtXWf46eXHxV12/Vc58mnAAGys2l+oCAgICAgICAgICAgICAgICAgICAgICCruPD9suEuuVmmT+0jJY/4uaQSOhyOiwuW6LlO7XGseL2JmJ1hUy8O3anP5lUMlb7NQzDv348DHvjJ6qmyOz2Hd40xNM+E8PSdfbRIpyrlPPijSQ3qn/T0pd1glY4fz6D/BVd3stVr/67kecafTVvpzY74cnVckf6aCpb/wAB7v4sDh/FQKuzmbEcIifP76NkZdt4FxaTtFU/9NP/AOix/wDHs7/THrH3e/mrXX6ugmrJP1elqX/sNZ/5HNW+jszlzOlU0x5z9mM5lDuy3X+o9SOKEecshc4fsMGD++FPtdl6I/cuTPyjT66/RqqzZ7oS4eE2zHN3nkl+wz5qPPuYdZHRz3DorvG2XiY0626OPWeM+/Ly0Rq79dfOV9RUdLQUwjoWMjY3k1jQ1o+A2Vg1O6AgICAgICAgICAgICAgICAgICAgICAgICAgICAgICAgICAgICAgICAgICAgICAgICAgICAgICAgICAgICAgICAgICAgICAgICAgICAgICAgICAgICAgICAgICAgICAgICAgICAgICAgICAgICAgICAgICAgICAgICAgICAgICAgICAgICAgICAgICAgICAgICAgICAgICAgICD/2Q=="/>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51208" name="Picture 8" descr="http://www.pmsouth.com/wp-content/uploads/2014/01/iStock_000019722867Medium.jpg"/>
          <p:cNvPicPr>
            <a:picLocks noChangeAspect="1" noChangeArrowheads="1"/>
          </p:cNvPicPr>
          <p:nvPr/>
        </p:nvPicPr>
        <p:blipFill>
          <a:blip r:embed="rId3" cstate="print"/>
          <a:srcRect/>
          <a:stretch>
            <a:fillRect/>
          </a:stretch>
        </p:blipFill>
        <p:spPr bwMode="auto">
          <a:xfrm>
            <a:off x="4876800" y="4038600"/>
            <a:ext cx="3886200" cy="2430189"/>
          </a:xfrm>
          <a:prstGeom prst="rect">
            <a:avLst/>
          </a:prstGeom>
          <a:no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828800"/>
            <a:ext cx="3886200" cy="4648199"/>
          </a:xfrm>
          <a:ln>
            <a:solidFill>
              <a:srgbClr val="0070C0"/>
            </a:solidFill>
          </a:ln>
        </p:spPr>
        <p:txBody>
          <a:bodyPr>
            <a:normAutofit fontScale="92500" lnSpcReduction="20000"/>
          </a:bodyPr>
          <a:lstStyle/>
          <a:p>
            <a:r>
              <a:rPr lang="en-US" sz="3300" dirty="0" smtClean="0">
                <a:cs typeface="Arial" charset="0"/>
              </a:rPr>
              <a:t>Planning </a:t>
            </a:r>
            <a:r>
              <a:rPr lang="en-US" sz="3300" i="1" dirty="0" smtClean="0">
                <a:cs typeface="Arial" charset="0"/>
              </a:rPr>
              <a:t>minimises waste and redundancy</a:t>
            </a:r>
            <a:r>
              <a:rPr lang="en-US" sz="3300" dirty="0" smtClean="0">
                <a:cs typeface="Arial" charset="0"/>
              </a:rPr>
              <a:t>. </a:t>
            </a:r>
            <a:endParaRPr lang="en-US" sz="3300" dirty="0" smtClean="0">
              <a:cs typeface="Arial" charset="0"/>
            </a:endParaRPr>
          </a:p>
          <a:p>
            <a:endParaRPr lang="en-US" sz="3300" dirty="0" smtClean="0">
              <a:cs typeface="Arial" charset="0"/>
            </a:endParaRPr>
          </a:p>
          <a:p>
            <a:r>
              <a:rPr lang="en-US" sz="3000" dirty="0" smtClean="0">
                <a:cs typeface="Arial" charset="0"/>
              </a:rPr>
              <a:t>When </a:t>
            </a:r>
            <a:r>
              <a:rPr lang="en-US" sz="3000" dirty="0" smtClean="0">
                <a:cs typeface="Arial" charset="0"/>
              </a:rPr>
              <a:t>work activities are coordinated around plans, inefficiencies become obvious and can be corrected or eliminated.</a:t>
            </a:r>
          </a:p>
          <a:p>
            <a:endParaRPr lang="en-US" dirty="0" smtClean="0">
              <a:cs typeface="Arial" charset="0"/>
            </a:endParaRPr>
          </a:p>
          <a:p>
            <a:endParaRPr lang="en-US" dirty="0" smtClean="0"/>
          </a:p>
          <a:p>
            <a:endParaRPr lang="en-US"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10</a:t>
            </a:fld>
            <a:endParaRPr lang="en-US" dirty="0"/>
          </a:p>
        </p:txBody>
      </p:sp>
      <p:sp>
        <p:nvSpPr>
          <p:cNvPr id="4" name="Title 3"/>
          <p:cNvSpPr>
            <a:spLocks noGrp="1"/>
          </p:cNvSpPr>
          <p:nvPr>
            <p:ph type="title"/>
          </p:nvPr>
        </p:nvSpPr>
        <p:spPr/>
        <p:txBody>
          <a:bodyPr/>
          <a:lstStyle/>
          <a:p>
            <a:r>
              <a:rPr lang="en-GB" dirty="0" smtClean="0"/>
              <a:t>Why do managers plan? (cont.)</a:t>
            </a:r>
            <a:endParaRPr lang="en-US" dirty="0"/>
          </a:p>
        </p:txBody>
      </p:sp>
      <p:pic>
        <p:nvPicPr>
          <p:cNvPr id="50178" name="Picture 2" descr="http://quixoteconsulting.com/Blog/wp-content/uploads/2010/06/cartoon.jpg"/>
          <p:cNvPicPr>
            <a:picLocks noChangeAspect="1" noChangeArrowheads="1"/>
          </p:cNvPicPr>
          <p:nvPr/>
        </p:nvPicPr>
        <p:blipFill>
          <a:blip r:embed="rId2" cstate="print"/>
          <a:srcRect/>
          <a:stretch>
            <a:fillRect/>
          </a:stretch>
        </p:blipFill>
        <p:spPr bwMode="auto">
          <a:xfrm>
            <a:off x="4648200" y="1828800"/>
            <a:ext cx="4038600" cy="4648200"/>
          </a:xfrm>
          <a:prstGeom prst="rect">
            <a:avLst/>
          </a:prstGeom>
          <a:noFill/>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828800"/>
            <a:ext cx="4495800" cy="4297363"/>
          </a:xfrm>
          <a:ln>
            <a:solidFill>
              <a:srgbClr val="0070C0"/>
            </a:solidFill>
          </a:ln>
        </p:spPr>
        <p:txBody>
          <a:bodyPr>
            <a:normAutofit fontScale="85000" lnSpcReduction="20000"/>
          </a:bodyPr>
          <a:lstStyle/>
          <a:p>
            <a:r>
              <a:rPr lang="en-US" sz="3800" dirty="0" smtClean="0">
                <a:cs typeface="Arial" charset="0"/>
              </a:rPr>
              <a:t>Planning </a:t>
            </a:r>
            <a:r>
              <a:rPr lang="en-US" sz="3800" i="1" dirty="0" smtClean="0">
                <a:cs typeface="Arial" charset="0"/>
              </a:rPr>
              <a:t>establishes the goals or standards used in controlling</a:t>
            </a:r>
            <a:r>
              <a:rPr lang="en-US" sz="3800" dirty="0" smtClean="0">
                <a:cs typeface="Arial" charset="0"/>
              </a:rPr>
              <a:t>. </a:t>
            </a:r>
            <a:endParaRPr lang="en-US" sz="3800" dirty="0" smtClean="0">
              <a:cs typeface="Arial" charset="0"/>
            </a:endParaRPr>
          </a:p>
          <a:p>
            <a:pPr lvl="1"/>
            <a:endParaRPr lang="en-US" sz="2400" dirty="0" smtClean="0">
              <a:cs typeface="Arial" charset="0"/>
            </a:endParaRPr>
          </a:p>
          <a:p>
            <a:r>
              <a:rPr lang="en-US" sz="3000" dirty="0" smtClean="0">
                <a:cs typeface="Arial" charset="0"/>
              </a:rPr>
              <a:t>When </a:t>
            </a:r>
            <a:r>
              <a:rPr lang="en-US" sz="3000" dirty="0" smtClean="0">
                <a:cs typeface="Arial" charset="0"/>
              </a:rPr>
              <a:t>managers plan, they develop goals and plans. </a:t>
            </a:r>
            <a:endParaRPr lang="en-US" sz="3000" dirty="0" smtClean="0">
              <a:cs typeface="Arial" charset="0"/>
            </a:endParaRPr>
          </a:p>
          <a:p>
            <a:endParaRPr lang="en-US" sz="3000" dirty="0" smtClean="0">
              <a:cs typeface="Arial" charset="0"/>
            </a:endParaRPr>
          </a:p>
          <a:p>
            <a:r>
              <a:rPr lang="en-US" sz="3000" dirty="0" smtClean="0">
                <a:cs typeface="Arial" charset="0"/>
              </a:rPr>
              <a:t>When </a:t>
            </a:r>
            <a:r>
              <a:rPr lang="en-US" sz="3000" dirty="0" smtClean="0">
                <a:cs typeface="Arial" charset="0"/>
              </a:rPr>
              <a:t>they control, they see whether the plans have been carried out and the goals met.</a:t>
            </a:r>
          </a:p>
          <a:p>
            <a:endParaRPr lang="en-US"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11</a:t>
            </a:fld>
            <a:endParaRPr lang="en-US" dirty="0"/>
          </a:p>
        </p:txBody>
      </p:sp>
      <p:sp>
        <p:nvSpPr>
          <p:cNvPr id="4" name="Title 3"/>
          <p:cNvSpPr>
            <a:spLocks noGrp="1"/>
          </p:cNvSpPr>
          <p:nvPr>
            <p:ph type="title"/>
          </p:nvPr>
        </p:nvSpPr>
        <p:spPr/>
        <p:txBody>
          <a:bodyPr/>
          <a:lstStyle/>
          <a:p>
            <a:r>
              <a:rPr lang="en-GB" dirty="0" smtClean="0"/>
              <a:t>Why do managers plan? (cont.)</a:t>
            </a:r>
            <a:endParaRPr lang="en-US" dirty="0"/>
          </a:p>
        </p:txBody>
      </p:sp>
      <p:pic>
        <p:nvPicPr>
          <p:cNvPr id="73730" name="Picture 2" descr="http://www.grrinninbear.com.au/vet/vsb_cartoons/VSB-images/05_06%20self_care.gif"/>
          <p:cNvPicPr>
            <a:picLocks noChangeAspect="1" noChangeArrowheads="1"/>
          </p:cNvPicPr>
          <p:nvPr/>
        </p:nvPicPr>
        <p:blipFill>
          <a:blip r:embed="rId2" cstate="print"/>
          <a:srcRect/>
          <a:stretch>
            <a:fillRect/>
          </a:stretch>
        </p:blipFill>
        <p:spPr bwMode="auto">
          <a:xfrm>
            <a:off x="5257800" y="1828800"/>
            <a:ext cx="3733800" cy="4267200"/>
          </a:xfrm>
          <a:prstGeom prst="rect">
            <a:avLst/>
          </a:prstGeom>
          <a:noFill/>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56" name="Picture 4" descr="http://www.elisabethnaughton.com/wp-content/uploads/2014/03/money.jpg"/>
          <p:cNvPicPr>
            <a:picLocks noChangeAspect="1" noChangeArrowheads="1"/>
          </p:cNvPicPr>
          <p:nvPr/>
        </p:nvPicPr>
        <p:blipFill>
          <a:blip r:embed="rId2" cstate="print"/>
          <a:srcRect/>
          <a:stretch>
            <a:fillRect/>
          </a:stretch>
        </p:blipFill>
        <p:spPr bwMode="auto">
          <a:xfrm>
            <a:off x="6553200" y="3124200"/>
            <a:ext cx="2286000" cy="1714500"/>
          </a:xfrm>
          <a:prstGeom prst="rect">
            <a:avLst/>
          </a:prstGeom>
          <a:noFill/>
        </p:spPr>
      </p:pic>
      <p:sp>
        <p:nvSpPr>
          <p:cNvPr id="2" name="Content Placeholder 1"/>
          <p:cNvSpPr>
            <a:spLocks noGrp="1"/>
          </p:cNvSpPr>
          <p:nvPr>
            <p:ph idx="1"/>
          </p:nvPr>
        </p:nvSpPr>
        <p:spPr>
          <a:xfrm>
            <a:off x="457200" y="1676400"/>
            <a:ext cx="8229600" cy="4648200"/>
          </a:xfrm>
        </p:spPr>
        <p:txBody>
          <a:bodyPr>
            <a:normAutofit fontScale="77500" lnSpcReduction="20000"/>
          </a:bodyPr>
          <a:lstStyle/>
          <a:p>
            <a:pPr hangingPunct="0"/>
            <a:r>
              <a:rPr lang="en-US" dirty="0" smtClean="0"/>
              <a:t>Although organisations that use formal planning do not </a:t>
            </a:r>
            <a:r>
              <a:rPr lang="en-US" i="1" dirty="0" smtClean="0"/>
              <a:t>always</a:t>
            </a:r>
            <a:r>
              <a:rPr lang="en-US" dirty="0" smtClean="0"/>
              <a:t> outperform those that do not plan, </a:t>
            </a:r>
          </a:p>
          <a:p>
            <a:pPr lvl="1" hangingPunct="0"/>
            <a:r>
              <a:rPr lang="en-US" dirty="0" smtClean="0">
                <a:cs typeface="Arial" charset="0"/>
              </a:rPr>
              <a:t>Numerous studies shown generally positive relationships between planning and performance. </a:t>
            </a:r>
          </a:p>
          <a:p>
            <a:pPr lvl="2" hangingPunct="0"/>
            <a:r>
              <a:rPr lang="en-GB" sz="1800" dirty="0" smtClean="0">
                <a:cs typeface="Arial" charset="0"/>
              </a:rPr>
              <a:t>(</a:t>
            </a:r>
            <a:r>
              <a:rPr lang="en-GB" sz="1800" dirty="0" smtClean="0"/>
              <a:t>Ghobadian,  A.,  O’Regan,  N. Thomas,  H. and Liu,  J. , 2008)</a:t>
            </a:r>
            <a:endParaRPr lang="en-GB" sz="1500" dirty="0" smtClean="0"/>
          </a:p>
          <a:p>
            <a:pPr hangingPunct="0"/>
            <a:endParaRPr lang="en-GB" dirty="0" smtClean="0"/>
          </a:p>
          <a:p>
            <a:r>
              <a:rPr lang="en-US" sz="3400" dirty="0" smtClean="0"/>
              <a:t>Formal planning is associated with: </a:t>
            </a:r>
          </a:p>
          <a:p>
            <a:pPr lvl="1">
              <a:spcBef>
                <a:spcPts val="0"/>
              </a:spcBef>
            </a:pPr>
            <a:r>
              <a:rPr lang="en-US" sz="3400" dirty="0" smtClean="0"/>
              <a:t>Positive financial results - higher </a:t>
            </a:r>
            <a:r>
              <a:rPr lang="en-US" sz="3400" dirty="0" smtClean="0"/>
              <a:t>                        profits</a:t>
            </a:r>
            <a:r>
              <a:rPr lang="en-US" sz="3400" dirty="0" smtClean="0"/>
              <a:t>, higher return on assets</a:t>
            </a:r>
            <a:r>
              <a:rPr lang="en-US" sz="3400" dirty="0" smtClean="0"/>
              <a:t>,.</a:t>
            </a:r>
            <a:endParaRPr lang="en-US" sz="3400" dirty="0" smtClean="0"/>
          </a:p>
          <a:p>
            <a:pPr hangingPunct="0"/>
            <a:endParaRPr lang="en-US" dirty="0" smtClean="0"/>
          </a:p>
          <a:p>
            <a:pPr hangingPunct="0"/>
            <a:r>
              <a:rPr lang="en-US" i="1" u="sng" dirty="0" smtClean="0"/>
              <a:t>Effective</a:t>
            </a:r>
            <a:r>
              <a:rPr lang="en-US" dirty="0" smtClean="0"/>
              <a:t> planning and </a:t>
            </a:r>
            <a:r>
              <a:rPr lang="en-US" i="1" u="sng" dirty="0" smtClean="0"/>
              <a:t>implementation</a:t>
            </a:r>
            <a:r>
              <a:rPr lang="en-US" dirty="0" smtClean="0"/>
              <a:t> affects performance more than the extent of, or amount of planning (… how much planning is done)  </a:t>
            </a:r>
          </a:p>
          <a:p>
            <a:pPr lvl="0" hangingPunct="0"/>
            <a:endParaRPr lang="en-US" dirty="0" smtClean="0"/>
          </a:p>
          <a:p>
            <a:endParaRPr lang="en-US"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12</a:t>
            </a:fld>
            <a:endParaRPr lang="en-US" dirty="0"/>
          </a:p>
        </p:txBody>
      </p:sp>
      <p:sp>
        <p:nvSpPr>
          <p:cNvPr id="4" name="Title 3"/>
          <p:cNvSpPr>
            <a:spLocks noGrp="1"/>
          </p:cNvSpPr>
          <p:nvPr>
            <p:ph type="title"/>
          </p:nvPr>
        </p:nvSpPr>
        <p:spPr/>
        <p:txBody>
          <a:bodyPr/>
          <a:lstStyle/>
          <a:p>
            <a:r>
              <a:rPr lang="en-GB" dirty="0" smtClean="0"/>
              <a:t>Planning and Performance</a:t>
            </a:r>
            <a:endParaRPr lang="en-US" dirty="0"/>
          </a:p>
        </p:txBody>
      </p:sp>
      <p:pic>
        <p:nvPicPr>
          <p:cNvPr id="49154" name="Picture 2" descr="http://www.biospectrumasia.com/IMG/451/76451/starpharma-vagina-infection-gel-vivagel-shows-positive-results-phase-ii-study-262x174.jpg"/>
          <p:cNvPicPr>
            <a:picLocks noChangeAspect="1" noChangeArrowheads="1"/>
          </p:cNvPicPr>
          <p:nvPr/>
        </p:nvPicPr>
        <p:blipFill>
          <a:blip r:embed="rId3" cstate="print"/>
          <a:srcRect/>
          <a:stretch>
            <a:fillRect/>
          </a:stretch>
        </p:blipFill>
        <p:spPr bwMode="auto">
          <a:xfrm>
            <a:off x="6648450" y="1"/>
            <a:ext cx="2495550" cy="1371600"/>
          </a:xfrm>
          <a:prstGeom prst="rect">
            <a:avLst/>
          </a:prstGeom>
          <a:no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34" name="Picture 6" descr="http://www.dalecarnegiewaynl.com/wp-content/uploads/2013/05/ID-100142583-300x300.jpg"/>
          <p:cNvPicPr>
            <a:picLocks noChangeAspect="1" noChangeArrowheads="1"/>
          </p:cNvPicPr>
          <p:nvPr/>
        </p:nvPicPr>
        <p:blipFill>
          <a:blip r:embed="rId3" cstate="print"/>
          <a:srcRect/>
          <a:stretch>
            <a:fillRect/>
          </a:stretch>
        </p:blipFill>
        <p:spPr bwMode="auto">
          <a:xfrm>
            <a:off x="6324600" y="5105400"/>
            <a:ext cx="2819400" cy="1752600"/>
          </a:xfrm>
          <a:prstGeom prst="rect">
            <a:avLst/>
          </a:prstGeom>
          <a:noFill/>
        </p:spPr>
      </p:pic>
      <p:pic>
        <p:nvPicPr>
          <p:cNvPr id="48132" name="Picture 4" descr="http://us.123rf.com/450wm/dskdesign/dskdesign1401/dskdesign140100022/24861905-business-hand-writing-five-external-factors--social--technology--economic--politic--environment--whi.jpg"/>
          <p:cNvPicPr>
            <a:picLocks noChangeAspect="1" noChangeArrowheads="1"/>
          </p:cNvPicPr>
          <p:nvPr/>
        </p:nvPicPr>
        <p:blipFill>
          <a:blip r:embed="rId4" cstate="print"/>
          <a:srcRect/>
          <a:stretch>
            <a:fillRect/>
          </a:stretch>
        </p:blipFill>
        <p:spPr bwMode="auto">
          <a:xfrm>
            <a:off x="6629400" y="0"/>
            <a:ext cx="2514600" cy="2133600"/>
          </a:xfrm>
          <a:prstGeom prst="rect">
            <a:avLst/>
          </a:prstGeom>
          <a:noFill/>
        </p:spPr>
      </p:pic>
      <p:sp>
        <p:nvSpPr>
          <p:cNvPr id="2" name="Content Placeholder 1"/>
          <p:cNvSpPr>
            <a:spLocks noGrp="1"/>
          </p:cNvSpPr>
          <p:nvPr>
            <p:ph idx="1"/>
          </p:nvPr>
        </p:nvSpPr>
        <p:spPr>
          <a:xfrm>
            <a:off x="457200" y="1499616"/>
            <a:ext cx="8229600" cy="4901184"/>
          </a:xfrm>
        </p:spPr>
        <p:txBody>
          <a:bodyPr>
            <a:noAutofit/>
          </a:bodyPr>
          <a:lstStyle/>
          <a:p>
            <a:pPr>
              <a:spcBef>
                <a:spcPts val="0"/>
              </a:spcBef>
            </a:pPr>
            <a:r>
              <a:rPr lang="en-US" sz="2400" dirty="0" smtClean="0"/>
              <a:t>The external environment can reduce </a:t>
            </a:r>
            <a:r>
              <a:rPr lang="en-US" sz="2400" dirty="0" smtClean="0"/>
              <a:t>                                 the </a:t>
            </a:r>
            <a:r>
              <a:rPr lang="en-US" sz="2400" dirty="0" smtClean="0"/>
              <a:t>impact of planning on performance.</a:t>
            </a:r>
          </a:p>
          <a:p>
            <a:pPr lvl="1"/>
            <a:r>
              <a:rPr lang="en-US" sz="2200" dirty="0" smtClean="0">
                <a:cs typeface="Arial" charset="0"/>
              </a:rPr>
              <a:t>In studies where formal planning did not lead to higher performance, the </a:t>
            </a:r>
            <a:r>
              <a:rPr lang="en-US" sz="2200" i="1" dirty="0" smtClean="0">
                <a:cs typeface="Arial" charset="0"/>
              </a:rPr>
              <a:t>external environment </a:t>
            </a:r>
            <a:r>
              <a:rPr lang="en-US" sz="2200" dirty="0" smtClean="0">
                <a:cs typeface="Arial" charset="0"/>
              </a:rPr>
              <a:t>often was the culprit. </a:t>
            </a:r>
          </a:p>
          <a:p>
            <a:pPr lvl="1"/>
            <a:r>
              <a:rPr lang="en-US" sz="2200" dirty="0" smtClean="0">
                <a:cs typeface="Arial" charset="0"/>
              </a:rPr>
              <a:t>When external forces – such as governmental regulations or powerful  labor unions - constrain managers’ options, it reduces the impact planning has on an organisation’s performance. </a:t>
            </a:r>
          </a:p>
          <a:p>
            <a:pPr>
              <a:spcBef>
                <a:spcPts val="0"/>
              </a:spcBef>
            </a:pPr>
            <a:endParaRPr lang="en-US" sz="2400" dirty="0" smtClean="0">
              <a:cs typeface="Arial" charset="0"/>
            </a:endParaRPr>
          </a:p>
          <a:p>
            <a:pPr>
              <a:spcBef>
                <a:spcPts val="0"/>
              </a:spcBef>
            </a:pPr>
            <a:r>
              <a:rPr lang="en-US" sz="2400" dirty="0" smtClean="0">
                <a:cs typeface="Arial" charset="0"/>
              </a:rPr>
              <a:t>Finally, the planning-performance relationship seems to be influenced by the planning time frame. </a:t>
            </a:r>
          </a:p>
          <a:p>
            <a:pPr lvl="1"/>
            <a:r>
              <a:rPr lang="en-US" sz="2200" dirty="0" smtClean="0">
                <a:cs typeface="Arial" charset="0"/>
              </a:rPr>
              <a:t>It seems that at least 4 years of formal </a:t>
            </a:r>
            <a:r>
              <a:rPr lang="en-US" sz="2200" dirty="0" smtClean="0">
                <a:cs typeface="Arial" charset="0"/>
              </a:rPr>
              <a:t>                               planning </a:t>
            </a:r>
            <a:r>
              <a:rPr lang="en-US" sz="2200" dirty="0" smtClean="0">
                <a:cs typeface="Arial" charset="0"/>
              </a:rPr>
              <a:t>is required before it begins </a:t>
            </a:r>
            <a:r>
              <a:rPr lang="en-US" sz="2200" dirty="0" smtClean="0">
                <a:cs typeface="Arial" charset="0"/>
              </a:rPr>
              <a:t>to                                      </a:t>
            </a:r>
            <a:r>
              <a:rPr lang="en-US" sz="2200" dirty="0" smtClean="0">
                <a:cs typeface="Arial" charset="0"/>
              </a:rPr>
              <a:t>affect </a:t>
            </a:r>
            <a:r>
              <a:rPr lang="en-US" sz="2200" dirty="0" smtClean="0">
                <a:cs typeface="Arial" charset="0"/>
              </a:rPr>
              <a:t>performance.</a:t>
            </a:r>
            <a:endParaRPr lang="en-US" sz="2200" dirty="0"/>
          </a:p>
        </p:txBody>
      </p:sp>
      <p:sp>
        <p:nvSpPr>
          <p:cNvPr id="3" name="Title 2"/>
          <p:cNvSpPr>
            <a:spLocks noGrp="1"/>
          </p:cNvSpPr>
          <p:nvPr>
            <p:ph type="title"/>
          </p:nvPr>
        </p:nvSpPr>
        <p:spPr/>
        <p:txBody>
          <a:bodyPr/>
          <a:lstStyle/>
          <a:p>
            <a:r>
              <a:rPr lang="en-GB" dirty="0" smtClean="0"/>
              <a:t>Planning and Performance</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13</a:t>
            </a:fld>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http://www.jackofhearts.es/imagenes/plan_estategico%20.jpg"/>
          <p:cNvPicPr>
            <a:picLocks noChangeAspect="1" noChangeArrowheads="1"/>
          </p:cNvPicPr>
          <p:nvPr/>
        </p:nvPicPr>
        <p:blipFill>
          <a:blip r:embed="rId2" cstate="print"/>
          <a:srcRect/>
          <a:stretch>
            <a:fillRect/>
          </a:stretch>
        </p:blipFill>
        <p:spPr bwMode="auto">
          <a:xfrm>
            <a:off x="6096000" y="1752600"/>
            <a:ext cx="2794948" cy="2286000"/>
          </a:xfrm>
          <a:prstGeom prst="rect">
            <a:avLst/>
          </a:prstGeom>
          <a:noFill/>
        </p:spPr>
      </p:pic>
      <p:sp>
        <p:nvSpPr>
          <p:cNvPr id="3" name="Content Placeholder 2"/>
          <p:cNvSpPr>
            <a:spLocks noGrp="1"/>
          </p:cNvSpPr>
          <p:nvPr>
            <p:ph idx="1"/>
          </p:nvPr>
        </p:nvSpPr>
        <p:spPr>
          <a:xfrm>
            <a:off x="457200" y="1752600"/>
            <a:ext cx="5410200" cy="4572000"/>
          </a:xfrm>
          <a:ln>
            <a:solidFill>
              <a:srgbClr val="0070C0"/>
            </a:solidFill>
          </a:ln>
        </p:spPr>
        <p:txBody>
          <a:bodyPr>
            <a:normAutofit fontScale="92500" lnSpcReduction="10000"/>
          </a:bodyPr>
          <a:lstStyle/>
          <a:p>
            <a:r>
              <a:rPr lang="en-US" dirty="0" smtClean="0"/>
              <a:t>Planning is often called the primary management function because it establishes the basis for all other functions. </a:t>
            </a:r>
          </a:p>
          <a:p>
            <a:endParaRPr lang="en-US" dirty="0" smtClean="0"/>
          </a:p>
          <a:p>
            <a:r>
              <a:rPr lang="en-US" dirty="0" smtClean="0"/>
              <a:t>Planning involves two important elements:  Goals and Plans.</a:t>
            </a:r>
          </a:p>
          <a:p>
            <a:pPr lvl="1"/>
            <a:r>
              <a:rPr lang="en-US" sz="2900" dirty="0" smtClean="0">
                <a:cs typeface="Arial" charset="0"/>
              </a:rPr>
              <a:t>As managers plan, they develop both goals and plans.</a:t>
            </a:r>
            <a:endParaRPr lang="en-US" sz="5800" b="1" dirty="0" smtClean="0">
              <a:cs typeface="Arial" charset="0"/>
            </a:endParaRPr>
          </a:p>
          <a:p>
            <a:endParaRPr lang="en-US" sz="3100" b="1" dirty="0" smtClean="0">
              <a:cs typeface="Arial" charset="0"/>
            </a:endParaRPr>
          </a:p>
          <a:p>
            <a:endParaRPr lang="en-US" dirty="0" smtClean="0">
              <a:cs typeface="Arial" charset="0"/>
            </a:endParaRPr>
          </a:p>
          <a:p>
            <a:endParaRPr lang="en-US" dirty="0" smtClean="0">
              <a:cs typeface="Arial" charset="0"/>
            </a:endParaRPr>
          </a:p>
          <a:p>
            <a:endParaRPr lang="en-US" dirty="0"/>
          </a:p>
        </p:txBody>
      </p:sp>
      <p:sp>
        <p:nvSpPr>
          <p:cNvPr id="2" name="Title 1"/>
          <p:cNvSpPr>
            <a:spLocks noGrp="1"/>
          </p:cNvSpPr>
          <p:nvPr>
            <p:ph type="title"/>
          </p:nvPr>
        </p:nvSpPr>
        <p:spPr/>
        <p:txBody>
          <a:bodyPr/>
          <a:lstStyle/>
          <a:p>
            <a:r>
              <a:rPr lang="en-GB" dirty="0" smtClean="0"/>
              <a:t>Goals &amp; Plans</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14</a:t>
            </a:fld>
            <a:endParaRPr lang="en-US" dirty="0"/>
          </a:p>
        </p:txBody>
      </p:sp>
      <p:pic>
        <p:nvPicPr>
          <p:cNvPr id="46082" name="Picture 2" descr="https://encrypted-tbn3.gstatic.com/images?q=tbn:ANd9GcSUzv34Ocd7meugVQZvRUnh29mzS-N5hNwvAvCWEdTS2xLKj0kUCQ"/>
          <p:cNvPicPr>
            <a:picLocks noChangeAspect="1" noChangeArrowheads="1"/>
          </p:cNvPicPr>
          <p:nvPr/>
        </p:nvPicPr>
        <p:blipFill>
          <a:blip r:embed="rId3" cstate="print"/>
          <a:srcRect/>
          <a:stretch>
            <a:fillRect/>
          </a:stretch>
        </p:blipFill>
        <p:spPr bwMode="auto">
          <a:xfrm>
            <a:off x="6172200" y="4191000"/>
            <a:ext cx="2667000" cy="2286000"/>
          </a:xfrm>
          <a:prstGeom prst="rect">
            <a:avLst/>
          </a:prstGeom>
          <a:noFill/>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US"/>
          </a:p>
        </p:txBody>
      </p:sp>
      <p:sp>
        <p:nvSpPr>
          <p:cNvPr id="3" name="Slide Number Placeholder 2"/>
          <p:cNvSpPr>
            <a:spLocks noGrp="1"/>
          </p:cNvSpPr>
          <p:nvPr>
            <p:ph type="sldNum" sz="quarter" idx="12"/>
          </p:nvPr>
        </p:nvSpPr>
        <p:spPr/>
        <p:txBody>
          <a:bodyPr/>
          <a:lstStyle/>
          <a:p>
            <a:fld id="{B6F15528-21DE-4FAA-801E-634DDDAF4B2B}" type="slidenum">
              <a:rPr lang="en-US" smtClean="0"/>
              <a:pPr/>
              <a:t>15</a:t>
            </a:fld>
            <a:endParaRPr lang="en-US" dirty="0"/>
          </a:p>
        </p:txBody>
      </p:sp>
      <p:sp>
        <p:nvSpPr>
          <p:cNvPr id="4" name="Title 3"/>
          <p:cNvSpPr>
            <a:spLocks noGrp="1"/>
          </p:cNvSpPr>
          <p:nvPr>
            <p:ph type="title"/>
          </p:nvPr>
        </p:nvSpPr>
        <p:spPr/>
        <p:txBody>
          <a:bodyPr/>
          <a:lstStyle/>
          <a:p>
            <a:endParaRPr lang="en-US"/>
          </a:p>
        </p:txBody>
      </p:sp>
      <p:pic>
        <p:nvPicPr>
          <p:cNvPr id="74754" name="Picture 2" descr="http://static.quoteswave.com/wp-content/uploads/2013/02/Without-goals-and-plans-to-reach-them.jpg"/>
          <p:cNvPicPr>
            <a:picLocks noChangeAspect="1" noChangeArrowheads="1"/>
          </p:cNvPicPr>
          <p:nvPr/>
        </p:nvPicPr>
        <p:blipFill>
          <a:blip r:embed="rId2" cstate="print"/>
          <a:srcRect/>
          <a:stretch>
            <a:fillRect/>
          </a:stretch>
        </p:blipFill>
        <p:spPr bwMode="auto">
          <a:xfrm>
            <a:off x="533400" y="685800"/>
            <a:ext cx="4191000" cy="5600701"/>
          </a:xfrm>
          <a:prstGeom prst="rect">
            <a:avLst/>
          </a:prstGeom>
          <a:noFill/>
        </p:spPr>
      </p:pic>
      <p:pic>
        <p:nvPicPr>
          <p:cNvPr id="74756" name="Picture 4" descr="http://www.pinkchocolatebreak.com/wp-content/uploads/2013/10/monday-quotes-set-your-goal5.jpg"/>
          <p:cNvPicPr>
            <a:picLocks noChangeAspect="1" noChangeArrowheads="1"/>
          </p:cNvPicPr>
          <p:nvPr/>
        </p:nvPicPr>
        <p:blipFill>
          <a:blip r:embed="rId3" cstate="print"/>
          <a:srcRect/>
          <a:stretch>
            <a:fillRect/>
          </a:stretch>
        </p:blipFill>
        <p:spPr bwMode="auto">
          <a:xfrm>
            <a:off x="5105400" y="685800"/>
            <a:ext cx="3733800" cy="5562600"/>
          </a:xfrm>
          <a:prstGeom prst="rect">
            <a:avLst/>
          </a:prstGeom>
          <a:noFill/>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58" name="Picture 2" descr="https://encrypted-tbn2.gstatic.com/images?q=tbn:ANd9GcSvTxFzEFx2ySx2EbgH6O_VUAbJJd99ccSpyqNy2JLxeN_0ugml"/>
          <p:cNvPicPr>
            <a:picLocks noChangeAspect="1" noChangeArrowheads="1"/>
          </p:cNvPicPr>
          <p:nvPr/>
        </p:nvPicPr>
        <p:blipFill>
          <a:blip r:embed="rId2" cstate="print"/>
          <a:srcRect/>
          <a:stretch>
            <a:fillRect/>
          </a:stretch>
        </p:blipFill>
        <p:spPr bwMode="auto">
          <a:xfrm>
            <a:off x="6172200" y="4419600"/>
            <a:ext cx="2971800" cy="2438400"/>
          </a:xfrm>
          <a:prstGeom prst="rect">
            <a:avLst/>
          </a:prstGeom>
          <a:noFill/>
        </p:spPr>
      </p:pic>
      <p:sp>
        <p:nvSpPr>
          <p:cNvPr id="2" name="Content Placeholder 1"/>
          <p:cNvSpPr>
            <a:spLocks noGrp="1"/>
          </p:cNvSpPr>
          <p:nvPr>
            <p:ph idx="1"/>
          </p:nvPr>
        </p:nvSpPr>
        <p:spPr>
          <a:xfrm>
            <a:off x="457200" y="1752600"/>
            <a:ext cx="8153400" cy="4800600"/>
          </a:xfrm>
        </p:spPr>
        <p:txBody>
          <a:bodyPr>
            <a:normAutofit fontScale="77500" lnSpcReduction="20000"/>
          </a:bodyPr>
          <a:lstStyle/>
          <a:p>
            <a:r>
              <a:rPr lang="en-US" sz="3100" b="1" dirty="0" smtClean="0">
                <a:cs typeface="Arial" charset="0"/>
              </a:rPr>
              <a:t>Goals (objectives)</a:t>
            </a:r>
            <a:r>
              <a:rPr lang="en-US" sz="3100" dirty="0" smtClean="0">
                <a:cs typeface="Arial" charset="0"/>
              </a:rPr>
              <a:t> –  are “desired outcomes or targets” for individuals groups, or entire </a:t>
            </a:r>
            <a:r>
              <a:rPr lang="en-US" sz="3100" dirty="0" smtClean="0">
                <a:cs typeface="Arial" charset="0"/>
              </a:rPr>
              <a:t>organisations</a:t>
            </a:r>
            <a:r>
              <a:rPr lang="en-US" sz="3100" dirty="0" smtClean="0">
                <a:cs typeface="Arial" charset="0"/>
              </a:rPr>
              <a:t>	</a:t>
            </a:r>
          </a:p>
          <a:p>
            <a:pPr lvl="2"/>
            <a:r>
              <a:rPr lang="en-US" sz="1900" dirty="0" smtClean="0">
                <a:cs typeface="Arial" charset="0"/>
              </a:rPr>
              <a:t>(</a:t>
            </a:r>
            <a:r>
              <a:rPr lang="en-US" sz="1900" dirty="0" err="1" smtClean="0">
                <a:cs typeface="Arial" charset="0"/>
              </a:rPr>
              <a:t>Molz</a:t>
            </a:r>
            <a:r>
              <a:rPr lang="en-US" sz="1900" dirty="0" smtClean="0">
                <a:cs typeface="Arial" charset="0"/>
              </a:rPr>
              <a:t>, 1987)</a:t>
            </a:r>
          </a:p>
          <a:p>
            <a:pPr lvl="1"/>
            <a:r>
              <a:rPr lang="en-US" sz="2900" dirty="0" smtClean="0">
                <a:cs typeface="Arial" charset="0"/>
              </a:rPr>
              <a:t>They guide management decisions and form the criterion against which work results are measured. </a:t>
            </a:r>
          </a:p>
          <a:p>
            <a:pPr lvl="1"/>
            <a:r>
              <a:rPr lang="en-US" sz="2900" dirty="0" smtClean="0">
                <a:cs typeface="Arial" charset="0"/>
              </a:rPr>
              <a:t>That is why they are often described as the essential elements of planning. </a:t>
            </a:r>
          </a:p>
          <a:p>
            <a:pPr lvl="1"/>
            <a:r>
              <a:rPr lang="en-US" sz="2900" dirty="0" smtClean="0">
                <a:cs typeface="Arial" charset="0"/>
              </a:rPr>
              <a:t>You have to know the desired target or outcome before you can establish plans for reaching it. </a:t>
            </a:r>
            <a:endParaRPr lang="en-US" sz="2600" dirty="0" smtClean="0">
              <a:cs typeface="Arial" charset="0"/>
            </a:endParaRPr>
          </a:p>
          <a:p>
            <a:endParaRPr lang="en-US" sz="3100" b="1" dirty="0" smtClean="0">
              <a:cs typeface="Arial" charset="0"/>
            </a:endParaRPr>
          </a:p>
          <a:p>
            <a:r>
              <a:rPr lang="en-US" sz="3100" b="1" dirty="0" smtClean="0">
                <a:cs typeface="Arial" charset="0"/>
              </a:rPr>
              <a:t>Plans  - </a:t>
            </a:r>
            <a:r>
              <a:rPr lang="en-US" sz="3100" dirty="0" smtClean="0">
                <a:cs typeface="Arial" charset="0"/>
              </a:rPr>
              <a:t>are documents that outline how </a:t>
            </a:r>
            <a:r>
              <a:rPr lang="en-US" sz="3100" dirty="0" smtClean="0">
                <a:cs typeface="Arial" charset="0"/>
              </a:rPr>
              <a:t>                              goals </a:t>
            </a:r>
            <a:r>
              <a:rPr lang="en-US" sz="3100" dirty="0" smtClean="0">
                <a:cs typeface="Arial" charset="0"/>
              </a:rPr>
              <a:t>are going to be met.</a:t>
            </a:r>
          </a:p>
          <a:p>
            <a:pPr lvl="1"/>
            <a:r>
              <a:rPr lang="en-US" dirty="0" smtClean="0">
                <a:cs typeface="Arial" charset="0"/>
              </a:rPr>
              <a:t>They usually include resource allocations, </a:t>
            </a:r>
            <a:r>
              <a:rPr lang="en-US" dirty="0" smtClean="0">
                <a:cs typeface="Arial" charset="0"/>
              </a:rPr>
              <a:t>                            schedules</a:t>
            </a:r>
            <a:r>
              <a:rPr lang="en-US" dirty="0" smtClean="0">
                <a:cs typeface="Arial" charset="0"/>
              </a:rPr>
              <a:t>, and other necessary actions </a:t>
            </a:r>
            <a:r>
              <a:rPr lang="en-US" dirty="0" smtClean="0">
                <a:cs typeface="Arial" charset="0"/>
              </a:rPr>
              <a:t>                                   to </a:t>
            </a:r>
            <a:r>
              <a:rPr lang="en-US" dirty="0" smtClean="0">
                <a:cs typeface="Arial" charset="0"/>
              </a:rPr>
              <a:t>accomplish the goals. </a:t>
            </a:r>
          </a:p>
          <a:p>
            <a:endParaRPr lang="en-US"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16</a:t>
            </a:fld>
            <a:endParaRPr lang="en-US" dirty="0"/>
          </a:p>
        </p:txBody>
      </p:sp>
      <p:sp>
        <p:nvSpPr>
          <p:cNvPr id="4" name="Title 3"/>
          <p:cNvSpPr>
            <a:spLocks noGrp="1"/>
          </p:cNvSpPr>
          <p:nvPr>
            <p:ph type="title"/>
          </p:nvPr>
        </p:nvSpPr>
        <p:spPr/>
        <p:txBody>
          <a:bodyPr/>
          <a:lstStyle/>
          <a:p>
            <a:r>
              <a:rPr lang="en-GB" dirty="0" smtClean="0"/>
              <a:t>Goals &amp; Plans</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600200"/>
            <a:ext cx="8229600" cy="5029200"/>
          </a:xfrm>
        </p:spPr>
        <p:txBody>
          <a:bodyPr>
            <a:normAutofit fontScale="77500" lnSpcReduction="20000"/>
          </a:bodyPr>
          <a:lstStyle/>
          <a:p>
            <a:pPr>
              <a:defRPr/>
            </a:pPr>
            <a:r>
              <a:rPr lang="en-US" dirty="0" smtClean="0">
                <a:cs typeface="Arial" charset="0"/>
              </a:rPr>
              <a:t>It is possible to classify most company’s goals as either ‘Strategic’ or ‘Financial’. </a:t>
            </a:r>
          </a:p>
          <a:p>
            <a:pPr>
              <a:defRPr/>
            </a:pPr>
            <a:endParaRPr lang="en-US" sz="2300" dirty="0" smtClean="0">
              <a:cs typeface="Arial" charset="0"/>
            </a:endParaRPr>
          </a:p>
          <a:p>
            <a:pPr>
              <a:defRPr/>
            </a:pPr>
            <a:r>
              <a:rPr lang="en-US" sz="3100" b="1" dirty="0" smtClean="0"/>
              <a:t>Strategic Goals</a:t>
            </a:r>
            <a:r>
              <a:rPr lang="en-US" sz="3100" dirty="0" smtClean="0"/>
              <a:t> - related to the performance of the firm relative to factors in its external environment (e.g., competitors).</a:t>
            </a:r>
          </a:p>
          <a:p>
            <a:pPr lvl="1">
              <a:defRPr/>
            </a:pPr>
            <a:r>
              <a:rPr lang="en-US" dirty="0" smtClean="0">
                <a:cs typeface="Arial" charset="0"/>
              </a:rPr>
              <a:t>An example of a strategic goal -  from Bloomberg L.P.: “We want to be the world’s most influential news organisation.” </a:t>
            </a:r>
          </a:p>
          <a:p>
            <a:pPr lvl="2">
              <a:defRPr/>
            </a:pPr>
            <a:r>
              <a:rPr lang="en-US" sz="2100" dirty="0" smtClean="0">
                <a:cs typeface="Arial" charset="0"/>
              </a:rPr>
              <a:t>(</a:t>
            </a:r>
            <a:r>
              <a:rPr lang="en-GB" sz="2100" dirty="0" smtClean="0"/>
              <a:t>Clifford and Creswell, 2009), </a:t>
            </a:r>
            <a:endParaRPr lang="en-GB" sz="2300" dirty="0" smtClean="0"/>
          </a:p>
          <a:p>
            <a:pPr lvl="2">
              <a:defRPr/>
            </a:pPr>
            <a:endParaRPr lang="en-US" dirty="0" smtClean="0"/>
          </a:p>
          <a:p>
            <a:pPr>
              <a:defRPr/>
            </a:pPr>
            <a:r>
              <a:rPr lang="en-US" sz="3100" b="1" dirty="0" smtClean="0"/>
              <a:t>Financial Goals </a:t>
            </a:r>
            <a:r>
              <a:rPr lang="en-US" sz="3100" dirty="0" smtClean="0"/>
              <a:t>- related to the expected internal financial performance of the organisation.</a:t>
            </a:r>
          </a:p>
          <a:p>
            <a:pPr marL="400050" lvl="1" indent="0">
              <a:defRPr/>
            </a:pPr>
            <a:r>
              <a:rPr lang="en-US" dirty="0" smtClean="0">
                <a:cs typeface="Arial" charset="0"/>
              </a:rPr>
              <a:t> E.g. McDonald’s states that it’s financial targets are 3 to 5 percent average annual sales and revenue growth, 6% to 7% average annual operating income growth, and returns on invested capital in the high teens.   </a:t>
            </a:r>
            <a:r>
              <a:rPr lang="en-GB" sz="2100" dirty="0" smtClean="0"/>
              <a:t>(McDonalds, 2010)</a:t>
            </a:r>
            <a:endParaRPr lang="en-US" dirty="0" smtClean="0">
              <a:cs typeface="Arial" charset="0"/>
            </a:endParaRPr>
          </a:p>
          <a:p>
            <a:pPr>
              <a:defRPr/>
            </a:pPr>
            <a:endParaRPr lang="en-US" b="1" dirty="0" smtClean="0"/>
          </a:p>
          <a:p>
            <a:endParaRPr lang="en-US"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17</a:t>
            </a:fld>
            <a:endParaRPr lang="en-US" dirty="0"/>
          </a:p>
        </p:txBody>
      </p:sp>
      <p:sp>
        <p:nvSpPr>
          <p:cNvPr id="4" name="Title 3"/>
          <p:cNvSpPr>
            <a:spLocks noGrp="1"/>
          </p:cNvSpPr>
          <p:nvPr>
            <p:ph type="title"/>
          </p:nvPr>
        </p:nvSpPr>
        <p:spPr>
          <a:xfrm>
            <a:off x="609600" y="152400"/>
            <a:ext cx="6629400" cy="1143000"/>
          </a:xfrm>
        </p:spPr>
        <p:txBody>
          <a:bodyPr>
            <a:noAutofit/>
          </a:bodyPr>
          <a:lstStyle/>
          <a:p>
            <a:r>
              <a:rPr lang="en-US" dirty="0" smtClean="0"/>
              <a:t>Types of Goals: </a:t>
            </a:r>
            <a:r>
              <a:rPr lang="en-US" dirty="0" smtClean="0"/>
              <a:t/>
            </a:r>
            <a:br>
              <a:rPr lang="en-US" dirty="0" smtClean="0"/>
            </a:br>
            <a:r>
              <a:rPr lang="en-US" dirty="0" smtClean="0"/>
              <a:t>Strategic </a:t>
            </a:r>
            <a:r>
              <a:rPr lang="en-US" dirty="0" smtClean="0"/>
              <a:t>&amp; Financial</a:t>
            </a:r>
            <a:endParaRPr lang="en-US" dirty="0"/>
          </a:p>
        </p:txBody>
      </p:sp>
      <p:pic>
        <p:nvPicPr>
          <p:cNvPr id="44034" name="Picture 2" descr="http://webdirexion.com/wp-content/uploads/2012/07/Goals.jpg"/>
          <p:cNvPicPr>
            <a:picLocks noChangeAspect="1" noChangeArrowheads="1"/>
          </p:cNvPicPr>
          <p:nvPr/>
        </p:nvPicPr>
        <p:blipFill>
          <a:blip r:embed="rId2" cstate="print"/>
          <a:srcRect/>
          <a:stretch>
            <a:fillRect/>
          </a:stretch>
        </p:blipFill>
        <p:spPr bwMode="auto">
          <a:xfrm>
            <a:off x="6553200" y="0"/>
            <a:ext cx="2590800" cy="1447800"/>
          </a:xfrm>
          <a:prstGeom prst="rect">
            <a:avLst/>
          </a:prstGeom>
          <a:noFill/>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676400"/>
            <a:ext cx="8229600" cy="2895599"/>
          </a:xfrm>
        </p:spPr>
        <p:txBody>
          <a:bodyPr>
            <a:normAutofit fontScale="77500" lnSpcReduction="20000"/>
          </a:bodyPr>
          <a:lstStyle/>
          <a:p>
            <a:pPr hangingPunct="0"/>
            <a:r>
              <a:rPr lang="en-US" sz="3900" dirty="0" smtClean="0"/>
              <a:t>Stated </a:t>
            </a:r>
            <a:r>
              <a:rPr lang="en-US" sz="3900" dirty="0" smtClean="0"/>
              <a:t>Goals V’s </a:t>
            </a:r>
            <a:r>
              <a:rPr lang="en-US" sz="3900" dirty="0" smtClean="0"/>
              <a:t>R</a:t>
            </a:r>
            <a:r>
              <a:rPr lang="en-US" sz="3900" dirty="0" smtClean="0"/>
              <a:t>eal </a:t>
            </a:r>
            <a:r>
              <a:rPr lang="en-US" sz="3900" dirty="0" smtClean="0"/>
              <a:t>G</a:t>
            </a:r>
            <a:r>
              <a:rPr lang="en-US" sz="3900" dirty="0" smtClean="0"/>
              <a:t>oals</a:t>
            </a:r>
            <a:endParaRPr lang="en-US" sz="3900" dirty="0" smtClean="0"/>
          </a:p>
          <a:p>
            <a:pPr hangingPunct="0"/>
            <a:endParaRPr lang="en-US" dirty="0" smtClean="0"/>
          </a:p>
          <a:p>
            <a:pPr hangingPunct="0"/>
            <a:r>
              <a:rPr lang="en-US" sz="3000" b="1" dirty="0" smtClean="0"/>
              <a:t>Stated goals</a:t>
            </a:r>
            <a:r>
              <a:rPr lang="en-US" sz="3000" dirty="0" smtClean="0"/>
              <a:t> are official statements of what an organisation </a:t>
            </a:r>
            <a:r>
              <a:rPr lang="en-US" sz="3000" i="1" dirty="0" smtClean="0"/>
              <a:t>says</a:t>
            </a:r>
            <a:r>
              <a:rPr lang="en-US" sz="3000" dirty="0" smtClean="0"/>
              <a:t> and what it wants its various stakeholders to believe its goals are.</a:t>
            </a:r>
          </a:p>
          <a:p>
            <a:pPr hangingPunct="0"/>
            <a:endParaRPr lang="en-US" dirty="0" smtClean="0"/>
          </a:p>
          <a:p>
            <a:pPr hangingPunct="0"/>
            <a:r>
              <a:rPr lang="en-US" sz="3000" b="1" dirty="0" smtClean="0"/>
              <a:t>Real goals</a:t>
            </a:r>
            <a:r>
              <a:rPr lang="en-US" sz="3000" dirty="0" smtClean="0"/>
              <a:t> are those that an organisation actually pursues, as defined by the </a:t>
            </a:r>
            <a:r>
              <a:rPr lang="en-US" sz="3000" i="1" dirty="0" smtClean="0"/>
              <a:t>actions</a:t>
            </a:r>
            <a:r>
              <a:rPr lang="en-US" sz="3000" dirty="0" smtClean="0"/>
              <a:t> of its members.</a:t>
            </a:r>
          </a:p>
          <a:p>
            <a:endParaRPr lang="en-US"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18</a:t>
            </a:fld>
            <a:endParaRPr lang="en-US" dirty="0"/>
          </a:p>
        </p:txBody>
      </p:sp>
      <p:sp>
        <p:nvSpPr>
          <p:cNvPr id="4" name="Title 3"/>
          <p:cNvSpPr>
            <a:spLocks noGrp="1"/>
          </p:cNvSpPr>
          <p:nvPr>
            <p:ph type="title"/>
          </p:nvPr>
        </p:nvSpPr>
        <p:spPr/>
        <p:txBody>
          <a:bodyPr/>
          <a:lstStyle/>
          <a:p>
            <a:r>
              <a:rPr lang="en-US" dirty="0" smtClean="0"/>
              <a:t>Types of Goals: Stated &amp; Real</a:t>
            </a:r>
            <a:endParaRPr lang="en-US" dirty="0"/>
          </a:p>
        </p:txBody>
      </p:sp>
      <p:pic>
        <p:nvPicPr>
          <p:cNvPr id="43010" name="Picture 2" descr="http://hostfreeimages.info/wp-content/uploads/2012/10/dreams-business-goals.jpg"/>
          <p:cNvPicPr>
            <a:picLocks noChangeAspect="1" noChangeArrowheads="1"/>
          </p:cNvPicPr>
          <p:nvPr/>
        </p:nvPicPr>
        <p:blipFill>
          <a:blip r:embed="rId2" cstate="print"/>
          <a:srcRect/>
          <a:stretch>
            <a:fillRect/>
          </a:stretch>
        </p:blipFill>
        <p:spPr bwMode="auto">
          <a:xfrm>
            <a:off x="1676400" y="4648200"/>
            <a:ext cx="5888181" cy="1885950"/>
          </a:xfrm>
          <a:prstGeom prst="rect">
            <a:avLst/>
          </a:prstGeom>
          <a:noFill/>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752600"/>
            <a:ext cx="8229600" cy="4876800"/>
          </a:xfrm>
        </p:spPr>
        <p:txBody>
          <a:bodyPr>
            <a:normAutofit fontScale="77500" lnSpcReduction="20000"/>
          </a:bodyPr>
          <a:lstStyle/>
          <a:p>
            <a:pPr eaLnBrk="0" hangingPunct="0"/>
            <a:r>
              <a:rPr lang="en-US" sz="3100" b="1" dirty="0" smtClean="0">
                <a:cs typeface="Arial" charset="0"/>
              </a:rPr>
              <a:t>Stated goals </a:t>
            </a:r>
            <a:r>
              <a:rPr lang="en-US" sz="3100" dirty="0" smtClean="0">
                <a:cs typeface="Arial" charset="0"/>
              </a:rPr>
              <a:t>- official statements of what an organisation </a:t>
            </a:r>
            <a:r>
              <a:rPr lang="en-US" sz="3100" b="1" i="1" dirty="0" smtClean="0">
                <a:cs typeface="Arial" charset="0"/>
              </a:rPr>
              <a:t>says</a:t>
            </a:r>
            <a:r>
              <a:rPr lang="en-US" sz="3100" dirty="0" smtClean="0">
                <a:cs typeface="Arial" charset="0"/>
              </a:rPr>
              <a:t>, and what it wants its various stakeholders to believe, its goals are.</a:t>
            </a:r>
          </a:p>
          <a:p>
            <a:pPr lvl="1" eaLnBrk="0" hangingPunct="0"/>
            <a:r>
              <a:rPr lang="en-US" dirty="0" smtClean="0">
                <a:cs typeface="Arial" charset="0"/>
              </a:rPr>
              <a:t>However,  …. stated goals - which can be found in an organisation’s charter,  annual report, public relations announcements, or in public statements made by managers, - are often conflicting and influenced by what various stakeholders think organisations </a:t>
            </a:r>
            <a:r>
              <a:rPr lang="en-US" i="1" dirty="0" smtClean="0">
                <a:cs typeface="Arial" charset="0"/>
              </a:rPr>
              <a:t>should</a:t>
            </a:r>
            <a:r>
              <a:rPr lang="en-US" dirty="0" smtClean="0">
                <a:cs typeface="Arial" charset="0"/>
              </a:rPr>
              <a:t> do.</a:t>
            </a:r>
          </a:p>
          <a:p>
            <a:pPr eaLnBrk="0" hangingPunct="0">
              <a:buFont typeface="Arial" charset="0"/>
              <a:buChar char="•"/>
            </a:pPr>
            <a:endParaRPr lang="en-US" dirty="0" smtClean="0">
              <a:cs typeface="Arial" charset="0"/>
            </a:endParaRPr>
          </a:p>
          <a:p>
            <a:pPr eaLnBrk="0" hangingPunct="0"/>
            <a:r>
              <a:rPr lang="en-US" sz="3100" b="1" dirty="0" smtClean="0">
                <a:cs typeface="Arial" charset="0"/>
              </a:rPr>
              <a:t>Real goals </a:t>
            </a:r>
            <a:r>
              <a:rPr lang="en-US" sz="3100" dirty="0" smtClean="0">
                <a:cs typeface="Arial" charset="0"/>
              </a:rPr>
              <a:t>- goals that an organisation </a:t>
            </a:r>
            <a:r>
              <a:rPr lang="en-US" sz="3100" b="1" i="1" dirty="0" smtClean="0">
                <a:cs typeface="Arial" charset="0"/>
              </a:rPr>
              <a:t>actually</a:t>
            </a:r>
            <a:r>
              <a:rPr lang="en-US" sz="3100" dirty="0" smtClean="0">
                <a:cs typeface="Arial" charset="0"/>
              </a:rPr>
              <a:t> pursues, as defined by the actions of its members.</a:t>
            </a:r>
          </a:p>
          <a:p>
            <a:pPr lvl="1"/>
            <a:r>
              <a:rPr lang="en-US" dirty="0" smtClean="0">
                <a:cs typeface="Arial" charset="0"/>
              </a:rPr>
              <a:t>If you want to know an organisation’s </a:t>
            </a:r>
            <a:r>
              <a:rPr lang="en-US" b="1" dirty="0" smtClean="0">
                <a:cs typeface="Arial" charset="0"/>
              </a:rPr>
              <a:t>real goals;  </a:t>
            </a:r>
            <a:r>
              <a:rPr lang="en-US" dirty="0" smtClean="0">
                <a:cs typeface="Arial" charset="0"/>
              </a:rPr>
              <a:t>those goals an organisation actually pursues, … observe what organisational members are doing. </a:t>
            </a:r>
          </a:p>
          <a:p>
            <a:pPr lvl="1"/>
            <a:r>
              <a:rPr lang="en-US" dirty="0" smtClean="0">
                <a:cs typeface="Arial" charset="0"/>
              </a:rPr>
              <a:t>Actions define priorities.</a:t>
            </a:r>
          </a:p>
          <a:p>
            <a:endParaRPr lang="en-US"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19</a:t>
            </a:fld>
            <a:endParaRPr lang="en-US" dirty="0"/>
          </a:p>
        </p:txBody>
      </p:sp>
      <p:sp>
        <p:nvSpPr>
          <p:cNvPr id="4" name="Title 3"/>
          <p:cNvSpPr>
            <a:spLocks noGrp="1"/>
          </p:cNvSpPr>
          <p:nvPr>
            <p:ph type="title"/>
          </p:nvPr>
        </p:nvSpPr>
        <p:spPr/>
        <p:txBody>
          <a:bodyPr/>
          <a:lstStyle/>
          <a:p>
            <a:r>
              <a:rPr lang="en-US" dirty="0" smtClean="0"/>
              <a:t>Types of Goals: Stated &amp; Real </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sz="half" idx="1"/>
          </p:nvPr>
        </p:nvSpPr>
        <p:spPr/>
        <p:txBody>
          <a:bodyPr/>
          <a:lstStyle/>
          <a:p>
            <a:endParaRPr lang="en-US" dirty="0"/>
          </a:p>
        </p:txBody>
      </p:sp>
      <p:sp>
        <p:nvSpPr>
          <p:cNvPr id="7" name="Content Placeholder 6"/>
          <p:cNvSpPr>
            <a:spLocks noGrp="1"/>
          </p:cNvSpPr>
          <p:nvPr>
            <p:ph sz="half" idx="2"/>
          </p:nvPr>
        </p:nvSpPr>
        <p:spPr/>
        <p:txBody>
          <a:bodyPr/>
          <a:lstStyle/>
          <a:p>
            <a:endParaRPr lang="en-US"/>
          </a:p>
        </p:txBody>
      </p:sp>
      <p:sp>
        <p:nvSpPr>
          <p:cNvPr id="3" name="Slide Number Placeholder 2"/>
          <p:cNvSpPr>
            <a:spLocks noGrp="1"/>
          </p:cNvSpPr>
          <p:nvPr>
            <p:ph type="sldNum" sz="quarter" idx="12"/>
          </p:nvPr>
        </p:nvSpPr>
        <p:spPr/>
        <p:txBody>
          <a:bodyPr/>
          <a:lstStyle/>
          <a:p>
            <a:fld id="{B6F15528-21DE-4FAA-801E-634DDDAF4B2B}" type="slidenum">
              <a:rPr lang="en-US" smtClean="0"/>
              <a:pPr/>
              <a:t>20</a:t>
            </a:fld>
            <a:endParaRPr lang="en-US" dirty="0"/>
          </a:p>
        </p:txBody>
      </p:sp>
      <p:sp>
        <p:nvSpPr>
          <p:cNvPr id="5" name="Title 4"/>
          <p:cNvSpPr>
            <a:spLocks noGrp="1"/>
          </p:cNvSpPr>
          <p:nvPr>
            <p:ph type="title"/>
          </p:nvPr>
        </p:nvSpPr>
        <p:spPr/>
        <p:txBody>
          <a:bodyPr/>
          <a:lstStyle/>
          <a:p>
            <a:r>
              <a:rPr lang="en-GB" dirty="0" smtClean="0"/>
              <a:t>Stated Goals  V’s Real Goals</a:t>
            </a:r>
            <a:endParaRPr lang="en-US" dirty="0"/>
          </a:p>
        </p:txBody>
      </p:sp>
      <p:pic>
        <p:nvPicPr>
          <p:cNvPr id="75778" name="Picture 2" descr="http://dobrador.com/wp-content/uploads/2012/05/106467978661227320_314gqJuq_f.jpg"/>
          <p:cNvPicPr>
            <a:picLocks noChangeAspect="1" noChangeArrowheads="1"/>
          </p:cNvPicPr>
          <p:nvPr/>
        </p:nvPicPr>
        <p:blipFill>
          <a:blip r:embed="rId2" cstate="print"/>
          <a:srcRect/>
          <a:stretch>
            <a:fillRect/>
          </a:stretch>
        </p:blipFill>
        <p:spPr bwMode="auto">
          <a:xfrm>
            <a:off x="4648200" y="1752600"/>
            <a:ext cx="4267200" cy="4724400"/>
          </a:xfrm>
          <a:prstGeom prst="rect">
            <a:avLst/>
          </a:prstGeom>
          <a:noFill/>
        </p:spPr>
      </p:pic>
      <p:pic>
        <p:nvPicPr>
          <p:cNvPr id="75780" name="Picture 4" descr="http://paulatohlinecalhoun1951.files.wordpress.com/2012/03/goals-cartoon-e1332375325337.gif?w=529"/>
          <p:cNvPicPr>
            <a:picLocks noChangeAspect="1" noChangeArrowheads="1"/>
          </p:cNvPicPr>
          <p:nvPr/>
        </p:nvPicPr>
        <p:blipFill>
          <a:blip r:embed="rId3" cstate="print"/>
          <a:srcRect/>
          <a:stretch>
            <a:fillRect/>
          </a:stretch>
        </p:blipFill>
        <p:spPr bwMode="auto">
          <a:xfrm>
            <a:off x="304800" y="1676400"/>
            <a:ext cx="4191000" cy="4953000"/>
          </a:xfrm>
          <a:prstGeom prst="rect">
            <a:avLst/>
          </a:prstGeom>
          <a:noFill/>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905000"/>
            <a:ext cx="8229600" cy="4572000"/>
          </a:xfrm>
        </p:spPr>
        <p:txBody>
          <a:bodyPr>
            <a:normAutofit fontScale="92500" lnSpcReduction="20000"/>
          </a:bodyPr>
          <a:lstStyle/>
          <a:p>
            <a:r>
              <a:rPr lang="en-US" sz="3100" b="1" dirty="0" smtClean="0">
                <a:cs typeface="Arial" charset="0"/>
              </a:rPr>
              <a:t>Plans  </a:t>
            </a:r>
            <a:r>
              <a:rPr lang="en-US" sz="3100" dirty="0" smtClean="0">
                <a:cs typeface="Arial" charset="0"/>
              </a:rPr>
              <a:t>- are documents that outline how goals are going to be met.</a:t>
            </a:r>
          </a:p>
          <a:p>
            <a:pPr lvl="1"/>
            <a:r>
              <a:rPr lang="en-US" dirty="0" smtClean="0">
                <a:cs typeface="Arial" charset="0"/>
              </a:rPr>
              <a:t>They usually include resource allocations, schedules, and other necessary actions to accomplish the goals. </a:t>
            </a:r>
          </a:p>
          <a:p>
            <a:endParaRPr lang="en-US" sz="3100" dirty="0" smtClean="0">
              <a:cs typeface="Arial" charset="0"/>
            </a:endParaRPr>
          </a:p>
          <a:p>
            <a:r>
              <a:rPr lang="en-US" sz="3100" dirty="0" smtClean="0">
                <a:cs typeface="Arial" charset="0"/>
              </a:rPr>
              <a:t>The most popular ways to describe organisational plans;</a:t>
            </a:r>
          </a:p>
          <a:p>
            <a:pPr lvl="1"/>
            <a:r>
              <a:rPr lang="en-US" dirty="0" smtClean="0">
                <a:cs typeface="Arial" charset="0"/>
              </a:rPr>
              <a:t> are </a:t>
            </a:r>
            <a:r>
              <a:rPr lang="en-US" b="1" dirty="0" smtClean="0">
                <a:cs typeface="Arial" charset="0"/>
              </a:rPr>
              <a:t>breadth</a:t>
            </a:r>
            <a:r>
              <a:rPr lang="en-US" dirty="0" smtClean="0">
                <a:cs typeface="Arial" charset="0"/>
              </a:rPr>
              <a:t> (strategic versus operational), </a:t>
            </a:r>
          </a:p>
          <a:p>
            <a:pPr lvl="1"/>
            <a:r>
              <a:rPr lang="en-US" b="1" dirty="0" smtClean="0">
                <a:cs typeface="Arial" charset="0"/>
              </a:rPr>
              <a:t>time frame </a:t>
            </a:r>
            <a:r>
              <a:rPr lang="en-US" dirty="0" smtClean="0">
                <a:cs typeface="Arial" charset="0"/>
              </a:rPr>
              <a:t>(short term versus long term), </a:t>
            </a:r>
          </a:p>
          <a:p>
            <a:pPr lvl="1"/>
            <a:r>
              <a:rPr lang="en-US" b="1" dirty="0" smtClean="0">
                <a:cs typeface="Arial" charset="0"/>
              </a:rPr>
              <a:t>specificity</a:t>
            </a:r>
            <a:r>
              <a:rPr lang="en-US" dirty="0" smtClean="0">
                <a:cs typeface="Arial" charset="0"/>
              </a:rPr>
              <a:t> (directional versus specific), </a:t>
            </a:r>
          </a:p>
          <a:p>
            <a:pPr lvl="1"/>
            <a:r>
              <a:rPr lang="en-US" b="1" dirty="0" smtClean="0">
                <a:cs typeface="Arial" charset="0"/>
              </a:rPr>
              <a:t>frequency of use </a:t>
            </a:r>
            <a:r>
              <a:rPr lang="en-US" dirty="0" smtClean="0">
                <a:cs typeface="Arial" charset="0"/>
              </a:rPr>
              <a:t>(single use versus standing).</a:t>
            </a:r>
            <a:endParaRPr lang="en-US" dirty="0" smtClean="0"/>
          </a:p>
          <a:p>
            <a:pPr eaLnBrk="0" hangingPunct="0"/>
            <a:endParaRPr lang="en-US" sz="3100" b="1" dirty="0" smtClean="0"/>
          </a:p>
        </p:txBody>
      </p:sp>
      <p:sp>
        <p:nvSpPr>
          <p:cNvPr id="2" name="Title 1"/>
          <p:cNvSpPr>
            <a:spLocks noGrp="1"/>
          </p:cNvSpPr>
          <p:nvPr>
            <p:ph type="title"/>
          </p:nvPr>
        </p:nvSpPr>
        <p:spPr>
          <a:xfrm>
            <a:off x="609600" y="152400"/>
            <a:ext cx="8077200" cy="1143000"/>
          </a:xfrm>
        </p:spPr>
        <p:txBody>
          <a:bodyPr>
            <a:normAutofit/>
          </a:bodyPr>
          <a:lstStyle/>
          <a:p>
            <a:r>
              <a:rPr lang="en-GB" sz="4800" dirty="0" smtClean="0"/>
              <a:t>Types of Plans</a:t>
            </a:r>
            <a:endParaRPr lang="en-US" sz="48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21</a:t>
            </a:fld>
            <a:endParaRPr lang="en-US" dirty="0"/>
          </a:p>
        </p:txBody>
      </p:sp>
      <p:pic>
        <p:nvPicPr>
          <p:cNvPr id="40964" name="Picture 4" descr="http://vladjc.ru/wp-content/uploads/Business-Plan-Assignment-Pic.jpg"/>
          <p:cNvPicPr>
            <a:picLocks noChangeAspect="1" noChangeArrowheads="1"/>
          </p:cNvPicPr>
          <p:nvPr/>
        </p:nvPicPr>
        <p:blipFill>
          <a:blip r:embed="rId2" cstate="print"/>
          <a:srcRect/>
          <a:stretch>
            <a:fillRect/>
          </a:stretch>
        </p:blipFill>
        <p:spPr bwMode="auto">
          <a:xfrm>
            <a:off x="5715000" y="0"/>
            <a:ext cx="3429000" cy="1447800"/>
          </a:xfrm>
          <a:prstGeom prst="rect">
            <a:avLst/>
          </a:prstGeom>
          <a:noFill/>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2" descr="http://www.freeenterprise.com/sites/default/files/styles/large/public/media/00_ENTRE_shutterstock_50767432_StratPlan_800px.jpg?itok=aqYuazx6"/>
          <p:cNvPicPr>
            <a:picLocks noChangeAspect="1" noChangeArrowheads="1"/>
          </p:cNvPicPr>
          <p:nvPr/>
        </p:nvPicPr>
        <p:blipFill>
          <a:blip r:embed="rId2" cstate="print"/>
          <a:srcRect/>
          <a:stretch>
            <a:fillRect/>
          </a:stretch>
        </p:blipFill>
        <p:spPr bwMode="auto">
          <a:xfrm>
            <a:off x="4953000" y="1447801"/>
            <a:ext cx="4191000" cy="2743199"/>
          </a:xfrm>
          <a:prstGeom prst="rect">
            <a:avLst/>
          </a:prstGeom>
          <a:noFill/>
        </p:spPr>
      </p:pic>
      <p:pic>
        <p:nvPicPr>
          <p:cNvPr id="39940" name="Picture 4" descr="http://www.leoisaac.com/operations/images/operation_plan_components.jpg"/>
          <p:cNvPicPr>
            <a:picLocks noChangeAspect="1" noChangeArrowheads="1"/>
          </p:cNvPicPr>
          <p:nvPr/>
        </p:nvPicPr>
        <p:blipFill>
          <a:blip r:embed="rId3" cstate="print"/>
          <a:srcRect/>
          <a:stretch>
            <a:fillRect/>
          </a:stretch>
        </p:blipFill>
        <p:spPr bwMode="auto">
          <a:xfrm>
            <a:off x="4876800" y="3962400"/>
            <a:ext cx="4267200" cy="2895600"/>
          </a:xfrm>
          <a:prstGeom prst="rect">
            <a:avLst/>
          </a:prstGeom>
          <a:noFill/>
        </p:spPr>
      </p:pic>
      <p:sp>
        <p:nvSpPr>
          <p:cNvPr id="2" name="Content Placeholder 1"/>
          <p:cNvSpPr>
            <a:spLocks noGrp="1"/>
          </p:cNvSpPr>
          <p:nvPr>
            <p:ph idx="1"/>
          </p:nvPr>
        </p:nvSpPr>
        <p:spPr>
          <a:xfrm>
            <a:off x="304800" y="1676400"/>
            <a:ext cx="4572000" cy="4953000"/>
          </a:xfrm>
          <a:ln>
            <a:solidFill>
              <a:srgbClr val="0070C0"/>
            </a:solidFill>
          </a:ln>
        </p:spPr>
        <p:txBody>
          <a:bodyPr>
            <a:normAutofit fontScale="70000" lnSpcReduction="20000"/>
          </a:bodyPr>
          <a:lstStyle/>
          <a:p>
            <a:pPr eaLnBrk="0" hangingPunct="0"/>
            <a:r>
              <a:rPr lang="en-US" sz="3100" b="1" dirty="0" smtClean="0"/>
              <a:t>Strategic Plans …</a:t>
            </a:r>
          </a:p>
          <a:p>
            <a:pPr lvl="1" eaLnBrk="0" hangingPunct="0"/>
            <a:r>
              <a:rPr lang="en-GB" dirty="0" smtClean="0"/>
              <a:t>Long term plans, </a:t>
            </a:r>
            <a:endParaRPr lang="en-US" dirty="0" smtClean="0"/>
          </a:p>
          <a:p>
            <a:pPr lvl="1" eaLnBrk="0" hangingPunct="0"/>
            <a:r>
              <a:rPr lang="en-US" dirty="0" smtClean="0"/>
              <a:t>apply to the entire organisation,</a:t>
            </a:r>
          </a:p>
          <a:p>
            <a:pPr lvl="1" eaLnBrk="0" hangingPunct="0"/>
            <a:r>
              <a:rPr lang="en-US" dirty="0" smtClean="0"/>
              <a:t> seek to establish the organisation's overall goals,</a:t>
            </a:r>
          </a:p>
          <a:p>
            <a:pPr lvl="1" eaLnBrk="0" hangingPunct="0"/>
            <a:r>
              <a:rPr lang="en-US" dirty="0" smtClean="0"/>
              <a:t> and seek to position the organisation in terms of its environment.</a:t>
            </a:r>
          </a:p>
          <a:p>
            <a:pPr eaLnBrk="0" hangingPunct="0">
              <a:buFont typeface="Arial" charset="0"/>
              <a:buChar char="•"/>
            </a:pPr>
            <a:endParaRPr lang="en-US" sz="2100" b="1" dirty="0" smtClean="0"/>
          </a:p>
          <a:p>
            <a:pPr eaLnBrk="0" hangingPunct="0"/>
            <a:r>
              <a:rPr lang="en-US" sz="3100" b="1" dirty="0" smtClean="0"/>
              <a:t>Operational Plans ….</a:t>
            </a:r>
          </a:p>
          <a:p>
            <a:pPr lvl="1" eaLnBrk="0" hangingPunct="0"/>
            <a:r>
              <a:rPr lang="en-GB" sz="2700" dirty="0" smtClean="0"/>
              <a:t>Short term plans,</a:t>
            </a:r>
          </a:p>
          <a:p>
            <a:pPr lvl="1" eaLnBrk="0" hangingPunct="0"/>
            <a:r>
              <a:rPr lang="en-US" dirty="0" smtClean="0"/>
              <a:t>Plans that encompass a particular operational area of the organisation, </a:t>
            </a:r>
          </a:p>
          <a:p>
            <a:pPr lvl="1" eaLnBrk="0" hangingPunct="0"/>
            <a:r>
              <a:rPr lang="en-US" dirty="0" smtClean="0"/>
              <a:t>that specify the details of how the overall goals are to be achieved. </a:t>
            </a:r>
          </a:p>
          <a:p>
            <a:pPr lvl="1" eaLnBrk="0" hangingPunct="0"/>
            <a:endParaRPr lang="en-US" dirty="0" smtClean="0"/>
          </a:p>
          <a:p>
            <a:endParaRPr lang="en-US" dirty="0" smtClean="0">
              <a:cs typeface="Arial" charset="0"/>
            </a:endParaRPr>
          </a:p>
          <a:p>
            <a:endParaRPr lang="en-US" dirty="0" smtClean="0"/>
          </a:p>
          <a:p>
            <a:endParaRPr lang="en-US"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22</a:t>
            </a:fld>
            <a:endParaRPr lang="en-US" dirty="0"/>
          </a:p>
        </p:txBody>
      </p:sp>
      <p:sp>
        <p:nvSpPr>
          <p:cNvPr id="4" name="Title 3"/>
          <p:cNvSpPr>
            <a:spLocks noGrp="1"/>
          </p:cNvSpPr>
          <p:nvPr>
            <p:ph type="title"/>
          </p:nvPr>
        </p:nvSpPr>
        <p:spPr/>
        <p:txBody>
          <a:bodyPr>
            <a:normAutofit/>
          </a:bodyPr>
          <a:lstStyle/>
          <a:p>
            <a:r>
              <a:rPr lang="en-GB" dirty="0" smtClean="0"/>
              <a:t>Breadth: Strategic V’s Operational</a:t>
            </a:r>
            <a:endParaRPr lang="en-US"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6" name="Picture 4" descr="http://michiganofficemovers.com/new/wp-content/uploads/2012/08/iStock_000019808047XSmall.jpg"/>
          <p:cNvPicPr>
            <a:picLocks noChangeAspect="1" noChangeArrowheads="1"/>
          </p:cNvPicPr>
          <p:nvPr/>
        </p:nvPicPr>
        <p:blipFill>
          <a:blip r:embed="rId2" cstate="print"/>
          <a:srcRect/>
          <a:stretch>
            <a:fillRect/>
          </a:stretch>
        </p:blipFill>
        <p:spPr bwMode="auto">
          <a:xfrm>
            <a:off x="6553200" y="3048000"/>
            <a:ext cx="2590800" cy="2590800"/>
          </a:xfrm>
          <a:prstGeom prst="rect">
            <a:avLst/>
          </a:prstGeom>
          <a:noFill/>
        </p:spPr>
      </p:pic>
      <p:sp>
        <p:nvSpPr>
          <p:cNvPr id="2" name="Content Placeholder 1"/>
          <p:cNvSpPr>
            <a:spLocks noGrp="1"/>
          </p:cNvSpPr>
          <p:nvPr>
            <p:ph idx="1"/>
          </p:nvPr>
        </p:nvSpPr>
        <p:spPr>
          <a:xfrm>
            <a:off x="457200" y="1752600"/>
            <a:ext cx="8229600" cy="4648200"/>
          </a:xfrm>
        </p:spPr>
        <p:txBody>
          <a:bodyPr>
            <a:normAutofit fontScale="77500" lnSpcReduction="20000"/>
          </a:bodyPr>
          <a:lstStyle/>
          <a:p>
            <a:pPr eaLnBrk="0" hangingPunct="0"/>
            <a:r>
              <a:rPr lang="en-US" sz="3800" b="1" dirty="0" smtClean="0"/>
              <a:t>Short-term plans - </a:t>
            </a:r>
            <a:r>
              <a:rPr lang="en-US" sz="3800" dirty="0" smtClean="0"/>
              <a:t>plans covering 1 year or less.</a:t>
            </a:r>
          </a:p>
          <a:p>
            <a:pPr eaLnBrk="0" hangingPunct="0"/>
            <a:endParaRPr lang="en-US" sz="3800" b="1" dirty="0" smtClean="0"/>
          </a:p>
          <a:p>
            <a:pPr eaLnBrk="0" hangingPunct="0"/>
            <a:r>
              <a:rPr lang="en-US" sz="3800" b="1" dirty="0" smtClean="0"/>
              <a:t>Long-term plans - </a:t>
            </a:r>
            <a:r>
              <a:rPr lang="en-US" sz="3800" dirty="0" smtClean="0"/>
              <a:t>plans with a time frame beyond 3 years.</a:t>
            </a:r>
          </a:p>
          <a:p>
            <a:pPr eaLnBrk="0" hangingPunct="0"/>
            <a:endParaRPr lang="en-US" sz="3800" b="1" dirty="0" smtClean="0"/>
          </a:p>
          <a:p>
            <a:endParaRPr lang="en-US" sz="2500" dirty="0" smtClean="0">
              <a:cs typeface="Arial" charset="0"/>
            </a:endParaRPr>
          </a:p>
          <a:p>
            <a:r>
              <a:rPr lang="en-US" dirty="0" smtClean="0">
                <a:cs typeface="Arial" charset="0"/>
              </a:rPr>
              <a:t>Any time period in between would be an </a:t>
            </a:r>
            <a:r>
              <a:rPr lang="en-US" dirty="0" smtClean="0">
                <a:cs typeface="Arial" charset="0"/>
              </a:rPr>
              <a:t>          intermediate </a:t>
            </a:r>
            <a:r>
              <a:rPr lang="en-US" dirty="0" smtClean="0">
                <a:cs typeface="Arial" charset="0"/>
              </a:rPr>
              <a:t>plan. </a:t>
            </a:r>
          </a:p>
          <a:p>
            <a:pPr lvl="1"/>
            <a:r>
              <a:rPr lang="en-US" sz="3300" dirty="0" smtClean="0">
                <a:cs typeface="Arial" charset="0"/>
              </a:rPr>
              <a:t>Although these time classifications </a:t>
            </a:r>
            <a:r>
              <a:rPr lang="en-US" sz="3300" dirty="0" smtClean="0">
                <a:cs typeface="Arial" charset="0"/>
              </a:rPr>
              <a:t>                         are </a:t>
            </a:r>
            <a:r>
              <a:rPr lang="en-US" sz="3300" dirty="0" smtClean="0">
                <a:cs typeface="Arial" charset="0"/>
              </a:rPr>
              <a:t>fairly common,  an organisation </a:t>
            </a:r>
            <a:r>
              <a:rPr lang="en-US" sz="3300" dirty="0" smtClean="0">
                <a:cs typeface="Arial" charset="0"/>
              </a:rPr>
              <a:t>                       can </a:t>
            </a:r>
            <a:r>
              <a:rPr lang="en-US" sz="3300" dirty="0" smtClean="0">
                <a:cs typeface="Arial" charset="0"/>
              </a:rPr>
              <a:t>use any planning time frame it wants.</a:t>
            </a:r>
          </a:p>
          <a:p>
            <a:pPr eaLnBrk="0" hangingPunct="0"/>
            <a:endParaRPr lang="en-US" b="1" dirty="0" smtClean="0"/>
          </a:p>
        </p:txBody>
      </p:sp>
      <p:sp>
        <p:nvSpPr>
          <p:cNvPr id="3" name="Slide Number Placeholder 2"/>
          <p:cNvSpPr>
            <a:spLocks noGrp="1"/>
          </p:cNvSpPr>
          <p:nvPr>
            <p:ph type="sldNum" sz="quarter" idx="12"/>
          </p:nvPr>
        </p:nvSpPr>
        <p:spPr/>
        <p:txBody>
          <a:bodyPr/>
          <a:lstStyle/>
          <a:p>
            <a:fld id="{B6F15528-21DE-4FAA-801E-634DDDAF4B2B}" type="slidenum">
              <a:rPr lang="en-US" smtClean="0"/>
              <a:pPr/>
              <a:t>23</a:t>
            </a:fld>
            <a:endParaRPr lang="en-US" dirty="0"/>
          </a:p>
        </p:txBody>
      </p:sp>
      <p:sp>
        <p:nvSpPr>
          <p:cNvPr id="4" name="Title 3"/>
          <p:cNvSpPr>
            <a:spLocks noGrp="1"/>
          </p:cNvSpPr>
          <p:nvPr>
            <p:ph type="title"/>
          </p:nvPr>
        </p:nvSpPr>
        <p:spPr/>
        <p:txBody>
          <a:bodyPr>
            <a:normAutofit/>
          </a:bodyPr>
          <a:lstStyle/>
          <a:p>
            <a:r>
              <a:rPr lang="en-GB" dirty="0" smtClean="0"/>
              <a:t>Time Frame:  Short V’s Long</a:t>
            </a:r>
            <a:endParaRPr lang="en-US"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905000"/>
            <a:ext cx="8229600" cy="4221163"/>
          </a:xfrm>
        </p:spPr>
        <p:txBody>
          <a:bodyPr>
            <a:normAutofit fontScale="70000" lnSpcReduction="20000"/>
          </a:bodyPr>
          <a:lstStyle/>
          <a:p>
            <a:pPr eaLnBrk="0" hangingPunct="0"/>
            <a:r>
              <a:rPr lang="en-US" sz="4000" b="1" dirty="0" smtClean="0"/>
              <a:t>Specific plans – </a:t>
            </a:r>
            <a:r>
              <a:rPr lang="en-US" sz="4000" dirty="0" smtClean="0"/>
              <a:t>plans that are clearly defined and leave no room for interpretation.</a:t>
            </a:r>
          </a:p>
          <a:p>
            <a:pPr lvl="1" eaLnBrk="0" hangingPunct="0"/>
            <a:r>
              <a:rPr lang="en-US" sz="3400" dirty="0" smtClean="0">
                <a:cs typeface="Arial" charset="0"/>
              </a:rPr>
              <a:t>A specific plan - states its objectives in a way that eliminates ambiguity and problems with misunderstanding.</a:t>
            </a:r>
          </a:p>
          <a:p>
            <a:pPr eaLnBrk="0" hangingPunct="0"/>
            <a:endParaRPr lang="en-US" sz="5100" b="1" dirty="0" smtClean="0"/>
          </a:p>
          <a:p>
            <a:pPr marL="342900" lvl="1" indent="-342900" eaLnBrk="0" hangingPunct="0">
              <a:buClr>
                <a:schemeClr val="tx2"/>
              </a:buClr>
              <a:buSzPct val="70000"/>
            </a:pPr>
            <a:r>
              <a:rPr lang="en-US" sz="4000" b="1" dirty="0" smtClean="0"/>
              <a:t>Directional plans – </a:t>
            </a:r>
            <a:r>
              <a:rPr lang="en-US" sz="4000" dirty="0" smtClean="0"/>
              <a:t>plans that are flexible and set out general guidelines</a:t>
            </a:r>
          </a:p>
          <a:p>
            <a:pPr marL="742950" lvl="2" indent="-342900" eaLnBrk="0" hangingPunct="0">
              <a:buClr>
                <a:schemeClr val="tx2"/>
              </a:buClr>
              <a:buSzPct val="70000"/>
            </a:pPr>
            <a:r>
              <a:rPr lang="en-US" sz="3400" dirty="0" smtClean="0">
                <a:cs typeface="Arial" charset="0"/>
              </a:rPr>
              <a:t>They provide focus but do not lock managers into specific goals or courses of action.</a:t>
            </a:r>
          </a:p>
          <a:p>
            <a:pPr marL="1200150" lvl="3" indent="-342900" eaLnBrk="0" hangingPunct="0">
              <a:buClr>
                <a:schemeClr val="tx2"/>
              </a:buClr>
              <a:buSzPct val="70000"/>
            </a:pPr>
            <a:r>
              <a:rPr lang="en-GB" sz="3100" dirty="0" smtClean="0">
                <a:cs typeface="Arial" charset="0"/>
              </a:rPr>
              <a:t>E.g. President of Motown Records,  </a:t>
            </a:r>
            <a:r>
              <a:rPr lang="en-GB" sz="3100" dirty="0" smtClean="0">
                <a:cs typeface="Arial" charset="0"/>
              </a:rPr>
              <a:t>                                 has </a:t>
            </a:r>
            <a:r>
              <a:rPr lang="en-GB" sz="3100" dirty="0" smtClean="0">
                <a:cs typeface="Arial" charset="0"/>
              </a:rPr>
              <a:t>a simple goal “to sign great artists”</a:t>
            </a:r>
            <a:endParaRPr lang="en-US" sz="3100" dirty="0" smtClean="0">
              <a:cs typeface="Arial" charset="0"/>
            </a:endParaRPr>
          </a:p>
          <a:p>
            <a:pPr eaLnBrk="0" hangingPunct="0">
              <a:buFont typeface="Arial" charset="0"/>
              <a:buChar char="•"/>
            </a:pPr>
            <a:endParaRPr lang="en-US" dirty="0" smtClean="0"/>
          </a:p>
          <a:p>
            <a:endParaRPr lang="en-US" dirty="0" smtClean="0"/>
          </a:p>
          <a:p>
            <a:endParaRPr lang="en-US"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24</a:t>
            </a:fld>
            <a:endParaRPr lang="en-US" dirty="0"/>
          </a:p>
        </p:txBody>
      </p:sp>
      <p:sp>
        <p:nvSpPr>
          <p:cNvPr id="4" name="Title 3"/>
          <p:cNvSpPr>
            <a:spLocks noGrp="1"/>
          </p:cNvSpPr>
          <p:nvPr>
            <p:ph type="title"/>
          </p:nvPr>
        </p:nvSpPr>
        <p:spPr/>
        <p:txBody>
          <a:bodyPr/>
          <a:lstStyle/>
          <a:p>
            <a:r>
              <a:rPr lang="en-GB" dirty="0" smtClean="0"/>
              <a:t>Specificity: Specific V’s Directional</a:t>
            </a:r>
            <a:endParaRPr lang="en-US" dirty="0"/>
          </a:p>
        </p:txBody>
      </p:sp>
      <p:pic>
        <p:nvPicPr>
          <p:cNvPr id="37890" name="Picture 2" descr="http://images.clipartof.com/thumbnails/1243641-Clipart-Of-Directional-Plan-A-And-B-Signs-Over-A-Sunrise-And-Grassy-Hill-Royalty-Free-Vector-Illustration.jpg"/>
          <p:cNvPicPr>
            <a:picLocks noChangeAspect="1" noChangeArrowheads="1"/>
          </p:cNvPicPr>
          <p:nvPr/>
        </p:nvPicPr>
        <p:blipFill>
          <a:blip r:embed="rId2" cstate="print"/>
          <a:srcRect/>
          <a:stretch>
            <a:fillRect/>
          </a:stretch>
        </p:blipFill>
        <p:spPr bwMode="auto">
          <a:xfrm>
            <a:off x="6629400" y="5181600"/>
            <a:ext cx="2514600" cy="1905000"/>
          </a:xfrm>
          <a:prstGeom prst="rect">
            <a:avLst/>
          </a:prstGeom>
          <a:noFill/>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676400"/>
            <a:ext cx="8229600" cy="4953000"/>
          </a:xfrm>
        </p:spPr>
        <p:txBody>
          <a:bodyPr>
            <a:normAutofit fontScale="85000" lnSpcReduction="20000"/>
          </a:bodyPr>
          <a:lstStyle/>
          <a:p>
            <a:pPr eaLnBrk="0" hangingPunct="0"/>
            <a:r>
              <a:rPr lang="en-US" sz="2800" dirty="0" smtClean="0">
                <a:cs typeface="Arial" charset="0"/>
              </a:rPr>
              <a:t>Some plans that managers develop are ongoing while others are used only once.  </a:t>
            </a:r>
          </a:p>
          <a:p>
            <a:pPr eaLnBrk="0" hangingPunct="0">
              <a:buFont typeface="Arial" charset="0"/>
              <a:buChar char="•"/>
            </a:pPr>
            <a:endParaRPr lang="en-US" b="1" dirty="0" smtClean="0"/>
          </a:p>
          <a:p>
            <a:pPr eaLnBrk="0" hangingPunct="0"/>
            <a:r>
              <a:rPr lang="en-US" sz="2800" b="1" dirty="0" smtClean="0"/>
              <a:t>Single-use plan  </a:t>
            </a:r>
            <a:r>
              <a:rPr lang="en-US" sz="2800" dirty="0" smtClean="0"/>
              <a:t>- a one-time plan specifically designed to meet the needs of a unique situation</a:t>
            </a:r>
          </a:p>
          <a:p>
            <a:pPr lvl="1" eaLnBrk="0" hangingPunct="0"/>
            <a:r>
              <a:rPr lang="en-GB" sz="2400" dirty="0" smtClean="0"/>
              <a:t>E.g.  When Coca Cola was closing down its Dublin manufacturing plant, it developed a single use pan to manage the process.</a:t>
            </a:r>
          </a:p>
          <a:p>
            <a:pPr lvl="1" eaLnBrk="0" hangingPunct="0"/>
            <a:r>
              <a:rPr lang="en-GB" sz="2400" dirty="0" smtClean="0"/>
              <a:t>When Walmart wanted to expand its shops in China, top executives formed a single use plan as a guide.</a:t>
            </a:r>
            <a:endParaRPr lang="en-US" sz="2400" dirty="0" smtClean="0"/>
          </a:p>
          <a:p>
            <a:pPr eaLnBrk="0" hangingPunct="0">
              <a:buFont typeface="Arial" charset="0"/>
              <a:buChar char="•"/>
            </a:pPr>
            <a:endParaRPr lang="en-US" sz="2800" b="1" dirty="0" smtClean="0"/>
          </a:p>
          <a:p>
            <a:pPr eaLnBrk="0" hangingPunct="0"/>
            <a:r>
              <a:rPr lang="en-US" sz="2800" b="1" dirty="0" smtClean="0"/>
              <a:t>Standing plans - </a:t>
            </a:r>
            <a:r>
              <a:rPr lang="en-US" sz="2800" dirty="0" smtClean="0"/>
              <a:t>ongoing plans that provide guidance for activities performed repeatedly</a:t>
            </a:r>
          </a:p>
          <a:p>
            <a:pPr lvl="1" eaLnBrk="0" hangingPunct="0"/>
            <a:r>
              <a:rPr lang="en-GB" sz="2400" dirty="0" smtClean="0"/>
              <a:t>Include policies, rules &amp; procedures</a:t>
            </a:r>
          </a:p>
          <a:p>
            <a:pPr lvl="2" eaLnBrk="0" hangingPunct="0"/>
            <a:r>
              <a:rPr lang="en-GB" dirty="0" smtClean="0"/>
              <a:t>E.g. an anti bullying policy in a school, a recruitment &amp; selection procedure in an organisation.</a:t>
            </a:r>
            <a:endParaRPr lang="en-US" dirty="0" smtClean="0"/>
          </a:p>
          <a:p>
            <a:endParaRPr lang="en-GB" sz="2800" dirty="0" smtClean="0"/>
          </a:p>
        </p:txBody>
      </p:sp>
      <p:sp>
        <p:nvSpPr>
          <p:cNvPr id="3" name="Slide Number Placeholder 2"/>
          <p:cNvSpPr>
            <a:spLocks noGrp="1"/>
          </p:cNvSpPr>
          <p:nvPr>
            <p:ph type="sldNum" sz="quarter" idx="12"/>
          </p:nvPr>
        </p:nvSpPr>
        <p:spPr/>
        <p:txBody>
          <a:bodyPr/>
          <a:lstStyle/>
          <a:p>
            <a:fld id="{B6F15528-21DE-4FAA-801E-634DDDAF4B2B}" type="slidenum">
              <a:rPr lang="en-US" smtClean="0"/>
              <a:pPr/>
              <a:t>25</a:t>
            </a:fld>
            <a:endParaRPr lang="en-US" dirty="0"/>
          </a:p>
        </p:txBody>
      </p:sp>
      <p:sp>
        <p:nvSpPr>
          <p:cNvPr id="4" name="Title 3"/>
          <p:cNvSpPr>
            <a:spLocks noGrp="1"/>
          </p:cNvSpPr>
          <p:nvPr>
            <p:ph type="title"/>
          </p:nvPr>
        </p:nvSpPr>
        <p:spPr>
          <a:xfrm>
            <a:off x="457200" y="152400"/>
            <a:ext cx="5943600" cy="1143000"/>
          </a:xfrm>
        </p:spPr>
        <p:txBody>
          <a:bodyPr>
            <a:normAutofit fontScale="90000"/>
          </a:bodyPr>
          <a:lstStyle/>
          <a:p>
            <a:r>
              <a:rPr lang="en-GB" dirty="0" smtClean="0"/>
              <a:t>Frequency of Use: </a:t>
            </a:r>
            <a:r>
              <a:rPr lang="en-GB" dirty="0" smtClean="0"/>
              <a:t> </a:t>
            </a:r>
            <a:br>
              <a:rPr lang="en-GB" dirty="0" smtClean="0"/>
            </a:br>
            <a:r>
              <a:rPr lang="en-GB" dirty="0" smtClean="0"/>
              <a:t>Single </a:t>
            </a:r>
            <a:r>
              <a:rPr lang="en-GB" dirty="0" smtClean="0"/>
              <a:t>V’s Standing </a:t>
            </a:r>
            <a:endParaRPr lang="en-US" dirty="0"/>
          </a:p>
        </p:txBody>
      </p:sp>
      <p:pic>
        <p:nvPicPr>
          <p:cNvPr id="36866" name="Picture 2" descr="http://1.bp.blogspot.com/-3ond1tImDQE/U2cVv_83NKI/AAAAAAAAGiE/aJR65kjjTiw/s1600/stand.png"/>
          <p:cNvPicPr>
            <a:picLocks noChangeAspect="1" noChangeArrowheads="1"/>
          </p:cNvPicPr>
          <p:nvPr/>
        </p:nvPicPr>
        <p:blipFill>
          <a:blip r:embed="rId2" cstate="print"/>
          <a:srcRect/>
          <a:stretch>
            <a:fillRect/>
          </a:stretch>
        </p:blipFill>
        <p:spPr bwMode="auto">
          <a:xfrm>
            <a:off x="5257800" y="0"/>
            <a:ext cx="3886200" cy="1447800"/>
          </a:xfrm>
          <a:prstGeom prst="rect">
            <a:avLst/>
          </a:prstGeom>
          <a:noFill/>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US"/>
          </a:p>
        </p:txBody>
      </p:sp>
      <p:sp>
        <p:nvSpPr>
          <p:cNvPr id="3" name="Slide Number Placeholder 2"/>
          <p:cNvSpPr>
            <a:spLocks noGrp="1"/>
          </p:cNvSpPr>
          <p:nvPr>
            <p:ph type="sldNum" sz="quarter" idx="12"/>
          </p:nvPr>
        </p:nvSpPr>
        <p:spPr/>
        <p:txBody>
          <a:bodyPr/>
          <a:lstStyle/>
          <a:p>
            <a:fld id="{B6F15528-21DE-4FAA-801E-634DDDAF4B2B}" type="slidenum">
              <a:rPr lang="en-US" smtClean="0"/>
              <a:pPr/>
              <a:t>26</a:t>
            </a:fld>
            <a:endParaRPr lang="en-US" dirty="0"/>
          </a:p>
        </p:txBody>
      </p:sp>
      <p:sp>
        <p:nvSpPr>
          <p:cNvPr id="4" name="Title 3"/>
          <p:cNvSpPr>
            <a:spLocks noGrp="1"/>
          </p:cNvSpPr>
          <p:nvPr>
            <p:ph type="title"/>
          </p:nvPr>
        </p:nvSpPr>
        <p:spPr/>
        <p:txBody>
          <a:bodyPr/>
          <a:lstStyle/>
          <a:p>
            <a:r>
              <a:rPr lang="en-GB" dirty="0" smtClean="0"/>
              <a:t>Single </a:t>
            </a:r>
            <a:r>
              <a:rPr lang="en-GB" dirty="0" smtClean="0"/>
              <a:t>&amp; Standing Plans</a:t>
            </a:r>
            <a:endParaRPr lang="en-US" dirty="0"/>
          </a:p>
        </p:txBody>
      </p:sp>
      <p:pic>
        <p:nvPicPr>
          <p:cNvPr id="76802" name="Picture 2" descr="http://images.tutorvista.com/content/feed/tvcs/MP.JPG"/>
          <p:cNvPicPr>
            <a:picLocks noChangeAspect="1" noChangeArrowheads="1"/>
          </p:cNvPicPr>
          <p:nvPr/>
        </p:nvPicPr>
        <p:blipFill>
          <a:blip r:embed="rId2" cstate="print"/>
          <a:srcRect/>
          <a:stretch>
            <a:fillRect/>
          </a:stretch>
        </p:blipFill>
        <p:spPr bwMode="auto">
          <a:xfrm>
            <a:off x="1219200" y="1676400"/>
            <a:ext cx="6858000" cy="4478156"/>
          </a:xfrm>
          <a:prstGeom prst="rect">
            <a:avLst/>
          </a:prstGeom>
          <a:noFill/>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p:cNvPicPr>
            <a:picLocks noChangeAspect="1" noChangeArrowheads="1"/>
          </p:cNvPicPr>
          <p:nvPr/>
        </p:nvPicPr>
        <p:blipFill>
          <a:blip r:embed="rId2" cstate="print"/>
          <a:srcRect/>
          <a:stretch>
            <a:fillRect/>
          </a:stretch>
        </p:blipFill>
        <p:spPr bwMode="auto">
          <a:xfrm>
            <a:off x="304800" y="2514600"/>
            <a:ext cx="8305800" cy="4114800"/>
          </a:xfrm>
          <a:prstGeom prst="rect">
            <a:avLst/>
          </a:prstGeom>
          <a:noFill/>
          <a:ln w="9525">
            <a:noFill/>
            <a:miter lim="800000"/>
            <a:headEnd/>
            <a:tailEnd/>
          </a:ln>
        </p:spPr>
      </p:pic>
      <p:sp>
        <p:nvSpPr>
          <p:cNvPr id="2" name="Content Placeholder 1"/>
          <p:cNvSpPr>
            <a:spLocks noGrp="1"/>
          </p:cNvSpPr>
          <p:nvPr>
            <p:ph idx="1"/>
          </p:nvPr>
        </p:nvSpPr>
        <p:spPr/>
        <p:txBody>
          <a:bodyPr/>
          <a:lstStyle/>
          <a:p>
            <a:r>
              <a:rPr lang="en-US" sz="1800" dirty="0" smtClean="0">
                <a:cs typeface="Arial" charset="0"/>
              </a:rPr>
              <a:t>Strategic plans are usually  - long term, directional, and single use </a:t>
            </a:r>
          </a:p>
          <a:p>
            <a:r>
              <a:rPr lang="en-US" sz="1800" dirty="0" smtClean="0">
                <a:cs typeface="Arial" charset="0"/>
              </a:rPr>
              <a:t>Operational plans are usually  - short term, specific, and standing.</a:t>
            </a:r>
          </a:p>
          <a:p>
            <a:endParaRPr lang="en-US"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27</a:t>
            </a:fld>
            <a:endParaRPr lang="en-US" dirty="0"/>
          </a:p>
        </p:txBody>
      </p:sp>
      <p:sp>
        <p:nvSpPr>
          <p:cNvPr id="4" name="Title 3"/>
          <p:cNvSpPr>
            <a:spLocks noGrp="1"/>
          </p:cNvSpPr>
          <p:nvPr>
            <p:ph type="title"/>
          </p:nvPr>
        </p:nvSpPr>
        <p:spPr>
          <a:xfrm>
            <a:off x="457200" y="152400"/>
            <a:ext cx="8229600" cy="1066800"/>
          </a:xfrm>
        </p:spPr>
        <p:txBody>
          <a:bodyPr>
            <a:noAutofit/>
          </a:bodyPr>
          <a:lstStyle/>
          <a:p>
            <a:r>
              <a:rPr lang="en-GB" sz="3600" dirty="0" smtClean="0"/>
              <a:t>Types of Plans - Plans are not Independent</a:t>
            </a:r>
            <a:br>
              <a:rPr lang="en-GB" sz="3600" dirty="0" smtClean="0"/>
            </a:br>
            <a:r>
              <a:rPr lang="en-US" sz="2000" dirty="0" smtClean="0">
                <a:cs typeface="Arial" charset="0"/>
              </a:rPr>
              <a:t>(Source: Robbins &amp; Coulter,  2014)</a:t>
            </a:r>
            <a:endParaRPr lang="en-US" sz="3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4267200"/>
            <a:ext cx="8229600" cy="1858963"/>
          </a:xfrm>
        </p:spPr>
        <p:txBody>
          <a:bodyPr/>
          <a:lstStyle/>
          <a:p>
            <a:endParaRPr lang="en-US"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28</a:t>
            </a:fld>
            <a:endParaRPr lang="en-US" dirty="0"/>
          </a:p>
        </p:txBody>
      </p:sp>
      <p:sp>
        <p:nvSpPr>
          <p:cNvPr id="4" name="Title 3"/>
          <p:cNvSpPr>
            <a:spLocks noGrp="1"/>
          </p:cNvSpPr>
          <p:nvPr>
            <p:ph type="title"/>
          </p:nvPr>
        </p:nvSpPr>
        <p:spPr>
          <a:xfrm>
            <a:off x="457200" y="1447800"/>
            <a:ext cx="8229600" cy="2286000"/>
          </a:xfrm>
        </p:spPr>
        <p:txBody>
          <a:bodyPr>
            <a:noAutofit/>
          </a:bodyPr>
          <a:lstStyle/>
          <a:p>
            <a:pPr algn="ctr"/>
            <a:r>
              <a:rPr lang="en-GB" sz="6000" dirty="0" smtClean="0"/>
              <a:t>Setting Goals &amp; Developing Plans</a:t>
            </a:r>
            <a:endParaRPr lang="en-US" sz="6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600200"/>
            <a:ext cx="8229600" cy="4525963"/>
          </a:xfrm>
        </p:spPr>
        <p:txBody>
          <a:bodyPr>
            <a:normAutofit fontScale="70000" lnSpcReduction="20000"/>
          </a:bodyPr>
          <a:lstStyle/>
          <a:p>
            <a:pPr hangingPunct="0"/>
            <a:r>
              <a:rPr lang="en-US" b="1" dirty="0" smtClean="0"/>
              <a:t>Traditional goal setting</a:t>
            </a:r>
            <a:r>
              <a:rPr lang="en-US" dirty="0" smtClean="0"/>
              <a:t> is an approach to setting goals in which goals are set at the top level of the organisation and then broken into sub-goals for each level of the organisation.</a:t>
            </a:r>
          </a:p>
          <a:p>
            <a:pPr lvl="0" hangingPunct="0"/>
            <a:endParaRPr lang="en-US" dirty="0" smtClean="0"/>
          </a:p>
          <a:p>
            <a:pPr lvl="0" hangingPunct="0"/>
            <a:r>
              <a:rPr lang="en-US" dirty="0" smtClean="0"/>
              <a:t>Traditional goal setting assumes that top managers know what is best because of their ability to see the “big picture.” </a:t>
            </a:r>
          </a:p>
          <a:p>
            <a:pPr lvl="1" hangingPunct="0"/>
            <a:r>
              <a:rPr lang="en-US" dirty="0" smtClean="0"/>
              <a:t>Employees are to work to meet the goals for their particular area of responsibility.</a:t>
            </a:r>
          </a:p>
          <a:p>
            <a:pPr hangingPunct="0"/>
            <a:endParaRPr lang="en-US" dirty="0" smtClean="0"/>
          </a:p>
          <a:p>
            <a:pPr hangingPunct="0"/>
            <a:r>
              <a:rPr lang="en-US" dirty="0" smtClean="0"/>
              <a:t>This traditional approach requires that goals must be made more specific as they flow down to lower levels in the organisation. </a:t>
            </a:r>
          </a:p>
          <a:p>
            <a:pPr hangingPunct="0"/>
            <a:endParaRPr lang="en-US" dirty="0" smtClean="0"/>
          </a:p>
          <a:p>
            <a:pPr hangingPunct="0"/>
            <a:r>
              <a:rPr lang="en-US" dirty="0" smtClean="0"/>
              <a:t>In striving to achieve specificity, however, objectives sometimes lose clarity and unity with goals set at a higher level in the organisation.</a:t>
            </a:r>
          </a:p>
        </p:txBody>
      </p:sp>
      <p:sp>
        <p:nvSpPr>
          <p:cNvPr id="3" name="Slide Number Placeholder 2"/>
          <p:cNvSpPr>
            <a:spLocks noGrp="1"/>
          </p:cNvSpPr>
          <p:nvPr>
            <p:ph type="sldNum" sz="quarter" idx="12"/>
          </p:nvPr>
        </p:nvSpPr>
        <p:spPr/>
        <p:txBody>
          <a:bodyPr/>
          <a:lstStyle/>
          <a:p>
            <a:fld id="{B6F15528-21DE-4FAA-801E-634DDDAF4B2B}" type="slidenum">
              <a:rPr lang="en-US" smtClean="0"/>
              <a:pPr/>
              <a:t>29</a:t>
            </a:fld>
            <a:endParaRPr lang="en-US" dirty="0"/>
          </a:p>
        </p:txBody>
      </p:sp>
      <p:sp>
        <p:nvSpPr>
          <p:cNvPr id="4" name="Title 3"/>
          <p:cNvSpPr>
            <a:spLocks noGrp="1"/>
          </p:cNvSpPr>
          <p:nvPr>
            <p:ph type="title"/>
          </p:nvPr>
        </p:nvSpPr>
        <p:spPr/>
        <p:txBody>
          <a:bodyPr/>
          <a:lstStyle/>
          <a:p>
            <a:r>
              <a:rPr lang="en-GB" dirty="0" smtClean="0"/>
              <a:t>Traditional Goal Setting</a:t>
            </a: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828800"/>
            <a:ext cx="8229600" cy="5029200"/>
          </a:xfrm>
        </p:spPr>
        <p:txBody>
          <a:bodyPr>
            <a:normAutofit fontScale="77500" lnSpcReduction="20000"/>
          </a:bodyPr>
          <a:lstStyle/>
          <a:p>
            <a:r>
              <a:rPr lang="en-US" sz="3100" dirty="0" smtClean="0">
                <a:cs typeface="Arial" charset="0"/>
              </a:rPr>
              <a:t>A problem with traditional goal-setting is that when top managers define the organisation’s goals in broad terms - such as achieving “sufficient” profits or increasing “market leadership”.  </a:t>
            </a:r>
          </a:p>
          <a:p>
            <a:endParaRPr lang="en-US" sz="3100" dirty="0" smtClean="0">
              <a:cs typeface="Arial" charset="0"/>
            </a:endParaRPr>
          </a:p>
          <a:p>
            <a:r>
              <a:rPr lang="en-US" sz="3100" dirty="0" smtClean="0">
                <a:cs typeface="Arial" charset="0"/>
              </a:rPr>
              <a:t>These ambiguous goals have to be made more specific as they flow down through the organisation. </a:t>
            </a:r>
          </a:p>
          <a:p>
            <a:endParaRPr lang="en-US" sz="3100" dirty="0" smtClean="0">
              <a:cs typeface="Arial" charset="0"/>
            </a:endParaRPr>
          </a:p>
          <a:p>
            <a:r>
              <a:rPr lang="en-US" sz="3100" dirty="0" smtClean="0">
                <a:cs typeface="Arial" charset="0"/>
              </a:rPr>
              <a:t>Managers at each level define the goals and apply their own interpretations and biases as they make them more specific. </a:t>
            </a:r>
          </a:p>
          <a:p>
            <a:endParaRPr lang="en-US" sz="3100" dirty="0" smtClean="0">
              <a:cs typeface="Arial" charset="0"/>
            </a:endParaRPr>
          </a:p>
          <a:p>
            <a:r>
              <a:rPr lang="en-US" sz="3100" dirty="0" smtClean="0">
                <a:cs typeface="Arial" charset="0"/>
              </a:rPr>
              <a:t>However, what often happens is that clarity is lost as the goals make their way down from the top of the organisation to lower levels. </a:t>
            </a:r>
            <a:endParaRPr lang="en-US" sz="3100" dirty="0" smtClean="0"/>
          </a:p>
          <a:p>
            <a:endParaRPr lang="en-US"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30</a:t>
            </a:fld>
            <a:endParaRPr lang="en-US" dirty="0"/>
          </a:p>
        </p:txBody>
      </p:sp>
      <p:sp>
        <p:nvSpPr>
          <p:cNvPr id="4" name="Title 3"/>
          <p:cNvSpPr>
            <a:spLocks noGrp="1"/>
          </p:cNvSpPr>
          <p:nvPr>
            <p:ph type="title"/>
          </p:nvPr>
        </p:nvSpPr>
        <p:spPr/>
        <p:txBody>
          <a:bodyPr>
            <a:normAutofit/>
          </a:bodyPr>
          <a:lstStyle/>
          <a:p>
            <a:r>
              <a:rPr lang="en-US" sz="3600" dirty="0" smtClean="0"/>
              <a:t>The Downside of Traditional Goal-Setting</a:t>
            </a:r>
            <a:endParaRPr lang="en-US" sz="3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endParaRPr lang="en-US" sz="1400"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31</a:t>
            </a:fld>
            <a:endParaRPr lang="en-US" dirty="0"/>
          </a:p>
        </p:txBody>
      </p:sp>
      <p:sp>
        <p:nvSpPr>
          <p:cNvPr id="4" name="Title 3"/>
          <p:cNvSpPr>
            <a:spLocks noGrp="1"/>
          </p:cNvSpPr>
          <p:nvPr>
            <p:ph type="title"/>
          </p:nvPr>
        </p:nvSpPr>
        <p:spPr/>
        <p:txBody>
          <a:bodyPr>
            <a:noAutofit/>
          </a:bodyPr>
          <a:lstStyle/>
          <a:p>
            <a:r>
              <a:rPr lang="en-US" sz="3600" dirty="0" smtClean="0"/>
              <a:t>The Downside of Traditional Goal-Setting </a:t>
            </a:r>
            <a:r>
              <a:rPr lang="en-US" sz="1800" dirty="0" smtClean="0">
                <a:cs typeface="Arial" charset="0"/>
              </a:rPr>
              <a:t>(Source: Robbins &amp; Coulter,  2014)</a:t>
            </a:r>
            <a:endParaRPr lang="en-US" sz="3600" dirty="0"/>
          </a:p>
        </p:txBody>
      </p:sp>
      <p:pic>
        <p:nvPicPr>
          <p:cNvPr id="6" name="Picture 2"/>
          <p:cNvPicPr>
            <a:picLocks noChangeAspect="1" noChangeArrowheads="1"/>
          </p:cNvPicPr>
          <p:nvPr/>
        </p:nvPicPr>
        <p:blipFill>
          <a:blip r:embed="rId2" cstate="print"/>
          <a:srcRect/>
          <a:stretch>
            <a:fillRect/>
          </a:stretch>
        </p:blipFill>
        <p:spPr bwMode="auto">
          <a:xfrm>
            <a:off x="457200" y="1600200"/>
            <a:ext cx="8305800" cy="5029200"/>
          </a:xfrm>
          <a:prstGeom prst="rect">
            <a:avLst/>
          </a:prstGeom>
          <a:noFill/>
          <a:ln w="9525">
            <a:noFill/>
            <a:miter lim="800000"/>
            <a:headEnd/>
            <a:tailEnd/>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US"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32</a:t>
            </a:fld>
            <a:endParaRPr lang="en-US" dirty="0"/>
          </a:p>
        </p:txBody>
      </p:sp>
      <p:sp>
        <p:nvSpPr>
          <p:cNvPr id="4" name="Title 3"/>
          <p:cNvSpPr>
            <a:spLocks noGrp="1"/>
          </p:cNvSpPr>
          <p:nvPr>
            <p:ph type="title"/>
          </p:nvPr>
        </p:nvSpPr>
        <p:spPr/>
        <p:txBody>
          <a:bodyPr>
            <a:normAutofit/>
          </a:bodyPr>
          <a:lstStyle/>
          <a:p>
            <a:r>
              <a:rPr lang="en-US" dirty="0" smtClean="0"/>
              <a:t>Goal-Setting</a:t>
            </a:r>
            <a:endParaRPr lang="en-US" dirty="0"/>
          </a:p>
        </p:txBody>
      </p:sp>
      <p:pic>
        <p:nvPicPr>
          <p:cNvPr id="77828" name="Picture 4" descr="http://proventipstosuccess.files.wordpress.com/2012/06/0002-goals_thumb2.jpg?w=510"/>
          <p:cNvPicPr>
            <a:picLocks noChangeAspect="1" noChangeArrowheads="1"/>
          </p:cNvPicPr>
          <p:nvPr/>
        </p:nvPicPr>
        <p:blipFill>
          <a:blip r:embed="rId2" cstate="print"/>
          <a:srcRect/>
          <a:stretch>
            <a:fillRect/>
          </a:stretch>
        </p:blipFill>
        <p:spPr bwMode="auto">
          <a:xfrm>
            <a:off x="381000" y="1752599"/>
            <a:ext cx="5105400" cy="4800601"/>
          </a:xfrm>
          <a:prstGeom prst="rect">
            <a:avLst/>
          </a:prstGeom>
          <a:noFill/>
        </p:spPr>
      </p:pic>
      <p:pic>
        <p:nvPicPr>
          <p:cNvPr id="77830" name="Picture 6" descr="http://www.ratracetrap.com/wp-content/uploads/2009/12/goals-227x300.jpg"/>
          <p:cNvPicPr>
            <a:picLocks noChangeAspect="1" noChangeArrowheads="1"/>
          </p:cNvPicPr>
          <p:nvPr/>
        </p:nvPicPr>
        <p:blipFill>
          <a:blip r:embed="rId3" cstate="print"/>
          <a:srcRect/>
          <a:stretch>
            <a:fillRect/>
          </a:stretch>
        </p:blipFill>
        <p:spPr bwMode="auto">
          <a:xfrm>
            <a:off x="5638800" y="1676400"/>
            <a:ext cx="3329813" cy="4800600"/>
          </a:xfrm>
          <a:prstGeom prst="rect">
            <a:avLst/>
          </a:prstGeom>
          <a:noFill/>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676400"/>
            <a:ext cx="8229600" cy="4572000"/>
          </a:xfrm>
        </p:spPr>
        <p:txBody>
          <a:bodyPr>
            <a:normAutofit fontScale="92500" lnSpcReduction="20000"/>
          </a:bodyPr>
          <a:lstStyle/>
          <a:p>
            <a:pPr eaLnBrk="0" hangingPunct="0"/>
            <a:r>
              <a:rPr lang="en-US" sz="3000" dirty="0" smtClean="0">
                <a:cs typeface="Arial" charset="0"/>
              </a:rPr>
              <a:t>When the hierarchy of organisational goals is clearly defined it forms an integrated network of goals, or a </a:t>
            </a:r>
            <a:r>
              <a:rPr lang="en-US" sz="3000" b="1" dirty="0" smtClean="0">
                <a:cs typeface="Arial" charset="0"/>
              </a:rPr>
              <a:t>means-ends chain</a:t>
            </a:r>
            <a:r>
              <a:rPr lang="en-US" sz="3000" dirty="0" smtClean="0">
                <a:cs typeface="Arial" charset="0"/>
              </a:rPr>
              <a:t>.</a:t>
            </a:r>
          </a:p>
          <a:p>
            <a:pPr eaLnBrk="0" hangingPunct="0"/>
            <a:endParaRPr lang="en-US" sz="1300" dirty="0" smtClean="0">
              <a:cs typeface="Arial" charset="0"/>
            </a:endParaRPr>
          </a:p>
          <a:p>
            <a:pPr lvl="1" eaLnBrk="0" hangingPunct="0"/>
            <a:r>
              <a:rPr lang="en-US" sz="2400" dirty="0" smtClean="0"/>
              <a:t>in which the accomplishment of goals at one level, serves as the means for achieving the goals, or ends, at the next level.</a:t>
            </a:r>
          </a:p>
          <a:p>
            <a:pPr lvl="1" eaLnBrk="0" hangingPunct="0"/>
            <a:r>
              <a:rPr lang="en-US" sz="2400" dirty="0" smtClean="0">
                <a:cs typeface="Arial" charset="0"/>
              </a:rPr>
              <a:t>Higher-level goals (or ends) are linked to lower-level goals, </a:t>
            </a:r>
          </a:p>
          <a:p>
            <a:pPr lvl="1"/>
            <a:r>
              <a:rPr lang="en-US" sz="2400" dirty="0" smtClean="0">
                <a:cs typeface="Arial" charset="0"/>
              </a:rPr>
              <a:t>In other words, the goals achieved at one level become the means to reach the goals (ends) at the next level.,…. </a:t>
            </a:r>
          </a:p>
          <a:p>
            <a:pPr lvl="1"/>
            <a:r>
              <a:rPr lang="en-US" sz="2400" dirty="0" smtClean="0">
                <a:cs typeface="Arial" charset="0"/>
              </a:rPr>
              <a:t>….. and on up through the different organisational levels. </a:t>
            </a:r>
          </a:p>
          <a:p>
            <a:endParaRPr lang="en-US" sz="3900" dirty="0" smtClean="0">
              <a:cs typeface="Arial" charset="0"/>
            </a:endParaRPr>
          </a:p>
          <a:p>
            <a:r>
              <a:rPr lang="en-US" dirty="0" smtClean="0">
                <a:cs typeface="Arial" charset="0"/>
              </a:rPr>
              <a:t>That is how traditional goal-setting is supposed to work.</a:t>
            </a:r>
          </a:p>
          <a:p>
            <a:endParaRPr lang="en-US"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33</a:t>
            </a:fld>
            <a:endParaRPr lang="en-US" dirty="0"/>
          </a:p>
        </p:txBody>
      </p:sp>
      <p:sp>
        <p:nvSpPr>
          <p:cNvPr id="4" name="Title 3"/>
          <p:cNvSpPr>
            <a:spLocks noGrp="1"/>
          </p:cNvSpPr>
          <p:nvPr>
            <p:ph type="title"/>
          </p:nvPr>
        </p:nvSpPr>
        <p:spPr/>
        <p:txBody>
          <a:bodyPr>
            <a:normAutofit/>
          </a:bodyPr>
          <a:lstStyle/>
          <a:p>
            <a:r>
              <a:rPr lang="en-US" dirty="0" smtClean="0"/>
              <a:t>Traditional Goal Setting</a:t>
            </a:r>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idx="1"/>
          </p:nvPr>
        </p:nvSpPr>
        <p:spPr>
          <a:xfrm>
            <a:off x="457200" y="1499616"/>
            <a:ext cx="8229600" cy="5358384"/>
          </a:xfrm>
        </p:spPr>
        <p:txBody>
          <a:bodyPr>
            <a:normAutofit fontScale="62500" lnSpcReduction="20000"/>
          </a:bodyPr>
          <a:lstStyle/>
          <a:p>
            <a:r>
              <a:rPr lang="en-US" sz="3400" dirty="0" smtClean="0">
                <a:cs typeface="Arial" charset="0"/>
              </a:rPr>
              <a:t>Instead of using traditional goal-setting, many organisations use </a:t>
            </a:r>
            <a:r>
              <a:rPr lang="en-US" sz="3400" b="1" dirty="0" smtClean="0">
                <a:cs typeface="Arial" charset="0"/>
              </a:rPr>
              <a:t>management by objectives (MBO)</a:t>
            </a:r>
            <a:r>
              <a:rPr lang="en-US" sz="3400" dirty="0" smtClean="0">
                <a:cs typeface="Arial" charset="0"/>
              </a:rPr>
              <a:t>, </a:t>
            </a:r>
          </a:p>
          <a:p>
            <a:endParaRPr lang="en-US" sz="2200" dirty="0" smtClean="0">
              <a:cs typeface="Arial" charset="0"/>
            </a:endParaRPr>
          </a:p>
          <a:p>
            <a:r>
              <a:rPr lang="en-US" dirty="0" smtClean="0">
                <a:cs typeface="Arial" charset="0"/>
              </a:rPr>
              <a:t>A process of setting mutually agreed-upon goals and using those goals to evaluate employee performance. </a:t>
            </a:r>
          </a:p>
          <a:p>
            <a:endParaRPr lang="en-US" dirty="0" smtClean="0">
              <a:cs typeface="Arial" charset="0"/>
            </a:endParaRPr>
          </a:p>
          <a:p>
            <a:r>
              <a:rPr lang="en-US" dirty="0" smtClean="0">
                <a:cs typeface="Arial" charset="0"/>
              </a:rPr>
              <a:t>MBO programs have four elements: </a:t>
            </a:r>
          </a:p>
          <a:p>
            <a:pPr lvl="1"/>
            <a:r>
              <a:rPr lang="en-US" sz="3200" dirty="0" smtClean="0">
                <a:cs typeface="Arial" charset="0"/>
              </a:rPr>
              <a:t>goal specificity, </a:t>
            </a:r>
          </a:p>
          <a:p>
            <a:pPr lvl="1"/>
            <a:r>
              <a:rPr lang="en-US" sz="3200" dirty="0" smtClean="0">
                <a:cs typeface="Arial" charset="0"/>
              </a:rPr>
              <a:t>participative decision making, </a:t>
            </a:r>
          </a:p>
          <a:p>
            <a:pPr lvl="1"/>
            <a:r>
              <a:rPr lang="en-US" sz="3200" dirty="0" smtClean="0">
                <a:cs typeface="Arial" charset="0"/>
              </a:rPr>
              <a:t>an explicit time period, </a:t>
            </a:r>
          </a:p>
          <a:p>
            <a:pPr lvl="1"/>
            <a:r>
              <a:rPr lang="en-US" sz="3200" dirty="0" smtClean="0">
                <a:cs typeface="Arial" charset="0"/>
              </a:rPr>
              <a:t>and performance feedback</a:t>
            </a:r>
            <a:r>
              <a:rPr lang="en-US" sz="3300" dirty="0" smtClean="0">
                <a:cs typeface="Arial" charset="0"/>
              </a:rPr>
              <a:t>.</a:t>
            </a:r>
          </a:p>
          <a:p>
            <a:endParaRPr lang="en-US" sz="2200" b="1" dirty="0" smtClean="0"/>
          </a:p>
          <a:p>
            <a:r>
              <a:rPr lang="en-US" dirty="0" smtClean="0">
                <a:cs typeface="Arial" charset="0"/>
              </a:rPr>
              <a:t>Instead of using goals to make sure employees are doing what they are supposed to be doing, MBO uses goals to also motivate staff. </a:t>
            </a:r>
          </a:p>
          <a:p>
            <a:endParaRPr lang="en-US" sz="2600" dirty="0" smtClean="0">
              <a:cs typeface="Arial" charset="0"/>
            </a:endParaRPr>
          </a:p>
          <a:p>
            <a:r>
              <a:rPr lang="en-US" dirty="0" smtClean="0">
                <a:cs typeface="Arial" charset="0"/>
              </a:rPr>
              <a:t>The appeal is that it focuses on employees working to accomplish goals they have had a hand in setting.</a:t>
            </a:r>
          </a:p>
          <a:p>
            <a:pPr lvl="1"/>
            <a:r>
              <a:rPr lang="en-GB" dirty="0" smtClean="0">
                <a:cs typeface="Arial" charset="0"/>
              </a:rPr>
              <a:t>Studies have shown that MBO can increase employee performance and organisational productivity.</a:t>
            </a:r>
            <a:endParaRPr lang="en-US" dirty="0" smtClean="0">
              <a:cs typeface="Arial" charset="0"/>
            </a:endParaRPr>
          </a:p>
          <a:p>
            <a:endParaRPr lang="en-US" dirty="0" smtClean="0"/>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34</a:t>
            </a:fld>
            <a:endParaRPr lang="en-US" dirty="0"/>
          </a:p>
        </p:txBody>
      </p:sp>
      <p:sp>
        <p:nvSpPr>
          <p:cNvPr id="6" name="Title 5"/>
          <p:cNvSpPr>
            <a:spLocks noGrp="1"/>
          </p:cNvSpPr>
          <p:nvPr>
            <p:ph type="title"/>
          </p:nvPr>
        </p:nvSpPr>
        <p:spPr/>
        <p:txBody>
          <a:bodyPr>
            <a:normAutofit fontScale="90000"/>
          </a:bodyPr>
          <a:lstStyle/>
          <a:p>
            <a:r>
              <a:rPr lang="en-US" b="1" dirty="0" smtClean="0">
                <a:cs typeface="Arial" charset="0"/>
              </a:rPr>
              <a:t>Management by Objectives </a:t>
            </a:r>
            <a:r>
              <a:rPr lang="en-US" sz="3600" b="1" dirty="0" smtClean="0">
                <a:cs typeface="Arial" charset="0"/>
              </a:rPr>
              <a:t>(MBO)</a:t>
            </a:r>
            <a:endParaRPr lang="en-US" dirty="0"/>
          </a:p>
        </p:txBody>
      </p:sp>
      <p:pic>
        <p:nvPicPr>
          <p:cNvPr id="27654" name="Picture 6" descr="http://img.docstoccdn.com/thumb/orig/87311782.png"/>
          <p:cNvPicPr>
            <a:picLocks noChangeAspect="1" noChangeArrowheads="1"/>
          </p:cNvPicPr>
          <p:nvPr/>
        </p:nvPicPr>
        <p:blipFill>
          <a:blip r:embed="rId2" cstate="print"/>
          <a:srcRect/>
          <a:stretch>
            <a:fillRect/>
          </a:stretch>
        </p:blipFill>
        <p:spPr bwMode="auto">
          <a:xfrm>
            <a:off x="5334000" y="2743200"/>
            <a:ext cx="3505200" cy="1981200"/>
          </a:xfrm>
          <a:prstGeom prst="rect">
            <a:avLst/>
          </a:prstGeom>
          <a:noFill/>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US"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35</a:t>
            </a:fld>
            <a:endParaRPr lang="en-US" dirty="0"/>
          </a:p>
        </p:txBody>
      </p:sp>
      <p:sp>
        <p:nvSpPr>
          <p:cNvPr id="4" name="Title 3"/>
          <p:cNvSpPr>
            <a:spLocks noGrp="1"/>
          </p:cNvSpPr>
          <p:nvPr>
            <p:ph type="title"/>
          </p:nvPr>
        </p:nvSpPr>
        <p:spPr/>
        <p:txBody>
          <a:bodyPr>
            <a:normAutofit/>
          </a:bodyPr>
          <a:lstStyle/>
          <a:p>
            <a:r>
              <a:rPr lang="en-US" dirty="0" smtClean="0">
                <a:cs typeface="Arial" charset="0"/>
              </a:rPr>
              <a:t>Steps in a Typical MBO Program</a:t>
            </a:r>
            <a:br>
              <a:rPr lang="en-US" dirty="0" smtClean="0">
                <a:cs typeface="Arial" charset="0"/>
              </a:rPr>
            </a:br>
            <a:r>
              <a:rPr lang="en-US" sz="2000" dirty="0" smtClean="0">
                <a:cs typeface="Arial" charset="0"/>
              </a:rPr>
              <a:t>(Source: Robbins &amp; Coulter,  2014)</a:t>
            </a:r>
            <a:endParaRPr lang="en-US" sz="2000" dirty="0"/>
          </a:p>
        </p:txBody>
      </p:sp>
      <p:pic>
        <p:nvPicPr>
          <p:cNvPr id="5" name="Picture 2"/>
          <p:cNvPicPr>
            <a:picLocks noChangeAspect="1" noChangeArrowheads="1"/>
          </p:cNvPicPr>
          <p:nvPr/>
        </p:nvPicPr>
        <p:blipFill>
          <a:blip r:embed="rId2" cstate="print"/>
          <a:srcRect/>
          <a:stretch>
            <a:fillRect/>
          </a:stretch>
        </p:blipFill>
        <p:spPr bwMode="auto">
          <a:xfrm>
            <a:off x="380999" y="1905000"/>
            <a:ext cx="8382001" cy="4191000"/>
          </a:xfrm>
          <a:prstGeom prst="rect">
            <a:avLst/>
          </a:prstGeom>
          <a:noFill/>
          <a:ln w="9525">
            <a:noFill/>
            <a:miter lim="800000"/>
            <a:headEnd/>
            <a:tailEnd/>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US"/>
          </a:p>
        </p:txBody>
      </p:sp>
      <p:sp>
        <p:nvSpPr>
          <p:cNvPr id="3" name="Slide Number Placeholder 2"/>
          <p:cNvSpPr>
            <a:spLocks noGrp="1"/>
          </p:cNvSpPr>
          <p:nvPr>
            <p:ph type="sldNum" sz="quarter" idx="12"/>
          </p:nvPr>
        </p:nvSpPr>
        <p:spPr/>
        <p:txBody>
          <a:bodyPr/>
          <a:lstStyle/>
          <a:p>
            <a:fld id="{B6F15528-21DE-4FAA-801E-634DDDAF4B2B}" type="slidenum">
              <a:rPr lang="en-US" smtClean="0"/>
              <a:pPr/>
              <a:t>36</a:t>
            </a:fld>
            <a:endParaRPr lang="en-US" dirty="0"/>
          </a:p>
        </p:txBody>
      </p:sp>
      <p:sp>
        <p:nvSpPr>
          <p:cNvPr id="4" name="Title 3"/>
          <p:cNvSpPr>
            <a:spLocks noGrp="1"/>
          </p:cNvSpPr>
          <p:nvPr>
            <p:ph type="title"/>
          </p:nvPr>
        </p:nvSpPr>
        <p:spPr/>
        <p:txBody>
          <a:bodyPr/>
          <a:lstStyle/>
          <a:p>
            <a:endParaRPr lang="en-US"/>
          </a:p>
        </p:txBody>
      </p:sp>
      <p:pic>
        <p:nvPicPr>
          <p:cNvPr id="78850" name="Picture 2" descr="http://www.quotehd.com/imagequotes/authors6/peter-drucker-quote-management-by-objectives-works-if-you-know-the-obj.jpg"/>
          <p:cNvPicPr>
            <a:picLocks noChangeAspect="1" noChangeArrowheads="1"/>
          </p:cNvPicPr>
          <p:nvPr/>
        </p:nvPicPr>
        <p:blipFill>
          <a:blip r:embed="rId2" cstate="print"/>
          <a:srcRect/>
          <a:stretch>
            <a:fillRect/>
          </a:stretch>
        </p:blipFill>
        <p:spPr bwMode="auto">
          <a:xfrm>
            <a:off x="685800" y="609600"/>
            <a:ext cx="7620000" cy="5715000"/>
          </a:xfrm>
          <a:prstGeom prst="rect">
            <a:avLst/>
          </a:prstGeom>
          <a:noFill/>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499616"/>
            <a:ext cx="4876800" cy="4977384"/>
          </a:xfrm>
        </p:spPr>
        <p:txBody>
          <a:bodyPr>
            <a:normAutofit fontScale="77500" lnSpcReduction="20000"/>
          </a:bodyPr>
          <a:lstStyle/>
          <a:p>
            <a:pPr marL="457200" indent="-457200" eaLnBrk="0" hangingPunct="0">
              <a:buFontTx/>
              <a:buAutoNum type="arabicPeriod"/>
            </a:pPr>
            <a:r>
              <a:rPr lang="en-US" dirty="0" smtClean="0"/>
              <a:t>Review the organisation’s </a:t>
            </a:r>
            <a:r>
              <a:rPr lang="en-US" b="1" dirty="0" smtClean="0"/>
              <a:t>mission</a:t>
            </a:r>
            <a:r>
              <a:rPr lang="en-US" dirty="0" smtClean="0"/>
              <a:t>,  (the purpose of the organisation).</a:t>
            </a:r>
          </a:p>
          <a:p>
            <a:pPr marL="457200" indent="-457200" eaLnBrk="0" hangingPunct="0">
              <a:buFontTx/>
              <a:buAutoNum type="arabicPeriod"/>
            </a:pPr>
            <a:endParaRPr lang="en-US" sz="1900" dirty="0" smtClean="0"/>
          </a:p>
          <a:p>
            <a:pPr marL="457200" indent="-457200" eaLnBrk="0" hangingPunct="0">
              <a:buFontTx/>
              <a:buAutoNum type="arabicPeriod"/>
            </a:pPr>
            <a:r>
              <a:rPr lang="en-US" dirty="0" smtClean="0"/>
              <a:t>Evaluate available resources.</a:t>
            </a:r>
          </a:p>
          <a:p>
            <a:pPr marL="457200" indent="-457200" eaLnBrk="0" hangingPunct="0">
              <a:buFontTx/>
              <a:buAutoNum type="arabicPeriod"/>
            </a:pPr>
            <a:endParaRPr lang="en-US" sz="1700" dirty="0" smtClean="0"/>
          </a:p>
          <a:p>
            <a:pPr marL="457200" indent="-457200" eaLnBrk="0" hangingPunct="0">
              <a:buFontTx/>
              <a:buAutoNum type="arabicPeriod"/>
            </a:pPr>
            <a:r>
              <a:rPr lang="en-US" dirty="0" smtClean="0"/>
              <a:t>Determine the goals individually or with input from others.</a:t>
            </a:r>
          </a:p>
          <a:p>
            <a:pPr marL="457200" indent="-457200" eaLnBrk="0" hangingPunct="0">
              <a:buFontTx/>
              <a:buAutoNum type="arabicPeriod"/>
            </a:pPr>
            <a:endParaRPr lang="en-US" sz="1900" dirty="0" smtClean="0"/>
          </a:p>
          <a:p>
            <a:pPr marL="457200" indent="-457200" eaLnBrk="0" hangingPunct="0">
              <a:buFontTx/>
              <a:buAutoNum type="arabicPeriod"/>
            </a:pPr>
            <a:r>
              <a:rPr lang="en-US" dirty="0" smtClean="0"/>
              <a:t>Write down the goals and communicate them to all who need to know.</a:t>
            </a:r>
          </a:p>
          <a:p>
            <a:pPr marL="457200" indent="-457200" eaLnBrk="0" hangingPunct="0">
              <a:buFontTx/>
              <a:buAutoNum type="arabicPeriod"/>
            </a:pPr>
            <a:endParaRPr lang="en-US" sz="2200" dirty="0" smtClean="0"/>
          </a:p>
          <a:p>
            <a:pPr marL="457200" indent="-457200" eaLnBrk="0" hangingPunct="0">
              <a:buFontTx/>
              <a:buAutoNum type="arabicPeriod"/>
            </a:pPr>
            <a:r>
              <a:rPr lang="en-US" dirty="0" smtClean="0"/>
              <a:t>Review results and whether goals are being met, </a:t>
            </a:r>
            <a:r>
              <a:rPr lang="en-GB" dirty="0" smtClean="0"/>
              <a:t>Make changes as needed.</a:t>
            </a:r>
            <a:endParaRPr lang="en-US" dirty="0" smtClean="0"/>
          </a:p>
          <a:p>
            <a:pPr>
              <a:defRPr/>
            </a:pPr>
            <a:endParaRPr lang="en-US" dirty="0" smtClean="0"/>
          </a:p>
        </p:txBody>
      </p:sp>
      <p:sp>
        <p:nvSpPr>
          <p:cNvPr id="3" name="Slide Number Placeholder 2"/>
          <p:cNvSpPr>
            <a:spLocks noGrp="1"/>
          </p:cNvSpPr>
          <p:nvPr>
            <p:ph type="sldNum" sz="quarter" idx="12"/>
          </p:nvPr>
        </p:nvSpPr>
        <p:spPr/>
        <p:txBody>
          <a:bodyPr/>
          <a:lstStyle/>
          <a:p>
            <a:fld id="{B6F15528-21DE-4FAA-801E-634DDDAF4B2B}" type="slidenum">
              <a:rPr lang="en-US" smtClean="0"/>
              <a:pPr/>
              <a:t>37</a:t>
            </a:fld>
            <a:endParaRPr lang="en-US" dirty="0"/>
          </a:p>
        </p:txBody>
      </p:sp>
      <p:sp>
        <p:nvSpPr>
          <p:cNvPr id="4" name="Title 3"/>
          <p:cNvSpPr>
            <a:spLocks noGrp="1"/>
          </p:cNvSpPr>
          <p:nvPr>
            <p:ph type="title"/>
          </p:nvPr>
        </p:nvSpPr>
        <p:spPr>
          <a:xfrm>
            <a:off x="457200" y="152400"/>
            <a:ext cx="5105400" cy="1143000"/>
          </a:xfrm>
        </p:spPr>
        <p:txBody>
          <a:bodyPr>
            <a:normAutofit fontScale="90000"/>
          </a:bodyPr>
          <a:lstStyle/>
          <a:p>
            <a:r>
              <a:rPr lang="en-US" dirty="0" smtClean="0"/>
              <a:t>Five Steps in Goal-Setting</a:t>
            </a:r>
            <a:endParaRPr lang="en-US" dirty="0"/>
          </a:p>
        </p:txBody>
      </p:sp>
      <p:pic>
        <p:nvPicPr>
          <p:cNvPr id="24578" name="Picture 2" descr="http://cdn1.moneysavingmom.com/wp-content/uploads/2013/12/mistakes.jpg"/>
          <p:cNvPicPr>
            <a:picLocks noChangeAspect="1" noChangeArrowheads="1"/>
          </p:cNvPicPr>
          <p:nvPr/>
        </p:nvPicPr>
        <p:blipFill>
          <a:blip r:embed="rId2" cstate="print"/>
          <a:srcRect/>
          <a:stretch>
            <a:fillRect/>
          </a:stretch>
        </p:blipFill>
        <p:spPr bwMode="auto">
          <a:xfrm>
            <a:off x="5486400" y="3581400"/>
            <a:ext cx="3657600" cy="3276600"/>
          </a:xfrm>
          <a:prstGeom prst="rect">
            <a:avLst/>
          </a:prstGeom>
          <a:noFill/>
        </p:spPr>
      </p:pic>
      <p:pic>
        <p:nvPicPr>
          <p:cNvPr id="24580" name="Picture 4" descr="http://www.featurepics.com/FI/Thumb300/20091228/Smart-Smarter-Goal-Setting-1420460.jpg"/>
          <p:cNvPicPr>
            <a:picLocks noChangeAspect="1" noChangeArrowheads="1"/>
          </p:cNvPicPr>
          <p:nvPr/>
        </p:nvPicPr>
        <p:blipFill>
          <a:blip r:embed="rId3" cstate="print"/>
          <a:srcRect/>
          <a:stretch>
            <a:fillRect/>
          </a:stretch>
        </p:blipFill>
        <p:spPr bwMode="auto">
          <a:xfrm>
            <a:off x="5486400" y="0"/>
            <a:ext cx="3657600" cy="3505200"/>
          </a:xfrm>
          <a:prstGeom prst="rect">
            <a:avLst/>
          </a:prstGeom>
          <a:noFill/>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676400"/>
            <a:ext cx="8229600" cy="4648200"/>
          </a:xfrm>
        </p:spPr>
        <p:txBody>
          <a:bodyPr>
            <a:normAutofit fontScale="70000" lnSpcReduction="20000"/>
          </a:bodyPr>
          <a:lstStyle/>
          <a:p>
            <a:pPr marL="228600" indent="-228600">
              <a:defRPr/>
            </a:pPr>
            <a:r>
              <a:rPr lang="en-US" sz="3300" i="1" dirty="0" smtClean="0"/>
              <a:t>1. Review the organisation’s </a:t>
            </a:r>
            <a:r>
              <a:rPr lang="en-US" sz="3300" b="1" dirty="0" smtClean="0"/>
              <a:t>mission</a:t>
            </a:r>
            <a:r>
              <a:rPr lang="en-US" sz="3300" dirty="0" smtClean="0"/>
              <a:t>, </a:t>
            </a:r>
            <a:r>
              <a:rPr lang="en-US" sz="3300" i="1" dirty="0" smtClean="0"/>
              <a:t>or purpose</a:t>
            </a:r>
            <a:r>
              <a:rPr lang="en-US" sz="3300" dirty="0" smtClean="0"/>
              <a:t>.  </a:t>
            </a:r>
          </a:p>
          <a:p>
            <a:pPr marL="628650" lvl="1" indent="-228600">
              <a:defRPr/>
            </a:pPr>
            <a:r>
              <a:rPr lang="en-US" sz="2900" dirty="0" smtClean="0"/>
              <a:t>A mission is a broad statement of an organisation’s purpose that provides an overall guide to what organisational members think is important. </a:t>
            </a:r>
          </a:p>
          <a:p>
            <a:pPr marL="628650" lvl="1" indent="-228600">
              <a:defRPr/>
            </a:pPr>
            <a:r>
              <a:rPr lang="en-US" sz="3100" dirty="0" smtClean="0"/>
              <a:t>Managers should review the mission before writing goals, because goals should reflect that mission.</a:t>
            </a:r>
          </a:p>
          <a:p>
            <a:pPr marL="228600" indent="-228600">
              <a:buFontTx/>
              <a:buAutoNum type="arabicParenR"/>
              <a:defRPr/>
            </a:pPr>
            <a:endParaRPr lang="en-US" dirty="0" smtClean="0"/>
          </a:p>
          <a:p>
            <a:pPr marL="514350" indent="-514350">
              <a:defRPr/>
            </a:pPr>
            <a:r>
              <a:rPr lang="en-US" sz="3300" i="1" dirty="0" smtClean="0"/>
              <a:t>2. Evaluate available resources</a:t>
            </a:r>
            <a:r>
              <a:rPr lang="en-US" sz="3300" dirty="0" smtClean="0"/>
              <a:t>. A manager does not want to set goals that are impossible to achieve given your available resources. </a:t>
            </a:r>
          </a:p>
          <a:p>
            <a:pPr marL="628650" lvl="1" indent="-228600">
              <a:defRPr/>
            </a:pPr>
            <a:r>
              <a:rPr lang="en-US" sz="3100" dirty="0" smtClean="0"/>
              <a:t>Even though goals should be challenging, they should be realistic. </a:t>
            </a:r>
          </a:p>
          <a:p>
            <a:pPr marL="628650" lvl="1" indent="-228600">
              <a:defRPr/>
            </a:pPr>
            <a:r>
              <a:rPr lang="en-US" sz="3100" dirty="0" smtClean="0"/>
              <a:t>If the resources a manager has to work with will not allow them to achieve a goal no matter how hard one tries, or how much effort is exerted, a manager should not set that goal.</a:t>
            </a:r>
          </a:p>
          <a:p>
            <a:pPr marL="228600" indent="-228600">
              <a:buFontTx/>
              <a:buAutoNum type="arabicParenR"/>
              <a:defRPr/>
            </a:pPr>
            <a:endParaRPr lang="en-US" i="1" dirty="0" smtClean="0"/>
          </a:p>
          <a:p>
            <a:endParaRPr lang="en-US"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38</a:t>
            </a:fld>
            <a:endParaRPr lang="en-US" dirty="0"/>
          </a:p>
        </p:txBody>
      </p:sp>
      <p:sp>
        <p:nvSpPr>
          <p:cNvPr id="4" name="Title 3"/>
          <p:cNvSpPr>
            <a:spLocks noGrp="1"/>
          </p:cNvSpPr>
          <p:nvPr>
            <p:ph type="title"/>
          </p:nvPr>
        </p:nvSpPr>
        <p:spPr/>
        <p:txBody>
          <a:bodyPr/>
          <a:lstStyle/>
          <a:p>
            <a:r>
              <a:rPr lang="en-US" dirty="0" smtClean="0"/>
              <a:t>5 Steps in Goal-Setting </a:t>
            </a:r>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US"/>
          </a:p>
        </p:txBody>
      </p:sp>
      <p:sp>
        <p:nvSpPr>
          <p:cNvPr id="3" name="Slide Number Placeholder 2"/>
          <p:cNvSpPr>
            <a:spLocks noGrp="1"/>
          </p:cNvSpPr>
          <p:nvPr>
            <p:ph type="sldNum" sz="quarter" idx="12"/>
          </p:nvPr>
        </p:nvSpPr>
        <p:spPr/>
        <p:txBody>
          <a:bodyPr/>
          <a:lstStyle/>
          <a:p>
            <a:fld id="{B6F15528-21DE-4FAA-801E-634DDDAF4B2B}" type="slidenum">
              <a:rPr lang="en-US" smtClean="0"/>
              <a:pPr/>
              <a:t>39</a:t>
            </a:fld>
            <a:endParaRPr lang="en-US" dirty="0"/>
          </a:p>
        </p:txBody>
      </p:sp>
      <p:sp>
        <p:nvSpPr>
          <p:cNvPr id="4" name="Title 3"/>
          <p:cNvSpPr>
            <a:spLocks noGrp="1"/>
          </p:cNvSpPr>
          <p:nvPr>
            <p:ph type="title"/>
          </p:nvPr>
        </p:nvSpPr>
        <p:spPr/>
        <p:txBody>
          <a:bodyPr/>
          <a:lstStyle/>
          <a:p>
            <a:endParaRPr lang="en-US"/>
          </a:p>
        </p:txBody>
      </p:sp>
      <p:pic>
        <p:nvPicPr>
          <p:cNvPr id="5" name="Picture 2" descr="http://intentionalmuseum.files.wordpress.com/2013/02/mission-statement-cartoon.jpg"/>
          <p:cNvPicPr>
            <a:picLocks noChangeAspect="1" noChangeArrowheads="1"/>
          </p:cNvPicPr>
          <p:nvPr/>
        </p:nvPicPr>
        <p:blipFill>
          <a:blip r:embed="rId2" cstate="print"/>
          <a:srcRect/>
          <a:stretch>
            <a:fillRect/>
          </a:stretch>
        </p:blipFill>
        <p:spPr bwMode="auto">
          <a:xfrm>
            <a:off x="1447800" y="685800"/>
            <a:ext cx="6553200" cy="5581651"/>
          </a:xfrm>
          <a:prstGeom prst="rect">
            <a:avLst/>
          </a:prstGeom>
          <a:noFill/>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499616"/>
            <a:ext cx="8229600" cy="4977384"/>
          </a:xfrm>
        </p:spPr>
        <p:txBody>
          <a:bodyPr>
            <a:normAutofit fontScale="85000" lnSpcReduction="20000"/>
          </a:bodyPr>
          <a:lstStyle/>
          <a:p>
            <a:pPr marL="228600" indent="-228600">
              <a:defRPr/>
            </a:pPr>
            <a:r>
              <a:rPr lang="en-US" i="1" dirty="0" smtClean="0"/>
              <a:t> 3. Determine the goals individually or with input from others</a:t>
            </a:r>
            <a:r>
              <a:rPr lang="en-US" dirty="0" smtClean="0"/>
              <a:t>. </a:t>
            </a:r>
          </a:p>
          <a:p>
            <a:pPr marL="628650" lvl="1" indent="-228600">
              <a:defRPr/>
            </a:pPr>
            <a:r>
              <a:rPr lang="en-US" dirty="0" smtClean="0"/>
              <a:t>The goals reflect desired outcomes and should be congruent with the organisational mission and goals in other organisational areas. </a:t>
            </a:r>
          </a:p>
          <a:p>
            <a:pPr marL="628650" lvl="1" indent="-228600">
              <a:defRPr/>
            </a:pPr>
            <a:r>
              <a:rPr lang="en-US" dirty="0" smtClean="0"/>
              <a:t>These goals should be measurable, specific, and include a time frame for accomplishment.</a:t>
            </a:r>
          </a:p>
          <a:p>
            <a:endParaRPr lang="en-US" i="1" dirty="0" smtClean="0">
              <a:cs typeface="Arial" charset="0"/>
            </a:endParaRPr>
          </a:p>
          <a:p>
            <a:r>
              <a:rPr lang="en-US" i="1" dirty="0" smtClean="0">
                <a:cs typeface="Arial" charset="0"/>
              </a:rPr>
              <a:t>4.  Write down the goals and communicate them to all who need to know</a:t>
            </a:r>
            <a:r>
              <a:rPr lang="en-US" dirty="0" smtClean="0">
                <a:cs typeface="Arial" charset="0"/>
              </a:rPr>
              <a:t>. </a:t>
            </a:r>
          </a:p>
          <a:p>
            <a:pPr lvl="1"/>
            <a:r>
              <a:rPr lang="en-US" dirty="0" smtClean="0">
                <a:cs typeface="Arial" charset="0"/>
              </a:rPr>
              <a:t>Writing down and communicating goals forces people to think them through. </a:t>
            </a:r>
          </a:p>
          <a:p>
            <a:pPr lvl="1"/>
            <a:r>
              <a:rPr lang="en-US" dirty="0" smtClean="0">
                <a:cs typeface="Arial" charset="0"/>
              </a:rPr>
              <a:t>The written goals also become visible evidence of the importance of working toward something. </a:t>
            </a:r>
          </a:p>
          <a:p>
            <a:endParaRPr lang="en-US" dirty="0" smtClean="0"/>
          </a:p>
          <a:p>
            <a:endParaRPr lang="en-US"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40</a:t>
            </a:fld>
            <a:endParaRPr lang="en-US" dirty="0"/>
          </a:p>
        </p:txBody>
      </p:sp>
      <p:sp>
        <p:nvSpPr>
          <p:cNvPr id="4" name="Title 3"/>
          <p:cNvSpPr>
            <a:spLocks noGrp="1"/>
          </p:cNvSpPr>
          <p:nvPr>
            <p:ph type="title"/>
          </p:nvPr>
        </p:nvSpPr>
        <p:spPr/>
        <p:txBody>
          <a:bodyPr/>
          <a:lstStyle/>
          <a:p>
            <a:r>
              <a:rPr lang="en-US" dirty="0" smtClean="0"/>
              <a:t>5 Steps in Goal-Setting (cont.)</a:t>
            </a:r>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676401"/>
            <a:ext cx="8229600" cy="2590799"/>
          </a:xfrm>
        </p:spPr>
        <p:txBody>
          <a:bodyPr>
            <a:normAutofit fontScale="92500"/>
          </a:bodyPr>
          <a:lstStyle/>
          <a:p>
            <a:r>
              <a:rPr lang="en-US" dirty="0" smtClean="0">
                <a:cs typeface="Arial" charset="0"/>
              </a:rPr>
              <a:t>5</a:t>
            </a:r>
            <a:r>
              <a:rPr lang="en-US" b="1" dirty="0" smtClean="0">
                <a:cs typeface="Arial" charset="0"/>
              </a:rPr>
              <a:t>.  </a:t>
            </a:r>
            <a:r>
              <a:rPr lang="en-US" i="1" dirty="0" smtClean="0">
                <a:cs typeface="Arial" charset="0"/>
              </a:rPr>
              <a:t>Review results and whether goals are being met</a:t>
            </a:r>
            <a:r>
              <a:rPr lang="en-US" dirty="0" smtClean="0">
                <a:cs typeface="Arial" charset="0"/>
              </a:rPr>
              <a:t>. </a:t>
            </a:r>
            <a:endParaRPr lang="en-US" sz="2800" dirty="0" smtClean="0">
              <a:cs typeface="Arial" charset="0"/>
            </a:endParaRPr>
          </a:p>
          <a:p>
            <a:pPr lvl="1"/>
            <a:r>
              <a:rPr lang="en-US" dirty="0" smtClean="0">
                <a:cs typeface="Arial" charset="0"/>
              </a:rPr>
              <a:t>If goals are not being met, change them as needed. </a:t>
            </a:r>
          </a:p>
          <a:p>
            <a:pPr lvl="1"/>
            <a:r>
              <a:rPr lang="en-US" dirty="0" smtClean="0">
                <a:cs typeface="Arial" charset="0"/>
              </a:rPr>
              <a:t>Once the goals have been established, written down, and communicated, a manager is ready to develop plans for pursuing the goals.</a:t>
            </a:r>
            <a:endParaRPr lang="en-US"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41</a:t>
            </a:fld>
            <a:endParaRPr lang="en-US" dirty="0"/>
          </a:p>
        </p:txBody>
      </p:sp>
      <p:sp>
        <p:nvSpPr>
          <p:cNvPr id="4" name="Title 3"/>
          <p:cNvSpPr>
            <a:spLocks noGrp="1"/>
          </p:cNvSpPr>
          <p:nvPr>
            <p:ph type="title"/>
          </p:nvPr>
        </p:nvSpPr>
        <p:spPr/>
        <p:txBody>
          <a:bodyPr/>
          <a:lstStyle/>
          <a:p>
            <a:r>
              <a:rPr lang="en-US" dirty="0" smtClean="0"/>
              <a:t>5 Steps in Goal-Setting (cont.)</a:t>
            </a:r>
            <a:endParaRPr lang="en-US" dirty="0"/>
          </a:p>
        </p:txBody>
      </p:sp>
      <p:pic>
        <p:nvPicPr>
          <p:cNvPr id="21506" name="Picture 2" descr="http://2.bp.blogspot.com/-GnD3IQ1OIzM/T5qLSqCkVoI/AAAAAAAAAKw/r3apNUb6R2s/s1600/determine_review.png"/>
          <p:cNvPicPr>
            <a:picLocks noChangeAspect="1" noChangeArrowheads="1"/>
          </p:cNvPicPr>
          <p:nvPr/>
        </p:nvPicPr>
        <p:blipFill>
          <a:blip r:embed="rId2" cstate="print"/>
          <a:srcRect/>
          <a:stretch>
            <a:fillRect/>
          </a:stretch>
        </p:blipFill>
        <p:spPr bwMode="auto">
          <a:xfrm>
            <a:off x="1600200" y="4495800"/>
            <a:ext cx="6172200" cy="2171701"/>
          </a:xfrm>
          <a:prstGeom prst="rect">
            <a:avLst/>
          </a:prstGeom>
          <a:noFill/>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828800"/>
            <a:ext cx="5257800" cy="4648199"/>
          </a:xfrm>
        </p:spPr>
        <p:txBody>
          <a:bodyPr>
            <a:normAutofit fontScale="77500" lnSpcReduction="20000"/>
          </a:bodyPr>
          <a:lstStyle/>
          <a:p>
            <a:pPr hangingPunct="0"/>
            <a:r>
              <a:rPr lang="en-US" dirty="0" smtClean="0"/>
              <a:t>1.  Written </a:t>
            </a:r>
            <a:r>
              <a:rPr lang="en-US" dirty="0" smtClean="0"/>
              <a:t>in terms of outcomes</a:t>
            </a:r>
          </a:p>
          <a:p>
            <a:pPr hangingPunct="0"/>
            <a:endParaRPr lang="en-US" dirty="0" smtClean="0"/>
          </a:p>
          <a:p>
            <a:pPr hangingPunct="0"/>
            <a:r>
              <a:rPr lang="en-US" dirty="0" smtClean="0"/>
              <a:t>2. Measurable </a:t>
            </a:r>
            <a:r>
              <a:rPr lang="en-US" dirty="0" smtClean="0"/>
              <a:t>and quantifiable</a:t>
            </a:r>
          </a:p>
          <a:p>
            <a:pPr hangingPunct="0"/>
            <a:endParaRPr lang="en-US" dirty="0" smtClean="0"/>
          </a:p>
          <a:p>
            <a:pPr hangingPunct="0"/>
            <a:r>
              <a:rPr lang="en-US" dirty="0" smtClean="0"/>
              <a:t>3. Clear </a:t>
            </a:r>
            <a:r>
              <a:rPr lang="en-US" dirty="0" smtClean="0"/>
              <a:t>as to a time frame</a:t>
            </a:r>
          </a:p>
          <a:p>
            <a:pPr hangingPunct="0"/>
            <a:endParaRPr lang="en-US" dirty="0" smtClean="0"/>
          </a:p>
          <a:p>
            <a:pPr hangingPunct="0"/>
            <a:r>
              <a:rPr lang="en-US" dirty="0" smtClean="0"/>
              <a:t>4. Challenging </a:t>
            </a:r>
            <a:r>
              <a:rPr lang="en-US" dirty="0" smtClean="0"/>
              <a:t>yet attainable</a:t>
            </a:r>
          </a:p>
          <a:p>
            <a:pPr hangingPunct="0"/>
            <a:endParaRPr lang="en-US" dirty="0" smtClean="0"/>
          </a:p>
          <a:p>
            <a:pPr hangingPunct="0"/>
            <a:r>
              <a:rPr lang="en-US" dirty="0" smtClean="0"/>
              <a:t>5.  Written </a:t>
            </a:r>
            <a:r>
              <a:rPr lang="en-US" dirty="0" smtClean="0"/>
              <a:t>down</a:t>
            </a:r>
          </a:p>
          <a:p>
            <a:pPr hangingPunct="0"/>
            <a:endParaRPr lang="en-US" dirty="0" smtClean="0"/>
          </a:p>
          <a:p>
            <a:pPr hangingPunct="0"/>
            <a:r>
              <a:rPr lang="en-US" dirty="0" smtClean="0"/>
              <a:t>6. Communicated </a:t>
            </a:r>
            <a:r>
              <a:rPr lang="en-US" dirty="0" smtClean="0"/>
              <a:t>to </a:t>
            </a:r>
            <a:r>
              <a:rPr lang="en-US" dirty="0" smtClean="0"/>
              <a:t>all organisational </a:t>
            </a:r>
            <a:r>
              <a:rPr lang="en-US" dirty="0" smtClean="0"/>
              <a:t>members</a:t>
            </a:r>
          </a:p>
          <a:p>
            <a:endParaRPr lang="en-US"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42</a:t>
            </a:fld>
            <a:endParaRPr lang="en-US" dirty="0"/>
          </a:p>
        </p:txBody>
      </p:sp>
      <p:sp>
        <p:nvSpPr>
          <p:cNvPr id="4" name="Title 3"/>
          <p:cNvSpPr>
            <a:spLocks noGrp="1"/>
          </p:cNvSpPr>
          <p:nvPr>
            <p:ph type="title"/>
          </p:nvPr>
        </p:nvSpPr>
        <p:spPr/>
        <p:txBody>
          <a:bodyPr>
            <a:normAutofit fontScale="90000"/>
          </a:bodyPr>
          <a:lstStyle/>
          <a:p>
            <a:r>
              <a:rPr lang="en-US" dirty="0" smtClean="0"/>
              <a:t>Characteristics of Well-Written Goals </a:t>
            </a:r>
            <a:br>
              <a:rPr lang="en-US" dirty="0" smtClean="0"/>
            </a:br>
            <a:r>
              <a:rPr lang="en-US" sz="2200" dirty="0" smtClean="0"/>
              <a:t> (Source:  Drucker, 1996)</a:t>
            </a:r>
            <a:endParaRPr lang="en-US" dirty="0"/>
          </a:p>
        </p:txBody>
      </p:sp>
      <p:pic>
        <p:nvPicPr>
          <p:cNvPr id="25604" name="Picture 4" descr="http://writingmom2013.files.wordpress.com/2013/03/goal-v-dream.jpg"/>
          <p:cNvPicPr>
            <a:picLocks noChangeAspect="1" noChangeArrowheads="1"/>
          </p:cNvPicPr>
          <p:nvPr/>
        </p:nvPicPr>
        <p:blipFill>
          <a:blip r:embed="rId2" cstate="print"/>
          <a:srcRect/>
          <a:stretch>
            <a:fillRect/>
          </a:stretch>
        </p:blipFill>
        <p:spPr bwMode="auto">
          <a:xfrm>
            <a:off x="5638800" y="4343400"/>
            <a:ext cx="3505201" cy="2514600"/>
          </a:xfrm>
          <a:prstGeom prst="rect">
            <a:avLst/>
          </a:prstGeom>
          <a:noFill/>
        </p:spPr>
      </p:pic>
      <p:pic>
        <p:nvPicPr>
          <p:cNvPr id="25606" name="Picture 6" descr="https://encrypted-tbn3.gstatic.com/images?q=tbn:ANd9GcS0rYfnW_0NprBdkvTwl4uXITwqNIh-vSzIu3Q2pZbJ8Ntrdzib"/>
          <p:cNvPicPr>
            <a:picLocks noChangeAspect="1" noChangeArrowheads="1"/>
          </p:cNvPicPr>
          <p:nvPr/>
        </p:nvPicPr>
        <p:blipFill>
          <a:blip r:embed="rId3" cstate="print"/>
          <a:srcRect/>
          <a:stretch>
            <a:fillRect/>
          </a:stretch>
        </p:blipFill>
        <p:spPr bwMode="auto">
          <a:xfrm>
            <a:off x="5486400" y="1676400"/>
            <a:ext cx="3657600" cy="2584362"/>
          </a:xfrm>
          <a:prstGeom prst="rect">
            <a:avLst/>
          </a:prstGeom>
          <a:noFill/>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4724400"/>
            <a:ext cx="8229600" cy="1401763"/>
          </a:xfrm>
        </p:spPr>
        <p:txBody>
          <a:bodyPr/>
          <a:lstStyle/>
          <a:p>
            <a:endParaRPr lang="en-US"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43</a:t>
            </a:fld>
            <a:endParaRPr lang="en-US" dirty="0"/>
          </a:p>
        </p:txBody>
      </p:sp>
      <p:sp>
        <p:nvSpPr>
          <p:cNvPr id="4" name="Title 3"/>
          <p:cNvSpPr>
            <a:spLocks noGrp="1"/>
          </p:cNvSpPr>
          <p:nvPr>
            <p:ph type="title"/>
          </p:nvPr>
        </p:nvSpPr>
        <p:spPr>
          <a:xfrm>
            <a:off x="457200" y="1981200"/>
            <a:ext cx="8229600" cy="1981200"/>
          </a:xfrm>
        </p:spPr>
        <p:txBody>
          <a:bodyPr>
            <a:noAutofit/>
          </a:bodyPr>
          <a:lstStyle/>
          <a:p>
            <a:r>
              <a:rPr lang="en-GB" sz="7200" dirty="0" smtClean="0"/>
              <a:t>Developing Plans</a:t>
            </a:r>
            <a:endParaRPr lang="en-US" sz="7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676400"/>
            <a:ext cx="8229600" cy="4648200"/>
          </a:xfrm>
        </p:spPr>
        <p:txBody>
          <a:bodyPr>
            <a:normAutofit fontScale="92500" lnSpcReduction="20000"/>
          </a:bodyPr>
          <a:lstStyle/>
          <a:p>
            <a:r>
              <a:rPr lang="en-US" dirty="0" smtClean="0"/>
              <a:t>The process of developing plans is influenced by three contingency factors and by the particular planning approach used by the </a:t>
            </a:r>
            <a:r>
              <a:rPr lang="en-US" dirty="0" smtClean="0"/>
              <a:t>organisation</a:t>
            </a:r>
            <a:r>
              <a:rPr lang="en-US" dirty="0" smtClean="0"/>
              <a:t>.</a:t>
            </a:r>
          </a:p>
          <a:p>
            <a:endParaRPr lang="en-GB" sz="1900" dirty="0" smtClean="0">
              <a:cs typeface="Arial" charset="0"/>
            </a:endParaRPr>
          </a:p>
          <a:p>
            <a:endParaRPr lang="en-US" dirty="0" smtClean="0">
              <a:cs typeface="Arial" charset="0"/>
            </a:endParaRPr>
          </a:p>
          <a:p>
            <a:r>
              <a:rPr lang="en-US" dirty="0" smtClean="0">
                <a:cs typeface="Arial" charset="0"/>
              </a:rPr>
              <a:t>The three </a:t>
            </a:r>
            <a:r>
              <a:rPr lang="en-US" dirty="0" smtClean="0">
                <a:cs typeface="Arial" charset="0"/>
              </a:rPr>
              <a:t>contingency factors affect the choice of plans: </a:t>
            </a:r>
          </a:p>
          <a:p>
            <a:pPr lvl="1"/>
            <a:r>
              <a:rPr lang="en-US" sz="3000" dirty="0" smtClean="0">
                <a:cs typeface="Arial" charset="0"/>
              </a:rPr>
              <a:t>1. Managers level in the organisation, </a:t>
            </a:r>
            <a:endParaRPr lang="en-US" sz="3000" dirty="0" smtClean="0">
              <a:cs typeface="Arial" charset="0"/>
            </a:endParaRPr>
          </a:p>
          <a:p>
            <a:pPr lvl="1"/>
            <a:r>
              <a:rPr lang="en-US" sz="3000" dirty="0" smtClean="0">
                <a:cs typeface="Arial" charset="0"/>
              </a:rPr>
              <a:t>2. Degree </a:t>
            </a:r>
            <a:r>
              <a:rPr lang="en-US" sz="3000" dirty="0" smtClean="0">
                <a:cs typeface="Arial" charset="0"/>
              </a:rPr>
              <a:t>of environmental uncertainty, </a:t>
            </a:r>
          </a:p>
          <a:p>
            <a:pPr lvl="1"/>
            <a:r>
              <a:rPr lang="en-US" sz="3000" dirty="0" smtClean="0">
                <a:cs typeface="Arial" charset="0"/>
              </a:rPr>
              <a:t>3. Length </a:t>
            </a:r>
            <a:r>
              <a:rPr lang="en-US" sz="3000" dirty="0" smtClean="0">
                <a:cs typeface="Arial" charset="0"/>
              </a:rPr>
              <a:t>of future commitments</a:t>
            </a:r>
          </a:p>
          <a:p>
            <a:pPr lvl="2"/>
            <a:r>
              <a:rPr lang="en-GB" dirty="0" smtClean="0">
                <a:cs typeface="Arial" charset="0"/>
              </a:rPr>
              <a:t>(Bresser &amp; Bishop, 1983)</a:t>
            </a:r>
            <a:endParaRPr lang="en-US" dirty="0" smtClean="0">
              <a:cs typeface="Arial" charset="0"/>
            </a:endParaRPr>
          </a:p>
          <a:p>
            <a:endParaRPr lang="en-US"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44</a:t>
            </a:fld>
            <a:endParaRPr lang="en-US" dirty="0"/>
          </a:p>
        </p:txBody>
      </p:sp>
      <p:sp>
        <p:nvSpPr>
          <p:cNvPr id="4" name="Title 3"/>
          <p:cNvSpPr>
            <a:spLocks noGrp="1"/>
          </p:cNvSpPr>
          <p:nvPr>
            <p:ph type="title"/>
          </p:nvPr>
        </p:nvSpPr>
        <p:spPr/>
        <p:txBody>
          <a:bodyPr/>
          <a:lstStyle/>
          <a:p>
            <a:r>
              <a:rPr lang="en-US" dirty="0" smtClean="0"/>
              <a:t>Contingency Factors in Planning</a:t>
            </a:r>
            <a:endParaRPr lang="en-US" dirty="0"/>
          </a:p>
        </p:txBody>
      </p:sp>
      <p:pic>
        <p:nvPicPr>
          <p:cNvPr id="19458" name="Picture 2" descr="http://comps.canstockphoto.com/can-stock-photo_csp12650149.jpg"/>
          <p:cNvPicPr>
            <a:picLocks noChangeAspect="1" noChangeArrowheads="1"/>
          </p:cNvPicPr>
          <p:nvPr/>
        </p:nvPicPr>
        <p:blipFill>
          <a:blip r:embed="rId2" cstate="print"/>
          <a:srcRect/>
          <a:stretch>
            <a:fillRect/>
          </a:stretch>
        </p:blipFill>
        <p:spPr bwMode="auto">
          <a:xfrm>
            <a:off x="7315201" y="4114800"/>
            <a:ext cx="1828799" cy="2743200"/>
          </a:xfrm>
          <a:prstGeom prst="rect">
            <a:avLst/>
          </a:prstGeom>
          <a:noFill/>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752600"/>
            <a:ext cx="8229600" cy="4373563"/>
          </a:xfrm>
        </p:spPr>
        <p:txBody>
          <a:bodyPr>
            <a:normAutofit fontScale="92500" lnSpcReduction="10000"/>
          </a:bodyPr>
          <a:lstStyle/>
          <a:p>
            <a:r>
              <a:rPr lang="en-US" b="1" i="1" dirty="0" smtClean="0"/>
              <a:t>1. Manager’s Level </a:t>
            </a:r>
            <a:r>
              <a:rPr lang="en-US" b="1" i="1" dirty="0" smtClean="0"/>
              <a:t>in the </a:t>
            </a:r>
            <a:r>
              <a:rPr lang="en-US" b="1" i="1" dirty="0" smtClean="0"/>
              <a:t>Organisation </a:t>
            </a:r>
          </a:p>
          <a:p>
            <a:pPr lvl="1"/>
            <a:r>
              <a:rPr lang="en-US" sz="2600" dirty="0" smtClean="0"/>
              <a:t>(see next slide, Robbins &amp; Coulter, 2014)</a:t>
            </a:r>
          </a:p>
          <a:p>
            <a:endParaRPr lang="en-US" i="1" dirty="0" smtClean="0"/>
          </a:p>
          <a:p>
            <a:r>
              <a:rPr lang="en-US" i="1" dirty="0" smtClean="0"/>
              <a:t>Operational</a:t>
            </a:r>
            <a:r>
              <a:rPr lang="en-US" dirty="0" smtClean="0"/>
              <a:t> </a:t>
            </a:r>
            <a:r>
              <a:rPr lang="en-US" dirty="0" smtClean="0"/>
              <a:t>planning usually dominates the planning activities of </a:t>
            </a:r>
            <a:r>
              <a:rPr lang="en-US" i="1" dirty="0" smtClean="0"/>
              <a:t>lower</a:t>
            </a:r>
            <a:r>
              <a:rPr lang="en-US" dirty="0" smtClean="0"/>
              <a:t>-level managers. </a:t>
            </a:r>
            <a:endParaRPr lang="en-US" dirty="0" smtClean="0"/>
          </a:p>
          <a:p>
            <a:endParaRPr lang="en-US" dirty="0" smtClean="0"/>
          </a:p>
          <a:p>
            <a:r>
              <a:rPr lang="en-US" dirty="0" smtClean="0"/>
              <a:t>As </a:t>
            </a:r>
            <a:r>
              <a:rPr lang="en-US" dirty="0" smtClean="0"/>
              <a:t>managers move up through the levels of the </a:t>
            </a:r>
            <a:r>
              <a:rPr lang="en-US" dirty="0" smtClean="0"/>
              <a:t>organisation</a:t>
            </a:r>
            <a:r>
              <a:rPr lang="en-US" dirty="0" smtClean="0"/>
              <a:t>, their planning becomes more strategy oriented.</a:t>
            </a:r>
          </a:p>
          <a:p>
            <a:endParaRPr lang="en-US"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45</a:t>
            </a:fld>
            <a:endParaRPr lang="en-US" dirty="0"/>
          </a:p>
        </p:txBody>
      </p:sp>
      <p:sp>
        <p:nvSpPr>
          <p:cNvPr id="4" name="Title 3"/>
          <p:cNvSpPr>
            <a:spLocks noGrp="1"/>
          </p:cNvSpPr>
          <p:nvPr>
            <p:ph type="title"/>
          </p:nvPr>
        </p:nvSpPr>
        <p:spPr/>
        <p:txBody>
          <a:bodyPr/>
          <a:lstStyle/>
          <a:p>
            <a:r>
              <a:rPr lang="en-US" dirty="0" smtClean="0"/>
              <a:t>Contingency Factors in Planning</a:t>
            </a:r>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US"/>
          </a:p>
        </p:txBody>
      </p:sp>
      <p:sp>
        <p:nvSpPr>
          <p:cNvPr id="3" name="Slide Number Placeholder 2"/>
          <p:cNvSpPr>
            <a:spLocks noGrp="1"/>
          </p:cNvSpPr>
          <p:nvPr>
            <p:ph type="sldNum" sz="quarter" idx="12"/>
          </p:nvPr>
        </p:nvSpPr>
        <p:spPr/>
        <p:txBody>
          <a:bodyPr/>
          <a:lstStyle/>
          <a:p>
            <a:fld id="{B6F15528-21DE-4FAA-801E-634DDDAF4B2B}" type="slidenum">
              <a:rPr lang="en-US" smtClean="0"/>
              <a:pPr/>
              <a:t>46</a:t>
            </a:fld>
            <a:endParaRPr lang="en-US" dirty="0"/>
          </a:p>
        </p:txBody>
      </p:sp>
      <p:sp>
        <p:nvSpPr>
          <p:cNvPr id="4" name="Title 3"/>
          <p:cNvSpPr>
            <a:spLocks noGrp="1"/>
          </p:cNvSpPr>
          <p:nvPr>
            <p:ph type="title"/>
          </p:nvPr>
        </p:nvSpPr>
        <p:spPr/>
        <p:txBody>
          <a:bodyPr/>
          <a:lstStyle/>
          <a:p>
            <a:endParaRPr lang="en-US" dirty="0"/>
          </a:p>
        </p:txBody>
      </p:sp>
      <p:pic>
        <p:nvPicPr>
          <p:cNvPr id="79874" name="Picture 2" descr="http://www.cartoonstock.com/newscartoons/cartoonists/jha/lowres/business-commerce-plant-hierarchy-organisation_chart-office_structure-work-jhan523l.jpg"/>
          <p:cNvPicPr>
            <a:picLocks noChangeAspect="1" noChangeArrowheads="1"/>
          </p:cNvPicPr>
          <p:nvPr/>
        </p:nvPicPr>
        <p:blipFill>
          <a:blip r:embed="rId2" cstate="print"/>
          <a:srcRect/>
          <a:stretch>
            <a:fillRect/>
          </a:stretch>
        </p:blipFill>
        <p:spPr bwMode="auto">
          <a:xfrm>
            <a:off x="1295400" y="609600"/>
            <a:ext cx="6324600" cy="5410200"/>
          </a:xfrm>
          <a:prstGeom prst="rect">
            <a:avLst/>
          </a:prstGeom>
          <a:noFill/>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676400"/>
            <a:ext cx="8229600" cy="4449763"/>
          </a:xfrm>
        </p:spPr>
        <p:txBody>
          <a:bodyPr/>
          <a:lstStyle/>
          <a:p>
            <a:r>
              <a:rPr lang="en-US" sz="2000" dirty="0" smtClean="0">
                <a:cs typeface="Arial" charset="0"/>
              </a:rPr>
              <a:t>Shows the relationship between a manager’s level in the organisation and the type of planning done.</a:t>
            </a:r>
          </a:p>
          <a:p>
            <a:pPr lvl="1"/>
            <a:r>
              <a:rPr lang="en-US" sz="1800" dirty="0" smtClean="0">
                <a:cs typeface="Arial" charset="0"/>
              </a:rPr>
              <a:t>Lower-level </a:t>
            </a:r>
            <a:r>
              <a:rPr lang="en-US" sz="1800" dirty="0" smtClean="0">
                <a:cs typeface="Arial" charset="0"/>
              </a:rPr>
              <a:t>managers do operational planning while upper-level managers do strategic planning.</a:t>
            </a:r>
          </a:p>
          <a:p>
            <a:endParaRPr lang="en-US"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47</a:t>
            </a:fld>
            <a:endParaRPr lang="en-US" dirty="0"/>
          </a:p>
        </p:txBody>
      </p:sp>
      <p:sp>
        <p:nvSpPr>
          <p:cNvPr id="4" name="Title 3"/>
          <p:cNvSpPr>
            <a:spLocks noGrp="1"/>
          </p:cNvSpPr>
          <p:nvPr>
            <p:ph type="title"/>
          </p:nvPr>
        </p:nvSpPr>
        <p:spPr/>
        <p:txBody>
          <a:bodyPr>
            <a:normAutofit/>
          </a:bodyPr>
          <a:lstStyle/>
          <a:p>
            <a:r>
              <a:rPr lang="en-US" dirty="0" smtClean="0"/>
              <a:t>Planning and Organisational Level</a:t>
            </a:r>
            <a:br>
              <a:rPr lang="en-US" dirty="0" smtClean="0"/>
            </a:br>
            <a:r>
              <a:rPr lang="en-US" sz="2000" dirty="0" smtClean="0">
                <a:cs typeface="Arial" charset="0"/>
              </a:rPr>
              <a:t> (Source: Robbins &amp; Coulter,  2014)</a:t>
            </a:r>
            <a:endParaRPr lang="en-US" dirty="0"/>
          </a:p>
        </p:txBody>
      </p:sp>
      <p:pic>
        <p:nvPicPr>
          <p:cNvPr id="5" name="Picture 3"/>
          <p:cNvPicPr>
            <a:picLocks noChangeAspect="1" noChangeArrowheads="1"/>
          </p:cNvPicPr>
          <p:nvPr/>
        </p:nvPicPr>
        <p:blipFill>
          <a:blip r:embed="rId2" cstate="print"/>
          <a:srcRect/>
          <a:stretch>
            <a:fillRect/>
          </a:stretch>
        </p:blipFill>
        <p:spPr bwMode="auto">
          <a:xfrm>
            <a:off x="914400" y="3276600"/>
            <a:ext cx="7315200" cy="3200400"/>
          </a:xfrm>
          <a:prstGeom prst="rect">
            <a:avLst/>
          </a:prstGeom>
          <a:noFill/>
          <a:ln w="9525">
            <a:noFill/>
            <a:miter lim="800000"/>
            <a:headEnd/>
            <a:tailEnd/>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600200"/>
            <a:ext cx="8229600" cy="5029200"/>
          </a:xfrm>
        </p:spPr>
        <p:txBody>
          <a:bodyPr>
            <a:normAutofit fontScale="77500" lnSpcReduction="20000"/>
          </a:bodyPr>
          <a:lstStyle/>
          <a:p>
            <a:pPr eaLnBrk="0" hangingPunct="0">
              <a:spcBef>
                <a:spcPct val="40000"/>
              </a:spcBef>
            </a:pPr>
            <a:r>
              <a:rPr lang="en-US" sz="3600" b="1" i="1" dirty="0" smtClean="0"/>
              <a:t>2. Degree of Environmental </a:t>
            </a:r>
            <a:r>
              <a:rPr lang="en-US" sz="3600" b="1" i="1" dirty="0" smtClean="0"/>
              <a:t>Uncertainty</a:t>
            </a:r>
          </a:p>
          <a:p>
            <a:pPr hangingPunct="0"/>
            <a:endParaRPr lang="en-US" sz="2600" dirty="0" smtClean="0"/>
          </a:p>
          <a:p>
            <a:pPr hangingPunct="0"/>
            <a:r>
              <a:rPr lang="en-US" dirty="0" smtClean="0"/>
              <a:t>The higher the level of environmental </a:t>
            </a:r>
            <a:r>
              <a:rPr lang="en-US" dirty="0" smtClean="0"/>
              <a:t>uncertainty</a:t>
            </a:r>
            <a:r>
              <a:rPr lang="en-US" dirty="0" smtClean="0"/>
              <a:t>, …..</a:t>
            </a:r>
          </a:p>
          <a:p>
            <a:pPr lvl="1" hangingPunct="0"/>
            <a:r>
              <a:rPr lang="en-US" sz="3100" dirty="0" smtClean="0"/>
              <a:t>the </a:t>
            </a:r>
            <a:r>
              <a:rPr lang="en-US" sz="3100" dirty="0" smtClean="0"/>
              <a:t>more directional plans should be, </a:t>
            </a:r>
            <a:endParaRPr lang="en-US" sz="3100" dirty="0" smtClean="0"/>
          </a:p>
          <a:p>
            <a:pPr lvl="1" hangingPunct="0"/>
            <a:r>
              <a:rPr lang="en-US" sz="3100" dirty="0" smtClean="0"/>
              <a:t>with </a:t>
            </a:r>
            <a:r>
              <a:rPr lang="en-US" sz="3100" dirty="0" smtClean="0"/>
              <a:t>emphasis placed on the short </a:t>
            </a:r>
            <a:r>
              <a:rPr lang="en-US" sz="3100" dirty="0" smtClean="0"/>
              <a:t>term,</a:t>
            </a:r>
          </a:p>
          <a:p>
            <a:pPr lvl="1" hangingPunct="0"/>
            <a:r>
              <a:rPr lang="en-US" sz="3100" dirty="0" smtClean="0"/>
              <a:t>plans </a:t>
            </a:r>
            <a:r>
              <a:rPr lang="en-US" sz="3100" dirty="0" smtClean="0"/>
              <a:t>should be specific, but </a:t>
            </a:r>
            <a:r>
              <a:rPr lang="en-US" sz="3100" dirty="0" smtClean="0"/>
              <a:t>flexible, </a:t>
            </a:r>
          </a:p>
          <a:p>
            <a:pPr lvl="1" hangingPunct="0"/>
            <a:r>
              <a:rPr lang="en-US" sz="3100" dirty="0" smtClean="0"/>
              <a:t>managers </a:t>
            </a:r>
            <a:r>
              <a:rPr lang="en-US" sz="3100" dirty="0" smtClean="0"/>
              <a:t>must be prepared to rework and amend plans, </a:t>
            </a:r>
            <a:endParaRPr lang="en-US" sz="3100" dirty="0" smtClean="0"/>
          </a:p>
          <a:p>
            <a:pPr lvl="1" hangingPunct="0"/>
            <a:r>
              <a:rPr lang="en-US" sz="3100" dirty="0" smtClean="0"/>
              <a:t>At times, they may even have to abandon the plans</a:t>
            </a:r>
          </a:p>
          <a:p>
            <a:pPr lvl="1" eaLnBrk="0" hangingPunct="0"/>
            <a:endParaRPr lang="en-US" sz="3100" dirty="0" smtClean="0"/>
          </a:p>
          <a:p>
            <a:pPr lvl="1"/>
            <a:r>
              <a:rPr lang="en-GB" sz="2600" dirty="0" smtClean="0"/>
              <a:t>E.G</a:t>
            </a:r>
            <a:r>
              <a:rPr lang="en-GB" sz="2600" dirty="0" smtClean="0"/>
              <a:t>. </a:t>
            </a:r>
            <a:r>
              <a:rPr lang="en-GB" sz="2600" dirty="0" smtClean="0"/>
              <a:t>Continental Airlines </a:t>
            </a:r>
            <a:r>
              <a:rPr lang="en-GB" sz="2600" dirty="0" smtClean="0"/>
              <a:t>(before its merger with United Airlines) the CEO &amp; management team established a specific goal of focusing on what the customer wanted most </a:t>
            </a:r>
            <a:r>
              <a:rPr lang="en-GB" sz="2600" dirty="0" smtClean="0"/>
              <a:t>- </a:t>
            </a:r>
            <a:r>
              <a:rPr lang="en-GB" sz="2600" i="1" dirty="0" smtClean="0"/>
              <a:t>on </a:t>
            </a:r>
            <a:r>
              <a:rPr lang="en-GB" sz="2600" i="1" dirty="0" smtClean="0"/>
              <a:t>time </a:t>
            </a:r>
            <a:r>
              <a:rPr lang="en-GB" sz="2600" i="1" dirty="0" smtClean="0"/>
              <a:t>flights,</a:t>
            </a:r>
            <a:endParaRPr lang="en-GB" sz="2600" i="1" dirty="0" smtClean="0"/>
          </a:p>
          <a:p>
            <a:pPr lvl="1"/>
            <a:r>
              <a:rPr lang="en-GB" sz="2600" i="1" dirty="0" smtClean="0"/>
              <a:t>….</a:t>
            </a:r>
            <a:r>
              <a:rPr lang="en-GB" sz="2600" dirty="0" smtClean="0"/>
              <a:t> because of the high level of uncertainty the management team identified a “destination but not a flight plan”, </a:t>
            </a:r>
          </a:p>
          <a:p>
            <a:pPr lvl="1"/>
            <a:r>
              <a:rPr lang="en-GB" sz="2600" dirty="0" smtClean="0"/>
              <a:t>and changed plans </a:t>
            </a:r>
            <a:r>
              <a:rPr lang="en-GB" sz="2600" dirty="0" smtClean="0"/>
              <a:t>as </a:t>
            </a:r>
            <a:r>
              <a:rPr lang="en-GB" sz="2600" dirty="0" smtClean="0"/>
              <a:t>necessary to achieve the goal of on time </a:t>
            </a:r>
            <a:r>
              <a:rPr lang="en-GB" sz="2600" dirty="0" smtClean="0"/>
              <a:t>service.</a:t>
            </a:r>
            <a:endParaRPr lang="en-US" sz="2600"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48</a:t>
            </a:fld>
            <a:endParaRPr lang="en-US" dirty="0"/>
          </a:p>
        </p:txBody>
      </p:sp>
      <p:sp>
        <p:nvSpPr>
          <p:cNvPr id="4" name="Title 3"/>
          <p:cNvSpPr>
            <a:spLocks noGrp="1"/>
          </p:cNvSpPr>
          <p:nvPr>
            <p:ph type="title"/>
          </p:nvPr>
        </p:nvSpPr>
        <p:spPr>
          <a:xfrm>
            <a:off x="457200" y="152400"/>
            <a:ext cx="4038600" cy="1143000"/>
          </a:xfrm>
        </p:spPr>
        <p:txBody>
          <a:bodyPr>
            <a:normAutofit fontScale="90000"/>
          </a:bodyPr>
          <a:lstStyle/>
          <a:p>
            <a:r>
              <a:rPr lang="en-US" dirty="0" smtClean="0"/>
              <a:t>Contingency Factors in </a:t>
            </a:r>
            <a:r>
              <a:rPr lang="en-US" dirty="0" smtClean="0"/>
              <a:t>Planning</a:t>
            </a:r>
            <a:endParaRPr lang="en-US" dirty="0"/>
          </a:p>
        </p:txBody>
      </p:sp>
      <p:sp>
        <p:nvSpPr>
          <p:cNvPr id="16386" name="AutoShape 2" descr="data:image/jpeg;base64,/9j/4AAQSkZJRgABAQAAAQABAAD/2wCEAAkGBxQSEhQUEhQVFRQUFBQUGBgUFBQXFRUVFBQWFhQXGBUYHCggGBolHBUUITEhJSkrLi4uGB8zODMsNygtLisBCgoKDg0OFxAQGiwcHRwsLCwsLCwsLCwsLCwsLCwsLCwsLCwsLCwsLCwsLDcsKywsLCw3LDcsKysrNyssLCsrK//AABEIAKcBLgMBIgACEQEDEQH/xAAcAAABBQEBAQAAAAAAAAAAAAAEAAECAwUGBwj/xABNEAACAQMCAwUCCgQJCwUBAAABAgMABBESIQUxQQYTIlFhcYEUIzJCUpGTodHSB3KxshUzNENTYoLB8CREVHN0hJKUo+HxNWODotMW/8QAGQEAAwEBAQAAAAAAAAAAAAAAAAECAwQF/8QAJBEAAgICAgICAgMAAAAAAAAAAAECEQMhEjEEQRNRFGEiQlL/2gAMAwEAAhEDEQA/ABjUTUjUc17R541MaWaVBQ60qalmgB6emBpZpAPmnzUc0s0gJZpZps0s0DHpqVKmgFSpUqAHFKmp6YhU9NTUASzTb9Kthty3LYdSeVFRQbeHGOrtsB65OMCscmaMf2y4wbKFsXIyBn0B8R9i0ZLw6K3QS30gjXpGCdTY6Z5+4fXTcV4otgEj7xEkmGoyP4ljjA5gDmx6AVKwaG4sbiRZHuXTvAJJkAcMVQkKvIDkffXFPyZS0bxxo2+y9/JONaQrFa6fihn4xzn5RA2Uc+uaN45xIW0DynmAdI+k/JBj24FZ3ZWQW3DrcznugsQ1d4dONzsc+2ud7QcV+GSRhAwgjJcFhjvHHycKd9I9cVEIOcuipNJANjEVXxHLMS7HzdiWb7yRRNRFOK9WKpUcjexxUhTCpUxEqcVEVIUAPUgahT0AXA1NTVIqammBepqYNVKasFAGGabFOaYmkSRNKlSoKFSpqVAD0s01KkA9Pmo06qSQqqWdtlVQSxPkAP20NpdjSscUs1pNaW9q6DiJlMsiaxDbqz92v0pCu5PswBW3J2QjljWazuAySDKiXG/TAYYwc+YNc35ME6Zp8bOUzSzWjf8AAriE/GRNj6SeMfdv91AxR6jgZJ8gCT9WM1vGcX0RxZClUnUg4IwfI86arEKmc7HHPB+4U+anF8oZ8x+0UnpCM3hdjxC4LFIcIFZssMKcZ+d1NbtlYlUBm0tJ9FOQ/E16zwxQUjG3yeXpjrWVecGiibKKASSd98Z3IHlXlvNO3s61FHH8OshLIUZwDHpLIPm6t1BHmRvWNdwQXUd7LLtDba4olzgB1XJcj5zFtt6J4fdyx8SvxFA0jSPBhjtGoWFNRZvfyFQvLCyt5nkGuaR27zui+YRJ56cDJB881nuTK0iHD+DTi3tFNvAzJAMz3GGMOeYCnnV9txmO1i7iyHetkl5W2jMh+U39b2DahuI8XuJwyuQsTDBQKCCOvPNCqMch9231dK6sPjuW2ZzyV0RnVpW1zMZHHItsF/UXpVg/x6+2mqQruUVHo527HpwKapCmIcU9MKkKAEKekKegBU9NUgKAHFSWkBUgKYE1q0VBRVooAwSaiac0xpCI0qelQMbNPTU9ACpUqVACxUoLh4ZEnj/jIjkAcnU/KQ+0bZ6UgKeonFSVDTpnUNxmFL+HiD/ya5tRFrKkiGYHxI/PTzx03FV3Fnb33EoIw5No1pNJEImaNWm75VkZcdRnP31mdn+Ltas4KCWCXxPGcDD9WUHbcc/ZXRXF/wANvFjRy1q8WTG28Rj1fK0SDAwcDbNebPDKL6OqMk0Yrdsrm1tY9HxzQ3sls2oEmWFFZhv9MBee/srcu+0lmy3MssWlYZYohLCCWYTxJIrAKAdteMb8qJt+x0IS0W2kVoobgzuWbWZdSsG3HU6utchd9kp7a0uoQrkPf2zROo1HugFUN/ZAx6YrPZWjYgsFuF1280VyrFgFcGKXKjLDDYOQCProC64Zo+WkkJ82UsvuYdK3ZbF7e/4aJZRKdd0O80hSQYRpDY2LeE1gR9oLiOC3BlVIZLi7SSadDIisr4iRj81Tyya0jllH2JwiwSSwfmuHHmhz9a8xVUSeNQQc5H7RXQ3M0ffxwtav3hhhkkktPHGjS89uq5B38qutrZZZXSCaC4eJmVkbAkVkbGMc+YrdeU2qZn8R3vDY1VIyBjw78+WPM1ldoeNRpyOph5cv+LlRzcPeaALIWjYrg92xGnbGK8j4lBLDPJFK5OkkAk7YztXNBcpGrdIO4pxh5MqCEUnku2em5HOssL/j/HKnA2H+B9dKvSx4IR2tnLObYhTimpxXQQKpClSFAyVPikKkBUiHUVKmqRpANinApxTqKQxBaugt2c4VSTnGwNMi7j3V6RwWwSFBp6jcnmTzrLLl4IuEOTOTs+ytw/NdI9TSuezVwhxo1eq8q9AEwqwS1yfkzN/hR5fc2Ekfy1K+3rVQFdR2ulDFV8v21zYFdmOblG2YzjTOaNRzR38DyE48tutUXlkUOMH76pTRm4sGzT1YLV/KoSRFedVyQqGpUw8qVMCVOKYU4oAcU9MKlRQCxT6edNRfAeHi4SWVzhYdYMakhmKLnxt5EDp9dZZcigi4xcmCW0hTxRsUI6xsV/dO9dDwrtrcQn43NwmDsdCNnO3jC7++qIbG3uIbd0xbSzL4FzqViOYx192Kyr61khOmVdO/ygSUb9Unr6GsVLHk10W1KJ1t32qsL2MR3kTx4OoZz4WxjUJEIKnB6edEXHA4ZoEi4bdRxxqjoYnAmjkDkEl1c5LAjZs1wfuqn4KucgYPmpIP1ipl4b/qyll+zrl7ISW1xbM8MlzHFb28KywzPE8bxbMxRSNaEY2JPI0BZSotwqKrC8HFp2HgYH4O7NrJPIoV5ZoOx49eQ/xdwxX6MmHHsyRmt60/SRIhBubcNj58WMj3N+Nc8sM49otTTPTGJ6b868x/SfbfGK5TB0nJG+rB2rp+H/pBsZsETiM/RkKqfuJrP7aXMN1A5hkSTGN0YNpyd+VZJFnEdmIxMiiOZEZ1aQRSjIKKRqOvpgtWnc8HYDU0TBSMh4j3sbDz33xXKcCSSKVA0Z0R29xEWBBD94MrpHPOVHSt7s9LdW7xW8bEEWE8sGs4U6gulGB21Kytz5ahWkMso9MlwTItZnmrKwHPGxHtU8qHWuh4XxESCNblBK7TxQsJY+5uIi431hPCwzyI5091b8PcgLK9szSSxgONSFopWjJzk4BI2yR0rrh5n+jKWL6OeAzUgK2L7szNEpbKSINy0TZIHqpG3MedZIFdcZqW0ZNUOBTikBRUHDpHK4U+I4GcihyS7EotkLa3aRgqDUT0rqLDsU5AMjgf1QP760eAcNFuu+kueZ5+6t+K5+uuPL5DuonRDGvZxh7MNG5yNS4OOm/QVXH2ZcBi+M4yADy99d80nnzoVz161ks8jR4kcfw7hGGDMBjGMetdFbKaUib5q+0fFTOfIIxoJjt6IWGniaiAKybLbOG43av3rYUnfPLbFZotW6jHtr0iRfQVz/FYm1c1rpx5nVGUoWCpCvkMmqntVPQcqZpqGku8ZrFcinRXNaKKyOJxgAkim4txjAwu5/ZWBc3zybZrqxY5PdmM2hppFBOKoFSMeOdNXUkYMenFRp6YEhT1GnzTAerOD3Xc3BUnEd2phY+UpBER/wDsR9VU5qu4iDqVb0IxzBGMEfVUZcfKNFwdMMsrnE1ha6Ss1s0gkUqRsFYBgeRB8xU+x/HnaKK2nUSmSUrlz/NOutSPPqPdR3DO07p4blO8UAgTIvjUY+cP7xTf/wA0jPZS2rB44RIjHUM6W1aTj0LYrypQcWdVpl8fDreR3NtIHEeQ8asNSkbbE9M7YrOi4eXbCMOePFsw91T4HYxR2jSLhLu2FwrkYDs2GOG+kpyjD9UUVfd3HawXMjFS4QEgbanHpyBq4eROJLxpmjbdk9vG+/kOQ/GrpOy4ZfdjbrVHDeNsgXXh4yAQwOdumD1rqbC6STdCDmtPyJMOCPn2SAJcSrp+SXFd7+j7sulxZmUM6OzyLlWwNmI3HXlXD35/yu4/Xk/aa9b/AEP/APp//wA0v77Vhq7ZdHJ3XD54GYag+kkeIY5Ywc11Vp2vgdAt9bkHQY9aqHXQwww28W/srqr61Dqy6dz6VyFx2ZkUE6htn210RhCS+jOXJBtlwOznV2s7kmYvG6tI5cq0WNClWwdO3KgOKdjLnQNMgLt8KeQoAAzTyBzGqtvgjUAcbHFYg4frb5ALD0ya0+F2dwp+JMkW++kkD3ryNKXjUrsFksu7Pog4lIrkJqSMLHIzrKwFvpZQuNL4xv7jRD8DCzuoOQrZA9DvgnzFb0Mt0BktHJjOCyYYbH6OB91QsLcrktzO5z51ONuFspxTB4OGIWUsBtW66rgenTFZEk2k7ULccQJ2zRJuQKkaE0wDbcqNtJM1zaT1tWD+ZqWNM1I3Le6mnmA2NDtchAcVl3N5qqaLcjSfBqVu29YYujV9vOc0Mmzq4KKBrFs5zitJJazZfYQRVMturHJAzSaWqzc+tFio4p3Jqh0yNxRscVWNGK1TM6Ofms16jnWBcqqtsa7S8hBBri7+3w3I8668LsxmqBWO9ODTEU1dKMSWaVRqVUAqempUAKnxnlTCibRQGXO+9DdIaNrhNlqXljz86th4GqkvCzRSfSXdW9HjOzft9a1bGPb0osw4rzskrZ0wWjmntIpJmF1HFHcGFws6sFV1YaD4T87xHY59tZnH7e4S0jilKFIpodM8SF17sH5Tx78ts749ldlf2MUwxIgYDlnmPYelYZ4dNb5Nu/eR/wBE2/8A5rnaLMrjF+YYbWOPuH1a5pDEuIzDrwzIM+HJ3x60e98kN0IkkOsqjqOWoODpweWcA7ZHKh5eHWl1qV4zBL3ZRVyVVCSWyp5Llic5rM4nw25E2XAVNHDI3kKFlBSVxqjkG2xAB/XFSM2Lf9HUd0ZZlaSFmbHiAZS7HchdiB766vsJwNrGA27uHZZHbKggEMSRkV1ZXCDG+NHLrgjes2KbM0mzD5OzCmhmkiDnVU0QNI3GKHluarZVlUFqiklVGepwM0QsA3xVEcijdyFHmSBVP8NxMSIi0pBwRGpb7wMffT5P7JpBCrjmKHmxk+ynuriUqWYR28ajJeVh4RtzA2HvIrnp+K2ouFt2+EXc2oBhHG5jTPzm07Kvrk0cgBuI8QjU/K64yMkAnkCwGM+maHLVTfdqrnRNILSD4FDctbSKWzIQrlGb5Ow2J+qiu0HDlsxHLE2qGVlQRNnWpcZBjJ+UNtwfb0oUyGiEbUbDdYrPApZqmKzTkuyaG7yhtVLXSHYWr0VA9ZitRMTUCRtw3GKOiuvWsCOXFERy1DNE6Np7nPKhnmNDLNikZqKHYHrxTd+KzE4gMUJJxDfatVibMuSNS7uAo9tYHEJjjlRUuX8qD4gp0eKt8caZlNsy257VEip6aia61RiyOKVSAozhsILb05SpAlbAcU1dRc2GochQtxw1VGeWN6yWZGjgzFCURaphqmUJ9avtYgDvTnk0SkzorC8wKIkvBXPCTB2qRn9a4pLZumas1561BLrpmsoyUhJU0OzRuY0k+UN/MfKHvqrJjRlfEsJG6vuMA5G3tx91UxyVO7k+LcDfKkY9vpUSQ0ztOB9pYJwsasA66BpzkHGOR68qs4g+mViTgEDfpt503Y3gq21sihcOwDOcb5P/AGrF7axJA6t3c1w02rTEsgVV0LqY6juBisyyy67QRqcAl28lGd6HNzdSKWCLDGo1F5TjAHNt+lY/D+N67yOOBhbxMkMgRYBLLJ3iFmDyNnu1GMZHpWHwyYSPcktMr/Abwyd9I7LP4yq90rEgKoHTFO2BuC7s3R5HuXvDG8assbaV+NYIp/VyaL7acTNhLDbQSLaRSRO7OsXeSEqcBVxvqx1rKbs9cfwe1wUR5ZRZhIoB/NROrDJOMsdyTyGa2+I8Ov7uSG6AisnjSRPjSJSqsQQ2MadXOkBg9sGMN5bJJO7Wt8LZp1cnw9xIhUkH5CuzqD76lJdRR8Wudd1LEvewssUOfjjtp1Y+Ztiumm4bauZTcu13JNFFEwRT8mJi3h0YC5Zs5z0FGrIyHMNtHGcAa5Tl8AYGQNz72pgcjHwq7cXds0XdWsl9NcSTybAxayxCAc8771rRw/DJPhLgiFFKW6n6IwDKR9JsED09po28t3mBWaZnTqiBUQ+hx4z7NVFO4Ax5Db0wNtqaQGJNaYO3KqHFaVxJms+QVZLQMxps1Nkp1hzQSMpq+N6gIDyxV8VqaGATDHmi1hIHKrOHQedH3WB7KWyzKdqiJh50JxBt/CRQhc10LDaMnMxjmp2qb701TU4rpl0YpmmBmqWhBOW5DpVcUnrRESZ51y7RtplOlSdlqmawycgcga14wo5VJWFCm0wcFRyUo35Yq6zl0sKK4lCNWR1qmCDfJrr5KUdmKtSOjglDCme3Dc6yIJyDtyo34fXI4NdG6khjZ45UDcDBoxrqqJDmi2N0BlqVECOpC3NSyQXepCihbUzW1LoCEZou1TUyqOpX9oNDCE1bBJ3bByCQpzgczjfapY0eo20WkDLE8huRXOdsuAm7ntF+MEStMZDGwU6SgAUnng+nlXJ3P6YAqtotWJTbDMo3G2+9A2Xaq+4iC3efB4ckeAAE4OMZ51l7NDq7jgRt7tpxdRW0DJCpQgaikKaQup+Q58qDHFeGxiNYo5Lt4e8CFE1ECUkuMnSCpzWXDwKDOqQNK3UyEnNbFvKqABQFA5ACigsv/hy+kUCC3jt4+QMxJYD9ReX11bZcOncj4VcvIuQdCqqpkbjO2cVFLrNEpPjmadDNKV1TZAFHkowKBmlyaEmuqrWbNNILCEFXG3yKpiNGx8udOwAWswaHubLSRWrmlcqNqB0ZiWY61d8GA6VfGKlO2PZTJoFFr1piBUReLQst6CdqpQbJbQbJKVFZt9es3/aiYYGcbtt6U0/DMDO5q48UxOzI586Kit8gdKiwI/8AFN3ldF2tGXT2ZrRZpvgxo1IMHJq+NgKzlloFjB7ewIGTV+mptuedOIsb1i52apURVKvEAxVRlpW96XXVHFLIuSAyoSpx5E86hyKSJLw9WO9XtaKByqk3En+jz7f+2ai14/WC4z5dy5/uqvkEkBcShx8msqTOcVsTs7A/ET/ZP+FZhtJOsM/2L/hXRjyxrZlKDsaPOR61eR60RDAoA1R3H/Lzflqc0C81juB/u835aUskLDiyiE+Yq0zY60pbVE/jJTG3kYJf26aoXuf9JGP9VN+Wlzh9hUgmO6HM0THIG6UDi3B/lIx6xS5/dooXlsP84X7OX8tRNx9MpJknIoSVqtN1bMf5Sv2cv5attbOKVlSO4BL5AHdyDcAny9DzrO0VTPIrptpf9Yf3jXZ9jJiLZf1n/eNAdq+xstoN2DpKxYMFwBg5IIzzpcEvxbxCNgWwzbj1JI2rNdlvo65bg1ak1YVtx6IsA2pQTudLHHuAya14761P+cH7Cb8Ku0RxYdHcmrRcZoJbq2/p/wDoTfhVyXdt/Tn7GX8tK0UggPV0VDrfW39N/wBGb8tX23EIWGV7xgDjKwTEfWENFoYdAKLU1ltxJANlmz/s9x/+dUS8ax8yc/7tcfkoVAFXVydWF6UzXmxyay5r7J1COfP+zz/koSa6Y/zc/n/J5/yVsoxohtnRm9GBWZc3jHYUBDdHkY5/+Xn/ACUTFdLnGGVueHR0J9QHAyPUZoVRB2yrDDmNqLs44zu7ULczltqaNK6O0Y2b0F7GuwNFLcA8jXLgkGiYpCvnWUsPs1WT9GvclSDsM1ilKm0zZqIY1eOLSIlK2a93wk/N++gf4NYcxXSzS+uTQ7uRz3rj5G/EzouDErnNEng2Fzn8KNt3HnR4I61JVHH2XCDcu2ci3jYqeYaZ1JDD0QEH25oW6mvZeIz2tpcLAkFukiIUypbIULseW9dFe5hfvYhnP8Yg+eo6j+uBn25x5VzPELGRryW6tL2GHv4ViOuIuygbnmdjnFIQHxTtddy8MW7jkEMsUxglVV1K7a9GR5DrRHazj9xay20ElwYYnhLyXQiLFpNTALtsBgCocS7MIbGOzt7uJV197K0ikmR9RbIOfDvWjxSC5lCBby0YGIJIksKshcFvGgPydiB7qNisHuu0FyUsra3uYpZrx5P8pQeERRrrJ0/TwCPfUZeP3dr8Ptp5FklgtGuYZtOPmtgMPMYqodk0ihtjb3ca3VrI8qyEeBjKAsiFOi45eVERdnmlW9luLqF7m6gaBWUYjiQqQBjO/M0Ux6Aeyfaq6lubSM3MVyLiLXKsa+K2JXOHIOxB2wfKjeFcVve/4mslwrLZI2kd3jUzQtLGc5+bjHrS4b2YFrJaS208KvHAkFyD8icIoGrGdmzk5qXDOBTpNfPJdW7Leo6kKuCG7to4znVyAO9FMVoE7D9qJ7tk727hdijsYBCwcaVJ+UdtqyuF9v52tJe+Eaz+CSFu7ADxFirgA8yCDXXdk+zV7bLHDJJbNCsbJ4Y8SHIIB1nf21l3n6MGewtYTJH8Itnc68HSyPKzlcZz1pDH7SXN9Fc2qRyW+m7fSgaHeMCLWdR67g/dQnaTjk9rdx27z2sX+To7yPBlWkJOdIG4zjrXZcd7OPPNYSK6AWrlm82HdFNqA7Q9mLp78Xdu1vjuREVmXVyJ35+tAGRc39y9xZW9u9qWntDO0hgyjlTuwHMKc5rd7D8YNx38U0MaXNrL3T92BpYMHCsvlnSaF4p2bvmuLW6he3E0NsYXBHxepjlioHIcsCtbsd2Ya0EzzSCW4uJO9lcDAyA2kAZ2A1N9dAD9pLKO4tjG6vqUMVPdscOM4Ow868bntyjFWGCCRuMbeZFfQV2ToPsryjtPY6ljYL8Y0sqnG+VA8NAHmqcWk1fMPxmjRjDEZ5iuw4X2wmR3t/hFpbpGoKtcR6ic8xtz865k8BlwyHu9JkLZ5uNzt6Udb2U8U5li7o5CgCQauWOY9cUAejcS7TS209ykvdMqWazQkIPFJg6h6jNB8I7X3E4sE0xi4lnminHdjCrEueXzego3jXZduKfA7iN1XRhZgcjUM5IGPWtDg/Yd4eJzXmpDE2to0Gcq8mNR5+lAGfwni1413fxSvAY7JNeBFu2tJGjwT9HQM1sdluMSTcMFw+kSGKRtlAGVzg4HuoPhXZW9S6vZpGhK3qFWChsqUR1ixk/196H4DwS+tIRayzWvcaJF5Yfxg43z60AZNh2q4hHaW99M0UtvK4R0VCsiAuUDA+0Gm4z2wnF9cwi7it44+7Ka4mctrRTjw9cmreHdkLgwwWlzeW5tYX1lIgA8hDl1BcnYZJoy74BcreXNxa3FoFnCALMgcroRVHM+lAAfaHtRcx3c0K3kFukVtHKDMoxI55gb7554qri/bG6Frw+TWts1znvSY2bSBnDaRv5fXWvxHshFcXNxLcSRMk9skIAIDRyKcl1OdvShLvs3cvHZ5vLYzWjHDsoKuuMLlC3PFMCu/wC0F0La1aG7SRp7vuu97plAUhQBpO+xz9dGWck0l0/D75kkcRiaGeJdJG5G6nqMZxT8W4Fc3EMCyXVsJoLjvlZUQJgAaRoB55Bq7h1n8Glku7mdLm6kQRIIwFVVB2AAOAMnc+VG/QaBriFopTHKPFjII+S6cgw/vHSmibBz0q4wPKxkkbLNz8gOiqOgFWpZp512RlrZg1sHQam25UckYHOnksxp1L4SPI5DUHJOTQ/5dD6J3G/IVQVqaNzFQrSKohs3RJ1NSEuaVKuA6C1EFSdqVKgor51U6432I3pUqaEwPiVurIDsPdVtrw6PSMqpIG5xSpVdsgaXhyHbSp/sih04bGvJF+oUqVC6GzMvuF5fZF+6hf4NwR4E+paVKuiLMmgu3s2cnU7j2SP929aVvZLjBLn2ySfjSpVlk7NI9Bq2UXPDfaS/mpfA4icaW+1l/PSpVlSKJScMh8m+1m/PTGziQ6gHJG/8dNj9+lSpNAeL33aK7Pe5uZtpGA8eMDUcDau+/R7bCeySSUl37yUamZ8/KI6Hyp6VRHsZoHgNumS0YbPmWz+2nk4DbYz3YHsL/jSpVskiSloBGuF1KOmJJAB7g1DmUj58n2sn5qVKikDY6TMfnyfay/mq6JQd2AY+b5c/W+cUqVJpCsLQof5uP7NPwq7EY+Yn2a/hTUqVDQmkiA/i0+zX8KAnlQ/MT/gT8KVKtMcUyJNjRyINtCH+wv4VEsMkhVH6qgfsApUq1UFZm26JrO3IGi7aM5waVKjIqKibECbYNC3HDsjOAPZSpVgm0bUQj4dgZNRbh/kdqelV82Q4o//Z"/>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6388" name="AutoShape 4" descr="data:image/jpeg;base64,/9j/4AAQSkZJRgABAQAAAQABAAD/2wCEAAkGBxQSEhQUEhQVFRQUFBQUGBgUFBQXFRUVFBQWFhQXGBUYHCggGBolHBUUITEhJSkrLi4uGB8zODMsNygtLisBCgoKDg0OFxAQGiwcHRwsLCwsLCwsLCwsLCwsLCwsLCwsLCwsLCwsLCwsLDcsKywsLCw3LDcsKysrNyssLCsrK//AABEIAKcBLgMBIgACEQEDEQH/xAAcAAABBQEBAQAAAAAAAAAAAAAEAAECAwUGBwj/xABNEAACAQMCAwUCCgQJCwUBAAABAgMABBESIQUxQQYTIlFhcYEUIzJCUpGTodHSB3KxshUzNENTYoLB8CREVHN0hJKUo+HxNWODotMW/8QAGQEAAwEBAQAAAAAAAAAAAAAAAAECAwQF/8QAJBEAAgICAgICAgMAAAAAAAAAAAECEQMhEjEEQRNRFGEiQlL/2gAMAwEAAhEDEQA/ABjUTUjUc17R541MaWaVBQ60qalmgB6emBpZpAPmnzUc0s0gJZpZps0s0DHpqVKmgFSpUqAHFKmp6YhU9NTUASzTb9Kthty3LYdSeVFRQbeHGOrtsB65OMCscmaMf2y4wbKFsXIyBn0B8R9i0ZLw6K3QS30gjXpGCdTY6Z5+4fXTcV4otgEj7xEkmGoyP4ljjA5gDmx6AVKwaG4sbiRZHuXTvAJJkAcMVQkKvIDkffXFPyZS0bxxo2+y9/JONaQrFa6fihn4xzn5RA2Uc+uaN45xIW0DynmAdI+k/JBj24FZ3ZWQW3DrcznugsQ1d4dONzsc+2ud7QcV+GSRhAwgjJcFhjvHHycKd9I9cVEIOcuipNJANjEVXxHLMS7HzdiWb7yRRNRFOK9WKpUcjexxUhTCpUxEqcVEVIUAPUgahT0AXA1NTVIqammBepqYNVKasFAGGabFOaYmkSRNKlSoKFSpqVAD0s01KkA9Pmo06qSQqqWdtlVQSxPkAP20NpdjSscUs1pNaW9q6DiJlMsiaxDbqz92v0pCu5PswBW3J2QjljWazuAySDKiXG/TAYYwc+YNc35ME6Zp8bOUzSzWjf8AAriE/GRNj6SeMfdv91AxR6jgZJ8gCT9WM1vGcX0RxZClUnUg4IwfI86arEKmc7HHPB+4U+anF8oZ8x+0UnpCM3hdjxC4LFIcIFZssMKcZ+d1NbtlYlUBm0tJ9FOQ/E16zwxQUjG3yeXpjrWVecGiibKKASSd98Z3IHlXlvNO3s61FHH8OshLIUZwDHpLIPm6t1BHmRvWNdwQXUd7LLtDba4olzgB1XJcj5zFtt6J4fdyx8SvxFA0jSPBhjtGoWFNRZvfyFQvLCyt5nkGuaR27zui+YRJ56cDJB881nuTK0iHD+DTi3tFNvAzJAMz3GGMOeYCnnV9txmO1i7iyHetkl5W2jMh+U39b2DahuI8XuJwyuQsTDBQKCCOvPNCqMch9231dK6sPjuW2ZzyV0RnVpW1zMZHHItsF/UXpVg/x6+2mqQruUVHo527HpwKapCmIcU9MKkKAEKekKegBU9NUgKAHFSWkBUgKYE1q0VBRVooAwSaiac0xpCI0qelQMbNPTU9ACpUqVACxUoLh4ZEnj/jIjkAcnU/KQ+0bZ6UgKeonFSVDTpnUNxmFL+HiD/ya5tRFrKkiGYHxI/PTzx03FV3Fnb33EoIw5No1pNJEImaNWm75VkZcdRnP31mdn+Ltas4KCWCXxPGcDD9WUHbcc/ZXRXF/wANvFjRy1q8WTG28Rj1fK0SDAwcDbNebPDKL6OqMk0Yrdsrm1tY9HxzQ3sls2oEmWFFZhv9MBee/srcu+0lmy3MssWlYZYohLCCWYTxJIrAKAdteMb8qJt+x0IS0W2kVoobgzuWbWZdSsG3HU6utchd9kp7a0uoQrkPf2zROo1HugFUN/ZAx6YrPZWjYgsFuF1280VyrFgFcGKXKjLDDYOQCProC64Zo+WkkJ82UsvuYdK3ZbF7e/4aJZRKdd0O80hSQYRpDY2LeE1gR9oLiOC3BlVIZLi7SSadDIisr4iRj81Tyya0jllH2JwiwSSwfmuHHmhz9a8xVUSeNQQc5H7RXQ3M0ffxwtav3hhhkkktPHGjS89uq5B38qutrZZZXSCaC4eJmVkbAkVkbGMc+YrdeU2qZn8R3vDY1VIyBjw78+WPM1ldoeNRpyOph5cv+LlRzcPeaALIWjYrg92xGnbGK8j4lBLDPJFK5OkkAk7YztXNBcpGrdIO4pxh5MqCEUnku2em5HOssL/j/HKnA2H+B9dKvSx4IR2tnLObYhTimpxXQQKpClSFAyVPikKkBUiHUVKmqRpANinApxTqKQxBaugt2c4VSTnGwNMi7j3V6RwWwSFBp6jcnmTzrLLl4IuEOTOTs+ytw/NdI9TSuezVwhxo1eq8q9AEwqwS1yfkzN/hR5fc2Ekfy1K+3rVQFdR2ulDFV8v21zYFdmOblG2YzjTOaNRzR38DyE48tutUXlkUOMH76pTRm4sGzT1YLV/KoSRFedVyQqGpUw8qVMCVOKYU4oAcU9MKlRQCxT6edNRfAeHi4SWVzhYdYMakhmKLnxt5EDp9dZZcigi4xcmCW0hTxRsUI6xsV/dO9dDwrtrcQn43NwmDsdCNnO3jC7++qIbG3uIbd0xbSzL4FzqViOYx192Kyr61khOmVdO/ygSUb9Unr6GsVLHk10W1KJ1t32qsL2MR3kTx4OoZz4WxjUJEIKnB6edEXHA4ZoEi4bdRxxqjoYnAmjkDkEl1c5LAjZs1wfuqn4KucgYPmpIP1ipl4b/qyll+zrl7ISW1xbM8MlzHFb28KywzPE8bxbMxRSNaEY2JPI0BZSotwqKrC8HFp2HgYH4O7NrJPIoV5ZoOx49eQ/xdwxX6MmHHsyRmt60/SRIhBubcNj58WMj3N+Nc8sM49otTTPTGJ6b868x/SfbfGK5TB0nJG+rB2rp+H/pBsZsETiM/RkKqfuJrP7aXMN1A5hkSTGN0YNpyd+VZJFnEdmIxMiiOZEZ1aQRSjIKKRqOvpgtWnc8HYDU0TBSMh4j3sbDz33xXKcCSSKVA0Z0R29xEWBBD94MrpHPOVHSt7s9LdW7xW8bEEWE8sGs4U6gulGB21Kytz5ahWkMso9MlwTItZnmrKwHPGxHtU8qHWuh4XxESCNblBK7TxQsJY+5uIi431hPCwzyI5091b8PcgLK9szSSxgONSFopWjJzk4BI2yR0rrh5n+jKWL6OeAzUgK2L7szNEpbKSINy0TZIHqpG3MedZIFdcZqW0ZNUOBTikBRUHDpHK4U+I4GcihyS7EotkLa3aRgqDUT0rqLDsU5AMjgf1QP760eAcNFuu+kueZ5+6t+K5+uuPL5DuonRDGvZxh7MNG5yNS4OOm/QVXH2ZcBi+M4yADy99d80nnzoVz161ks8jR4kcfw7hGGDMBjGMetdFbKaUib5q+0fFTOfIIxoJjt6IWGniaiAKybLbOG43av3rYUnfPLbFZotW6jHtr0iRfQVz/FYm1c1rpx5nVGUoWCpCvkMmqntVPQcqZpqGku8ZrFcinRXNaKKyOJxgAkim4txjAwu5/ZWBc3zybZrqxY5PdmM2hppFBOKoFSMeOdNXUkYMenFRp6YEhT1GnzTAerOD3Xc3BUnEd2phY+UpBER/wDsR9VU5qu4iDqVb0IxzBGMEfVUZcfKNFwdMMsrnE1ha6Ss1s0gkUqRsFYBgeRB8xU+x/HnaKK2nUSmSUrlz/NOutSPPqPdR3DO07p4blO8UAgTIvjUY+cP7xTf/wA0jPZS2rB44RIjHUM6W1aTj0LYrypQcWdVpl8fDreR3NtIHEeQ8asNSkbbE9M7YrOi4eXbCMOePFsw91T4HYxR2jSLhLu2FwrkYDs2GOG+kpyjD9UUVfd3HawXMjFS4QEgbanHpyBq4eROJLxpmjbdk9vG+/kOQ/GrpOy4ZfdjbrVHDeNsgXXh4yAQwOdumD1rqbC6STdCDmtPyJMOCPn2SAJcSrp+SXFd7+j7sulxZmUM6OzyLlWwNmI3HXlXD35/yu4/Xk/aa9b/AEP/APp//wA0v77Vhq7ZdHJ3XD54GYag+kkeIY5Ywc11Vp2vgdAt9bkHQY9aqHXQwww28W/srqr61Dqy6dz6VyFx2ZkUE6htn210RhCS+jOXJBtlwOznV2s7kmYvG6tI5cq0WNClWwdO3KgOKdjLnQNMgLt8KeQoAAzTyBzGqtvgjUAcbHFYg4frb5ALD0ya0+F2dwp+JMkW++kkD3ryNKXjUrsFksu7Pog4lIrkJqSMLHIzrKwFvpZQuNL4xv7jRD8DCzuoOQrZA9DvgnzFb0Mt0BktHJjOCyYYbH6OB91QsLcrktzO5z51ONuFspxTB4OGIWUsBtW66rgenTFZEk2k7ULccQJ2zRJuQKkaE0wDbcqNtJM1zaT1tWD+ZqWNM1I3Le6mnmA2NDtchAcVl3N5qqaLcjSfBqVu29YYujV9vOc0Mmzq4KKBrFs5zitJJazZfYQRVMturHJAzSaWqzc+tFio4p3Jqh0yNxRscVWNGK1TM6Ofms16jnWBcqqtsa7S8hBBri7+3w3I8668LsxmqBWO9ODTEU1dKMSWaVRqVUAqempUAKnxnlTCibRQGXO+9DdIaNrhNlqXljz86th4GqkvCzRSfSXdW9HjOzft9a1bGPb0osw4rzskrZ0wWjmntIpJmF1HFHcGFws6sFV1YaD4T87xHY59tZnH7e4S0jilKFIpodM8SF17sH5Tx78ts749ldlf2MUwxIgYDlnmPYelYZ4dNb5Nu/eR/wBE2/8A5rnaLMrjF+YYbWOPuH1a5pDEuIzDrwzIM+HJ3x60e98kN0IkkOsqjqOWoODpweWcA7ZHKh5eHWl1qV4zBL3ZRVyVVCSWyp5Llic5rM4nw25E2XAVNHDI3kKFlBSVxqjkG2xAB/XFSM2Lf9HUd0ZZlaSFmbHiAZS7HchdiB766vsJwNrGA27uHZZHbKggEMSRkV1ZXCDG+NHLrgjes2KbM0mzD5OzCmhmkiDnVU0QNI3GKHluarZVlUFqiklVGepwM0QsA3xVEcijdyFHmSBVP8NxMSIi0pBwRGpb7wMffT5P7JpBCrjmKHmxk+ynuriUqWYR28ajJeVh4RtzA2HvIrnp+K2ouFt2+EXc2oBhHG5jTPzm07Kvrk0cgBuI8QjU/K64yMkAnkCwGM+maHLVTfdqrnRNILSD4FDctbSKWzIQrlGb5Ow2J+qiu0HDlsxHLE2qGVlQRNnWpcZBjJ+UNtwfb0oUyGiEbUbDdYrPApZqmKzTkuyaG7yhtVLXSHYWr0VA9ZitRMTUCRtw3GKOiuvWsCOXFERy1DNE6Np7nPKhnmNDLNikZqKHYHrxTd+KzE4gMUJJxDfatVibMuSNS7uAo9tYHEJjjlRUuX8qD4gp0eKt8caZlNsy257VEip6aia61RiyOKVSAozhsILb05SpAlbAcU1dRc2GochQtxw1VGeWN6yWZGjgzFCURaphqmUJ9avtYgDvTnk0SkzorC8wKIkvBXPCTB2qRn9a4pLZumas1561BLrpmsoyUhJU0OzRuY0k+UN/MfKHvqrJjRlfEsJG6vuMA5G3tx91UxyVO7k+LcDfKkY9vpUSQ0ztOB9pYJwsasA66BpzkHGOR68qs4g+mViTgEDfpt503Y3gq21sihcOwDOcb5P/AGrF7axJA6t3c1w02rTEsgVV0LqY6juBisyyy67QRqcAl28lGd6HNzdSKWCLDGo1F5TjAHNt+lY/D+N67yOOBhbxMkMgRYBLLJ3iFmDyNnu1GMZHpWHwyYSPcktMr/Abwyd9I7LP4yq90rEgKoHTFO2BuC7s3R5HuXvDG8assbaV+NYIp/VyaL7acTNhLDbQSLaRSRO7OsXeSEqcBVxvqx1rKbs9cfwe1wUR5ZRZhIoB/NROrDJOMsdyTyGa2+I8Ov7uSG6AisnjSRPjSJSqsQQ2MadXOkBg9sGMN5bJJO7Wt8LZp1cnw9xIhUkH5CuzqD76lJdRR8Wudd1LEvewssUOfjjtp1Y+Ztiumm4bauZTcu13JNFFEwRT8mJi3h0YC5Zs5z0FGrIyHMNtHGcAa5Tl8AYGQNz72pgcjHwq7cXds0XdWsl9NcSTybAxayxCAc8771rRw/DJPhLgiFFKW6n6IwDKR9JsED09po28t3mBWaZnTqiBUQ+hx4z7NVFO4Ax5Db0wNtqaQGJNaYO3KqHFaVxJms+QVZLQMxps1Nkp1hzQSMpq+N6gIDyxV8VqaGATDHmi1hIHKrOHQedH3WB7KWyzKdqiJh50JxBt/CRQhc10LDaMnMxjmp2qb701TU4rpl0YpmmBmqWhBOW5DpVcUnrRESZ51y7RtplOlSdlqmawycgcga14wo5VJWFCm0wcFRyUo35Yq6zl0sKK4lCNWR1qmCDfJrr5KUdmKtSOjglDCme3Dc6yIJyDtyo34fXI4NdG6khjZ45UDcDBoxrqqJDmi2N0BlqVECOpC3NSyQXepCihbUzW1LoCEZou1TUyqOpX9oNDCE1bBJ3bByCQpzgczjfapY0eo20WkDLE8huRXOdsuAm7ntF+MEStMZDGwU6SgAUnng+nlXJ3P6YAqtotWJTbDMo3G2+9A2Xaq+4iC3efB4ckeAAE4OMZ51l7NDq7jgRt7tpxdRW0DJCpQgaikKaQup+Q58qDHFeGxiNYo5Lt4e8CFE1ECUkuMnSCpzWXDwKDOqQNK3UyEnNbFvKqABQFA5ACigsv/hy+kUCC3jt4+QMxJYD9ReX11bZcOncj4VcvIuQdCqqpkbjO2cVFLrNEpPjmadDNKV1TZAFHkowKBmlyaEmuqrWbNNILCEFXG3yKpiNGx8udOwAWswaHubLSRWrmlcqNqB0ZiWY61d8GA6VfGKlO2PZTJoFFr1piBUReLQst6CdqpQbJbQbJKVFZt9es3/aiYYGcbtt6U0/DMDO5q48UxOzI586Kit8gdKiwI/8AFN3ldF2tGXT2ZrRZpvgxo1IMHJq+NgKzlloFjB7ewIGTV+mptuedOIsb1i52apURVKvEAxVRlpW96XXVHFLIuSAyoSpx5E86hyKSJLw9WO9XtaKByqk3En+jz7f+2ai14/WC4z5dy5/uqvkEkBcShx8msqTOcVsTs7A/ET/ZP+FZhtJOsM/2L/hXRjyxrZlKDsaPOR61eR60RDAoA1R3H/Lzflqc0C81juB/u835aUskLDiyiE+Yq0zY60pbVE/jJTG3kYJf26aoXuf9JGP9VN+Wlzh9hUgmO6HM0THIG6UDi3B/lIx6xS5/dooXlsP84X7OX8tRNx9MpJknIoSVqtN1bMf5Sv2cv5attbOKVlSO4BL5AHdyDcAny9DzrO0VTPIrptpf9Yf3jXZ9jJiLZf1n/eNAdq+xstoN2DpKxYMFwBg5IIzzpcEvxbxCNgWwzbj1JI2rNdlvo65bg1ak1YVtx6IsA2pQTudLHHuAya14761P+cH7Cb8Ku0RxYdHcmrRcZoJbq2/p/wDoTfhVyXdt/Tn7GX8tK0UggPV0VDrfW39N/wBGb8tX23EIWGV7xgDjKwTEfWENFoYdAKLU1ltxJANlmz/s9x/+dUS8ax8yc/7tcfkoVAFXVydWF6UzXmxyay5r7J1COfP+zz/koSa6Y/zc/n/J5/yVsoxohtnRm9GBWZc3jHYUBDdHkY5/+Xn/ACUTFdLnGGVueHR0J9QHAyPUZoVRB2yrDDmNqLs44zu7ULczltqaNK6O0Y2b0F7GuwNFLcA8jXLgkGiYpCvnWUsPs1WT9GvclSDsM1ilKm0zZqIY1eOLSIlK2a93wk/N++gf4NYcxXSzS+uTQ7uRz3rj5G/EzouDErnNEng2Fzn8KNt3HnR4I61JVHH2XCDcu2ci3jYqeYaZ1JDD0QEH25oW6mvZeIz2tpcLAkFukiIUypbIULseW9dFe5hfvYhnP8Yg+eo6j+uBn25x5VzPELGRryW6tL2GHv4ViOuIuygbnmdjnFIQHxTtddy8MW7jkEMsUxglVV1K7a9GR5DrRHazj9xay20ElwYYnhLyXQiLFpNTALtsBgCocS7MIbGOzt7uJV197K0ikmR9RbIOfDvWjxSC5lCBby0YGIJIksKshcFvGgPydiB7qNisHuu0FyUsra3uYpZrx5P8pQeERRrrJ0/TwCPfUZeP3dr8Ptp5FklgtGuYZtOPmtgMPMYqodk0ihtjb3ca3VrI8qyEeBjKAsiFOi45eVERdnmlW9luLqF7m6gaBWUYjiQqQBjO/M0Ux6Aeyfaq6lubSM3MVyLiLXKsa+K2JXOHIOxB2wfKjeFcVve/4mslwrLZI2kd3jUzQtLGc5+bjHrS4b2YFrJaS208KvHAkFyD8icIoGrGdmzk5qXDOBTpNfPJdW7Leo6kKuCG7to4znVyAO9FMVoE7D9qJ7tk727hdijsYBCwcaVJ+UdtqyuF9v52tJe+Eaz+CSFu7ADxFirgA8yCDXXdk+zV7bLHDJJbNCsbJ4Y8SHIIB1nf21l3n6MGewtYTJH8Itnc68HSyPKzlcZz1pDH7SXN9Fc2qRyW+m7fSgaHeMCLWdR67g/dQnaTjk9rdx27z2sX+To7yPBlWkJOdIG4zjrXZcd7OPPNYSK6AWrlm82HdFNqA7Q9mLp78Xdu1vjuREVmXVyJ35+tAGRc39y9xZW9u9qWntDO0hgyjlTuwHMKc5rd7D8YNx38U0MaXNrL3T92BpYMHCsvlnSaF4p2bvmuLW6he3E0NsYXBHxepjlioHIcsCtbsd2Ya0EzzSCW4uJO9lcDAyA2kAZ2A1N9dAD9pLKO4tjG6vqUMVPdscOM4Ow868bntyjFWGCCRuMbeZFfQV2ToPsryjtPY6ljYL8Y0sqnG+VA8NAHmqcWk1fMPxmjRjDEZ5iuw4X2wmR3t/hFpbpGoKtcR6ic8xtz865k8BlwyHu9JkLZ5uNzt6Udb2U8U5li7o5CgCQauWOY9cUAejcS7TS209ykvdMqWazQkIPFJg6h6jNB8I7X3E4sE0xi4lnminHdjCrEueXzego3jXZduKfA7iN1XRhZgcjUM5IGPWtDg/Yd4eJzXmpDE2to0Gcq8mNR5+lAGfwni1413fxSvAY7JNeBFu2tJGjwT9HQM1sdluMSTcMFw+kSGKRtlAGVzg4HuoPhXZW9S6vZpGhK3qFWChsqUR1ixk/196H4DwS+tIRayzWvcaJF5Yfxg43z60AZNh2q4hHaW99M0UtvK4R0VCsiAuUDA+0Gm4z2wnF9cwi7it44+7Ka4mctrRTjw9cmreHdkLgwwWlzeW5tYX1lIgA8hDl1BcnYZJoy74BcreXNxa3FoFnCALMgcroRVHM+lAAfaHtRcx3c0K3kFukVtHKDMoxI55gb7554qri/bG6Frw+TWts1znvSY2bSBnDaRv5fXWvxHshFcXNxLcSRMk9skIAIDRyKcl1OdvShLvs3cvHZ5vLYzWjHDsoKuuMLlC3PFMCu/wC0F0La1aG7SRp7vuu97plAUhQBpO+xz9dGWck0l0/D75kkcRiaGeJdJG5G6nqMZxT8W4Fc3EMCyXVsJoLjvlZUQJgAaRoB55Bq7h1n8Glku7mdLm6kQRIIwFVVB2AAOAMnc+VG/QaBriFopTHKPFjII+S6cgw/vHSmibBz0q4wPKxkkbLNz8gOiqOgFWpZp512RlrZg1sHQam25UckYHOnksxp1L4SPI5DUHJOTQ/5dD6J3G/IVQVqaNzFQrSKohs3RJ1NSEuaVKuA6C1EFSdqVKgor51U6432I3pUqaEwPiVurIDsPdVtrw6PSMqpIG5xSpVdsgaXhyHbSp/sih04bGvJF+oUqVC6GzMvuF5fZF+6hf4NwR4E+paVKuiLMmgu3s2cnU7j2SP929aVvZLjBLn2ySfjSpVlk7NI9Bq2UXPDfaS/mpfA4icaW+1l/PSpVlSKJScMh8m+1m/PTGziQ6gHJG/8dNj9+lSpNAeL33aK7Pe5uZtpGA8eMDUcDau+/R7bCeySSUl37yUamZ8/KI6Hyp6VRHsZoHgNumS0YbPmWz+2nk4DbYz3YHsL/jSpVskiSloBGuF1KOmJJAB7g1DmUj58n2sn5qVKikDY6TMfnyfay/mq6JQd2AY+b5c/W+cUqVJpCsLQof5uP7NPwq7EY+Yn2a/hTUqVDQmkiA/i0+zX8KAnlQ/MT/gT8KVKtMcUyJNjRyINtCH+wv4VEsMkhVH6qgfsApUq1UFZm26JrO3IGi7aM5waVKjIqKibECbYNC3HDsjOAPZSpVgm0bUQj4dgZNRbh/kdqelV82Q4o//Z"/>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6392" name="Picture 8" descr="http://fitforrandomness.files.wordpress.com/2012/02/cxuf.png"/>
          <p:cNvPicPr>
            <a:picLocks noChangeAspect="1" noChangeArrowheads="1"/>
          </p:cNvPicPr>
          <p:nvPr/>
        </p:nvPicPr>
        <p:blipFill>
          <a:blip r:embed="rId2" cstate="print"/>
          <a:srcRect/>
          <a:stretch>
            <a:fillRect/>
          </a:stretch>
        </p:blipFill>
        <p:spPr bwMode="auto">
          <a:xfrm>
            <a:off x="4781550" y="0"/>
            <a:ext cx="4362450" cy="1447800"/>
          </a:xfrm>
          <a:prstGeom prst="rect">
            <a:avLst/>
          </a:prstGeom>
          <a:noFill/>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676400"/>
            <a:ext cx="8229600" cy="5181600"/>
          </a:xfrm>
        </p:spPr>
        <p:txBody>
          <a:bodyPr>
            <a:normAutofit fontScale="70000" lnSpcReduction="20000"/>
          </a:bodyPr>
          <a:lstStyle/>
          <a:p>
            <a:r>
              <a:rPr lang="en-GB" sz="4000" b="1" i="1" dirty="0" smtClean="0"/>
              <a:t>3. Length of Future</a:t>
            </a:r>
            <a:r>
              <a:rPr lang="en-GB" sz="4000" b="1" i="1" dirty="0" smtClean="0"/>
              <a:t> Commitments</a:t>
            </a:r>
            <a:endParaRPr lang="en-GB" sz="4000" b="1" i="1" dirty="0" smtClean="0"/>
          </a:p>
          <a:p>
            <a:pPr lvl="1"/>
            <a:r>
              <a:rPr lang="en-GB" sz="3400" dirty="0" smtClean="0"/>
              <a:t>plans </a:t>
            </a:r>
            <a:r>
              <a:rPr lang="en-GB" sz="3400" dirty="0" smtClean="0"/>
              <a:t>should extend far enough to meet those commitments </a:t>
            </a:r>
            <a:r>
              <a:rPr lang="en-GB" sz="3400" dirty="0" smtClean="0"/>
              <a:t>made today (or when ever the plans </a:t>
            </a:r>
            <a:r>
              <a:rPr lang="en-GB" sz="3400" dirty="0" smtClean="0"/>
              <a:t>were </a:t>
            </a:r>
            <a:r>
              <a:rPr lang="en-GB" sz="3400" dirty="0" smtClean="0"/>
              <a:t>developed),</a:t>
            </a:r>
            <a:endParaRPr lang="en-GB" sz="3400" dirty="0" smtClean="0"/>
          </a:p>
          <a:p>
            <a:pPr lvl="1"/>
            <a:r>
              <a:rPr lang="en-GB" sz="3400" dirty="0" smtClean="0"/>
              <a:t>Planning for too long or short </a:t>
            </a:r>
            <a:r>
              <a:rPr lang="en-GB" sz="3400" dirty="0" smtClean="0"/>
              <a:t>a </a:t>
            </a:r>
            <a:r>
              <a:rPr lang="en-GB" sz="3400" dirty="0" smtClean="0"/>
              <a:t>time period is inefficient and ineffective</a:t>
            </a:r>
          </a:p>
          <a:p>
            <a:pPr lvl="1"/>
            <a:endParaRPr lang="en-GB" sz="2300" dirty="0" smtClean="0"/>
          </a:p>
          <a:p>
            <a:r>
              <a:rPr lang="en-GB" sz="2900" dirty="0" smtClean="0"/>
              <a:t>AT</a:t>
            </a:r>
            <a:r>
              <a:rPr lang="en-GB" sz="2900" dirty="0" smtClean="0"/>
              <a:t>&amp; T and iPhone  - good example of understanding commitment concept.</a:t>
            </a:r>
          </a:p>
          <a:p>
            <a:r>
              <a:rPr lang="en-GB" sz="2900" dirty="0" smtClean="0"/>
              <a:t> </a:t>
            </a:r>
            <a:r>
              <a:rPr lang="en-GB" sz="2900" dirty="0" smtClean="0"/>
              <a:t>When AT &amp; T negotiated exclusive rights to support iPhone on its wireless network in June 2007 both Apple </a:t>
            </a:r>
            <a:r>
              <a:rPr lang="en-GB" sz="2900" dirty="0" smtClean="0"/>
              <a:t>&amp;  </a:t>
            </a:r>
            <a:r>
              <a:rPr lang="en-GB" sz="2900" dirty="0" smtClean="0"/>
              <a:t>AT&amp; T vastly underestimated the phones </a:t>
            </a:r>
            <a:r>
              <a:rPr lang="en-GB" sz="2900" dirty="0" smtClean="0"/>
              <a:t>popularity,</a:t>
            </a:r>
            <a:endParaRPr lang="en-GB" sz="2900" dirty="0" smtClean="0"/>
          </a:p>
          <a:p>
            <a:pPr lvl="2"/>
            <a:r>
              <a:rPr lang="en-GB" sz="2100" dirty="0" smtClean="0"/>
              <a:t>E.g. from 2011 to 2012  </a:t>
            </a:r>
            <a:r>
              <a:rPr lang="en-GB" sz="2100" dirty="0" smtClean="0"/>
              <a:t>- almost </a:t>
            </a:r>
            <a:r>
              <a:rPr lang="en-GB" sz="2100" dirty="0" smtClean="0"/>
              <a:t>22  million iPhones sold.</a:t>
            </a:r>
          </a:p>
          <a:p>
            <a:pPr lvl="1"/>
            <a:r>
              <a:rPr lang="en-GB" sz="2500" dirty="0" smtClean="0"/>
              <a:t>AT&amp; T’s network could not handle the traffic </a:t>
            </a:r>
          </a:p>
          <a:p>
            <a:pPr lvl="2"/>
            <a:r>
              <a:rPr lang="en-GB" sz="2200" dirty="0" smtClean="0"/>
              <a:t>“we missed our usage estimates “  - AT &amp; T chief strategy officer</a:t>
            </a:r>
          </a:p>
          <a:p>
            <a:pPr lvl="1"/>
            <a:r>
              <a:rPr lang="en-GB" sz="2500" dirty="0" smtClean="0"/>
              <a:t>In becoming the primary provider for the iPhone, AT&amp; T “committed” to all future expenses generated by that planned </a:t>
            </a:r>
            <a:r>
              <a:rPr lang="en-GB" sz="2500" dirty="0" smtClean="0"/>
              <a:t>decisions, …... </a:t>
            </a:r>
            <a:r>
              <a:rPr lang="en-GB" sz="2500" dirty="0" smtClean="0"/>
              <a:t>they have to live with the consequences – both good and bad.</a:t>
            </a:r>
            <a:endParaRPr lang="en-US" sz="2500"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49</a:t>
            </a:fld>
            <a:endParaRPr lang="en-US" dirty="0"/>
          </a:p>
        </p:txBody>
      </p:sp>
      <p:sp>
        <p:nvSpPr>
          <p:cNvPr id="4" name="Title 3"/>
          <p:cNvSpPr>
            <a:spLocks noGrp="1"/>
          </p:cNvSpPr>
          <p:nvPr>
            <p:ph type="title"/>
          </p:nvPr>
        </p:nvSpPr>
        <p:spPr/>
        <p:txBody>
          <a:bodyPr>
            <a:normAutofit/>
          </a:bodyPr>
          <a:lstStyle/>
          <a:p>
            <a:r>
              <a:rPr lang="en-US" dirty="0" smtClean="0"/>
              <a:t>Contingency Factors in </a:t>
            </a:r>
            <a:r>
              <a:rPr lang="en-US" dirty="0" smtClean="0"/>
              <a:t>Planning</a:t>
            </a:r>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US"/>
          </a:p>
        </p:txBody>
      </p:sp>
      <p:sp>
        <p:nvSpPr>
          <p:cNvPr id="3" name="Slide Number Placeholder 2"/>
          <p:cNvSpPr>
            <a:spLocks noGrp="1"/>
          </p:cNvSpPr>
          <p:nvPr>
            <p:ph type="sldNum" sz="quarter" idx="12"/>
          </p:nvPr>
        </p:nvSpPr>
        <p:spPr/>
        <p:txBody>
          <a:bodyPr/>
          <a:lstStyle/>
          <a:p>
            <a:fld id="{B6F15528-21DE-4FAA-801E-634DDDAF4B2B}" type="slidenum">
              <a:rPr lang="en-US" smtClean="0"/>
              <a:pPr/>
              <a:t>50</a:t>
            </a:fld>
            <a:endParaRPr lang="en-US" dirty="0"/>
          </a:p>
        </p:txBody>
      </p:sp>
      <p:sp>
        <p:nvSpPr>
          <p:cNvPr id="4" name="Title 3"/>
          <p:cNvSpPr>
            <a:spLocks noGrp="1"/>
          </p:cNvSpPr>
          <p:nvPr>
            <p:ph type="title"/>
          </p:nvPr>
        </p:nvSpPr>
        <p:spPr/>
        <p:txBody>
          <a:bodyPr/>
          <a:lstStyle/>
          <a:p>
            <a:endParaRPr lang="en-US"/>
          </a:p>
        </p:txBody>
      </p:sp>
      <p:pic>
        <p:nvPicPr>
          <p:cNvPr id="82946" name="Picture 2" descr="http://www.cartoonstock.com/newscartoons/cartoonists/bve/lowres/marriage-relationships-embracing_change-businessman-market-long_term_commitment-commitment_phobias-bven782l.jpg"/>
          <p:cNvPicPr>
            <a:picLocks noChangeAspect="1" noChangeArrowheads="1"/>
          </p:cNvPicPr>
          <p:nvPr/>
        </p:nvPicPr>
        <p:blipFill>
          <a:blip r:embed="rId2" cstate="print"/>
          <a:srcRect/>
          <a:stretch>
            <a:fillRect/>
          </a:stretch>
        </p:blipFill>
        <p:spPr bwMode="auto">
          <a:xfrm>
            <a:off x="1295400" y="457200"/>
            <a:ext cx="6629400" cy="5438775"/>
          </a:xfrm>
          <a:prstGeom prst="rect">
            <a:avLst/>
          </a:prstGeom>
          <a:noFill/>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US"/>
          </a:p>
        </p:txBody>
      </p:sp>
      <p:sp>
        <p:nvSpPr>
          <p:cNvPr id="3" name="Slide Number Placeholder 2"/>
          <p:cNvSpPr>
            <a:spLocks noGrp="1"/>
          </p:cNvSpPr>
          <p:nvPr>
            <p:ph type="sldNum" sz="quarter" idx="12"/>
          </p:nvPr>
        </p:nvSpPr>
        <p:spPr/>
        <p:txBody>
          <a:bodyPr/>
          <a:lstStyle/>
          <a:p>
            <a:fld id="{B6F15528-21DE-4FAA-801E-634DDDAF4B2B}" type="slidenum">
              <a:rPr lang="en-US" smtClean="0"/>
              <a:pPr/>
              <a:t>51</a:t>
            </a:fld>
            <a:endParaRPr lang="en-US" dirty="0"/>
          </a:p>
        </p:txBody>
      </p:sp>
      <p:sp>
        <p:nvSpPr>
          <p:cNvPr id="4" name="Title 3"/>
          <p:cNvSpPr>
            <a:spLocks noGrp="1"/>
          </p:cNvSpPr>
          <p:nvPr>
            <p:ph type="title"/>
          </p:nvPr>
        </p:nvSpPr>
        <p:spPr/>
        <p:txBody>
          <a:bodyPr/>
          <a:lstStyle/>
          <a:p>
            <a:endParaRPr lang="en-US"/>
          </a:p>
        </p:txBody>
      </p:sp>
      <p:pic>
        <p:nvPicPr>
          <p:cNvPr id="83970" name="Picture 2" descr="http://www.cartoonstock.com/lowres/marriage-relationships-date-dated-long_term-long_term_relationship-long_term_relationships-ndi0820l.jpg"/>
          <p:cNvPicPr>
            <a:picLocks noChangeAspect="1" noChangeArrowheads="1"/>
          </p:cNvPicPr>
          <p:nvPr/>
        </p:nvPicPr>
        <p:blipFill>
          <a:blip r:embed="rId2" cstate="print"/>
          <a:srcRect/>
          <a:stretch>
            <a:fillRect/>
          </a:stretch>
        </p:blipFill>
        <p:spPr bwMode="auto">
          <a:xfrm>
            <a:off x="990600" y="990600"/>
            <a:ext cx="6629400" cy="5258563"/>
          </a:xfrm>
          <a:prstGeom prst="rect">
            <a:avLst/>
          </a:prstGeom>
          <a:noFill/>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sz="half" idx="1"/>
          </p:nvPr>
        </p:nvSpPr>
        <p:spPr>
          <a:ln>
            <a:solidFill>
              <a:schemeClr val="accent1"/>
            </a:solidFill>
          </a:ln>
        </p:spPr>
        <p:txBody>
          <a:bodyPr>
            <a:normAutofit fontScale="85000" lnSpcReduction="20000"/>
          </a:bodyPr>
          <a:lstStyle/>
          <a:p>
            <a:r>
              <a:rPr lang="en-IE" dirty="0" smtClean="0"/>
              <a:t>51% of managers said they were approaching planning differently by using more business scenarios and data driven approaches.</a:t>
            </a:r>
          </a:p>
          <a:p>
            <a:endParaRPr lang="en-IE" dirty="0"/>
          </a:p>
          <a:p>
            <a:r>
              <a:rPr lang="en-IE" dirty="0" smtClean="0"/>
              <a:t>47% of managers said their organisations projects always or often meet their goals.</a:t>
            </a:r>
          </a:p>
          <a:p>
            <a:endParaRPr lang="en-IE" dirty="0" smtClean="0"/>
          </a:p>
          <a:p>
            <a:r>
              <a:rPr lang="en-IE" dirty="0"/>
              <a:t>19% if executives said that planning was an important </a:t>
            </a:r>
            <a:r>
              <a:rPr lang="en-IE" dirty="0" smtClean="0"/>
              <a:t>skill</a:t>
            </a:r>
            <a:endParaRPr lang="en-IE" dirty="0"/>
          </a:p>
        </p:txBody>
      </p:sp>
      <p:sp>
        <p:nvSpPr>
          <p:cNvPr id="7" name="Content Placeholder 6"/>
          <p:cNvSpPr>
            <a:spLocks noGrp="1"/>
          </p:cNvSpPr>
          <p:nvPr>
            <p:ph sz="half" idx="2"/>
          </p:nvPr>
        </p:nvSpPr>
        <p:spPr>
          <a:ln>
            <a:solidFill>
              <a:schemeClr val="accent1"/>
            </a:solidFill>
          </a:ln>
        </p:spPr>
        <p:txBody>
          <a:bodyPr>
            <a:normAutofit fontScale="85000" lnSpcReduction="10000"/>
          </a:bodyPr>
          <a:lstStyle/>
          <a:p>
            <a:r>
              <a:rPr lang="en-IE" dirty="0" smtClean="0"/>
              <a:t>7% of information executives said they have no plan for disaster recovery.</a:t>
            </a:r>
          </a:p>
          <a:p>
            <a:endParaRPr lang="en-IE" dirty="0"/>
          </a:p>
          <a:p>
            <a:r>
              <a:rPr lang="en-IE" dirty="0" smtClean="0"/>
              <a:t>75% of managers said their company’s planning approach was not working.</a:t>
            </a:r>
          </a:p>
          <a:p>
            <a:endParaRPr lang="en-IE" dirty="0" smtClean="0"/>
          </a:p>
          <a:p>
            <a:r>
              <a:rPr lang="en-IE" dirty="0" smtClean="0"/>
              <a:t>69</a:t>
            </a:r>
            <a:r>
              <a:rPr lang="en-IE" dirty="0"/>
              <a:t>% of managers </a:t>
            </a:r>
            <a:r>
              <a:rPr lang="en-IE" dirty="0" smtClean="0"/>
              <a:t>said </a:t>
            </a:r>
            <a:r>
              <a:rPr lang="en-IE" dirty="0"/>
              <a:t>teams are not given enough </a:t>
            </a:r>
            <a:r>
              <a:rPr lang="en-IE" dirty="0" smtClean="0"/>
              <a:t>resources </a:t>
            </a:r>
            <a:r>
              <a:rPr lang="en-IE" dirty="0"/>
              <a:t>to complete </a:t>
            </a:r>
            <a:r>
              <a:rPr lang="en-IE" dirty="0" smtClean="0"/>
              <a:t>projects.</a:t>
            </a:r>
            <a:r>
              <a:rPr lang="en-IE" dirty="0"/>
              <a:t>	</a:t>
            </a:r>
          </a:p>
          <a:p>
            <a:endParaRPr lang="en-IE" dirty="0" smtClean="0"/>
          </a:p>
          <a:p>
            <a:endParaRPr lang="en-IE"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52</a:t>
            </a:fld>
            <a:endParaRPr lang="en-US" dirty="0"/>
          </a:p>
        </p:txBody>
      </p:sp>
      <p:sp>
        <p:nvSpPr>
          <p:cNvPr id="5" name="Title 4"/>
          <p:cNvSpPr>
            <a:spLocks noGrp="1"/>
          </p:cNvSpPr>
          <p:nvPr>
            <p:ph type="title"/>
          </p:nvPr>
        </p:nvSpPr>
        <p:spPr/>
        <p:txBody>
          <a:bodyPr>
            <a:normAutofit/>
          </a:bodyPr>
          <a:lstStyle/>
          <a:p>
            <a:r>
              <a:rPr lang="en-IE" dirty="0" smtClean="0"/>
              <a:t>Some facts about planning </a:t>
            </a:r>
            <a:br>
              <a:rPr lang="en-IE" dirty="0" smtClean="0"/>
            </a:br>
            <a:r>
              <a:rPr lang="en-IE" sz="2000" dirty="0" smtClean="0"/>
              <a:t>(Source:  American Management  Association, 2010)</a:t>
            </a:r>
            <a:endParaRPr lang="en-IE" sz="2000" dirty="0"/>
          </a:p>
        </p:txBody>
      </p:sp>
    </p:spTree>
    <p:extLst>
      <p:ext uri="{BB962C8B-B14F-4D97-AF65-F5344CB8AC3E}">
        <p14:creationId xmlns:p14="http://schemas.microsoft.com/office/powerpoint/2010/main" xmlns="" val="111566475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752600"/>
            <a:ext cx="8229600" cy="4800600"/>
          </a:xfrm>
        </p:spPr>
        <p:txBody>
          <a:bodyPr>
            <a:normAutofit fontScale="85000" lnSpcReduction="20000"/>
          </a:bodyPr>
          <a:lstStyle/>
          <a:p>
            <a:pPr eaLnBrk="0" hangingPunct="0"/>
            <a:r>
              <a:rPr lang="en-US" b="1" i="1" dirty="0" smtClean="0"/>
              <a:t>In the traditional approach</a:t>
            </a:r>
            <a:r>
              <a:rPr lang="en-US" dirty="0" smtClean="0"/>
              <a:t>, planning is done entirely by top-level managers </a:t>
            </a:r>
            <a:r>
              <a:rPr lang="en-US" dirty="0" smtClean="0"/>
              <a:t>often </a:t>
            </a:r>
            <a:r>
              <a:rPr lang="en-US" dirty="0" smtClean="0"/>
              <a:t>are assisted by a formal planning department</a:t>
            </a:r>
          </a:p>
          <a:p>
            <a:pPr lvl="1" eaLnBrk="0" hangingPunct="0"/>
            <a:r>
              <a:rPr lang="en-US" i="1" dirty="0" smtClean="0"/>
              <a:t>Formal planning department  </a:t>
            </a:r>
            <a:r>
              <a:rPr lang="en-US" b="1" dirty="0" smtClean="0"/>
              <a:t>- </a:t>
            </a:r>
            <a:r>
              <a:rPr lang="en-US" dirty="0" smtClean="0"/>
              <a:t>a group of planning specialists whose sole responsibility is helping to write organisational plans</a:t>
            </a:r>
          </a:p>
          <a:p>
            <a:endParaRPr lang="en-GB" dirty="0" smtClean="0"/>
          </a:p>
          <a:p>
            <a:r>
              <a:rPr lang="en-US" dirty="0" smtClean="0">
                <a:cs typeface="Arial" charset="0"/>
              </a:rPr>
              <a:t>Under </a:t>
            </a:r>
            <a:r>
              <a:rPr lang="en-US" dirty="0" smtClean="0">
                <a:cs typeface="Arial" charset="0"/>
              </a:rPr>
              <a:t>the traditional approach, </a:t>
            </a:r>
          </a:p>
          <a:p>
            <a:pPr lvl="1"/>
            <a:r>
              <a:rPr lang="en-US" dirty="0" smtClean="0">
                <a:cs typeface="Arial" charset="0"/>
              </a:rPr>
              <a:t>plans </a:t>
            </a:r>
            <a:r>
              <a:rPr lang="en-US" dirty="0" smtClean="0">
                <a:cs typeface="Arial" charset="0"/>
              </a:rPr>
              <a:t>developed by top-level managers flow down through other organisational levels, </a:t>
            </a:r>
            <a:endParaRPr lang="en-US" dirty="0" smtClean="0">
              <a:cs typeface="Arial" charset="0"/>
            </a:endParaRPr>
          </a:p>
          <a:p>
            <a:pPr lvl="2"/>
            <a:r>
              <a:rPr lang="en-US" sz="2500" dirty="0" smtClean="0">
                <a:cs typeface="Arial" charset="0"/>
              </a:rPr>
              <a:t>much </a:t>
            </a:r>
            <a:r>
              <a:rPr lang="en-US" sz="2500" dirty="0" smtClean="0">
                <a:cs typeface="Arial" charset="0"/>
              </a:rPr>
              <a:t>like the traditional approach to goal-setting. </a:t>
            </a:r>
          </a:p>
          <a:p>
            <a:pPr lvl="1"/>
            <a:r>
              <a:rPr lang="en-US" dirty="0" smtClean="0">
                <a:cs typeface="Arial" charset="0"/>
              </a:rPr>
              <a:t>As </a:t>
            </a:r>
            <a:r>
              <a:rPr lang="en-US" dirty="0" smtClean="0">
                <a:cs typeface="Arial" charset="0"/>
              </a:rPr>
              <a:t>they flow down through the organisation, the plans are tailored to the particular needs of each level. </a:t>
            </a:r>
          </a:p>
          <a:p>
            <a:endParaRPr lang="en-US" dirty="0" smtClean="0">
              <a:cs typeface="Arial" charset="0"/>
            </a:endParaRPr>
          </a:p>
        </p:txBody>
      </p:sp>
      <p:sp>
        <p:nvSpPr>
          <p:cNvPr id="3" name="Slide Number Placeholder 2"/>
          <p:cNvSpPr>
            <a:spLocks noGrp="1"/>
          </p:cNvSpPr>
          <p:nvPr>
            <p:ph type="sldNum" sz="quarter" idx="12"/>
          </p:nvPr>
        </p:nvSpPr>
        <p:spPr/>
        <p:txBody>
          <a:bodyPr/>
          <a:lstStyle/>
          <a:p>
            <a:fld id="{B6F15528-21DE-4FAA-801E-634DDDAF4B2B}" type="slidenum">
              <a:rPr lang="en-US" smtClean="0"/>
              <a:pPr/>
              <a:t>53</a:t>
            </a:fld>
            <a:endParaRPr lang="en-US" dirty="0"/>
          </a:p>
        </p:txBody>
      </p:sp>
      <p:sp>
        <p:nvSpPr>
          <p:cNvPr id="4" name="Title 3"/>
          <p:cNvSpPr>
            <a:spLocks noGrp="1"/>
          </p:cNvSpPr>
          <p:nvPr>
            <p:ph type="title"/>
          </p:nvPr>
        </p:nvSpPr>
        <p:spPr/>
        <p:txBody>
          <a:bodyPr/>
          <a:lstStyle/>
          <a:p>
            <a:r>
              <a:rPr lang="en-US" dirty="0" smtClean="0"/>
              <a:t>Approaches to Planning</a:t>
            </a:r>
            <a:endParaRPr 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499616"/>
            <a:ext cx="8229600" cy="5358384"/>
          </a:xfrm>
        </p:spPr>
        <p:txBody>
          <a:bodyPr>
            <a:normAutofit fontScale="77500" lnSpcReduction="20000"/>
          </a:bodyPr>
          <a:lstStyle/>
          <a:p>
            <a:r>
              <a:rPr lang="en-US" dirty="0" smtClean="0">
                <a:cs typeface="Arial" charset="0"/>
              </a:rPr>
              <a:t>Although </a:t>
            </a:r>
            <a:r>
              <a:rPr lang="en-US" dirty="0" smtClean="0">
                <a:cs typeface="Arial" charset="0"/>
              </a:rPr>
              <a:t>the </a:t>
            </a:r>
            <a:r>
              <a:rPr lang="en-US" i="1" dirty="0" smtClean="0">
                <a:cs typeface="Arial" charset="0"/>
              </a:rPr>
              <a:t>traditional approach </a:t>
            </a:r>
            <a:r>
              <a:rPr lang="en-US" dirty="0" smtClean="0">
                <a:cs typeface="Arial" charset="0"/>
              </a:rPr>
              <a:t>to plannin</a:t>
            </a:r>
            <a:r>
              <a:rPr lang="en-US" dirty="0" smtClean="0">
                <a:cs typeface="Arial" charset="0"/>
              </a:rPr>
              <a:t>g</a:t>
            </a:r>
            <a:r>
              <a:rPr lang="en-US" dirty="0" smtClean="0">
                <a:cs typeface="Arial" charset="0"/>
              </a:rPr>
              <a:t> </a:t>
            </a:r>
            <a:r>
              <a:rPr lang="en-US" dirty="0" smtClean="0">
                <a:cs typeface="Arial" charset="0"/>
              </a:rPr>
              <a:t>makes managerial planning thorough, systematic, and coordinated,  </a:t>
            </a:r>
            <a:r>
              <a:rPr lang="en-US" dirty="0" smtClean="0">
                <a:cs typeface="Arial" charset="0"/>
              </a:rPr>
              <a:t>…...</a:t>
            </a:r>
          </a:p>
          <a:p>
            <a:endParaRPr lang="en-US" sz="2100" dirty="0" smtClean="0">
              <a:cs typeface="Arial" charset="0"/>
            </a:endParaRPr>
          </a:p>
          <a:p>
            <a:r>
              <a:rPr lang="en-US" dirty="0" smtClean="0">
                <a:cs typeface="Arial" charset="0"/>
              </a:rPr>
              <a:t>……all too often the focus is on developing “the plan” - a thick binder (or binders) full of meaningless information that is stuck on a shelf and never used by anyone for guiding or coordinating work efforts.</a:t>
            </a:r>
            <a:endParaRPr lang="en-US" dirty="0" smtClean="0"/>
          </a:p>
          <a:p>
            <a:pPr hangingPunct="0"/>
            <a:endParaRPr lang="en-US" sz="2100" dirty="0" smtClean="0"/>
          </a:p>
          <a:p>
            <a:pPr hangingPunct="0"/>
            <a:r>
              <a:rPr lang="en-US" dirty="0" smtClean="0"/>
              <a:t>Another </a:t>
            </a:r>
            <a:r>
              <a:rPr lang="en-US" dirty="0" smtClean="0"/>
              <a:t>approach to planning is to </a:t>
            </a:r>
            <a:r>
              <a:rPr lang="en-US" b="1" i="1" dirty="0" smtClean="0"/>
              <a:t>involve more members of the </a:t>
            </a:r>
            <a:r>
              <a:rPr lang="en-US" b="1" i="1" dirty="0" smtClean="0"/>
              <a:t>organisation</a:t>
            </a:r>
            <a:r>
              <a:rPr lang="en-US" dirty="0" smtClean="0"/>
              <a:t> </a:t>
            </a:r>
            <a:r>
              <a:rPr lang="en-US" dirty="0" smtClean="0"/>
              <a:t>in the planning process. </a:t>
            </a:r>
            <a:endParaRPr lang="en-US" dirty="0" smtClean="0"/>
          </a:p>
          <a:p>
            <a:pPr hangingPunct="0"/>
            <a:endParaRPr lang="en-US" sz="2100" dirty="0" smtClean="0"/>
          </a:p>
          <a:p>
            <a:pPr hangingPunct="0"/>
            <a:r>
              <a:rPr lang="en-US" dirty="0" smtClean="0"/>
              <a:t>In </a:t>
            </a:r>
            <a:r>
              <a:rPr lang="en-US" dirty="0" smtClean="0"/>
              <a:t>this approach, plans are not handed down from one level to the next, but are developed by </a:t>
            </a:r>
            <a:r>
              <a:rPr lang="en-US" dirty="0" smtClean="0"/>
              <a:t>organisational </a:t>
            </a:r>
            <a:r>
              <a:rPr lang="en-US" dirty="0" smtClean="0"/>
              <a:t>members at various levels to meet their specific needs.  </a:t>
            </a:r>
          </a:p>
          <a:p>
            <a:endParaRPr lang="en-US"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54</a:t>
            </a:fld>
            <a:endParaRPr lang="en-US" dirty="0"/>
          </a:p>
        </p:txBody>
      </p:sp>
      <p:sp>
        <p:nvSpPr>
          <p:cNvPr id="4" name="Title 3"/>
          <p:cNvSpPr>
            <a:spLocks noGrp="1"/>
          </p:cNvSpPr>
          <p:nvPr>
            <p:ph type="title"/>
          </p:nvPr>
        </p:nvSpPr>
        <p:spPr/>
        <p:txBody>
          <a:bodyPr/>
          <a:lstStyle/>
          <a:p>
            <a:r>
              <a:rPr lang="en-US" dirty="0" smtClean="0"/>
              <a:t>Approaches to Planning</a:t>
            </a:r>
            <a:endParaRPr 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US"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55</a:t>
            </a:fld>
            <a:endParaRPr lang="en-US" dirty="0"/>
          </a:p>
        </p:txBody>
      </p:sp>
      <p:sp>
        <p:nvSpPr>
          <p:cNvPr id="4" name="Title 3"/>
          <p:cNvSpPr>
            <a:spLocks noGrp="1"/>
          </p:cNvSpPr>
          <p:nvPr>
            <p:ph type="title"/>
          </p:nvPr>
        </p:nvSpPr>
        <p:spPr/>
        <p:txBody>
          <a:bodyPr>
            <a:noAutofit/>
          </a:bodyPr>
          <a:lstStyle/>
          <a:p>
            <a:r>
              <a:rPr lang="en-GB" sz="3200" dirty="0" smtClean="0"/>
              <a:t>Traditional Top Down Approach to Planning ??!!</a:t>
            </a:r>
            <a:endParaRPr lang="en-US" sz="3200" dirty="0"/>
          </a:p>
        </p:txBody>
      </p:sp>
      <p:pic>
        <p:nvPicPr>
          <p:cNvPr id="81922" name="Picture 2" descr="http://justhelga.files.wordpress.com/2010/11/organisation-chart.jpg"/>
          <p:cNvPicPr>
            <a:picLocks noChangeAspect="1" noChangeArrowheads="1"/>
          </p:cNvPicPr>
          <p:nvPr/>
        </p:nvPicPr>
        <p:blipFill>
          <a:blip r:embed="rId2" cstate="print"/>
          <a:srcRect/>
          <a:stretch>
            <a:fillRect/>
          </a:stretch>
        </p:blipFill>
        <p:spPr bwMode="auto">
          <a:xfrm>
            <a:off x="1371600" y="1752600"/>
            <a:ext cx="6400800" cy="4572000"/>
          </a:xfrm>
          <a:prstGeom prst="rect">
            <a:avLst/>
          </a:prstGeom>
          <a:noFill/>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1000" y="1981200"/>
            <a:ext cx="4419600" cy="3505200"/>
          </a:xfrm>
        </p:spPr>
        <p:txBody>
          <a:bodyPr>
            <a:normAutofit fontScale="92500"/>
          </a:bodyPr>
          <a:lstStyle/>
          <a:p>
            <a:r>
              <a:rPr lang="en-US" dirty="0" smtClean="0"/>
              <a:t>How Can Managers Plan Effectively in Dynamic Environments? 	</a:t>
            </a:r>
            <a:endParaRPr lang="en-US" dirty="0" smtClean="0"/>
          </a:p>
          <a:p>
            <a:endParaRPr lang="en-US" dirty="0" smtClean="0"/>
          </a:p>
          <a:p>
            <a:r>
              <a:rPr lang="en-US" dirty="0" smtClean="0"/>
              <a:t>How Can Managers Use Environmental Scanning? </a:t>
            </a:r>
            <a:endParaRPr lang="en-US"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56</a:t>
            </a:fld>
            <a:endParaRPr lang="en-US" dirty="0"/>
          </a:p>
        </p:txBody>
      </p:sp>
      <p:sp>
        <p:nvSpPr>
          <p:cNvPr id="4" name="Title 3"/>
          <p:cNvSpPr>
            <a:spLocks noGrp="1"/>
          </p:cNvSpPr>
          <p:nvPr>
            <p:ph type="title"/>
          </p:nvPr>
        </p:nvSpPr>
        <p:spPr>
          <a:xfrm>
            <a:off x="533400" y="152400"/>
            <a:ext cx="8305800" cy="1143000"/>
          </a:xfrm>
        </p:spPr>
        <p:txBody>
          <a:bodyPr>
            <a:noAutofit/>
          </a:bodyPr>
          <a:lstStyle/>
          <a:p>
            <a:r>
              <a:rPr lang="en-US" dirty="0" smtClean="0"/>
              <a:t>Contemporary Issues </a:t>
            </a:r>
            <a:r>
              <a:rPr lang="en-US" dirty="0" smtClean="0"/>
              <a:t>in Planning</a:t>
            </a:r>
            <a:endParaRPr lang="en-US" sz="4800" dirty="0"/>
          </a:p>
        </p:txBody>
      </p:sp>
      <p:pic>
        <p:nvPicPr>
          <p:cNvPr id="2050" name="Picture 2" descr="http://www.thebusinessofsports.com/wp-content/uploads/2013/09/competition-300x200.jpg"/>
          <p:cNvPicPr>
            <a:picLocks noChangeAspect="1" noChangeArrowheads="1"/>
          </p:cNvPicPr>
          <p:nvPr/>
        </p:nvPicPr>
        <p:blipFill>
          <a:blip r:embed="rId2" cstate="print"/>
          <a:srcRect/>
          <a:stretch>
            <a:fillRect/>
          </a:stretch>
        </p:blipFill>
        <p:spPr bwMode="auto">
          <a:xfrm>
            <a:off x="5181600" y="1981200"/>
            <a:ext cx="3657600" cy="3048000"/>
          </a:xfrm>
          <a:prstGeom prst="rect">
            <a:avLst/>
          </a:prstGeom>
          <a:noFill/>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2" name="Picture 4" descr="http://ajnabii.com/wp-content/uploads/2013/01/Business-Technology.png"/>
          <p:cNvPicPr>
            <a:picLocks noChangeAspect="1" noChangeArrowheads="1"/>
          </p:cNvPicPr>
          <p:nvPr/>
        </p:nvPicPr>
        <p:blipFill>
          <a:blip r:embed="rId2" cstate="print"/>
          <a:srcRect/>
          <a:stretch>
            <a:fillRect/>
          </a:stretch>
        </p:blipFill>
        <p:spPr bwMode="auto">
          <a:xfrm>
            <a:off x="5029200" y="1447800"/>
            <a:ext cx="4114800" cy="1524000"/>
          </a:xfrm>
          <a:prstGeom prst="rect">
            <a:avLst/>
          </a:prstGeom>
          <a:noFill/>
        </p:spPr>
      </p:pic>
      <p:sp>
        <p:nvSpPr>
          <p:cNvPr id="2" name="Content Placeholder 1"/>
          <p:cNvSpPr>
            <a:spLocks noGrp="1"/>
          </p:cNvSpPr>
          <p:nvPr>
            <p:ph idx="1"/>
          </p:nvPr>
        </p:nvSpPr>
        <p:spPr>
          <a:xfrm>
            <a:off x="457200" y="1752600"/>
            <a:ext cx="8229600" cy="5105400"/>
          </a:xfrm>
        </p:spPr>
        <p:txBody>
          <a:bodyPr>
            <a:normAutofit fontScale="55000" lnSpcReduction="20000"/>
          </a:bodyPr>
          <a:lstStyle/>
          <a:p>
            <a:pPr eaLnBrk="0" hangingPunct="0"/>
            <a:r>
              <a:rPr lang="en-GB" sz="4500" dirty="0" smtClean="0"/>
              <a:t>The </a:t>
            </a:r>
            <a:r>
              <a:rPr lang="en-GB" sz="4500" dirty="0" smtClean="0"/>
              <a:t>external environment is </a:t>
            </a:r>
            <a:r>
              <a:rPr lang="en-GB" sz="4500" dirty="0" smtClean="0"/>
              <a:t>                                 continually changing.</a:t>
            </a:r>
          </a:p>
          <a:p>
            <a:pPr eaLnBrk="0" hangingPunct="0"/>
            <a:endParaRPr lang="en-US" sz="3600" dirty="0" smtClean="0"/>
          </a:p>
          <a:p>
            <a:pPr eaLnBrk="0" hangingPunct="0"/>
            <a:r>
              <a:rPr lang="en-US" sz="4500" dirty="0" smtClean="0"/>
              <a:t>Dynamic </a:t>
            </a:r>
            <a:r>
              <a:rPr lang="en-US" sz="4500" dirty="0" smtClean="0"/>
              <a:t>environments </a:t>
            </a:r>
            <a:r>
              <a:rPr lang="en-US" sz="4500" dirty="0" smtClean="0"/>
              <a:t>are                                            more </a:t>
            </a:r>
            <a:r>
              <a:rPr lang="en-US" sz="4500" dirty="0" smtClean="0"/>
              <a:t>the norm than the exception. </a:t>
            </a:r>
          </a:p>
          <a:p>
            <a:pPr lvl="1" eaLnBrk="0" hangingPunct="0"/>
            <a:endParaRPr lang="en-GB" sz="2200" dirty="0" smtClean="0"/>
          </a:p>
          <a:p>
            <a:pPr lvl="1" eaLnBrk="0" hangingPunct="0"/>
            <a:r>
              <a:rPr lang="en-GB" sz="3600" dirty="0" smtClean="0"/>
              <a:t>E.g</a:t>
            </a:r>
            <a:r>
              <a:rPr lang="en-GB" sz="3600" dirty="0" smtClean="0"/>
              <a:t>. Cloud computing storage is revolutionising many industries from financial services to health care and engineering</a:t>
            </a:r>
          </a:p>
          <a:p>
            <a:pPr lvl="1" eaLnBrk="0" hangingPunct="0"/>
            <a:r>
              <a:rPr lang="en-GB" sz="3600" dirty="0" smtClean="0"/>
              <a:t>Social network sites are used by organisations to connect with customers and </a:t>
            </a:r>
            <a:r>
              <a:rPr lang="en-GB" sz="3600" dirty="0" smtClean="0"/>
              <a:t>employees.</a:t>
            </a:r>
            <a:endParaRPr lang="en-GB" sz="3600" dirty="0" smtClean="0"/>
          </a:p>
          <a:p>
            <a:pPr eaLnBrk="0" hangingPunct="0"/>
            <a:endParaRPr lang="en-GB" sz="3800" dirty="0" smtClean="0"/>
          </a:p>
          <a:p>
            <a:pPr eaLnBrk="0" hangingPunct="0"/>
            <a:r>
              <a:rPr lang="en-US" sz="4400" dirty="0" smtClean="0"/>
              <a:t>In an uncertain environment, managers should develop plans that are specific, but </a:t>
            </a:r>
            <a:r>
              <a:rPr lang="en-US" sz="4400" dirty="0" smtClean="0"/>
              <a:t>flexible (not set in stone!) ……</a:t>
            </a:r>
            <a:endParaRPr lang="en-US" sz="4400" dirty="0" smtClean="0"/>
          </a:p>
          <a:p>
            <a:pPr lvl="1" eaLnBrk="0" hangingPunct="0"/>
            <a:r>
              <a:rPr lang="en-US" sz="3800" dirty="0" smtClean="0">
                <a:cs typeface="Arial" charset="0"/>
              </a:rPr>
              <a:t>Although this may seem contradictory, it’s </a:t>
            </a:r>
            <a:r>
              <a:rPr lang="en-US" sz="3800" dirty="0" smtClean="0">
                <a:cs typeface="Arial" charset="0"/>
              </a:rPr>
              <a:t>not</a:t>
            </a:r>
            <a:r>
              <a:rPr lang="en-US" sz="3800" dirty="0" smtClean="0">
                <a:cs typeface="Arial" charset="0"/>
              </a:rPr>
              <a:t>!</a:t>
            </a:r>
          </a:p>
          <a:p>
            <a:pPr lvl="1" eaLnBrk="0" hangingPunct="0"/>
            <a:r>
              <a:rPr lang="en-GB" sz="3800" dirty="0" smtClean="0">
                <a:cs typeface="Arial" charset="0"/>
              </a:rPr>
              <a:t>Planning is </a:t>
            </a:r>
            <a:r>
              <a:rPr lang="en-GB" sz="3800" dirty="0" smtClean="0">
                <a:cs typeface="Arial" charset="0"/>
              </a:rPr>
              <a:t>a</a:t>
            </a:r>
            <a:r>
              <a:rPr lang="en-GB" sz="3800" dirty="0" smtClean="0">
                <a:cs typeface="Arial" charset="0"/>
              </a:rPr>
              <a:t>n ongoing process and maintaining flexibility is important.</a:t>
            </a:r>
            <a:endParaRPr lang="en-US" sz="3800" dirty="0" smtClean="0"/>
          </a:p>
          <a:p>
            <a:endParaRPr lang="en-US" dirty="0" smtClean="0">
              <a:cs typeface="Arial" charset="0"/>
            </a:endParaRPr>
          </a:p>
          <a:p>
            <a:endParaRPr lang="en-US"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57</a:t>
            </a:fld>
            <a:endParaRPr lang="en-US" dirty="0"/>
          </a:p>
        </p:txBody>
      </p:sp>
      <p:sp>
        <p:nvSpPr>
          <p:cNvPr id="4" name="Title 3"/>
          <p:cNvSpPr>
            <a:spLocks noGrp="1"/>
          </p:cNvSpPr>
          <p:nvPr>
            <p:ph type="title"/>
          </p:nvPr>
        </p:nvSpPr>
        <p:spPr/>
        <p:txBody>
          <a:bodyPr>
            <a:noAutofit/>
          </a:bodyPr>
          <a:lstStyle/>
          <a:p>
            <a:r>
              <a:rPr lang="en-US" sz="3600" i="1" dirty="0" smtClean="0"/>
              <a:t>How Can Managers Plan Effectively in Dynamic </a:t>
            </a:r>
            <a:r>
              <a:rPr lang="en-US" sz="3600" i="1" dirty="0" smtClean="0"/>
              <a:t>Environments?</a:t>
            </a:r>
            <a:endParaRPr lang="en-US" sz="36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752600"/>
            <a:ext cx="8229600" cy="4724400"/>
          </a:xfrm>
        </p:spPr>
        <p:txBody>
          <a:bodyPr>
            <a:normAutofit fontScale="55000" lnSpcReduction="20000"/>
          </a:bodyPr>
          <a:lstStyle/>
          <a:p>
            <a:r>
              <a:rPr lang="en-US" sz="4700" dirty="0" smtClean="0"/>
              <a:t>Even though the environment is highly uncertain, </a:t>
            </a:r>
            <a:r>
              <a:rPr lang="en-US" sz="4700" dirty="0" smtClean="0"/>
              <a:t>it is </a:t>
            </a:r>
            <a:r>
              <a:rPr lang="en-US" sz="4700" dirty="0" smtClean="0"/>
              <a:t>critical to continue formal planning.  </a:t>
            </a:r>
            <a:endParaRPr lang="en-US" sz="4700" dirty="0" smtClean="0"/>
          </a:p>
          <a:p>
            <a:endParaRPr lang="en-GB" sz="2900" dirty="0" smtClean="0">
              <a:cs typeface="Arial" charset="0"/>
            </a:endParaRPr>
          </a:p>
          <a:p>
            <a:r>
              <a:rPr lang="en-GB" sz="4700" dirty="0" smtClean="0"/>
              <a:t>Managers ‘learn to plan’ and the quality of their planning improves the more they do </a:t>
            </a:r>
            <a:r>
              <a:rPr lang="en-GB" sz="4700" dirty="0" smtClean="0"/>
              <a:t>it.</a:t>
            </a:r>
          </a:p>
          <a:p>
            <a:pPr lvl="2"/>
            <a:r>
              <a:rPr lang="en-GB" sz="2500" dirty="0" smtClean="0"/>
              <a:t>(Brews </a:t>
            </a:r>
            <a:r>
              <a:rPr lang="en-GB" sz="2500" dirty="0" smtClean="0"/>
              <a:t>&amp; Hunt, 2009)</a:t>
            </a:r>
            <a:endParaRPr lang="en-US" sz="4400" dirty="0" smtClean="0"/>
          </a:p>
          <a:p>
            <a:endParaRPr lang="en-US" sz="2900" dirty="0" smtClean="0"/>
          </a:p>
          <a:p>
            <a:r>
              <a:rPr lang="en-US" sz="4700" dirty="0" smtClean="0"/>
              <a:t>Persistence in planning contributes to significant performance improvement.  </a:t>
            </a:r>
          </a:p>
          <a:p>
            <a:endParaRPr lang="en-US" sz="2200" dirty="0" smtClean="0">
              <a:cs typeface="Arial" charset="0"/>
            </a:endParaRPr>
          </a:p>
          <a:p>
            <a:r>
              <a:rPr lang="en-US" sz="4700" dirty="0" smtClean="0"/>
              <a:t>The plans serve as a road map although the destination may change,….</a:t>
            </a:r>
          </a:p>
          <a:p>
            <a:pPr lvl="1"/>
            <a:r>
              <a:rPr lang="en-US" sz="3800" dirty="0" smtClean="0">
                <a:cs typeface="Arial" charset="0"/>
              </a:rPr>
              <a:t>…. </a:t>
            </a:r>
            <a:r>
              <a:rPr lang="en-US" sz="4000" dirty="0" smtClean="0">
                <a:cs typeface="Arial" charset="0"/>
              </a:rPr>
              <a:t>And, ……they </a:t>
            </a:r>
            <a:r>
              <a:rPr lang="en-US" sz="4000" dirty="0" smtClean="0">
                <a:cs typeface="Arial" charset="0"/>
              </a:rPr>
              <a:t>should be ready to change directions if environmental conditions warrant.</a:t>
            </a:r>
          </a:p>
          <a:p>
            <a:endParaRPr lang="en-US" dirty="0" smtClean="0">
              <a:cs typeface="Arial" charset="0"/>
            </a:endParaRPr>
          </a:p>
          <a:p>
            <a:endParaRPr lang="en-US"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58</a:t>
            </a:fld>
            <a:endParaRPr lang="en-US" dirty="0"/>
          </a:p>
        </p:txBody>
      </p:sp>
      <p:sp>
        <p:nvSpPr>
          <p:cNvPr id="4" name="Title 3"/>
          <p:cNvSpPr>
            <a:spLocks noGrp="1"/>
          </p:cNvSpPr>
          <p:nvPr>
            <p:ph type="title"/>
          </p:nvPr>
        </p:nvSpPr>
        <p:spPr>
          <a:xfrm>
            <a:off x="457200" y="152400"/>
            <a:ext cx="6096000" cy="1143000"/>
          </a:xfrm>
        </p:spPr>
        <p:txBody>
          <a:bodyPr>
            <a:normAutofit fontScale="90000"/>
          </a:bodyPr>
          <a:lstStyle/>
          <a:p>
            <a:r>
              <a:rPr lang="en-US" sz="4000" i="1" dirty="0" smtClean="0"/>
              <a:t>How Can Managers Plan </a:t>
            </a:r>
            <a:r>
              <a:rPr lang="en-US" sz="3600" i="1" dirty="0" smtClean="0"/>
              <a:t>Effectively in Dynamic </a:t>
            </a:r>
            <a:r>
              <a:rPr lang="en-US" sz="3600" i="1" dirty="0" smtClean="0"/>
              <a:t>Environments?</a:t>
            </a:r>
            <a:endParaRPr lang="en-US" dirty="0"/>
          </a:p>
        </p:txBody>
      </p:sp>
      <p:pic>
        <p:nvPicPr>
          <p:cNvPr id="5" name="Picture 2" descr="http://www.performance-matters.ie/tl_files/Content%20Images/Lanp.jpg"/>
          <p:cNvPicPr>
            <a:picLocks noChangeAspect="1" noChangeArrowheads="1"/>
          </p:cNvPicPr>
          <p:nvPr/>
        </p:nvPicPr>
        <p:blipFill>
          <a:blip r:embed="rId2" cstate="print"/>
          <a:srcRect/>
          <a:stretch>
            <a:fillRect/>
          </a:stretch>
        </p:blipFill>
        <p:spPr bwMode="auto">
          <a:xfrm>
            <a:off x="6629400" y="1"/>
            <a:ext cx="2514600" cy="1447800"/>
          </a:xfrm>
          <a:prstGeom prst="rect">
            <a:avLst/>
          </a:prstGeom>
          <a:noFill/>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600200"/>
            <a:ext cx="8229600" cy="5105400"/>
          </a:xfrm>
        </p:spPr>
        <p:txBody>
          <a:bodyPr>
            <a:normAutofit fontScale="92500" lnSpcReduction="20000"/>
          </a:bodyPr>
          <a:lstStyle/>
          <a:p>
            <a:r>
              <a:rPr lang="en-GB" sz="2400" dirty="0" smtClean="0"/>
              <a:t>2002 - Wipro Limited was “an anonymous conglomerate selling cooking oils &amp; personal computers in India” (</a:t>
            </a:r>
            <a:r>
              <a:rPr lang="en-GB" sz="2400" dirty="0" err="1" smtClean="0"/>
              <a:t>Riberio</a:t>
            </a:r>
            <a:r>
              <a:rPr lang="en-GB" sz="2400" dirty="0" smtClean="0"/>
              <a:t>, 2009)</a:t>
            </a:r>
          </a:p>
          <a:p>
            <a:endParaRPr lang="en-GB" sz="1400" dirty="0" smtClean="0"/>
          </a:p>
          <a:p>
            <a:r>
              <a:rPr lang="en-GB" sz="2400" dirty="0" smtClean="0"/>
              <a:t>2012 it is a $7.5 billion a year global company with most business coming form IT services.</a:t>
            </a:r>
          </a:p>
          <a:p>
            <a:endParaRPr lang="en-GB" sz="1900" dirty="0" smtClean="0"/>
          </a:p>
          <a:p>
            <a:r>
              <a:rPr lang="en-GB" sz="2400" dirty="0" smtClean="0"/>
              <a:t>Now Wipro competes with  Accenture, Hewlett-Packard, IBM and big US accountancy firms</a:t>
            </a:r>
          </a:p>
          <a:p>
            <a:endParaRPr lang="en-GB" sz="1400" dirty="0" smtClean="0"/>
          </a:p>
          <a:p>
            <a:r>
              <a:rPr lang="en-GB" sz="2400" dirty="0" smtClean="0"/>
              <a:t>Wipro employees are knowledgeable &amp; skilled  - they also play an important role in the company’s planning</a:t>
            </a:r>
          </a:p>
          <a:p>
            <a:endParaRPr lang="en-GB" sz="1600" dirty="0" smtClean="0"/>
          </a:p>
          <a:p>
            <a:r>
              <a:rPr lang="en-GB" sz="2400" dirty="0" smtClean="0"/>
              <a:t>Because IT services industry is constantly changing – the employees are taught to analyse situations &amp; to define the scale and scope of a clients problem in order to offer the best solution.</a:t>
            </a:r>
          </a:p>
          <a:p>
            <a:endParaRPr lang="en-GB" sz="1500" dirty="0" smtClean="0"/>
          </a:p>
          <a:p>
            <a:r>
              <a:rPr lang="en-GB" sz="2400" dirty="0" smtClean="0"/>
              <a:t>The employees are on the front line with the customer – it is their responsibility to establish what to do and how to do it.</a:t>
            </a:r>
          </a:p>
          <a:p>
            <a:endParaRPr lang="en-GB" sz="2400" dirty="0" smtClean="0"/>
          </a:p>
          <a:p>
            <a:endParaRPr lang="en-US"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59</a:t>
            </a:fld>
            <a:endParaRPr lang="en-US" dirty="0"/>
          </a:p>
        </p:txBody>
      </p:sp>
      <p:sp>
        <p:nvSpPr>
          <p:cNvPr id="4" name="Title 3"/>
          <p:cNvSpPr>
            <a:spLocks noGrp="1"/>
          </p:cNvSpPr>
          <p:nvPr>
            <p:ph type="title"/>
          </p:nvPr>
        </p:nvSpPr>
        <p:spPr/>
        <p:txBody>
          <a:bodyPr>
            <a:noAutofit/>
          </a:bodyPr>
          <a:lstStyle/>
          <a:p>
            <a:r>
              <a:rPr lang="en-US" sz="3200" i="1" dirty="0" smtClean="0"/>
              <a:t>How Can Managers Plan Effectively in Dynamic Environments? </a:t>
            </a:r>
            <a:r>
              <a:rPr lang="en-US" sz="3600" i="1" dirty="0" smtClean="0"/>
              <a:t>– Example - Wipro</a:t>
            </a:r>
            <a:endParaRPr lang="en-US" sz="40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752600"/>
            <a:ext cx="8229600" cy="4876800"/>
          </a:xfrm>
        </p:spPr>
        <p:txBody>
          <a:bodyPr>
            <a:normAutofit fontScale="92500" lnSpcReduction="10000"/>
          </a:bodyPr>
          <a:lstStyle/>
          <a:p>
            <a:pPr marL="342900" lvl="1" indent="-342900" eaLnBrk="0" hangingPunct="0">
              <a:buClr>
                <a:schemeClr val="tx2"/>
              </a:buClr>
              <a:buSzPct val="70000"/>
            </a:pPr>
            <a:r>
              <a:rPr lang="en-US" dirty="0" smtClean="0">
                <a:cs typeface="Arial" charset="0"/>
              </a:rPr>
              <a:t>A manager’s analysis of the external environment may be improved </a:t>
            </a:r>
            <a:r>
              <a:rPr lang="en-US" dirty="0" smtClean="0">
                <a:cs typeface="Arial" charset="0"/>
              </a:rPr>
              <a:t>by ‘</a:t>
            </a:r>
            <a:r>
              <a:rPr lang="en-US" b="1" dirty="0" smtClean="0"/>
              <a:t>Environmental Scanning’.</a:t>
            </a:r>
          </a:p>
          <a:p>
            <a:pPr marL="342900" lvl="1" indent="-342900" eaLnBrk="0" hangingPunct="0">
              <a:buClr>
                <a:schemeClr val="tx2"/>
              </a:buClr>
              <a:buSzPct val="70000"/>
            </a:pPr>
            <a:endParaRPr lang="en-US" sz="1900" dirty="0" smtClean="0"/>
          </a:p>
          <a:p>
            <a:pPr marL="342900" lvl="1" indent="-342900" eaLnBrk="0" hangingPunct="0">
              <a:buClr>
                <a:schemeClr val="tx2"/>
              </a:buClr>
              <a:buSzPct val="70000"/>
            </a:pPr>
            <a:r>
              <a:rPr lang="en-US" b="1" dirty="0" smtClean="0"/>
              <a:t>Environmental Scanning </a:t>
            </a:r>
            <a:r>
              <a:rPr lang="en-US" b="1" dirty="0" smtClean="0"/>
              <a:t> </a:t>
            </a:r>
            <a:r>
              <a:rPr lang="en-US" dirty="0" smtClean="0"/>
              <a:t>- is the screening of </a:t>
            </a:r>
            <a:r>
              <a:rPr lang="en-US" dirty="0" smtClean="0"/>
              <a:t>information to detect emerging </a:t>
            </a:r>
            <a:r>
              <a:rPr lang="en-US" dirty="0" smtClean="0"/>
              <a:t>trends.</a:t>
            </a:r>
            <a:endParaRPr lang="en-US" dirty="0" smtClean="0"/>
          </a:p>
          <a:p>
            <a:pPr eaLnBrk="0" hangingPunct="0"/>
            <a:endParaRPr lang="en-GB" sz="2200" dirty="0" smtClean="0"/>
          </a:p>
          <a:p>
            <a:pPr eaLnBrk="0" hangingPunct="0"/>
            <a:r>
              <a:rPr lang="en-GB" sz="2300" dirty="0" smtClean="0"/>
              <a:t>CEO </a:t>
            </a:r>
            <a:r>
              <a:rPr lang="en-GB" sz="2300" dirty="0" smtClean="0"/>
              <a:t>of PepsiCo, </a:t>
            </a:r>
            <a:r>
              <a:rPr lang="en-GB" sz="2300" dirty="0" err="1" smtClean="0"/>
              <a:t>Indra</a:t>
            </a:r>
            <a:r>
              <a:rPr lang="en-GB" sz="2300" dirty="0" smtClean="0"/>
              <a:t> </a:t>
            </a:r>
            <a:r>
              <a:rPr lang="en-GB" sz="2300" dirty="0" err="1" smtClean="0"/>
              <a:t>Nooyi</a:t>
            </a:r>
            <a:r>
              <a:rPr lang="en-GB" sz="2300" dirty="0" smtClean="0"/>
              <a:t>, visited a Chinese family in Shanghai, four generations crammed it their apartment  - and asked them questions about China’s rapidly developing economy, their shopping habits, and how they feel about western brands.</a:t>
            </a:r>
          </a:p>
          <a:p>
            <a:pPr eaLnBrk="0" hangingPunct="0"/>
            <a:endParaRPr lang="en-GB" sz="1700" dirty="0" smtClean="0"/>
          </a:p>
          <a:p>
            <a:pPr eaLnBrk="0" hangingPunct="0"/>
            <a:r>
              <a:rPr lang="en-GB" sz="2300" dirty="0" smtClean="0"/>
              <a:t>This </a:t>
            </a:r>
            <a:r>
              <a:rPr lang="en-GB" sz="2300" dirty="0" smtClean="0"/>
              <a:t>‘environmental scanning’ – up close and personal will help establish PepsiCo’s future goals and plans.</a:t>
            </a:r>
          </a:p>
          <a:p>
            <a:pPr lvl="1" eaLnBrk="0" hangingPunct="0"/>
            <a:r>
              <a:rPr lang="en-GB" sz="1700" dirty="0" smtClean="0"/>
              <a:t>(</a:t>
            </a:r>
            <a:r>
              <a:rPr lang="en-GB" sz="1700" dirty="0" err="1" smtClean="0"/>
              <a:t>Fairclough</a:t>
            </a:r>
            <a:r>
              <a:rPr lang="en-GB" sz="1700" dirty="0" smtClean="0"/>
              <a:t> and </a:t>
            </a:r>
            <a:r>
              <a:rPr lang="en-GB" sz="1700" dirty="0" err="1" smtClean="0"/>
              <a:t>Bauerlein</a:t>
            </a:r>
            <a:r>
              <a:rPr lang="en-GB" sz="1700" dirty="0" smtClean="0"/>
              <a:t>, 2009</a:t>
            </a:r>
            <a:r>
              <a:rPr lang="en-GB" sz="1700" dirty="0" smtClean="0"/>
              <a:t>)</a:t>
            </a:r>
            <a:endParaRPr lang="en-US" sz="1900" dirty="0" smtClean="0"/>
          </a:p>
        </p:txBody>
      </p:sp>
      <p:sp>
        <p:nvSpPr>
          <p:cNvPr id="3" name="Slide Number Placeholder 2"/>
          <p:cNvSpPr>
            <a:spLocks noGrp="1"/>
          </p:cNvSpPr>
          <p:nvPr>
            <p:ph type="sldNum" sz="quarter" idx="12"/>
          </p:nvPr>
        </p:nvSpPr>
        <p:spPr/>
        <p:txBody>
          <a:bodyPr/>
          <a:lstStyle/>
          <a:p>
            <a:fld id="{B6F15528-21DE-4FAA-801E-634DDDAF4B2B}" type="slidenum">
              <a:rPr lang="en-US" smtClean="0"/>
              <a:pPr/>
              <a:t>60</a:t>
            </a:fld>
            <a:endParaRPr lang="en-US" dirty="0"/>
          </a:p>
        </p:txBody>
      </p:sp>
      <p:sp>
        <p:nvSpPr>
          <p:cNvPr id="4" name="Title 3"/>
          <p:cNvSpPr>
            <a:spLocks noGrp="1"/>
          </p:cNvSpPr>
          <p:nvPr>
            <p:ph type="title"/>
          </p:nvPr>
        </p:nvSpPr>
        <p:spPr>
          <a:xfrm>
            <a:off x="457200" y="152400"/>
            <a:ext cx="6400800" cy="1143000"/>
          </a:xfrm>
        </p:spPr>
        <p:txBody>
          <a:bodyPr>
            <a:normAutofit fontScale="90000"/>
          </a:bodyPr>
          <a:lstStyle/>
          <a:p>
            <a:r>
              <a:rPr lang="en-US" i="1" dirty="0" smtClean="0"/>
              <a:t>How Can Managers Use Environmental Scanning</a:t>
            </a:r>
            <a:r>
              <a:rPr lang="en-US" dirty="0" smtClean="0"/>
              <a:t>?</a:t>
            </a:r>
            <a:endParaRPr lang="en-US" dirty="0"/>
          </a:p>
        </p:txBody>
      </p:sp>
      <p:pic>
        <p:nvPicPr>
          <p:cNvPr id="1026" name="Picture 2" descr="http://www.eupa.com.au/wp-content/uploads/Forward-looking-advice.jpg"/>
          <p:cNvPicPr>
            <a:picLocks noChangeAspect="1" noChangeArrowheads="1"/>
          </p:cNvPicPr>
          <p:nvPr/>
        </p:nvPicPr>
        <p:blipFill>
          <a:blip r:embed="rId2" cstate="print"/>
          <a:srcRect/>
          <a:stretch>
            <a:fillRect/>
          </a:stretch>
        </p:blipFill>
        <p:spPr bwMode="auto">
          <a:xfrm>
            <a:off x="7010401" y="1"/>
            <a:ext cx="2133600" cy="1371600"/>
          </a:xfrm>
          <a:prstGeom prst="rect">
            <a:avLst/>
          </a:prstGeom>
          <a:noFill/>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US"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61</a:t>
            </a:fld>
            <a:endParaRPr lang="en-US" dirty="0"/>
          </a:p>
        </p:txBody>
      </p:sp>
      <p:sp>
        <p:nvSpPr>
          <p:cNvPr id="4" name="Title 3"/>
          <p:cNvSpPr>
            <a:spLocks noGrp="1"/>
          </p:cNvSpPr>
          <p:nvPr>
            <p:ph type="title"/>
          </p:nvPr>
        </p:nvSpPr>
        <p:spPr/>
        <p:txBody>
          <a:bodyPr/>
          <a:lstStyle/>
          <a:p>
            <a:endParaRPr lang="en-US"/>
          </a:p>
        </p:txBody>
      </p:sp>
      <p:pic>
        <p:nvPicPr>
          <p:cNvPr id="84994" name="Picture 2" descr="http://4.bp.blogspot.com/-AcJmj6RdqsA/UbiAEeORVLI/AAAAAAAAAOU/47L9MN-nj84/s1600/eScanning%2520cloud.jpg"/>
          <p:cNvPicPr>
            <a:picLocks noChangeAspect="1" noChangeArrowheads="1"/>
          </p:cNvPicPr>
          <p:nvPr/>
        </p:nvPicPr>
        <p:blipFill>
          <a:blip r:embed="rId2" cstate="print"/>
          <a:srcRect/>
          <a:stretch>
            <a:fillRect/>
          </a:stretch>
        </p:blipFill>
        <p:spPr bwMode="auto">
          <a:xfrm>
            <a:off x="685800" y="152400"/>
            <a:ext cx="7315200" cy="2514600"/>
          </a:xfrm>
          <a:prstGeom prst="rect">
            <a:avLst/>
          </a:prstGeom>
          <a:noFill/>
        </p:spPr>
      </p:pic>
      <p:pic>
        <p:nvPicPr>
          <p:cNvPr id="84996" name="Picture 4" descr="http://cthatche.files.wordpress.com/2013/08/privacy-cartoon.jpg"/>
          <p:cNvPicPr>
            <a:picLocks noChangeAspect="1" noChangeArrowheads="1"/>
          </p:cNvPicPr>
          <p:nvPr/>
        </p:nvPicPr>
        <p:blipFill>
          <a:blip r:embed="rId3" cstate="print"/>
          <a:srcRect/>
          <a:stretch>
            <a:fillRect/>
          </a:stretch>
        </p:blipFill>
        <p:spPr bwMode="auto">
          <a:xfrm>
            <a:off x="1143000" y="2895600"/>
            <a:ext cx="6553200" cy="3420374"/>
          </a:xfrm>
          <a:prstGeom prst="rect">
            <a:avLst/>
          </a:prstGeom>
          <a:noFill/>
        </p:spPr>
      </p:pic>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http://smallbiztrends.com/wp-content/uploads/2009/11/iStock_000006450589XSmall.jpg"/>
          <p:cNvPicPr>
            <a:picLocks noChangeAspect="1" noChangeArrowheads="1"/>
          </p:cNvPicPr>
          <p:nvPr/>
        </p:nvPicPr>
        <p:blipFill>
          <a:blip r:embed="rId2" cstate="print"/>
          <a:srcRect/>
          <a:stretch>
            <a:fillRect/>
          </a:stretch>
        </p:blipFill>
        <p:spPr bwMode="auto">
          <a:xfrm>
            <a:off x="5943600" y="0"/>
            <a:ext cx="3200400" cy="1752600"/>
          </a:xfrm>
          <a:prstGeom prst="rect">
            <a:avLst/>
          </a:prstGeom>
          <a:noFill/>
        </p:spPr>
      </p:pic>
      <p:sp>
        <p:nvSpPr>
          <p:cNvPr id="2" name="Content Placeholder 1"/>
          <p:cNvSpPr>
            <a:spLocks noGrp="1"/>
          </p:cNvSpPr>
          <p:nvPr>
            <p:ph idx="1"/>
          </p:nvPr>
        </p:nvSpPr>
        <p:spPr>
          <a:xfrm>
            <a:off x="457200" y="1981200"/>
            <a:ext cx="8229600" cy="4876800"/>
          </a:xfrm>
        </p:spPr>
        <p:txBody>
          <a:bodyPr>
            <a:normAutofit fontScale="92500" lnSpcReduction="10000"/>
          </a:bodyPr>
          <a:lstStyle/>
          <a:p>
            <a:pPr eaLnBrk="0" hangingPunct="0">
              <a:spcBef>
                <a:spcPts val="0"/>
              </a:spcBef>
            </a:pPr>
            <a:r>
              <a:rPr lang="en-US" sz="2800" b="1" dirty="0" smtClean="0"/>
              <a:t>Competitor </a:t>
            </a:r>
            <a:r>
              <a:rPr lang="en-US" sz="2800" b="1" dirty="0" smtClean="0"/>
              <a:t>Intelligence </a:t>
            </a:r>
            <a:r>
              <a:rPr lang="en-US" sz="2800" dirty="0" smtClean="0"/>
              <a:t>– is the process of gathering information about competitors that allows managers to anticipate competitors’ actions rather than merely react to </a:t>
            </a:r>
            <a:r>
              <a:rPr lang="en-US" sz="2800" dirty="0" smtClean="0"/>
              <a:t>them.</a:t>
            </a:r>
            <a:endParaRPr lang="en-US" sz="2800" dirty="0" smtClean="0"/>
          </a:p>
          <a:p>
            <a:pPr lvl="1">
              <a:spcBef>
                <a:spcPts val="0"/>
              </a:spcBef>
            </a:pPr>
            <a:endParaRPr lang="en-US" sz="1900" dirty="0" smtClean="0">
              <a:cs typeface="Arial" charset="0"/>
            </a:endParaRPr>
          </a:p>
          <a:p>
            <a:pPr>
              <a:spcBef>
                <a:spcPts val="0"/>
              </a:spcBef>
            </a:pPr>
            <a:r>
              <a:rPr lang="en-US" sz="2800" dirty="0" smtClean="0">
                <a:cs typeface="Arial" charset="0"/>
              </a:rPr>
              <a:t>It </a:t>
            </a:r>
            <a:r>
              <a:rPr lang="en-US" sz="2800" dirty="0" smtClean="0">
                <a:cs typeface="Arial" charset="0"/>
              </a:rPr>
              <a:t>seeks basic information about </a:t>
            </a:r>
            <a:r>
              <a:rPr lang="en-US" sz="2800" dirty="0" smtClean="0">
                <a:cs typeface="Arial" charset="0"/>
              </a:rPr>
              <a:t>competitors</a:t>
            </a:r>
            <a:r>
              <a:rPr lang="en-US" sz="2800" dirty="0" smtClean="0">
                <a:cs typeface="Arial" charset="0"/>
              </a:rPr>
              <a:t>,</a:t>
            </a:r>
          </a:p>
          <a:p>
            <a:pPr lvl="1">
              <a:spcBef>
                <a:spcPts val="0"/>
              </a:spcBef>
            </a:pPr>
            <a:r>
              <a:rPr lang="en-US" sz="2600" dirty="0" smtClean="0">
                <a:cs typeface="Arial" charset="0"/>
              </a:rPr>
              <a:t>Who are they? What are they doing? </a:t>
            </a:r>
            <a:r>
              <a:rPr lang="en-US" sz="2600" dirty="0" smtClean="0">
                <a:cs typeface="Arial" charset="0"/>
              </a:rPr>
              <a:t>How </a:t>
            </a:r>
            <a:r>
              <a:rPr lang="en-US" sz="2600" dirty="0" smtClean="0">
                <a:cs typeface="Arial" charset="0"/>
              </a:rPr>
              <a:t>will what they’re doing affect us</a:t>
            </a:r>
            <a:r>
              <a:rPr lang="en-US" sz="2600" dirty="0" smtClean="0">
                <a:cs typeface="Arial" charset="0"/>
              </a:rPr>
              <a:t>?</a:t>
            </a:r>
          </a:p>
          <a:p>
            <a:pPr>
              <a:spcBef>
                <a:spcPts val="0"/>
              </a:spcBef>
            </a:pPr>
            <a:endParaRPr lang="en-GB" sz="2800" dirty="0" err="1" smtClean="0">
              <a:cs typeface="Arial" charset="0"/>
            </a:endParaRPr>
          </a:p>
          <a:p>
            <a:pPr>
              <a:spcBef>
                <a:spcPts val="0"/>
              </a:spcBef>
            </a:pPr>
            <a:r>
              <a:rPr lang="en-GB" sz="2800" dirty="0" smtClean="0">
                <a:cs typeface="Arial" charset="0"/>
              </a:rPr>
              <a:t>Competitor Intelligence – is not corporate espionage! </a:t>
            </a:r>
          </a:p>
          <a:p>
            <a:pPr lvl="1">
              <a:spcBef>
                <a:spcPts val="0"/>
              </a:spcBef>
            </a:pPr>
            <a:r>
              <a:rPr lang="en-GB" sz="2600" dirty="0" smtClean="0">
                <a:cs typeface="Arial" charset="0"/>
              </a:rPr>
              <a:t>It is suggested that much of the competitor information that managers </a:t>
            </a:r>
            <a:r>
              <a:rPr lang="en-GB" sz="2600" dirty="0" smtClean="0">
                <a:cs typeface="Arial" charset="0"/>
              </a:rPr>
              <a:t>need, </a:t>
            </a:r>
            <a:r>
              <a:rPr lang="en-GB" sz="2600" dirty="0" smtClean="0">
                <a:cs typeface="Arial" charset="0"/>
              </a:rPr>
              <a:t>to make crucial strategic </a:t>
            </a:r>
            <a:r>
              <a:rPr lang="en-GB" sz="2600" dirty="0" smtClean="0">
                <a:cs typeface="Arial" charset="0"/>
              </a:rPr>
              <a:t>decisions, </a:t>
            </a:r>
            <a:r>
              <a:rPr lang="en-GB" sz="2600" dirty="0" smtClean="0">
                <a:cs typeface="Arial" charset="0"/>
              </a:rPr>
              <a:t>is available to the </a:t>
            </a:r>
            <a:r>
              <a:rPr lang="en-GB" sz="2600" dirty="0" smtClean="0">
                <a:cs typeface="Arial" charset="0"/>
              </a:rPr>
              <a:t>public.</a:t>
            </a:r>
            <a:endParaRPr lang="en-US" sz="4800"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62</a:t>
            </a:fld>
            <a:endParaRPr lang="en-US" dirty="0"/>
          </a:p>
        </p:txBody>
      </p:sp>
      <p:sp>
        <p:nvSpPr>
          <p:cNvPr id="4" name="Title 3"/>
          <p:cNvSpPr>
            <a:spLocks noGrp="1"/>
          </p:cNvSpPr>
          <p:nvPr>
            <p:ph type="title"/>
          </p:nvPr>
        </p:nvSpPr>
        <p:spPr>
          <a:xfrm>
            <a:off x="457200" y="152400"/>
            <a:ext cx="5715000" cy="1143000"/>
          </a:xfrm>
        </p:spPr>
        <p:txBody>
          <a:bodyPr>
            <a:noAutofit/>
          </a:bodyPr>
          <a:lstStyle/>
          <a:p>
            <a:r>
              <a:rPr lang="en-US" sz="4000" i="1" dirty="0" smtClean="0"/>
              <a:t>How Can Managers Use Environmental Scanning</a:t>
            </a:r>
            <a:r>
              <a:rPr lang="en-US" sz="4000" dirty="0" smtClean="0"/>
              <a:t>?</a:t>
            </a:r>
            <a:endParaRPr lang="en-US" sz="4000" dirty="0"/>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524000"/>
            <a:ext cx="8229600" cy="5105400"/>
          </a:xfrm>
        </p:spPr>
        <p:txBody>
          <a:bodyPr>
            <a:noAutofit/>
          </a:bodyPr>
          <a:lstStyle/>
          <a:p>
            <a:pPr marL="342900" lvl="1" indent="-342900">
              <a:spcBef>
                <a:spcPts val="0"/>
              </a:spcBef>
              <a:buClr>
                <a:schemeClr val="tx2"/>
              </a:buClr>
              <a:buSzPct val="70000"/>
            </a:pPr>
            <a:r>
              <a:rPr lang="en-GB" sz="2400" dirty="0" smtClean="0">
                <a:cs typeface="Arial" charset="0"/>
              </a:rPr>
              <a:t>Sources of Competitor Intelligence information include;</a:t>
            </a:r>
          </a:p>
          <a:p>
            <a:pPr marL="742950" lvl="2" indent="-342900">
              <a:spcBef>
                <a:spcPts val="0"/>
              </a:spcBef>
              <a:buClr>
                <a:schemeClr val="tx2"/>
              </a:buClr>
              <a:buSzPct val="70000"/>
            </a:pPr>
            <a:r>
              <a:rPr lang="en-GB" sz="2000" dirty="0" smtClean="0">
                <a:cs typeface="Arial" charset="0"/>
              </a:rPr>
              <a:t>promotional </a:t>
            </a:r>
            <a:r>
              <a:rPr lang="en-GB" sz="2000" dirty="0" smtClean="0">
                <a:cs typeface="Arial" charset="0"/>
              </a:rPr>
              <a:t>material, press releases, </a:t>
            </a:r>
            <a:endParaRPr lang="en-GB" sz="2000" dirty="0" smtClean="0">
              <a:cs typeface="Arial" charset="0"/>
            </a:endParaRPr>
          </a:p>
          <a:p>
            <a:pPr marL="742950" lvl="2" indent="-342900">
              <a:spcBef>
                <a:spcPts val="0"/>
              </a:spcBef>
              <a:buClr>
                <a:schemeClr val="tx2"/>
              </a:buClr>
              <a:buSzPct val="70000"/>
            </a:pPr>
            <a:r>
              <a:rPr lang="en-GB" sz="2000" dirty="0" smtClean="0">
                <a:cs typeface="Arial" charset="0"/>
              </a:rPr>
              <a:t>reports </a:t>
            </a:r>
            <a:r>
              <a:rPr lang="en-GB" sz="2000" dirty="0" smtClean="0">
                <a:cs typeface="Arial" charset="0"/>
              </a:rPr>
              <a:t>filed with government bodies, </a:t>
            </a:r>
            <a:endParaRPr lang="en-GB" sz="2000" dirty="0" smtClean="0">
              <a:cs typeface="Arial" charset="0"/>
            </a:endParaRPr>
          </a:p>
          <a:p>
            <a:pPr marL="742950" lvl="2" indent="-342900">
              <a:spcBef>
                <a:spcPts val="0"/>
              </a:spcBef>
              <a:buClr>
                <a:schemeClr val="tx2"/>
              </a:buClr>
              <a:buSzPct val="70000"/>
            </a:pPr>
            <a:r>
              <a:rPr lang="en-GB" sz="2000" dirty="0" smtClean="0">
                <a:cs typeface="Arial" charset="0"/>
              </a:rPr>
              <a:t>recruitment </a:t>
            </a:r>
            <a:r>
              <a:rPr lang="en-GB" sz="2000" dirty="0" smtClean="0">
                <a:cs typeface="Arial" charset="0"/>
              </a:rPr>
              <a:t>ads, newspaper reports </a:t>
            </a:r>
            <a:r>
              <a:rPr lang="en-GB" sz="2000" dirty="0" smtClean="0">
                <a:cs typeface="Arial" charset="0"/>
              </a:rPr>
              <a:t>etc.</a:t>
            </a:r>
          </a:p>
          <a:p>
            <a:pPr marL="742950" lvl="2" indent="-342900">
              <a:spcBef>
                <a:spcPts val="0"/>
              </a:spcBef>
              <a:buClr>
                <a:schemeClr val="tx2"/>
              </a:buClr>
              <a:buSzPct val="70000"/>
            </a:pPr>
            <a:r>
              <a:rPr lang="en-US" sz="2000" dirty="0" smtClean="0"/>
              <a:t>Purchasing </a:t>
            </a:r>
            <a:r>
              <a:rPr lang="en-US" sz="2000" dirty="0" smtClean="0"/>
              <a:t>access to </a:t>
            </a:r>
            <a:r>
              <a:rPr lang="en-US" sz="2000" dirty="0" smtClean="0"/>
              <a:t>databases,</a:t>
            </a:r>
          </a:p>
          <a:p>
            <a:pPr marL="742950" lvl="2" indent="-342900">
              <a:spcBef>
                <a:spcPts val="0"/>
              </a:spcBef>
              <a:buClr>
                <a:schemeClr val="tx2"/>
              </a:buClr>
              <a:buSzPct val="70000"/>
            </a:pPr>
            <a:r>
              <a:rPr lang="en-US" sz="2000" dirty="0" smtClean="0"/>
              <a:t>as </a:t>
            </a:r>
            <a:r>
              <a:rPr lang="en-US" sz="2000" dirty="0" smtClean="0"/>
              <a:t>well as searches on the internet can provide key information</a:t>
            </a:r>
            <a:r>
              <a:rPr lang="en-US" sz="2000" dirty="0" smtClean="0"/>
              <a:t>.,</a:t>
            </a:r>
          </a:p>
          <a:p>
            <a:pPr marL="742950" lvl="2" indent="-342900">
              <a:spcBef>
                <a:spcPts val="0"/>
              </a:spcBef>
              <a:buClr>
                <a:schemeClr val="tx2"/>
              </a:buClr>
              <a:buSzPct val="70000"/>
            </a:pPr>
            <a:r>
              <a:rPr lang="en-US" sz="2000" dirty="0" smtClean="0"/>
              <a:t>Global </a:t>
            </a:r>
            <a:r>
              <a:rPr lang="en-US" sz="2000" dirty="0" smtClean="0"/>
              <a:t>information can be garnered through subscriptions to news services.</a:t>
            </a:r>
          </a:p>
          <a:p>
            <a:pPr hangingPunct="0"/>
            <a:r>
              <a:rPr lang="en-US" sz="2400" dirty="0" smtClean="0"/>
              <a:t>Managers </a:t>
            </a:r>
            <a:r>
              <a:rPr lang="en-US" sz="2400" dirty="0" smtClean="0"/>
              <a:t>should ensure that information gathering is legal and ethical.  </a:t>
            </a:r>
            <a:endParaRPr lang="en-US" sz="2400" dirty="0" smtClean="0"/>
          </a:p>
          <a:p>
            <a:pPr lvl="1" hangingPunct="0"/>
            <a:r>
              <a:rPr lang="en-US" sz="2000" dirty="0" smtClean="0"/>
              <a:t>The </a:t>
            </a:r>
            <a:r>
              <a:rPr lang="en-US" sz="2000" dirty="0" smtClean="0"/>
              <a:t>theft of proprietary materials or trade secrets is illegal, and delineated by the Economic Espionage Act.  </a:t>
            </a:r>
          </a:p>
          <a:p>
            <a:pPr>
              <a:spcBef>
                <a:spcPts val="0"/>
              </a:spcBef>
            </a:pPr>
            <a:r>
              <a:rPr lang="en-GB" sz="1800" dirty="0" smtClean="0"/>
              <a:t>A manager at a competitive intelligence firm claims that 99.9% of intelligence gathering is legal – some companies will go to any measure to get information – perhaps in unethical means (and occasionally illegal means) to get competitor intelligence. </a:t>
            </a:r>
            <a:r>
              <a:rPr lang="en-GB" sz="1400" dirty="0" smtClean="0"/>
              <a:t>(Bergsman, 1996)</a:t>
            </a:r>
            <a:endParaRPr lang="en-US" sz="1800"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63</a:t>
            </a:fld>
            <a:endParaRPr lang="en-US" dirty="0"/>
          </a:p>
        </p:txBody>
      </p:sp>
      <p:sp>
        <p:nvSpPr>
          <p:cNvPr id="4" name="Title 3"/>
          <p:cNvSpPr>
            <a:spLocks noGrp="1"/>
          </p:cNvSpPr>
          <p:nvPr>
            <p:ph type="title"/>
          </p:nvPr>
        </p:nvSpPr>
        <p:spPr/>
        <p:txBody>
          <a:bodyPr>
            <a:noAutofit/>
          </a:bodyPr>
          <a:lstStyle/>
          <a:p>
            <a:r>
              <a:rPr lang="en-US" sz="4000" i="1" dirty="0" smtClean="0"/>
              <a:t>How Can Managers Use Environmental Scanning</a:t>
            </a:r>
            <a:r>
              <a:rPr lang="en-US" sz="4000" dirty="0" smtClean="0"/>
              <a:t>?</a:t>
            </a:r>
            <a:endParaRPr lang="en-US" sz="40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US"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64</a:t>
            </a:fld>
            <a:endParaRPr lang="en-US" dirty="0"/>
          </a:p>
        </p:txBody>
      </p:sp>
      <p:sp>
        <p:nvSpPr>
          <p:cNvPr id="4" name="Title 3"/>
          <p:cNvSpPr>
            <a:spLocks noGrp="1"/>
          </p:cNvSpPr>
          <p:nvPr>
            <p:ph type="title"/>
          </p:nvPr>
        </p:nvSpPr>
        <p:spPr/>
        <p:txBody>
          <a:bodyPr/>
          <a:lstStyle/>
          <a:p>
            <a:endParaRPr lang="en-US"/>
          </a:p>
        </p:txBody>
      </p:sp>
      <p:pic>
        <p:nvPicPr>
          <p:cNvPr id="5" name="Picture 2" descr="http://www.cartoonstock.com/newscartoons/cartoonists/bve/lowres/business-commerce-cia-business_competitor-corporate_world-corporate_espionage-spy-bven219l.jpg"/>
          <p:cNvPicPr>
            <a:picLocks noChangeAspect="1" noChangeArrowheads="1"/>
          </p:cNvPicPr>
          <p:nvPr/>
        </p:nvPicPr>
        <p:blipFill>
          <a:blip r:embed="rId2" cstate="print"/>
          <a:srcRect/>
          <a:stretch>
            <a:fillRect/>
          </a:stretch>
        </p:blipFill>
        <p:spPr bwMode="auto">
          <a:xfrm>
            <a:off x="1143000" y="533400"/>
            <a:ext cx="6705600" cy="5334001"/>
          </a:xfrm>
          <a:prstGeom prst="rect">
            <a:avLst/>
          </a:prstGeom>
          <a:noFill/>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US"/>
          </a:p>
        </p:txBody>
      </p:sp>
      <p:sp>
        <p:nvSpPr>
          <p:cNvPr id="3" name="Slide Number Placeholder 2"/>
          <p:cNvSpPr>
            <a:spLocks noGrp="1"/>
          </p:cNvSpPr>
          <p:nvPr>
            <p:ph type="sldNum" sz="quarter" idx="12"/>
          </p:nvPr>
        </p:nvSpPr>
        <p:spPr/>
        <p:txBody>
          <a:bodyPr/>
          <a:lstStyle/>
          <a:p>
            <a:fld id="{B6F15528-21DE-4FAA-801E-634DDDAF4B2B}" type="slidenum">
              <a:rPr lang="en-US" smtClean="0"/>
              <a:pPr/>
              <a:t>65</a:t>
            </a:fld>
            <a:endParaRPr lang="en-US" dirty="0"/>
          </a:p>
        </p:txBody>
      </p:sp>
      <p:sp>
        <p:nvSpPr>
          <p:cNvPr id="4" name="Title 3"/>
          <p:cNvSpPr>
            <a:spLocks noGrp="1"/>
          </p:cNvSpPr>
          <p:nvPr>
            <p:ph type="title"/>
          </p:nvPr>
        </p:nvSpPr>
        <p:spPr/>
        <p:txBody>
          <a:bodyPr/>
          <a:lstStyle/>
          <a:p>
            <a:endParaRPr lang="en-US"/>
          </a:p>
        </p:txBody>
      </p:sp>
      <p:pic>
        <p:nvPicPr>
          <p:cNvPr id="86018" name="Picture 2" descr="http://media.cagle.com/91/2013/10/29/139446_600.jpg"/>
          <p:cNvPicPr>
            <a:picLocks noChangeAspect="1" noChangeArrowheads="1"/>
          </p:cNvPicPr>
          <p:nvPr/>
        </p:nvPicPr>
        <p:blipFill>
          <a:blip r:embed="rId2" cstate="print"/>
          <a:srcRect/>
          <a:stretch>
            <a:fillRect/>
          </a:stretch>
        </p:blipFill>
        <p:spPr bwMode="auto">
          <a:xfrm>
            <a:off x="914400" y="838200"/>
            <a:ext cx="7315200" cy="5410201"/>
          </a:xfrm>
          <a:prstGeom prst="rect">
            <a:avLst/>
          </a:prstGeom>
          <a:noFill/>
        </p:spPr>
      </p:pic>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99616"/>
            <a:ext cx="8229600" cy="5053584"/>
          </a:xfrm>
        </p:spPr>
        <p:txBody>
          <a:bodyPr>
            <a:normAutofit/>
          </a:bodyPr>
          <a:lstStyle/>
          <a:p>
            <a:r>
              <a:rPr lang="en-GB" sz="2000" dirty="0" smtClean="0"/>
              <a:t>American Management Association (2010), </a:t>
            </a:r>
            <a:r>
              <a:rPr lang="en-GB" sz="2000" i="1" dirty="0" smtClean="0"/>
              <a:t>“ Mercer Study Shows Workforce Priorities for 2010</a:t>
            </a:r>
            <a:r>
              <a:rPr lang="en-GB" sz="2000" dirty="0" smtClean="0"/>
              <a:t>”, www.amanet.org October 21, 2009</a:t>
            </a:r>
          </a:p>
          <a:p>
            <a:endParaRPr lang="en-GB" sz="2000" dirty="0" smtClean="0"/>
          </a:p>
          <a:p>
            <a:r>
              <a:rPr lang="en-GB" sz="2000" dirty="0" smtClean="0"/>
              <a:t>Bergsman, S.  (1996), “Corporate Spying Goes Mainstream”, CFO, December </a:t>
            </a:r>
          </a:p>
          <a:p>
            <a:endParaRPr lang="en-GB" sz="2000" dirty="0" smtClean="0"/>
          </a:p>
          <a:p>
            <a:r>
              <a:rPr lang="en-GB" sz="2000" dirty="0" smtClean="0"/>
              <a:t>Bresser, R.K. and Bishop, R.C. (1983), “Dysfunctional Effects of Formal Planning: Two Theoretical Explanations” </a:t>
            </a:r>
            <a:r>
              <a:rPr lang="en-GB" sz="2000" i="1" dirty="0" smtClean="0"/>
              <a:t>Academy of Management Review</a:t>
            </a:r>
            <a:r>
              <a:rPr lang="en-GB" sz="2000" dirty="0" smtClean="0"/>
              <a:t>, October pp 588 - 599</a:t>
            </a:r>
            <a:endParaRPr lang="en-GB" sz="2000" dirty="0"/>
          </a:p>
          <a:p>
            <a:endParaRPr lang="en-GB" sz="2000" dirty="0" smtClean="0"/>
          </a:p>
          <a:p>
            <a:r>
              <a:rPr lang="en-GB" sz="2000" dirty="0" smtClean="0"/>
              <a:t>Clifford, S. and Creswell, J, (2009), “At Bloomberg, Modest Strategy to Rule the World”, </a:t>
            </a:r>
            <a:r>
              <a:rPr lang="en-GB" sz="2000" i="1" dirty="0" smtClean="0"/>
              <a:t>New York Times online</a:t>
            </a:r>
            <a:r>
              <a:rPr lang="en-GB" sz="2000" dirty="0" smtClean="0"/>
              <a:t>, November 15., 2009</a:t>
            </a:r>
          </a:p>
          <a:p>
            <a:endParaRPr lang="en-GB" sz="2000" dirty="0" smtClean="0"/>
          </a:p>
          <a:p>
            <a:r>
              <a:rPr lang="en-GB" sz="2000" dirty="0" err="1" smtClean="0"/>
              <a:t>Drucker</a:t>
            </a:r>
            <a:r>
              <a:rPr lang="en-GB" sz="2000" dirty="0" smtClean="0"/>
              <a:t>, P.  (1996) </a:t>
            </a:r>
            <a:r>
              <a:rPr lang="en-GB" sz="2000" i="1" dirty="0" smtClean="0"/>
              <a:t>The Executive in Action</a:t>
            </a:r>
            <a:r>
              <a:rPr lang="en-GB" sz="2000" dirty="0" smtClean="0"/>
              <a:t>, Harper Collins</a:t>
            </a:r>
          </a:p>
          <a:p>
            <a:endParaRPr lang="en-GB" sz="2000" dirty="0" smtClean="0"/>
          </a:p>
        </p:txBody>
      </p:sp>
      <p:sp>
        <p:nvSpPr>
          <p:cNvPr id="2" name="Title 1"/>
          <p:cNvSpPr>
            <a:spLocks noGrp="1"/>
          </p:cNvSpPr>
          <p:nvPr>
            <p:ph type="title"/>
          </p:nvPr>
        </p:nvSpPr>
        <p:spPr/>
        <p:txBody>
          <a:bodyPr/>
          <a:lstStyle/>
          <a:p>
            <a:r>
              <a:rPr lang="en-GB" dirty="0" smtClean="0"/>
              <a:t>Reference List </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66</a:t>
            </a:fld>
            <a:endParaRPr lang="en-US" dirty="0"/>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62500" lnSpcReduction="20000"/>
          </a:bodyPr>
          <a:lstStyle/>
          <a:p>
            <a:r>
              <a:rPr lang="en-GB" dirty="0" err="1" smtClean="0"/>
              <a:t>Faorclough</a:t>
            </a:r>
            <a:r>
              <a:rPr lang="en-GB" dirty="0" smtClean="0"/>
              <a:t>, G. and </a:t>
            </a:r>
            <a:r>
              <a:rPr lang="en-GB" dirty="0" err="1" smtClean="0"/>
              <a:t>Bauerlien</a:t>
            </a:r>
            <a:r>
              <a:rPr lang="en-GB" dirty="0" smtClean="0"/>
              <a:t>, V,  (2009), “PepsiCo CEO Tours China to Get a Feel for Market”, </a:t>
            </a:r>
            <a:r>
              <a:rPr lang="en-GB" i="1" dirty="0" smtClean="0"/>
              <a:t>Wall Street Journal,</a:t>
            </a:r>
            <a:r>
              <a:rPr lang="en-GB" dirty="0" smtClean="0"/>
              <a:t>  July</a:t>
            </a:r>
          </a:p>
          <a:p>
            <a:endParaRPr lang="en-GB" dirty="0" smtClean="0"/>
          </a:p>
          <a:p>
            <a:r>
              <a:rPr lang="en-GB" dirty="0" smtClean="0"/>
              <a:t>Ghobadian, A,  O’Regan, N. Thomas, H. and Liu, J.  (2008), “Formal Strategy Planning, Operating Environment, Size Sector and Performance” </a:t>
            </a:r>
            <a:r>
              <a:rPr lang="en-GB" i="1" dirty="0" smtClean="0"/>
              <a:t>Journal of General Management</a:t>
            </a:r>
            <a:r>
              <a:rPr lang="en-GB" dirty="0" smtClean="0"/>
              <a:t>, pp. 1 -19.</a:t>
            </a:r>
          </a:p>
          <a:p>
            <a:endParaRPr lang="en-GB" dirty="0" smtClean="0"/>
          </a:p>
          <a:p>
            <a:r>
              <a:rPr lang="en-GB" dirty="0" smtClean="0"/>
              <a:t>McDonalds (2010) Proxy Statement (</a:t>
            </a:r>
            <a:r>
              <a:rPr lang="en-GB" dirty="0" smtClean="0">
                <a:hlinkClick r:id="rId2"/>
              </a:rPr>
              <a:t>www.mcdonalds.com</a:t>
            </a:r>
            <a:r>
              <a:rPr lang="en-GB" dirty="0" smtClean="0"/>
              <a:t>) May 24, 2010</a:t>
            </a:r>
          </a:p>
          <a:p>
            <a:endParaRPr lang="en-GB" dirty="0" smtClean="0"/>
          </a:p>
          <a:p>
            <a:r>
              <a:rPr lang="en-GB" dirty="0" err="1" smtClean="0"/>
              <a:t>Molz</a:t>
            </a:r>
            <a:r>
              <a:rPr lang="en-GB" dirty="0" smtClean="0"/>
              <a:t>, R. “How Leaders Use Goals</a:t>
            </a:r>
            <a:r>
              <a:rPr lang="en-GB" i="1" dirty="0" smtClean="0"/>
              <a:t>” Long Range Planning</a:t>
            </a:r>
            <a:r>
              <a:rPr lang="en-GB" dirty="0" smtClean="0"/>
              <a:t>, October P.91</a:t>
            </a:r>
          </a:p>
          <a:p>
            <a:endParaRPr lang="en-GB" dirty="0" smtClean="0"/>
          </a:p>
          <a:p>
            <a:r>
              <a:rPr lang="en-GB" dirty="0" err="1" smtClean="0"/>
              <a:t>Riberio</a:t>
            </a:r>
            <a:r>
              <a:rPr lang="en-GB" dirty="0" smtClean="0"/>
              <a:t>. J., (2009) “Wipro sees drop in outsourcing revenue”  </a:t>
            </a:r>
            <a:r>
              <a:rPr lang="en-GB" i="1" dirty="0" smtClean="0"/>
              <a:t>Bloomberg Business Week Online</a:t>
            </a:r>
            <a:r>
              <a:rPr lang="en-GB" dirty="0" smtClean="0"/>
              <a:t>, July 22</a:t>
            </a:r>
            <a:endParaRPr lang="en-US" dirty="0" smtClean="0"/>
          </a:p>
          <a:p>
            <a:endParaRPr lang="en-US"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67</a:t>
            </a:fld>
            <a:endParaRPr lang="en-US" dirty="0"/>
          </a:p>
        </p:txBody>
      </p:sp>
      <p:sp>
        <p:nvSpPr>
          <p:cNvPr id="4" name="Title 3"/>
          <p:cNvSpPr>
            <a:spLocks noGrp="1"/>
          </p:cNvSpPr>
          <p:nvPr>
            <p:ph type="title"/>
          </p:nvPr>
        </p:nvSpPr>
        <p:spPr/>
        <p:txBody>
          <a:bodyPr/>
          <a:lstStyle/>
          <a:p>
            <a:r>
              <a:rPr lang="en-GB" dirty="0" smtClean="0"/>
              <a:t>Reference List </a:t>
            </a:r>
            <a:endParaRPr lang="en-US"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ountain">
  <a:themeElements>
    <a:clrScheme name="Celebration">
      <a:dk1>
        <a:srgbClr val="49345F"/>
      </a:dk1>
      <a:lt1>
        <a:srgbClr val="DDD9C3"/>
      </a:lt1>
      <a:dk2>
        <a:srgbClr val="000000"/>
      </a:dk2>
      <a:lt2>
        <a:srgbClr val="FFFFFF"/>
      </a:lt2>
      <a:accent1>
        <a:srgbClr val="310095"/>
      </a:accent1>
      <a:accent2>
        <a:srgbClr val="886286"/>
      </a:accent2>
      <a:accent3>
        <a:srgbClr val="A082F5"/>
      </a:accent3>
      <a:accent4>
        <a:srgbClr val="5061C8"/>
      </a:accent4>
      <a:accent5>
        <a:srgbClr val="00AAAA"/>
      </a:accent5>
      <a:accent6>
        <a:srgbClr val="008040"/>
      </a:accent6>
      <a:hlink>
        <a:srgbClr val="A2A2FF"/>
      </a:hlink>
      <a:folHlink>
        <a:srgbClr val="CF9BF7"/>
      </a:folHlink>
    </a:clrScheme>
    <a:fontScheme name="Mountain">
      <a:majorFont>
        <a:latin typeface="Gill Sans MT"/>
        <a:ea typeface=""/>
        <a:cs typeface=""/>
        <a:font script="Cyrl" typeface="Arial"/>
        <a:font script="Grek" typeface="Arial"/>
        <a:font script="Jpan" typeface="HG丸ｺﾞｼｯｸM-PRO"/>
        <a:font script="Hang" typeface="HY 헤드라인 M"/>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Gill Sans MT"/>
        <a:ea typeface=""/>
        <a:cs typeface=""/>
        <a:font script="Cyrl" typeface="Arial"/>
        <a:font script="Grek" typeface="Arial"/>
        <a:font script="Jpan" typeface="HG丸ｺﾞｼｯｸM-PRO"/>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Mountain">
      <a:fillStyleLst>
        <a:solidFill>
          <a:schemeClr val="phClr"/>
        </a:solidFill>
        <a:gradFill rotWithShape="1">
          <a:gsLst>
            <a:gs pos="0">
              <a:schemeClr val="phClr">
                <a:tint val="100000"/>
                <a:shade val="100000"/>
                <a:hueMod val="100000"/>
                <a:satMod val="100000"/>
              </a:schemeClr>
            </a:gs>
            <a:gs pos="50000">
              <a:schemeClr val="phClr">
                <a:tint val="25000"/>
                <a:shade val="100000"/>
                <a:hueMod val="100000"/>
                <a:satMod val="100000"/>
              </a:schemeClr>
            </a:gs>
            <a:gs pos="100000">
              <a:schemeClr val="phClr">
                <a:tint val="100000"/>
                <a:shade val="100000"/>
                <a:hueMod val="100000"/>
                <a:satMod val="100000"/>
              </a:schemeClr>
            </a:gs>
          </a:gsLst>
          <a:lin ang="5400000" scaled="1"/>
        </a:gradFill>
        <a:gradFill rotWithShape="1">
          <a:gsLst>
            <a:gs pos="0">
              <a:schemeClr val="phClr">
                <a:tint val="40000"/>
                <a:shade val="100000"/>
                <a:hueMod val="100000"/>
                <a:satMod val="100000"/>
              </a:schemeClr>
            </a:gs>
            <a:gs pos="30000">
              <a:schemeClr val="phClr">
                <a:tint val="100000"/>
                <a:shade val="100000"/>
                <a:hueMod val="100000"/>
                <a:satMod val="100000"/>
              </a:schemeClr>
            </a:gs>
            <a:gs pos="68000">
              <a:schemeClr val="phClr">
                <a:tint val="100000"/>
                <a:shade val="100000"/>
                <a:hueMod val="100000"/>
                <a:satMod val="100000"/>
              </a:schemeClr>
            </a:gs>
            <a:gs pos="100000">
              <a:schemeClr val="phClr">
                <a:tint val="40000"/>
                <a:shade val="100000"/>
                <a:hueMod val="100000"/>
                <a:satMod val="100000"/>
              </a:schemeClr>
            </a:gs>
          </a:gsLst>
          <a:lin ang="5400000" scaled="1"/>
        </a:gradFill>
      </a:fillStyleLst>
      <a:lnStyleLst>
        <a:ln w="12700" cap="flat" cmpd="sng" algn="ctr">
          <a:solidFill>
            <a:schemeClr val="ph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br" rotWithShape="0">
              <a:srgbClr val="000000">
                <a:alpha val="0"/>
              </a:srgbClr>
            </a:outerShdw>
          </a:effectLst>
        </a:effectStyle>
        <a:effectStyle>
          <a:effectLst>
            <a:outerShdw blurRad="38100" dist="25400" dir="5400000" algn="ctr" rotWithShape="0">
              <a:srgbClr val="EBE9ED">
                <a:alpha val="0"/>
              </a:srgbClr>
            </a:outerShdw>
          </a:effectLst>
          <a:scene3d>
            <a:camera prst="orthographicFront">
              <a:rot lat="0" lon="0" rev="0"/>
            </a:camera>
            <a:lightRig rig="glow" dir="b"/>
          </a:scene3d>
          <a:sp3d contourW="6350" prstMaterial="softEdge">
            <a:bevelT w="25400" h="25400"/>
            <a:contourClr>
              <a:schemeClr val="phClr">
                <a:tint val="90000"/>
                <a:shade val="100000"/>
                <a:hueMod val="100000"/>
                <a:satMod val="100000"/>
              </a:schemeClr>
            </a:contourClr>
          </a:sp3d>
        </a:effectStyle>
        <a:effectStyle>
          <a:effectLst>
            <a:reflection blurRad="12700" stA="40000" endPos="40000" dist="25400" dir="5400000" sy="-100000" rotWithShape="0"/>
          </a:effectLst>
          <a:scene3d>
            <a:camera prst="perspectiveFront"/>
            <a:lightRig rig="glow" dir="b"/>
          </a:scene3d>
          <a:sp3d contourW="6350" prstMaterial="softEdge">
            <a:bevelT w="50800" h="25400"/>
            <a:contourClr>
              <a:schemeClr val="phClr">
                <a:tint val="100000"/>
                <a:shade val="80000"/>
                <a:hueMod val="100000"/>
                <a:satMod val="100000"/>
              </a:schemeClr>
            </a:contourClr>
          </a:sp3d>
        </a:effectStyle>
      </a:effectStyleLst>
      <a:bgFillStyleLst>
        <a:solidFill>
          <a:schemeClr val="phClr"/>
        </a:solidFill>
        <a:gradFill rotWithShape="1">
          <a:gsLst>
            <a:gs pos="0">
              <a:schemeClr val="phClr">
                <a:shade val="40000"/>
                <a:satMod val="165000"/>
              </a:schemeClr>
            </a:gs>
            <a:gs pos="50000">
              <a:schemeClr val="phClr">
                <a:shade val="95000"/>
                <a:satMod val="100000"/>
              </a:schemeClr>
            </a:gs>
            <a:gs pos="100000">
              <a:schemeClr val="phClr">
                <a:tint val="10000"/>
                <a:satMod val="300000"/>
              </a:schemeClr>
            </a:gs>
          </a:gsLst>
          <a:lin ang="13000000" scaled="0"/>
        </a:gradFill>
        <a:blipFill>
          <a:blip xmlns:r="http://schemas.openxmlformats.org/officeDocument/2006/relationships" r:embed="rId1">
            <a:duotone>
              <a:schemeClr val="phClr">
                <a:shade val="75000"/>
              </a:schemeClr>
              <a:schemeClr val="phClr">
                <a:tint val="55000"/>
              </a:schemeClr>
            </a:duotone>
          </a:blip>
          <a:stretch/>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Mountain</Template>
  <TotalTime>649</TotalTime>
  <Words>3991</Words>
  <Application>Microsoft Office PowerPoint</Application>
  <PresentationFormat>On-screen Show (4:3)</PresentationFormat>
  <Paragraphs>471</Paragraphs>
  <Slides>67</Slides>
  <Notes>1</Notes>
  <HiddenSlides>0</HiddenSlides>
  <MMClips>0</MMClips>
  <ScaleCrop>false</ScaleCrop>
  <HeadingPairs>
    <vt:vector size="4" baseType="variant">
      <vt:variant>
        <vt:lpstr>Theme</vt:lpstr>
      </vt:variant>
      <vt:variant>
        <vt:i4>1</vt:i4>
      </vt:variant>
      <vt:variant>
        <vt:lpstr>Slide Titles</vt:lpstr>
      </vt:variant>
      <vt:variant>
        <vt:i4>67</vt:i4>
      </vt:variant>
    </vt:vector>
  </HeadingPairs>
  <TitlesOfParts>
    <vt:vector size="68" baseType="lpstr">
      <vt:lpstr>Mountain</vt:lpstr>
      <vt:lpstr>Planning</vt:lpstr>
      <vt:lpstr>Material covered will include:</vt:lpstr>
      <vt:lpstr>Planning – Video Clips</vt:lpstr>
      <vt:lpstr>What Is Planning?</vt:lpstr>
      <vt:lpstr>Slide 5</vt:lpstr>
      <vt:lpstr>Slide 6</vt:lpstr>
      <vt:lpstr>Why do managers plan?</vt:lpstr>
      <vt:lpstr>Why do managers plan? (cont.)</vt:lpstr>
      <vt:lpstr>Why do managers plan? (cont.)</vt:lpstr>
      <vt:lpstr>Why do managers plan? (cont.)</vt:lpstr>
      <vt:lpstr>Why do managers plan? (cont.)</vt:lpstr>
      <vt:lpstr>Planning and Performance</vt:lpstr>
      <vt:lpstr>Planning and Performance</vt:lpstr>
      <vt:lpstr>Goals &amp; Plans</vt:lpstr>
      <vt:lpstr>Slide 15</vt:lpstr>
      <vt:lpstr>Goals &amp; Plans</vt:lpstr>
      <vt:lpstr>Types of Goals:  Strategic &amp; Financial</vt:lpstr>
      <vt:lpstr>Types of Goals: Stated &amp; Real</vt:lpstr>
      <vt:lpstr>Types of Goals: Stated &amp; Real </vt:lpstr>
      <vt:lpstr>Stated Goals  V’s Real Goals</vt:lpstr>
      <vt:lpstr>Types of Plans</vt:lpstr>
      <vt:lpstr>Breadth: Strategic V’s Operational</vt:lpstr>
      <vt:lpstr>Time Frame:  Short V’s Long</vt:lpstr>
      <vt:lpstr>Specificity: Specific V’s Directional</vt:lpstr>
      <vt:lpstr>Frequency of Use:   Single V’s Standing </vt:lpstr>
      <vt:lpstr>Single &amp; Standing Plans</vt:lpstr>
      <vt:lpstr>Types of Plans - Plans are not Independent (Source: Robbins &amp; Coulter,  2014)</vt:lpstr>
      <vt:lpstr>Setting Goals &amp; Developing Plans</vt:lpstr>
      <vt:lpstr>Traditional Goal Setting</vt:lpstr>
      <vt:lpstr>The Downside of Traditional Goal-Setting</vt:lpstr>
      <vt:lpstr>The Downside of Traditional Goal-Setting (Source: Robbins &amp; Coulter,  2014)</vt:lpstr>
      <vt:lpstr>Goal-Setting</vt:lpstr>
      <vt:lpstr>Traditional Goal Setting</vt:lpstr>
      <vt:lpstr>Management by Objectives (MBO)</vt:lpstr>
      <vt:lpstr>Steps in a Typical MBO Program (Source: Robbins &amp; Coulter,  2014)</vt:lpstr>
      <vt:lpstr>Slide 36</vt:lpstr>
      <vt:lpstr>Five Steps in Goal-Setting</vt:lpstr>
      <vt:lpstr>5 Steps in Goal-Setting </vt:lpstr>
      <vt:lpstr>Slide 39</vt:lpstr>
      <vt:lpstr>5 Steps in Goal-Setting (cont.)</vt:lpstr>
      <vt:lpstr>5 Steps in Goal-Setting (cont.)</vt:lpstr>
      <vt:lpstr>Characteristics of Well-Written Goals   (Source:  Drucker, 1996)</vt:lpstr>
      <vt:lpstr>Developing Plans</vt:lpstr>
      <vt:lpstr>Contingency Factors in Planning</vt:lpstr>
      <vt:lpstr>Contingency Factors in Planning</vt:lpstr>
      <vt:lpstr>Slide 46</vt:lpstr>
      <vt:lpstr>Planning and Organisational Level  (Source: Robbins &amp; Coulter,  2014)</vt:lpstr>
      <vt:lpstr>Contingency Factors in Planning</vt:lpstr>
      <vt:lpstr>Contingency Factors in Planning</vt:lpstr>
      <vt:lpstr>Slide 50</vt:lpstr>
      <vt:lpstr>Slide 51</vt:lpstr>
      <vt:lpstr>Some facts about planning  (Source:  American Management  Association, 2010)</vt:lpstr>
      <vt:lpstr>Approaches to Planning</vt:lpstr>
      <vt:lpstr>Approaches to Planning</vt:lpstr>
      <vt:lpstr>Traditional Top Down Approach to Planning ??!!</vt:lpstr>
      <vt:lpstr>Contemporary Issues in Planning</vt:lpstr>
      <vt:lpstr>How Can Managers Plan Effectively in Dynamic Environments?</vt:lpstr>
      <vt:lpstr>How Can Managers Plan Effectively in Dynamic Environments?</vt:lpstr>
      <vt:lpstr>How Can Managers Plan Effectively in Dynamic Environments? – Example - Wipro</vt:lpstr>
      <vt:lpstr>How Can Managers Use Environmental Scanning?</vt:lpstr>
      <vt:lpstr>Slide 61</vt:lpstr>
      <vt:lpstr>How Can Managers Use Environmental Scanning?</vt:lpstr>
      <vt:lpstr>How Can Managers Use Environmental Scanning?</vt:lpstr>
      <vt:lpstr>Slide 64</vt:lpstr>
      <vt:lpstr>Slide 65</vt:lpstr>
      <vt:lpstr>Reference List </vt:lpstr>
      <vt:lpstr>Reference List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Planning</dc:title>
  <dc:creator>Orla Gregory</dc:creator>
  <cp:lastModifiedBy>xxx</cp:lastModifiedBy>
  <cp:revision>173</cp:revision>
  <dcterms:created xsi:type="dcterms:W3CDTF">2006-08-16T00:00:00Z</dcterms:created>
  <dcterms:modified xsi:type="dcterms:W3CDTF">2014-07-31T17:07:04Z</dcterms:modified>
</cp:coreProperties>
</file>