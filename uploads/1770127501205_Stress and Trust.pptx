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1.xml" ContentType="application/vnd.openxmlformats-officedocument.presentationml.tags+xml"/>
  <Override PartName="/ppt/notesSlides/notesSlide27.xml" ContentType="application/vnd.openxmlformats-officedocument.presentationml.notesSlide+xml"/>
  <Override PartName="/ppt/tags/tag2.xml" ContentType="application/vnd.openxmlformats-officedocument.presentationml.tags+xml"/>
  <Override PartName="/ppt/notesSlides/notesSlide28.xml" ContentType="application/vnd.openxmlformats-officedocument.presentationml.notesSlide+xml"/>
  <Override PartName="/ppt/tags/tag3.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3" r:id="rId1"/>
  </p:sldMasterIdLst>
  <p:notesMasterIdLst>
    <p:notesMasterId r:id="rId53"/>
  </p:notesMasterIdLst>
  <p:sldIdLst>
    <p:sldId id="256" r:id="rId2"/>
    <p:sldId id="384" r:id="rId3"/>
    <p:sldId id="385" r:id="rId4"/>
    <p:sldId id="314" r:id="rId5"/>
    <p:sldId id="332" r:id="rId6"/>
    <p:sldId id="333" r:id="rId7"/>
    <p:sldId id="386" r:id="rId8"/>
    <p:sldId id="387" r:id="rId9"/>
    <p:sldId id="338" r:id="rId10"/>
    <p:sldId id="340" r:id="rId11"/>
    <p:sldId id="343" r:id="rId12"/>
    <p:sldId id="388" r:id="rId13"/>
    <p:sldId id="353" r:id="rId14"/>
    <p:sldId id="354" r:id="rId15"/>
    <p:sldId id="356" r:id="rId16"/>
    <p:sldId id="357" r:id="rId17"/>
    <p:sldId id="358" r:id="rId18"/>
    <p:sldId id="390" r:id="rId19"/>
    <p:sldId id="391" r:id="rId20"/>
    <p:sldId id="392" r:id="rId21"/>
    <p:sldId id="373" r:id="rId22"/>
    <p:sldId id="492" r:id="rId23"/>
    <p:sldId id="374" r:id="rId24"/>
    <p:sldId id="490" r:id="rId25"/>
    <p:sldId id="489" r:id="rId26"/>
    <p:sldId id="375" r:id="rId27"/>
    <p:sldId id="491" r:id="rId28"/>
    <p:sldId id="494" r:id="rId29"/>
    <p:sldId id="495" r:id="rId30"/>
    <p:sldId id="493" r:id="rId31"/>
    <p:sldId id="496" r:id="rId32"/>
    <p:sldId id="497" r:id="rId33"/>
    <p:sldId id="376" r:id="rId34"/>
    <p:sldId id="377" r:id="rId35"/>
    <p:sldId id="378" r:id="rId36"/>
    <p:sldId id="379" r:id="rId37"/>
    <p:sldId id="380" r:id="rId38"/>
    <p:sldId id="372" r:id="rId39"/>
    <p:sldId id="381" r:id="rId40"/>
    <p:sldId id="382" r:id="rId41"/>
    <p:sldId id="361" r:id="rId42"/>
    <p:sldId id="362" r:id="rId43"/>
    <p:sldId id="363" r:id="rId44"/>
    <p:sldId id="364" r:id="rId45"/>
    <p:sldId id="365" r:id="rId46"/>
    <p:sldId id="366" r:id="rId47"/>
    <p:sldId id="367" r:id="rId48"/>
    <p:sldId id="368" r:id="rId49"/>
    <p:sldId id="371" r:id="rId50"/>
    <p:sldId id="383" r:id="rId51"/>
    <p:sldId id="262" r:id="rId52"/>
  </p:sldIdLst>
  <p:sldSz cx="12192000" cy="6858000"/>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795BD1-5681-475C-B861-82FF7002A981}" v="3" dt="2023-10-23T16:19:17.1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74" autoAdjust="0"/>
    <p:restoredTop sz="71667" autoAdjust="0"/>
  </p:normalViewPr>
  <p:slideViewPr>
    <p:cSldViewPr snapToGrid="0">
      <p:cViewPr varScale="1">
        <p:scale>
          <a:sx n="51" d="100"/>
          <a:sy n="51" d="100"/>
        </p:scale>
        <p:origin x="1596"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y" userId="dcde030f-3639-412d-92b3-52dedaddc969" providerId="ADAL" clId="{EC795BD1-5681-475C-B861-82FF7002A981}"/>
    <pc:docChg chg="undo custSel addSld delSld modSld">
      <pc:chgData name="Mary" userId="dcde030f-3639-412d-92b3-52dedaddc969" providerId="ADAL" clId="{EC795BD1-5681-475C-B861-82FF7002A981}" dt="2023-10-23T18:52:47.212" v="1224" actId="47"/>
      <pc:docMkLst>
        <pc:docMk/>
      </pc:docMkLst>
      <pc:sldChg chg="delSp mod">
        <pc:chgData name="Mary" userId="dcde030f-3639-412d-92b3-52dedaddc969" providerId="ADAL" clId="{EC795BD1-5681-475C-B861-82FF7002A981}" dt="2023-10-23T16:10:40.976" v="2" actId="478"/>
        <pc:sldMkLst>
          <pc:docMk/>
          <pc:sldMk cId="1339815778" sldId="361"/>
        </pc:sldMkLst>
        <pc:picChg chg="del">
          <ac:chgData name="Mary" userId="dcde030f-3639-412d-92b3-52dedaddc969" providerId="ADAL" clId="{EC795BD1-5681-475C-B861-82FF7002A981}" dt="2023-10-23T16:10:40.976" v="2" actId="478"/>
          <ac:picMkLst>
            <pc:docMk/>
            <pc:sldMk cId="1339815778" sldId="361"/>
            <ac:picMk id="5" creationId="{00000000-0000-0000-0000-000000000000}"/>
          </ac:picMkLst>
        </pc:picChg>
      </pc:sldChg>
      <pc:sldChg chg="addSp delSp modSp mod setBg">
        <pc:chgData name="Mary" userId="dcde030f-3639-412d-92b3-52dedaddc969" providerId="ADAL" clId="{EC795BD1-5681-475C-B861-82FF7002A981}" dt="2023-10-23T16:10:31.330" v="1" actId="26606"/>
        <pc:sldMkLst>
          <pc:docMk/>
          <pc:sldMk cId="1843906283" sldId="368"/>
        </pc:sldMkLst>
        <pc:spChg chg="mod ord">
          <ac:chgData name="Mary" userId="dcde030f-3639-412d-92b3-52dedaddc969" providerId="ADAL" clId="{EC795BD1-5681-475C-B861-82FF7002A981}" dt="2023-10-23T16:10:31.330" v="1" actId="26606"/>
          <ac:spMkLst>
            <pc:docMk/>
            <pc:sldMk cId="1843906283" sldId="368"/>
            <ac:spMk id="3" creationId="{00000000-0000-0000-0000-000000000000}"/>
          </ac:spMkLst>
        </pc:spChg>
        <pc:spChg chg="mod">
          <ac:chgData name="Mary" userId="dcde030f-3639-412d-92b3-52dedaddc969" providerId="ADAL" clId="{EC795BD1-5681-475C-B861-82FF7002A981}" dt="2023-10-23T16:10:31.330" v="1" actId="26606"/>
          <ac:spMkLst>
            <pc:docMk/>
            <pc:sldMk cId="1843906283" sldId="368"/>
            <ac:spMk id="8" creationId="{00000000-0000-0000-0000-000000000000}"/>
          </ac:spMkLst>
        </pc:spChg>
        <pc:spChg chg="add">
          <ac:chgData name="Mary" userId="dcde030f-3639-412d-92b3-52dedaddc969" providerId="ADAL" clId="{EC795BD1-5681-475C-B861-82FF7002A981}" dt="2023-10-23T16:10:31.330" v="1" actId="26606"/>
          <ac:spMkLst>
            <pc:docMk/>
            <pc:sldMk cId="1843906283" sldId="368"/>
            <ac:spMk id="14" creationId="{311973C2-EB8B-452A-A698-4A252FD3AE28}"/>
          </ac:spMkLst>
        </pc:spChg>
        <pc:spChg chg="add">
          <ac:chgData name="Mary" userId="dcde030f-3639-412d-92b3-52dedaddc969" providerId="ADAL" clId="{EC795BD1-5681-475C-B861-82FF7002A981}" dt="2023-10-23T16:10:31.330" v="1" actId="26606"/>
          <ac:spMkLst>
            <pc:docMk/>
            <pc:sldMk cId="1843906283" sldId="368"/>
            <ac:spMk id="16" creationId="{10162E77-11AD-44A7-84EC-40C59EEFBD2E}"/>
          </ac:spMkLst>
        </pc:spChg>
        <pc:picChg chg="del">
          <ac:chgData name="Mary" userId="dcde030f-3639-412d-92b3-52dedaddc969" providerId="ADAL" clId="{EC795BD1-5681-475C-B861-82FF7002A981}" dt="2023-10-23T16:10:28.213" v="0" actId="478"/>
          <ac:picMkLst>
            <pc:docMk/>
            <pc:sldMk cId="1843906283" sldId="368"/>
            <ac:picMk id="4" creationId="{00000000-0000-0000-0000-000000000000}"/>
          </ac:picMkLst>
        </pc:picChg>
        <pc:picChg chg="add">
          <ac:chgData name="Mary" userId="dcde030f-3639-412d-92b3-52dedaddc969" providerId="ADAL" clId="{EC795BD1-5681-475C-B861-82FF7002A981}" dt="2023-10-23T16:10:31.330" v="1" actId="26606"/>
          <ac:picMkLst>
            <pc:docMk/>
            <pc:sldMk cId="1843906283" sldId="368"/>
            <ac:picMk id="10" creationId="{5AC795F0-6FAE-934D-1CCD-489FDE57BFDB}"/>
          </ac:picMkLst>
        </pc:picChg>
        <pc:cxnChg chg="add">
          <ac:chgData name="Mary" userId="dcde030f-3639-412d-92b3-52dedaddc969" providerId="ADAL" clId="{EC795BD1-5681-475C-B861-82FF7002A981}" dt="2023-10-23T16:10:31.330" v="1" actId="26606"/>
          <ac:cxnSpMkLst>
            <pc:docMk/>
            <pc:sldMk cId="1843906283" sldId="368"/>
            <ac:cxnSpMk id="18" creationId="{5AB158E9-1B40-4CD6-95F0-95CA11DF7B7A}"/>
          </ac:cxnSpMkLst>
        </pc:cxnChg>
      </pc:sldChg>
      <pc:sldChg chg="addSp delSp modSp mod setBg">
        <pc:chgData name="Mary" userId="dcde030f-3639-412d-92b3-52dedaddc969" providerId="ADAL" clId="{EC795BD1-5681-475C-B861-82FF7002A981}" dt="2023-10-23T16:26:13.961" v="332" actId="27636"/>
        <pc:sldMkLst>
          <pc:docMk/>
          <pc:sldMk cId="1586984744" sldId="375"/>
        </pc:sldMkLst>
        <pc:spChg chg="mod ord">
          <ac:chgData name="Mary" userId="dcde030f-3639-412d-92b3-52dedaddc969" providerId="ADAL" clId="{EC795BD1-5681-475C-B861-82FF7002A981}" dt="2023-10-23T16:26:01.359" v="328" actId="26606"/>
          <ac:spMkLst>
            <pc:docMk/>
            <pc:sldMk cId="1586984744" sldId="375"/>
            <ac:spMk id="2" creationId="{00000000-0000-0000-0000-000000000000}"/>
          </ac:spMkLst>
        </pc:spChg>
        <pc:spChg chg="mod">
          <ac:chgData name="Mary" userId="dcde030f-3639-412d-92b3-52dedaddc969" providerId="ADAL" clId="{EC795BD1-5681-475C-B861-82FF7002A981}" dt="2023-10-23T16:26:13.961" v="332" actId="27636"/>
          <ac:spMkLst>
            <pc:docMk/>
            <pc:sldMk cId="1586984744" sldId="375"/>
            <ac:spMk id="3" creationId="{00000000-0000-0000-0000-000000000000}"/>
          </ac:spMkLst>
        </pc:spChg>
        <pc:spChg chg="add del">
          <ac:chgData name="Mary" userId="dcde030f-3639-412d-92b3-52dedaddc969" providerId="ADAL" clId="{EC795BD1-5681-475C-B861-82FF7002A981}" dt="2023-10-23T16:26:01.359" v="328" actId="26606"/>
          <ac:spMkLst>
            <pc:docMk/>
            <pc:sldMk cId="1586984744" sldId="375"/>
            <ac:spMk id="9" creationId="{311973C2-EB8B-452A-A698-4A252FD3AE28}"/>
          </ac:spMkLst>
        </pc:spChg>
        <pc:spChg chg="add del">
          <ac:chgData name="Mary" userId="dcde030f-3639-412d-92b3-52dedaddc969" providerId="ADAL" clId="{EC795BD1-5681-475C-B861-82FF7002A981}" dt="2023-10-23T16:26:01.359" v="328" actId="26606"/>
          <ac:spMkLst>
            <pc:docMk/>
            <pc:sldMk cId="1586984744" sldId="375"/>
            <ac:spMk id="11" creationId="{10162E77-11AD-44A7-84EC-40C59EEFBD2E}"/>
          </ac:spMkLst>
        </pc:spChg>
        <pc:spChg chg="add del">
          <ac:chgData name="Mary" userId="dcde030f-3639-412d-92b3-52dedaddc969" providerId="ADAL" clId="{EC795BD1-5681-475C-B861-82FF7002A981}" dt="2023-10-23T16:26:01.343" v="327" actId="26606"/>
          <ac:spMkLst>
            <pc:docMk/>
            <pc:sldMk cId="1586984744" sldId="375"/>
            <ac:spMk id="18" creationId="{5CF81D86-BDBA-477C-B7DD-8D359BB9965B}"/>
          </ac:spMkLst>
        </pc:spChg>
        <pc:spChg chg="add del">
          <ac:chgData name="Mary" userId="dcde030f-3639-412d-92b3-52dedaddc969" providerId="ADAL" clId="{EC795BD1-5681-475C-B861-82FF7002A981}" dt="2023-10-23T16:26:01.343" v="327" actId="26606"/>
          <ac:spMkLst>
            <pc:docMk/>
            <pc:sldMk cId="1586984744" sldId="375"/>
            <ac:spMk id="22" creationId="{88AA064E-5F6E-4024-BC28-EDDC3DFC70E1}"/>
          </ac:spMkLst>
        </pc:spChg>
        <pc:spChg chg="add del">
          <ac:chgData name="Mary" userId="dcde030f-3639-412d-92b3-52dedaddc969" providerId="ADAL" clId="{EC795BD1-5681-475C-B861-82FF7002A981}" dt="2023-10-23T16:26:01.343" v="327" actId="26606"/>
          <ac:spMkLst>
            <pc:docMk/>
            <pc:sldMk cId="1586984744" sldId="375"/>
            <ac:spMk id="24" creationId="{03B29638-4838-4B9B-B9DB-96E542BAF3E6}"/>
          </ac:spMkLst>
        </pc:spChg>
        <pc:spChg chg="add">
          <ac:chgData name="Mary" userId="dcde030f-3639-412d-92b3-52dedaddc969" providerId="ADAL" clId="{EC795BD1-5681-475C-B861-82FF7002A981}" dt="2023-10-23T16:26:01.359" v="328" actId="26606"/>
          <ac:spMkLst>
            <pc:docMk/>
            <pc:sldMk cId="1586984744" sldId="375"/>
            <ac:spMk id="27" creationId="{154480E5-678B-478F-9170-46502C5FB3E3}"/>
          </ac:spMkLst>
        </pc:spChg>
        <pc:spChg chg="add">
          <ac:chgData name="Mary" userId="dcde030f-3639-412d-92b3-52dedaddc969" providerId="ADAL" clId="{EC795BD1-5681-475C-B861-82FF7002A981}" dt="2023-10-23T16:26:01.359" v="328" actId="26606"/>
          <ac:spMkLst>
            <pc:docMk/>
            <pc:sldMk cId="1586984744" sldId="375"/>
            <ac:spMk id="28" creationId="{B598D875-841B-47A7-B4C8-237DBCE2FBC7}"/>
          </ac:spMkLst>
        </pc:spChg>
        <pc:picChg chg="add mod">
          <ac:chgData name="Mary" userId="dcde030f-3639-412d-92b3-52dedaddc969" providerId="ADAL" clId="{EC795BD1-5681-475C-B861-82FF7002A981}" dt="2023-10-23T16:26:01.359" v="328" actId="26606"/>
          <ac:picMkLst>
            <pc:docMk/>
            <pc:sldMk cId="1586984744" sldId="375"/>
            <ac:picMk id="5" creationId="{CA5A38DA-ECF0-CE14-1867-A311084357BA}"/>
          </ac:picMkLst>
        </pc:picChg>
        <pc:cxnChg chg="add del">
          <ac:chgData name="Mary" userId="dcde030f-3639-412d-92b3-52dedaddc969" providerId="ADAL" clId="{EC795BD1-5681-475C-B861-82FF7002A981}" dt="2023-10-23T16:26:01.359" v="328" actId="26606"/>
          <ac:cxnSpMkLst>
            <pc:docMk/>
            <pc:sldMk cId="1586984744" sldId="375"/>
            <ac:cxnSpMk id="13" creationId="{5AB158E9-1B40-4CD6-95F0-95CA11DF7B7A}"/>
          </ac:cxnSpMkLst>
        </pc:cxnChg>
        <pc:cxnChg chg="add del">
          <ac:chgData name="Mary" userId="dcde030f-3639-412d-92b3-52dedaddc969" providerId="ADAL" clId="{EC795BD1-5681-475C-B861-82FF7002A981}" dt="2023-10-23T16:26:01.343" v="327" actId="26606"/>
          <ac:cxnSpMkLst>
            <pc:docMk/>
            <pc:sldMk cId="1586984744" sldId="375"/>
            <ac:cxnSpMk id="20" creationId="{C65F3E9C-EF11-4F8F-A621-399C7A3E6401}"/>
          </ac:cxnSpMkLst>
        </pc:cxnChg>
        <pc:cxnChg chg="add">
          <ac:chgData name="Mary" userId="dcde030f-3639-412d-92b3-52dedaddc969" providerId="ADAL" clId="{EC795BD1-5681-475C-B861-82FF7002A981}" dt="2023-10-23T16:26:01.359" v="328" actId="26606"/>
          <ac:cxnSpMkLst>
            <pc:docMk/>
            <pc:sldMk cId="1586984744" sldId="375"/>
            <ac:cxnSpMk id="26" creationId="{E9F7CBA9-9D9B-479F-AAB5-BF785971CD85}"/>
          </ac:cxnSpMkLst>
        </pc:cxnChg>
      </pc:sldChg>
      <pc:sldChg chg="del">
        <pc:chgData name="Mary" userId="dcde030f-3639-412d-92b3-52dedaddc969" providerId="ADAL" clId="{EC795BD1-5681-475C-B861-82FF7002A981}" dt="2023-10-23T18:52:47.212" v="1224" actId="47"/>
        <pc:sldMkLst>
          <pc:docMk/>
          <pc:sldMk cId="761614322" sldId="389"/>
        </pc:sldMkLst>
      </pc:sldChg>
      <pc:sldChg chg="addSp delSp modSp new mod modClrScheme chgLayout">
        <pc:chgData name="Mary" userId="dcde030f-3639-412d-92b3-52dedaddc969" providerId="ADAL" clId="{EC795BD1-5681-475C-B861-82FF7002A981}" dt="2023-10-23T16:12:48.282" v="82" actId="255"/>
        <pc:sldMkLst>
          <pc:docMk/>
          <pc:sldMk cId="939372638" sldId="390"/>
        </pc:sldMkLst>
        <pc:spChg chg="mod ord">
          <ac:chgData name="Mary" userId="dcde030f-3639-412d-92b3-52dedaddc969" providerId="ADAL" clId="{EC795BD1-5681-475C-B861-82FF7002A981}" dt="2023-10-23T16:11:27.127" v="32" actId="700"/>
          <ac:spMkLst>
            <pc:docMk/>
            <pc:sldMk cId="939372638" sldId="390"/>
            <ac:spMk id="2" creationId="{89FF00C6-14FF-4873-8E7D-0C8CF8F06C1B}"/>
          </ac:spMkLst>
        </pc:spChg>
        <pc:spChg chg="del mod ord">
          <ac:chgData name="Mary" userId="dcde030f-3639-412d-92b3-52dedaddc969" providerId="ADAL" clId="{EC795BD1-5681-475C-B861-82FF7002A981}" dt="2023-10-23T16:11:27.127" v="32" actId="700"/>
          <ac:spMkLst>
            <pc:docMk/>
            <pc:sldMk cId="939372638" sldId="390"/>
            <ac:spMk id="3" creationId="{DEF44B74-5435-464A-821B-C7F64DB79BC6}"/>
          </ac:spMkLst>
        </pc:spChg>
        <pc:spChg chg="add mod ord">
          <ac:chgData name="Mary" userId="dcde030f-3639-412d-92b3-52dedaddc969" providerId="ADAL" clId="{EC795BD1-5681-475C-B861-82FF7002A981}" dt="2023-10-23T16:12:38.376" v="80" actId="113"/>
          <ac:spMkLst>
            <pc:docMk/>
            <pc:sldMk cId="939372638" sldId="390"/>
            <ac:spMk id="4" creationId="{DC199B05-9C6F-4460-B871-77B86C96BA79}"/>
          </ac:spMkLst>
        </pc:spChg>
        <pc:spChg chg="add mod ord">
          <ac:chgData name="Mary" userId="dcde030f-3639-412d-92b3-52dedaddc969" providerId="ADAL" clId="{EC795BD1-5681-475C-B861-82FF7002A981}" dt="2023-10-23T16:11:54.597" v="51"/>
          <ac:spMkLst>
            <pc:docMk/>
            <pc:sldMk cId="939372638" sldId="390"/>
            <ac:spMk id="5" creationId="{A1637B21-CFB4-451C-9DFA-FDE0DF42AD76}"/>
          </ac:spMkLst>
        </pc:spChg>
        <pc:spChg chg="add mod ord">
          <ac:chgData name="Mary" userId="dcde030f-3639-412d-92b3-52dedaddc969" providerId="ADAL" clId="{EC795BD1-5681-475C-B861-82FF7002A981}" dt="2023-10-23T16:12:48.282" v="82" actId="255"/>
          <ac:spMkLst>
            <pc:docMk/>
            <pc:sldMk cId="939372638" sldId="390"/>
            <ac:spMk id="6" creationId="{70F17D08-8D31-4D9C-8C4C-A373427D829A}"/>
          </ac:spMkLst>
        </pc:spChg>
        <pc:spChg chg="add mod ord">
          <ac:chgData name="Mary" userId="dcde030f-3639-412d-92b3-52dedaddc969" providerId="ADAL" clId="{EC795BD1-5681-475C-B861-82FF7002A981}" dt="2023-10-23T16:12:13.267" v="53"/>
          <ac:spMkLst>
            <pc:docMk/>
            <pc:sldMk cId="939372638" sldId="390"/>
            <ac:spMk id="7" creationId="{5954B9EB-197B-44D3-9B15-577114E61B86}"/>
          </ac:spMkLst>
        </pc:spChg>
      </pc:sldChg>
      <pc:sldChg chg="modSp add mod">
        <pc:chgData name="Mary" userId="dcde030f-3639-412d-92b3-52dedaddc969" providerId="ADAL" clId="{EC795BD1-5681-475C-B861-82FF7002A981}" dt="2023-10-23T16:13:40.287" v="110" actId="113"/>
        <pc:sldMkLst>
          <pc:docMk/>
          <pc:sldMk cId="1456338526" sldId="391"/>
        </pc:sldMkLst>
        <pc:spChg chg="mod">
          <ac:chgData name="Mary" userId="dcde030f-3639-412d-92b3-52dedaddc969" providerId="ADAL" clId="{EC795BD1-5681-475C-B861-82FF7002A981}" dt="2023-10-23T16:12:56.462" v="83" actId="113"/>
          <ac:spMkLst>
            <pc:docMk/>
            <pc:sldMk cId="1456338526" sldId="391"/>
            <ac:spMk id="4" creationId="{DC199B05-9C6F-4460-B871-77B86C96BA79}"/>
          </ac:spMkLst>
        </pc:spChg>
        <pc:spChg chg="mod">
          <ac:chgData name="Mary" userId="dcde030f-3639-412d-92b3-52dedaddc969" providerId="ADAL" clId="{EC795BD1-5681-475C-B861-82FF7002A981}" dt="2023-10-23T16:13:21.045" v="86"/>
          <ac:spMkLst>
            <pc:docMk/>
            <pc:sldMk cId="1456338526" sldId="391"/>
            <ac:spMk id="5" creationId="{A1637B21-CFB4-451C-9DFA-FDE0DF42AD76}"/>
          </ac:spMkLst>
        </pc:spChg>
        <pc:spChg chg="mod">
          <ac:chgData name="Mary" userId="dcde030f-3639-412d-92b3-52dedaddc969" providerId="ADAL" clId="{EC795BD1-5681-475C-B861-82FF7002A981}" dt="2023-10-23T16:13:40.287" v="110" actId="113"/>
          <ac:spMkLst>
            <pc:docMk/>
            <pc:sldMk cId="1456338526" sldId="391"/>
            <ac:spMk id="6" creationId="{70F17D08-8D31-4D9C-8C4C-A373427D829A}"/>
          </ac:spMkLst>
        </pc:spChg>
        <pc:spChg chg="mod">
          <ac:chgData name="Mary" userId="dcde030f-3639-412d-92b3-52dedaddc969" providerId="ADAL" clId="{EC795BD1-5681-475C-B861-82FF7002A981}" dt="2023-10-23T16:13:31.739" v="88"/>
          <ac:spMkLst>
            <pc:docMk/>
            <pc:sldMk cId="1456338526" sldId="391"/>
            <ac:spMk id="7" creationId="{5954B9EB-197B-44D3-9B15-577114E61B86}"/>
          </ac:spMkLst>
        </pc:spChg>
      </pc:sldChg>
      <pc:sldChg chg="modSp add mod">
        <pc:chgData name="Mary" userId="dcde030f-3639-412d-92b3-52dedaddc969" providerId="ADAL" clId="{EC795BD1-5681-475C-B861-82FF7002A981}" dt="2023-10-23T16:14:47.301" v="173"/>
        <pc:sldMkLst>
          <pc:docMk/>
          <pc:sldMk cId="864785961" sldId="392"/>
        </pc:sldMkLst>
        <pc:spChg chg="mod">
          <ac:chgData name="Mary" userId="dcde030f-3639-412d-92b3-52dedaddc969" providerId="ADAL" clId="{EC795BD1-5681-475C-B861-82FF7002A981}" dt="2023-10-23T16:14:08.940" v="144" actId="20577"/>
          <ac:spMkLst>
            <pc:docMk/>
            <pc:sldMk cId="864785961" sldId="392"/>
            <ac:spMk id="4" creationId="{DC199B05-9C6F-4460-B871-77B86C96BA79}"/>
          </ac:spMkLst>
        </pc:spChg>
        <pc:spChg chg="mod">
          <ac:chgData name="Mary" userId="dcde030f-3639-412d-92b3-52dedaddc969" providerId="ADAL" clId="{EC795BD1-5681-475C-B861-82FF7002A981}" dt="2023-10-23T16:14:10.858" v="145"/>
          <ac:spMkLst>
            <pc:docMk/>
            <pc:sldMk cId="864785961" sldId="392"/>
            <ac:spMk id="5" creationId="{A1637B21-CFB4-451C-9DFA-FDE0DF42AD76}"/>
          </ac:spMkLst>
        </pc:spChg>
        <pc:spChg chg="mod">
          <ac:chgData name="Mary" userId="dcde030f-3639-412d-92b3-52dedaddc969" providerId="ADAL" clId="{EC795BD1-5681-475C-B861-82FF7002A981}" dt="2023-10-23T16:14:29.452" v="171" actId="20577"/>
          <ac:spMkLst>
            <pc:docMk/>
            <pc:sldMk cId="864785961" sldId="392"/>
            <ac:spMk id="6" creationId="{70F17D08-8D31-4D9C-8C4C-A373427D829A}"/>
          </ac:spMkLst>
        </pc:spChg>
        <pc:spChg chg="mod">
          <ac:chgData name="Mary" userId="dcde030f-3639-412d-92b3-52dedaddc969" providerId="ADAL" clId="{EC795BD1-5681-475C-B861-82FF7002A981}" dt="2023-10-23T16:14:47.301" v="173"/>
          <ac:spMkLst>
            <pc:docMk/>
            <pc:sldMk cId="864785961" sldId="392"/>
            <ac:spMk id="7" creationId="{5954B9EB-197B-44D3-9B15-577114E61B86}"/>
          </ac:spMkLst>
        </pc:spChg>
      </pc:sldChg>
      <pc:sldChg chg="modSp add del mod">
        <pc:chgData name="Mary" userId="dcde030f-3639-412d-92b3-52dedaddc969" providerId="ADAL" clId="{EC795BD1-5681-475C-B861-82FF7002A981}" dt="2023-10-23T16:19:08.292" v="220" actId="47"/>
        <pc:sldMkLst>
          <pc:docMk/>
          <pc:sldMk cId="2005699671" sldId="393"/>
        </pc:sldMkLst>
        <pc:spChg chg="mod">
          <ac:chgData name="Mary" userId="dcde030f-3639-412d-92b3-52dedaddc969" providerId="ADAL" clId="{EC795BD1-5681-475C-B861-82FF7002A981}" dt="2023-10-23T16:17:59.309" v="219" actId="20577"/>
          <ac:spMkLst>
            <pc:docMk/>
            <pc:sldMk cId="2005699671" sldId="393"/>
            <ac:spMk id="3" creationId="{4BE47634-C3D5-4745-8B23-9DDB45B8090D}"/>
          </ac:spMkLst>
        </pc:spChg>
      </pc:sldChg>
      <pc:sldChg chg="modSp new del mod">
        <pc:chgData name="Mary" userId="dcde030f-3639-412d-92b3-52dedaddc969" providerId="ADAL" clId="{EC795BD1-5681-475C-B861-82FF7002A981}" dt="2023-10-23T16:16:05.173" v="210" actId="2696"/>
        <pc:sldMkLst>
          <pc:docMk/>
          <pc:sldMk cId="3851494280" sldId="393"/>
        </pc:sldMkLst>
        <pc:spChg chg="mod">
          <ac:chgData name="Mary" userId="dcde030f-3639-412d-92b3-52dedaddc969" providerId="ADAL" clId="{EC795BD1-5681-475C-B861-82FF7002A981}" dt="2023-10-23T16:15:07.863" v="209" actId="20577"/>
          <ac:spMkLst>
            <pc:docMk/>
            <pc:sldMk cId="3851494280" sldId="393"/>
            <ac:spMk id="2" creationId="{957850C4-5400-42B8-A580-B1DE966CB7D4}"/>
          </ac:spMkLst>
        </pc:spChg>
      </pc:sldChg>
      <pc:sldChg chg="add">
        <pc:chgData name="Mary" userId="dcde030f-3639-412d-92b3-52dedaddc969" providerId="ADAL" clId="{EC795BD1-5681-475C-B861-82FF7002A981}" dt="2023-10-23T16:17:09.832" v="212"/>
        <pc:sldMkLst>
          <pc:docMk/>
          <pc:sldMk cId="166014743" sldId="489"/>
        </pc:sldMkLst>
      </pc:sldChg>
      <pc:sldChg chg="addSp delSp modSp new mod setBg modClrScheme chgLayout">
        <pc:chgData name="Mary" userId="dcde030f-3639-412d-92b3-52dedaddc969" providerId="ADAL" clId="{EC795BD1-5681-475C-B861-82FF7002A981}" dt="2023-10-23T16:19:26.773" v="228" actId="1076"/>
        <pc:sldMkLst>
          <pc:docMk/>
          <pc:sldMk cId="626808676" sldId="490"/>
        </pc:sldMkLst>
        <pc:spChg chg="del">
          <ac:chgData name="Mary" userId="dcde030f-3639-412d-92b3-52dedaddc969" providerId="ADAL" clId="{EC795BD1-5681-475C-B861-82FF7002A981}" dt="2023-10-23T16:19:15.516" v="222" actId="700"/>
          <ac:spMkLst>
            <pc:docMk/>
            <pc:sldMk cId="626808676" sldId="490"/>
            <ac:spMk id="2" creationId="{57F0B004-A699-4DF2-9F30-0F7B55052AFC}"/>
          </ac:spMkLst>
        </pc:spChg>
        <pc:spChg chg="del">
          <ac:chgData name="Mary" userId="dcde030f-3639-412d-92b3-52dedaddc969" providerId="ADAL" clId="{EC795BD1-5681-475C-B861-82FF7002A981}" dt="2023-10-23T16:19:15.516" v="222" actId="700"/>
          <ac:spMkLst>
            <pc:docMk/>
            <pc:sldMk cId="626808676" sldId="490"/>
            <ac:spMk id="3" creationId="{9BC0142D-C3B0-45FF-BB04-53F6AF2DFB95}"/>
          </ac:spMkLst>
        </pc:spChg>
        <pc:picChg chg="add mod">
          <ac:chgData name="Mary" userId="dcde030f-3639-412d-92b3-52dedaddc969" providerId="ADAL" clId="{EC795BD1-5681-475C-B861-82FF7002A981}" dt="2023-10-23T16:19:26.773" v="228" actId="1076"/>
          <ac:picMkLst>
            <pc:docMk/>
            <pc:sldMk cId="626808676" sldId="490"/>
            <ac:picMk id="5" creationId="{3BF629DA-0989-4184-AA7B-FC4642CB832F}"/>
          </ac:picMkLst>
        </pc:picChg>
      </pc:sldChg>
      <pc:sldChg chg="modSp new mod">
        <pc:chgData name="Mary" userId="dcde030f-3639-412d-92b3-52dedaddc969" providerId="ADAL" clId="{EC795BD1-5681-475C-B861-82FF7002A981}" dt="2023-10-23T16:29:09.631" v="535" actId="27636"/>
        <pc:sldMkLst>
          <pc:docMk/>
          <pc:sldMk cId="1294294849" sldId="491"/>
        </pc:sldMkLst>
        <pc:spChg chg="mod">
          <ac:chgData name="Mary" userId="dcde030f-3639-412d-92b3-52dedaddc969" providerId="ADAL" clId="{EC795BD1-5681-475C-B861-82FF7002A981}" dt="2023-10-23T16:26:32.018" v="381" actId="20577"/>
          <ac:spMkLst>
            <pc:docMk/>
            <pc:sldMk cId="1294294849" sldId="491"/>
            <ac:spMk id="2" creationId="{73D5F85E-5ECD-4049-BA09-FDA4DE746E1A}"/>
          </ac:spMkLst>
        </pc:spChg>
        <pc:spChg chg="mod">
          <ac:chgData name="Mary" userId="dcde030f-3639-412d-92b3-52dedaddc969" providerId="ADAL" clId="{EC795BD1-5681-475C-B861-82FF7002A981}" dt="2023-10-23T16:29:09.631" v="535" actId="27636"/>
          <ac:spMkLst>
            <pc:docMk/>
            <pc:sldMk cId="1294294849" sldId="491"/>
            <ac:spMk id="3" creationId="{42B5BA0E-71CD-4DD4-8405-B44F661CDB5F}"/>
          </ac:spMkLst>
        </pc:spChg>
      </pc:sldChg>
      <pc:sldChg chg="addSp modSp new mod setBg">
        <pc:chgData name="Mary" userId="dcde030f-3639-412d-92b3-52dedaddc969" providerId="ADAL" clId="{EC795BD1-5681-475C-B861-82FF7002A981}" dt="2023-10-23T16:25:33.812" v="322" actId="113"/>
        <pc:sldMkLst>
          <pc:docMk/>
          <pc:sldMk cId="2643124317" sldId="492"/>
        </pc:sldMkLst>
        <pc:spChg chg="mod">
          <ac:chgData name="Mary" userId="dcde030f-3639-412d-92b3-52dedaddc969" providerId="ADAL" clId="{EC795BD1-5681-475C-B861-82FF7002A981}" dt="2023-10-23T16:22:31.951" v="275" actId="26606"/>
          <ac:spMkLst>
            <pc:docMk/>
            <pc:sldMk cId="2643124317" sldId="492"/>
            <ac:spMk id="2" creationId="{41F81C13-5C09-4CE7-98CF-DC3BADAA0011}"/>
          </ac:spMkLst>
        </pc:spChg>
        <pc:spChg chg="mod">
          <ac:chgData name="Mary" userId="dcde030f-3639-412d-92b3-52dedaddc969" providerId="ADAL" clId="{EC795BD1-5681-475C-B861-82FF7002A981}" dt="2023-10-23T16:25:33.812" v="322" actId="113"/>
          <ac:spMkLst>
            <pc:docMk/>
            <pc:sldMk cId="2643124317" sldId="492"/>
            <ac:spMk id="3" creationId="{43655514-38C6-4669-AC6B-7979424AF6A2}"/>
          </ac:spMkLst>
        </pc:spChg>
        <pc:spChg chg="add">
          <ac:chgData name="Mary" userId="dcde030f-3639-412d-92b3-52dedaddc969" providerId="ADAL" clId="{EC795BD1-5681-475C-B861-82FF7002A981}" dt="2023-10-23T16:22:31.951" v="275" actId="26606"/>
          <ac:spMkLst>
            <pc:docMk/>
            <pc:sldMk cId="2643124317" sldId="492"/>
            <ac:spMk id="11" creationId="{154480E5-678B-478F-9170-46502C5FB3E3}"/>
          </ac:spMkLst>
        </pc:spChg>
        <pc:spChg chg="add">
          <ac:chgData name="Mary" userId="dcde030f-3639-412d-92b3-52dedaddc969" providerId="ADAL" clId="{EC795BD1-5681-475C-B861-82FF7002A981}" dt="2023-10-23T16:22:31.951" v="275" actId="26606"/>
          <ac:spMkLst>
            <pc:docMk/>
            <pc:sldMk cId="2643124317" sldId="492"/>
            <ac:spMk id="13" creationId="{B598D875-841B-47A7-B4C8-237DBCE2FBC7}"/>
          </ac:spMkLst>
        </pc:spChg>
        <pc:picChg chg="add">
          <ac:chgData name="Mary" userId="dcde030f-3639-412d-92b3-52dedaddc969" providerId="ADAL" clId="{EC795BD1-5681-475C-B861-82FF7002A981}" dt="2023-10-23T16:22:31.951" v="275" actId="26606"/>
          <ac:picMkLst>
            <pc:docMk/>
            <pc:sldMk cId="2643124317" sldId="492"/>
            <ac:picMk id="5" creationId="{2E4200AD-6951-B609-EF20-2DD0D380CDC3}"/>
          </ac:picMkLst>
        </pc:picChg>
        <pc:cxnChg chg="add">
          <ac:chgData name="Mary" userId="dcde030f-3639-412d-92b3-52dedaddc969" providerId="ADAL" clId="{EC795BD1-5681-475C-B861-82FF7002A981}" dt="2023-10-23T16:22:31.951" v="275" actId="26606"/>
          <ac:cxnSpMkLst>
            <pc:docMk/>
            <pc:sldMk cId="2643124317" sldId="492"/>
            <ac:cxnSpMk id="9" creationId="{E9F7CBA9-9D9B-479F-AAB5-BF785971CD85}"/>
          </ac:cxnSpMkLst>
        </pc:cxnChg>
      </pc:sldChg>
      <pc:sldChg chg="addSp modSp add mod setBg">
        <pc:chgData name="Mary" userId="dcde030f-3639-412d-92b3-52dedaddc969" providerId="ADAL" clId="{EC795BD1-5681-475C-B861-82FF7002A981}" dt="2023-10-23T16:53:38.211" v="688" actId="113"/>
        <pc:sldMkLst>
          <pc:docMk/>
          <pc:sldMk cId="2990606267" sldId="493"/>
        </pc:sldMkLst>
        <pc:spChg chg="mod">
          <ac:chgData name="Mary" userId="dcde030f-3639-412d-92b3-52dedaddc969" providerId="ADAL" clId="{EC795BD1-5681-475C-B861-82FF7002A981}" dt="2023-10-23T16:52:41.412" v="654" actId="26606"/>
          <ac:spMkLst>
            <pc:docMk/>
            <pc:sldMk cId="2990606267" sldId="493"/>
            <ac:spMk id="2" creationId="{73D5F85E-5ECD-4049-BA09-FDA4DE746E1A}"/>
          </ac:spMkLst>
        </pc:spChg>
        <pc:spChg chg="mod">
          <ac:chgData name="Mary" userId="dcde030f-3639-412d-92b3-52dedaddc969" providerId="ADAL" clId="{EC795BD1-5681-475C-B861-82FF7002A981}" dt="2023-10-23T16:53:38.211" v="688" actId="113"/>
          <ac:spMkLst>
            <pc:docMk/>
            <pc:sldMk cId="2990606267" sldId="493"/>
            <ac:spMk id="3" creationId="{42B5BA0E-71CD-4DD4-8405-B44F661CDB5F}"/>
          </ac:spMkLst>
        </pc:spChg>
        <pc:spChg chg="add">
          <ac:chgData name="Mary" userId="dcde030f-3639-412d-92b3-52dedaddc969" providerId="ADAL" clId="{EC795BD1-5681-475C-B861-82FF7002A981}" dt="2023-10-23T16:52:41.412" v="654" actId="26606"/>
          <ac:spMkLst>
            <pc:docMk/>
            <pc:sldMk cId="2990606267" sldId="493"/>
            <ac:spMk id="9" creationId="{311973C2-EB8B-452A-A698-4A252FD3AE28}"/>
          </ac:spMkLst>
        </pc:spChg>
        <pc:spChg chg="add">
          <ac:chgData name="Mary" userId="dcde030f-3639-412d-92b3-52dedaddc969" providerId="ADAL" clId="{EC795BD1-5681-475C-B861-82FF7002A981}" dt="2023-10-23T16:52:41.412" v="654" actId="26606"/>
          <ac:spMkLst>
            <pc:docMk/>
            <pc:sldMk cId="2990606267" sldId="493"/>
            <ac:spMk id="11" creationId="{10162E77-11AD-44A7-84EC-40C59EEFBD2E}"/>
          </ac:spMkLst>
        </pc:spChg>
        <pc:picChg chg="add">
          <ac:chgData name="Mary" userId="dcde030f-3639-412d-92b3-52dedaddc969" providerId="ADAL" clId="{EC795BD1-5681-475C-B861-82FF7002A981}" dt="2023-10-23T16:52:41.412" v="654" actId="26606"/>
          <ac:picMkLst>
            <pc:docMk/>
            <pc:sldMk cId="2990606267" sldId="493"/>
            <ac:picMk id="5" creationId="{B81CCBC6-0F45-64D4-E994-AFF22A12CB72}"/>
          </ac:picMkLst>
        </pc:picChg>
        <pc:cxnChg chg="add">
          <ac:chgData name="Mary" userId="dcde030f-3639-412d-92b3-52dedaddc969" providerId="ADAL" clId="{EC795BD1-5681-475C-B861-82FF7002A981}" dt="2023-10-23T16:52:41.412" v="654" actId="26606"/>
          <ac:cxnSpMkLst>
            <pc:docMk/>
            <pc:sldMk cId="2990606267" sldId="493"/>
            <ac:cxnSpMk id="13" creationId="{5AB158E9-1B40-4CD6-95F0-95CA11DF7B7A}"/>
          </ac:cxnSpMkLst>
        </pc:cxnChg>
      </pc:sldChg>
      <pc:sldChg chg="modSp add mod">
        <pc:chgData name="Mary" userId="dcde030f-3639-412d-92b3-52dedaddc969" providerId="ADAL" clId="{EC795BD1-5681-475C-B861-82FF7002A981}" dt="2023-10-23T16:51:05.061" v="600" actId="113"/>
        <pc:sldMkLst>
          <pc:docMk/>
          <pc:sldMk cId="2650962537" sldId="494"/>
        </pc:sldMkLst>
        <pc:spChg chg="mod">
          <ac:chgData name="Mary" userId="dcde030f-3639-412d-92b3-52dedaddc969" providerId="ADAL" clId="{EC795BD1-5681-475C-B861-82FF7002A981}" dt="2023-10-23T16:51:05.061" v="600" actId="113"/>
          <ac:spMkLst>
            <pc:docMk/>
            <pc:sldMk cId="2650962537" sldId="494"/>
            <ac:spMk id="3" creationId="{42B5BA0E-71CD-4DD4-8405-B44F661CDB5F}"/>
          </ac:spMkLst>
        </pc:spChg>
      </pc:sldChg>
      <pc:sldChg chg="addSp delSp modSp add mod setBg">
        <pc:chgData name="Mary" userId="dcde030f-3639-412d-92b3-52dedaddc969" providerId="ADAL" clId="{EC795BD1-5681-475C-B861-82FF7002A981}" dt="2023-10-23T16:52:35.644" v="653" actId="26606"/>
        <pc:sldMkLst>
          <pc:docMk/>
          <pc:sldMk cId="3281877170" sldId="495"/>
        </pc:sldMkLst>
        <pc:spChg chg="mod">
          <ac:chgData name="Mary" userId="dcde030f-3639-412d-92b3-52dedaddc969" providerId="ADAL" clId="{EC795BD1-5681-475C-B861-82FF7002A981}" dt="2023-10-23T16:52:35.644" v="653" actId="26606"/>
          <ac:spMkLst>
            <pc:docMk/>
            <pc:sldMk cId="3281877170" sldId="495"/>
            <ac:spMk id="2" creationId="{73D5F85E-5ECD-4049-BA09-FDA4DE746E1A}"/>
          </ac:spMkLst>
        </pc:spChg>
        <pc:spChg chg="add del mod">
          <ac:chgData name="Mary" userId="dcde030f-3639-412d-92b3-52dedaddc969" providerId="ADAL" clId="{EC795BD1-5681-475C-B861-82FF7002A981}" dt="2023-10-23T16:52:35.644" v="653" actId="26606"/>
          <ac:spMkLst>
            <pc:docMk/>
            <pc:sldMk cId="3281877170" sldId="495"/>
            <ac:spMk id="3" creationId="{42B5BA0E-71CD-4DD4-8405-B44F661CDB5F}"/>
          </ac:spMkLst>
        </pc:spChg>
        <pc:spChg chg="add del">
          <ac:chgData name="Mary" userId="dcde030f-3639-412d-92b3-52dedaddc969" providerId="ADAL" clId="{EC795BD1-5681-475C-B861-82FF7002A981}" dt="2023-10-23T16:52:35.636" v="652" actId="26606"/>
          <ac:spMkLst>
            <pc:docMk/>
            <pc:sldMk cId="3281877170" sldId="495"/>
            <ac:spMk id="8" creationId="{3741B58E-3B65-4A01-A276-975AB2CF8A08}"/>
          </ac:spMkLst>
        </pc:spChg>
        <pc:spChg chg="add del">
          <ac:chgData name="Mary" userId="dcde030f-3639-412d-92b3-52dedaddc969" providerId="ADAL" clId="{EC795BD1-5681-475C-B861-82FF7002A981}" dt="2023-10-23T16:52:17.080" v="644" actId="26606"/>
          <ac:spMkLst>
            <pc:docMk/>
            <pc:sldMk cId="3281877170" sldId="495"/>
            <ac:spMk id="9" creationId="{311973C2-EB8B-452A-A698-4A252FD3AE28}"/>
          </ac:spMkLst>
        </pc:spChg>
        <pc:spChg chg="add del">
          <ac:chgData name="Mary" userId="dcde030f-3639-412d-92b3-52dedaddc969" providerId="ADAL" clId="{EC795BD1-5681-475C-B861-82FF7002A981}" dt="2023-10-23T16:52:35.636" v="652" actId="26606"/>
          <ac:spMkLst>
            <pc:docMk/>
            <pc:sldMk cId="3281877170" sldId="495"/>
            <ac:spMk id="10" creationId="{7AAC67C3-831B-4AB1-A259-DFB839CAFAFC}"/>
          </ac:spMkLst>
        </pc:spChg>
        <pc:spChg chg="add del">
          <ac:chgData name="Mary" userId="dcde030f-3639-412d-92b3-52dedaddc969" providerId="ADAL" clId="{EC795BD1-5681-475C-B861-82FF7002A981}" dt="2023-10-23T16:52:17.080" v="644" actId="26606"/>
          <ac:spMkLst>
            <pc:docMk/>
            <pc:sldMk cId="3281877170" sldId="495"/>
            <ac:spMk id="11" creationId="{10162E77-11AD-44A7-84EC-40C59EEFBD2E}"/>
          </ac:spMkLst>
        </pc:spChg>
        <pc:spChg chg="add del">
          <ac:chgData name="Mary" userId="dcde030f-3639-412d-92b3-52dedaddc969" providerId="ADAL" clId="{EC795BD1-5681-475C-B861-82FF7002A981}" dt="2023-10-23T16:52:35.636" v="652" actId="26606"/>
          <ac:spMkLst>
            <pc:docMk/>
            <pc:sldMk cId="3281877170" sldId="495"/>
            <ac:spMk id="12" creationId="{054B3F04-9EAC-45C0-B3CE-0387EEA10A0C}"/>
          </ac:spMkLst>
        </pc:spChg>
        <pc:spChg chg="add">
          <ac:chgData name="Mary" userId="dcde030f-3639-412d-92b3-52dedaddc969" providerId="ADAL" clId="{EC795BD1-5681-475C-B861-82FF7002A981}" dt="2023-10-23T16:52:35.644" v="653" actId="26606"/>
          <ac:spMkLst>
            <pc:docMk/>
            <pc:sldMk cId="3281877170" sldId="495"/>
            <ac:spMk id="14" creationId="{311973C2-EB8B-452A-A698-4A252FD3AE28}"/>
          </ac:spMkLst>
        </pc:spChg>
        <pc:spChg chg="add">
          <ac:chgData name="Mary" userId="dcde030f-3639-412d-92b3-52dedaddc969" providerId="ADAL" clId="{EC795BD1-5681-475C-B861-82FF7002A981}" dt="2023-10-23T16:52:35.644" v="653" actId="26606"/>
          <ac:spMkLst>
            <pc:docMk/>
            <pc:sldMk cId="3281877170" sldId="495"/>
            <ac:spMk id="16" creationId="{10162E77-11AD-44A7-84EC-40C59EEFBD2E}"/>
          </ac:spMkLst>
        </pc:spChg>
        <pc:graphicFrameChg chg="add del">
          <ac:chgData name="Mary" userId="dcde030f-3639-412d-92b3-52dedaddc969" providerId="ADAL" clId="{EC795BD1-5681-475C-B861-82FF7002A981}" dt="2023-10-23T16:52:20.924" v="646" actId="26606"/>
          <ac:graphicFrameMkLst>
            <pc:docMk/>
            <pc:sldMk cId="3281877170" sldId="495"/>
            <ac:graphicFrameMk id="15" creationId="{73B941C2-1140-BDDC-6BC4-5B02322CC80B}"/>
          </ac:graphicFrameMkLst>
        </pc:graphicFrameChg>
        <pc:picChg chg="add del">
          <ac:chgData name="Mary" userId="dcde030f-3639-412d-92b3-52dedaddc969" providerId="ADAL" clId="{EC795BD1-5681-475C-B861-82FF7002A981}" dt="2023-10-23T16:52:17.080" v="644" actId="26606"/>
          <ac:picMkLst>
            <pc:docMk/>
            <pc:sldMk cId="3281877170" sldId="495"/>
            <ac:picMk id="5" creationId="{2FBF9A05-4EC2-962B-3A93-31524EAB994C}"/>
          </ac:picMkLst>
        </pc:picChg>
        <pc:picChg chg="add">
          <ac:chgData name="Mary" userId="dcde030f-3639-412d-92b3-52dedaddc969" providerId="ADAL" clId="{EC795BD1-5681-475C-B861-82FF7002A981}" dt="2023-10-23T16:52:35.644" v="653" actId="26606"/>
          <ac:picMkLst>
            <pc:docMk/>
            <pc:sldMk cId="3281877170" sldId="495"/>
            <ac:picMk id="17" creationId="{87D5650D-BE15-DE27-F84F-792155964E1C}"/>
          </ac:picMkLst>
        </pc:picChg>
        <pc:cxnChg chg="add del">
          <ac:chgData name="Mary" userId="dcde030f-3639-412d-92b3-52dedaddc969" providerId="ADAL" clId="{EC795BD1-5681-475C-B861-82FF7002A981}" dt="2023-10-23T16:52:17.080" v="644" actId="26606"/>
          <ac:cxnSpMkLst>
            <pc:docMk/>
            <pc:sldMk cId="3281877170" sldId="495"/>
            <ac:cxnSpMk id="13" creationId="{5AB158E9-1B40-4CD6-95F0-95CA11DF7B7A}"/>
          </ac:cxnSpMkLst>
        </pc:cxnChg>
        <pc:cxnChg chg="add">
          <ac:chgData name="Mary" userId="dcde030f-3639-412d-92b3-52dedaddc969" providerId="ADAL" clId="{EC795BD1-5681-475C-B861-82FF7002A981}" dt="2023-10-23T16:52:35.644" v="653" actId="26606"/>
          <ac:cxnSpMkLst>
            <pc:docMk/>
            <pc:sldMk cId="3281877170" sldId="495"/>
            <ac:cxnSpMk id="18" creationId="{5AB158E9-1B40-4CD6-95F0-95CA11DF7B7A}"/>
          </ac:cxnSpMkLst>
        </pc:cxnChg>
      </pc:sldChg>
      <pc:sldChg chg="modSp add mod">
        <pc:chgData name="Mary" userId="dcde030f-3639-412d-92b3-52dedaddc969" providerId="ADAL" clId="{EC795BD1-5681-475C-B861-82FF7002A981}" dt="2023-10-23T16:56:00.099" v="939" actId="14100"/>
        <pc:sldMkLst>
          <pc:docMk/>
          <pc:sldMk cId="3969607939" sldId="496"/>
        </pc:sldMkLst>
        <pc:spChg chg="mod">
          <ac:chgData name="Mary" userId="dcde030f-3639-412d-92b3-52dedaddc969" providerId="ADAL" clId="{EC795BD1-5681-475C-B861-82FF7002A981}" dt="2023-10-23T16:56:00.099" v="939" actId="14100"/>
          <ac:spMkLst>
            <pc:docMk/>
            <pc:sldMk cId="3969607939" sldId="496"/>
            <ac:spMk id="3" creationId="{42B5BA0E-71CD-4DD4-8405-B44F661CDB5F}"/>
          </ac:spMkLst>
        </pc:spChg>
      </pc:sldChg>
      <pc:sldChg chg="modSp add mod">
        <pc:chgData name="Mary" userId="dcde030f-3639-412d-92b3-52dedaddc969" providerId="ADAL" clId="{EC795BD1-5681-475C-B861-82FF7002A981}" dt="2023-10-23T16:58:32.733" v="1223" actId="27636"/>
        <pc:sldMkLst>
          <pc:docMk/>
          <pc:sldMk cId="3981594091" sldId="497"/>
        </pc:sldMkLst>
        <pc:spChg chg="mod">
          <ac:chgData name="Mary" userId="dcde030f-3639-412d-92b3-52dedaddc969" providerId="ADAL" clId="{EC795BD1-5681-475C-B861-82FF7002A981}" dt="2023-10-23T16:58:32.733" v="1223" actId="27636"/>
          <ac:spMkLst>
            <pc:docMk/>
            <pc:sldMk cId="3981594091" sldId="497"/>
            <ac:spMk id="3" creationId="{42B5BA0E-71CD-4DD4-8405-B44F661CDB5F}"/>
          </ac:spMkLst>
        </pc:spChg>
      </pc:sldChg>
      <pc:sldChg chg="add del">
        <pc:chgData name="Mary" userId="dcde030f-3639-412d-92b3-52dedaddc969" providerId="ADAL" clId="{EC795BD1-5681-475C-B861-82FF7002A981}" dt="2023-10-23T16:17:15.228" v="213" actId="47"/>
        <pc:sldMkLst>
          <pc:docMk/>
          <pc:sldMk cId="3822011244" sldId="500"/>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D4BA98F-A15A-4A28-B7B5-040124AC36DC}"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en-IE"/>
        </a:p>
      </dgm:t>
    </dgm:pt>
    <dgm:pt modelId="{6CE31153-197C-4572-87CA-76F0E56A0DD6}">
      <dgm:prSet phldrT="[Text]"/>
      <dgm:spPr/>
      <dgm:t>
        <a:bodyPr/>
        <a:lstStyle/>
        <a:p>
          <a:r>
            <a:rPr lang="en-IE" dirty="0"/>
            <a:t>Before Change</a:t>
          </a:r>
        </a:p>
      </dgm:t>
    </dgm:pt>
    <dgm:pt modelId="{5CAD4576-6038-4FA6-ADA3-9AC656DA90E7}" type="parTrans" cxnId="{2D2585FC-C7FB-44DD-B79A-707B04BD17D1}">
      <dgm:prSet/>
      <dgm:spPr/>
      <dgm:t>
        <a:bodyPr/>
        <a:lstStyle/>
        <a:p>
          <a:endParaRPr lang="en-IE"/>
        </a:p>
      </dgm:t>
    </dgm:pt>
    <dgm:pt modelId="{F78EA596-EF5C-4C49-838B-34DEEED6B71F}" type="sibTrans" cxnId="{2D2585FC-C7FB-44DD-B79A-707B04BD17D1}">
      <dgm:prSet/>
      <dgm:spPr/>
      <dgm:t>
        <a:bodyPr/>
        <a:lstStyle/>
        <a:p>
          <a:endParaRPr lang="en-IE"/>
        </a:p>
      </dgm:t>
    </dgm:pt>
    <dgm:pt modelId="{6740246A-2209-4191-B2ED-FEF9346E7419}">
      <dgm:prSet phldrT="[Text]"/>
      <dgm:spPr/>
      <dgm:t>
        <a:bodyPr/>
        <a:lstStyle/>
        <a:p>
          <a:r>
            <a:rPr lang="en-IE" dirty="0"/>
            <a:t>Serves as a catalyst for change</a:t>
          </a:r>
        </a:p>
      </dgm:t>
    </dgm:pt>
    <dgm:pt modelId="{3EBF33BF-1286-4E0E-AAE6-76CFF5FE28A8}" type="parTrans" cxnId="{6495CC6F-351D-41B2-A413-D603967D6369}">
      <dgm:prSet/>
      <dgm:spPr/>
      <dgm:t>
        <a:bodyPr/>
        <a:lstStyle/>
        <a:p>
          <a:endParaRPr lang="en-IE"/>
        </a:p>
      </dgm:t>
    </dgm:pt>
    <dgm:pt modelId="{4C83D93D-AF49-4464-B27E-27FDBC1DFCED}" type="sibTrans" cxnId="{6495CC6F-351D-41B2-A413-D603967D6369}">
      <dgm:prSet/>
      <dgm:spPr/>
      <dgm:t>
        <a:bodyPr/>
        <a:lstStyle/>
        <a:p>
          <a:endParaRPr lang="en-IE"/>
        </a:p>
      </dgm:t>
    </dgm:pt>
    <dgm:pt modelId="{A7E833B9-7032-45CE-BF34-53C6F10E9A7A}">
      <dgm:prSet phldrT="[Text]"/>
      <dgm:spPr/>
      <dgm:t>
        <a:bodyPr/>
        <a:lstStyle/>
        <a:p>
          <a:r>
            <a:rPr lang="en-IE" dirty="0"/>
            <a:t>During Change</a:t>
          </a:r>
        </a:p>
      </dgm:t>
    </dgm:pt>
    <dgm:pt modelId="{129C367B-CCCF-4493-B71A-7A416B9FBDCA}" type="parTrans" cxnId="{3DE7A7F4-BA46-4BE6-8D0D-D087318A232A}">
      <dgm:prSet/>
      <dgm:spPr/>
      <dgm:t>
        <a:bodyPr/>
        <a:lstStyle/>
        <a:p>
          <a:endParaRPr lang="en-IE"/>
        </a:p>
      </dgm:t>
    </dgm:pt>
    <dgm:pt modelId="{D7D3B267-C90B-480E-BC36-FD0019F1B6C5}" type="sibTrans" cxnId="{3DE7A7F4-BA46-4BE6-8D0D-D087318A232A}">
      <dgm:prSet/>
      <dgm:spPr/>
      <dgm:t>
        <a:bodyPr/>
        <a:lstStyle/>
        <a:p>
          <a:endParaRPr lang="en-IE"/>
        </a:p>
      </dgm:t>
    </dgm:pt>
    <dgm:pt modelId="{E7F6A743-9C23-4917-8EA2-E62F56C41521}">
      <dgm:prSet phldrT="[Text]"/>
      <dgm:spPr/>
      <dgm:t>
        <a:bodyPr/>
        <a:lstStyle/>
        <a:p>
          <a:r>
            <a:rPr lang="en-IE" dirty="0"/>
            <a:t>Facilitate the discussions about the change and its content with all stakeholders</a:t>
          </a:r>
        </a:p>
      </dgm:t>
    </dgm:pt>
    <dgm:pt modelId="{3E5A5D24-BCAA-4B8C-8D11-D01591FBD701}" type="parTrans" cxnId="{7BA28C8E-04ED-4FE6-A9E5-6B339B247F5C}">
      <dgm:prSet/>
      <dgm:spPr/>
      <dgm:t>
        <a:bodyPr/>
        <a:lstStyle/>
        <a:p>
          <a:endParaRPr lang="en-IE"/>
        </a:p>
      </dgm:t>
    </dgm:pt>
    <dgm:pt modelId="{21063B97-A354-4DF4-BE2D-B3CCEEB8BD56}" type="sibTrans" cxnId="{7BA28C8E-04ED-4FE6-A9E5-6B339B247F5C}">
      <dgm:prSet/>
      <dgm:spPr/>
      <dgm:t>
        <a:bodyPr/>
        <a:lstStyle/>
        <a:p>
          <a:endParaRPr lang="en-IE"/>
        </a:p>
      </dgm:t>
    </dgm:pt>
    <dgm:pt modelId="{969C5040-D96D-4B32-9F1D-32DF5E366423}">
      <dgm:prSet phldrT="[Text]"/>
      <dgm:spPr/>
      <dgm:t>
        <a:bodyPr/>
        <a:lstStyle/>
        <a:p>
          <a:r>
            <a:rPr lang="en-IE" dirty="0"/>
            <a:t>Post-Change</a:t>
          </a:r>
        </a:p>
      </dgm:t>
    </dgm:pt>
    <dgm:pt modelId="{18F9E3FF-3B76-425F-88E3-C3F044996E14}" type="parTrans" cxnId="{CCC1DDAA-AA16-423A-B941-82810261929B}">
      <dgm:prSet/>
      <dgm:spPr/>
      <dgm:t>
        <a:bodyPr/>
        <a:lstStyle/>
        <a:p>
          <a:endParaRPr lang="en-IE"/>
        </a:p>
      </dgm:t>
    </dgm:pt>
    <dgm:pt modelId="{DB30C4F2-4520-4848-B7C7-095B3D359A03}" type="sibTrans" cxnId="{CCC1DDAA-AA16-423A-B941-82810261929B}">
      <dgm:prSet/>
      <dgm:spPr/>
      <dgm:t>
        <a:bodyPr/>
        <a:lstStyle/>
        <a:p>
          <a:endParaRPr lang="en-IE"/>
        </a:p>
      </dgm:t>
    </dgm:pt>
    <dgm:pt modelId="{9555E005-D7A3-4C03-B53D-B125B86AF5AE}">
      <dgm:prSet phldrT="[Text]"/>
      <dgm:spPr/>
      <dgm:t>
        <a:bodyPr/>
        <a:lstStyle/>
        <a:p>
          <a:r>
            <a:rPr lang="en-IE" dirty="0"/>
            <a:t>Help employees to break from the past and adapt a new culture</a:t>
          </a:r>
        </a:p>
      </dgm:t>
    </dgm:pt>
    <dgm:pt modelId="{88685CF3-DE2B-4454-B6B5-2D9F7DB416C9}" type="parTrans" cxnId="{77AD9B0B-D0EE-470F-8378-01D349CA11FC}">
      <dgm:prSet/>
      <dgm:spPr/>
      <dgm:t>
        <a:bodyPr/>
        <a:lstStyle/>
        <a:p>
          <a:endParaRPr lang="en-IE"/>
        </a:p>
      </dgm:t>
    </dgm:pt>
    <dgm:pt modelId="{A7A78BF9-2460-4675-A763-9A12B5A0529A}" type="sibTrans" cxnId="{77AD9B0B-D0EE-470F-8378-01D349CA11FC}">
      <dgm:prSet/>
      <dgm:spPr/>
      <dgm:t>
        <a:bodyPr/>
        <a:lstStyle/>
        <a:p>
          <a:endParaRPr lang="en-IE"/>
        </a:p>
      </dgm:t>
    </dgm:pt>
    <dgm:pt modelId="{B60D6F19-BE12-4BDD-BDE5-9A6203FDE52F}">
      <dgm:prSet phldrT="[Text]"/>
      <dgm:spPr/>
      <dgm:t>
        <a:bodyPr/>
        <a:lstStyle/>
        <a:p>
          <a:r>
            <a:rPr lang="en-IE" dirty="0"/>
            <a:t>Helps the organisation build a capacity for change</a:t>
          </a:r>
        </a:p>
      </dgm:t>
    </dgm:pt>
    <dgm:pt modelId="{22F8832E-DEF7-409A-9812-87987280B5C3}" type="parTrans" cxnId="{616EC832-A08B-4C1F-884F-FC8B3A4357B1}">
      <dgm:prSet/>
      <dgm:spPr/>
      <dgm:t>
        <a:bodyPr/>
        <a:lstStyle/>
        <a:p>
          <a:endParaRPr lang="en-IE"/>
        </a:p>
      </dgm:t>
    </dgm:pt>
    <dgm:pt modelId="{ACA639D3-496F-4FC0-9DF1-FFC2A5CD444A}" type="sibTrans" cxnId="{616EC832-A08B-4C1F-884F-FC8B3A4357B1}">
      <dgm:prSet/>
      <dgm:spPr/>
      <dgm:t>
        <a:bodyPr/>
        <a:lstStyle/>
        <a:p>
          <a:endParaRPr lang="en-IE"/>
        </a:p>
      </dgm:t>
    </dgm:pt>
    <dgm:pt modelId="{6586662C-A358-4A4E-A7C3-9979B38AF84C}">
      <dgm:prSet phldrT="[Text]"/>
      <dgm:spPr/>
      <dgm:t>
        <a:bodyPr/>
        <a:lstStyle/>
        <a:p>
          <a:r>
            <a:rPr lang="en-IE" dirty="0"/>
            <a:t>Ensure project team has necessary skills, training</a:t>
          </a:r>
        </a:p>
      </dgm:t>
    </dgm:pt>
    <dgm:pt modelId="{F18F84E7-13B7-49B1-9743-9D2B28413AA6}" type="parTrans" cxnId="{BD724ECB-B753-4FBC-9339-FF872A825496}">
      <dgm:prSet/>
      <dgm:spPr/>
      <dgm:t>
        <a:bodyPr/>
        <a:lstStyle/>
        <a:p>
          <a:endParaRPr lang="en-IE"/>
        </a:p>
      </dgm:t>
    </dgm:pt>
    <dgm:pt modelId="{18121F48-4C94-4310-AEDA-6B20C302FCAE}" type="sibTrans" cxnId="{BD724ECB-B753-4FBC-9339-FF872A825496}">
      <dgm:prSet/>
      <dgm:spPr/>
      <dgm:t>
        <a:bodyPr/>
        <a:lstStyle/>
        <a:p>
          <a:endParaRPr lang="en-IE"/>
        </a:p>
      </dgm:t>
    </dgm:pt>
    <dgm:pt modelId="{4680303F-7B77-4DE5-9D3B-F4EFBAA00C3E}">
      <dgm:prSet phldrT="[Text]"/>
      <dgm:spPr/>
      <dgm:t>
        <a:bodyPr/>
        <a:lstStyle/>
        <a:p>
          <a:r>
            <a:rPr lang="en-IE" dirty="0"/>
            <a:t>Plan change process with sponsors</a:t>
          </a:r>
        </a:p>
      </dgm:t>
    </dgm:pt>
    <dgm:pt modelId="{0D68BFAA-0B8D-4428-AC9D-CDFB9558DA8C}" type="parTrans" cxnId="{182A083B-441E-4FD2-8603-D65BAB420069}">
      <dgm:prSet/>
      <dgm:spPr/>
      <dgm:t>
        <a:bodyPr/>
        <a:lstStyle/>
        <a:p>
          <a:endParaRPr lang="en-IE"/>
        </a:p>
      </dgm:t>
    </dgm:pt>
    <dgm:pt modelId="{FC101FC1-4F97-4038-80AD-D6127216CCDD}" type="sibTrans" cxnId="{182A083B-441E-4FD2-8603-D65BAB420069}">
      <dgm:prSet/>
      <dgm:spPr/>
      <dgm:t>
        <a:bodyPr/>
        <a:lstStyle/>
        <a:p>
          <a:endParaRPr lang="en-IE"/>
        </a:p>
      </dgm:t>
    </dgm:pt>
    <dgm:pt modelId="{03F95F06-6808-465C-9FC8-1AE5F5F9DFA5}">
      <dgm:prSet phldrT="[Text]"/>
      <dgm:spPr/>
      <dgm:t>
        <a:bodyPr/>
        <a:lstStyle/>
        <a:p>
          <a:r>
            <a:rPr lang="en-IE" dirty="0"/>
            <a:t>Coach Sponsor</a:t>
          </a:r>
        </a:p>
      </dgm:t>
    </dgm:pt>
    <dgm:pt modelId="{A66DEBC2-1562-4B58-BCDB-E3E4EEB15CB2}" type="parTrans" cxnId="{8BB6B003-9CD0-4212-9915-5C0B9A6B5A39}">
      <dgm:prSet/>
      <dgm:spPr/>
      <dgm:t>
        <a:bodyPr/>
        <a:lstStyle/>
        <a:p>
          <a:endParaRPr lang="en-IE"/>
        </a:p>
      </dgm:t>
    </dgm:pt>
    <dgm:pt modelId="{76FBE0A2-2CA4-46C3-873B-B8679971AF91}" type="sibTrans" cxnId="{8BB6B003-9CD0-4212-9915-5C0B9A6B5A39}">
      <dgm:prSet/>
      <dgm:spPr/>
      <dgm:t>
        <a:bodyPr/>
        <a:lstStyle/>
        <a:p>
          <a:endParaRPr lang="en-IE"/>
        </a:p>
      </dgm:t>
    </dgm:pt>
    <dgm:pt modelId="{EA853628-F541-47C4-8E20-A2AD991BDEC5}">
      <dgm:prSet phldrT="[Text]"/>
      <dgm:spPr/>
      <dgm:t>
        <a:bodyPr/>
        <a:lstStyle/>
        <a:p>
          <a:r>
            <a:rPr lang="en-IE" dirty="0"/>
            <a:t>Lead by example by doing it first within the HR function</a:t>
          </a:r>
        </a:p>
      </dgm:t>
    </dgm:pt>
    <dgm:pt modelId="{5D0A6F3D-F934-4E7C-B36F-3BDD62A3CCDA}" type="parTrans" cxnId="{EAAAAAF2-07F0-4D44-8951-B885597981CF}">
      <dgm:prSet/>
      <dgm:spPr/>
      <dgm:t>
        <a:bodyPr/>
        <a:lstStyle/>
        <a:p>
          <a:endParaRPr lang="en-IE"/>
        </a:p>
      </dgm:t>
    </dgm:pt>
    <dgm:pt modelId="{C26D71C8-D098-46B5-9EF1-95A8259F3856}" type="sibTrans" cxnId="{EAAAAAF2-07F0-4D44-8951-B885597981CF}">
      <dgm:prSet/>
      <dgm:spPr/>
      <dgm:t>
        <a:bodyPr/>
        <a:lstStyle/>
        <a:p>
          <a:endParaRPr lang="en-IE"/>
        </a:p>
      </dgm:t>
    </dgm:pt>
    <dgm:pt modelId="{E673949C-64D6-4418-988D-E896860997CD}">
      <dgm:prSet phldrT="[Text]"/>
      <dgm:spPr/>
      <dgm:t>
        <a:bodyPr/>
        <a:lstStyle/>
        <a:p>
          <a:r>
            <a:rPr lang="en-IE" dirty="0"/>
            <a:t>Coach leaders through the change</a:t>
          </a:r>
        </a:p>
      </dgm:t>
    </dgm:pt>
    <dgm:pt modelId="{87008CAA-4E75-4427-9EFD-2BD3327C6ADF}" type="parTrans" cxnId="{D6D78842-B622-4EB2-BBB4-8FAE9F228FE8}">
      <dgm:prSet/>
      <dgm:spPr/>
      <dgm:t>
        <a:bodyPr/>
        <a:lstStyle/>
        <a:p>
          <a:endParaRPr lang="en-IE"/>
        </a:p>
      </dgm:t>
    </dgm:pt>
    <dgm:pt modelId="{4E32B570-ADC6-4DBF-9062-988BB3AA222C}" type="sibTrans" cxnId="{D6D78842-B622-4EB2-BBB4-8FAE9F228FE8}">
      <dgm:prSet/>
      <dgm:spPr/>
      <dgm:t>
        <a:bodyPr/>
        <a:lstStyle/>
        <a:p>
          <a:endParaRPr lang="en-IE"/>
        </a:p>
      </dgm:t>
    </dgm:pt>
    <dgm:pt modelId="{C627DDA9-637B-459F-99F1-28FE9F8D7DE1}">
      <dgm:prSet phldrT="[Text]"/>
      <dgm:spPr/>
      <dgm:t>
        <a:bodyPr/>
        <a:lstStyle/>
        <a:p>
          <a:r>
            <a:rPr lang="en-IE" dirty="0"/>
            <a:t>Acts as a mentor/coach to employees to help them understand change as it affects their lives</a:t>
          </a:r>
        </a:p>
      </dgm:t>
    </dgm:pt>
    <dgm:pt modelId="{B4BBABDC-673A-4ACB-8E25-FEBD8F9B00F4}" type="parTrans" cxnId="{CAD9C268-1BEA-40CB-85CA-E457C7DEDBB1}">
      <dgm:prSet/>
      <dgm:spPr/>
      <dgm:t>
        <a:bodyPr/>
        <a:lstStyle/>
        <a:p>
          <a:endParaRPr lang="en-IE"/>
        </a:p>
      </dgm:t>
    </dgm:pt>
    <dgm:pt modelId="{1D04A35E-7423-4039-985E-8D9CA85FAB98}" type="sibTrans" cxnId="{CAD9C268-1BEA-40CB-85CA-E457C7DEDBB1}">
      <dgm:prSet/>
      <dgm:spPr/>
      <dgm:t>
        <a:bodyPr/>
        <a:lstStyle/>
        <a:p>
          <a:endParaRPr lang="en-IE"/>
        </a:p>
      </dgm:t>
    </dgm:pt>
    <dgm:pt modelId="{83287B6F-A9BD-4EBB-A6B4-E0831D6430B4}">
      <dgm:prSet phldrT="[Text]"/>
      <dgm:spPr/>
      <dgm:t>
        <a:bodyPr/>
        <a:lstStyle/>
        <a:p>
          <a:r>
            <a:rPr lang="en-IE" dirty="0"/>
            <a:t>Emphasise “what is in it” for them and address concerns</a:t>
          </a:r>
        </a:p>
      </dgm:t>
    </dgm:pt>
    <dgm:pt modelId="{861E98B8-1FD1-4E8F-AE17-968437C4C43A}" type="parTrans" cxnId="{9E0A1F36-8FE1-4831-9CD0-F46776A4230F}">
      <dgm:prSet/>
      <dgm:spPr/>
      <dgm:t>
        <a:bodyPr/>
        <a:lstStyle/>
        <a:p>
          <a:endParaRPr lang="en-IE"/>
        </a:p>
      </dgm:t>
    </dgm:pt>
    <dgm:pt modelId="{1E12CF4A-A64C-4FAD-A2EF-842A4FE0507C}" type="sibTrans" cxnId="{9E0A1F36-8FE1-4831-9CD0-F46776A4230F}">
      <dgm:prSet/>
      <dgm:spPr/>
      <dgm:t>
        <a:bodyPr/>
        <a:lstStyle/>
        <a:p>
          <a:endParaRPr lang="en-IE"/>
        </a:p>
      </dgm:t>
    </dgm:pt>
    <dgm:pt modelId="{6D29B452-928C-4EAA-A628-922F779CFC39}">
      <dgm:prSet phldrT="[Text]"/>
      <dgm:spPr/>
      <dgm:t>
        <a:bodyPr/>
        <a:lstStyle/>
        <a:p>
          <a:r>
            <a:rPr lang="en-IE" dirty="0"/>
            <a:t>Strike a balance between the business and employees</a:t>
          </a:r>
        </a:p>
      </dgm:t>
    </dgm:pt>
    <dgm:pt modelId="{89E38772-5AAE-478E-BFDB-DC5381DA489F}" type="parTrans" cxnId="{BD714E8B-810E-47B1-A060-4F1F5C86B5FA}">
      <dgm:prSet/>
      <dgm:spPr/>
      <dgm:t>
        <a:bodyPr/>
        <a:lstStyle/>
        <a:p>
          <a:endParaRPr lang="en-IE"/>
        </a:p>
      </dgm:t>
    </dgm:pt>
    <dgm:pt modelId="{C02E0E9C-2100-4398-A8E6-8B0A12695CA2}" type="sibTrans" cxnId="{BD714E8B-810E-47B1-A060-4F1F5C86B5FA}">
      <dgm:prSet/>
      <dgm:spPr/>
      <dgm:t>
        <a:bodyPr/>
        <a:lstStyle/>
        <a:p>
          <a:endParaRPr lang="en-IE"/>
        </a:p>
      </dgm:t>
    </dgm:pt>
    <dgm:pt modelId="{B0CBB52A-D2BF-4B69-978A-4C4A4C9AA62D}">
      <dgm:prSet phldrT="[Text]"/>
      <dgm:spPr/>
      <dgm:t>
        <a:bodyPr/>
        <a:lstStyle/>
        <a:p>
          <a:r>
            <a:rPr lang="en-IE"/>
            <a:t>Communicate,</a:t>
          </a:r>
          <a:endParaRPr lang="en-IE" dirty="0"/>
        </a:p>
      </dgm:t>
    </dgm:pt>
    <dgm:pt modelId="{99D02BA3-3EC9-473F-B319-BE8D089257D9}" type="parTrans" cxnId="{386F68A1-271B-41D2-A628-F972230096AF}">
      <dgm:prSet/>
      <dgm:spPr/>
      <dgm:t>
        <a:bodyPr/>
        <a:lstStyle/>
        <a:p>
          <a:endParaRPr lang="en-IE"/>
        </a:p>
      </dgm:t>
    </dgm:pt>
    <dgm:pt modelId="{4BED5C67-0C07-431B-914F-C88C6B96DC3E}" type="sibTrans" cxnId="{386F68A1-271B-41D2-A628-F972230096AF}">
      <dgm:prSet/>
      <dgm:spPr/>
      <dgm:t>
        <a:bodyPr/>
        <a:lstStyle/>
        <a:p>
          <a:endParaRPr lang="en-IE"/>
        </a:p>
      </dgm:t>
    </dgm:pt>
    <dgm:pt modelId="{425A2DB3-2AD0-4224-863A-A58181A045EF}">
      <dgm:prSet phldrT="[Text]"/>
      <dgm:spPr/>
      <dgm:t>
        <a:bodyPr/>
        <a:lstStyle/>
        <a:p>
          <a:r>
            <a:rPr lang="en-IE" dirty="0"/>
            <a:t> Sustain the momentum</a:t>
          </a:r>
        </a:p>
      </dgm:t>
    </dgm:pt>
    <dgm:pt modelId="{155B640A-FA68-463A-9860-5BBC40FD3F3F}" type="parTrans" cxnId="{E0E2125C-24C4-4CC4-A013-2EB968BA99B8}">
      <dgm:prSet/>
      <dgm:spPr/>
    </dgm:pt>
    <dgm:pt modelId="{794E8327-7BB7-424D-902C-9099BB75441C}" type="sibTrans" cxnId="{E0E2125C-24C4-4CC4-A013-2EB968BA99B8}">
      <dgm:prSet/>
      <dgm:spPr/>
    </dgm:pt>
    <dgm:pt modelId="{AADD6DA1-6FBA-47E0-A385-180D1DCCF231}">
      <dgm:prSet phldrT="[Text]"/>
      <dgm:spPr/>
      <dgm:t>
        <a:bodyPr/>
        <a:lstStyle/>
        <a:p>
          <a:r>
            <a:rPr lang="en-IE" dirty="0"/>
            <a:t>Internationalisation of new behaviour/way </a:t>
          </a:r>
        </a:p>
      </dgm:t>
    </dgm:pt>
    <dgm:pt modelId="{528CDF1E-EC45-49F6-83FC-9B241AA97173}" type="parTrans" cxnId="{78F224AE-F33A-4A37-A9CD-D371E8C7BB11}">
      <dgm:prSet/>
      <dgm:spPr/>
    </dgm:pt>
    <dgm:pt modelId="{F88850D5-8E56-4E28-A3E4-90E8A5652B91}" type="sibTrans" cxnId="{78F224AE-F33A-4A37-A9CD-D371E8C7BB11}">
      <dgm:prSet/>
      <dgm:spPr/>
    </dgm:pt>
    <dgm:pt modelId="{1ACA10CE-9689-4324-8E3E-8245A1121417}">
      <dgm:prSet phldrT="[Text]"/>
      <dgm:spPr/>
      <dgm:t>
        <a:bodyPr/>
        <a:lstStyle/>
        <a:p>
          <a:r>
            <a:rPr lang="en-IE" dirty="0"/>
            <a:t>Recognise and celebrate success</a:t>
          </a:r>
        </a:p>
      </dgm:t>
    </dgm:pt>
    <dgm:pt modelId="{FDFB0AD9-8435-4DC9-8C65-DB4A67FD1790}" type="parTrans" cxnId="{D520D3FF-C7D0-4AF2-9E8F-ACA4DA0DEF4F}">
      <dgm:prSet/>
      <dgm:spPr/>
    </dgm:pt>
    <dgm:pt modelId="{630664A8-7160-4C73-B76C-AE2C2AC00812}" type="sibTrans" cxnId="{D520D3FF-C7D0-4AF2-9E8F-ACA4DA0DEF4F}">
      <dgm:prSet/>
      <dgm:spPr/>
    </dgm:pt>
    <dgm:pt modelId="{D4683C1E-ACA8-47C9-A307-2912C5EDB134}">
      <dgm:prSet phldrT="[Text]"/>
      <dgm:spPr/>
      <dgm:t>
        <a:bodyPr/>
        <a:lstStyle/>
        <a:p>
          <a:r>
            <a:rPr lang="en-IE" dirty="0"/>
            <a:t>Build on the change</a:t>
          </a:r>
        </a:p>
      </dgm:t>
    </dgm:pt>
    <dgm:pt modelId="{679BB8AD-E459-424E-8F6A-D7A666EA06E1}" type="parTrans" cxnId="{B4A5215E-CFF4-4211-9DCF-432E7B885D38}">
      <dgm:prSet/>
      <dgm:spPr/>
    </dgm:pt>
    <dgm:pt modelId="{02199007-9C7E-45DE-BCA7-FEFA78908B0B}" type="sibTrans" cxnId="{B4A5215E-CFF4-4211-9DCF-432E7B885D38}">
      <dgm:prSet/>
      <dgm:spPr/>
    </dgm:pt>
    <dgm:pt modelId="{46B0FDCE-FB0F-4BDC-A493-1164FBB63AAD}" type="pres">
      <dgm:prSet presAssocID="{9D4BA98F-A15A-4A28-B7B5-040124AC36DC}" presName="linearFlow" presStyleCnt="0">
        <dgm:presLayoutVars>
          <dgm:dir/>
          <dgm:animLvl val="lvl"/>
          <dgm:resizeHandles val="exact"/>
        </dgm:presLayoutVars>
      </dgm:prSet>
      <dgm:spPr/>
    </dgm:pt>
    <dgm:pt modelId="{026632DC-E9A2-4BA5-8FC7-C5CEAC355265}" type="pres">
      <dgm:prSet presAssocID="{6CE31153-197C-4572-87CA-76F0E56A0DD6}" presName="composite" presStyleCnt="0"/>
      <dgm:spPr/>
    </dgm:pt>
    <dgm:pt modelId="{68A56367-0E2E-4FCC-8F58-00C5DE24586B}" type="pres">
      <dgm:prSet presAssocID="{6CE31153-197C-4572-87CA-76F0E56A0DD6}" presName="parTx" presStyleLbl="node1" presStyleIdx="0" presStyleCnt="3">
        <dgm:presLayoutVars>
          <dgm:chMax val="0"/>
          <dgm:chPref val="0"/>
          <dgm:bulletEnabled val="1"/>
        </dgm:presLayoutVars>
      </dgm:prSet>
      <dgm:spPr/>
    </dgm:pt>
    <dgm:pt modelId="{EB1DE949-80C9-4D98-8A86-489D4E8A1EBE}" type="pres">
      <dgm:prSet presAssocID="{6CE31153-197C-4572-87CA-76F0E56A0DD6}" presName="parSh" presStyleLbl="node1" presStyleIdx="0" presStyleCnt="3"/>
      <dgm:spPr/>
    </dgm:pt>
    <dgm:pt modelId="{57D6B73E-083F-4EE3-B3FE-51060033F08F}" type="pres">
      <dgm:prSet presAssocID="{6CE31153-197C-4572-87CA-76F0E56A0DD6}" presName="desTx" presStyleLbl="fgAcc1" presStyleIdx="0" presStyleCnt="3" custScaleX="121878">
        <dgm:presLayoutVars>
          <dgm:bulletEnabled val="1"/>
        </dgm:presLayoutVars>
      </dgm:prSet>
      <dgm:spPr/>
    </dgm:pt>
    <dgm:pt modelId="{A76B8BAA-7795-4274-8BD5-4593B4AB7540}" type="pres">
      <dgm:prSet presAssocID="{F78EA596-EF5C-4C49-838B-34DEEED6B71F}" presName="sibTrans" presStyleLbl="sibTrans2D1" presStyleIdx="0" presStyleCnt="2"/>
      <dgm:spPr/>
    </dgm:pt>
    <dgm:pt modelId="{8C22CA0C-2A02-4DBC-8677-363F79736D07}" type="pres">
      <dgm:prSet presAssocID="{F78EA596-EF5C-4C49-838B-34DEEED6B71F}" presName="connTx" presStyleLbl="sibTrans2D1" presStyleIdx="0" presStyleCnt="2"/>
      <dgm:spPr/>
    </dgm:pt>
    <dgm:pt modelId="{C0D5A543-1605-41CD-8F5C-62A7CCB2C567}" type="pres">
      <dgm:prSet presAssocID="{A7E833B9-7032-45CE-BF34-53C6F10E9A7A}" presName="composite" presStyleCnt="0"/>
      <dgm:spPr/>
    </dgm:pt>
    <dgm:pt modelId="{02CD58E3-828F-4A19-8283-3DEAAD46A36E}" type="pres">
      <dgm:prSet presAssocID="{A7E833B9-7032-45CE-BF34-53C6F10E9A7A}" presName="parTx" presStyleLbl="node1" presStyleIdx="0" presStyleCnt="3">
        <dgm:presLayoutVars>
          <dgm:chMax val="0"/>
          <dgm:chPref val="0"/>
          <dgm:bulletEnabled val="1"/>
        </dgm:presLayoutVars>
      </dgm:prSet>
      <dgm:spPr/>
    </dgm:pt>
    <dgm:pt modelId="{C454E479-CD26-4263-B715-FA84F76CDD9D}" type="pres">
      <dgm:prSet presAssocID="{A7E833B9-7032-45CE-BF34-53C6F10E9A7A}" presName="parSh" presStyleLbl="node1" presStyleIdx="1" presStyleCnt="3"/>
      <dgm:spPr/>
    </dgm:pt>
    <dgm:pt modelId="{152059A6-3C80-4733-B143-ED42D9D07E7A}" type="pres">
      <dgm:prSet presAssocID="{A7E833B9-7032-45CE-BF34-53C6F10E9A7A}" presName="desTx" presStyleLbl="fgAcc1" presStyleIdx="1" presStyleCnt="3" custScaleX="117266">
        <dgm:presLayoutVars>
          <dgm:bulletEnabled val="1"/>
        </dgm:presLayoutVars>
      </dgm:prSet>
      <dgm:spPr/>
    </dgm:pt>
    <dgm:pt modelId="{4059CDC4-17A2-49E4-9F2B-3C0A10ACC612}" type="pres">
      <dgm:prSet presAssocID="{D7D3B267-C90B-480E-BC36-FD0019F1B6C5}" presName="sibTrans" presStyleLbl="sibTrans2D1" presStyleIdx="1" presStyleCnt="2"/>
      <dgm:spPr/>
    </dgm:pt>
    <dgm:pt modelId="{5C7E7635-1788-4052-A483-36A269F67FAE}" type="pres">
      <dgm:prSet presAssocID="{D7D3B267-C90B-480E-BC36-FD0019F1B6C5}" presName="connTx" presStyleLbl="sibTrans2D1" presStyleIdx="1" presStyleCnt="2"/>
      <dgm:spPr/>
    </dgm:pt>
    <dgm:pt modelId="{C4D9A6A0-0E3A-4825-88CF-A7BBB49710E0}" type="pres">
      <dgm:prSet presAssocID="{969C5040-D96D-4B32-9F1D-32DF5E366423}" presName="composite" presStyleCnt="0"/>
      <dgm:spPr/>
    </dgm:pt>
    <dgm:pt modelId="{7DC0E0C6-BF06-4F7A-9AF1-1EF9006CB213}" type="pres">
      <dgm:prSet presAssocID="{969C5040-D96D-4B32-9F1D-32DF5E366423}" presName="parTx" presStyleLbl="node1" presStyleIdx="1" presStyleCnt="3">
        <dgm:presLayoutVars>
          <dgm:chMax val="0"/>
          <dgm:chPref val="0"/>
          <dgm:bulletEnabled val="1"/>
        </dgm:presLayoutVars>
      </dgm:prSet>
      <dgm:spPr/>
    </dgm:pt>
    <dgm:pt modelId="{280F53DB-94FA-4463-A796-8C2201848EC0}" type="pres">
      <dgm:prSet presAssocID="{969C5040-D96D-4B32-9F1D-32DF5E366423}" presName="parSh" presStyleLbl="node1" presStyleIdx="2" presStyleCnt="3"/>
      <dgm:spPr/>
    </dgm:pt>
    <dgm:pt modelId="{15317AE5-30DF-4F80-A0BA-FED79C8270A3}" type="pres">
      <dgm:prSet presAssocID="{969C5040-D96D-4B32-9F1D-32DF5E366423}" presName="desTx" presStyleLbl="fgAcc1" presStyleIdx="2" presStyleCnt="3" custScaleX="116492">
        <dgm:presLayoutVars>
          <dgm:bulletEnabled val="1"/>
        </dgm:presLayoutVars>
      </dgm:prSet>
      <dgm:spPr/>
    </dgm:pt>
  </dgm:ptLst>
  <dgm:cxnLst>
    <dgm:cxn modelId="{8BB6B003-9CD0-4212-9915-5C0B9A6B5A39}" srcId="{6CE31153-197C-4572-87CA-76F0E56A0DD6}" destId="{03F95F06-6808-465C-9FC8-1AE5F5F9DFA5}" srcOrd="4" destOrd="0" parTransId="{A66DEBC2-1562-4B58-BCDB-E3E4EEB15CB2}" sibTransId="{76FBE0A2-2CA4-46C3-873B-B8679971AF91}"/>
    <dgm:cxn modelId="{D8D0740B-7975-4B4B-A1FF-5EFE5429CF85}" type="presOf" srcId="{6740246A-2209-4191-B2ED-FEF9346E7419}" destId="{57D6B73E-083F-4EE3-B3FE-51060033F08F}" srcOrd="0" destOrd="0" presId="urn:microsoft.com/office/officeart/2005/8/layout/process3"/>
    <dgm:cxn modelId="{77AD9B0B-D0EE-470F-8378-01D349CA11FC}" srcId="{969C5040-D96D-4B32-9F1D-32DF5E366423}" destId="{9555E005-D7A3-4C03-B53D-B125B86AF5AE}" srcOrd="0" destOrd="0" parTransId="{88685CF3-DE2B-4454-B6B5-2D9F7DB416C9}" sibTransId="{A7A78BF9-2460-4675-A763-9A12B5A0529A}"/>
    <dgm:cxn modelId="{DBDC910E-F334-F44D-ACA5-A26D57F528BD}" type="presOf" srcId="{F78EA596-EF5C-4C49-838B-34DEEED6B71F}" destId="{A76B8BAA-7795-4274-8BD5-4593B4AB7540}" srcOrd="0" destOrd="0" presId="urn:microsoft.com/office/officeart/2005/8/layout/process3"/>
    <dgm:cxn modelId="{BF712A23-797F-4A4A-BBA9-DBA5A9562B47}" type="presOf" srcId="{425A2DB3-2AD0-4224-863A-A58181A045EF}" destId="{15317AE5-30DF-4F80-A0BA-FED79C8270A3}" srcOrd="0" destOrd="1" presId="urn:microsoft.com/office/officeart/2005/8/layout/process3"/>
    <dgm:cxn modelId="{7323B223-33ED-984C-80B1-B9A51B97B844}" type="presOf" srcId="{A7E833B9-7032-45CE-BF34-53C6F10E9A7A}" destId="{02CD58E3-828F-4A19-8283-3DEAAD46A36E}" srcOrd="0" destOrd="0" presId="urn:microsoft.com/office/officeart/2005/8/layout/process3"/>
    <dgm:cxn modelId="{616EC832-A08B-4C1F-884F-FC8B3A4357B1}" srcId="{6CE31153-197C-4572-87CA-76F0E56A0DD6}" destId="{B60D6F19-BE12-4BDD-BDE5-9A6203FDE52F}" srcOrd="1" destOrd="0" parTransId="{22F8832E-DEF7-409A-9812-87987280B5C3}" sibTransId="{ACA639D3-496F-4FC0-9DF1-FFC2A5CD444A}"/>
    <dgm:cxn modelId="{9E0A1F36-8FE1-4831-9CD0-F46776A4230F}" srcId="{A7E833B9-7032-45CE-BF34-53C6F10E9A7A}" destId="{83287B6F-A9BD-4EBB-A6B4-E0831D6430B4}" srcOrd="3" destOrd="0" parTransId="{861E98B8-1FD1-4E8F-AE17-968437C4C43A}" sibTransId="{1E12CF4A-A64C-4FAD-A2EF-842A4FE0507C}"/>
    <dgm:cxn modelId="{182A083B-441E-4FD2-8603-D65BAB420069}" srcId="{6CE31153-197C-4572-87CA-76F0E56A0DD6}" destId="{4680303F-7B77-4DE5-9D3B-F4EFBAA00C3E}" srcOrd="2" destOrd="0" parTransId="{0D68BFAA-0B8D-4428-AC9D-CDFB9558DA8C}" sibTransId="{FC101FC1-4F97-4038-80AD-D6127216CCDD}"/>
    <dgm:cxn modelId="{E0E2125C-24C4-4CC4-A013-2EB968BA99B8}" srcId="{969C5040-D96D-4B32-9F1D-32DF5E366423}" destId="{425A2DB3-2AD0-4224-863A-A58181A045EF}" srcOrd="1" destOrd="0" parTransId="{155B640A-FA68-463A-9860-5BBC40FD3F3F}" sibTransId="{794E8327-7BB7-424D-902C-9099BB75441C}"/>
    <dgm:cxn modelId="{B4A5215E-CFF4-4211-9DCF-432E7B885D38}" srcId="{969C5040-D96D-4B32-9F1D-32DF5E366423}" destId="{D4683C1E-ACA8-47C9-A307-2912C5EDB134}" srcOrd="4" destOrd="0" parTransId="{679BB8AD-E459-424E-8F6A-D7A666EA06E1}" sibTransId="{02199007-9C7E-45DE-BCA7-FEFA78908B0B}"/>
    <dgm:cxn modelId="{81BC8641-DA7B-2A4D-9A5F-037C22870C79}" type="presOf" srcId="{9555E005-D7A3-4C03-B53D-B125B86AF5AE}" destId="{15317AE5-30DF-4F80-A0BA-FED79C8270A3}" srcOrd="0" destOrd="0" presId="urn:microsoft.com/office/officeart/2005/8/layout/process3"/>
    <dgm:cxn modelId="{248E1542-6AFE-1149-97C1-55862E4EC7B9}" type="presOf" srcId="{E673949C-64D6-4418-988D-E896860997CD}" destId="{152059A6-3C80-4733-B143-ED42D9D07E7A}" srcOrd="0" destOrd="1" presId="urn:microsoft.com/office/officeart/2005/8/layout/process3"/>
    <dgm:cxn modelId="{D6D78842-B622-4EB2-BBB4-8FAE9F228FE8}" srcId="{A7E833B9-7032-45CE-BF34-53C6F10E9A7A}" destId="{E673949C-64D6-4418-988D-E896860997CD}" srcOrd="1" destOrd="0" parTransId="{87008CAA-4E75-4427-9EFD-2BD3327C6ADF}" sibTransId="{4E32B570-ADC6-4DBF-9062-988BB3AA222C}"/>
    <dgm:cxn modelId="{F0748363-F54B-CD44-977F-D219162913C0}" type="presOf" srcId="{83287B6F-A9BD-4EBB-A6B4-E0831D6430B4}" destId="{152059A6-3C80-4733-B143-ED42D9D07E7A}" srcOrd="0" destOrd="3" presId="urn:microsoft.com/office/officeart/2005/8/layout/process3"/>
    <dgm:cxn modelId="{09147066-0AB2-E243-9A8F-3A41FE5028BF}" type="presOf" srcId="{C627DDA9-637B-459F-99F1-28FE9F8D7DE1}" destId="{152059A6-3C80-4733-B143-ED42D9D07E7A}" srcOrd="0" destOrd="2" presId="urn:microsoft.com/office/officeart/2005/8/layout/process3"/>
    <dgm:cxn modelId="{CAD9C268-1BEA-40CB-85CA-E457C7DEDBB1}" srcId="{A7E833B9-7032-45CE-BF34-53C6F10E9A7A}" destId="{C627DDA9-637B-459F-99F1-28FE9F8D7DE1}" srcOrd="2" destOrd="0" parTransId="{B4BBABDC-673A-4ACB-8E25-FEBD8F9B00F4}" sibTransId="{1D04A35E-7423-4039-985E-8D9CA85FAB98}"/>
    <dgm:cxn modelId="{12A49D49-AC2E-2542-913D-DCC54A0B0C6C}" type="presOf" srcId="{D7D3B267-C90B-480E-BC36-FD0019F1B6C5}" destId="{5C7E7635-1788-4052-A483-36A269F67FAE}" srcOrd="1" destOrd="0" presId="urn:microsoft.com/office/officeart/2005/8/layout/process3"/>
    <dgm:cxn modelId="{69CA234A-304E-E147-B6BE-E2E27E56FB8C}" type="presOf" srcId="{EA853628-F541-47C4-8E20-A2AD991BDEC5}" destId="{57D6B73E-083F-4EE3-B3FE-51060033F08F}" srcOrd="0" destOrd="5" presId="urn:microsoft.com/office/officeart/2005/8/layout/process3"/>
    <dgm:cxn modelId="{8745E26B-179A-3C45-B7D6-D06C84193A04}" type="presOf" srcId="{A7E833B9-7032-45CE-BF34-53C6F10E9A7A}" destId="{C454E479-CD26-4263-B715-FA84F76CDD9D}" srcOrd="1" destOrd="0" presId="urn:microsoft.com/office/officeart/2005/8/layout/process3"/>
    <dgm:cxn modelId="{6495CC6F-351D-41B2-A413-D603967D6369}" srcId="{6CE31153-197C-4572-87CA-76F0E56A0DD6}" destId="{6740246A-2209-4191-B2ED-FEF9346E7419}" srcOrd="0" destOrd="0" parTransId="{3EBF33BF-1286-4E0E-AAE6-76CFF5FE28A8}" sibTransId="{4C83D93D-AF49-4464-B27E-27FDBC1DFCED}"/>
    <dgm:cxn modelId="{DC810C58-9388-474B-9ACC-12E81687EF51}" type="presOf" srcId="{6CE31153-197C-4572-87CA-76F0E56A0DD6}" destId="{68A56367-0E2E-4FCC-8F58-00C5DE24586B}" srcOrd="0" destOrd="0" presId="urn:microsoft.com/office/officeart/2005/8/layout/process3"/>
    <dgm:cxn modelId="{8C51C658-84CC-1541-BECB-D45AD7AC140B}" type="presOf" srcId="{6D29B452-928C-4EAA-A628-922F779CFC39}" destId="{152059A6-3C80-4733-B143-ED42D9D07E7A}" srcOrd="0" destOrd="4" presId="urn:microsoft.com/office/officeart/2005/8/layout/process3"/>
    <dgm:cxn modelId="{DC054482-4262-564F-A9BD-B284A3F227A6}" type="presOf" srcId="{1ACA10CE-9689-4324-8E3E-8245A1121417}" destId="{15317AE5-30DF-4F80-A0BA-FED79C8270A3}" srcOrd="0" destOrd="3" presId="urn:microsoft.com/office/officeart/2005/8/layout/process3"/>
    <dgm:cxn modelId="{3C9C4589-AD8B-9C44-A7D7-A3A2AEB98468}" type="presOf" srcId="{B0CBB52A-D2BF-4B69-978A-4C4A4C9AA62D}" destId="{152059A6-3C80-4733-B143-ED42D9D07E7A}" srcOrd="0" destOrd="5" presId="urn:microsoft.com/office/officeart/2005/8/layout/process3"/>
    <dgm:cxn modelId="{BD714E8B-810E-47B1-A060-4F1F5C86B5FA}" srcId="{A7E833B9-7032-45CE-BF34-53C6F10E9A7A}" destId="{6D29B452-928C-4EAA-A628-922F779CFC39}" srcOrd="4" destOrd="0" parTransId="{89E38772-5AAE-478E-BFDB-DC5381DA489F}" sibTransId="{C02E0E9C-2100-4398-A8E6-8B0A12695CA2}"/>
    <dgm:cxn modelId="{7BA28C8E-04ED-4FE6-A9E5-6B339B247F5C}" srcId="{A7E833B9-7032-45CE-BF34-53C6F10E9A7A}" destId="{E7F6A743-9C23-4917-8EA2-E62F56C41521}" srcOrd="0" destOrd="0" parTransId="{3E5A5D24-BCAA-4B8C-8D11-D01591FBD701}" sibTransId="{21063B97-A354-4DF4-BE2D-B3CCEEB8BD56}"/>
    <dgm:cxn modelId="{11077E93-C00D-364B-8C6A-F18F25ADD1CC}" type="presOf" srcId="{AADD6DA1-6FBA-47E0-A385-180D1DCCF231}" destId="{15317AE5-30DF-4F80-A0BA-FED79C8270A3}" srcOrd="0" destOrd="2" presId="urn:microsoft.com/office/officeart/2005/8/layout/process3"/>
    <dgm:cxn modelId="{C9161D99-D6DA-864C-B745-C0EA89B63B1E}" type="presOf" srcId="{969C5040-D96D-4B32-9F1D-32DF5E366423}" destId="{280F53DB-94FA-4463-A796-8C2201848EC0}" srcOrd="1" destOrd="0" presId="urn:microsoft.com/office/officeart/2005/8/layout/process3"/>
    <dgm:cxn modelId="{23276999-DF40-FE4C-9801-B2C57727E015}" type="presOf" srcId="{969C5040-D96D-4B32-9F1D-32DF5E366423}" destId="{7DC0E0C6-BF06-4F7A-9AF1-1EF9006CB213}" srcOrd="0" destOrd="0" presId="urn:microsoft.com/office/officeart/2005/8/layout/process3"/>
    <dgm:cxn modelId="{386F68A1-271B-41D2-A628-F972230096AF}" srcId="{A7E833B9-7032-45CE-BF34-53C6F10E9A7A}" destId="{B0CBB52A-D2BF-4B69-978A-4C4A4C9AA62D}" srcOrd="5" destOrd="0" parTransId="{99D02BA3-3EC9-473F-B319-BE8D089257D9}" sibTransId="{4BED5C67-0C07-431B-914F-C88C6B96DC3E}"/>
    <dgm:cxn modelId="{DD364BA6-0535-7E4D-BA1D-6506F796B269}" type="presOf" srcId="{F78EA596-EF5C-4C49-838B-34DEEED6B71F}" destId="{8C22CA0C-2A02-4DBC-8677-363F79736D07}" srcOrd="1" destOrd="0" presId="urn:microsoft.com/office/officeart/2005/8/layout/process3"/>
    <dgm:cxn modelId="{0F660FA8-D288-074F-9C4B-1412D06C8E63}" type="presOf" srcId="{4680303F-7B77-4DE5-9D3B-F4EFBAA00C3E}" destId="{57D6B73E-083F-4EE3-B3FE-51060033F08F}" srcOrd="0" destOrd="2" presId="urn:microsoft.com/office/officeart/2005/8/layout/process3"/>
    <dgm:cxn modelId="{2B3644AA-8B98-394A-9B27-B9BB55D2F668}" type="presOf" srcId="{03F95F06-6808-465C-9FC8-1AE5F5F9DFA5}" destId="{57D6B73E-083F-4EE3-B3FE-51060033F08F}" srcOrd="0" destOrd="4" presId="urn:microsoft.com/office/officeart/2005/8/layout/process3"/>
    <dgm:cxn modelId="{CCC1DDAA-AA16-423A-B941-82810261929B}" srcId="{9D4BA98F-A15A-4A28-B7B5-040124AC36DC}" destId="{969C5040-D96D-4B32-9F1D-32DF5E366423}" srcOrd="2" destOrd="0" parTransId="{18F9E3FF-3B76-425F-88E3-C3F044996E14}" sibTransId="{DB30C4F2-4520-4848-B7C7-095B3D359A03}"/>
    <dgm:cxn modelId="{78F224AE-F33A-4A37-A9CD-D371E8C7BB11}" srcId="{969C5040-D96D-4B32-9F1D-32DF5E366423}" destId="{AADD6DA1-6FBA-47E0-A385-180D1DCCF231}" srcOrd="2" destOrd="0" parTransId="{528CDF1E-EC45-49F6-83FC-9B241AA97173}" sibTransId="{F88850D5-8E56-4E28-A3E4-90E8A5652B91}"/>
    <dgm:cxn modelId="{C327A3C0-C8EC-264B-9D00-4731BC619398}" type="presOf" srcId="{D7D3B267-C90B-480E-BC36-FD0019F1B6C5}" destId="{4059CDC4-17A2-49E4-9F2B-3C0A10ACC612}" srcOrd="0" destOrd="0" presId="urn:microsoft.com/office/officeart/2005/8/layout/process3"/>
    <dgm:cxn modelId="{BD724ECB-B753-4FBC-9339-FF872A825496}" srcId="{6CE31153-197C-4572-87CA-76F0E56A0DD6}" destId="{6586662C-A358-4A4E-A7C3-9979B38AF84C}" srcOrd="3" destOrd="0" parTransId="{F18F84E7-13B7-49B1-9743-9D2B28413AA6}" sibTransId="{18121F48-4C94-4310-AEDA-6B20C302FCAE}"/>
    <dgm:cxn modelId="{22C836D1-FD82-1F4B-914F-B45C8EB58558}" type="presOf" srcId="{9D4BA98F-A15A-4A28-B7B5-040124AC36DC}" destId="{46B0FDCE-FB0F-4BDC-A493-1164FBB63AAD}" srcOrd="0" destOrd="0" presId="urn:microsoft.com/office/officeart/2005/8/layout/process3"/>
    <dgm:cxn modelId="{1F8825D7-6B8F-494E-A917-2BF0C8354704}" type="presOf" srcId="{D4683C1E-ACA8-47C9-A307-2912C5EDB134}" destId="{15317AE5-30DF-4F80-A0BA-FED79C8270A3}" srcOrd="0" destOrd="4" presId="urn:microsoft.com/office/officeart/2005/8/layout/process3"/>
    <dgm:cxn modelId="{CB4A3ADF-F53B-DB48-881C-F64E6CCCA5F8}" type="presOf" srcId="{6586662C-A358-4A4E-A7C3-9979B38AF84C}" destId="{57D6B73E-083F-4EE3-B3FE-51060033F08F}" srcOrd="0" destOrd="3" presId="urn:microsoft.com/office/officeart/2005/8/layout/process3"/>
    <dgm:cxn modelId="{CBD0DEE1-9C89-BF41-A0AD-3B32B7AAB67A}" type="presOf" srcId="{E7F6A743-9C23-4917-8EA2-E62F56C41521}" destId="{152059A6-3C80-4733-B143-ED42D9D07E7A}" srcOrd="0" destOrd="0" presId="urn:microsoft.com/office/officeart/2005/8/layout/process3"/>
    <dgm:cxn modelId="{3CEC02E5-B70E-0A49-87C9-3E042ECA41EA}" type="presOf" srcId="{B60D6F19-BE12-4BDD-BDE5-9A6203FDE52F}" destId="{57D6B73E-083F-4EE3-B3FE-51060033F08F}" srcOrd="0" destOrd="1" presId="urn:microsoft.com/office/officeart/2005/8/layout/process3"/>
    <dgm:cxn modelId="{517632E8-D612-A740-B5F3-C0819E8D3CDA}" type="presOf" srcId="{6CE31153-197C-4572-87CA-76F0E56A0DD6}" destId="{EB1DE949-80C9-4D98-8A86-489D4E8A1EBE}" srcOrd="1" destOrd="0" presId="urn:microsoft.com/office/officeart/2005/8/layout/process3"/>
    <dgm:cxn modelId="{EAAAAAF2-07F0-4D44-8951-B885597981CF}" srcId="{6CE31153-197C-4572-87CA-76F0E56A0DD6}" destId="{EA853628-F541-47C4-8E20-A2AD991BDEC5}" srcOrd="5" destOrd="0" parTransId="{5D0A6F3D-F934-4E7C-B36F-3BDD62A3CCDA}" sibTransId="{C26D71C8-D098-46B5-9EF1-95A8259F3856}"/>
    <dgm:cxn modelId="{3DE7A7F4-BA46-4BE6-8D0D-D087318A232A}" srcId="{9D4BA98F-A15A-4A28-B7B5-040124AC36DC}" destId="{A7E833B9-7032-45CE-BF34-53C6F10E9A7A}" srcOrd="1" destOrd="0" parTransId="{129C367B-CCCF-4493-B71A-7A416B9FBDCA}" sibTransId="{D7D3B267-C90B-480E-BC36-FD0019F1B6C5}"/>
    <dgm:cxn modelId="{2D2585FC-C7FB-44DD-B79A-707B04BD17D1}" srcId="{9D4BA98F-A15A-4A28-B7B5-040124AC36DC}" destId="{6CE31153-197C-4572-87CA-76F0E56A0DD6}" srcOrd="0" destOrd="0" parTransId="{5CAD4576-6038-4FA6-ADA3-9AC656DA90E7}" sibTransId="{F78EA596-EF5C-4C49-838B-34DEEED6B71F}"/>
    <dgm:cxn modelId="{D520D3FF-C7D0-4AF2-9E8F-ACA4DA0DEF4F}" srcId="{969C5040-D96D-4B32-9F1D-32DF5E366423}" destId="{1ACA10CE-9689-4324-8E3E-8245A1121417}" srcOrd="3" destOrd="0" parTransId="{FDFB0AD9-8435-4DC9-8C65-DB4A67FD1790}" sibTransId="{630664A8-7160-4C73-B76C-AE2C2AC00812}"/>
    <dgm:cxn modelId="{0488B196-86C4-2E45-AA3A-4850469CF82E}" type="presParOf" srcId="{46B0FDCE-FB0F-4BDC-A493-1164FBB63AAD}" destId="{026632DC-E9A2-4BA5-8FC7-C5CEAC355265}" srcOrd="0" destOrd="0" presId="urn:microsoft.com/office/officeart/2005/8/layout/process3"/>
    <dgm:cxn modelId="{5D461843-E400-7D41-B1B4-F78CC488119D}" type="presParOf" srcId="{026632DC-E9A2-4BA5-8FC7-C5CEAC355265}" destId="{68A56367-0E2E-4FCC-8F58-00C5DE24586B}" srcOrd="0" destOrd="0" presId="urn:microsoft.com/office/officeart/2005/8/layout/process3"/>
    <dgm:cxn modelId="{391A0812-1A4D-8348-A9C4-E2BD1F3D8732}" type="presParOf" srcId="{026632DC-E9A2-4BA5-8FC7-C5CEAC355265}" destId="{EB1DE949-80C9-4D98-8A86-489D4E8A1EBE}" srcOrd="1" destOrd="0" presId="urn:microsoft.com/office/officeart/2005/8/layout/process3"/>
    <dgm:cxn modelId="{66316A64-5204-584F-A233-31483AE74B8D}" type="presParOf" srcId="{026632DC-E9A2-4BA5-8FC7-C5CEAC355265}" destId="{57D6B73E-083F-4EE3-B3FE-51060033F08F}" srcOrd="2" destOrd="0" presId="urn:microsoft.com/office/officeart/2005/8/layout/process3"/>
    <dgm:cxn modelId="{540434F7-D6BF-A64A-8AA7-D8D089E927B7}" type="presParOf" srcId="{46B0FDCE-FB0F-4BDC-A493-1164FBB63AAD}" destId="{A76B8BAA-7795-4274-8BD5-4593B4AB7540}" srcOrd="1" destOrd="0" presId="urn:microsoft.com/office/officeart/2005/8/layout/process3"/>
    <dgm:cxn modelId="{03F6F1DE-E1DD-0C4D-8652-B71AA1A1629F}" type="presParOf" srcId="{A76B8BAA-7795-4274-8BD5-4593B4AB7540}" destId="{8C22CA0C-2A02-4DBC-8677-363F79736D07}" srcOrd="0" destOrd="0" presId="urn:microsoft.com/office/officeart/2005/8/layout/process3"/>
    <dgm:cxn modelId="{C246AE3C-B3CC-7F45-BCB8-8C91602AC8FA}" type="presParOf" srcId="{46B0FDCE-FB0F-4BDC-A493-1164FBB63AAD}" destId="{C0D5A543-1605-41CD-8F5C-62A7CCB2C567}" srcOrd="2" destOrd="0" presId="urn:microsoft.com/office/officeart/2005/8/layout/process3"/>
    <dgm:cxn modelId="{BC22F962-1D18-F841-A999-72373283E30E}" type="presParOf" srcId="{C0D5A543-1605-41CD-8F5C-62A7CCB2C567}" destId="{02CD58E3-828F-4A19-8283-3DEAAD46A36E}" srcOrd="0" destOrd="0" presId="urn:microsoft.com/office/officeart/2005/8/layout/process3"/>
    <dgm:cxn modelId="{6EF71D2E-FF92-CE46-9723-2E93B33A483D}" type="presParOf" srcId="{C0D5A543-1605-41CD-8F5C-62A7CCB2C567}" destId="{C454E479-CD26-4263-B715-FA84F76CDD9D}" srcOrd="1" destOrd="0" presId="urn:microsoft.com/office/officeart/2005/8/layout/process3"/>
    <dgm:cxn modelId="{7DCBD6B8-8288-1A47-A491-28B8F69B6316}" type="presParOf" srcId="{C0D5A543-1605-41CD-8F5C-62A7CCB2C567}" destId="{152059A6-3C80-4733-B143-ED42D9D07E7A}" srcOrd="2" destOrd="0" presId="urn:microsoft.com/office/officeart/2005/8/layout/process3"/>
    <dgm:cxn modelId="{10D9E4D2-8C06-7D43-AAFA-B724C1F2CDF3}" type="presParOf" srcId="{46B0FDCE-FB0F-4BDC-A493-1164FBB63AAD}" destId="{4059CDC4-17A2-49E4-9F2B-3C0A10ACC612}" srcOrd="3" destOrd="0" presId="urn:microsoft.com/office/officeart/2005/8/layout/process3"/>
    <dgm:cxn modelId="{21AF9753-F0F5-A749-9A23-95283EBDA212}" type="presParOf" srcId="{4059CDC4-17A2-49E4-9F2B-3C0A10ACC612}" destId="{5C7E7635-1788-4052-A483-36A269F67FAE}" srcOrd="0" destOrd="0" presId="urn:microsoft.com/office/officeart/2005/8/layout/process3"/>
    <dgm:cxn modelId="{D6679056-F77C-8646-8F5C-0E70B737A8FC}" type="presParOf" srcId="{46B0FDCE-FB0F-4BDC-A493-1164FBB63AAD}" destId="{C4D9A6A0-0E3A-4825-88CF-A7BBB49710E0}" srcOrd="4" destOrd="0" presId="urn:microsoft.com/office/officeart/2005/8/layout/process3"/>
    <dgm:cxn modelId="{E6BC6B11-5283-164E-9B86-BA8C24647490}" type="presParOf" srcId="{C4D9A6A0-0E3A-4825-88CF-A7BBB49710E0}" destId="{7DC0E0C6-BF06-4F7A-9AF1-1EF9006CB213}" srcOrd="0" destOrd="0" presId="urn:microsoft.com/office/officeart/2005/8/layout/process3"/>
    <dgm:cxn modelId="{A0EAA35C-9014-6B47-8393-FC69598E03A1}" type="presParOf" srcId="{C4D9A6A0-0E3A-4825-88CF-A7BBB49710E0}" destId="{280F53DB-94FA-4463-A796-8C2201848EC0}" srcOrd="1" destOrd="0" presId="urn:microsoft.com/office/officeart/2005/8/layout/process3"/>
    <dgm:cxn modelId="{EB2F76B3-3AC9-0F47-996D-574A9A08A005}" type="presParOf" srcId="{C4D9A6A0-0E3A-4825-88CF-A7BBB49710E0}" destId="{15317AE5-30DF-4F80-A0BA-FED79C8270A3}"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EDBA873-B003-4D3C-A2A2-666BC6C48541}" type="doc">
      <dgm:prSet loTypeId="urn:microsoft.com/office/officeart/2005/8/layout/arrow2" loCatId="process" qsTypeId="urn:microsoft.com/office/officeart/2005/8/quickstyle/simple1" qsCatId="simple" csTypeId="urn:microsoft.com/office/officeart/2005/8/colors/accent1_2" csCatId="accent1" phldr="1"/>
      <dgm:spPr/>
    </dgm:pt>
    <dgm:pt modelId="{A02FB7AF-0F8A-4A06-8933-E0D45F8F3CB8}">
      <dgm:prSet phldrT="[Text]"/>
      <dgm:spPr/>
      <dgm:t>
        <a:bodyPr/>
        <a:lstStyle/>
        <a:p>
          <a:r>
            <a:rPr lang="en-IE" dirty="0"/>
            <a:t>Awareness</a:t>
          </a:r>
        </a:p>
      </dgm:t>
    </dgm:pt>
    <dgm:pt modelId="{E785B4DA-02E5-4265-8FC9-03CB1277DFA2}" type="parTrans" cxnId="{3BDCFA61-6FCF-41EC-B1FF-D197AC8666EE}">
      <dgm:prSet/>
      <dgm:spPr/>
      <dgm:t>
        <a:bodyPr/>
        <a:lstStyle/>
        <a:p>
          <a:endParaRPr lang="en-IE"/>
        </a:p>
      </dgm:t>
    </dgm:pt>
    <dgm:pt modelId="{7637880B-755B-4286-8262-D98CAEC6B73C}" type="sibTrans" cxnId="{3BDCFA61-6FCF-41EC-B1FF-D197AC8666EE}">
      <dgm:prSet/>
      <dgm:spPr/>
      <dgm:t>
        <a:bodyPr/>
        <a:lstStyle/>
        <a:p>
          <a:endParaRPr lang="en-IE"/>
        </a:p>
      </dgm:t>
    </dgm:pt>
    <dgm:pt modelId="{682FF302-54F1-4854-8B5D-6E1C2B2F4056}">
      <dgm:prSet phldrT="[Text]"/>
      <dgm:spPr/>
      <dgm:t>
        <a:bodyPr/>
        <a:lstStyle/>
        <a:p>
          <a:r>
            <a:rPr lang="en-IE" dirty="0"/>
            <a:t>Understanding</a:t>
          </a:r>
        </a:p>
      </dgm:t>
    </dgm:pt>
    <dgm:pt modelId="{3C2C46C3-C3B4-4E58-8E01-505F42782A38}" type="parTrans" cxnId="{D3F53406-0281-4E2C-A8AD-8A181CA95821}">
      <dgm:prSet/>
      <dgm:spPr/>
      <dgm:t>
        <a:bodyPr/>
        <a:lstStyle/>
        <a:p>
          <a:endParaRPr lang="en-IE"/>
        </a:p>
      </dgm:t>
    </dgm:pt>
    <dgm:pt modelId="{1F23D3EB-85BF-4854-8591-B50E27E68F27}" type="sibTrans" cxnId="{D3F53406-0281-4E2C-A8AD-8A181CA95821}">
      <dgm:prSet/>
      <dgm:spPr/>
      <dgm:t>
        <a:bodyPr/>
        <a:lstStyle/>
        <a:p>
          <a:endParaRPr lang="en-IE"/>
        </a:p>
      </dgm:t>
    </dgm:pt>
    <dgm:pt modelId="{B0A746A5-7EAF-46F3-90E7-77342F68A9B6}">
      <dgm:prSet phldrT="[Text]"/>
      <dgm:spPr/>
      <dgm:t>
        <a:bodyPr/>
        <a:lstStyle/>
        <a:p>
          <a:r>
            <a:rPr lang="en-IE" dirty="0"/>
            <a:t>Internalisation</a:t>
          </a:r>
        </a:p>
      </dgm:t>
    </dgm:pt>
    <dgm:pt modelId="{815D62AF-A779-43AB-AC88-A153C55F4C7D}" type="parTrans" cxnId="{A1269BD5-8E98-4E2A-8CF0-4DB66AA5D4E8}">
      <dgm:prSet/>
      <dgm:spPr/>
      <dgm:t>
        <a:bodyPr/>
        <a:lstStyle/>
        <a:p>
          <a:endParaRPr lang="en-IE"/>
        </a:p>
      </dgm:t>
    </dgm:pt>
    <dgm:pt modelId="{8619C132-FAC9-4B60-AFFE-A95920533D4D}" type="sibTrans" cxnId="{A1269BD5-8E98-4E2A-8CF0-4DB66AA5D4E8}">
      <dgm:prSet/>
      <dgm:spPr/>
      <dgm:t>
        <a:bodyPr/>
        <a:lstStyle/>
        <a:p>
          <a:endParaRPr lang="en-IE"/>
        </a:p>
      </dgm:t>
    </dgm:pt>
    <dgm:pt modelId="{4080A872-68F9-4910-9E6F-DE38CF12ABCA}">
      <dgm:prSet phldrT="[Text]"/>
      <dgm:spPr/>
      <dgm:t>
        <a:bodyPr/>
        <a:lstStyle/>
        <a:p>
          <a:r>
            <a:rPr lang="en-IE" dirty="0"/>
            <a:t>Translation</a:t>
          </a:r>
        </a:p>
      </dgm:t>
    </dgm:pt>
    <dgm:pt modelId="{9D4270AF-626D-47FA-A709-7CFA927A931A}" type="parTrans" cxnId="{3AB06C0B-A54C-44E4-97CF-EF86BB604FEC}">
      <dgm:prSet/>
      <dgm:spPr/>
      <dgm:t>
        <a:bodyPr/>
        <a:lstStyle/>
        <a:p>
          <a:endParaRPr lang="en-IE"/>
        </a:p>
      </dgm:t>
    </dgm:pt>
    <dgm:pt modelId="{293DD61F-2C93-4756-90A1-08442A834DED}" type="sibTrans" cxnId="{3AB06C0B-A54C-44E4-97CF-EF86BB604FEC}">
      <dgm:prSet/>
      <dgm:spPr/>
      <dgm:t>
        <a:bodyPr/>
        <a:lstStyle/>
        <a:p>
          <a:endParaRPr lang="en-IE"/>
        </a:p>
      </dgm:t>
    </dgm:pt>
    <dgm:pt modelId="{7EA54ECB-F124-4C47-8F80-1099F2AD4FB9}">
      <dgm:prSet phldrT="[Text]"/>
      <dgm:spPr/>
      <dgm:t>
        <a:bodyPr/>
        <a:lstStyle/>
        <a:p>
          <a:r>
            <a:rPr lang="en-IE" dirty="0"/>
            <a:t>Commitment</a:t>
          </a:r>
        </a:p>
      </dgm:t>
    </dgm:pt>
    <dgm:pt modelId="{1CF5B92A-BB84-455F-8A0A-6954F9CB3B54}" type="parTrans" cxnId="{12FD49A6-0692-4152-A3B3-A84585ABAE2E}">
      <dgm:prSet/>
      <dgm:spPr/>
      <dgm:t>
        <a:bodyPr/>
        <a:lstStyle/>
        <a:p>
          <a:endParaRPr lang="en-IE"/>
        </a:p>
      </dgm:t>
    </dgm:pt>
    <dgm:pt modelId="{3316FBB0-89D3-455C-A004-423FB942B5D1}" type="sibTrans" cxnId="{12FD49A6-0692-4152-A3B3-A84585ABAE2E}">
      <dgm:prSet/>
      <dgm:spPr/>
      <dgm:t>
        <a:bodyPr/>
        <a:lstStyle/>
        <a:p>
          <a:endParaRPr lang="en-IE"/>
        </a:p>
      </dgm:t>
    </dgm:pt>
    <dgm:pt modelId="{5F18A40D-B39D-4107-B44E-6B8E16BB6F5A}" type="pres">
      <dgm:prSet presAssocID="{4EDBA873-B003-4D3C-A2A2-666BC6C48541}" presName="arrowDiagram" presStyleCnt="0">
        <dgm:presLayoutVars>
          <dgm:chMax val="5"/>
          <dgm:dir/>
          <dgm:resizeHandles val="exact"/>
        </dgm:presLayoutVars>
      </dgm:prSet>
      <dgm:spPr/>
    </dgm:pt>
    <dgm:pt modelId="{B34FA2C9-4BBB-414D-BA74-B4B69E82F18E}" type="pres">
      <dgm:prSet presAssocID="{4EDBA873-B003-4D3C-A2A2-666BC6C48541}" presName="arrow" presStyleLbl="bgShp" presStyleIdx="0" presStyleCnt="1"/>
      <dgm:spPr/>
    </dgm:pt>
    <dgm:pt modelId="{CB1FF6AF-7B94-4CE4-81B6-7D2FE7D172DA}" type="pres">
      <dgm:prSet presAssocID="{4EDBA873-B003-4D3C-A2A2-666BC6C48541}" presName="arrowDiagram5" presStyleCnt="0"/>
      <dgm:spPr/>
    </dgm:pt>
    <dgm:pt modelId="{60084374-9FE3-4E07-8B78-07C5F006DAF4}" type="pres">
      <dgm:prSet presAssocID="{A02FB7AF-0F8A-4A06-8933-E0D45F8F3CB8}" presName="bullet5a" presStyleLbl="node1" presStyleIdx="0" presStyleCnt="5"/>
      <dgm:spPr/>
    </dgm:pt>
    <dgm:pt modelId="{9413DF8B-95A9-4CFB-998A-B54463140683}" type="pres">
      <dgm:prSet presAssocID="{A02FB7AF-0F8A-4A06-8933-E0D45F8F3CB8}" presName="textBox5a" presStyleLbl="revTx" presStyleIdx="0" presStyleCnt="5">
        <dgm:presLayoutVars>
          <dgm:bulletEnabled val="1"/>
        </dgm:presLayoutVars>
      </dgm:prSet>
      <dgm:spPr/>
    </dgm:pt>
    <dgm:pt modelId="{ADFF627F-2260-488E-B1A3-9BC8E8830E0F}" type="pres">
      <dgm:prSet presAssocID="{682FF302-54F1-4854-8B5D-6E1C2B2F4056}" presName="bullet5b" presStyleLbl="node1" presStyleIdx="1" presStyleCnt="5"/>
      <dgm:spPr/>
    </dgm:pt>
    <dgm:pt modelId="{25BE2245-B117-4986-8C41-C055B147D53B}" type="pres">
      <dgm:prSet presAssocID="{682FF302-54F1-4854-8B5D-6E1C2B2F4056}" presName="textBox5b" presStyleLbl="revTx" presStyleIdx="1" presStyleCnt="5">
        <dgm:presLayoutVars>
          <dgm:bulletEnabled val="1"/>
        </dgm:presLayoutVars>
      </dgm:prSet>
      <dgm:spPr/>
    </dgm:pt>
    <dgm:pt modelId="{6ECFBB1D-19A0-4569-B669-9C614F358803}" type="pres">
      <dgm:prSet presAssocID="{4080A872-68F9-4910-9E6F-DE38CF12ABCA}" presName="bullet5c" presStyleLbl="node1" presStyleIdx="2" presStyleCnt="5"/>
      <dgm:spPr/>
    </dgm:pt>
    <dgm:pt modelId="{D9185C17-9961-4B3E-8C5D-0DA813BB3886}" type="pres">
      <dgm:prSet presAssocID="{4080A872-68F9-4910-9E6F-DE38CF12ABCA}" presName="textBox5c" presStyleLbl="revTx" presStyleIdx="2" presStyleCnt="5">
        <dgm:presLayoutVars>
          <dgm:bulletEnabled val="1"/>
        </dgm:presLayoutVars>
      </dgm:prSet>
      <dgm:spPr/>
    </dgm:pt>
    <dgm:pt modelId="{84877943-95D3-495A-AC77-CF2A4856E1EA}" type="pres">
      <dgm:prSet presAssocID="{7EA54ECB-F124-4C47-8F80-1099F2AD4FB9}" presName="bullet5d" presStyleLbl="node1" presStyleIdx="3" presStyleCnt="5"/>
      <dgm:spPr/>
    </dgm:pt>
    <dgm:pt modelId="{9634594E-68A9-4507-A455-1FCA46B854D4}" type="pres">
      <dgm:prSet presAssocID="{7EA54ECB-F124-4C47-8F80-1099F2AD4FB9}" presName="textBox5d" presStyleLbl="revTx" presStyleIdx="3" presStyleCnt="5">
        <dgm:presLayoutVars>
          <dgm:bulletEnabled val="1"/>
        </dgm:presLayoutVars>
      </dgm:prSet>
      <dgm:spPr/>
    </dgm:pt>
    <dgm:pt modelId="{1025EF2A-1D1B-40CF-A0F6-7C68CB59E3F8}" type="pres">
      <dgm:prSet presAssocID="{B0A746A5-7EAF-46F3-90E7-77342F68A9B6}" presName="bullet5e" presStyleLbl="node1" presStyleIdx="4" presStyleCnt="5"/>
      <dgm:spPr/>
    </dgm:pt>
    <dgm:pt modelId="{4C78E7BB-7F9C-4C1F-AEB7-D617FBD79CED}" type="pres">
      <dgm:prSet presAssocID="{B0A746A5-7EAF-46F3-90E7-77342F68A9B6}" presName="textBox5e" presStyleLbl="revTx" presStyleIdx="4" presStyleCnt="5">
        <dgm:presLayoutVars>
          <dgm:bulletEnabled val="1"/>
        </dgm:presLayoutVars>
      </dgm:prSet>
      <dgm:spPr/>
    </dgm:pt>
  </dgm:ptLst>
  <dgm:cxnLst>
    <dgm:cxn modelId="{19509705-E7E4-2945-B750-A87FE77ED0AB}" type="presOf" srcId="{4EDBA873-B003-4D3C-A2A2-666BC6C48541}" destId="{5F18A40D-B39D-4107-B44E-6B8E16BB6F5A}" srcOrd="0" destOrd="0" presId="urn:microsoft.com/office/officeart/2005/8/layout/arrow2"/>
    <dgm:cxn modelId="{D3F53406-0281-4E2C-A8AD-8A181CA95821}" srcId="{4EDBA873-B003-4D3C-A2A2-666BC6C48541}" destId="{682FF302-54F1-4854-8B5D-6E1C2B2F4056}" srcOrd="1" destOrd="0" parTransId="{3C2C46C3-C3B4-4E58-8E01-505F42782A38}" sibTransId="{1F23D3EB-85BF-4854-8591-B50E27E68F27}"/>
    <dgm:cxn modelId="{0809FF06-4E1B-084A-B52F-4BD9E4D40DBE}" type="presOf" srcId="{682FF302-54F1-4854-8B5D-6E1C2B2F4056}" destId="{25BE2245-B117-4986-8C41-C055B147D53B}" srcOrd="0" destOrd="0" presId="urn:microsoft.com/office/officeart/2005/8/layout/arrow2"/>
    <dgm:cxn modelId="{3AB06C0B-A54C-44E4-97CF-EF86BB604FEC}" srcId="{4EDBA873-B003-4D3C-A2A2-666BC6C48541}" destId="{4080A872-68F9-4910-9E6F-DE38CF12ABCA}" srcOrd="2" destOrd="0" parTransId="{9D4270AF-626D-47FA-A709-7CFA927A931A}" sibTransId="{293DD61F-2C93-4756-90A1-08442A834DED}"/>
    <dgm:cxn modelId="{7FB23F2D-7965-2D49-AE17-A144D2EDE601}" type="presOf" srcId="{A02FB7AF-0F8A-4A06-8933-E0D45F8F3CB8}" destId="{9413DF8B-95A9-4CFB-998A-B54463140683}" srcOrd="0" destOrd="0" presId="urn:microsoft.com/office/officeart/2005/8/layout/arrow2"/>
    <dgm:cxn modelId="{530D283F-BD33-7140-BBA9-A6837620E7BD}" type="presOf" srcId="{4080A872-68F9-4910-9E6F-DE38CF12ABCA}" destId="{D9185C17-9961-4B3E-8C5D-0DA813BB3886}" srcOrd="0" destOrd="0" presId="urn:microsoft.com/office/officeart/2005/8/layout/arrow2"/>
    <dgm:cxn modelId="{3BDCFA61-6FCF-41EC-B1FF-D197AC8666EE}" srcId="{4EDBA873-B003-4D3C-A2A2-666BC6C48541}" destId="{A02FB7AF-0F8A-4A06-8933-E0D45F8F3CB8}" srcOrd="0" destOrd="0" parTransId="{E785B4DA-02E5-4265-8FC9-03CB1277DFA2}" sibTransId="{7637880B-755B-4286-8262-D98CAEC6B73C}"/>
    <dgm:cxn modelId="{B713E259-3ED1-0541-B9F9-9C304B6E43F2}" type="presOf" srcId="{7EA54ECB-F124-4C47-8F80-1099F2AD4FB9}" destId="{9634594E-68A9-4507-A455-1FCA46B854D4}" srcOrd="0" destOrd="0" presId="urn:microsoft.com/office/officeart/2005/8/layout/arrow2"/>
    <dgm:cxn modelId="{12FD49A6-0692-4152-A3B3-A84585ABAE2E}" srcId="{4EDBA873-B003-4D3C-A2A2-666BC6C48541}" destId="{7EA54ECB-F124-4C47-8F80-1099F2AD4FB9}" srcOrd="3" destOrd="0" parTransId="{1CF5B92A-BB84-455F-8A0A-6954F9CB3B54}" sibTransId="{3316FBB0-89D3-455C-A004-423FB942B5D1}"/>
    <dgm:cxn modelId="{7200E7C8-3453-174E-8F43-C7381C70F00B}" type="presOf" srcId="{B0A746A5-7EAF-46F3-90E7-77342F68A9B6}" destId="{4C78E7BB-7F9C-4C1F-AEB7-D617FBD79CED}" srcOrd="0" destOrd="0" presId="urn:microsoft.com/office/officeart/2005/8/layout/arrow2"/>
    <dgm:cxn modelId="{A1269BD5-8E98-4E2A-8CF0-4DB66AA5D4E8}" srcId="{4EDBA873-B003-4D3C-A2A2-666BC6C48541}" destId="{B0A746A5-7EAF-46F3-90E7-77342F68A9B6}" srcOrd="4" destOrd="0" parTransId="{815D62AF-A779-43AB-AC88-A153C55F4C7D}" sibTransId="{8619C132-FAC9-4B60-AFFE-A95920533D4D}"/>
    <dgm:cxn modelId="{8FD84582-57EF-AA45-9554-F1CA18D4E204}" type="presParOf" srcId="{5F18A40D-B39D-4107-B44E-6B8E16BB6F5A}" destId="{B34FA2C9-4BBB-414D-BA74-B4B69E82F18E}" srcOrd="0" destOrd="0" presId="urn:microsoft.com/office/officeart/2005/8/layout/arrow2"/>
    <dgm:cxn modelId="{6133C0E3-7A93-1943-9899-478BF1922D0A}" type="presParOf" srcId="{5F18A40D-B39D-4107-B44E-6B8E16BB6F5A}" destId="{CB1FF6AF-7B94-4CE4-81B6-7D2FE7D172DA}" srcOrd="1" destOrd="0" presId="urn:microsoft.com/office/officeart/2005/8/layout/arrow2"/>
    <dgm:cxn modelId="{974DA446-0886-FD4A-87DD-BE06DCE946F0}" type="presParOf" srcId="{CB1FF6AF-7B94-4CE4-81B6-7D2FE7D172DA}" destId="{60084374-9FE3-4E07-8B78-07C5F006DAF4}" srcOrd="0" destOrd="0" presId="urn:microsoft.com/office/officeart/2005/8/layout/arrow2"/>
    <dgm:cxn modelId="{94BC8A1F-4BA6-9E4C-BDFE-6C99BABDCA65}" type="presParOf" srcId="{CB1FF6AF-7B94-4CE4-81B6-7D2FE7D172DA}" destId="{9413DF8B-95A9-4CFB-998A-B54463140683}" srcOrd="1" destOrd="0" presId="urn:microsoft.com/office/officeart/2005/8/layout/arrow2"/>
    <dgm:cxn modelId="{17C14F71-ABCE-6C4F-B599-783228F8EC21}" type="presParOf" srcId="{CB1FF6AF-7B94-4CE4-81B6-7D2FE7D172DA}" destId="{ADFF627F-2260-488E-B1A3-9BC8E8830E0F}" srcOrd="2" destOrd="0" presId="urn:microsoft.com/office/officeart/2005/8/layout/arrow2"/>
    <dgm:cxn modelId="{C57901F3-8D72-054F-85C3-E0B6DDAE452E}" type="presParOf" srcId="{CB1FF6AF-7B94-4CE4-81B6-7D2FE7D172DA}" destId="{25BE2245-B117-4986-8C41-C055B147D53B}" srcOrd="3" destOrd="0" presId="urn:microsoft.com/office/officeart/2005/8/layout/arrow2"/>
    <dgm:cxn modelId="{5DF69A6D-F657-1245-ADD6-E1A2F7763D14}" type="presParOf" srcId="{CB1FF6AF-7B94-4CE4-81B6-7D2FE7D172DA}" destId="{6ECFBB1D-19A0-4569-B669-9C614F358803}" srcOrd="4" destOrd="0" presId="urn:microsoft.com/office/officeart/2005/8/layout/arrow2"/>
    <dgm:cxn modelId="{F66180BC-FD73-1243-9272-CF0FC278AC98}" type="presParOf" srcId="{CB1FF6AF-7B94-4CE4-81B6-7D2FE7D172DA}" destId="{D9185C17-9961-4B3E-8C5D-0DA813BB3886}" srcOrd="5" destOrd="0" presId="urn:microsoft.com/office/officeart/2005/8/layout/arrow2"/>
    <dgm:cxn modelId="{EC7C5FE5-FF39-244A-9340-FF912BD06A93}" type="presParOf" srcId="{CB1FF6AF-7B94-4CE4-81B6-7D2FE7D172DA}" destId="{84877943-95D3-495A-AC77-CF2A4856E1EA}" srcOrd="6" destOrd="0" presId="urn:microsoft.com/office/officeart/2005/8/layout/arrow2"/>
    <dgm:cxn modelId="{4B5DBDAC-500E-0F44-8739-DFBCBFBBB21F}" type="presParOf" srcId="{CB1FF6AF-7B94-4CE4-81B6-7D2FE7D172DA}" destId="{9634594E-68A9-4507-A455-1FCA46B854D4}" srcOrd="7" destOrd="0" presId="urn:microsoft.com/office/officeart/2005/8/layout/arrow2"/>
    <dgm:cxn modelId="{E03E80D1-87ED-A342-9C30-EEE0D0414E32}" type="presParOf" srcId="{CB1FF6AF-7B94-4CE4-81B6-7D2FE7D172DA}" destId="{1025EF2A-1D1B-40CF-A0F6-7C68CB59E3F8}" srcOrd="8" destOrd="0" presId="urn:microsoft.com/office/officeart/2005/8/layout/arrow2"/>
    <dgm:cxn modelId="{7CF812C3-C251-2842-9C9F-85EC9FE7A98C}" type="presParOf" srcId="{CB1FF6AF-7B94-4CE4-81B6-7D2FE7D172DA}" destId="{4C78E7BB-7F9C-4C1F-AEB7-D617FBD79CED}" srcOrd="9" destOrd="0" presId="urn:microsoft.com/office/officeart/2005/8/layout/arrow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1DE949-80C9-4D98-8A86-489D4E8A1EBE}">
      <dsp:nvSpPr>
        <dsp:cNvPr id="0" name=""/>
        <dsp:cNvSpPr/>
      </dsp:nvSpPr>
      <dsp:spPr>
        <a:xfrm>
          <a:off x="5092" y="322200"/>
          <a:ext cx="2441064" cy="691200"/>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711200">
            <a:lnSpc>
              <a:spcPct val="90000"/>
            </a:lnSpc>
            <a:spcBef>
              <a:spcPct val="0"/>
            </a:spcBef>
            <a:spcAft>
              <a:spcPct val="35000"/>
            </a:spcAft>
            <a:buNone/>
          </a:pPr>
          <a:r>
            <a:rPr lang="en-IE" sz="1600" kern="1200" dirty="0"/>
            <a:t>Before Change</a:t>
          </a:r>
        </a:p>
      </dsp:txBody>
      <dsp:txXfrm>
        <a:off x="5092" y="322200"/>
        <a:ext cx="2441064" cy="460800"/>
      </dsp:txXfrm>
    </dsp:sp>
    <dsp:sp modelId="{57D6B73E-083F-4EE3-B3FE-51060033F08F}">
      <dsp:nvSpPr>
        <dsp:cNvPr id="0" name=""/>
        <dsp:cNvSpPr/>
      </dsp:nvSpPr>
      <dsp:spPr>
        <a:xfrm>
          <a:off x="238041" y="783000"/>
          <a:ext cx="2975120" cy="483840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Char char="•"/>
          </a:pPr>
          <a:r>
            <a:rPr lang="en-IE" sz="1600" kern="1200" dirty="0"/>
            <a:t>Serves as a catalyst for change</a:t>
          </a:r>
        </a:p>
        <a:p>
          <a:pPr marL="171450" lvl="1" indent="-171450" algn="l" defTabSz="711200">
            <a:lnSpc>
              <a:spcPct val="90000"/>
            </a:lnSpc>
            <a:spcBef>
              <a:spcPct val="0"/>
            </a:spcBef>
            <a:spcAft>
              <a:spcPct val="15000"/>
            </a:spcAft>
            <a:buChar char="•"/>
          </a:pPr>
          <a:r>
            <a:rPr lang="en-IE" sz="1600" kern="1200" dirty="0"/>
            <a:t>Helps the organisation build a capacity for change</a:t>
          </a:r>
        </a:p>
        <a:p>
          <a:pPr marL="171450" lvl="1" indent="-171450" algn="l" defTabSz="711200">
            <a:lnSpc>
              <a:spcPct val="90000"/>
            </a:lnSpc>
            <a:spcBef>
              <a:spcPct val="0"/>
            </a:spcBef>
            <a:spcAft>
              <a:spcPct val="15000"/>
            </a:spcAft>
            <a:buChar char="•"/>
          </a:pPr>
          <a:r>
            <a:rPr lang="en-IE" sz="1600" kern="1200" dirty="0"/>
            <a:t>Plan change process with sponsors</a:t>
          </a:r>
        </a:p>
        <a:p>
          <a:pPr marL="171450" lvl="1" indent="-171450" algn="l" defTabSz="711200">
            <a:lnSpc>
              <a:spcPct val="90000"/>
            </a:lnSpc>
            <a:spcBef>
              <a:spcPct val="0"/>
            </a:spcBef>
            <a:spcAft>
              <a:spcPct val="15000"/>
            </a:spcAft>
            <a:buChar char="•"/>
          </a:pPr>
          <a:r>
            <a:rPr lang="en-IE" sz="1600" kern="1200" dirty="0"/>
            <a:t>Ensure project team has necessary skills, training</a:t>
          </a:r>
        </a:p>
        <a:p>
          <a:pPr marL="171450" lvl="1" indent="-171450" algn="l" defTabSz="711200">
            <a:lnSpc>
              <a:spcPct val="90000"/>
            </a:lnSpc>
            <a:spcBef>
              <a:spcPct val="0"/>
            </a:spcBef>
            <a:spcAft>
              <a:spcPct val="15000"/>
            </a:spcAft>
            <a:buChar char="•"/>
          </a:pPr>
          <a:r>
            <a:rPr lang="en-IE" sz="1600" kern="1200" dirty="0"/>
            <a:t>Coach Sponsor</a:t>
          </a:r>
        </a:p>
        <a:p>
          <a:pPr marL="171450" lvl="1" indent="-171450" algn="l" defTabSz="711200">
            <a:lnSpc>
              <a:spcPct val="90000"/>
            </a:lnSpc>
            <a:spcBef>
              <a:spcPct val="0"/>
            </a:spcBef>
            <a:spcAft>
              <a:spcPct val="15000"/>
            </a:spcAft>
            <a:buChar char="•"/>
          </a:pPr>
          <a:r>
            <a:rPr lang="en-IE" sz="1600" kern="1200" dirty="0"/>
            <a:t>Lead by example by doing it first within the HR function</a:t>
          </a:r>
        </a:p>
      </dsp:txBody>
      <dsp:txXfrm>
        <a:off x="325179" y="870138"/>
        <a:ext cx="2800844" cy="4664124"/>
      </dsp:txXfrm>
    </dsp:sp>
    <dsp:sp modelId="{A76B8BAA-7795-4274-8BD5-4593B4AB7540}">
      <dsp:nvSpPr>
        <dsp:cNvPr id="0" name=""/>
        <dsp:cNvSpPr/>
      </dsp:nvSpPr>
      <dsp:spPr>
        <a:xfrm>
          <a:off x="2882970" y="248723"/>
          <a:ext cx="926044" cy="60775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IE" sz="1300" kern="1200"/>
        </a:p>
      </dsp:txBody>
      <dsp:txXfrm>
        <a:off x="2882970" y="370274"/>
        <a:ext cx="743718" cy="364652"/>
      </dsp:txXfrm>
    </dsp:sp>
    <dsp:sp modelId="{C454E479-CD26-4263-B715-FA84F76CDD9D}">
      <dsp:nvSpPr>
        <dsp:cNvPr id="0" name=""/>
        <dsp:cNvSpPr/>
      </dsp:nvSpPr>
      <dsp:spPr>
        <a:xfrm>
          <a:off x="4193411" y="322200"/>
          <a:ext cx="2441064" cy="691200"/>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711200">
            <a:lnSpc>
              <a:spcPct val="90000"/>
            </a:lnSpc>
            <a:spcBef>
              <a:spcPct val="0"/>
            </a:spcBef>
            <a:spcAft>
              <a:spcPct val="35000"/>
            </a:spcAft>
            <a:buNone/>
          </a:pPr>
          <a:r>
            <a:rPr lang="en-IE" sz="1600" kern="1200" dirty="0"/>
            <a:t>During Change</a:t>
          </a:r>
        </a:p>
      </dsp:txBody>
      <dsp:txXfrm>
        <a:off x="4193411" y="322200"/>
        <a:ext cx="2441064" cy="460800"/>
      </dsp:txXfrm>
    </dsp:sp>
    <dsp:sp modelId="{152059A6-3C80-4733-B143-ED42D9D07E7A}">
      <dsp:nvSpPr>
        <dsp:cNvPr id="0" name=""/>
        <dsp:cNvSpPr/>
      </dsp:nvSpPr>
      <dsp:spPr>
        <a:xfrm>
          <a:off x="4482651" y="783000"/>
          <a:ext cx="2862538" cy="483840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Char char="•"/>
          </a:pPr>
          <a:r>
            <a:rPr lang="en-IE" sz="1600" kern="1200" dirty="0"/>
            <a:t>Facilitate the discussions about the change and its content with all stakeholders</a:t>
          </a:r>
        </a:p>
        <a:p>
          <a:pPr marL="171450" lvl="1" indent="-171450" algn="l" defTabSz="711200">
            <a:lnSpc>
              <a:spcPct val="90000"/>
            </a:lnSpc>
            <a:spcBef>
              <a:spcPct val="0"/>
            </a:spcBef>
            <a:spcAft>
              <a:spcPct val="15000"/>
            </a:spcAft>
            <a:buChar char="•"/>
          </a:pPr>
          <a:r>
            <a:rPr lang="en-IE" sz="1600" kern="1200" dirty="0"/>
            <a:t>Coach leaders through the change</a:t>
          </a:r>
        </a:p>
        <a:p>
          <a:pPr marL="171450" lvl="1" indent="-171450" algn="l" defTabSz="711200">
            <a:lnSpc>
              <a:spcPct val="90000"/>
            </a:lnSpc>
            <a:spcBef>
              <a:spcPct val="0"/>
            </a:spcBef>
            <a:spcAft>
              <a:spcPct val="15000"/>
            </a:spcAft>
            <a:buChar char="•"/>
          </a:pPr>
          <a:r>
            <a:rPr lang="en-IE" sz="1600" kern="1200" dirty="0"/>
            <a:t>Acts as a mentor/coach to employees to help them understand change as it affects their lives</a:t>
          </a:r>
        </a:p>
        <a:p>
          <a:pPr marL="171450" lvl="1" indent="-171450" algn="l" defTabSz="711200">
            <a:lnSpc>
              <a:spcPct val="90000"/>
            </a:lnSpc>
            <a:spcBef>
              <a:spcPct val="0"/>
            </a:spcBef>
            <a:spcAft>
              <a:spcPct val="15000"/>
            </a:spcAft>
            <a:buChar char="•"/>
          </a:pPr>
          <a:r>
            <a:rPr lang="en-IE" sz="1600" kern="1200" dirty="0"/>
            <a:t>Emphasise “what is in it” for them and address concerns</a:t>
          </a:r>
        </a:p>
        <a:p>
          <a:pPr marL="171450" lvl="1" indent="-171450" algn="l" defTabSz="711200">
            <a:lnSpc>
              <a:spcPct val="90000"/>
            </a:lnSpc>
            <a:spcBef>
              <a:spcPct val="0"/>
            </a:spcBef>
            <a:spcAft>
              <a:spcPct val="15000"/>
            </a:spcAft>
            <a:buChar char="•"/>
          </a:pPr>
          <a:r>
            <a:rPr lang="en-IE" sz="1600" kern="1200" dirty="0"/>
            <a:t>Strike a balance between the business and employees</a:t>
          </a:r>
        </a:p>
        <a:p>
          <a:pPr marL="171450" lvl="1" indent="-171450" algn="l" defTabSz="711200">
            <a:lnSpc>
              <a:spcPct val="90000"/>
            </a:lnSpc>
            <a:spcBef>
              <a:spcPct val="0"/>
            </a:spcBef>
            <a:spcAft>
              <a:spcPct val="15000"/>
            </a:spcAft>
            <a:buChar char="•"/>
          </a:pPr>
          <a:r>
            <a:rPr lang="en-IE" sz="1600" kern="1200"/>
            <a:t>Communicate,</a:t>
          </a:r>
          <a:endParaRPr lang="en-IE" sz="1600" kern="1200" dirty="0"/>
        </a:p>
      </dsp:txBody>
      <dsp:txXfrm>
        <a:off x="4566492" y="866841"/>
        <a:ext cx="2694856" cy="4670718"/>
      </dsp:txXfrm>
    </dsp:sp>
    <dsp:sp modelId="{4059CDC4-17A2-49E4-9F2B-3C0A10ACC612}">
      <dsp:nvSpPr>
        <dsp:cNvPr id="0" name=""/>
        <dsp:cNvSpPr/>
      </dsp:nvSpPr>
      <dsp:spPr>
        <a:xfrm>
          <a:off x="7057216" y="248723"/>
          <a:ext cx="896210" cy="60775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IE" sz="1300" kern="1200"/>
        </a:p>
      </dsp:txBody>
      <dsp:txXfrm>
        <a:off x="7057216" y="370274"/>
        <a:ext cx="713884" cy="364652"/>
      </dsp:txXfrm>
    </dsp:sp>
    <dsp:sp modelId="{280F53DB-94FA-4463-A796-8C2201848EC0}">
      <dsp:nvSpPr>
        <dsp:cNvPr id="0" name=""/>
        <dsp:cNvSpPr/>
      </dsp:nvSpPr>
      <dsp:spPr>
        <a:xfrm>
          <a:off x="8325438" y="322200"/>
          <a:ext cx="2441064" cy="691200"/>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711200">
            <a:lnSpc>
              <a:spcPct val="90000"/>
            </a:lnSpc>
            <a:spcBef>
              <a:spcPct val="0"/>
            </a:spcBef>
            <a:spcAft>
              <a:spcPct val="35000"/>
            </a:spcAft>
            <a:buNone/>
          </a:pPr>
          <a:r>
            <a:rPr lang="en-IE" sz="1600" kern="1200" dirty="0"/>
            <a:t>Post-Change</a:t>
          </a:r>
        </a:p>
      </dsp:txBody>
      <dsp:txXfrm>
        <a:off x="8325438" y="322200"/>
        <a:ext cx="2441064" cy="460800"/>
      </dsp:txXfrm>
    </dsp:sp>
    <dsp:sp modelId="{15317AE5-30DF-4F80-A0BA-FED79C8270A3}">
      <dsp:nvSpPr>
        <dsp:cNvPr id="0" name=""/>
        <dsp:cNvSpPr/>
      </dsp:nvSpPr>
      <dsp:spPr>
        <a:xfrm>
          <a:off x="8624125" y="783000"/>
          <a:ext cx="2843644" cy="483840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Char char="•"/>
          </a:pPr>
          <a:r>
            <a:rPr lang="en-IE" sz="1600" kern="1200" dirty="0"/>
            <a:t>Help employees to break from the past and adapt a new culture</a:t>
          </a:r>
        </a:p>
        <a:p>
          <a:pPr marL="171450" lvl="1" indent="-171450" algn="l" defTabSz="711200">
            <a:lnSpc>
              <a:spcPct val="90000"/>
            </a:lnSpc>
            <a:spcBef>
              <a:spcPct val="0"/>
            </a:spcBef>
            <a:spcAft>
              <a:spcPct val="15000"/>
            </a:spcAft>
            <a:buChar char="•"/>
          </a:pPr>
          <a:r>
            <a:rPr lang="en-IE" sz="1600" kern="1200" dirty="0"/>
            <a:t> Sustain the momentum</a:t>
          </a:r>
        </a:p>
        <a:p>
          <a:pPr marL="171450" lvl="1" indent="-171450" algn="l" defTabSz="711200">
            <a:lnSpc>
              <a:spcPct val="90000"/>
            </a:lnSpc>
            <a:spcBef>
              <a:spcPct val="0"/>
            </a:spcBef>
            <a:spcAft>
              <a:spcPct val="15000"/>
            </a:spcAft>
            <a:buChar char="•"/>
          </a:pPr>
          <a:r>
            <a:rPr lang="en-IE" sz="1600" kern="1200" dirty="0"/>
            <a:t>Internationalisation of new behaviour/way </a:t>
          </a:r>
        </a:p>
        <a:p>
          <a:pPr marL="171450" lvl="1" indent="-171450" algn="l" defTabSz="711200">
            <a:lnSpc>
              <a:spcPct val="90000"/>
            </a:lnSpc>
            <a:spcBef>
              <a:spcPct val="0"/>
            </a:spcBef>
            <a:spcAft>
              <a:spcPct val="15000"/>
            </a:spcAft>
            <a:buChar char="•"/>
          </a:pPr>
          <a:r>
            <a:rPr lang="en-IE" sz="1600" kern="1200" dirty="0"/>
            <a:t>Recognise and celebrate success</a:t>
          </a:r>
        </a:p>
        <a:p>
          <a:pPr marL="171450" lvl="1" indent="-171450" algn="l" defTabSz="711200">
            <a:lnSpc>
              <a:spcPct val="90000"/>
            </a:lnSpc>
            <a:spcBef>
              <a:spcPct val="0"/>
            </a:spcBef>
            <a:spcAft>
              <a:spcPct val="15000"/>
            </a:spcAft>
            <a:buChar char="•"/>
          </a:pPr>
          <a:r>
            <a:rPr lang="en-IE" sz="1600" kern="1200" dirty="0"/>
            <a:t>Build on the change</a:t>
          </a:r>
        </a:p>
      </dsp:txBody>
      <dsp:txXfrm>
        <a:off x="8707412" y="866287"/>
        <a:ext cx="2677070" cy="467182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4FA2C9-4BBB-414D-BA74-B4B69E82F18E}">
      <dsp:nvSpPr>
        <dsp:cNvPr id="0" name=""/>
        <dsp:cNvSpPr/>
      </dsp:nvSpPr>
      <dsp:spPr>
        <a:xfrm>
          <a:off x="1753075" y="0"/>
          <a:ext cx="7795260" cy="4872038"/>
        </a:xfrm>
        <a:prstGeom prst="swooshArrow">
          <a:avLst>
            <a:gd name="adj1" fmla="val 25000"/>
            <a:gd name="adj2" fmla="val 2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084374-9FE3-4E07-8B78-07C5F006DAF4}">
      <dsp:nvSpPr>
        <dsp:cNvPr id="0" name=""/>
        <dsp:cNvSpPr/>
      </dsp:nvSpPr>
      <dsp:spPr>
        <a:xfrm>
          <a:off x="2520908" y="3622847"/>
          <a:ext cx="179290" cy="179290"/>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413DF8B-95A9-4CFB-998A-B54463140683}">
      <dsp:nvSpPr>
        <dsp:cNvPr id="0" name=""/>
        <dsp:cNvSpPr/>
      </dsp:nvSpPr>
      <dsp:spPr>
        <a:xfrm>
          <a:off x="2610554" y="3712492"/>
          <a:ext cx="1021179" cy="1159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003" tIns="0" rIns="0" bIns="0" numCol="1" spcCol="1270" anchor="t" anchorCtr="0">
          <a:noAutofit/>
        </a:bodyPr>
        <a:lstStyle/>
        <a:p>
          <a:pPr marL="0" lvl="0" indent="0" algn="l" defTabSz="666750">
            <a:lnSpc>
              <a:spcPct val="90000"/>
            </a:lnSpc>
            <a:spcBef>
              <a:spcPct val="0"/>
            </a:spcBef>
            <a:spcAft>
              <a:spcPct val="35000"/>
            </a:spcAft>
            <a:buNone/>
          </a:pPr>
          <a:r>
            <a:rPr lang="en-IE" sz="1500" kern="1200" dirty="0"/>
            <a:t>Awareness</a:t>
          </a:r>
        </a:p>
      </dsp:txBody>
      <dsp:txXfrm>
        <a:off x="2610554" y="3712492"/>
        <a:ext cx="1021179" cy="1159545"/>
      </dsp:txXfrm>
    </dsp:sp>
    <dsp:sp modelId="{ADFF627F-2260-488E-B1A3-9BC8E8830E0F}">
      <dsp:nvSpPr>
        <dsp:cNvPr id="0" name=""/>
        <dsp:cNvSpPr/>
      </dsp:nvSpPr>
      <dsp:spPr>
        <a:xfrm>
          <a:off x="3491418" y="2690339"/>
          <a:ext cx="280629" cy="280629"/>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5BE2245-B117-4986-8C41-C055B147D53B}">
      <dsp:nvSpPr>
        <dsp:cNvPr id="0" name=""/>
        <dsp:cNvSpPr/>
      </dsp:nvSpPr>
      <dsp:spPr>
        <a:xfrm>
          <a:off x="3631733" y="2830654"/>
          <a:ext cx="1294013" cy="2041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700" tIns="0" rIns="0" bIns="0" numCol="1" spcCol="1270" anchor="t" anchorCtr="0">
          <a:noAutofit/>
        </a:bodyPr>
        <a:lstStyle/>
        <a:p>
          <a:pPr marL="0" lvl="0" indent="0" algn="l" defTabSz="666750">
            <a:lnSpc>
              <a:spcPct val="90000"/>
            </a:lnSpc>
            <a:spcBef>
              <a:spcPct val="0"/>
            </a:spcBef>
            <a:spcAft>
              <a:spcPct val="35000"/>
            </a:spcAft>
            <a:buNone/>
          </a:pPr>
          <a:r>
            <a:rPr lang="en-IE" sz="1500" kern="1200" dirty="0"/>
            <a:t>Understanding</a:t>
          </a:r>
        </a:p>
      </dsp:txBody>
      <dsp:txXfrm>
        <a:off x="3631733" y="2830654"/>
        <a:ext cx="1294013" cy="2041383"/>
      </dsp:txXfrm>
    </dsp:sp>
    <dsp:sp modelId="{6ECFBB1D-19A0-4569-B669-9C614F358803}">
      <dsp:nvSpPr>
        <dsp:cNvPr id="0" name=""/>
        <dsp:cNvSpPr/>
      </dsp:nvSpPr>
      <dsp:spPr>
        <a:xfrm>
          <a:off x="4738660" y="1946866"/>
          <a:ext cx="374172" cy="374172"/>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9185C17-9961-4B3E-8C5D-0DA813BB3886}">
      <dsp:nvSpPr>
        <dsp:cNvPr id="0" name=""/>
        <dsp:cNvSpPr/>
      </dsp:nvSpPr>
      <dsp:spPr>
        <a:xfrm>
          <a:off x="4925746" y="2133952"/>
          <a:ext cx="1504485" cy="27380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266" tIns="0" rIns="0" bIns="0" numCol="1" spcCol="1270" anchor="t" anchorCtr="0">
          <a:noAutofit/>
        </a:bodyPr>
        <a:lstStyle/>
        <a:p>
          <a:pPr marL="0" lvl="0" indent="0" algn="l" defTabSz="666750">
            <a:lnSpc>
              <a:spcPct val="90000"/>
            </a:lnSpc>
            <a:spcBef>
              <a:spcPct val="0"/>
            </a:spcBef>
            <a:spcAft>
              <a:spcPct val="35000"/>
            </a:spcAft>
            <a:buNone/>
          </a:pPr>
          <a:r>
            <a:rPr lang="en-IE" sz="1500" kern="1200" dirty="0"/>
            <a:t>Translation</a:t>
          </a:r>
        </a:p>
      </dsp:txBody>
      <dsp:txXfrm>
        <a:off x="4925746" y="2133952"/>
        <a:ext cx="1504485" cy="2738085"/>
      </dsp:txXfrm>
    </dsp:sp>
    <dsp:sp modelId="{84877943-95D3-495A-AC77-CF2A4856E1EA}">
      <dsp:nvSpPr>
        <dsp:cNvPr id="0" name=""/>
        <dsp:cNvSpPr/>
      </dsp:nvSpPr>
      <dsp:spPr>
        <a:xfrm>
          <a:off x="6188578" y="1366119"/>
          <a:ext cx="483306" cy="483306"/>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634594E-68A9-4507-A455-1FCA46B854D4}">
      <dsp:nvSpPr>
        <dsp:cNvPr id="0" name=""/>
        <dsp:cNvSpPr/>
      </dsp:nvSpPr>
      <dsp:spPr>
        <a:xfrm>
          <a:off x="6430232" y="1607772"/>
          <a:ext cx="1559052" cy="32642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6094" tIns="0" rIns="0" bIns="0" numCol="1" spcCol="1270" anchor="t" anchorCtr="0">
          <a:noAutofit/>
        </a:bodyPr>
        <a:lstStyle/>
        <a:p>
          <a:pPr marL="0" lvl="0" indent="0" algn="l" defTabSz="666750">
            <a:lnSpc>
              <a:spcPct val="90000"/>
            </a:lnSpc>
            <a:spcBef>
              <a:spcPct val="0"/>
            </a:spcBef>
            <a:spcAft>
              <a:spcPct val="35000"/>
            </a:spcAft>
            <a:buNone/>
          </a:pPr>
          <a:r>
            <a:rPr lang="en-IE" sz="1500" kern="1200" dirty="0"/>
            <a:t>Commitment</a:t>
          </a:r>
        </a:p>
      </dsp:txBody>
      <dsp:txXfrm>
        <a:off x="6430232" y="1607772"/>
        <a:ext cx="1559052" cy="3264265"/>
      </dsp:txXfrm>
    </dsp:sp>
    <dsp:sp modelId="{1025EF2A-1D1B-40CF-A0F6-7C68CB59E3F8}">
      <dsp:nvSpPr>
        <dsp:cNvPr id="0" name=""/>
        <dsp:cNvSpPr/>
      </dsp:nvSpPr>
      <dsp:spPr>
        <a:xfrm>
          <a:off x="7681371" y="978305"/>
          <a:ext cx="615825" cy="615825"/>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C78E7BB-7F9C-4C1F-AEB7-D617FBD79CED}">
      <dsp:nvSpPr>
        <dsp:cNvPr id="0" name=""/>
        <dsp:cNvSpPr/>
      </dsp:nvSpPr>
      <dsp:spPr>
        <a:xfrm>
          <a:off x="7989284" y="1286218"/>
          <a:ext cx="1559052" cy="35858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6313" tIns="0" rIns="0" bIns="0" numCol="1" spcCol="1270" anchor="t" anchorCtr="0">
          <a:noAutofit/>
        </a:bodyPr>
        <a:lstStyle/>
        <a:p>
          <a:pPr marL="0" lvl="0" indent="0" algn="l" defTabSz="666750">
            <a:lnSpc>
              <a:spcPct val="90000"/>
            </a:lnSpc>
            <a:spcBef>
              <a:spcPct val="0"/>
            </a:spcBef>
            <a:spcAft>
              <a:spcPct val="35000"/>
            </a:spcAft>
            <a:buNone/>
          </a:pPr>
          <a:r>
            <a:rPr lang="en-IE" sz="1500" kern="1200" dirty="0"/>
            <a:t>Internalisation</a:t>
          </a:r>
        </a:p>
      </dsp:txBody>
      <dsp:txXfrm>
        <a:off x="7989284" y="1286218"/>
        <a:ext cx="1559052" cy="3585819"/>
      </dsp:txXfrm>
    </dsp:sp>
  </dsp:spTree>
</dsp:drawing>
</file>

<file path=ppt/diagrams/layout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7D3C8957-F087-4D71-ABEF-5B7D1500B924}" type="datetimeFigureOut">
              <a:rPr lang="en-IE" smtClean="0"/>
              <a:t>23/10/2023</a:t>
            </a:fld>
            <a:endParaRPr lang="en-IE"/>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1D213B00-8A62-4D90-AD6A-0226518EC3CC}" type="slidenum">
              <a:rPr lang="en-IE" smtClean="0"/>
              <a:t>‹#›</a:t>
            </a:fld>
            <a:endParaRPr lang="en-IE"/>
          </a:p>
        </p:txBody>
      </p:sp>
    </p:spTree>
    <p:extLst>
      <p:ext uri="{BB962C8B-B14F-4D97-AF65-F5344CB8AC3E}">
        <p14:creationId xmlns:p14="http://schemas.microsoft.com/office/powerpoint/2010/main" val="41552510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https://www.youtube.com/watch?v=kgqep0h1tuo</a:t>
            </a:r>
          </a:p>
          <a:p>
            <a:endParaRPr lang="en-IE" dirty="0"/>
          </a:p>
        </p:txBody>
      </p:sp>
      <p:sp>
        <p:nvSpPr>
          <p:cNvPr id="4" name="Slide Number Placeholder 3"/>
          <p:cNvSpPr>
            <a:spLocks noGrp="1"/>
          </p:cNvSpPr>
          <p:nvPr>
            <p:ph type="sldNum" sz="quarter" idx="10"/>
          </p:nvPr>
        </p:nvSpPr>
        <p:spPr/>
        <p:txBody>
          <a:bodyPr/>
          <a:lstStyle/>
          <a:p>
            <a:fld id="{1D213B00-8A62-4D90-AD6A-0226518EC3CC}" type="slidenum">
              <a:rPr lang="en-IE" smtClean="0"/>
              <a:t>1</a:t>
            </a:fld>
            <a:endParaRPr lang="en-IE"/>
          </a:p>
        </p:txBody>
      </p:sp>
    </p:spTree>
    <p:extLst>
      <p:ext uri="{BB962C8B-B14F-4D97-AF65-F5344CB8AC3E}">
        <p14:creationId xmlns:p14="http://schemas.microsoft.com/office/powerpoint/2010/main" val="12978090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C03AABE-493B-48CD-9665-3A3A5F8E7DC6}" type="slidenum">
              <a:rPr lang="de-DE" smtClean="0"/>
              <a:pPr/>
              <a:t>5</a:t>
            </a:fld>
            <a:endParaRPr lang="de-DE"/>
          </a:p>
        </p:txBody>
      </p:sp>
    </p:spTree>
    <p:extLst>
      <p:ext uri="{BB962C8B-B14F-4D97-AF65-F5344CB8AC3E}">
        <p14:creationId xmlns:p14="http://schemas.microsoft.com/office/powerpoint/2010/main" val="20961746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lienbildplatzhalt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6627" name="Notizenplatzhalt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501" tIns="46250" rIns="92501" bIns="46250"/>
          <a:lstStyle/>
          <a:p>
            <a:pPr defTabSz="914400"/>
            <a:r>
              <a:rPr lang="de-DE">
                <a:ea typeface="ＭＳ Ｐゴシック" pitchFamily="-106" charset="-128"/>
              </a:rPr>
              <a:t>Stressors: Physical (noise, light) and psychological (role ambiguity, role conflict)</a:t>
            </a:r>
          </a:p>
          <a:p>
            <a:pPr defTabSz="914400"/>
            <a:endParaRPr lang="de-DE">
              <a:ea typeface="ＭＳ Ｐゴシック" pitchFamily="-106" charset="-128"/>
            </a:endParaRPr>
          </a:p>
          <a:p>
            <a:pPr defTabSz="914400"/>
            <a:r>
              <a:rPr lang="de-DE">
                <a:ea typeface="ＭＳ Ｐゴシック" pitchFamily="-106" charset="-128"/>
              </a:rPr>
              <a:t>Percpetion and cognition (appraisal process)</a:t>
            </a:r>
          </a:p>
          <a:p>
            <a:pPr defTabSz="914400"/>
            <a:endParaRPr lang="de-DE">
              <a:ea typeface="ＭＳ Ｐゴシック" pitchFamily="-106" charset="-128"/>
            </a:endParaRPr>
          </a:p>
          <a:p>
            <a:pPr defTabSz="914400"/>
            <a:r>
              <a:rPr lang="de-DE">
                <a:ea typeface="ＭＳ Ｐゴシック" pitchFamily="-106" charset="-128"/>
              </a:rPr>
              <a:t>Strains: physiological (cardiovascular), psychological (depression, anxiety), behavioral (turnover, absenteeism)</a:t>
            </a:r>
          </a:p>
          <a:p>
            <a:pPr defTabSz="914400"/>
            <a:endParaRPr lang="de-DE">
              <a:ea typeface="ＭＳ Ｐゴシック" pitchFamily="-106" charset="-128"/>
            </a:endParaRPr>
          </a:p>
          <a:p>
            <a:pPr defTabSz="914400"/>
            <a:r>
              <a:rPr lang="de-DE">
                <a:ea typeface="ＭＳ Ｐゴシック" pitchFamily="-106" charset="-128"/>
              </a:rPr>
              <a:t>MODERATORS</a:t>
            </a:r>
          </a:p>
          <a:p>
            <a:pPr defTabSz="914400"/>
            <a:r>
              <a:rPr lang="de-DE">
                <a:ea typeface="ＭＳ Ｐゴシック" pitchFamily="-106" charset="-128"/>
              </a:rPr>
              <a:t>Person factors: self-esteem, locus of control</a:t>
            </a:r>
          </a:p>
          <a:p>
            <a:pPr defTabSz="914400"/>
            <a:endParaRPr lang="de-DE">
              <a:ea typeface="ＭＳ Ｐゴシック" pitchFamily="-106" charset="-128"/>
            </a:endParaRPr>
          </a:p>
          <a:p>
            <a:pPr defTabSz="914400"/>
            <a:r>
              <a:rPr lang="de-DE">
                <a:ea typeface="ＭＳ Ｐゴシック" pitchFamily="-106" charset="-128"/>
              </a:rPr>
              <a:t>Situation factors: social support</a:t>
            </a:r>
          </a:p>
        </p:txBody>
      </p:sp>
      <p:sp>
        <p:nvSpPr>
          <p:cNvPr id="26628" name="Foliennummernplatzhalter 3"/>
          <p:cNvSpPr txBox="1">
            <a:spLocks noGrp="1"/>
          </p:cNvSpPr>
          <p:nvPr/>
        </p:nvSpPr>
        <p:spPr bwMode="auto">
          <a:xfrm>
            <a:off x="3850908" y="9429910"/>
            <a:ext cx="2945184" cy="4967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501" tIns="46250" rIns="92501" bIns="46250" anchor="b"/>
          <a:lstStyle>
            <a:lvl1pPr defTabSz="925513" eaLnBrk="0" hangingPunct="0">
              <a:defRPr sz="2400">
                <a:solidFill>
                  <a:schemeClr val="tx1"/>
                </a:solidFill>
                <a:latin typeface="Arial" charset="0"/>
                <a:ea typeface="ＭＳ Ｐゴシック" pitchFamily="-106" charset="-128"/>
              </a:defRPr>
            </a:lvl1pPr>
            <a:lvl2pPr marL="37931725" indent="-37474525" defTabSz="925513" eaLnBrk="0" hangingPunct="0">
              <a:defRPr sz="2400">
                <a:solidFill>
                  <a:schemeClr val="tx1"/>
                </a:solidFill>
                <a:latin typeface="Arial" charset="0"/>
                <a:ea typeface="ＭＳ Ｐゴシック" pitchFamily="-106" charset="-128"/>
              </a:defRPr>
            </a:lvl2pPr>
            <a:lvl3pPr eaLnBrk="0" hangingPunct="0">
              <a:defRPr sz="2400">
                <a:solidFill>
                  <a:schemeClr val="tx1"/>
                </a:solidFill>
                <a:latin typeface="Arial" charset="0"/>
                <a:ea typeface="ＭＳ Ｐゴシック" pitchFamily="-106" charset="-128"/>
              </a:defRPr>
            </a:lvl3pPr>
            <a:lvl4pPr eaLnBrk="0" hangingPunct="0">
              <a:defRPr sz="2400">
                <a:solidFill>
                  <a:schemeClr val="tx1"/>
                </a:solidFill>
                <a:latin typeface="Arial" charset="0"/>
                <a:ea typeface="ＭＳ Ｐゴシック" pitchFamily="-106" charset="-128"/>
              </a:defRPr>
            </a:lvl4pPr>
            <a:lvl5pPr eaLnBrk="0" hangingPunct="0">
              <a:defRPr sz="2400">
                <a:solidFill>
                  <a:schemeClr val="tx1"/>
                </a:solidFill>
                <a:latin typeface="Arial" charset="0"/>
                <a:ea typeface="ＭＳ Ｐゴシック" pitchFamily="-106" charset="-128"/>
              </a:defRPr>
            </a:lvl5pPr>
            <a:lvl6pPr marL="457200" eaLnBrk="0" fontAlgn="base" hangingPunct="0">
              <a:spcBef>
                <a:spcPct val="0"/>
              </a:spcBef>
              <a:spcAft>
                <a:spcPct val="0"/>
              </a:spcAft>
              <a:defRPr sz="2400">
                <a:solidFill>
                  <a:schemeClr val="tx1"/>
                </a:solidFill>
                <a:latin typeface="Arial" charset="0"/>
                <a:ea typeface="ＭＳ Ｐゴシック" pitchFamily="-106" charset="-128"/>
              </a:defRPr>
            </a:lvl6pPr>
            <a:lvl7pPr marL="914400" eaLnBrk="0" fontAlgn="base" hangingPunct="0">
              <a:spcBef>
                <a:spcPct val="0"/>
              </a:spcBef>
              <a:spcAft>
                <a:spcPct val="0"/>
              </a:spcAft>
              <a:defRPr sz="2400">
                <a:solidFill>
                  <a:schemeClr val="tx1"/>
                </a:solidFill>
                <a:latin typeface="Arial" charset="0"/>
                <a:ea typeface="ＭＳ Ｐゴシック" pitchFamily="-106" charset="-128"/>
              </a:defRPr>
            </a:lvl7pPr>
            <a:lvl8pPr marL="1371600" eaLnBrk="0" fontAlgn="base" hangingPunct="0">
              <a:spcBef>
                <a:spcPct val="0"/>
              </a:spcBef>
              <a:spcAft>
                <a:spcPct val="0"/>
              </a:spcAft>
              <a:defRPr sz="2400">
                <a:solidFill>
                  <a:schemeClr val="tx1"/>
                </a:solidFill>
                <a:latin typeface="Arial" charset="0"/>
                <a:ea typeface="ＭＳ Ｐゴシック" pitchFamily="-106" charset="-128"/>
              </a:defRPr>
            </a:lvl8pPr>
            <a:lvl9pPr marL="1828800" eaLnBrk="0" fontAlgn="base" hangingPunct="0">
              <a:spcBef>
                <a:spcPct val="0"/>
              </a:spcBef>
              <a:spcAft>
                <a:spcPct val="0"/>
              </a:spcAft>
              <a:defRPr sz="2400">
                <a:solidFill>
                  <a:schemeClr val="tx1"/>
                </a:solidFill>
                <a:latin typeface="Arial" charset="0"/>
                <a:ea typeface="ＭＳ Ｐゴシック" pitchFamily="-106" charset="-128"/>
              </a:defRPr>
            </a:lvl9pPr>
          </a:lstStyle>
          <a:p>
            <a:pPr algn="r" eaLnBrk="1" hangingPunct="1"/>
            <a:fld id="{F56F5B29-1042-4068-BDDB-19D1329923E6}" type="slidenum">
              <a:rPr lang="en-GB" sz="1300">
                <a:cs typeface="Arial" charset="0"/>
              </a:rPr>
              <a:pPr algn="r" eaLnBrk="1" hangingPunct="1"/>
              <a:t>6</a:t>
            </a:fld>
            <a:endParaRPr lang="en-GB" sz="1300">
              <a:cs typeface="Arial" charset="0"/>
            </a:endParaRPr>
          </a:p>
        </p:txBody>
      </p:sp>
    </p:spTree>
    <p:extLst>
      <p:ext uri="{BB962C8B-B14F-4D97-AF65-F5344CB8AC3E}">
        <p14:creationId xmlns:p14="http://schemas.microsoft.com/office/powerpoint/2010/main" val="39479662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C03AABE-493B-48CD-9665-3A3A5F8E7DC6}" type="slidenum">
              <a:rPr lang="de-DE" smtClean="0"/>
              <a:pPr/>
              <a:t>9</a:t>
            </a:fld>
            <a:endParaRPr lang="de-DE"/>
          </a:p>
        </p:txBody>
      </p:sp>
    </p:spTree>
    <p:extLst>
      <p:ext uri="{BB962C8B-B14F-4D97-AF65-F5344CB8AC3E}">
        <p14:creationId xmlns:p14="http://schemas.microsoft.com/office/powerpoint/2010/main" val="10494506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C03AABE-493B-48CD-9665-3A3A5F8E7DC6}" type="slidenum">
              <a:rPr lang="de-DE" smtClean="0"/>
              <a:pPr/>
              <a:t>10</a:t>
            </a:fld>
            <a:endParaRPr lang="de-DE"/>
          </a:p>
        </p:txBody>
      </p:sp>
    </p:spTree>
    <p:extLst>
      <p:ext uri="{BB962C8B-B14F-4D97-AF65-F5344CB8AC3E}">
        <p14:creationId xmlns:p14="http://schemas.microsoft.com/office/powerpoint/2010/main" val="33965315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C03AABE-493B-48CD-9665-3A3A5F8E7DC6}" type="slidenum">
              <a:rPr lang="de-DE" smtClean="0"/>
              <a:pPr/>
              <a:t>11</a:t>
            </a:fld>
            <a:endParaRPr lang="de-DE"/>
          </a:p>
        </p:txBody>
      </p:sp>
    </p:spTree>
    <p:extLst>
      <p:ext uri="{BB962C8B-B14F-4D97-AF65-F5344CB8AC3E}">
        <p14:creationId xmlns:p14="http://schemas.microsoft.com/office/powerpoint/2010/main" val="39636850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C03AABE-493B-48CD-9665-3A3A5F8E7DC6}" type="slidenum">
              <a:rPr lang="de-DE" smtClean="0"/>
              <a:pPr/>
              <a:t>13</a:t>
            </a:fld>
            <a:endParaRPr lang="de-DE"/>
          </a:p>
        </p:txBody>
      </p:sp>
    </p:spTree>
    <p:extLst>
      <p:ext uri="{BB962C8B-B14F-4D97-AF65-F5344CB8AC3E}">
        <p14:creationId xmlns:p14="http://schemas.microsoft.com/office/powerpoint/2010/main" val="24595958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C03AABE-493B-48CD-9665-3A3A5F8E7DC6}" type="slidenum">
              <a:rPr lang="de-DE" smtClean="0"/>
              <a:pPr/>
              <a:t>14</a:t>
            </a:fld>
            <a:endParaRPr lang="de-DE"/>
          </a:p>
        </p:txBody>
      </p:sp>
    </p:spTree>
    <p:extLst>
      <p:ext uri="{BB962C8B-B14F-4D97-AF65-F5344CB8AC3E}">
        <p14:creationId xmlns:p14="http://schemas.microsoft.com/office/powerpoint/2010/main" val="28412290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C03AABE-493B-48CD-9665-3A3A5F8E7DC6}" type="slidenum">
              <a:rPr lang="de-DE" smtClean="0"/>
              <a:pPr/>
              <a:t>15</a:t>
            </a:fld>
            <a:endParaRPr lang="de-DE"/>
          </a:p>
        </p:txBody>
      </p:sp>
    </p:spTree>
    <p:extLst>
      <p:ext uri="{BB962C8B-B14F-4D97-AF65-F5344CB8AC3E}">
        <p14:creationId xmlns:p14="http://schemas.microsoft.com/office/powerpoint/2010/main" val="1478202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C03AABE-493B-48CD-9665-3A3A5F8E7DC6}" type="slidenum">
              <a:rPr lang="de-DE" smtClean="0"/>
              <a:pPr/>
              <a:t>16</a:t>
            </a:fld>
            <a:endParaRPr lang="de-DE"/>
          </a:p>
        </p:txBody>
      </p:sp>
    </p:spTree>
    <p:extLst>
      <p:ext uri="{BB962C8B-B14F-4D97-AF65-F5344CB8AC3E}">
        <p14:creationId xmlns:p14="http://schemas.microsoft.com/office/powerpoint/2010/main" val="20044395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C03AABE-493B-48CD-9665-3A3A5F8E7DC6}" type="slidenum">
              <a:rPr lang="de-DE" smtClean="0"/>
              <a:pPr/>
              <a:t>17</a:t>
            </a:fld>
            <a:endParaRPr lang="de-DE"/>
          </a:p>
        </p:txBody>
      </p:sp>
    </p:spTree>
    <p:extLst>
      <p:ext uri="{BB962C8B-B14F-4D97-AF65-F5344CB8AC3E}">
        <p14:creationId xmlns:p14="http://schemas.microsoft.com/office/powerpoint/2010/main" val="40369129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Many different types of models and theories of work stress and it can become </a:t>
            </a:r>
            <a:r>
              <a:rPr lang="en-IE" dirty="0" err="1"/>
              <a:t>condusing</a:t>
            </a:r>
            <a:r>
              <a:rPr lang="en-IE" dirty="0"/>
              <a:t>.</a:t>
            </a:r>
            <a:r>
              <a:rPr lang="en-IE" baseline="0" dirty="0"/>
              <a:t> Today I will talk about most influential theories identified by their key characteristics in </a:t>
            </a:r>
            <a:r>
              <a:rPr lang="en-IE" baseline="0" dirty="0" err="1"/>
              <a:t>otder</a:t>
            </a:r>
            <a:r>
              <a:rPr lang="en-IE" baseline="0" dirty="0"/>
              <a:t> to simplify things. – structure or transactional </a:t>
            </a:r>
            <a:endParaRPr lang="en-IE" dirty="0"/>
          </a:p>
          <a:p>
            <a:endParaRPr lang="en-IE" dirty="0"/>
          </a:p>
          <a:p>
            <a:r>
              <a:rPr lang="en-IE" dirty="0"/>
              <a:t>Structural approaches focus</a:t>
            </a:r>
            <a:r>
              <a:rPr lang="en-IE" baseline="0" dirty="0"/>
              <a:t> on the aspects of work (and the interactions between them) that are thought to lead to negative emotional state of stress, and in turn, poor employee wellbeing. There are many factors (you will see in a later model) that can influence stress and well being at work. </a:t>
            </a:r>
          </a:p>
          <a:p>
            <a:endParaRPr lang="en-IE" baseline="0" dirty="0"/>
          </a:p>
          <a:p>
            <a:r>
              <a:rPr lang="en-IE" baseline="0" dirty="0"/>
              <a:t>Structural models of work did much to further our understanding about how working conditions are linked to employee health. However , it makes sense to assume that stress </a:t>
            </a:r>
            <a:r>
              <a:rPr lang="en-IE" baseline="0" dirty="0" err="1"/>
              <a:t>doesnot</a:t>
            </a:r>
            <a:r>
              <a:rPr lang="en-IE" baseline="0" dirty="0"/>
              <a:t> end when there is a mismatch between person and environment. Individuals at work react to, respond to, and transact with the work environment (i.e. they do things that change their situation. The dynamic nature of stress was highlighted by cummings and cooper (1979) which forms foundation for later theories. </a:t>
            </a:r>
            <a:endParaRPr lang="en-IE" dirty="0"/>
          </a:p>
        </p:txBody>
      </p:sp>
      <p:sp>
        <p:nvSpPr>
          <p:cNvPr id="4" name="Slide Number Placeholder 3"/>
          <p:cNvSpPr>
            <a:spLocks noGrp="1"/>
          </p:cNvSpPr>
          <p:nvPr>
            <p:ph type="sldNum" sz="quarter" idx="10"/>
          </p:nvPr>
        </p:nvSpPr>
        <p:spPr/>
        <p:txBody>
          <a:bodyPr/>
          <a:lstStyle/>
          <a:p>
            <a:fld id="{E3412038-142C-4E96-90A2-8DB2E611F065}" type="slidenum">
              <a:rPr lang="en-IE" smtClean="0"/>
              <a:t>21</a:t>
            </a:fld>
            <a:endParaRPr lang="en-IE"/>
          </a:p>
        </p:txBody>
      </p:sp>
    </p:spTree>
    <p:extLst>
      <p:ext uri="{BB962C8B-B14F-4D97-AF65-F5344CB8AC3E}">
        <p14:creationId xmlns:p14="http://schemas.microsoft.com/office/powerpoint/2010/main" val="32119066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demand control model (</a:t>
            </a:r>
            <a:r>
              <a:rPr lang="en-IE" dirty="0" err="1"/>
              <a:t>Karasek</a:t>
            </a:r>
            <a:r>
              <a:rPr lang="en-IE" dirty="0"/>
              <a:t>,</a:t>
            </a:r>
            <a:r>
              <a:rPr lang="en-IE" baseline="0" dirty="0"/>
              <a:t> 1979) was build around two particular important features of the work environment. Demands – relate to the amount of work that a person does but also include factors such as time pressures and the amount of mental and physical effort involved in the job. Control in this model includes two components – skill discretion – the extent to which the job allows employees to use their skills and capabilities and decision </a:t>
            </a:r>
            <a:r>
              <a:rPr lang="en-IE" baseline="0" dirty="0" err="1"/>
              <a:t>latitiude</a:t>
            </a:r>
            <a:r>
              <a:rPr lang="en-IE" baseline="0" dirty="0"/>
              <a:t> – the amount of control the employee has over their </a:t>
            </a:r>
            <a:r>
              <a:rPr lang="en-IE" baseline="0" dirty="0" err="1"/>
              <a:t>suitation</a:t>
            </a:r>
            <a:r>
              <a:rPr lang="en-IE" baseline="0" dirty="0"/>
              <a:t>. By combining these two dimension – there are four categories. </a:t>
            </a:r>
          </a:p>
          <a:p>
            <a:endParaRPr lang="en-IE" baseline="0" dirty="0"/>
          </a:p>
          <a:p>
            <a:r>
              <a:rPr lang="en-IE" baseline="0" dirty="0"/>
              <a:t>The model was expanded by Johnson and hall 1988 to include social support (Demand –control-support model ) </a:t>
            </a:r>
            <a:endParaRPr lang="en-IE" dirty="0"/>
          </a:p>
        </p:txBody>
      </p:sp>
      <p:sp>
        <p:nvSpPr>
          <p:cNvPr id="4" name="Slide Number Placeholder 3"/>
          <p:cNvSpPr>
            <a:spLocks noGrp="1"/>
          </p:cNvSpPr>
          <p:nvPr>
            <p:ph type="sldNum" sz="quarter" idx="10"/>
          </p:nvPr>
        </p:nvSpPr>
        <p:spPr/>
        <p:txBody>
          <a:bodyPr/>
          <a:lstStyle/>
          <a:p>
            <a:fld id="{E3412038-142C-4E96-90A2-8DB2E611F065}" type="slidenum">
              <a:rPr lang="en-IE" smtClean="0"/>
              <a:t>23</a:t>
            </a:fld>
            <a:endParaRPr lang="en-IE"/>
          </a:p>
        </p:txBody>
      </p:sp>
    </p:spTree>
    <p:extLst>
      <p:ext uri="{BB962C8B-B14F-4D97-AF65-F5344CB8AC3E}">
        <p14:creationId xmlns:p14="http://schemas.microsoft.com/office/powerpoint/2010/main" val="32425933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fld id="{E3412038-142C-4E96-90A2-8DB2E611F065}" type="slidenum">
              <a:rPr lang="en-IE" smtClean="0"/>
              <a:t>26</a:t>
            </a:fld>
            <a:endParaRPr lang="en-IE"/>
          </a:p>
        </p:txBody>
      </p:sp>
    </p:spTree>
    <p:extLst>
      <p:ext uri="{BB962C8B-B14F-4D97-AF65-F5344CB8AC3E}">
        <p14:creationId xmlns:p14="http://schemas.microsoft.com/office/powerpoint/2010/main" val="38014700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C03AABE-493B-48CD-9665-3A3A5F8E7DC6}" type="slidenum">
              <a:rPr lang="de-DE" smtClean="0"/>
              <a:pPr/>
              <a:t>33</a:t>
            </a:fld>
            <a:endParaRPr lang="de-DE"/>
          </a:p>
        </p:txBody>
      </p:sp>
    </p:spTree>
    <p:extLst>
      <p:ext uri="{BB962C8B-B14F-4D97-AF65-F5344CB8AC3E}">
        <p14:creationId xmlns:p14="http://schemas.microsoft.com/office/powerpoint/2010/main" val="24676195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Absence – UK health</a:t>
            </a:r>
            <a:r>
              <a:rPr lang="en-IE" baseline="0" dirty="0"/>
              <a:t> and </a:t>
            </a:r>
            <a:r>
              <a:rPr lang="en-IE" baseline="0" dirty="0" err="1"/>
              <a:t>and</a:t>
            </a:r>
            <a:r>
              <a:rPr lang="en-IE" baseline="0" dirty="0"/>
              <a:t> safety executive 2007 which estimated that self-reported work related stress, depression or anxiety account for 10.5 m reported lost working </a:t>
            </a:r>
            <a:r>
              <a:rPr lang="en-IE" baseline="0" dirty="0" err="1"/>
              <a:t>dats</a:t>
            </a:r>
            <a:r>
              <a:rPr lang="en-IE" baseline="0" dirty="0"/>
              <a:t> per year in Britain. SELF REPORTED -&gt; so could be higher. </a:t>
            </a:r>
            <a:r>
              <a:rPr lang="en-IE" baseline="0" dirty="0" err="1"/>
              <a:t>Presenteeism</a:t>
            </a:r>
            <a:r>
              <a:rPr lang="en-IE" baseline="0" dirty="0"/>
              <a:t> is even more problematic and harder to measure People go to work but less productive either due to reduced commitment, motivation satisfaction or due to health </a:t>
            </a:r>
            <a:r>
              <a:rPr lang="en-IE" baseline="0" dirty="0" err="1"/>
              <a:t>provlems</a:t>
            </a:r>
            <a:r>
              <a:rPr lang="en-IE" baseline="0" dirty="0"/>
              <a:t>. </a:t>
            </a:r>
          </a:p>
          <a:p>
            <a:endParaRPr lang="en-IE" baseline="0" dirty="0"/>
          </a:p>
          <a:p>
            <a:r>
              <a:rPr lang="en-IE" baseline="0" dirty="0"/>
              <a:t>Turnover – is linked to working conditions, very expensive </a:t>
            </a:r>
            <a:r>
              <a:rPr lang="en-IE" baseline="0" dirty="0" err="1"/>
              <a:t>especiall</a:t>
            </a:r>
            <a:r>
              <a:rPr lang="en-IE" baseline="0" dirty="0"/>
              <a:t> when companies invest in training, development etc. </a:t>
            </a:r>
            <a:endParaRPr lang="en-IE" dirty="0"/>
          </a:p>
        </p:txBody>
      </p:sp>
      <p:sp>
        <p:nvSpPr>
          <p:cNvPr id="4" name="Slide Number Placeholder 3"/>
          <p:cNvSpPr>
            <a:spLocks noGrp="1"/>
          </p:cNvSpPr>
          <p:nvPr>
            <p:ph type="sldNum" sz="quarter" idx="10"/>
          </p:nvPr>
        </p:nvSpPr>
        <p:spPr/>
        <p:txBody>
          <a:bodyPr/>
          <a:lstStyle/>
          <a:p>
            <a:fld id="{E3412038-142C-4E96-90A2-8DB2E611F065}" type="slidenum">
              <a:rPr lang="en-IE" smtClean="0"/>
              <a:t>35</a:t>
            </a:fld>
            <a:endParaRPr lang="en-IE"/>
          </a:p>
        </p:txBody>
      </p:sp>
    </p:spTree>
    <p:extLst>
      <p:ext uri="{BB962C8B-B14F-4D97-AF65-F5344CB8AC3E}">
        <p14:creationId xmlns:p14="http://schemas.microsoft.com/office/powerpoint/2010/main" val="62647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fld id="{E3412038-142C-4E96-90A2-8DB2E611F065}" type="slidenum">
              <a:rPr lang="en-IE" smtClean="0"/>
              <a:t>36</a:t>
            </a:fld>
            <a:endParaRPr lang="en-IE"/>
          </a:p>
        </p:txBody>
      </p:sp>
    </p:spTree>
    <p:extLst>
      <p:ext uri="{BB962C8B-B14F-4D97-AF65-F5344CB8AC3E}">
        <p14:creationId xmlns:p14="http://schemas.microsoft.com/office/powerpoint/2010/main" val="41570913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C03AABE-493B-48CD-9665-3A3A5F8E7DC6}" type="slidenum">
              <a:rPr lang="de-DE" smtClean="0"/>
              <a:pPr/>
              <a:t>37</a:t>
            </a:fld>
            <a:endParaRPr lang="de-DE"/>
          </a:p>
        </p:txBody>
      </p:sp>
    </p:spTree>
    <p:extLst>
      <p:ext uri="{BB962C8B-B14F-4D97-AF65-F5344CB8AC3E}">
        <p14:creationId xmlns:p14="http://schemas.microsoft.com/office/powerpoint/2010/main" val="18563177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Model the change; Communicate the change;</a:t>
            </a:r>
            <a:r>
              <a:rPr lang="en-IE" baseline="0" dirty="0"/>
              <a:t> Engage others to participate; help others break from the past; creating a supportive environment</a:t>
            </a:r>
          </a:p>
          <a:p>
            <a:endParaRPr lang="en-IE" baseline="0" dirty="0"/>
          </a:p>
          <a:p>
            <a:r>
              <a:rPr lang="en-IE" dirty="0"/>
              <a:t>https://hbr.org/2005/05/your-companys-secret-change-agents</a:t>
            </a:r>
          </a:p>
        </p:txBody>
      </p:sp>
      <p:sp>
        <p:nvSpPr>
          <p:cNvPr id="4" name="Slide Number Placeholder 3"/>
          <p:cNvSpPr>
            <a:spLocks noGrp="1"/>
          </p:cNvSpPr>
          <p:nvPr>
            <p:ph type="sldNum" sz="quarter" idx="10"/>
          </p:nvPr>
        </p:nvSpPr>
        <p:spPr/>
        <p:txBody>
          <a:bodyPr/>
          <a:lstStyle/>
          <a:p>
            <a:fld id="{1D213B00-8A62-4D90-AD6A-0226518EC3CC}" type="slidenum">
              <a:rPr lang="en-IE" smtClean="0"/>
              <a:t>39</a:t>
            </a:fld>
            <a:endParaRPr lang="en-IE"/>
          </a:p>
        </p:txBody>
      </p:sp>
    </p:spTree>
    <p:extLst>
      <p:ext uri="{BB962C8B-B14F-4D97-AF65-F5344CB8AC3E}">
        <p14:creationId xmlns:p14="http://schemas.microsoft.com/office/powerpoint/2010/main" val="24718550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Awareness of desired behaviour;  “yeah I saw the memo”</a:t>
            </a:r>
          </a:p>
          <a:p>
            <a:r>
              <a:rPr lang="en-IE" dirty="0"/>
              <a:t>Understanding of change direction; “I understand where we need to go”</a:t>
            </a:r>
          </a:p>
          <a:p>
            <a:r>
              <a:rPr lang="en-IE" dirty="0"/>
              <a:t>translation to the work setting; “I know how we need to do out</a:t>
            </a:r>
            <a:r>
              <a:rPr lang="en-IE" baseline="0" dirty="0"/>
              <a:t> jobs differently “</a:t>
            </a:r>
            <a:endParaRPr lang="en-IE" dirty="0"/>
          </a:p>
          <a:p>
            <a:r>
              <a:rPr lang="en-IE" dirty="0"/>
              <a:t> commitment to personal change; “Ok I’m ready to do it the new way”</a:t>
            </a:r>
          </a:p>
          <a:p>
            <a:r>
              <a:rPr lang="en-IE" dirty="0"/>
              <a:t>internalisation of new behaviour: “This is the way we do things here”</a:t>
            </a:r>
          </a:p>
        </p:txBody>
      </p:sp>
      <p:sp>
        <p:nvSpPr>
          <p:cNvPr id="4" name="Slide Number Placeholder 3"/>
          <p:cNvSpPr>
            <a:spLocks noGrp="1"/>
          </p:cNvSpPr>
          <p:nvPr>
            <p:ph type="sldNum" sz="quarter" idx="10"/>
          </p:nvPr>
        </p:nvSpPr>
        <p:spPr/>
        <p:txBody>
          <a:bodyPr/>
          <a:lstStyle/>
          <a:p>
            <a:fld id="{1D213B00-8A62-4D90-AD6A-0226518EC3CC}" type="slidenum">
              <a:rPr lang="en-IE" smtClean="0"/>
              <a:t>40</a:t>
            </a:fld>
            <a:endParaRPr lang="en-IE"/>
          </a:p>
        </p:txBody>
      </p:sp>
    </p:spTree>
    <p:extLst>
      <p:ext uri="{BB962C8B-B14F-4D97-AF65-F5344CB8AC3E}">
        <p14:creationId xmlns:p14="http://schemas.microsoft.com/office/powerpoint/2010/main" val="19433397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41</a:t>
            </a:fld>
            <a:endParaRPr lang="en-US" dirty="0"/>
          </a:p>
        </p:txBody>
      </p:sp>
    </p:spTree>
    <p:extLst>
      <p:ext uri="{BB962C8B-B14F-4D97-AF65-F5344CB8AC3E}">
        <p14:creationId xmlns:p14="http://schemas.microsoft.com/office/powerpoint/2010/main" val="10797566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42</a:t>
            </a:fld>
            <a:endParaRPr lang="en-US" dirty="0"/>
          </a:p>
        </p:txBody>
      </p:sp>
    </p:spTree>
    <p:extLst>
      <p:ext uri="{BB962C8B-B14F-4D97-AF65-F5344CB8AC3E}">
        <p14:creationId xmlns:p14="http://schemas.microsoft.com/office/powerpoint/2010/main" val="19326195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43</a:t>
            </a:fld>
            <a:endParaRPr lang="en-US" dirty="0"/>
          </a:p>
        </p:txBody>
      </p:sp>
    </p:spTree>
    <p:extLst>
      <p:ext uri="{BB962C8B-B14F-4D97-AF65-F5344CB8AC3E}">
        <p14:creationId xmlns:p14="http://schemas.microsoft.com/office/powerpoint/2010/main" val="5010623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Rot="1" noChangeAspect="1" noChangeArrowheads="1" noTextEdit="1"/>
          </p:cNvSpPr>
          <p:nvPr>
            <p:ph type="sldImg"/>
          </p:nvPr>
        </p:nvSpPr>
        <p:spPr>
          <a:ln/>
        </p:spPr>
      </p:sp>
      <p:sp>
        <p:nvSpPr>
          <p:cNvPr id="203779" name="Rectangle 3"/>
          <p:cNvSpPr>
            <a:spLocks noGrp="1" noChangeArrowheads="1"/>
          </p:cNvSpPr>
          <p:nvPr>
            <p:ph type="body" idx="1"/>
          </p:nvPr>
        </p:nvSpPr>
        <p:spPr>
          <a:xfrm>
            <a:off x="674105" y="5149967"/>
            <a:ext cx="5391247" cy="4878186"/>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nSpc>
                <a:spcPct val="90000"/>
              </a:lnSpc>
            </a:pPr>
            <a:endParaRPr lang="en-IE" altLang="en-US" dirty="0"/>
          </a:p>
        </p:txBody>
      </p:sp>
    </p:spTree>
    <p:extLst>
      <p:ext uri="{BB962C8B-B14F-4D97-AF65-F5344CB8AC3E}">
        <p14:creationId xmlns:p14="http://schemas.microsoft.com/office/powerpoint/2010/main" val="22088886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Rot="1" noChangeAspect="1" noChangeArrowheads="1" noTextEdit="1"/>
          </p:cNvSpPr>
          <p:nvPr>
            <p:ph type="sldImg"/>
          </p:nvPr>
        </p:nvSpPr>
        <p:spPr>
          <a:ln/>
        </p:spPr>
      </p:sp>
      <p:sp>
        <p:nvSpPr>
          <p:cNvPr id="203779" name="Rectangle 3"/>
          <p:cNvSpPr>
            <a:spLocks noGrp="1" noChangeArrowheads="1"/>
          </p:cNvSpPr>
          <p:nvPr>
            <p:ph type="body" idx="1"/>
          </p:nvPr>
        </p:nvSpPr>
        <p:spPr>
          <a:xfrm>
            <a:off x="674105" y="5149967"/>
            <a:ext cx="5391247" cy="4878186"/>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spcBef>
                <a:spcPct val="20000"/>
              </a:spcBef>
            </a:pPr>
            <a:r>
              <a:rPr lang="en-IE" altLang="en-US" sz="1000" dirty="0">
                <a:cs typeface="Times New Roman" pitchFamily="18" charset="0"/>
              </a:rPr>
              <a:t>Although closely related, trust is not……..</a:t>
            </a:r>
            <a:endParaRPr lang="en-IE" altLang="en-US" sz="400" dirty="0">
              <a:cs typeface="Times New Roman" pitchFamily="18" charset="0"/>
            </a:endParaRPr>
          </a:p>
          <a:p>
            <a:pPr marL="742950" lvl="1" indent="-285750">
              <a:spcBef>
                <a:spcPct val="20000"/>
              </a:spcBef>
              <a:buFont typeface="Arial" panose="020B0604020202020204" pitchFamily="34" charset="0"/>
              <a:buChar char="•"/>
            </a:pPr>
            <a:r>
              <a:rPr lang="en-IE" altLang="en-US" sz="1000" dirty="0">
                <a:cs typeface="Times New Roman" pitchFamily="18" charset="0"/>
              </a:rPr>
              <a:t>Co-operation</a:t>
            </a:r>
          </a:p>
          <a:p>
            <a:pPr marL="742950" lvl="1" indent="-285750">
              <a:spcBef>
                <a:spcPct val="20000"/>
              </a:spcBef>
              <a:buFont typeface="Arial" panose="020B0604020202020204" pitchFamily="34" charset="0"/>
              <a:buChar char="•"/>
            </a:pPr>
            <a:r>
              <a:rPr lang="en-IE" altLang="en-US" sz="1000" dirty="0">
                <a:cs typeface="Times New Roman" pitchFamily="18" charset="0"/>
              </a:rPr>
              <a:t>Confidence</a:t>
            </a:r>
          </a:p>
          <a:p>
            <a:pPr marL="742950" lvl="1" indent="-285750">
              <a:spcBef>
                <a:spcPct val="20000"/>
              </a:spcBef>
              <a:buFont typeface="Arial" panose="020B0604020202020204" pitchFamily="34" charset="0"/>
              <a:buChar char="•"/>
            </a:pPr>
            <a:r>
              <a:rPr lang="en-IE" altLang="en-US" sz="1000" dirty="0">
                <a:cs typeface="Times New Roman" pitchFamily="18" charset="0"/>
              </a:rPr>
              <a:t>Predictability</a:t>
            </a:r>
          </a:p>
          <a:p>
            <a:pPr marL="742950" lvl="1" indent="-285750">
              <a:spcBef>
                <a:spcPct val="20000"/>
              </a:spcBef>
              <a:buFont typeface="Arial" panose="020B0604020202020204" pitchFamily="34" charset="0"/>
              <a:buChar char="•"/>
            </a:pPr>
            <a:endParaRPr lang="en-IE" altLang="en-US" sz="1000" dirty="0">
              <a:cs typeface="Times New Roman" pitchFamily="18" charset="0"/>
            </a:endParaRPr>
          </a:p>
          <a:p>
            <a:pPr>
              <a:spcBef>
                <a:spcPct val="20000"/>
              </a:spcBef>
            </a:pPr>
            <a:r>
              <a:rPr lang="en-IE" altLang="en-US" sz="1000" dirty="0">
                <a:cs typeface="Times New Roman" pitchFamily="18" charset="0"/>
              </a:rPr>
              <a:t>Trust involves risk for the trustor:</a:t>
            </a:r>
          </a:p>
          <a:p>
            <a:pPr marL="742950" lvl="1" indent="-285750">
              <a:spcBef>
                <a:spcPct val="20000"/>
              </a:spcBef>
              <a:buFont typeface="Arial" panose="020B0604020202020204" pitchFamily="34" charset="0"/>
              <a:buChar char="•"/>
            </a:pPr>
            <a:r>
              <a:rPr lang="en-IE" altLang="en-US" sz="1000" dirty="0">
                <a:cs typeface="Times New Roman" pitchFamily="18" charset="0"/>
              </a:rPr>
              <a:t>Outcome is important for the trustor</a:t>
            </a:r>
          </a:p>
          <a:p>
            <a:pPr marL="742950" lvl="1" indent="-285750">
              <a:spcBef>
                <a:spcPct val="20000"/>
              </a:spcBef>
              <a:buFont typeface="Arial" panose="020B0604020202020204" pitchFamily="34" charset="0"/>
              <a:buChar char="•"/>
            </a:pPr>
            <a:r>
              <a:rPr lang="en-IE" altLang="en-US" sz="1000" dirty="0">
                <a:cs typeface="Times New Roman" pitchFamily="18" charset="0"/>
              </a:rPr>
              <a:t>Outcome is outside the control of the trustor</a:t>
            </a:r>
          </a:p>
          <a:p>
            <a:pPr marL="742950" lvl="1" indent="-285750">
              <a:spcBef>
                <a:spcPct val="20000"/>
              </a:spcBef>
              <a:buFont typeface="Arial" panose="020B0604020202020204" pitchFamily="34" charset="0"/>
              <a:buChar char="•"/>
            </a:pPr>
            <a:r>
              <a:rPr lang="en-IE" altLang="en-US" sz="1000" dirty="0">
                <a:cs typeface="Times New Roman" pitchFamily="18" charset="0"/>
              </a:rPr>
              <a:t>Outcome is within the control of the trustee</a:t>
            </a:r>
          </a:p>
          <a:p>
            <a:pPr marL="742950" lvl="1" indent="-285750">
              <a:spcBef>
                <a:spcPct val="20000"/>
              </a:spcBef>
              <a:buFont typeface="Arial" panose="020B0604020202020204" pitchFamily="34" charset="0"/>
              <a:buChar char="•"/>
            </a:pPr>
            <a:r>
              <a:rPr lang="en-IE" altLang="en-US" sz="1000" dirty="0">
                <a:cs typeface="Times New Roman" pitchFamily="18" charset="0"/>
              </a:rPr>
              <a:t>Outcome is potentially negative, so the trustor is vulnerable</a:t>
            </a:r>
          </a:p>
          <a:p>
            <a:pPr>
              <a:lnSpc>
                <a:spcPct val="90000"/>
              </a:lnSpc>
            </a:pPr>
            <a:endParaRPr lang="en-IE" altLang="en-US" dirty="0"/>
          </a:p>
        </p:txBody>
      </p:sp>
    </p:spTree>
    <p:extLst>
      <p:ext uri="{BB962C8B-B14F-4D97-AF65-F5344CB8AC3E}">
        <p14:creationId xmlns:p14="http://schemas.microsoft.com/office/powerpoint/2010/main" val="17504739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46</a:t>
            </a:fld>
            <a:endParaRPr lang="en-US" dirty="0"/>
          </a:p>
        </p:txBody>
      </p:sp>
    </p:spTree>
    <p:extLst>
      <p:ext uri="{BB962C8B-B14F-4D97-AF65-F5344CB8AC3E}">
        <p14:creationId xmlns:p14="http://schemas.microsoft.com/office/powerpoint/2010/main" val="20250611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47</a:t>
            </a:fld>
            <a:endParaRPr lang="en-US" dirty="0"/>
          </a:p>
        </p:txBody>
      </p:sp>
    </p:spTree>
    <p:extLst>
      <p:ext uri="{BB962C8B-B14F-4D97-AF65-F5344CB8AC3E}">
        <p14:creationId xmlns:p14="http://schemas.microsoft.com/office/powerpoint/2010/main" val="13770214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48</a:t>
            </a:fld>
            <a:endParaRPr lang="en-US" dirty="0"/>
          </a:p>
        </p:txBody>
      </p:sp>
    </p:spTree>
    <p:extLst>
      <p:ext uri="{BB962C8B-B14F-4D97-AF65-F5344CB8AC3E}">
        <p14:creationId xmlns:p14="http://schemas.microsoft.com/office/powerpoint/2010/main" val="17348093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49</a:t>
            </a:fld>
            <a:endParaRPr lang="en-US" dirty="0"/>
          </a:p>
        </p:txBody>
      </p:sp>
    </p:spTree>
    <p:extLst>
      <p:ext uri="{BB962C8B-B14F-4D97-AF65-F5344CB8AC3E}">
        <p14:creationId xmlns:p14="http://schemas.microsoft.com/office/powerpoint/2010/main" val="39288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213B00-8A62-4D90-AD6A-0226518EC3CC}" type="slidenum">
              <a:rPr lang="en-IE" smtClean="0"/>
              <a:t>50</a:t>
            </a:fld>
            <a:endParaRPr lang="en-IE"/>
          </a:p>
        </p:txBody>
      </p:sp>
    </p:spTree>
    <p:extLst>
      <p:ext uri="{BB962C8B-B14F-4D97-AF65-F5344CB8AC3E}">
        <p14:creationId xmlns:p14="http://schemas.microsoft.com/office/powerpoint/2010/main" val="29708512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10"/>
          </p:nvPr>
        </p:nvSpPr>
        <p:spPr/>
        <p:txBody>
          <a:bodyPr/>
          <a:lstStyle/>
          <a:p>
            <a:fld id="{1D213B00-8A62-4D90-AD6A-0226518EC3CC}" type="slidenum">
              <a:rPr lang="en-IE" smtClean="0"/>
              <a:t>51</a:t>
            </a:fld>
            <a:endParaRPr lang="en-IE"/>
          </a:p>
        </p:txBody>
      </p:sp>
    </p:spTree>
    <p:extLst>
      <p:ext uri="{BB962C8B-B14F-4D97-AF65-F5344CB8AC3E}">
        <p14:creationId xmlns:p14="http://schemas.microsoft.com/office/powerpoint/2010/main" val="2103090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9B96EE6-1855-4B7D-83D0-BC241FFC1C58}" type="datetimeFigureOut">
              <a:rPr lang="en-IE" smtClean="0"/>
              <a:t>23/10/2023</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D266DE1C-3727-4B35-81DE-CDCD0CC6F7A3}" type="slidenum">
              <a:rPr lang="en-IE" smtClean="0"/>
              <a:t>‹#›</a:t>
            </a:fld>
            <a:endParaRPr lang="en-IE"/>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93860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B96EE6-1855-4B7D-83D0-BC241FFC1C58}" type="datetimeFigureOut">
              <a:rPr lang="en-IE" smtClean="0"/>
              <a:t>23/10/2023</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D266DE1C-3727-4B35-81DE-CDCD0CC6F7A3}" type="slidenum">
              <a:rPr lang="en-IE" smtClean="0"/>
              <a:t>‹#›</a:t>
            </a:fld>
            <a:endParaRPr lang="en-IE"/>
          </a:p>
        </p:txBody>
      </p:sp>
    </p:spTree>
    <p:extLst>
      <p:ext uri="{BB962C8B-B14F-4D97-AF65-F5344CB8AC3E}">
        <p14:creationId xmlns:p14="http://schemas.microsoft.com/office/powerpoint/2010/main" val="470743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B96EE6-1855-4B7D-83D0-BC241FFC1C58}" type="datetimeFigureOut">
              <a:rPr lang="en-IE" smtClean="0"/>
              <a:t>23/10/2023</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D266DE1C-3727-4B35-81DE-CDCD0CC6F7A3}" type="slidenum">
              <a:rPr lang="en-IE" smtClean="0"/>
              <a:t>‹#›</a:t>
            </a:fld>
            <a:endParaRPr lang="en-IE"/>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67759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9B96EE6-1855-4B7D-83D0-BC241FFC1C58}" type="datetimeFigureOut">
              <a:rPr lang="en-IE" smtClean="0"/>
              <a:t>23/10/2023</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D266DE1C-3727-4B35-81DE-CDCD0CC6F7A3}" type="slidenum">
              <a:rPr lang="en-IE" smtClean="0"/>
              <a:t>‹#›</a:t>
            </a:fld>
            <a:endParaRPr lang="en-IE"/>
          </a:p>
        </p:txBody>
      </p:sp>
    </p:spTree>
    <p:extLst>
      <p:ext uri="{BB962C8B-B14F-4D97-AF65-F5344CB8AC3E}">
        <p14:creationId xmlns:p14="http://schemas.microsoft.com/office/powerpoint/2010/main" val="5145825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9B96EE6-1855-4B7D-83D0-BC241FFC1C58}" type="datetimeFigureOut">
              <a:rPr lang="en-IE" smtClean="0"/>
              <a:t>23/10/2023</a:t>
            </a:fld>
            <a:endParaRPr lang="en-IE"/>
          </a:p>
        </p:txBody>
      </p:sp>
      <p:sp>
        <p:nvSpPr>
          <p:cNvPr id="8" name="Footer Placeholder 7"/>
          <p:cNvSpPr>
            <a:spLocks noGrp="1"/>
          </p:cNvSpPr>
          <p:nvPr>
            <p:ph type="ftr" sz="quarter" idx="11"/>
          </p:nvPr>
        </p:nvSpPr>
        <p:spPr/>
        <p:txBody>
          <a:bodyPr/>
          <a:lstStyle/>
          <a:p>
            <a:endParaRPr lang="en-IE"/>
          </a:p>
        </p:txBody>
      </p:sp>
      <p:sp>
        <p:nvSpPr>
          <p:cNvPr id="9" name="Slide Number Placeholder 8"/>
          <p:cNvSpPr>
            <a:spLocks noGrp="1"/>
          </p:cNvSpPr>
          <p:nvPr>
            <p:ph type="sldNum" sz="quarter" idx="12"/>
          </p:nvPr>
        </p:nvSpPr>
        <p:spPr/>
        <p:txBody>
          <a:bodyPr/>
          <a:lstStyle/>
          <a:p>
            <a:fld id="{D266DE1C-3727-4B35-81DE-CDCD0CC6F7A3}" type="slidenum">
              <a:rPr lang="en-IE" smtClean="0"/>
              <a:t>‹#›</a:t>
            </a:fld>
            <a:endParaRPr lang="en-IE"/>
          </a:p>
        </p:txBody>
      </p:sp>
    </p:spTree>
    <p:extLst>
      <p:ext uri="{BB962C8B-B14F-4D97-AF65-F5344CB8AC3E}">
        <p14:creationId xmlns:p14="http://schemas.microsoft.com/office/powerpoint/2010/main" val="2597633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9B96EE6-1855-4B7D-83D0-BC241FFC1C58}" type="datetimeFigureOut">
              <a:rPr lang="en-IE" smtClean="0"/>
              <a:t>23/10/2023</a:t>
            </a:fld>
            <a:endParaRPr lang="en-IE"/>
          </a:p>
        </p:txBody>
      </p:sp>
      <p:sp>
        <p:nvSpPr>
          <p:cNvPr id="4" name="Footer Placeholder 3"/>
          <p:cNvSpPr>
            <a:spLocks noGrp="1"/>
          </p:cNvSpPr>
          <p:nvPr>
            <p:ph type="ftr" sz="quarter" idx="11"/>
          </p:nvPr>
        </p:nvSpPr>
        <p:spPr/>
        <p:txBody>
          <a:bodyPr/>
          <a:lstStyle/>
          <a:p>
            <a:endParaRPr lang="en-IE"/>
          </a:p>
        </p:txBody>
      </p:sp>
      <p:sp>
        <p:nvSpPr>
          <p:cNvPr id="5" name="Slide Number Placeholder 4"/>
          <p:cNvSpPr>
            <a:spLocks noGrp="1"/>
          </p:cNvSpPr>
          <p:nvPr>
            <p:ph type="sldNum" sz="quarter" idx="12"/>
          </p:nvPr>
        </p:nvSpPr>
        <p:spPr/>
        <p:txBody>
          <a:bodyPr/>
          <a:lstStyle/>
          <a:p>
            <a:fld id="{D266DE1C-3727-4B35-81DE-CDCD0CC6F7A3}" type="slidenum">
              <a:rPr lang="en-IE" smtClean="0"/>
              <a:t>‹#›</a:t>
            </a:fld>
            <a:endParaRPr lang="en-IE"/>
          </a:p>
        </p:txBody>
      </p:sp>
    </p:spTree>
    <p:extLst>
      <p:ext uri="{BB962C8B-B14F-4D97-AF65-F5344CB8AC3E}">
        <p14:creationId xmlns:p14="http://schemas.microsoft.com/office/powerpoint/2010/main" val="3118669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9B96EE6-1855-4B7D-83D0-BC241FFC1C58}" type="datetimeFigureOut">
              <a:rPr lang="en-IE" smtClean="0"/>
              <a:t>23/10/2023</a:t>
            </a:fld>
            <a:endParaRPr lang="en-IE"/>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E"/>
          </a:p>
        </p:txBody>
      </p:sp>
      <p:sp>
        <p:nvSpPr>
          <p:cNvPr id="9" name="Slide Number Placeholder 8"/>
          <p:cNvSpPr>
            <a:spLocks noGrp="1"/>
          </p:cNvSpPr>
          <p:nvPr>
            <p:ph type="sldNum" sz="quarter" idx="12"/>
          </p:nvPr>
        </p:nvSpPr>
        <p:spPr/>
        <p:txBody>
          <a:bodyPr/>
          <a:lstStyle/>
          <a:p>
            <a:fld id="{D266DE1C-3727-4B35-81DE-CDCD0CC6F7A3}" type="slidenum">
              <a:rPr lang="en-IE" smtClean="0"/>
              <a:t>‹#›</a:t>
            </a:fld>
            <a:endParaRPr lang="en-IE"/>
          </a:p>
        </p:txBody>
      </p:sp>
    </p:spTree>
    <p:extLst>
      <p:ext uri="{BB962C8B-B14F-4D97-AF65-F5344CB8AC3E}">
        <p14:creationId xmlns:p14="http://schemas.microsoft.com/office/powerpoint/2010/main" val="43271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9B96EE6-1855-4B7D-83D0-BC241FFC1C58}" type="datetimeFigureOut">
              <a:rPr lang="en-IE" smtClean="0"/>
              <a:t>23/10/2023</a:t>
            </a:fld>
            <a:endParaRPr lang="en-IE"/>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E"/>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266DE1C-3727-4B35-81DE-CDCD0CC6F7A3}" type="slidenum">
              <a:rPr lang="en-IE" smtClean="0"/>
              <a:t>‹#›</a:t>
            </a:fld>
            <a:endParaRPr lang="en-IE"/>
          </a:p>
        </p:txBody>
      </p:sp>
    </p:spTree>
    <p:extLst>
      <p:ext uri="{BB962C8B-B14F-4D97-AF65-F5344CB8AC3E}">
        <p14:creationId xmlns:p14="http://schemas.microsoft.com/office/powerpoint/2010/main" val="16759659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9B96EE6-1855-4B7D-83D0-BC241FFC1C58}" type="datetimeFigureOut">
              <a:rPr lang="en-IE" smtClean="0"/>
              <a:t>23/10/2023</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D266DE1C-3727-4B35-81DE-CDCD0CC6F7A3}" type="slidenum">
              <a:rPr lang="en-IE" smtClean="0"/>
              <a:t>‹#›</a:t>
            </a:fld>
            <a:endParaRPr lang="en-IE"/>
          </a:p>
        </p:txBody>
      </p:sp>
    </p:spTree>
    <p:extLst>
      <p:ext uri="{BB962C8B-B14F-4D97-AF65-F5344CB8AC3E}">
        <p14:creationId xmlns:p14="http://schemas.microsoft.com/office/powerpoint/2010/main" val="12952310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B96EE6-1855-4B7D-83D0-BC241FFC1C58}" type="datetimeFigureOut">
              <a:rPr lang="en-IE" smtClean="0"/>
              <a:t>23/10/2023</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D266DE1C-3727-4B35-81DE-CDCD0CC6F7A3}" type="slidenum">
              <a:rPr lang="en-IE" smtClean="0"/>
              <a:t>‹#›</a:t>
            </a:fld>
            <a:endParaRPr lang="en-IE"/>
          </a:p>
        </p:txBody>
      </p:sp>
    </p:spTree>
    <p:extLst>
      <p:ext uri="{BB962C8B-B14F-4D97-AF65-F5344CB8AC3E}">
        <p14:creationId xmlns:p14="http://schemas.microsoft.com/office/powerpoint/2010/main" val="31976523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B96EE6-1855-4B7D-83D0-BC241FFC1C58}" type="datetimeFigureOut">
              <a:rPr lang="en-IE" smtClean="0"/>
              <a:t>23/10/2023</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D266DE1C-3727-4B35-81DE-CDCD0CC6F7A3}" type="slidenum">
              <a:rPr lang="en-IE" smtClean="0"/>
              <a:t>‹#›</a:t>
            </a:fld>
            <a:endParaRPr lang="en-IE"/>
          </a:p>
        </p:txBody>
      </p:sp>
    </p:spTree>
    <p:extLst>
      <p:ext uri="{BB962C8B-B14F-4D97-AF65-F5344CB8AC3E}">
        <p14:creationId xmlns:p14="http://schemas.microsoft.com/office/powerpoint/2010/main" val="965133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9B96EE6-1855-4B7D-83D0-BC241FFC1C58}" type="datetimeFigureOut">
              <a:rPr lang="en-IE" smtClean="0"/>
              <a:t>23/10/2023</a:t>
            </a:fld>
            <a:endParaRPr lang="en-IE"/>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E"/>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266DE1C-3727-4B35-81DE-CDCD0CC6F7A3}" type="slidenum">
              <a:rPr lang="en-IE" smtClean="0"/>
              <a:t>‹#›</a:t>
            </a:fld>
            <a:endParaRPr lang="en-IE"/>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7923304"/>
      </p:ext>
    </p:extLst>
  </p:cSld>
  <p:clrMap bg1="lt1" tx1="dk1" bg2="lt2" tx2="dk2" accent1="accent1" accent2="accent2" accent3="accent3" accent4="accent4" accent5="accent5" accent6="accent6" hlink="hlink" folHlink="folHlink"/>
  <p:sldLayoutIdLst>
    <p:sldLayoutId id="2147483784"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16.jpe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18.jpeg"/><Relationship Id="rId4" Type="http://schemas.openxmlformats.org/officeDocument/2006/relationships/image" Target="../media/image17.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2421228"/>
            <a:ext cx="10058400" cy="1633427"/>
          </a:xfrm>
        </p:spPr>
        <p:txBody>
          <a:bodyPr>
            <a:normAutofit/>
          </a:bodyPr>
          <a:lstStyle/>
          <a:p>
            <a:pPr algn="ctr"/>
            <a:r>
              <a:rPr lang="en-IE" sz="4000" dirty="0"/>
              <a:t>Stress and Trust</a:t>
            </a:r>
          </a:p>
        </p:txBody>
      </p:sp>
      <p:sp>
        <p:nvSpPr>
          <p:cNvPr id="3" name="Subtitle 2"/>
          <p:cNvSpPr>
            <a:spLocks noGrp="1"/>
          </p:cNvSpPr>
          <p:nvPr>
            <p:ph type="subTitle" idx="1"/>
          </p:nvPr>
        </p:nvSpPr>
        <p:spPr>
          <a:xfrm>
            <a:off x="1097280" y="4970775"/>
            <a:ext cx="10058400" cy="1143000"/>
          </a:xfrm>
        </p:spPr>
        <p:txBody>
          <a:bodyPr/>
          <a:lstStyle/>
          <a:p>
            <a:r>
              <a:rPr lang="en-IE"/>
              <a:t>Organisational Behaviour</a:t>
            </a:r>
          </a:p>
          <a:p>
            <a:r>
              <a:rPr lang="en-IE"/>
              <a:t>Dr</a:t>
            </a:r>
            <a:r>
              <a:rPr lang="en-IE" dirty="0"/>
              <a:t>. Mary Kinahan</a:t>
            </a:r>
          </a:p>
        </p:txBody>
      </p:sp>
    </p:spTree>
    <p:extLst>
      <p:ext uri="{BB962C8B-B14F-4D97-AF65-F5344CB8AC3E}">
        <p14:creationId xmlns:p14="http://schemas.microsoft.com/office/powerpoint/2010/main" val="2893143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E37F6B-E46F-4A60-87EA-0DC5570EBAB1}"/>
              </a:ext>
            </a:extLst>
          </p:cNvPr>
          <p:cNvSpPr>
            <a:spLocks noGrp="1"/>
          </p:cNvSpPr>
          <p:nvPr>
            <p:ph type="title"/>
          </p:nvPr>
        </p:nvSpPr>
        <p:spPr>
          <a:xfrm>
            <a:off x="5181601" y="634946"/>
            <a:ext cx="6368142" cy="1450757"/>
          </a:xfrm>
        </p:spPr>
        <p:txBody>
          <a:bodyPr>
            <a:normAutofit/>
          </a:bodyPr>
          <a:lstStyle/>
          <a:p>
            <a:r>
              <a:rPr lang="en-GB" dirty="0"/>
              <a:t>Review of Week 3-5</a:t>
            </a:r>
          </a:p>
        </p:txBody>
      </p:sp>
      <p:pic>
        <p:nvPicPr>
          <p:cNvPr id="5" name="Picture 4" descr="Sticky notes on a wall">
            <a:extLst>
              <a:ext uri="{FF2B5EF4-FFF2-40B4-BE49-F238E27FC236}">
                <a16:creationId xmlns:a16="http://schemas.microsoft.com/office/drawing/2014/main" id="{2B9A1EA8-BDBC-FFAA-DF54-DDCBC6DABAB1}"/>
              </a:ext>
            </a:extLst>
          </p:cNvPr>
          <p:cNvPicPr>
            <a:picLocks noChangeAspect="1"/>
          </p:cNvPicPr>
          <p:nvPr/>
        </p:nvPicPr>
        <p:blipFill rotWithShape="1">
          <a:blip r:embed="rId2"/>
          <a:srcRect l="26243" r="26504"/>
          <a:stretch/>
        </p:blipFill>
        <p:spPr>
          <a:xfrm>
            <a:off x="20" y="-12128"/>
            <a:ext cx="4654276" cy="6870127"/>
          </a:xfrm>
          <a:prstGeom prst="rect">
            <a:avLst/>
          </a:prstGeom>
        </p:spPr>
      </p:pic>
      <p:cxnSp>
        <p:nvCxnSpPr>
          <p:cNvPr id="13" name="Straight Connector 12">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3F339BE-41F9-4815-BF79-4189FB827CC9}"/>
              </a:ext>
            </a:extLst>
          </p:cNvPr>
          <p:cNvSpPr>
            <a:spLocks noGrp="1"/>
          </p:cNvSpPr>
          <p:nvPr>
            <p:ph idx="1"/>
          </p:nvPr>
        </p:nvSpPr>
        <p:spPr>
          <a:xfrm>
            <a:off x="5181601" y="2198913"/>
            <a:ext cx="6368142" cy="4411435"/>
          </a:xfrm>
        </p:spPr>
        <p:txBody>
          <a:bodyPr>
            <a:normAutofit lnSpcReduction="10000"/>
          </a:bodyPr>
          <a:lstStyle/>
          <a:p>
            <a:r>
              <a:rPr lang="en-GB" b="1" dirty="0"/>
              <a:t>Content Theories of Motivation</a:t>
            </a:r>
          </a:p>
          <a:p>
            <a:r>
              <a:rPr lang="en-GB" dirty="0"/>
              <a:t>- Maslow; ERG; Herzberg</a:t>
            </a:r>
          </a:p>
          <a:p>
            <a:r>
              <a:rPr lang="en-GB" dirty="0"/>
              <a:t>- McClelland Theory; Theory X and Y</a:t>
            </a:r>
          </a:p>
          <a:p>
            <a:r>
              <a:rPr lang="en-GB" b="1" dirty="0"/>
              <a:t>Process Theories of Motivations</a:t>
            </a:r>
          </a:p>
          <a:p>
            <a:r>
              <a:rPr lang="en-GB" dirty="0"/>
              <a:t>- Equity theory; Expectancy theory; </a:t>
            </a:r>
          </a:p>
          <a:p>
            <a:r>
              <a:rPr lang="en-GB" dirty="0"/>
              <a:t>- Goal setting; Self-efficacy</a:t>
            </a:r>
          </a:p>
          <a:p>
            <a:r>
              <a:rPr lang="en-GB" b="1" dirty="0"/>
              <a:t>Context Theories of Motivation</a:t>
            </a:r>
          </a:p>
          <a:p>
            <a:r>
              <a:rPr lang="en-GB" dirty="0"/>
              <a:t>- job design e.g., enrichment, rotation etc. </a:t>
            </a:r>
          </a:p>
          <a:p>
            <a:r>
              <a:rPr lang="en-GB" dirty="0"/>
              <a:t>- Job Characteristic model </a:t>
            </a:r>
          </a:p>
          <a:p>
            <a:r>
              <a:rPr lang="en-GB" dirty="0"/>
              <a:t>- Job satisfaction </a:t>
            </a:r>
          </a:p>
        </p:txBody>
      </p:sp>
    </p:spTree>
    <p:extLst>
      <p:ext uri="{BB962C8B-B14F-4D97-AF65-F5344CB8AC3E}">
        <p14:creationId xmlns:p14="http://schemas.microsoft.com/office/powerpoint/2010/main" val="1786658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50536E-F97D-439D-B11D-579F317A061E}"/>
              </a:ext>
            </a:extLst>
          </p:cNvPr>
          <p:cNvSpPr>
            <a:spLocks noGrp="1"/>
          </p:cNvSpPr>
          <p:nvPr>
            <p:ph type="title"/>
          </p:nvPr>
        </p:nvSpPr>
        <p:spPr>
          <a:xfrm>
            <a:off x="5181601" y="634946"/>
            <a:ext cx="6368142" cy="1450757"/>
          </a:xfrm>
        </p:spPr>
        <p:txBody>
          <a:bodyPr>
            <a:normAutofit/>
          </a:bodyPr>
          <a:lstStyle/>
          <a:p>
            <a:r>
              <a:rPr lang="en-GB" dirty="0"/>
              <a:t>What is workplace stress?</a:t>
            </a:r>
          </a:p>
        </p:txBody>
      </p:sp>
      <p:pic>
        <p:nvPicPr>
          <p:cNvPr id="5" name="Picture 4" descr="Working space background">
            <a:extLst>
              <a:ext uri="{FF2B5EF4-FFF2-40B4-BE49-F238E27FC236}">
                <a16:creationId xmlns:a16="http://schemas.microsoft.com/office/drawing/2014/main" id="{74B4E272-B1B0-3FFA-0557-EA20BA7BD57B}"/>
              </a:ext>
            </a:extLst>
          </p:cNvPr>
          <p:cNvPicPr>
            <a:picLocks noChangeAspect="1"/>
          </p:cNvPicPr>
          <p:nvPr/>
        </p:nvPicPr>
        <p:blipFill rotWithShape="1">
          <a:blip r:embed="rId2"/>
          <a:srcRect l="54779" r="1" b="1"/>
          <a:stretch/>
        </p:blipFill>
        <p:spPr>
          <a:xfrm>
            <a:off x="20" y="-12128"/>
            <a:ext cx="4654276" cy="6870127"/>
          </a:xfrm>
          <a:prstGeom prst="rect">
            <a:avLst/>
          </a:prstGeom>
        </p:spPr>
      </p:pic>
      <p:cxnSp>
        <p:nvCxnSpPr>
          <p:cNvPr id="13" name="Straight Connector 12">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F510AE3-0DE3-4D95-A644-FAE19C88CC9F}"/>
              </a:ext>
            </a:extLst>
          </p:cNvPr>
          <p:cNvSpPr>
            <a:spLocks noGrp="1"/>
          </p:cNvSpPr>
          <p:nvPr>
            <p:ph idx="1"/>
          </p:nvPr>
        </p:nvSpPr>
        <p:spPr>
          <a:xfrm>
            <a:off x="5181601" y="2198914"/>
            <a:ext cx="6368142" cy="4135402"/>
          </a:xfrm>
        </p:spPr>
        <p:txBody>
          <a:bodyPr>
            <a:normAutofit/>
          </a:bodyPr>
          <a:lstStyle/>
          <a:p>
            <a:r>
              <a:rPr lang="en-GB" dirty="0"/>
              <a:t>The UK Health and Safety Executive (HSE) defines work-related stress as: </a:t>
            </a:r>
          </a:p>
          <a:p>
            <a:pPr algn="ctr"/>
            <a:r>
              <a:rPr lang="en-GB" i="1" dirty="0"/>
              <a:t>‘The adverse reaction  people have to excessive pressures or other types of demand placed on them at work’. People can become stressed when they feel they don’t have the resources they need (whether physical, financial or emotional) to cope with these demands.</a:t>
            </a:r>
          </a:p>
          <a:p>
            <a:r>
              <a:rPr lang="en-GB" dirty="0"/>
              <a:t>Occupational stress poses a risk to businesses and can result in higher sickness absence, lower staff engagement and reduced productivity. </a:t>
            </a:r>
          </a:p>
          <a:p>
            <a:r>
              <a:rPr lang="en-GB" dirty="0"/>
              <a:t>According to the HSE, 17.9 million working days were lost to stress, anxiety or depression in 2019/20.</a:t>
            </a:r>
          </a:p>
        </p:txBody>
      </p:sp>
      <p:sp>
        <p:nvSpPr>
          <p:cNvPr id="4" name="TextBox 3">
            <a:extLst>
              <a:ext uri="{FF2B5EF4-FFF2-40B4-BE49-F238E27FC236}">
                <a16:creationId xmlns:a16="http://schemas.microsoft.com/office/drawing/2014/main" id="{0881B1A8-C73D-4BBD-8004-9C2A57931259}"/>
              </a:ext>
            </a:extLst>
          </p:cNvPr>
          <p:cNvSpPr txBox="1"/>
          <p:nvPr/>
        </p:nvSpPr>
        <p:spPr>
          <a:xfrm>
            <a:off x="7581900" y="6334316"/>
            <a:ext cx="4267200" cy="369332"/>
          </a:xfrm>
          <a:prstGeom prst="rect">
            <a:avLst/>
          </a:prstGeom>
          <a:noFill/>
        </p:spPr>
        <p:txBody>
          <a:bodyPr wrap="square" rtlCol="0">
            <a:spAutoFit/>
          </a:bodyPr>
          <a:lstStyle/>
          <a:p>
            <a:r>
              <a:rPr lang="en-GB" dirty="0"/>
              <a:t>CIPD 2021 Workplace Stress</a:t>
            </a:r>
          </a:p>
        </p:txBody>
      </p:sp>
    </p:spTree>
    <p:extLst>
      <p:ext uri="{BB962C8B-B14F-4D97-AF65-F5344CB8AC3E}">
        <p14:creationId xmlns:p14="http://schemas.microsoft.com/office/powerpoint/2010/main" val="39853114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00B5AE2-C5CC-499C-8F2D-249888BE22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BA7A3698-B350-40E5-8475-9BCC41A08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5" name="Straight Connector 14">
            <a:extLst>
              <a:ext uri="{FF2B5EF4-FFF2-40B4-BE49-F238E27FC236}">
                <a16:creationId xmlns:a16="http://schemas.microsoft.com/office/drawing/2014/main" id="{0AC655C7-EC94-4BE6-84C8-2F9EFBBB27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7" name="Rectangle 16">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Rectangle 18">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a:xfrm>
            <a:off x="5181601" y="634946"/>
            <a:ext cx="6368142" cy="1450757"/>
          </a:xfrm>
        </p:spPr>
        <p:txBody>
          <a:bodyPr vert="horz" lIns="91440" tIns="45720" rIns="91440" bIns="45720" rtlCol="0" anchor="b">
            <a:normAutofit/>
          </a:bodyPr>
          <a:lstStyle/>
          <a:p>
            <a:r>
              <a:rPr lang="en-US" sz="4800" b="1" kern="1200" spc="-50" baseline="0" dirty="0">
                <a:solidFill>
                  <a:schemeClr val="tx1">
                    <a:lumMod val="75000"/>
                    <a:lumOff val="25000"/>
                  </a:schemeClr>
                </a:solidFill>
                <a:latin typeface="+mj-lt"/>
                <a:ea typeface="+mj-ea"/>
                <a:cs typeface="+mj-cs"/>
              </a:rPr>
              <a:t>STRESS in ORGANISATIONS</a:t>
            </a:r>
          </a:p>
        </p:txBody>
      </p:sp>
      <p:pic>
        <p:nvPicPr>
          <p:cNvPr id="5" name="Picture 5" descr="iStock_000003244391XSmall"/>
          <p:cNvPicPr>
            <a:picLocks noChangeAspect="1" noChangeArrowheads="1"/>
          </p:cNvPicPr>
          <p:nvPr/>
        </p:nvPicPr>
        <p:blipFill rotWithShape="1">
          <a:blip r:embed="rId2">
            <a:extLst>
              <a:ext uri="{28A0092B-C50C-407E-A947-70E740481C1C}">
                <a14:useLocalDpi xmlns:a14="http://schemas.microsoft.com/office/drawing/2010/main" val="0"/>
              </a:ext>
            </a:extLst>
          </a:blip>
          <a:srcRect l="15486" r="39632"/>
          <a:stretch/>
        </p:blipFill>
        <p:spPr bwMode="auto">
          <a:xfrm>
            <a:off x="20" y="-12128"/>
            <a:ext cx="4654276" cy="6870127"/>
          </a:xfrm>
          <a:prstGeom prst="rect">
            <a:avLst/>
          </a:prstGeo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cxnSp>
        <p:nvCxnSpPr>
          <p:cNvPr id="21" name="Straight Connector 20">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6" name="Text Placeholder 5"/>
          <p:cNvSpPr>
            <a:spLocks noGrp="1"/>
          </p:cNvSpPr>
          <p:nvPr>
            <p:ph type="body" sz="half" idx="2"/>
          </p:nvPr>
        </p:nvSpPr>
        <p:spPr>
          <a:xfrm>
            <a:off x="5181601" y="2198914"/>
            <a:ext cx="6368142" cy="4069404"/>
          </a:xfrm>
        </p:spPr>
        <p:txBody>
          <a:bodyPr vert="horz" lIns="0" tIns="45720" rIns="0" bIns="45720" rtlCol="0">
            <a:normAutofit/>
          </a:bodyPr>
          <a:lstStyle/>
          <a:p>
            <a:pPr marR="1690"/>
            <a:r>
              <a:rPr lang="en-GB" sz="2400" b="0" i="0" u="none" strike="noStrike" baseline="0" dirty="0">
                <a:solidFill>
                  <a:srgbClr val="58595A"/>
                </a:solidFill>
              </a:rPr>
              <a:t>Employers' liability for workplace stress, bullying and harassment continues to be one of the growth areas in Irish employment law. </a:t>
            </a:r>
          </a:p>
          <a:p>
            <a:pPr marR="1690"/>
            <a:r>
              <a:rPr lang="en-GB" sz="2400" b="0" i="0" u="none" strike="noStrike" baseline="0" dirty="0">
                <a:solidFill>
                  <a:srgbClr val="58595A"/>
                </a:solidFill>
              </a:rPr>
              <a:t>The obligation on the employer is to identify risk factors and put in place remedial mechanisms, including effective bullying, harassment and grievance policies. </a:t>
            </a:r>
          </a:p>
          <a:p>
            <a:pPr marR="1690"/>
            <a:r>
              <a:rPr lang="en-GB" sz="2400" b="0" i="0" u="none" strike="noStrike" baseline="0" dirty="0">
                <a:solidFill>
                  <a:srgbClr val="58595A"/>
                </a:solidFill>
              </a:rPr>
              <a:t>There is no absolute duty on employers to provide a stress free environment in the workplace, rather an employer is expected to conduct their</a:t>
            </a:r>
            <a:r>
              <a:rPr lang="en-GB" sz="2400" dirty="0">
                <a:solidFill>
                  <a:srgbClr val="58595A"/>
                </a:solidFill>
              </a:rPr>
              <a:t> </a:t>
            </a:r>
            <a:r>
              <a:rPr lang="en-GB" sz="2400" b="0" i="0" u="none" strike="noStrike" baseline="0" dirty="0">
                <a:solidFill>
                  <a:srgbClr val="58595A"/>
                </a:solidFill>
              </a:rPr>
              <a:t>business as a reasonable and prudent employer would.</a:t>
            </a:r>
          </a:p>
          <a:p>
            <a:endParaRPr lang="en-US" dirty="0">
              <a:solidFill>
                <a:schemeClr val="tx1">
                  <a:lumMod val="75000"/>
                  <a:lumOff val="25000"/>
                </a:schemeClr>
              </a:solidFill>
            </a:endParaRPr>
          </a:p>
        </p:txBody>
      </p:sp>
      <p:sp>
        <p:nvSpPr>
          <p:cNvPr id="2" name="TextBox 1">
            <a:extLst>
              <a:ext uri="{FF2B5EF4-FFF2-40B4-BE49-F238E27FC236}">
                <a16:creationId xmlns:a16="http://schemas.microsoft.com/office/drawing/2014/main" id="{7B8F76BE-D53F-405F-BEC4-577DAA540007}"/>
              </a:ext>
            </a:extLst>
          </p:cNvPr>
          <p:cNvSpPr txBox="1"/>
          <p:nvPr/>
        </p:nvSpPr>
        <p:spPr>
          <a:xfrm>
            <a:off x="7600950" y="6268318"/>
            <a:ext cx="3948793" cy="369332"/>
          </a:xfrm>
          <a:prstGeom prst="rect">
            <a:avLst/>
          </a:prstGeom>
          <a:noFill/>
        </p:spPr>
        <p:txBody>
          <a:bodyPr wrap="square" rtlCol="0">
            <a:spAutoFit/>
          </a:bodyPr>
          <a:lstStyle/>
          <a:p>
            <a:r>
              <a:rPr lang="en-GB" dirty="0"/>
              <a:t>CIPD Fact Sheet on STRESS</a:t>
            </a:r>
          </a:p>
        </p:txBody>
      </p:sp>
    </p:spTree>
    <p:extLst>
      <p:ext uri="{BB962C8B-B14F-4D97-AF65-F5344CB8AC3E}">
        <p14:creationId xmlns:p14="http://schemas.microsoft.com/office/powerpoint/2010/main" val="1370067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Changing Nature of Contemporary Workplace</a:t>
            </a:r>
          </a:p>
        </p:txBody>
      </p:sp>
      <p:sp>
        <p:nvSpPr>
          <p:cNvPr id="3" name="Content Placeholder 2"/>
          <p:cNvSpPr>
            <a:spLocks noGrp="1"/>
          </p:cNvSpPr>
          <p:nvPr>
            <p:ph idx="1"/>
          </p:nvPr>
        </p:nvSpPr>
        <p:spPr/>
        <p:txBody>
          <a:bodyPr>
            <a:normAutofit fontScale="85000" lnSpcReduction="20000"/>
          </a:bodyPr>
          <a:lstStyle/>
          <a:p>
            <a:r>
              <a:rPr lang="en-IE" dirty="0"/>
              <a:t>Technology</a:t>
            </a:r>
          </a:p>
          <a:p>
            <a:endParaRPr lang="en-IE" dirty="0"/>
          </a:p>
          <a:p>
            <a:r>
              <a:rPr lang="en-IE" dirty="0"/>
              <a:t>Globalisation</a:t>
            </a:r>
          </a:p>
          <a:p>
            <a:endParaRPr lang="en-IE" dirty="0"/>
          </a:p>
          <a:p>
            <a:r>
              <a:rPr lang="en-IE" dirty="0"/>
              <a:t>Economic uncertainty</a:t>
            </a:r>
          </a:p>
          <a:p>
            <a:endParaRPr lang="en-IE" dirty="0"/>
          </a:p>
          <a:p>
            <a:r>
              <a:rPr lang="en-IE" dirty="0"/>
              <a:t>Knowledge as a commodity</a:t>
            </a:r>
          </a:p>
          <a:p>
            <a:endParaRPr lang="en-IE" dirty="0"/>
          </a:p>
          <a:p>
            <a:r>
              <a:rPr lang="en-IE" dirty="0"/>
              <a:t>Contract work</a:t>
            </a:r>
          </a:p>
          <a:p>
            <a:endParaRPr lang="en-IE" dirty="0"/>
          </a:p>
          <a:p>
            <a:r>
              <a:rPr lang="en-IE" dirty="0"/>
              <a:t>Greater competition</a:t>
            </a:r>
          </a:p>
        </p:txBody>
      </p:sp>
    </p:spTree>
    <p:extLst>
      <p:ext uri="{BB962C8B-B14F-4D97-AF65-F5344CB8AC3E}">
        <p14:creationId xmlns:p14="http://schemas.microsoft.com/office/powerpoint/2010/main" val="2201294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p:cNvSpPr>
            <a:spLocks noGrp="1" noChangeArrowheads="1"/>
          </p:cNvSpPr>
          <p:nvPr>
            <p:ph type="body" idx="4294967295"/>
          </p:nvPr>
        </p:nvSpPr>
        <p:spPr>
          <a:xfrm>
            <a:off x="711200" y="1295401"/>
            <a:ext cx="11480800" cy="4835525"/>
          </a:xfrm>
        </p:spPr>
        <p:txBody>
          <a:bodyPr/>
          <a:lstStyle/>
          <a:p>
            <a:pPr marL="342900" indent="-342900" eaLnBrk="1" hangingPunct="1">
              <a:buFont typeface="Georgia" pitchFamily="-106" charset="0"/>
              <a:buNone/>
            </a:pPr>
            <a:endParaRPr lang="en-GB" sz="2400">
              <a:latin typeface="Century Gothic" pitchFamily="-106" charset="0"/>
              <a:ea typeface="ＭＳ Ｐゴシック" pitchFamily="-106" charset="-128"/>
            </a:endParaRPr>
          </a:p>
          <a:p>
            <a:pPr marL="342900" indent="-342900" eaLnBrk="1" hangingPunct="1">
              <a:buFont typeface="Georgia" pitchFamily="-106" charset="0"/>
              <a:buNone/>
            </a:pPr>
            <a:endParaRPr lang="en-GB" sz="1000">
              <a:latin typeface="Century Gothic" pitchFamily="-106" charset="0"/>
              <a:ea typeface="ＭＳ Ｐゴシック" pitchFamily="-106" charset="-128"/>
            </a:endParaRPr>
          </a:p>
        </p:txBody>
      </p:sp>
      <p:sp>
        <p:nvSpPr>
          <p:cNvPr id="25603" name="Rectangle 5"/>
          <p:cNvSpPr>
            <a:spLocks noGrp="1" noChangeArrowheads="1"/>
          </p:cNvSpPr>
          <p:nvPr>
            <p:ph type="title" idx="4294967295"/>
          </p:nvPr>
        </p:nvSpPr>
        <p:spPr>
          <a:xfrm>
            <a:off x="0" y="549276"/>
            <a:ext cx="11176000" cy="682625"/>
          </a:xfrm>
        </p:spPr>
        <p:txBody>
          <a:bodyPr anchor="t">
            <a:normAutofit fontScale="90000"/>
          </a:bodyPr>
          <a:lstStyle/>
          <a:p>
            <a:pPr eaLnBrk="1" hangingPunct="1"/>
            <a:r>
              <a:rPr lang="en-GB">
                <a:ea typeface="ＭＳ Ｐゴシック" pitchFamily="-106" charset="-128"/>
              </a:rPr>
              <a:t>Studying Workplace Stress</a:t>
            </a:r>
            <a:endParaRPr lang="en-GB" i="1">
              <a:solidFill>
                <a:schemeClr val="accent2"/>
              </a:solidFill>
              <a:latin typeface="Times New Roman" pitchFamily="-106" charset="0"/>
              <a:ea typeface="ＭＳ Ｐゴシック" pitchFamily="-106" charset="-128"/>
            </a:endParaRPr>
          </a:p>
        </p:txBody>
      </p:sp>
      <p:sp>
        <p:nvSpPr>
          <p:cNvPr id="25604" name="AutoShape 4"/>
          <p:cNvSpPr>
            <a:spLocks noChangeArrowheads="1"/>
          </p:cNvSpPr>
          <p:nvPr/>
        </p:nvSpPr>
        <p:spPr bwMode="auto">
          <a:xfrm>
            <a:off x="4559300" y="2990850"/>
            <a:ext cx="1930400" cy="914400"/>
          </a:xfrm>
          <a:prstGeom prst="roundRect">
            <a:avLst>
              <a:gd name="adj" fmla="val 16667"/>
            </a:avLst>
          </a:prstGeom>
          <a:solidFill>
            <a:srgbClr val="CCFF99"/>
          </a:solidFill>
          <a:ln w="9525">
            <a:solidFill>
              <a:schemeClr val="tx1"/>
            </a:solidFill>
            <a:round/>
            <a:headEnd/>
            <a:tailEnd/>
          </a:ln>
        </p:spPr>
        <p:txBody>
          <a:bodyPr wrap="none" anchor="ctr"/>
          <a:lstStyle/>
          <a:p>
            <a:pPr algn="ctr"/>
            <a:r>
              <a:rPr lang="en-IE" sz="1600">
                <a:cs typeface="Arial" charset="0"/>
              </a:rPr>
              <a:t>Perception &amp;</a:t>
            </a:r>
          </a:p>
          <a:p>
            <a:pPr algn="ctr"/>
            <a:r>
              <a:rPr lang="en-IE" sz="1600">
                <a:cs typeface="Arial" charset="0"/>
              </a:rPr>
              <a:t>Cognition</a:t>
            </a:r>
            <a:endParaRPr lang="en-GB" sz="1600">
              <a:cs typeface="Arial" charset="0"/>
            </a:endParaRPr>
          </a:p>
        </p:txBody>
      </p:sp>
      <p:sp>
        <p:nvSpPr>
          <p:cNvPr id="25605" name="AutoShape 5"/>
          <p:cNvSpPr>
            <a:spLocks noChangeArrowheads="1"/>
          </p:cNvSpPr>
          <p:nvPr/>
        </p:nvSpPr>
        <p:spPr bwMode="auto">
          <a:xfrm>
            <a:off x="1117600" y="2971800"/>
            <a:ext cx="1930400" cy="914400"/>
          </a:xfrm>
          <a:prstGeom prst="roundRect">
            <a:avLst>
              <a:gd name="adj" fmla="val 16667"/>
            </a:avLst>
          </a:prstGeom>
          <a:solidFill>
            <a:srgbClr val="CCFF99"/>
          </a:solidFill>
          <a:ln w="9525">
            <a:solidFill>
              <a:schemeClr val="tx1"/>
            </a:solidFill>
            <a:round/>
            <a:headEnd/>
            <a:tailEnd/>
          </a:ln>
        </p:spPr>
        <p:txBody>
          <a:bodyPr wrap="none" anchor="ctr"/>
          <a:lstStyle/>
          <a:p>
            <a:pPr algn="ctr"/>
            <a:r>
              <a:rPr lang="en-IE" sz="1600">
                <a:cs typeface="Arial" charset="0"/>
              </a:rPr>
              <a:t>Stressors in</a:t>
            </a:r>
          </a:p>
          <a:p>
            <a:pPr algn="ctr"/>
            <a:r>
              <a:rPr lang="en-IE" sz="1600">
                <a:cs typeface="Arial" charset="0"/>
              </a:rPr>
              <a:t>Organizational</a:t>
            </a:r>
          </a:p>
          <a:p>
            <a:pPr algn="ctr"/>
            <a:r>
              <a:rPr lang="en-IE" sz="1600">
                <a:cs typeface="Arial" charset="0"/>
              </a:rPr>
              <a:t>life</a:t>
            </a:r>
            <a:endParaRPr lang="en-GB" sz="1600">
              <a:cs typeface="Arial" charset="0"/>
            </a:endParaRPr>
          </a:p>
        </p:txBody>
      </p:sp>
      <p:sp>
        <p:nvSpPr>
          <p:cNvPr id="25606" name="AutoShape 6"/>
          <p:cNvSpPr>
            <a:spLocks noChangeArrowheads="1"/>
          </p:cNvSpPr>
          <p:nvPr/>
        </p:nvSpPr>
        <p:spPr bwMode="auto">
          <a:xfrm>
            <a:off x="8229600" y="2971800"/>
            <a:ext cx="1930400" cy="914400"/>
          </a:xfrm>
          <a:prstGeom prst="roundRect">
            <a:avLst>
              <a:gd name="adj" fmla="val 16667"/>
            </a:avLst>
          </a:prstGeom>
          <a:solidFill>
            <a:srgbClr val="CCFF99"/>
          </a:solidFill>
          <a:ln w="9525">
            <a:solidFill>
              <a:schemeClr val="tx1"/>
            </a:solidFill>
            <a:round/>
            <a:headEnd/>
            <a:tailEnd/>
          </a:ln>
        </p:spPr>
        <p:txBody>
          <a:bodyPr wrap="none" anchor="ctr"/>
          <a:lstStyle/>
          <a:p>
            <a:pPr algn="ctr"/>
            <a:r>
              <a:rPr lang="en-IE" sz="1600">
                <a:cs typeface="Arial" charset="0"/>
              </a:rPr>
              <a:t>Strains</a:t>
            </a:r>
            <a:endParaRPr lang="en-GB" sz="1600">
              <a:cs typeface="Arial" charset="0"/>
            </a:endParaRPr>
          </a:p>
        </p:txBody>
      </p:sp>
      <p:sp>
        <p:nvSpPr>
          <p:cNvPr id="25607" name="Line 7"/>
          <p:cNvSpPr>
            <a:spLocks noChangeShapeType="1"/>
          </p:cNvSpPr>
          <p:nvPr/>
        </p:nvSpPr>
        <p:spPr bwMode="auto">
          <a:xfrm>
            <a:off x="3048000" y="3429000"/>
            <a:ext cx="142240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E"/>
          </a:p>
        </p:txBody>
      </p:sp>
      <p:sp>
        <p:nvSpPr>
          <p:cNvPr id="25608" name="Line 8"/>
          <p:cNvSpPr>
            <a:spLocks noChangeShapeType="1"/>
          </p:cNvSpPr>
          <p:nvPr/>
        </p:nvSpPr>
        <p:spPr bwMode="auto">
          <a:xfrm>
            <a:off x="6502400" y="3429000"/>
            <a:ext cx="172720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E"/>
          </a:p>
        </p:txBody>
      </p:sp>
      <p:sp>
        <p:nvSpPr>
          <p:cNvPr id="25609" name="AutoShape 9"/>
          <p:cNvSpPr>
            <a:spLocks noChangeArrowheads="1"/>
          </p:cNvSpPr>
          <p:nvPr/>
        </p:nvSpPr>
        <p:spPr bwMode="auto">
          <a:xfrm>
            <a:off x="4572000" y="4343400"/>
            <a:ext cx="1930400" cy="914400"/>
          </a:xfrm>
          <a:prstGeom prst="roundRect">
            <a:avLst>
              <a:gd name="adj" fmla="val 16667"/>
            </a:avLst>
          </a:prstGeom>
          <a:solidFill>
            <a:srgbClr val="FFFF99"/>
          </a:solidFill>
          <a:ln w="9525">
            <a:solidFill>
              <a:schemeClr val="tx1"/>
            </a:solidFill>
            <a:round/>
            <a:headEnd/>
            <a:tailEnd/>
          </a:ln>
        </p:spPr>
        <p:txBody>
          <a:bodyPr wrap="none" anchor="ctr"/>
          <a:lstStyle/>
          <a:p>
            <a:pPr algn="ctr"/>
            <a:r>
              <a:rPr lang="en-IE" sz="1600">
                <a:cs typeface="Arial" charset="0"/>
              </a:rPr>
              <a:t>Situation factors</a:t>
            </a:r>
            <a:endParaRPr lang="en-GB" sz="1600">
              <a:cs typeface="Arial" charset="0"/>
            </a:endParaRPr>
          </a:p>
        </p:txBody>
      </p:sp>
      <p:sp>
        <p:nvSpPr>
          <p:cNvPr id="25610" name="AutoShape 10"/>
          <p:cNvSpPr>
            <a:spLocks noChangeArrowheads="1"/>
          </p:cNvSpPr>
          <p:nvPr/>
        </p:nvSpPr>
        <p:spPr bwMode="auto">
          <a:xfrm>
            <a:off x="4572000" y="1600200"/>
            <a:ext cx="1930400" cy="914400"/>
          </a:xfrm>
          <a:prstGeom prst="roundRect">
            <a:avLst>
              <a:gd name="adj" fmla="val 16667"/>
            </a:avLst>
          </a:prstGeom>
          <a:solidFill>
            <a:srgbClr val="FFFF99"/>
          </a:solidFill>
          <a:ln w="9525">
            <a:solidFill>
              <a:schemeClr val="tx1"/>
            </a:solidFill>
            <a:round/>
            <a:headEnd/>
            <a:tailEnd/>
          </a:ln>
        </p:spPr>
        <p:txBody>
          <a:bodyPr wrap="none" anchor="ctr"/>
          <a:lstStyle/>
          <a:p>
            <a:pPr algn="ctr"/>
            <a:r>
              <a:rPr lang="en-IE" sz="1600">
                <a:cs typeface="Arial" charset="0"/>
              </a:rPr>
              <a:t>Person factors</a:t>
            </a:r>
            <a:endParaRPr lang="en-GB" sz="1600">
              <a:cs typeface="Arial" charset="0"/>
            </a:endParaRPr>
          </a:p>
        </p:txBody>
      </p:sp>
      <p:sp>
        <p:nvSpPr>
          <p:cNvPr id="25611" name="Line 11"/>
          <p:cNvSpPr>
            <a:spLocks noChangeShapeType="1"/>
          </p:cNvSpPr>
          <p:nvPr/>
        </p:nvSpPr>
        <p:spPr bwMode="auto">
          <a:xfrm flipH="1">
            <a:off x="3657600" y="1981200"/>
            <a:ext cx="914400" cy="13716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E"/>
          </a:p>
        </p:txBody>
      </p:sp>
      <p:sp>
        <p:nvSpPr>
          <p:cNvPr id="25612" name="Line 12"/>
          <p:cNvSpPr>
            <a:spLocks noChangeShapeType="1"/>
          </p:cNvSpPr>
          <p:nvPr/>
        </p:nvSpPr>
        <p:spPr bwMode="auto">
          <a:xfrm>
            <a:off x="6502400" y="1981200"/>
            <a:ext cx="1016000" cy="14478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E"/>
          </a:p>
        </p:txBody>
      </p:sp>
      <p:sp>
        <p:nvSpPr>
          <p:cNvPr id="25613" name="Line 13"/>
          <p:cNvSpPr>
            <a:spLocks noChangeShapeType="1"/>
          </p:cNvSpPr>
          <p:nvPr/>
        </p:nvSpPr>
        <p:spPr bwMode="auto">
          <a:xfrm flipH="1" flipV="1">
            <a:off x="3657600" y="3429000"/>
            <a:ext cx="914400" cy="13716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E"/>
          </a:p>
        </p:txBody>
      </p:sp>
      <p:sp>
        <p:nvSpPr>
          <p:cNvPr id="25614" name="Line 14"/>
          <p:cNvSpPr>
            <a:spLocks noChangeShapeType="1"/>
          </p:cNvSpPr>
          <p:nvPr/>
        </p:nvSpPr>
        <p:spPr bwMode="auto">
          <a:xfrm flipV="1">
            <a:off x="6502400" y="3505200"/>
            <a:ext cx="1016000" cy="12954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E"/>
          </a:p>
        </p:txBody>
      </p:sp>
      <p:sp>
        <p:nvSpPr>
          <p:cNvPr id="25615" name="Line 15"/>
          <p:cNvSpPr>
            <a:spLocks noChangeShapeType="1"/>
          </p:cNvSpPr>
          <p:nvPr/>
        </p:nvSpPr>
        <p:spPr bwMode="auto">
          <a:xfrm>
            <a:off x="2844800" y="2971800"/>
            <a:ext cx="548640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E"/>
          </a:p>
        </p:txBody>
      </p:sp>
    </p:spTree>
    <p:extLst>
      <p:ext uri="{BB962C8B-B14F-4D97-AF65-F5344CB8AC3E}">
        <p14:creationId xmlns:p14="http://schemas.microsoft.com/office/powerpoint/2010/main" val="2497893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AEEE2-9316-4504-A39E-9F5A22EEFB30}"/>
              </a:ext>
            </a:extLst>
          </p:cNvPr>
          <p:cNvSpPr>
            <a:spLocks noGrp="1"/>
          </p:cNvSpPr>
          <p:nvPr>
            <p:ph type="title"/>
          </p:nvPr>
        </p:nvSpPr>
        <p:spPr/>
        <p:txBody>
          <a:bodyPr/>
          <a:lstStyle/>
          <a:p>
            <a:r>
              <a:rPr lang="en-GB" dirty="0"/>
              <a:t>CIPD Report (2021) Health &amp; Well being</a:t>
            </a:r>
          </a:p>
        </p:txBody>
      </p:sp>
      <p:sp>
        <p:nvSpPr>
          <p:cNvPr id="3" name="Content Placeholder 2">
            <a:extLst>
              <a:ext uri="{FF2B5EF4-FFF2-40B4-BE49-F238E27FC236}">
                <a16:creationId xmlns:a16="http://schemas.microsoft.com/office/drawing/2014/main" id="{C5368162-257E-40CB-9FCD-2B29E622CB79}"/>
              </a:ext>
            </a:extLst>
          </p:cNvPr>
          <p:cNvSpPr>
            <a:spLocks noGrp="1"/>
          </p:cNvSpPr>
          <p:nvPr>
            <p:ph idx="1"/>
          </p:nvPr>
        </p:nvSpPr>
        <p:spPr/>
        <p:txBody>
          <a:bodyPr>
            <a:normAutofit lnSpcReduction="10000"/>
          </a:bodyPr>
          <a:lstStyle/>
          <a:p>
            <a:r>
              <a:rPr lang="en-GB" sz="2400" dirty="0"/>
              <a:t>Stress is one of MAIN reasons for short and long-term absences</a:t>
            </a:r>
          </a:p>
          <a:p>
            <a:r>
              <a:rPr lang="en-GB" sz="2400" dirty="0"/>
              <a:t>Overall, nearly four-fifths of respondents report some stress-related absence in their organisation over the last year (2020-2021)</a:t>
            </a:r>
          </a:p>
          <a:p>
            <a:r>
              <a:rPr lang="en-GB" sz="2400" dirty="0"/>
              <a:t>More recognition of stress amongst employees BUT just half of (HR)people professionals who report that their organisation is taking steps to address work-related say its efforts are effective.</a:t>
            </a:r>
          </a:p>
          <a:p>
            <a:r>
              <a:rPr lang="en-GB" sz="2400" dirty="0"/>
              <a:t>the impact of new stressors on people because of the pandemic. These concerns are a severe test of people’s resilience, and employers need to be aware of the personal, as well as work, pressures on people.</a:t>
            </a:r>
            <a:endParaRPr lang="en-GB" dirty="0"/>
          </a:p>
          <a:p>
            <a:pPr algn="ctr"/>
            <a:r>
              <a:rPr lang="en-GB" sz="2400" b="1" dirty="0">
                <a:solidFill>
                  <a:srgbClr val="FF0000"/>
                </a:solidFill>
              </a:rPr>
              <a:t>Pressure Vs Stress ??</a:t>
            </a:r>
          </a:p>
          <a:p>
            <a:endParaRPr lang="en-GB" dirty="0"/>
          </a:p>
        </p:txBody>
      </p:sp>
    </p:spTree>
    <p:extLst>
      <p:ext uri="{BB962C8B-B14F-4D97-AF65-F5344CB8AC3E}">
        <p14:creationId xmlns:p14="http://schemas.microsoft.com/office/powerpoint/2010/main" val="4213841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5CF81D86-BDBA-477C-B7DD-8D359BB996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EAEEE2-9316-4504-A39E-9F5A22EEFB30}"/>
              </a:ext>
            </a:extLst>
          </p:cNvPr>
          <p:cNvSpPr>
            <a:spLocks noGrp="1"/>
          </p:cNvSpPr>
          <p:nvPr>
            <p:ph type="title"/>
          </p:nvPr>
        </p:nvSpPr>
        <p:spPr>
          <a:xfrm>
            <a:off x="4974771" y="634946"/>
            <a:ext cx="6574972" cy="1450757"/>
          </a:xfrm>
        </p:spPr>
        <p:txBody>
          <a:bodyPr>
            <a:normAutofit/>
          </a:bodyPr>
          <a:lstStyle/>
          <a:p>
            <a:r>
              <a:rPr lang="en-GB"/>
              <a:t>CIPD Report (2021) Health &amp; Well being</a:t>
            </a:r>
          </a:p>
        </p:txBody>
      </p:sp>
      <p:pic>
        <p:nvPicPr>
          <p:cNvPr id="5" name="Picture 4" descr="Desk with stethoscope and computer keyboard">
            <a:extLst>
              <a:ext uri="{FF2B5EF4-FFF2-40B4-BE49-F238E27FC236}">
                <a16:creationId xmlns:a16="http://schemas.microsoft.com/office/drawing/2014/main" id="{D07DD300-B626-1760-89CA-E7B7EB604842}"/>
              </a:ext>
            </a:extLst>
          </p:cNvPr>
          <p:cNvPicPr>
            <a:picLocks noChangeAspect="1"/>
          </p:cNvPicPr>
          <p:nvPr/>
        </p:nvPicPr>
        <p:blipFill rotWithShape="1">
          <a:blip r:embed="rId2"/>
          <a:srcRect l="49743" r="-1" b="-1"/>
          <a:stretch/>
        </p:blipFill>
        <p:spPr>
          <a:xfrm>
            <a:off x="633999" y="640081"/>
            <a:ext cx="4001315" cy="5314406"/>
          </a:xfrm>
          <a:prstGeom prst="rect">
            <a:avLst/>
          </a:prstGeom>
        </p:spPr>
      </p:pic>
      <p:cxnSp>
        <p:nvCxnSpPr>
          <p:cNvPr id="18" name="Straight Connector 17">
            <a:extLst>
              <a:ext uri="{FF2B5EF4-FFF2-40B4-BE49-F238E27FC236}">
                <a16:creationId xmlns:a16="http://schemas.microsoft.com/office/drawing/2014/main" id="{C65F3E9C-EF11-4F8F-A621-399C7A3E64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74770" y="2086188"/>
            <a:ext cx="608976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5368162-257E-40CB-9FCD-2B29E622CB79}"/>
              </a:ext>
            </a:extLst>
          </p:cNvPr>
          <p:cNvSpPr>
            <a:spLocks noGrp="1"/>
          </p:cNvSpPr>
          <p:nvPr>
            <p:ph idx="1"/>
          </p:nvPr>
        </p:nvSpPr>
        <p:spPr>
          <a:xfrm>
            <a:off x="4974769" y="2198914"/>
            <a:ext cx="6574973" cy="3670180"/>
          </a:xfrm>
        </p:spPr>
        <p:txBody>
          <a:bodyPr>
            <a:normAutofit/>
          </a:bodyPr>
          <a:lstStyle/>
          <a:p>
            <a:pPr marL="0" indent="0">
              <a:buNone/>
            </a:pPr>
            <a:r>
              <a:rPr lang="en-GB"/>
              <a:t>T</a:t>
            </a:r>
            <a:r>
              <a:rPr lang="en-GB" b="0" i="0" u="none" strike="noStrike" baseline="0"/>
              <a:t>he main causes of employee stress include:</a:t>
            </a:r>
          </a:p>
          <a:p>
            <a:pPr lvl="1">
              <a:buFont typeface="Wingdings" panose="05000000000000000000" pitchFamily="2" charset="2"/>
              <a:buChar char="§"/>
            </a:pPr>
            <a:r>
              <a:rPr lang="en-GB" b="0" i="0" u="none" strike="noStrike" baseline="0"/>
              <a:t>Workloads/volume of work. (Work intensification)</a:t>
            </a:r>
          </a:p>
          <a:p>
            <a:pPr lvl="1">
              <a:buFont typeface="Wingdings" panose="05000000000000000000" pitchFamily="2" charset="2"/>
              <a:buChar char="§"/>
            </a:pPr>
            <a:r>
              <a:rPr lang="en-GB" b="0" i="0" u="none" strike="noStrike" baseline="0"/>
              <a:t>Management style.</a:t>
            </a:r>
          </a:p>
          <a:p>
            <a:pPr lvl="1">
              <a:buFont typeface="Wingdings" panose="05000000000000000000" pitchFamily="2" charset="2"/>
              <a:buChar char="§"/>
            </a:pPr>
            <a:r>
              <a:rPr lang="en-GB" b="0" i="0" u="none" strike="noStrike" baseline="0"/>
              <a:t>New work-related demands or challenges due to homeworking as a result of COVID-19.</a:t>
            </a:r>
          </a:p>
          <a:p>
            <a:pPr lvl="1">
              <a:buFont typeface="Wingdings" panose="05000000000000000000" pitchFamily="2" charset="2"/>
              <a:buChar char="§"/>
            </a:pPr>
            <a:r>
              <a:rPr lang="en-GB" b="0" i="0" u="none" strike="noStrike" baseline="0"/>
              <a:t>Non-work factors - relationship or family issues.</a:t>
            </a:r>
          </a:p>
          <a:p>
            <a:pPr lvl="1">
              <a:buFont typeface="Wingdings" panose="05000000000000000000" pitchFamily="2" charset="2"/>
              <a:buChar char="§"/>
            </a:pPr>
            <a:r>
              <a:rPr lang="en-GB" b="0" i="0" u="none" strike="noStrike" baseline="0"/>
              <a:t>COVID-related anxiety, for example fear of contagion in the workplace/commute.</a:t>
            </a:r>
          </a:p>
          <a:p>
            <a:pPr lvl="1">
              <a:buFont typeface="Wingdings" panose="05000000000000000000" pitchFamily="2" charset="2"/>
              <a:buChar char="§"/>
            </a:pPr>
            <a:r>
              <a:rPr lang="en-GB" b="0" i="0" u="none" strike="noStrike" baseline="0"/>
              <a:t>Non-work factors – personal illness or health issues.</a:t>
            </a:r>
          </a:p>
          <a:p>
            <a:pPr lvl="1">
              <a:buFont typeface="Wingdings" panose="05000000000000000000" pitchFamily="2" charset="2"/>
              <a:buChar char="§"/>
            </a:pPr>
            <a:r>
              <a:rPr lang="en-GB" b="0" i="0" u="none" strike="noStrike" baseline="0"/>
              <a:t>Poor work-life balance due to homeworking as a result of COVID-19.</a:t>
            </a:r>
          </a:p>
          <a:p>
            <a:pPr lvl="1">
              <a:buFont typeface="Wingdings" panose="05000000000000000000" pitchFamily="2" charset="2"/>
              <a:buChar char="§"/>
            </a:pPr>
            <a:r>
              <a:rPr lang="en-GB" b="0" i="0" u="none" strike="noStrike" baseline="0"/>
              <a:t>Relationships at work</a:t>
            </a:r>
            <a:endParaRPr lang="en-GB"/>
          </a:p>
        </p:txBody>
      </p:sp>
      <p:sp>
        <p:nvSpPr>
          <p:cNvPr id="20" name="Rectangle 19">
            <a:extLst>
              <a:ext uri="{FF2B5EF4-FFF2-40B4-BE49-F238E27FC236}">
                <a16:creationId xmlns:a16="http://schemas.microsoft.com/office/drawing/2014/main" id="{88AA064E-5F6E-4024-BC28-EDDC3DFC70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2" name="Rectangle 21">
            <a:extLst>
              <a:ext uri="{FF2B5EF4-FFF2-40B4-BE49-F238E27FC236}">
                <a16:creationId xmlns:a16="http://schemas.microsoft.com/office/drawing/2014/main" id="{03B29638-4838-4B9B-B9DB-96E542BAF3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160411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Impact</a:t>
            </a:r>
          </a:p>
        </p:txBody>
      </p:sp>
      <p:sp>
        <p:nvSpPr>
          <p:cNvPr id="3" name="Content Placeholder 2"/>
          <p:cNvSpPr>
            <a:spLocks noGrp="1"/>
          </p:cNvSpPr>
          <p:nvPr>
            <p:ph idx="1"/>
          </p:nvPr>
        </p:nvSpPr>
        <p:spPr/>
        <p:txBody>
          <a:bodyPr/>
          <a:lstStyle/>
          <a:p>
            <a:r>
              <a:rPr lang="en-IE" dirty="0"/>
              <a:t>Stress</a:t>
            </a:r>
          </a:p>
          <a:p>
            <a:endParaRPr lang="en-IE" sz="1000" dirty="0"/>
          </a:p>
          <a:p>
            <a:r>
              <a:rPr lang="en-IE" dirty="0"/>
              <a:t>Mental well-being</a:t>
            </a:r>
          </a:p>
          <a:p>
            <a:endParaRPr lang="en-IE" sz="1000" dirty="0"/>
          </a:p>
          <a:p>
            <a:r>
              <a:rPr lang="en-IE" dirty="0"/>
              <a:t>Lower productivity</a:t>
            </a:r>
          </a:p>
          <a:p>
            <a:endParaRPr lang="en-IE" sz="1000" dirty="0"/>
          </a:p>
          <a:p>
            <a:r>
              <a:rPr lang="en-IE" dirty="0"/>
              <a:t>Emotions</a:t>
            </a:r>
          </a:p>
          <a:p>
            <a:pPr lvl="1"/>
            <a:r>
              <a:rPr lang="en-IE" dirty="0"/>
              <a:t>‘I always feel so guilty; I visit my mother in Hertfordshire every week, and try to stay for a couple of hours. I always have so much to do at home, though, that I never feel relaxed and I think she picks up on this. After about an hour she tells me not to stay, as obviously I need to ‘get on with things’. I feel terrible. I just never feel I spend long enough with her’.</a:t>
            </a:r>
          </a:p>
        </p:txBody>
      </p:sp>
    </p:spTree>
    <p:extLst>
      <p:ext uri="{BB962C8B-B14F-4D97-AF65-F5344CB8AC3E}">
        <p14:creationId xmlns:p14="http://schemas.microsoft.com/office/powerpoint/2010/main" val="1726617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81601" y="634946"/>
            <a:ext cx="6368142" cy="1450757"/>
          </a:xfrm>
        </p:spPr>
        <p:txBody>
          <a:bodyPr>
            <a:normAutofit/>
          </a:bodyPr>
          <a:lstStyle/>
          <a:p>
            <a:r>
              <a:rPr lang="en-IE" dirty="0"/>
              <a:t>Work intensification</a:t>
            </a:r>
          </a:p>
        </p:txBody>
      </p:sp>
      <p:pic>
        <p:nvPicPr>
          <p:cNvPr id="5" name="Picture 4" descr="Magnifying glass showing decling performance">
            <a:extLst>
              <a:ext uri="{FF2B5EF4-FFF2-40B4-BE49-F238E27FC236}">
                <a16:creationId xmlns:a16="http://schemas.microsoft.com/office/drawing/2014/main" id="{E4040A16-A04D-9929-2D79-365814AAA08E}"/>
              </a:ext>
            </a:extLst>
          </p:cNvPr>
          <p:cNvPicPr>
            <a:picLocks noChangeAspect="1"/>
          </p:cNvPicPr>
          <p:nvPr/>
        </p:nvPicPr>
        <p:blipFill rotWithShape="1">
          <a:blip r:embed="rId3"/>
          <a:srcRect l="12107" r="42672" b="1"/>
          <a:stretch/>
        </p:blipFill>
        <p:spPr>
          <a:xfrm>
            <a:off x="20" y="-12128"/>
            <a:ext cx="4654276" cy="6870127"/>
          </a:xfrm>
          <a:prstGeom prst="rect">
            <a:avLst/>
          </a:prstGeom>
        </p:spPr>
      </p:pic>
      <p:cxnSp>
        <p:nvCxnSpPr>
          <p:cNvPr id="13" name="Straight Connector 12">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5181601" y="2198913"/>
            <a:ext cx="6368142" cy="4135401"/>
          </a:xfrm>
        </p:spPr>
        <p:txBody>
          <a:bodyPr>
            <a:normAutofit/>
          </a:bodyPr>
          <a:lstStyle/>
          <a:p>
            <a:r>
              <a:rPr lang="en-IE" dirty="0"/>
              <a:t>Working hard comprises a time component and an intensity perspective (Burke, Singh &amp; </a:t>
            </a:r>
            <a:r>
              <a:rPr lang="en-IE" dirty="0" err="1"/>
              <a:t>Fiksenbaum</a:t>
            </a:r>
            <a:r>
              <a:rPr lang="en-IE" dirty="0"/>
              <a:t>, 2010)</a:t>
            </a:r>
          </a:p>
          <a:p>
            <a:r>
              <a:rPr lang="en-IE" dirty="0"/>
              <a:t>Despite recognition, it is very difficult to capture in a measurement</a:t>
            </a:r>
          </a:p>
          <a:p>
            <a:r>
              <a:rPr lang="en-IE" dirty="0"/>
              <a:t>It is argued that work intensity is a stronger predictor of work and well-being outcomes than number of hours worked.</a:t>
            </a:r>
          </a:p>
          <a:p>
            <a:pPr algn="ctr"/>
            <a:r>
              <a:rPr lang="en-IE" i="1" dirty="0"/>
              <a:t>“</a:t>
            </a:r>
            <a:r>
              <a:rPr lang="en-GB" i="1" dirty="0"/>
              <a:t>the process of raising the expected workload of an employee by increasing the amount of tasks to be undertaken or shortening the time allowed to complete those tasks.”</a:t>
            </a:r>
            <a:endParaRPr lang="en-IE" i="1" dirty="0"/>
          </a:p>
        </p:txBody>
      </p:sp>
    </p:spTree>
    <p:extLst>
      <p:ext uri="{BB962C8B-B14F-4D97-AF65-F5344CB8AC3E}">
        <p14:creationId xmlns:p14="http://schemas.microsoft.com/office/powerpoint/2010/main" val="29826593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Contributors to intensification</a:t>
            </a:r>
          </a:p>
        </p:txBody>
      </p:sp>
      <p:sp>
        <p:nvSpPr>
          <p:cNvPr id="3" name="Content Placeholder 2"/>
          <p:cNvSpPr>
            <a:spLocks noGrp="1"/>
          </p:cNvSpPr>
          <p:nvPr>
            <p:ph idx="1"/>
          </p:nvPr>
        </p:nvSpPr>
        <p:spPr/>
        <p:txBody>
          <a:bodyPr>
            <a:normAutofit fontScale="92500" lnSpcReduction="20000"/>
          </a:bodyPr>
          <a:lstStyle/>
          <a:p>
            <a:r>
              <a:rPr lang="en-IE" dirty="0"/>
              <a:t>Technological advancements (Green, 2004)</a:t>
            </a:r>
          </a:p>
          <a:p>
            <a:pPr lvl="1"/>
            <a:r>
              <a:rPr lang="en-IE" dirty="0"/>
              <a:t>Monitoring of pace and effort</a:t>
            </a:r>
          </a:p>
          <a:p>
            <a:pPr lvl="1"/>
            <a:r>
              <a:rPr lang="en-IE" dirty="0"/>
              <a:t>Facilitation of work outside normal hours</a:t>
            </a:r>
          </a:p>
          <a:p>
            <a:endParaRPr lang="en-IE" dirty="0"/>
          </a:p>
          <a:p>
            <a:r>
              <a:rPr lang="en-IE" dirty="0"/>
              <a:t>Organisational change</a:t>
            </a:r>
          </a:p>
          <a:p>
            <a:endParaRPr lang="en-IE" dirty="0"/>
          </a:p>
          <a:p>
            <a:r>
              <a:rPr lang="en-IE" dirty="0"/>
              <a:t>Human resource policies</a:t>
            </a:r>
          </a:p>
          <a:p>
            <a:endParaRPr lang="en-IE" dirty="0"/>
          </a:p>
          <a:p>
            <a:r>
              <a:rPr lang="en-IE" dirty="0"/>
              <a:t>Job insecurity (</a:t>
            </a:r>
            <a:r>
              <a:rPr lang="en-IE" dirty="0" err="1"/>
              <a:t>Burchell</a:t>
            </a:r>
            <a:r>
              <a:rPr lang="en-IE" dirty="0"/>
              <a:t> et al., 1999)? Not  corroborated by Green (2004)</a:t>
            </a:r>
          </a:p>
          <a:p>
            <a:endParaRPr lang="en-IE" dirty="0"/>
          </a:p>
          <a:p>
            <a:r>
              <a:rPr lang="en-IE" dirty="0"/>
              <a:t>Decline in Union power? Again conflicting evidence.</a:t>
            </a:r>
          </a:p>
        </p:txBody>
      </p:sp>
    </p:spTree>
    <p:extLst>
      <p:ext uri="{BB962C8B-B14F-4D97-AF65-F5344CB8AC3E}">
        <p14:creationId xmlns:p14="http://schemas.microsoft.com/office/powerpoint/2010/main" val="28947018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5AD43-4985-452A-8C6F-952CE021E963}"/>
              </a:ext>
            </a:extLst>
          </p:cNvPr>
          <p:cNvSpPr>
            <a:spLocks noGrp="1"/>
          </p:cNvSpPr>
          <p:nvPr>
            <p:ph type="title"/>
          </p:nvPr>
        </p:nvSpPr>
        <p:spPr/>
        <p:txBody>
          <a:bodyPr/>
          <a:lstStyle/>
          <a:p>
            <a:pPr algn="ctr"/>
            <a:r>
              <a:rPr lang="en-GB" dirty="0"/>
              <a:t>Is work intensifying? </a:t>
            </a:r>
          </a:p>
        </p:txBody>
      </p:sp>
      <p:sp>
        <p:nvSpPr>
          <p:cNvPr id="3" name="Content Placeholder 2">
            <a:extLst>
              <a:ext uri="{FF2B5EF4-FFF2-40B4-BE49-F238E27FC236}">
                <a16:creationId xmlns:a16="http://schemas.microsoft.com/office/drawing/2014/main" id="{70D68A18-B585-4666-BED9-86D0B8C7D3AA}"/>
              </a:ext>
            </a:extLst>
          </p:cNvPr>
          <p:cNvSpPr>
            <a:spLocks noGrp="1"/>
          </p:cNvSpPr>
          <p:nvPr>
            <p:ph idx="1"/>
          </p:nvPr>
        </p:nvSpPr>
        <p:spPr/>
        <p:txBody>
          <a:bodyPr/>
          <a:lstStyle/>
          <a:p>
            <a:endParaRPr lang="en-GB" dirty="0"/>
          </a:p>
        </p:txBody>
      </p:sp>
      <p:sp>
        <p:nvSpPr>
          <p:cNvPr id="4" name="TextBox 3">
            <a:extLst>
              <a:ext uri="{FF2B5EF4-FFF2-40B4-BE49-F238E27FC236}">
                <a16:creationId xmlns:a16="http://schemas.microsoft.com/office/drawing/2014/main" id="{48CE3425-6E4C-45EA-970F-485036D967DA}"/>
              </a:ext>
            </a:extLst>
          </p:cNvPr>
          <p:cNvSpPr txBox="1"/>
          <p:nvPr/>
        </p:nvSpPr>
        <p:spPr>
          <a:xfrm>
            <a:off x="5924550" y="6076950"/>
            <a:ext cx="5753100" cy="646331"/>
          </a:xfrm>
          <a:prstGeom prst="rect">
            <a:avLst/>
          </a:prstGeom>
          <a:noFill/>
        </p:spPr>
        <p:txBody>
          <a:bodyPr wrap="square" rtlCol="0">
            <a:spAutoFit/>
          </a:bodyPr>
          <a:lstStyle/>
          <a:p>
            <a:r>
              <a:rPr lang="en-GB" dirty="0"/>
              <a:t>https://www.ft.com/content/e9835846-d88c-4947-a5ee-33a378ff9f65</a:t>
            </a:r>
          </a:p>
        </p:txBody>
      </p:sp>
    </p:spTree>
    <p:extLst>
      <p:ext uri="{BB962C8B-B14F-4D97-AF65-F5344CB8AC3E}">
        <p14:creationId xmlns:p14="http://schemas.microsoft.com/office/powerpoint/2010/main" val="2821601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Flexible working practices</a:t>
            </a:r>
          </a:p>
        </p:txBody>
      </p:sp>
      <p:sp>
        <p:nvSpPr>
          <p:cNvPr id="3" name="Content Placeholder 2"/>
          <p:cNvSpPr>
            <a:spLocks noGrp="1"/>
          </p:cNvSpPr>
          <p:nvPr>
            <p:ph idx="1"/>
          </p:nvPr>
        </p:nvSpPr>
        <p:spPr/>
        <p:txBody>
          <a:bodyPr>
            <a:normAutofit lnSpcReduction="10000"/>
          </a:bodyPr>
          <a:lstStyle/>
          <a:p>
            <a:r>
              <a:rPr lang="en-US" dirty="0"/>
              <a:t>May have been in some </a:t>
            </a:r>
            <a:r>
              <a:rPr lang="en-US" dirty="0" err="1"/>
              <a:t>organisations</a:t>
            </a:r>
            <a:r>
              <a:rPr lang="en-US" dirty="0"/>
              <a:t> for quite some time but without the title</a:t>
            </a:r>
          </a:p>
          <a:p>
            <a:endParaRPr lang="en-US" dirty="0"/>
          </a:p>
          <a:p>
            <a:r>
              <a:rPr lang="en-US" dirty="0"/>
              <a:t>Often informal arrangements until more recent years and so could be easily reversed (Wilton et al., 2010)</a:t>
            </a:r>
          </a:p>
          <a:p>
            <a:endParaRPr lang="en-US" dirty="0"/>
          </a:p>
          <a:p>
            <a:r>
              <a:rPr lang="en-US" dirty="0"/>
              <a:t>Internal and external factors</a:t>
            </a:r>
          </a:p>
          <a:p>
            <a:pPr lvl="1"/>
            <a:r>
              <a:rPr lang="en-US" dirty="0"/>
              <a:t>Cost (replacements etc.)</a:t>
            </a:r>
          </a:p>
          <a:p>
            <a:pPr lvl="1"/>
            <a:r>
              <a:rPr lang="en-US" dirty="0" err="1"/>
              <a:t>Labour</a:t>
            </a:r>
            <a:r>
              <a:rPr lang="en-US" dirty="0"/>
              <a:t> market conditions</a:t>
            </a:r>
          </a:p>
          <a:p>
            <a:pPr lvl="1"/>
            <a:r>
              <a:rPr lang="en-US" dirty="0"/>
              <a:t>Perception of family-friendly policies</a:t>
            </a:r>
          </a:p>
          <a:p>
            <a:pPr lvl="1"/>
            <a:r>
              <a:rPr lang="en-US" dirty="0"/>
              <a:t>Dominance of the male model of work</a:t>
            </a:r>
          </a:p>
          <a:p>
            <a:pPr lvl="1"/>
            <a:r>
              <a:rPr lang="en-US" dirty="0"/>
              <a:t>Industry specific challenges (clients etc.)</a:t>
            </a:r>
          </a:p>
          <a:p>
            <a:endParaRPr lang="en-US" dirty="0"/>
          </a:p>
          <a:p>
            <a:endParaRPr lang="en-US" dirty="0"/>
          </a:p>
        </p:txBody>
      </p:sp>
    </p:spTree>
    <p:extLst>
      <p:ext uri="{BB962C8B-B14F-4D97-AF65-F5344CB8AC3E}">
        <p14:creationId xmlns:p14="http://schemas.microsoft.com/office/powerpoint/2010/main" val="7814812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Do flexible working practices reduce intensification? </a:t>
            </a:r>
          </a:p>
        </p:txBody>
      </p:sp>
      <p:sp>
        <p:nvSpPr>
          <p:cNvPr id="3" name="Content Placeholder 2"/>
          <p:cNvSpPr>
            <a:spLocks noGrp="1"/>
          </p:cNvSpPr>
          <p:nvPr>
            <p:ph idx="1"/>
          </p:nvPr>
        </p:nvSpPr>
        <p:spPr>
          <a:xfrm>
            <a:off x="609600" y="1805030"/>
            <a:ext cx="10972800" cy="4720314"/>
          </a:xfrm>
        </p:spPr>
        <p:txBody>
          <a:bodyPr>
            <a:normAutofit fontScale="92500" lnSpcReduction="20000"/>
          </a:bodyPr>
          <a:lstStyle/>
          <a:p>
            <a:r>
              <a:rPr lang="en-IE" dirty="0"/>
              <a:t>Example from practice</a:t>
            </a:r>
          </a:p>
          <a:p>
            <a:r>
              <a:rPr lang="en-IE" dirty="0"/>
              <a:t>London Borough of Merton</a:t>
            </a:r>
          </a:p>
          <a:p>
            <a:r>
              <a:rPr lang="en-IE" dirty="0"/>
              <a:t>Halved sickness absence and improved productivity by introducing flexible working practices as part of a work-life balance pilot project</a:t>
            </a:r>
          </a:p>
          <a:p>
            <a:pPr lvl="1"/>
            <a:r>
              <a:rPr lang="en-IE" dirty="0"/>
              <a:t>Compressed working week</a:t>
            </a:r>
          </a:p>
          <a:p>
            <a:pPr lvl="1"/>
            <a:r>
              <a:rPr lang="en-IE" dirty="0"/>
              <a:t>Working from home</a:t>
            </a:r>
          </a:p>
          <a:p>
            <a:pPr lvl="1"/>
            <a:r>
              <a:rPr lang="en-IE" dirty="0"/>
              <a:t>Career breaks</a:t>
            </a:r>
          </a:p>
          <a:p>
            <a:pPr lvl="1"/>
            <a:r>
              <a:rPr lang="en-IE" dirty="0"/>
              <a:t>Job sharing</a:t>
            </a:r>
          </a:p>
          <a:p>
            <a:pPr lvl="1"/>
            <a:r>
              <a:rPr lang="en-IE" dirty="0"/>
              <a:t>Special leave</a:t>
            </a:r>
          </a:p>
          <a:p>
            <a:pPr lvl="1"/>
            <a:r>
              <a:rPr lang="en-IE" dirty="0"/>
              <a:t>Required shift in management style- focus moved from attendance to output</a:t>
            </a:r>
          </a:p>
          <a:p>
            <a:endParaRPr lang="en-IE" dirty="0"/>
          </a:p>
          <a:p>
            <a:r>
              <a:rPr lang="en-IE" dirty="0"/>
              <a:t>Significant training required</a:t>
            </a:r>
          </a:p>
          <a:p>
            <a:r>
              <a:rPr lang="en-IE" dirty="0"/>
              <a:t>Requires a flatter structure and more team based work</a:t>
            </a:r>
          </a:p>
          <a:p>
            <a:endParaRPr lang="en-IE" dirty="0"/>
          </a:p>
          <a:p>
            <a:pPr algn="r"/>
            <a:r>
              <a:rPr lang="en-IE" dirty="0"/>
              <a:t>People Management, 2002; January</a:t>
            </a:r>
          </a:p>
        </p:txBody>
      </p:sp>
    </p:spTree>
    <p:extLst>
      <p:ext uri="{BB962C8B-B14F-4D97-AF65-F5344CB8AC3E}">
        <p14:creationId xmlns:p14="http://schemas.microsoft.com/office/powerpoint/2010/main" val="12943386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Links to health? </a:t>
            </a:r>
          </a:p>
        </p:txBody>
      </p:sp>
      <p:sp>
        <p:nvSpPr>
          <p:cNvPr id="3" name="Content Placeholder 2"/>
          <p:cNvSpPr>
            <a:spLocks noGrp="1"/>
          </p:cNvSpPr>
          <p:nvPr>
            <p:ph idx="1"/>
          </p:nvPr>
        </p:nvSpPr>
        <p:spPr/>
        <p:txBody>
          <a:bodyPr/>
          <a:lstStyle/>
          <a:p>
            <a:r>
              <a:rPr lang="en-US" b="1" dirty="0"/>
              <a:t>Self-scheduling ++</a:t>
            </a:r>
          </a:p>
          <a:p>
            <a:r>
              <a:rPr lang="en-US" dirty="0" err="1"/>
              <a:t>Flexitime</a:t>
            </a:r>
            <a:endParaRPr lang="en-US" dirty="0"/>
          </a:p>
          <a:p>
            <a:r>
              <a:rPr lang="en-US" dirty="0"/>
              <a:t>Overtime</a:t>
            </a:r>
          </a:p>
          <a:p>
            <a:r>
              <a:rPr lang="en-US" b="1" dirty="0"/>
              <a:t>Gradual retirement ++</a:t>
            </a:r>
          </a:p>
          <a:p>
            <a:r>
              <a:rPr lang="en-US" dirty="0"/>
              <a:t>Involuntary part-time</a:t>
            </a:r>
          </a:p>
          <a:p>
            <a:r>
              <a:rPr lang="en-US" dirty="0"/>
              <a:t>Fixed-term contract</a:t>
            </a:r>
          </a:p>
          <a:p>
            <a:endParaRPr lang="en-US" dirty="0"/>
          </a:p>
          <a:p>
            <a:r>
              <a:rPr lang="en-US" dirty="0"/>
              <a:t>Also linked to spouse’s working practices. One person working </a:t>
            </a:r>
            <a:r>
              <a:rPr lang="en-US" dirty="0" err="1"/>
              <a:t>flexitime</a:t>
            </a:r>
            <a:r>
              <a:rPr lang="en-US" dirty="0"/>
              <a:t> associated with less burnout (</a:t>
            </a:r>
            <a:r>
              <a:rPr lang="en-US" dirty="0" err="1"/>
              <a:t>Grzywacz</a:t>
            </a:r>
            <a:r>
              <a:rPr lang="en-US" dirty="0"/>
              <a:t>, 2008)</a:t>
            </a:r>
          </a:p>
        </p:txBody>
      </p:sp>
    </p:spTree>
    <p:extLst>
      <p:ext uri="{BB962C8B-B14F-4D97-AF65-F5344CB8AC3E}">
        <p14:creationId xmlns:p14="http://schemas.microsoft.com/office/powerpoint/2010/main" val="2140001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a:xfrm>
            <a:off x="508000" y="260648"/>
            <a:ext cx="10972800" cy="743744"/>
          </a:xfrm>
        </p:spPr>
        <p:txBody>
          <a:bodyPr/>
          <a:lstStyle/>
          <a:p>
            <a:r>
              <a:rPr lang="en-IE" dirty="0"/>
              <a:t>Why Bother about Stress?</a:t>
            </a:r>
            <a:endParaRPr lang="en-GB" dirty="0"/>
          </a:p>
        </p:txBody>
      </p:sp>
      <p:sp>
        <p:nvSpPr>
          <p:cNvPr id="112643" name="Rectangle 3"/>
          <p:cNvSpPr>
            <a:spLocks noGrp="1" noChangeArrowheads="1"/>
          </p:cNvSpPr>
          <p:nvPr>
            <p:ph idx="1"/>
          </p:nvPr>
        </p:nvSpPr>
        <p:spPr>
          <a:xfrm>
            <a:off x="239185" y="1412875"/>
            <a:ext cx="11713633" cy="5111750"/>
          </a:xfrm>
        </p:spPr>
        <p:txBody>
          <a:bodyPr/>
          <a:lstStyle/>
          <a:p>
            <a:r>
              <a:rPr lang="en-IE" sz="2600" dirty="0"/>
              <a:t>A recent Mental Health Association of Ireland (MHAI) survey found that 35% of adults claim to have experienced notable levels of stress in the past, while 11% (300,000 people) said that workplace stress interferes with their family lives</a:t>
            </a:r>
          </a:p>
          <a:p>
            <a:endParaRPr lang="en-IE" sz="2600" dirty="0"/>
          </a:p>
          <a:p>
            <a:r>
              <a:rPr lang="en-IE" sz="2600" dirty="0"/>
              <a:t>The total cost of stress-related illnesses across the EU, according to the most recent survey, is €13 billion (re-training costs, sickness pay, accident and/or illness insurance </a:t>
            </a:r>
            <a:r>
              <a:rPr lang="en-IE" sz="2600" dirty="0" err="1"/>
              <a:t>payouts</a:t>
            </a:r>
            <a:r>
              <a:rPr lang="en-IE" sz="2600" dirty="0"/>
              <a:t> and recruitment costs)</a:t>
            </a:r>
          </a:p>
          <a:p>
            <a:endParaRPr lang="en-GB" sz="2600" dirty="0"/>
          </a:p>
        </p:txBody>
      </p:sp>
    </p:spTree>
    <p:extLst>
      <p:ext uri="{BB962C8B-B14F-4D97-AF65-F5344CB8AC3E}">
        <p14:creationId xmlns:p14="http://schemas.microsoft.com/office/powerpoint/2010/main" val="26429140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6912" y="116632"/>
            <a:ext cx="10972800" cy="1066800"/>
          </a:xfrm>
        </p:spPr>
        <p:txBody>
          <a:bodyPr>
            <a:normAutofit/>
          </a:bodyPr>
          <a:lstStyle/>
          <a:p>
            <a:r>
              <a:rPr lang="en-IE" sz="2400" b="1" dirty="0"/>
              <a:t>European Foundation for the Improvement of Living and Working Conditions, 2007</a:t>
            </a:r>
            <a:br>
              <a:rPr lang="en-IE" sz="2400" b="1" dirty="0"/>
            </a:br>
            <a:endParaRPr lang="en-IE" sz="2400" dirty="0"/>
          </a:p>
        </p:txBody>
      </p:sp>
      <p:sp>
        <p:nvSpPr>
          <p:cNvPr id="3" name="Content Placeholder 2"/>
          <p:cNvSpPr>
            <a:spLocks noGrp="1"/>
          </p:cNvSpPr>
          <p:nvPr>
            <p:ph idx="1"/>
          </p:nvPr>
        </p:nvSpPr>
        <p:spPr>
          <a:xfrm>
            <a:off x="556967" y="1244812"/>
            <a:ext cx="11952651" cy="5017046"/>
          </a:xfrm>
        </p:spPr>
        <p:txBody>
          <a:bodyPr>
            <a:normAutofit/>
          </a:bodyPr>
          <a:lstStyle/>
          <a:p>
            <a:r>
              <a:rPr lang="en-IE" sz="2400" dirty="0"/>
              <a:t>After back-pain, most common health problem in EU is work related stress (~ 30%)</a:t>
            </a:r>
          </a:p>
          <a:p>
            <a:r>
              <a:rPr lang="en-IE" sz="2400" dirty="0"/>
              <a:t>Risk Groups</a:t>
            </a:r>
          </a:p>
          <a:p>
            <a:pPr lvl="1"/>
            <a:r>
              <a:rPr lang="en-IE" dirty="0"/>
              <a:t>Health and social services (DK, ES, FI, NL, EU)</a:t>
            </a:r>
          </a:p>
          <a:p>
            <a:pPr lvl="1"/>
            <a:r>
              <a:rPr lang="en-IE" dirty="0"/>
              <a:t>Education (DK, ES, FI, NL, EU)</a:t>
            </a:r>
          </a:p>
          <a:p>
            <a:pPr marL="411162" lvl="1" indent="0">
              <a:buNone/>
            </a:pPr>
            <a:endParaRPr lang="en-IE" sz="2000" dirty="0"/>
          </a:p>
          <a:p>
            <a:pPr lvl="1"/>
            <a:r>
              <a:rPr lang="en-IE" dirty="0"/>
              <a:t>Public administration (FI)</a:t>
            </a:r>
          </a:p>
          <a:p>
            <a:pPr lvl="1"/>
            <a:r>
              <a:rPr lang="en-IE" dirty="0"/>
              <a:t>Banking (ES)</a:t>
            </a:r>
          </a:p>
          <a:p>
            <a:pPr lvl="1"/>
            <a:r>
              <a:rPr lang="en-IE" dirty="0"/>
              <a:t>Freight transport (FI, NL, EU)</a:t>
            </a:r>
          </a:p>
          <a:p>
            <a:pPr lvl="1"/>
            <a:r>
              <a:rPr lang="en-IE" dirty="0"/>
              <a:t>Hotel &amp; restaurant</a:t>
            </a:r>
          </a:p>
          <a:p>
            <a:pPr lvl="1"/>
            <a:r>
              <a:rPr lang="en-IE" dirty="0"/>
              <a:t>Policing</a:t>
            </a:r>
          </a:p>
          <a:p>
            <a:pPr lvl="2"/>
            <a:r>
              <a:rPr lang="en-IE" dirty="0"/>
              <a:t>http://www.eurofound.europa.eu/ewco/reports/TN0502TR01/TN0502TR01.pdf</a:t>
            </a:r>
          </a:p>
          <a:p>
            <a:endParaRPr lang="en-IE" dirty="0"/>
          </a:p>
        </p:txBody>
      </p:sp>
    </p:spTree>
    <p:extLst>
      <p:ext uri="{BB962C8B-B14F-4D97-AF65-F5344CB8AC3E}">
        <p14:creationId xmlns:p14="http://schemas.microsoft.com/office/powerpoint/2010/main" val="33269922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F00C6-14FF-4873-8E7D-0C8CF8F06C1B}"/>
              </a:ext>
            </a:extLst>
          </p:cNvPr>
          <p:cNvSpPr>
            <a:spLocks noGrp="1"/>
          </p:cNvSpPr>
          <p:nvPr>
            <p:ph type="title"/>
          </p:nvPr>
        </p:nvSpPr>
        <p:spPr/>
        <p:txBody>
          <a:bodyPr/>
          <a:lstStyle/>
          <a:p>
            <a:pPr algn="ctr"/>
            <a:r>
              <a:rPr lang="en-GB" dirty="0"/>
              <a:t>Signs of Stress</a:t>
            </a:r>
          </a:p>
        </p:txBody>
      </p:sp>
      <p:sp>
        <p:nvSpPr>
          <p:cNvPr id="4" name="Text Placeholder 3">
            <a:extLst>
              <a:ext uri="{FF2B5EF4-FFF2-40B4-BE49-F238E27FC236}">
                <a16:creationId xmlns:a16="http://schemas.microsoft.com/office/drawing/2014/main" id="{DC199B05-9C6F-4460-B871-77B86C96BA79}"/>
              </a:ext>
            </a:extLst>
          </p:cNvPr>
          <p:cNvSpPr>
            <a:spLocks noGrp="1"/>
          </p:cNvSpPr>
          <p:nvPr>
            <p:ph type="body" idx="1"/>
          </p:nvPr>
        </p:nvSpPr>
        <p:spPr/>
        <p:txBody>
          <a:bodyPr/>
          <a:lstStyle/>
          <a:p>
            <a:r>
              <a:rPr lang="en-GB" b="1" dirty="0"/>
              <a:t>Work Performance</a:t>
            </a:r>
          </a:p>
        </p:txBody>
      </p:sp>
      <p:sp>
        <p:nvSpPr>
          <p:cNvPr id="5" name="Content Placeholder 4">
            <a:extLst>
              <a:ext uri="{FF2B5EF4-FFF2-40B4-BE49-F238E27FC236}">
                <a16:creationId xmlns:a16="http://schemas.microsoft.com/office/drawing/2014/main" id="{A1637B21-CFB4-451C-9DFA-FDE0DF42AD76}"/>
              </a:ext>
            </a:extLst>
          </p:cNvPr>
          <p:cNvSpPr>
            <a:spLocks noGrp="1"/>
          </p:cNvSpPr>
          <p:nvPr>
            <p:ph sz="half" idx="2"/>
          </p:nvPr>
        </p:nvSpPr>
        <p:spPr/>
        <p:txBody>
          <a:bodyPr/>
          <a:lstStyle/>
          <a:p>
            <a:r>
              <a:rPr lang="en-GB" sz="1800" b="0" i="0" u="none" strike="noStrike" baseline="0" dirty="0">
                <a:solidFill>
                  <a:srgbClr val="58595B"/>
                </a:solidFill>
                <a:latin typeface="f1l5i552-d3a-far-1lrtindax2awj"/>
              </a:rPr>
              <a:t>Declining/inconsistent performance.</a:t>
            </a:r>
          </a:p>
          <a:p>
            <a:pPr algn="l"/>
            <a:r>
              <a:rPr lang="en-GB" sz="1800" b="0" i="0" u="none" strike="noStrike" baseline="0" dirty="0">
                <a:solidFill>
                  <a:srgbClr val="58595B"/>
                </a:solidFill>
                <a:latin typeface="f1l5i552-d3a-far-1lrtindax2awj"/>
              </a:rPr>
              <a:t>Uncharacteristic errors.</a:t>
            </a:r>
          </a:p>
          <a:p>
            <a:pPr algn="l"/>
            <a:r>
              <a:rPr lang="en-GB" sz="1800" b="0" i="0" u="none" strike="noStrike" baseline="0" dirty="0">
                <a:solidFill>
                  <a:srgbClr val="58595B"/>
                </a:solidFill>
                <a:latin typeface="f1l5i552-d3a-far-1lrtindax2awj"/>
              </a:rPr>
              <a:t>Loss of motivation/commitment.</a:t>
            </a:r>
          </a:p>
          <a:p>
            <a:pPr algn="l"/>
            <a:r>
              <a:rPr lang="en-GB" sz="1800" b="0" i="0" u="none" strike="noStrike" baseline="0" dirty="0">
                <a:solidFill>
                  <a:srgbClr val="58595B"/>
                </a:solidFill>
                <a:latin typeface="f1l5i552-d3a-far-1lrtindax2awj"/>
              </a:rPr>
              <a:t>Lapses in memory.</a:t>
            </a:r>
          </a:p>
          <a:p>
            <a:pPr algn="l"/>
            <a:r>
              <a:rPr lang="en-GB" sz="1800" b="0" i="0" u="none" strike="noStrike" baseline="0" dirty="0">
                <a:solidFill>
                  <a:srgbClr val="58595B"/>
                </a:solidFill>
                <a:latin typeface="f1l5i552-d3a-far-1lrtindax2awj"/>
              </a:rPr>
              <a:t>Increased time at work.</a:t>
            </a:r>
          </a:p>
          <a:p>
            <a:pPr algn="l"/>
            <a:r>
              <a:rPr lang="en-GB" sz="1800" b="0" i="0" u="none" strike="noStrike" baseline="0" dirty="0">
                <a:solidFill>
                  <a:srgbClr val="58595B"/>
                </a:solidFill>
                <a:latin typeface="f1l5i552-d3a-far-1lrtindax2awj"/>
              </a:rPr>
              <a:t>Lack of holiday planning/usage.</a:t>
            </a:r>
            <a:endParaRPr lang="en-GB" dirty="0"/>
          </a:p>
        </p:txBody>
      </p:sp>
      <p:sp>
        <p:nvSpPr>
          <p:cNvPr id="6" name="Text Placeholder 5">
            <a:extLst>
              <a:ext uri="{FF2B5EF4-FFF2-40B4-BE49-F238E27FC236}">
                <a16:creationId xmlns:a16="http://schemas.microsoft.com/office/drawing/2014/main" id="{70F17D08-8D31-4D9C-8C4C-A373427D829A}"/>
              </a:ext>
            </a:extLst>
          </p:cNvPr>
          <p:cNvSpPr>
            <a:spLocks noGrp="1"/>
          </p:cNvSpPr>
          <p:nvPr>
            <p:ph type="body" sz="quarter" idx="3"/>
          </p:nvPr>
        </p:nvSpPr>
        <p:spPr/>
        <p:txBody>
          <a:bodyPr>
            <a:normAutofit/>
          </a:bodyPr>
          <a:lstStyle/>
          <a:p>
            <a:r>
              <a:rPr lang="en-GB" b="1" i="0" u="none" strike="noStrike" baseline="0" dirty="0">
                <a:solidFill>
                  <a:srgbClr val="58595B"/>
                </a:solidFill>
              </a:rPr>
              <a:t>Conflict and emotional signs</a:t>
            </a:r>
            <a:endParaRPr lang="en-GB" dirty="0"/>
          </a:p>
        </p:txBody>
      </p:sp>
      <p:sp>
        <p:nvSpPr>
          <p:cNvPr id="7" name="Content Placeholder 6">
            <a:extLst>
              <a:ext uri="{FF2B5EF4-FFF2-40B4-BE49-F238E27FC236}">
                <a16:creationId xmlns:a16="http://schemas.microsoft.com/office/drawing/2014/main" id="{5954B9EB-197B-44D3-9B15-577114E61B86}"/>
              </a:ext>
            </a:extLst>
          </p:cNvPr>
          <p:cNvSpPr>
            <a:spLocks noGrp="1"/>
          </p:cNvSpPr>
          <p:nvPr>
            <p:ph sz="quarter" idx="4"/>
          </p:nvPr>
        </p:nvSpPr>
        <p:spPr/>
        <p:txBody>
          <a:bodyPr/>
          <a:lstStyle/>
          <a:p>
            <a:pPr algn="l"/>
            <a:r>
              <a:rPr lang="en-GB" sz="1800" b="0" i="0" u="none" strike="noStrike" baseline="0" dirty="0">
                <a:solidFill>
                  <a:srgbClr val="58595B"/>
                </a:solidFill>
                <a:latin typeface="f1l5i552-d3a-far-1lrtindax2awj"/>
              </a:rPr>
              <a:t>Crying.</a:t>
            </a:r>
          </a:p>
          <a:p>
            <a:pPr algn="l"/>
            <a:r>
              <a:rPr lang="en-GB" sz="1800" b="0" i="0" u="none" strike="noStrike" baseline="0" dirty="0">
                <a:solidFill>
                  <a:srgbClr val="58595B"/>
                </a:solidFill>
                <a:latin typeface="f1l5i552-d3a-far-1lrtindax2awj"/>
              </a:rPr>
              <a:t>Arguments.</a:t>
            </a:r>
          </a:p>
          <a:p>
            <a:pPr algn="l"/>
            <a:r>
              <a:rPr lang="en-GB" sz="1800" b="0" i="0" u="none" strike="noStrike" baseline="0" dirty="0">
                <a:solidFill>
                  <a:srgbClr val="58595B"/>
                </a:solidFill>
                <a:latin typeface="f1l5i552-d3a-far-1lrtindax2awj"/>
              </a:rPr>
              <a:t>Undue sensitivity.</a:t>
            </a:r>
          </a:p>
          <a:p>
            <a:pPr algn="l"/>
            <a:r>
              <a:rPr lang="en-GB" sz="1800" b="0" i="0" u="none" strike="noStrike" baseline="0" dirty="0">
                <a:solidFill>
                  <a:srgbClr val="58595B"/>
                </a:solidFill>
                <a:latin typeface="f1l5i552-d3a-far-1lrtindax2awj"/>
              </a:rPr>
              <a:t>Irritability/moodiness.</a:t>
            </a:r>
          </a:p>
          <a:p>
            <a:pPr algn="l"/>
            <a:r>
              <a:rPr lang="en-GB" sz="1800" b="0" i="0" u="none" strike="noStrike" baseline="0" dirty="0">
                <a:solidFill>
                  <a:srgbClr val="58595B"/>
                </a:solidFill>
                <a:latin typeface="f1l5i552-d3a-far-1lrtindax2awj"/>
              </a:rPr>
              <a:t>Over-reaction to problems.</a:t>
            </a:r>
          </a:p>
          <a:p>
            <a:pPr algn="l"/>
            <a:r>
              <a:rPr lang="en-GB" sz="1800" b="0" i="0" u="none" strike="noStrike" baseline="0" dirty="0">
                <a:solidFill>
                  <a:srgbClr val="58595B"/>
                </a:solidFill>
                <a:latin typeface="f1l5i552-d3a-far-1lrtindax2awj"/>
              </a:rPr>
              <a:t>Personality clashes.</a:t>
            </a:r>
            <a:endParaRPr lang="en-GB" dirty="0"/>
          </a:p>
        </p:txBody>
      </p:sp>
    </p:spTree>
    <p:extLst>
      <p:ext uri="{BB962C8B-B14F-4D97-AF65-F5344CB8AC3E}">
        <p14:creationId xmlns:p14="http://schemas.microsoft.com/office/powerpoint/2010/main" val="9393726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F00C6-14FF-4873-8E7D-0C8CF8F06C1B}"/>
              </a:ext>
            </a:extLst>
          </p:cNvPr>
          <p:cNvSpPr>
            <a:spLocks noGrp="1"/>
          </p:cNvSpPr>
          <p:nvPr>
            <p:ph type="title"/>
          </p:nvPr>
        </p:nvSpPr>
        <p:spPr/>
        <p:txBody>
          <a:bodyPr/>
          <a:lstStyle/>
          <a:p>
            <a:pPr algn="ctr"/>
            <a:r>
              <a:rPr lang="en-GB" dirty="0"/>
              <a:t>Signs of Stress</a:t>
            </a:r>
          </a:p>
        </p:txBody>
      </p:sp>
      <p:sp>
        <p:nvSpPr>
          <p:cNvPr id="4" name="Text Placeholder 3">
            <a:extLst>
              <a:ext uri="{FF2B5EF4-FFF2-40B4-BE49-F238E27FC236}">
                <a16:creationId xmlns:a16="http://schemas.microsoft.com/office/drawing/2014/main" id="{DC199B05-9C6F-4460-B871-77B86C96BA79}"/>
              </a:ext>
            </a:extLst>
          </p:cNvPr>
          <p:cNvSpPr>
            <a:spLocks noGrp="1"/>
          </p:cNvSpPr>
          <p:nvPr>
            <p:ph type="body" idx="1"/>
          </p:nvPr>
        </p:nvSpPr>
        <p:spPr/>
        <p:txBody>
          <a:bodyPr/>
          <a:lstStyle/>
          <a:p>
            <a:r>
              <a:rPr lang="en-GB" b="1" dirty="0"/>
              <a:t>Withdrawal</a:t>
            </a:r>
          </a:p>
        </p:txBody>
      </p:sp>
      <p:sp>
        <p:nvSpPr>
          <p:cNvPr id="5" name="Content Placeholder 4">
            <a:extLst>
              <a:ext uri="{FF2B5EF4-FFF2-40B4-BE49-F238E27FC236}">
                <a16:creationId xmlns:a16="http://schemas.microsoft.com/office/drawing/2014/main" id="{A1637B21-CFB4-451C-9DFA-FDE0DF42AD76}"/>
              </a:ext>
            </a:extLst>
          </p:cNvPr>
          <p:cNvSpPr>
            <a:spLocks noGrp="1"/>
          </p:cNvSpPr>
          <p:nvPr>
            <p:ph sz="half" idx="2"/>
          </p:nvPr>
        </p:nvSpPr>
        <p:spPr/>
        <p:txBody>
          <a:bodyPr/>
          <a:lstStyle/>
          <a:p>
            <a:pPr algn="l"/>
            <a:r>
              <a:rPr lang="en-GB" sz="1800" b="0" i="0" u="none" strike="noStrike" baseline="0" dirty="0">
                <a:solidFill>
                  <a:srgbClr val="58595B"/>
                </a:solidFill>
                <a:latin typeface="f1l5i552-d3a-far-1lrtindax2awj"/>
              </a:rPr>
              <a:t>Arriving late to work.</a:t>
            </a:r>
          </a:p>
          <a:p>
            <a:pPr algn="l"/>
            <a:r>
              <a:rPr lang="en-GB" sz="1800" b="0" i="0" u="none" strike="noStrike" baseline="0" dirty="0">
                <a:solidFill>
                  <a:srgbClr val="58595B"/>
                </a:solidFill>
                <a:latin typeface="f1l5i552-d3a-far-1lrtindax2awj"/>
              </a:rPr>
              <a:t>Leaving early.</a:t>
            </a:r>
          </a:p>
          <a:p>
            <a:pPr algn="l"/>
            <a:r>
              <a:rPr lang="en-GB" sz="1800" b="0" i="0" u="none" strike="noStrike" baseline="0" dirty="0">
                <a:solidFill>
                  <a:srgbClr val="58595B"/>
                </a:solidFill>
                <a:latin typeface="f1l5i552-d3a-far-1lrtindax2awj"/>
              </a:rPr>
              <a:t>Absenteeism.</a:t>
            </a:r>
          </a:p>
          <a:p>
            <a:pPr algn="l"/>
            <a:r>
              <a:rPr lang="en-GB" sz="1800" b="0" i="0" u="none" strike="noStrike" baseline="0" dirty="0">
                <a:solidFill>
                  <a:srgbClr val="58595B"/>
                </a:solidFill>
                <a:latin typeface="f1l5i552-d3a-far-1lrtindax2awj"/>
              </a:rPr>
              <a:t>Reduced social contacts.</a:t>
            </a:r>
            <a:endParaRPr lang="en-GB" dirty="0"/>
          </a:p>
        </p:txBody>
      </p:sp>
      <p:sp>
        <p:nvSpPr>
          <p:cNvPr id="6" name="Text Placeholder 5">
            <a:extLst>
              <a:ext uri="{FF2B5EF4-FFF2-40B4-BE49-F238E27FC236}">
                <a16:creationId xmlns:a16="http://schemas.microsoft.com/office/drawing/2014/main" id="{70F17D08-8D31-4D9C-8C4C-A373427D829A}"/>
              </a:ext>
            </a:extLst>
          </p:cNvPr>
          <p:cNvSpPr>
            <a:spLocks noGrp="1"/>
          </p:cNvSpPr>
          <p:nvPr>
            <p:ph type="body" sz="quarter" idx="3"/>
          </p:nvPr>
        </p:nvSpPr>
        <p:spPr/>
        <p:txBody>
          <a:bodyPr>
            <a:normAutofit/>
          </a:bodyPr>
          <a:lstStyle/>
          <a:p>
            <a:r>
              <a:rPr lang="en-GB" b="1" dirty="0"/>
              <a:t>Aggressive behaviour</a:t>
            </a:r>
          </a:p>
        </p:txBody>
      </p:sp>
      <p:sp>
        <p:nvSpPr>
          <p:cNvPr id="7" name="Content Placeholder 6">
            <a:extLst>
              <a:ext uri="{FF2B5EF4-FFF2-40B4-BE49-F238E27FC236}">
                <a16:creationId xmlns:a16="http://schemas.microsoft.com/office/drawing/2014/main" id="{5954B9EB-197B-44D3-9B15-577114E61B86}"/>
              </a:ext>
            </a:extLst>
          </p:cNvPr>
          <p:cNvSpPr>
            <a:spLocks noGrp="1"/>
          </p:cNvSpPr>
          <p:nvPr>
            <p:ph sz="quarter" idx="4"/>
          </p:nvPr>
        </p:nvSpPr>
        <p:spPr/>
        <p:txBody>
          <a:bodyPr/>
          <a:lstStyle/>
          <a:p>
            <a:pPr algn="l"/>
            <a:r>
              <a:rPr lang="en-GB" sz="1800" b="0" i="0" u="none" strike="noStrike" baseline="0" dirty="0">
                <a:solidFill>
                  <a:srgbClr val="58595B"/>
                </a:solidFill>
                <a:latin typeface="f1l5i552-d3a-far-1lrtindax2awj"/>
              </a:rPr>
              <a:t>Malicious gossip.</a:t>
            </a:r>
          </a:p>
          <a:p>
            <a:pPr algn="l"/>
            <a:r>
              <a:rPr lang="en-GB" sz="1800" b="0" i="0" u="none" strike="noStrike" baseline="0" dirty="0">
                <a:solidFill>
                  <a:srgbClr val="58595B"/>
                </a:solidFill>
                <a:latin typeface="f1l5i552-d3a-far-1lrtindax2awj"/>
              </a:rPr>
              <a:t>Criticism of others.</a:t>
            </a:r>
          </a:p>
          <a:p>
            <a:pPr algn="l"/>
            <a:r>
              <a:rPr lang="en-GB" sz="1800" b="0" i="0" u="none" strike="noStrike" baseline="0" dirty="0">
                <a:solidFill>
                  <a:srgbClr val="58595B"/>
                </a:solidFill>
                <a:latin typeface="f1l5i552-d3a-far-1lrtindax2awj"/>
              </a:rPr>
              <a:t>Bullying or harassment.</a:t>
            </a:r>
          </a:p>
          <a:p>
            <a:pPr algn="l"/>
            <a:r>
              <a:rPr lang="en-GB" sz="1800" b="0" i="0" u="none" strike="noStrike" baseline="0" dirty="0">
                <a:solidFill>
                  <a:srgbClr val="58595B"/>
                </a:solidFill>
                <a:latin typeface="f1l5i552-d3a-far-1lrtindax2awj"/>
              </a:rPr>
              <a:t>Temper outbursts.</a:t>
            </a:r>
            <a:endParaRPr lang="en-GB" dirty="0"/>
          </a:p>
        </p:txBody>
      </p:sp>
    </p:spTree>
    <p:extLst>
      <p:ext uri="{BB962C8B-B14F-4D97-AF65-F5344CB8AC3E}">
        <p14:creationId xmlns:p14="http://schemas.microsoft.com/office/powerpoint/2010/main" val="14563385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F00C6-14FF-4873-8E7D-0C8CF8F06C1B}"/>
              </a:ext>
            </a:extLst>
          </p:cNvPr>
          <p:cNvSpPr>
            <a:spLocks noGrp="1"/>
          </p:cNvSpPr>
          <p:nvPr>
            <p:ph type="title"/>
          </p:nvPr>
        </p:nvSpPr>
        <p:spPr/>
        <p:txBody>
          <a:bodyPr/>
          <a:lstStyle/>
          <a:p>
            <a:pPr algn="ctr"/>
            <a:r>
              <a:rPr lang="en-GB" dirty="0"/>
              <a:t>Signs of Stress</a:t>
            </a:r>
          </a:p>
        </p:txBody>
      </p:sp>
      <p:sp>
        <p:nvSpPr>
          <p:cNvPr id="4" name="Text Placeholder 3">
            <a:extLst>
              <a:ext uri="{FF2B5EF4-FFF2-40B4-BE49-F238E27FC236}">
                <a16:creationId xmlns:a16="http://schemas.microsoft.com/office/drawing/2014/main" id="{DC199B05-9C6F-4460-B871-77B86C96BA79}"/>
              </a:ext>
            </a:extLst>
          </p:cNvPr>
          <p:cNvSpPr>
            <a:spLocks noGrp="1"/>
          </p:cNvSpPr>
          <p:nvPr>
            <p:ph type="body" idx="1"/>
          </p:nvPr>
        </p:nvSpPr>
        <p:spPr/>
        <p:txBody>
          <a:bodyPr/>
          <a:lstStyle/>
          <a:p>
            <a:r>
              <a:rPr lang="en-GB" b="1" dirty="0"/>
              <a:t>Other behaviours</a:t>
            </a:r>
          </a:p>
        </p:txBody>
      </p:sp>
      <p:sp>
        <p:nvSpPr>
          <p:cNvPr id="5" name="Content Placeholder 4">
            <a:extLst>
              <a:ext uri="{FF2B5EF4-FFF2-40B4-BE49-F238E27FC236}">
                <a16:creationId xmlns:a16="http://schemas.microsoft.com/office/drawing/2014/main" id="{A1637B21-CFB4-451C-9DFA-FDE0DF42AD76}"/>
              </a:ext>
            </a:extLst>
          </p:cNvPr>
          <p:cNvSpPr>
            <a:spLocks noGrp="1"/>
          </p:cNvSpPr>
          <p:nvPr>
            <p:ph sz="half" idx="2"/>
          </p:nvPr>
        </p:nvSpPr>
        <p:spPr/>
        <p:txBody>
          <a:bodyPr/>
          <a:lstStyle/>
          <a:p>
            <a:pPr algn="l"/>
            <a:r>
              <a:rPr lang="en-GB" sz="1800" b="0" i="0" u="none" strike="noStrike" baseline="0" dirty="0">
                <a:solidFill>
                  <a:srgbClr val="58595B"/>
                </a:solidFill>
                <a:latin typeface="f1l5i552-d3a-far-1lrtindax2awj"/>
              </a:rPr>
              <a:t>Difficulty relaxing.</a:t>
            </a:r>
          </a:p>
          <a:p>
            <a:pPr algn="l"/>
            <a:r>
              <a:rPr lang="en-GB" sz="1800" b="0" i="0" u="none" strike="noStrike" baseline="0" dirty="0">
                <a:solidFill>
                  <a:srgbClr val="58595B"/>
                </a:solidFill>
                <a:latin typeface="f1l5i552-d3a-far-1lrtindax2awj"/>
              </a:rPr>
              <a:t>Increased consumption of alcohol.</a:t>
            </a:r>
          </a:p>
          <a:p>
            <a:pPr algn="l"/>
            <a:r>
              <a:rPr lang="en-GB" sz="1800" b="0" i="0" u="none" strike="noStrike" baseline="0" dirty="0">
                <a:solidFill>
                  <a:srgbClr val="58595B"/>
                </a:solidFill>
                <a:latin typeface="f1l5i552-d3a-far-1lrtindax2awj"/>
              </a:rPr>
              <a:t>Increased smoking.</a:t>
            </a:r>
          </a:p>
          <a:p>
            <a:pPr algn="l"/>
            <a:r>
              <a:rPr lang="en-GB" sz="1800" b="0" i="0" u="none" strike="noStrike" baseline="0" dirty="0">
                <a:solidFill>
                  <a:srgbClr val="58595B"/>
                </a:solidFill>
                <a:latin typeface="f1l5i552-d3a-far-1lrtindax2awj"/>
              </a:rPr>
              <a:t>Lack of interest in appearance/hygiene.</a:t>
            </a:r>
          </a:p>
          <a:p>
            <a:pPr algn="l"/>
            <a:r>
              <a:rPr lang="en-GB" sz="1800" b="0" i="0" u="none" strike="noStrike" baseline="0" dirty="0">
                <a:solidFill>
                  <a:srgbClr val="58595B"/>
                </a:solidFill>
                <a:latin typeface="f1l5i552-d3a-far-1lrtindax2awj"/>
              </a:rPr>
              <a:t>Accidents at home or work.</a:t>
            </a:r>
            <a:endParaRPr lang="en-GB" dirty="0"/>
          </a:p>
        </p:txBody>
      </p:sp>
      <p:sp>
        <p:nvSpPr>
          <p:cNvPr id="6" name="Text Placeholder 5">
            <a:extLst>
              <a:ext uri="{FF2B5EF4-FFF2-40B4-BE49-F238E27FC236}">
                <a16:creationId xmlns:a16="http://schemas.microsoft.com/office/drawing/2014/main" id="{70F17D08-8D31-4D9C-8C4C-A373427D829A}"/>
              </a:ext>
            </a:extLst>
          </p:cNvPr>
          <p:cNvSpPr>
            <a:spLocks noGrp="1"/>
          </p:cNvSpPr>
          <p:nvPr>
            <p:ph type="body" sz="quarter" idx="3"/>
          </p:nvPr>
        </p:nvSpPr>
        <p:spPr/>
        <p:txBody>
          <a:bodyPr>
            <a:normAutofit/>
          </a:bodyPr>
          <a:lstStyle/>
          <a:p>
            <a:r>
              <a:rPr lang="en-GB" b="1" dirty="0"/>
              <a:t>Physical signs</a:t>
            </a:r>
          </a:p>
        </p:txBody>
      </p:sp>
      <p:sp>
        <p:nvSpPr>
          <p:cNvPr id="7" name="Content Placeholder 6">
            <a:extLst>
              <a:ext uri="{FF2B5EF4-FFF2-40B4-BE49-F238E27FC236}">
                <a16:creationId xmlns:a16="http://schemas.microsoft.com/office/drawing/2014/main" id="{5954B9EB-197B-44D3-9B15-577114E61B86}"/>
              </a:ext>
            </a:extLst>
          </p:cNvPr>
          <p:cNvSpPr>
            <a:spLocks noGrp="1"/>
          </p:cNvSpPr>
          <p:nvPr>
            <p:ph sz="quarter" idx="4"/>
          </p:nvPr>
        </p:nvSpPr>
        <p:spPr/>
        <p:txBody>
          <a:bodyPr/>
          <a:lstStyle/>
          <a:p>
            <a:pPr algn="l"/>
            <a:r>
              <a:rPr lang="en-GB" sz="1800" b="0" i="0" u="none" strike="noStrike" baseline="0" dirty="0">
                <a:solidFill>
                  <a:srgbClr val="58595B"/>
                </a:solidFill>
                <a:latin typeface="f1l5i552-d3a-far-1lrtindax2awj"/>
              </a:rPr>
              <a:t>Nervous stumbling speech.</a:t>
            </a:r>
          </a:p>
          <a:p>
            <a:pPr algn="l"/>
            <a:r>
              <a:rPr lang="en-GB" sz="1800" b="0" i="0" u="none" strike="noStrike" baseline="0" dirty="0">
                <a:solidFill>
                  <a:srgbClr val="58595B"/>
                </a:solidFill>
                <a:latin typeface="f1l5i552-d3a-far-1lrtindax2awj"/>
              </a:rPr>
              <a:t>Sweating.</a:t>
            </a:r>
          </a:p>
          <a:p>
            <a:pPr algn="l"/>
            <a:r>
              <a:rPr lang="en-GB" sz="1800" b="0" i="0" u="none" strike="noStrike" baseline="0" dirty="0">
                <a:solidFill>
                  <a:srgbClr val="58595B"/>
                </a:solidFill>
                <a:latin typeface="f1l5i552-d3a-far-1lrtindax2awj"/>
              </a:rPr>
              <a:t>Tiredness/lethargy.</a:t>
            </a:r>
          </a:p>
          <a:p>
            <a:pPr algn="l"/>
            <a:r>
              <a:rPr lang="en-GB" sz="1800" b="0" i="0" u="none" strike="noStrike" baseline="0" dirty="0">
                <a:solidFill>
                  <a:srgbClr val="58595B"/>
                </a:solidFill>
                <a:latin typeface="f1l5i552-d3a-far-1lrtindax2awj"/>
              </a:rPr>
              <a:t>Upset stomach/flatulence.</a:t>
            </a:r>
          </a:p>
          <a:p>
            <a:pPr algn="l"/>
            <a:r>
              <a:rPr lang="en-GB" sz="1800" b="0" i="0" u="none" strike="noStrike" baseline="0" dirty="0">
                <a:solidFill>
                  <a:srgbClr val="58595B"/>
                </a:solidFill>
                <a:latin typeface="f1l5i552-d3a-far-1lrtindax2awj"/>
              </a:rPr>
              <a:t>Tension headaches.</a:t>
            </a:r>
          </a:p>
          <a:p>
            <a:pPr algn="l"/>
            <a:r>
              <a:rPr lang="en-GB" sz="1800" b="0" i="0" u="none" strike="noStrike" baseline="0" dirty="0">
                <a:solidFill>
                  <a:srgbClr val="58595B"/>
                </a:solidFill>
                <a:latin typeface="f1l5i552-d3a-far-1lrtindax2awj"/>
              </a:rPr>
              <a:t>Rapid weight gain or loss.</a:t>
            </a:r>
            <a:endParaRPr lang="en-GB" dirty="0"/>
          </a:p>
        </p:txBody>
      </p:sp>
    </p:spTree>
    <p:extLst>
      <p:ext uri="{BB962C8B-B14F-4D97-AF65-F5344CB8AC3E}">
        <p14:creationId xmlns:p14="http://schemas.microsoft.com/office/powerpoint/2010/main" val="8647859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877824"/>
          </a:xfrm>
        </p:spPr>
        <p:txBody>
          <a:bodyPr/>
          <a:lstStyle/>
          <a:p>
            <a:r>
              <a:rPr lang="en-IE" dirty="0"/>
              <a:t>Models of Stress</a:t>
            </a:r>
          </a:p>
        </p:txBody>
      </p:sp>
      <p:sp>
        <p:nvSpPr>
          <p:cNvPr id="3" name="Content Placeholder 2"/>
          <p:cNvSpPr>
            <a:spLocks noGrp="1"/>
          </p:cNvSpPr>
          <p:nvPr>
            <p:ph idx="1"/>
          </p:nvPr>
        </p:nvSpPr>
        <p:spPr>
          <a:xfrm>
            <a:off x="1024128" y="1463040"/>
            <a:ext cx="9720073" cy="4846320"/>
          </a:xfrm>
        </p:spPr>
        <p:txBody>
          <a:bodyPr/>
          <a:lstStyle/>
          <a:p>
            <a:r>
              <a:rPr lang="en-IE" dirty="0"/>
              <a:t>Structural approaches</a:t>
            </a:r>
          </a:p>
          <a:p>
            <a:endParaRPr lang="en-IE" dirty="0"/>
          </a:p>
          <a:p>
            <a:pPr lvl="1">
              <a:buFont typeface="Wingdings" panose="05000000000000000000" pitchFamily="2" charset="2"/>
              <a:buChar char="§"/>
            </a:pPr>
            <a:r>
              <a:rPr lang="en-IE" dirty="0"/>
              <a:t> </a:t>
            </a:r>
            <a:r>
              <a:rPr lang="en-IE" dirty="0">
                <a:solidFill>
                  <a:srgbClr val="FF0000"/>
                </a:solidFill>
              </a:rPr>
              <a:t>Demand Control Model (</a:t>
            </a:r>
            <a:r>
              <a:rPr lang="en-IE" dirty="0" err="1">
                <a:solidFill>
                  <a:srgbClr val="FF0000"/>
                </a:solidFill>
              </a:rPr>
              <a:t>Karasek</a:t>
            </a:r>
            <a:r>
              <a:rPr lang="en-IE" dirty="0">
                <a:solidFill>
                  <a:srgbClr val="FF0000"/>
                </a:solidFill>
              </a:rPr>
              <a:t>, 1979)</a:t>
            </a:r>
          </a:p>
          <a:p>
            <a:pPr lvl="1">
              <a:buFont typeface="Wingdings" panose="05000000000000000000" pitchFamily="2" charset="2"/>
              <a:buChar char="§"/>
            </a:pPr>
            <a:r>
              <a:rPr lang="en-IE" dirty="0">
                <a:solidFill>
                  <a:srgbClr val="FF0000"/>
                </a:solidFill>
              </a:rPr>
              <a:t> Demand-Control- Support Model (Johnson and Hall 1988)</a:t>
            </a:r>
          </a:p>
          <a:p>
            <a:pPr lvl="1">
              <a:buFont typeface="Wingdings" panose="05000000000000000000" pitchFamily="2" charset="2"/>
              <a:buChar char="§"/>
            </a:pPr>
            <a:r>
              <a:rPr lang="en-IE" dirty="0"/>
              <a:t> Michigan Model (</a:t>
            </a:r>
            <a:r>
              <a:rPr lang="en-IE" dirty="0" err="1"/>
              <a:t>Chaplan</a:t>
            </a:r>
            <a:r>
              <a:rPr lang="en-IE" dirty="0"/>
              <a:t> et al., 1975)</a:t>
            </a:r>
          </a:p>
          <a:p>
            <a:pPr lvl="1">
              <a:buFont typeface="Wingdings" panose="05000000000000000000" pitchFamily="2" charset="2"/>
              <a:buChar char="§"/>
            </a:pPr>
            <a:r>
              <a:rPr lang="en-IE" dirty="0"/>
              <a:t> Person-Environment Fit Model (French et al., 1982)</a:t>
            </a:r>
          </a:p>
          <a:p>
            <a:pPr lvl="1">
              <a:buFont typeface="Wingdings" panose="05000000000000000000" pitchFamily="2" charset="2"/>
              <a:buChar char="§"/>
            </a:pPr>
            <a:r>
              <a:rPr lang="en-IE" dirty="0"/>
              <a:t> </a:t>
            </a:r>
            <a:r>
              <a:rPr lang="en-IE" dirty="0" err="1"/>
              <a:t>Warr’s</a:t>
            </a:r>
            <a:r>
              <a:rPr lang="en-IE" dirty="0"/>
              <a:t> Vitamin Model (</a:t>
            </a:r>
            <a:r>
              <a:rPr lang="en-IE" dirty="0" err="1"/>
              <a:t>Warr</a:t>
            </a:r>
            <a:r>
              <a:rPr lang="en-IE" dirty="0"/>
              <a:t>, 2009)</a:t>
            </a:r>
          </a:p>
          <a:p>
            <a:r>
              <a:rPr lang="en-IE" dirty="0"/>
              <a:t>Transactional approaches</a:t>
            </a:r>
          </a:p>
          <a:p>
            <a:endParaRPr lang="en-IE" dirty="0"/>
          </a:p>
          <a:p>
            <a:pPr lvl="1">
              <a:buFont typeface="Wingdings" panose="05000000000000000000" pitchFamily="2" charset="2"/>
              <a:buChar char="§"/>
            </a:pPr>
            <a:r>
              <a:rPr lang="en-IE" dirty="0"/>
              <a:t> Dynamic Nature of Stress (Cummings and Cooper, 1979)</a:t>
            </a:r>
          </a:p>
          <a:p>
            <a:pPr lvl="1">
              <a:buFont typeface="Wingdings" panose="05000000000000000000" pitchFamily="2" charset="2"/>
              <a:buChar char="§"/>
            </a:pPr>
            <a:r>
              <a:rPr lang="en-IE" dirty="0"/>
              <a:t> Lazarus and Folkman</a:t>
            </a:r>
          </a:p>
          <a:p>
            <a:pPr lvl="1">
              <a:buFont typeface="Wingdings" panose="05000000000000000000" pitchFamily="2" charset="2"/>
              <a:buChar char="§"/>
            </a:pPr>
            <a:r>
              <a:rPr lang="en-IE" dirty="0"/>
              <a:t> </a:t>
            </a:r>
            <a:r>
              <a:rPr lang="en-IE" dirty="0">
                <a:solidFill>
                  <a:srgbClr val="FF0000"/>
                </a:solidFill>
              </a:rPr>
              <a:t>Cox and MacKay’s transactional model of stress (Cox, 1993)</a:t>
            </a:r>
          </a:p>
          <a:p>
            <a:pPr lvl="1">
              <a:buFont typeface="Wingdings" panose="05000000000000000000" pitchFamily="2" charset="2"/>
              <a:buChar char="§"/>
            </a:pPr>
            <a:r>
              <a:rPr lang="en-IE" dirty="0">
                <a:solidFill>
                  <a:srgbClr val="FF0000"/>
                </a:solidFill>
              </a:rPr>
              <a:t> Effort Reward Imbalance model (</a:t>
            </a:r>
            <a:r>
              <a:rPr lang="en-IE" dirty="0" err="1">
                <a:solidFill>
                  <a:srgbClr val="FF0000"/>
                </a:solidFill>
              </a:rPr>
              <a:t>Siegrist</a:t>
            </a:r>
            <a:r>
              <a:rPr lang="en-IE" dirty="0">
                <a:solidFill>
                  <a:srgbClr val="FF0000"/>
                </a:solidFill>
              </a:rPr>
              <a:t>, 1996)</a:t>
            </a:r>
          </a:p>
          <a:p>
            <a:pPr lvl="1">
              <a:buFont typeface="Wingdings" panose="05000000000000000000" pitchFamily="2" charset="2"/>
              <a:buChar char="§"/>
            </a:pPr>
            <a:endParaRPr lang="en-IE" dirty="0"/>
          </a:p>
          <a:p>
            <a:endParaRPr lang="en-IE" dirty="0"/>
          </a:p>
        </p:txBody>
      </p:sp>
    </p:spTree>
    <p:extLst>
      <p:ext uri="{BB962C8B-B14F-4D97-AF65-F5344CB8AC3E}">
        <p14:creationId xmlns:p14="http://schemas.microsoft.com/office/powerpoint/2010/main" val="3712574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Red toy person in front of two lines of white figures">
            <a:extLst>
              <a:ext uri="{FF2B5EF4-FFF2-40B4-BE49-F238E27FC236}">
                <a16:creationId xmlns:a16="http://schemas.microsoft.com/office/drawing/2014/main" id="{2E4200AD-6951-B609-EF20-2DD0D380CDC3}"/>
              </a:ext>
            </a:extLst>
          </p:cNvPr>
          <p:cNvPicPr>
            <a:picLocks noChangeAspect="1"/>
          </p:cNvPicPr>
          <p:nvPr/>
        </p:nvPicPr>
        <p:blipFill rotWithShape="1">
          <a:blip r:embed="rId2">
            <a:duotone>
              <a:schemeClr val="bg2">
                <a:shade val="45000"/>
                <a:satMod val="135000"/>
              </a:schemeClr>
              <a:prstClr val="white"/>
            </a:duotone>
            <a:alphaModFix amt="35000"/>
          </a:blip>
          <a:srcRect t="14449"/>
          <a:stretch/>
        </p:blipFill>
        <p:spPr>
          <a:xfrm>
            <a:off x="20" y="10"/>
            <a:ext cx="12191980" cy="6857990"/>
          </a:xfrm>
          <a:prstGeom prst="rect">
            <a:avLst/>
          </a:prstGeom>
        </p:spPr>
      </p:pic>
      <p:cxnSp>
        <p:nvCxnSpPr>
          <p:cNvPr id="9" name="Straight Connector 8">
            <a:extLst>
              <a:ext uri="{FF2B5EF4-FFF2-40B4-BE49-F238E27FC236}">
                <a16:creationId xmlns:a16="http://schemas.microsoft.com/office/drawing/2014/main" id="{E9F7CBA9-9D9B-479F-AAB5-BF785971CD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1F81C13-5C09-4CE7-98CF-DC3BADAA0011}"/>
              </a:ext>
            </a:extLst>
          </p:cNvPr>
          <p:cNvSpPr>
            <a:spLocks noGrp="1"/>
          </p:cNvSpPr>
          <p:nvPr>
            <p:ph type="title"/>
          </p:nvPr>
        </p:nvSpPr>
        <p:spPr>
          <a:xfrm>
            <a:off x="1097280" y="286603"/>
            <a:ext cx="10058400" cy="1450757"/>
          </a:xfrm>
        </p:spPr>
        <p:txBody>
          <a:bodyPr>
            <a:normAutofit/>
          </a:bodyPr>
          <a:lstStyle/>
          <a:p>
            <a:r>
              <a:rPr lang="en-GB" dirty="0"/>
              <a:t>Other Models of Stress</a:t>
            </a:r>
          </a:p>
        </p:txBody>
      </p:sp>
      <p:sp>
        <p:nvSpPr>
          <p:cNvPr id="3" name="Content Placeholder 2">
            <a:extLst>
              <a:ext uri="{FF2B5EF4-FFF2-40B4-BE49-F238E27FC236}">
                <a16:creationId xmlns:a16="http://schemas.microsoft.com/office/drawing/2014/main" id="{43655514-38C6-4669-AC6B-7979424AF6A2}"/>
              </a:ext>
            </a:extLst>
          </p:cNvPr>
          <p:cNvSpPr>
            <a:spLocks noGrp="1"/>
          </p:cNvSpPr>
          <p:nvPr>
            <p:ph idx="1"/>
          </p:nvPr>
        </p:nvSpPr>
        <p:spPr>
          <a:xfrm>
            <a:off x="1097280" y="1845734"/>
            <a:ext cx="10058400" cy="4023360"/>
          </a:xfrm>
        </p:spPr>
        <p:txBody>
          <a:bodyPr>
            <a:normAutofit/>
          </a:bodyPr>
          <a:lstStyle/>
          <a:p>
            <a:r>
              <a:rPr lang="en-GB" dirty="0"/>
              <a:t>The </a:t>
            </a:r>
            <a:r>
              <a:rPr lang="en-GB" b="1" dirty="0">
                <a:solidFill>
                  <a:srgbClr val="FF0000"/>
                </a:solidFill>
              </a:rPr>
              <a:t>Conservation of Resources Theory </a:t>
            </a:r>
            <a:r>
              <a:rPr lang="en-GB" dirty="0">
                <a:solidFill>
                  <a:srgbClr val="FF0000"/>
                </a:solidFill>
              </a:rPr>
              <a:t>(</a:t>
            </a:r>
            <a:r>
              <a:rPr lang="en-GB" dirty="0" err="1">
                <a:solidFill>
                  <a:srgbClr val="FF0000"/>
                </a:solidFill>
              </a:rPr>
              <a:t>Hobfoll</a:t>
            </a:r>
            <a:r>
              <a:rPr lang="en-GB" dirty="0">
                <a:solidFill>
                  <a:srgbClr val="FF0000"/>
                </a:solidFill>
              </a:rPr>
              <a:t>, 1989) </a:t>
            </a:r>
            <a:r>
              <a:rPr lang="en-GB" dirty="0"/>
              <a:t>proposes that the stress response is triggered when individuals perceive that they are losing important resources (such as time, money, or social support) faster than they can replenish them. </a:t>
            </a:r>
          </a:p>
          <a:p>
            <a:r>
              <a:rPr lang="en-GB" dirty="0"/>
              <a:t>This can occur when individuals are faced with high job demands, conflict between work and personal life, or other stressors. </a:t>
            </a:r>
          </a:p>
          <a:p>
            <a:r>
              <a:rPr lang="en-GB" dirty="0"/>
              <a:t>The </a:t>
            </a:r>
            <a:r>
              <a:rPr lang="en-GB" b="1" dirty="0">
                <a:solidFill>
                  <a:srgbClr val="FF0000"/>
                </a:solidFill>
              </a:rPr>
              <a:t>Person - Environment Fit Theory (</a:t>
            </a:r>
            <a:r>
              <a:rPr lang="en-GB" dirty="0" err="1">
                <a:solidFill>
                  <a:srgbClr val="FF0000"/>
                </a:solidFill>
              </a:rPr>
              <a:t>Eulberg</a:t>
            </a:r>
            <a:r>
              <a:rPr lang="en-GB" dirty="0">
                <a:solidFill>
                  <a:srgbClr val="FF0000"/>
                </a:solidFill>
              </a:rPr>
              <a:t> et al., 1988) </a:t>
            </a:r>
            <a:r>
              <a:rPr lang="en-GB" dirty="0"/>
              <a:t>suggests that the stress is triggered when there is a poor fit between the characteristics of an individual and the demands of their work environment. </a:t>
            </a:r>
          </a:p>
          <a:p>
            <a:r>
              <a:rPr lang="en-GB" dirty="0"/>
              <a:t>For example, an introverted person may experience stress in a highly social work environment. Research on this theory has included: Person - Job Fit, Person - Organization Fit and Person - Group Fit. The Person - Environment Fit Theory has also been applied to understanding the impact of organizational change and job transitions on employee wellbeing.</a:t>
            </a:r>
          </a:p>
        </p:txBody>
      </p:sp>
      <p:sp>
        <p:nvSpPr>
          <p:cNvPr id="11" name="Rectangle 10">
            <a:extLst>
              <a:ext uri="{FF2B5EF4-FFF2-40B4-BE49-F238E27FC236}">
                <a16:creationId xmlns:a16="http://schemas.microsoft.com/office/drawing/2014/main" id="{154480E5-678B-478F-9170-46502C5FB3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B598D875-841B-47A7-B4C8-237DBCE2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6431243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877824"/>
          </a:xfrm>
        </p:spPr>
        <p:txBody>
          <a:bodyPr/>
          <a:lstStyle/>
          <a:p>
            <a:r>
              <a:rPr lang="en-IE" dirty="0"/>
              <a:t>DMC/S Models of Stress</a:t>
            </a:r>
          </a:p>
        </p:txBody>
      </p:sp>
      <p:sp>
        <p:nvSpPr>
          <p:cNvPr id="3" name="Content Placeholder 2"/>
          <p:cNvSpPr>
            <a:spLocks noGrp="1"/>
          </p:cNvSpPr>
          <p:nvPr>
            <p:ph idx="1"/>
          </p:nvPr>
        </p:nvSpPr>
        <p:spPr>
          <a:xfrm>
            <a:off x="1024128" y="1463040"/>
            <a:ext cx="9720073" cy="4846320"/>
          </a:xfrm>
        </p:spPr>
        <p:txBody>
          <a:bodyPr>
            <a:normAutofit/>
          </a:bodyPr>
          <a:lstStyle/>
          <a:p>
            <a:pPr marL="128016" lvl="1" indent="0">
              <a:buNone/>
            </a:pPr>
            <a:r>
              <a:rPr lang="en-IE" dirty="0">
                <a:solidFill>
                  <a:srgbClr val="FF0000"/>
                </a:solidFill>
              </a:rPr>
              <a:t>Demand Control Model (</a:t>
            </a:r>
            <a:r>
              <a:rPr lang="en-IE" dirty="0" err="1">
                <a:solidFill>
                  <a:srgbClr val="FF0000"/>
                </a:solidFill>
              </a:rPr>
              <a:t>Karasek</a:t>
            </a:r>
            <a:r>
              <a:rPr lang="en-IE" dirty="0">
                <a:solidFill>
                  <a:srgbClr val="FF0000"/>
                </a:solidFill>
              </a:rPr>
              <a:t>, 1979) – Demand x Control</a:t>
            </a:r>
          </a:p>
          <a:p>
            <a:pPr lvl="1"/>
            <a:r>
              <a:rPr lang="en-IE" dirty="0">
                <a:solidFill>
                  <a:srgbClr val="FF0000"/>
                </a:solidFill>
              </a:rPr>
              <a:t> </a:t>
            </a:r>
            <a:r>
              <a:rPr lang="en-IE" dirty="0"/>
              <a:t>Passive job (low demands – low control) -</a:t>
            </a:r>
          </a:p>
          <a:p>
            <a:pPr lvl="1"/>
            <a:r>
              <a:rPr lang="en-IE" dirty="0"/>
              <a:t> high strain job (high demands – low control) -&gt; increased risk of health problems. </a:t>
            </a:r>
          </a:p>
          <a:p>
            <a:pPr lvl="1"/>
            <a:r>
              <a:rPr lang="en-IE" dirty="0"/>
              <a:t> low strain job (low demands – high control)</a:t>
            </a:r>
          </a:p>
          <a:p>
            <a:pPr lvl="1"/>
            <a:r>
              <a:rPr lang="en-IE" dirty="0"/>
              <a:t> active job (high demands – high control) -&gt; healthiest as control is important -&gt; provides better opportunities to deal better with demands faced, and we have basic human need for control </a:t>
            </a:r>
            <a:endParaRPr lang="en-IE" dirty="0">
              <a:solidFill>
                <a:srgbClr val="FF0000"/>
              </a:solidFill>
            </a:endParaRPr>
          </a:p>
          <a:p>
            <a:pPr marL="128016" lvl="1" indent="0">
              <a:buNone/>
            </a:pPr>
            <a:endParaRPr lang="en-IE" dirty="0">
              <a:solidFill>
                <a:srgbClr val="FF0000"/>
              </a:solidFill>
            </a:endParaRPr>
          </a:p>
          <a:p>
            <a:pPr marL="128016" lvl="1" indent="0">
              <a:buNone/>
            </a:pPr>
            <a:r>
              <a:rPr lang="en-IE" dirty="0">
                <a:solidFill>
                  <a:srgbClr val="FF0000"/>
                </a:solidFill>
              </a:rPr>
              <a:t>Demand-Control- Support Model (Johnson and Hall 1988)</a:t>
            </a:r>
          </a:p>
          <a:p>
            <a:pPr lvl="1"/>
            <a:r>
              <a:rPr lang="en-IE" dirty="0"/>
              <a:t> Expanded on DMC model to include social support</a:t>
            </a:r>
          </a:p>
          <a:p>
            <a:pPr lvl="1"/>
            <a:r>
              <a:rPr lang="en-IE" dirty="0"/>
              <a:t> high levels of social support act as a BUFFER against negative effects of work demands (similar effect as control above)</a:t>
            </a:r>
          </a:p>
          <a:p>
            <a:pPr lvl="1"/>
            <a:r>
              <a:rPr lang="en-IE" dirty="0"/>
              <a:t> Thus if a job has similar demands –&gt; job with higher levels of social support = more healthy.</a:t>
            </a:r>
          </a:p>
          <a:p>
            <a:endParaRPr lang="en-IE" dirty="0"/>
          </a:p>
        </p:txBody>
      </p:sp>
    </p:spTree>
    <p:extLst>
      <p:ext uri="{BB962C8B-B14F-4D97-AF65-F5344CB8AC3E}">
        <p14:creationId xmlns:p14="http://schemas.microsoft.com/office/powerpoint/2010/main" val="27189934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diagram of a job&#10;&#10;Description automatically generated">
            <a:extLst>
              <a:ext uri="{FF2B5EF4-FFF2-40B4-BE49-F238E27FC236}">
                <a16:creationId xmlns:a16="http://schemas.microsoft.com/office/drawing/2014/main" id="{3BF629DA-0989-4184-AA7B-FC4642CB83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6904" y="617008"/>
            <a:ext cx="9998191" cy="5623983"/>
          </a:xfrm>
          <a:prstGeom prst="rect">
            <a:avLst/>
          </a:prstGeom>
        </p:spPr>
      </p:pic>
    </p:spTree>
    <p:extLst>
      <p:ext uri="{BB962C8B-B14F-4D97-AF65-F5344CB8AC3E}">
        <p14:creationId xmlns:p14="http://schemas.microsoft.com/office/powerpoint/2010/main" val="6268086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390651" y="301625"/>
            <a:ext cx="10187516" cy="1143000"/>
          </a:xfrm>
        </p:spPr>
        <p:txBody>
          <a:bodyPr/>
          <a:lstStyle/>
          <a:p>
            <a:r>
              <a:rPr lang="en-IE" sz="2800" b="1">
                <a:latin typeface="Calibri" charset="0"/>
              </a:rPr>
              <a:t>Dual Processes of the  JD-R model</a:t>
            </a:r>
            <a:endParaRPr lang="en-GB" sz="2800" b="1">
              <a:latin typeface="Calibri" charset="0"/>
            </a:endParaRPr>
          </a:p>
        </p:txBody>
      </p:sp>
      <p:sp>
        <p:nvSpPr>
          <p:cNvPr id="71683" name="Rectangle 3"/>
          <p:cNvSpPr>
            <a:spLocks noChangeArrowheads="1"/>
          </p:cNvSpPr>
          <p:nvPr/>
        </p:nvSpPr>
        <p:spPr bwMode="auto">
          <a:xfrm>
            <a:off x="1295401" y="2276476"/>
            <a:ext cx="1919817" cy="57626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r>
              <a:rPr lang="en-IE">
                <a:latin typeface="Arial" charset="0"/>
              </a:rPr>
              <a:t>Workload</a:t>
            </a:r>
            <a:endParaRPr lang="en-GB">
              <a:latin typeface="Arial" charset="0"/>
            </a:endParaRPr>
          </a:p>
        </p:txBody>
      </p:sp>
      <p:sp>
        <p:nvSpPr>
          <p:cNvPr id="71684" name="Rectangle 4"/>
          <p:cNvSpPr>
            <a:spLocks noChangeArrowheads="1"/>
          </p:cNvSpPr>
          <p:nvPr/>
        </p:nvSpPr>
        <p:spPr bwMode="auto">
          <a:xfrm>
            <a:off x="1295401" y="3213101"/>
            <a:ext cx="1919817" cy="57626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r>
              <a:rPr lang="en-IE">
                <a:latin typeface="Arial" charset="0"/>
              </a:rPr>
              <a:t>Emotional </a:t>
            </a:r>
          </a:p>
          <a:p>
            <a:pPr algn="ctr"/>
            <a:r>
              <a:rPr lang="en-IE">
                <a:latin typeface="Arial" charset="0"/>
              </a:rPr>
              <a:t>demands</a:t>
            </a:r>
            <a:endParaRPr lang="en-GB">
              <a:latin typeface="Arial" charset="0"/>
            </a:endParaRPr>
          </a:p>
        </p:txBody>
      </p:sp>
      <p:sp>
        <p:nvSpPr>
          <p:cNvPr id="71685" name="Rectangle 5"/>
          <p:cNvSpPr>
            <a:spLocks noChangeArrowheads="1"/>
          </p:cNvSpPr>
          <p:nvPr/>
        </p:nvSpPr>
        <p:spPr bwMode="auto">
          <a:xfrm>
            <a:off x="4176184" y="2708276"/>
            <a:ext cx="1919816" cy="57626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r>
              <a:rPr lang="en-IE">
                <a:latin typeface="Arial" charset="0"/>
              </a:rPr>
              <a:t>Job</a:t>
            </a:r>
          </a:p>
          <a:p>
            <a:pPr algn="ctr"/>
            <a:r>
              <a:rPr lang="en-IE">
                <a:latin typeface="Arial" charset="0"/>
              </a:rPr>
              <a:t>Demands</a:t>
            </a:r>
            <a:endParaRPr lang="en-GB">
              <a:latin typeface="Arial" charset="0"/>
            </a:endParaRPr>
          </a:p>
        </p:txBody>
      </p:sp>
      <p:sp>
        <p:nvSpPr>
          <p:cNvPr id="71686" name="Rectangle 6"/>
          <p:cNvSpPr>
            <a:spLocks noChangeArrowheads="1"/>
          </p:cNvSpPr>
          <p:nvPr/>
        </p:nvSpPr>
        <p:spPr bwMode="auto">
          <a:xfrm>
            <a:off x="6864351" y="2708276"/>
            <a:ext cx="2015067" cy="57626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r>
              <a:rPr lang="en-IE">
                <a:latin typeface="Arial" charset="0"/>
              </a:rPr>
              <a:t>Burnout</a:t>
            </a:r>
            <a:endParaRPr lang="en-GB">
              <a:latin typeface="Arial" charset="0"/>
            </a:endParaRPr>
          </a:p>
        </p:txBody>
      </p:sp>
      <p:sp>
        <p:nvSpPr>
          <p:cNvPr id="71687" name="Rectangle 7"/>
          <p:cNvSpPr>
            <a:spLocks noChangeArrowheads="1"/>
          </p:cNvSpPr>
          <p:nvPr/>
        </p:nvSpPr>
        <p:spPr bwMode="auto">
          <a:xfrm>
            <a:off x="9552517" y="2708276"/>
            <a:ext cx="2015067" cy="57626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r>
              <a:rPr lang="en-IE">
                <a:latin typeface="Arial" charset="0"/>
              </a:rPr>
              <a:t>Health </a:t>
            </a:r>
          </a:p>
          <a:p>
            <a:pPr algn="ctr"/>
            <a:r>
              <a:rPr lang="en-IE">
                <a:latin typeface="Arial" charset="0"/>
              </a:rPr>
              <a:t>Problems</a:t>
            </a:r>
            <a:endParaRPr lang="en-GB">
              <a:latin typeface="Arial" charset="0"/>
            </a:endParaRPr>
          </a:p>
        </p:txBody>
      </p:sp>
      <p:sp>
        <p:nvSpPr>
          <p:cNvPr id="71688" name="Line 8"/>
          <p:cNvSpPr>
            <a:spLocks noChangeShapeType="1"/>
          </p:cNvSpPr>
          <p:nvPr/>
        </p:nvSpPr>
        <p:spPr bwMode="auto">
          <a:xfrm>
            <a:off x="6096001" y="2997200"/>
            <a:ext cx="768351"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71689" name="Line 9"/>
          <p:cNvSpPr>
            <a:spLocks noChangeShapeType="1"/>
          </p:cNvSpPr>
          <p:nvPr/>
        </p:nvSpPr>
        <p:spPr bwMode="auto">
          <a:xfrm>
            <a:off x="8879418" y="2997200"/>
            <a:ext cx="6731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71690" name="Rectangle 10"/>
          <p:cNvSpPr>
            <a:spLocks noChangeArrowheads="1"/>
          </p:cNvSpPr>
          <p:nvPr/>
        </p:nvSpPr>
        <p:spPr bwMode="auto">
          <a:xfrm>
            <a:off x="1390651" y="4652963"/>
            <a:ext cx="1824567" cy="57626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r>
              <a:rPr lang="en-IE">
                <a:latin typeface="Arial" charset="0"/>
              </a:rPr>
              <a:t>Autonomy</a:t>
            </a:r>
            <a:endParaRPr lang="en-GB">
              <a:latin typeface="Arial" charset="0"/>
            </a:endParaRPr>
          </a:p>
        </p:txBody>
      </p:sp>
      <p:sp>
        <p:nvSpPr>
          <p:cNvPr id="71691" name="Rectangle 11"/>
          <p:cNvSpPr>
            <a:spLocks noChangeArrowheads="1"/>
          </p:cNvSpPr>
          <p:nvPr/>
        </p:nvSpPr>
        <p:spPr bwMode="auto">
          <a:xfrm>
            <a:off x="1390651" y="5589588"/>
            <a:ext cx="1727200" cy="6477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r>
              <a:rPr lang="en-IE">
                <a:latin typeface="Arial" charset="0"/>
              </a:rPr>
              <a:t>Social</a:t>
            </a:r>
          </a:p>
          <a:p>
            <a:pPr algn="ctr"/>
            <a:r>
              <a:rPr lang="en-IE">
                <a:latin typeface="Arial" charset="0"/>
              </a:rPr>
              <a:t>Support</a:t>
            </a:r>
            <a:endParaRPr lang="en-GB">
              <a:latin typeface="Arial" charset="0"/>
            </a:endParaRPr>
          </a:p>
        </p:txBody>
      </p:sp>
      <p:sp>
        <p:nvSpPr>
          <p:cNvPr id="71692" name="Rectangle 12"/>
          <p:cNvSpPr>
            <a:spLocks noChangeArrowheads="1"/>
          </p:cNvSpPr>
          <p:nvPr/>
        </p:nvSpPr>
        <p:spPr bwMode="auto">
          <a:xfrm>
            <a:off x="4271433" y="5013326"/>
            <a:ext cx="2017184" cy="57626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r>
              <a:rPr lang="en-IE">
                <a:latin typeface="Arial" charset="0"/>
              </a:rPr>
              <a:t>Job</a:t>
            </a:r>
          </a:p>
          <a:p>
            <a:pPr algn="ctr"/>
            <a:r>
              <a:rPr lang="en-IE">
                <a:latin typeface="Arial" charset="0"/>
              </a:rPr>
              <a:t>Resources</a:t>
            </a:r>
            <a:endParaRPr lang="en-GB">
              <a:latin typeface="Arial" charset="0"/>
            </a:endParaRPr>
          </a:p>
        </p:txBody>
      </p:sp>
      <p:sp>
        <p:nvSpPr>
          <p:cNvPr id="71693" name="Rectangle 13"/>
          <p:cNvSpPr>
            <a:spLocks noChangeArrowheads="1"/>
          </p:cNvSpPr>
          <p:nvPr/>
        </p:nvSpPr>
        <p:spPr bwMode="auto">
          <a:xfrm>
            <a:off x="7152218" y="5013326"/>
            <a:ext cx="2017183" cy="57626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r>
              <a:rPr lang="en-IE">
                <a:latin typeface="Arial" charset="0"/>
              </a:rPr>
              <a:t>Engagement</a:t>
            </a:r>
            <a:endParaRPr lang="en-GB">
              <a:latin typeface="Arial" charset="0"/>
            </a:endParaRPr>
          </a:p>
        </p:txBody>
      </p:sp>
      <p:sp>
        <p:nvSpPr>
          <p:cNvPr id="71694" name="Rectangle 14"/>
          <p:cNvSpPr>
            <a:spLocks noChangeArrowheads="1"/>
          </p:cNvSpPr>
          <p:nvPr/>
        </p:nvSpPr>
        <p:spPr bwMode="auto">
          <a:xfrm>
            <a:off x="9840385" y="4724400"/>
            <a:ext cx="2112433" cy="10810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r>
              <a:rPr lang="en-IE">
                <a:latin typeface="Arial" charset="0"/>
              </a:rPr>
              <a:t>Performance</a:t>
            </a:r>
          </a:p>
          <a:p>
            <a:pPr algn="ctr"/>
            <a:endParaRPr lang="en-IE">
              <a:latin typeface="Arial" charset="0"/>
            </a:endParaRPr>
          </a:p>
          <a:p>
            <a:pPr algn="ctr"/>
            <a:r>
              <a:rPr lang="en-IE">
                <a:latin typeface="Arial" charset="0"/>
              </a:rPr>
              <a:t>Organizational</a:t>
            </a:r>
          </a:p>
          <a:p>
            <a:pPr algn="ctr"/>
            <a:r>
              <a:rPr lang="en-IE">
                <a:latin typeface="Arial" charset="0"/>
              </a:rPr>
              <a:t>Commitment</a:t>
            </a:r>
            <a:endParaRPr lang="en-GB">
              <a:latin typeface="Arial" charset="0"/>
            </a:endParaRPr>
          </a:p>
        </p:txBody>
      </p:sp>
      <p:sp>
        <p:nvSpPr>
          <p:cNvPr id="71695" name="Line 15"/>
          <p:cNvSpPr>
            <a:spLocks noChangeShapeType="1"/>
          </p:cNvSpPr>
          <p:nvPr/>
        </p:nvSpPr>
        <p:spPr bwMode="auto">
          <a:xfrm>
            <a:off x="6288617" y="5300663"/>
            <a:ext cx="863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71696" name="Line 16"/>
          <p:cNvSpPr>
            <a:spLocks noChangeShapeType="1"/>
          </p:cNvSpPr>
          <p:nvPr/>
        </p:nvSpPr>
        <p:spPr bwMode="auto">
          <a:xfrm>
            <a:off x="9169400" y="5300663"/>
            <a:ext cx="67098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71697" name="Line 17"/>
          <p:cNvSpPr>
            <a:spLocks noChangeShapeType="1"/>
          </p:cNvSpPr>
          <p:nvPr/>
        </p:nvSpPr>
        <p:spPr bwMode="auto">
          <a:xfrm flipV="1">
            <a:off x="5232400" y="3284539"/>
            <a:ext cx="0" cy="1728787"/>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71698" name="Text Box 18"/>
          <p:cNvSpPr txBox="1">
            <a:spLocks noChangeArrowheads="1"/>
          </p:cNvSpPr>
          <p:nvPr/>
        </p:nvSpPr>
        <p:spPr bwMode="auto">
          <a:xfrm>
            <a:off x="6191251" y="2565401"/>
            <a:ext cx="480483"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IE">
                <a:latin typeface="Tahoma" charset="0"/>
              </a:rPr>
              <a:t>+</a:t>
            </a:r>
            <a:endParaRPr lang="en-GB">
              <a:latin typeface="Tahoma" charset="0"/>
            </a:endParaRPr>
          </a:p>
        </p:txBody>
      </p:sp>
      <p:sp>
        <p:nvSpPr>
          <p:cNvPr id="71699" name="Text Box 19"/>
          <p:cNvSpPr txBox="1">
            <a:spLocks noChangeArrowheads="1"/>
          </p:cNvSpPr>
          <p:nvPr/>
        </p:nvSpPr>
        <p:spPr bwMode="auto">
          <a:xfrm>
            <a:off x="8976785" y="2636838"/>
            <a:ext cx="383116"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IE">
                <a:latin typeface="Tahoma" charset="0"/>
              </a:rPr>
              <a:t>+</a:t>
            </a:r>
            <a:endParaRPr lang="en-GB">
              <a:latin typeface="Tahoma" charset="0"/>
            </a:endParaRPr>
          </a:p>
        </p:txBody>
      </p:sp>
      <p:sp>
        <p:nvSpPr>
          <p:cNvPr id="71700" name="Text Box 20"/>
          <p:cNvSpPr txBox="1">
            <a:spLocks noChangeArrowheads="1"/>
          </p:cNvSpPr>
          <p:nvPr/>
        </p:nvSpPr>
        <p:spPr bwMode="auto">
          <a:xfrm>
            <a:off x="5327651" y="4076701"/>
            <a:ext cx="480483"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IE">
                <a:latin typeface="Tahoma" charset="0"/>
              </a:rPr>
              <a:t>-</a:t>
            </a:r>
            <a:endParaRPr lang="en-GB">
              <a:latin typeface="Tahoma" charset="0"/>
            </a:endParaRPr>
          </a:p>
        </p:txBody>
      </p:sp>
      <p:sp>
        <p:nvSpPr>
          <p:cNvPr id="71701" name="Text Box 21"/>
          <p:cNvSpPr txBox="1">
            <a:spLocks noChangeArrowheads="1"/>
          </p:cNvSpPr>
          <p:nvPr/>
        </p:nvSpPr>
        <p:spPr bwMode="auto">
          <a:xfrm>
            <a:off x="6383867" y="5002213"/>
            <a:ext cx="480484"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IE">
                <a:latin typeface="Tahoma" charset="0"/>
              </a:rPr>
              <a:t>+</a:t>
            </a:r>
            <a:endParaRPr lang="en-GB">
              <a:latin typeface="Tahoma" charset="0"/>
            </a:endParaRPr>
          </a:p>
        </p:txBody>
      </p:sp>
      <p:sp>
        <p:nvSpPr>
          <p:cNvPr id="71702" name="Text Box 22"/>
          <p:cNvSpPr txBox="1">
            <a:spLocks noChangeArrowheads="1"/>
          </p:cNvSpPr>
          <p:nvPr/>
        </p:nvSpPr>
        <p:spPr bwMode="auto">
          <a:xfrm>
            <a:off x="9264651" y="5002213"/>
            <a:ext cx="383116"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IE">
                <a:latin typeface="Tahoma" charset="0"/>
              </a:rPr>
              <a:t>+</a:t>
            </a:r>
            <a:endParaRPr lang="en-GB">
              <a:latin typeface="Tahoma" charset="0"/>
            </a:endParaRPr>
          </a:p>
        </p:txBody>
      </p:sp>
      <p:sp>
        <p:nvSpPr>
          <p:cNvPr id="71703" name="Text Box 23"/>
          <p:cNvSpPr txBox="1">
            <a:spLocks noChangeArrowheads="1"/>
          </p:cNvSpPr>
          <p:nvPr/>
        </p:nvSpPr>
        <p:spPr bwMode="auto">
          <a:xfrm>
            <a:off x="8015817" y="4149726"/>
            <a:ext cx="287867"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IE">
                <a:latin typeface="Tahoma" charset="0"/>
              </a:rPr>
              <a:t>-</a:t>
            </a:r>
            <a:endParaRPr lang="en-GB">
              <a:latin typeface="Tahoma" charset="0"/>
            </a:endParaRPr>
          </a:p>
        </p:txBody>
      </p:sp>
      <p:sp>
        <p:nvSpPr>
          <p:cNvPr id="71704" name="Line 24"/>
          <p:cNvSpPr>
            <a:spLocks noChangeShapeType="1"/>
          </p:cNvSpPr>
          <p:nvPr/>
        </p:nvSpPr>
        <p:spPr bwMode="auto">
          <a:xfrm flipV="1">
            <a:off x="8015817" y="3284539"/>
            <a:ext cx="0" cy="1728787"/>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71705" name="Text Box 25"/>
          <p:cNvSpPr txBox="1">
            <a:spLocks noChangeArrowheads="1"/>
          </p:cNvSpPr>
          <p:nvPr/>
        </p:nvSpPr>
        <p:spPr bwMode="auto">
          <a:xfrm>
            <a:off x="5039785" y="2122488"/>
            <a:ext cx="2017183"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a:latin typeface="Tahoma" charset="0"/>
            </a:endParaRPr>
          </a:p>
        </p:txBody>
      </p:sp>
      <p:sp>
        <p:nvSpPr>
          <p:cNvPr id="71706" name="Text Box 26"/>
          <p:cNvSpPr txBox="1">
            <a:spLocks noChangeArrowheads="1"/>
          </p:cNvSpPr>
          <p:nvPr/>
        </p:nvSpPr>
        <p:spPr bwMode="auto">
          <a:xfrm>
            <a:off x="5039785" y="5949951"/>
            <a:ext cx="2248294"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IE">
                <a:latin typeface="Tahoma" charset="0"/>
              </a:rPr>
              <a:t>Motivational Process</a:t>
            </a:r>
            <a:endParaRPr lang="en-GB">
              <a:latin typeface="Tahoma" charset="0"/>
            </a:endParaRPr>
          </a:p>
        </p:txBody>
      </p:sp>
      <p:sp>
        <p:nvSpPr>
          <p:cNvPr id="71707" name="Text Box 27"/>
          <p:cNvSpPr txBox="1">
            <a:spLocks noChangeArrowheads="1"/>
          </p:cNvSpPr>
          <p:nvPr/>
        </p:nvSpPr>
        <p:spPr bwMode="auto">
          <a:xfrm>
            <a:off x="5300133" y="1860551"/>
            <a:ext cx="2940115"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IE">
                <a:latin typeface="Tahoma" charset="0"/>
              </a:rPr>
              <a:t>Health Impairment Process</a:t>
            </a:r>
            <a:endParaRPr lang="en-GB">
              <a:latin typeface="Tahoma" charset="0"/>
            </a:endParaRPr>
          </a:p>
        </p:txBody>
      </p:sp>
      <p:sp>
        <p:nvSpPr>
          <p:cNvPr id="71708" name="Line 28"/>
          <p:cNvSpPr>
            <a:spLocks noChangeShapeType="1"/>
          </p:cNvSpPr>
          <p:nvPr/>
        </p:nvSpPr>
        <p:spPr bwMode="auto">
          <a:xfrm flipH="1" flipV="1">
            <a:off x="3215218" y="2565400"/>
            <a:ext cx="960967"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71709" name="Line 29"/>
          <p:cNvSpPr>
            <a:spLocks noChangeShapeType="1"/>
          </p:cNvSpPr>
          <p:nvPr/>
        </p:nvSpPr>
        <p:spPr bwMode="auto">
          <a:xfrm flipH="1">
            <a:off x="3215218" y="2997200"/>
            <a:ext cx="960967" cy="5032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71710" name="Line 30"/>
          <p:cNvSpPr>
            <a:spLocks noChangeShapeType="1"/>
          </p:cNvSpPr>
          <p:nvPr/>
        </p:nvSpPr>
        <p:spPr bwMode="auto">
          <a:xfrm flipH="1" flipV="1">
            <a:off x="3215217" y="5013325"/>
            <a:ext cx="1056216" cy="2873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71711" name="Line 31"/>
          <p:cNvSpPr>
            <a:spLocks noChangeShapeType="1"/>
          </p:cNvSpPr>
          <p:nvPr/>
        </p:nvSpPr>
        <p:spPr bwMode="auto">
          <a:xfrm flipH="1">
            <a:off x="3119966" y="5300663"/>
            <a:ext cx="1151467" cy="5762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Tree>
    <p:extLst>
      <p:ext uri="{BB962C8B-B14F-4D97-AF65-F5344CB8AC3E}">
        <p14:creationId xmlns:p14="http://schemas.microsoft.com/office/powerpoint/2010/main" val="1660147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3D rendering of game pieces tied together with a rope">
            <a:extLst>
              <a:ext uri="{FF2B5EF4-FFF2-40B4-BE49-F238E27FC236}">
                <a16:creationId xmlns:a16="http://schemas.microsoft.com/office/drawing/2014/main" id="{CA5A38DA-ECF0-CE14-1867-A311084357BA}"/>
              </a:ext>
            </a:extLst>
          </p:cNvPr>
          <p:cNvPicPr>
            <a:picLocks noChangeAspect="1"/>
          </p:cNvPicPr>
          <p:nvPr/>
        </p:nvPicPr>
        <p:blipFill rotWithShape="1">
          <a:blip r:embed="rId3">
            <a:duotone>
              <a:schemeClr val="bg2">
                <a:shade val="45000"/>
                <a:satMod val="135000"/>
              </a:schemeClr>
              <a:prstClr val="white"/>
            </a:duotone>
            <a:alphaModFix amt="35000"/>
          </a:blip>
          <a:srcRect t="25000"/>
          <a:stretch/>
        </p:blipFill>
        <p:spPr>
          <a:xfrm>
            <a:off x="20" y="10"/>
            <a:ext cx="12191980" cy="6857990"/>
          </a:xfrm>
          <a:prstGeom prst="rect">
            <a:avLst/>
          </a:prstGeom>
        </p:spPr>
      </p:pic>
      <p:cxnSp>
        <p:nvCxnSpPr>
          <p:cNvPr id="26" name="Straight Connector 17">
            <a:extLst>
              <a:ext uri="{FF2B5EF4-FFF2-40B4-BE49-F238E27FC236}">
                <a16:creationId xmlns:a16="http://schemas.microsoft.com/office/drawing/2014/main" id="{E9F7CBA9-9D9B-479F-AAB5-BF785971CD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097280" y="286603"/>
            <a:ext cx="10058400" cy="1450757"/>
          </a:xfrm>
        </p:spPr>
        <p:txBody>
          <a:bodyPr>
            <a:normAutofit/>
          </a:bodyPr>
          <a:lstStyle/>
          <a:p>
            <a:r>
              <a:rPr lang="en-IE" dirty="0"/>
              <a:t>Transactional Models of Stress</a:t>
            </a:r>
          </a:p>
        </p:txBody>
      </p:sp>
      <p:sp>
        <p:nvSpPr>
          <p:cNvPr id="3" name="Content Placeholder 2"/>
          <p:cNvSpPr>
            <a:spLocks noGrp="1"/>
          </p:cNvSpPr>
          <p:nvPr>
            <p:ph idx="1"/>
          </p:nvPr>
        </p:nvSpPr>
        <p:spPr>
          <a:xfrm>
            <a:off x="1097280" y="1845733"/>
            <a:ext cx="10058400" cy="4488095"/>
          </a:xfrm>
        </p:spPr>
        <p:txBody>
          <a:bodyPr>
            <a:normAutofit lnSpcReduction="10000"/>
          </a:bodyPr>
          <a:lstStyle/>
          <a:p>
            <a:pPr marL="128016" lvl="1" indent="0">
              <a:buNone/>
            </a:pPr>
            <a:r>
              <a:rPr lang="en-IE" dirty="0"/>
              <a:t>Cox and MacKay’s transactional model of stress (Cox, 1993)</a:t>
            </a:r>
          </a:p>
          <a:p>
            <a:pPr lvl="1"/>
            <a:r>
              <a:rPr lang="en-IE" dirty="0"/>
              <a:t> Adds to idea of Lazarus and Folkman (propose that individual evaluates the extent to which situation/event pose a thread to them/gain how they will cope) with 5 stages:</a:t>
            </a:r>
          </a:p>
          <a:p>
            <a:pPr marL="470916" lvl="1" indent="-342900">
              <a:buFont typeface="+mj-lt"/>
              <a:buAutoNum type="arabicPeriod"/>
            </a:pPr>
            <a:r>
              <a:rPr lang="en-IE" dirty="0"/>
              <a:t>The work environment places some demands on the individual</a:t>
            </a:r>
          </a:p>
          <a:p>
            <a:pPr marL="470916" lvl="1" indent="-342900">
              <a:buFont typeface="+mj-lt"/>
              <a:buAutoNum type="arabicPeriod"/>
            </a:pPr>
            <a:r>
              <a:rPr lang="en-IE" dirty="0"/>
              <a:t>The individual evaluates/appraises these demands in relation to their coping abilities</a:t>
            </a:r>
          </a:p>
          <a:p>
            <a:pPr marL="470916" lvl="1" indent="-342900">
              <a:buFont typeface="+mj-lt"/>
              <a:buAutoNum type="arabicPeriod"/>
            </a:pPr>
            <a:r>
              <a:rPr lang="en-IE" dirty="0"/>
              <a:t>If there is a mismatch/imbalance at 2, then individual experience negative emotions (anxiety) and physical changes (raised blood pressure) -&gt; results a coping response</a:t>
            </a:r>
          </a:p>
          <a:p>
            <a:pPr marL="470916" lvl="1" indent="-342900">
              <a:buFont typeface="+mj-lt"/>
              <a:buAutoNum type="arabicPeriod"/>
            </a:pPr>
            <a:r>
              <a:rPr lang="en-IE" dirty="0"/>
              <a:t>There are outcomes of the coping response (e.g., person may be feeling less anxious or even more anxious)</a:t>
            </a:r>
          </a:p>
          <a:p>
            <a:pPr marL="470916" lvl="1" indent="-342900">
              <a:buFont typeface="+mj-lt"/>
              <a:buAutoNum type="arabicPeriod"/>
            </a:pPr>
            <a:r>
              <a:rPr lang="en-IE" dirty="0"/>
              <a:t>The person appraises the effectiveness of the action taken</a:t>
            </a:r>
          </a:p>
          <a:p>
            <a:pPr marL="128016" lvl="1" indent="0">
              <a:buNone/>
            </a:pPr>
            <a:r>
              <a:rPr lang="en-IE" dirty="0"/>
              <a:t>Effort Reward Imbalance model (Siegrist, 1996)</a:t>
            </a:r>
          </a:p>
          <a:p>
            <a:pPr lvl="1"/>
            <a:r>
              <a:rPr lang="en-IE" dirty="0"/>
              <a:t>Emphasises the importance of the balance of two factors – perceived efforts and rewards. </a:t>
            </a:r>
          </a:p>
          <a:p>
            <a:pPr lvl="1"/>
            <a:r>
              <a:rPr lang="en-IE" dirty="0"/>
              <a:t>Negative emotions are experienced when an employee perceives that their efforts aren’t reciprocated -&gt; stress happens </a:t>
            </a:r>
          </a:p>
          <a:p>
            <a:pPr lvl="1"/>
            <a:r>
              <a:rPr lang="en-IE" dirty="0"/>
              <a:t>Some employees over commit hoping to eventually gain reward and recognition.  </a:t>
            </a:r>
          </a:p>
        </p:txBody>
      </p:sp>
      <p:sp>
        <p:nvSpPr>
          <p:cNvPr id="27" name="Rectangle 19">
            <a:extLst>
              <a:ext uri="{FF2B5EF4-FFF2-40B4-BE49-F238E27FC236}">
                <a16:creationId xmlns:a16="http://schemas.microsoft.com/office/drawing/2014/main" id="{154480E5-678B-478F-9170-46502C5FB3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8" name="Rectangle 21">
            <a:extLst>
              <a:ext uri="{FF2B5EF4-FFF2-40B4-BE49-F238E27FC236}">
                <a16:creationId xmlns:a16="http://schemas.microsoft.com/office/drawing/2014/main" id="{B598D875-841B-47A7-B4C8-237DBCE2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5869847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5F85E-5ECD-4049-BA09-FDA4DE746E1A}"/>
              </a:ext>
            </a:extLst>
          </p:cNvPr>
          <p:cNvSpPr>
            <a:spLocks noGrp="1"/>
          </p:cNvSpPr>
          <p:nvPr>
            <p:ph type="title"/>
          </p:nvPr>
        </p:nvSpPr>
        <p:spPr/>
        <p:txBody>
          <a:bodyPr/>
          <a:lstStyle/>
          <a:p>
            <a:r>
              <a:rPr lang="en-GB" dirty="0"/>
              <a:t>Solutions to Stress (CIPD 2021)</a:t>
            </a:r>
          </a:p>
        </p:txBody>
      </p:sp>
      <p:sp>
        <p:nvSpPr>
          <p:cNvPr id="3" name="Content Placeholder 2">
            <a:extLst>
              <a:ext uri="{FF2B5EF4-FFF2-40B4-BE49-F238E27FC236}">
                <a16:creationId xmlns:a16="http://schemas.microsoft.com/office/drawing/2014/main" id="{42B5BA0E-71CD-4DD4-8405-B44F661CDB5F}"/>
              </a:ext>
            </a:extLst>
          </p:cNvPr>
          <p:cNvSpPr>
            <a:spLocks noGrp="1"/>
          </p:cNvSpPr>
          <p:nvPr>
            <p:ph idx="1"/>
          </p:nvPr>
        </p:nvSpPr>
        <p:spPr/>
        <p:txBody>
          <a:bodyPr>
            <a:normAutofit fontScale="92500"/>
          </a:bodyPr>
          <a:lstStyle/>
          <a:p>
            <a:pPr algn="l"/>
            <a:r>
              <a:rPr lang="en-GB" sz="2400" b="1" dirty="0">
                <a:highlight>
                  <a:srgbClr val="FFFF00"/>
                </a:highlight>
              </a:rPr>
              <a:t>Developing an organisational framework </a:t>
            </a:r>
            <a:r>
              <a:rPr lang="en-GB" sz="2400" dirty="0"/>
              <a:t>e.g., </a:t>
            </a:r>
            <a:r>
              <a:rPr lang="en-GB" b="0" i="0" u="none" strike="noStrike" baseline="0" dirty="0">
                <a:solidFill>
                  <a:srgbClr val="58595B"/>
                </a:solidFill>
              </a:rPr>
              <a:t>The Mental Health at Work </a:t>
            </a:r>
          </a:p>
          <a:p>
            <a:pPr algn="l"/>
            <a:r>
              <a:rPr lang="en-GB" b="0" i="0" u="none" strike="noStrike" baseline="0" dirty="0">
                <a:solidFill>
                  <a:srgbClr val="58595B"/>
                </a:solidFill>
              </a:rPr>
              <a:t>Based on the Thriving at work review, it has six standards to achieving better mental health outcomes for employees:</a:t>
            </a:r>
          </a:p>
          <a:p>
            <a:pPr lvl="1"/>
            <a:r>
              <a:rPr lang="en-GB" sz="2000" b="0" i="0" u="none" strike="noStrike" baseline="0" dirty="0">
                <a:solidFill>
                  <a:srgbClr val="58595B"/>
                </a:solidFill>
              </a:rPr>
              <a:t>Prioritise mental health in the workplace by developing and delivering a systematic </a:t>
            </a:r>
            <a:r>
              <a:rPr lang="en-GB" sz="2400" b="0" i="0" u="none" strike="noStrike" baseline="0" dirty="0">
                <a:solidFill>
                  <a:srgbClr val="58595B"/>
                </a:solidFill>
              </a:rPr>
              <a:t>programme of activity.</a:t>
            </a:r>
          </a:p>
          <a:p>
            <a:pPr lvl="1"/>
            <a:r>
              <a:rPr lang="en-GB" sz="2400" b="0" i="0" u="none" strike="noStrike" baseline="0" dirty="0">
                <a:solidFill>
                  <a:srgbClr val="58595B"/>
                </a:solidFill>
              </a:rPr>
              <a:t>Proactively ensure work design and organisational culture drive positive mental health outcomes.</a:t>
            </a:r>
          </a:p>
          <a:p>
            <a:pPr lvl="1"/>
            <a:r>
              <a:rPr lang="en-GB" sz="2400" b="0" i="0" u="none" strike="noStrike" baseline="0" dirty="0">
                <a:solidFill>
                  <a:srgbClr val="58595B"/>
                </a:solidFill>
              </a:rPr>
              <a:t>Promote an open culture around mental health.</a:t>
            </a:r>
          </a:p>
          <a:p>
            <a:pPr lvl="1"/>
            <a:r>
              <a:rPr lang="en-GB" sz="2400" b="0" i="0" u="none" strike="noStrike" baseline="0" dirty="0">
                <a:solidFill>
                  <a:srgbClr val="58595B"/>
                </a:solidFill>
              </a:rPr>
              <a:t>Increase organisational confidence and capability</a:t>
            </a:r>
          </a:p>
          <a:p>
            <a:pPr lvl="1"/>
            <a:r>
              <a:rPr lang="en-GB" sz="2400" b="0" i="0" u="none" strike="noStrike" baseline="0" dirty="0">
                <a:solidFill>
                  <a:srgbClr val="58595B"/>
                </a:solidFill>
              </a:rPr>
              <a:t>Provide mental health tools and support.</a:t>
            </a:r>
          </a:p>
          <a:p>
            <a:pPr lvl="1"/>
            <a:r>
              <a:rPr lang="en-GB" sz="2400" b="0" i="0" u="none" strike="noStrike" baseline="0" dirty="0">
                <a:solidFill>
                  <a:srgbClr val="58595B"/>
                </a:solidFill>
              </a:rPr>
              <a:t>Increase transparency and accountability through internal and external reporting.</a:t>
            </a:r>
            <a:endParaRPr lang="en-GB" sz="2400" dirty="0"/>
          </a:p>
        </p:txBody>
      </p:sp>
    </p:spTree>
    <p:extLst>
      <p:ext uri="{BB962C8B-B14F-4D97-AF65-F5344CB8AC3E}">
        <p14:creationId xmlns:p14="http://schemas.microsoft.com/office/powerpoint/2010/main" val="12942948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5F85E-5ECD-4049-BA09-FDA4DE746E1A}"/>
              </a:ext>
            </a:extLst>
          </p:cNvPr>
          <p:cNvSpPr>
            <a:spLocks noGrp="1"/>
          </p:cNvSpPr>
          <p:nvPr>
            <p:ph type="title"/>
          </p:nvPr>
        </p:nvSpPr>
        <p:spPr/>
        <p:txBody>
          <a:bodyPr/>
          <a:lstStyle/>
          <a:p>
            <a:r>
              <a:rPr lang="en-GB" dirty="0"/>
              <a:t>Solutions to Stress (CIPD 2021)</a:t>
            </a:r>
          </a:p>
        </p:txBody>
      </p:sp>
      <p:sp>
        <p:nvSpPr>
          <p:cNvPr id="3" name="Content Placeholder 2">
            <a:extLst>
              <a:ext uri="{FF2B5EF4-FFF2-40B4-BE49-F238E27FC236}">
                <a16:creationId xmlns:a16="http://schemas.microsoft.com/office/drawing/2014/main" id="{42B5BA0E-71CD-4DD4-8405-B44F661CDB5F}"/>
              </a:ext>
            </a:extLst>
          </p:cNvPr>
          <p:cNvSpPr>
            <a:spLocks noGrp="1"/>
          </p:cNvSpPr>
          <p:nvPr>
            <p:ph idx="1"/>
          </p:nvPr>
        </p:nvSpPr>
        <p:spPr/>
        <p:txBody>
          <a:bodyPr>
            <a:normAutofit fontScale="92500" lnSpcReduction="20000"/>
          </a:bodyPr>
          <a:lstStyle/>
          <a:p>
            <a:pPr algn="l"/>
            <a:r>
              <a:rPr lang="en-GB" sz="2400" b="1" dirty="0">
                <a:highlight>
                  <a:srgbClr val="FFFF00"/>
                </a:highlight>
              </a:rPr>
              <a:t>Developing an organisational framework </a:t>
            </a:r>
            <a:endParaRPr lang="en-GB" sz="2400" dirty="0">
              <a:highlight>
                <a:srgbClr val="FFFF00"/>
              </a:highlight>
            </a:endParaRPr>
          </a:p>
          <a:p>
            <a:pPr algn="l"/>
            <a:r>
              <a:rPr lang="en-GB" sz="2400" dirty="0"/>
              <a:t>The </a:t>
            </a:r>
            <a:r>
              <a:rPr lang="en-GB" sz="2400" dirty="0" err="1"/>
              <a:t>Uks</a:t>
            </a:r>
            <a:r>
              <a:rPr lang="en-GB" sz="2400" dirty="0"/>
              <a:t> HSE(Health and Safety)  lists six main areas of work design which can affect stress levels, which need to be managed properly:</a:t>
            </a:r>
          </a:p>
          <a:p>
            <a:pPr algn="l"/>
            <a:r>
              <a:rPr lang="en-GB" sz="2400" b="1" dirty="0"/>
              <a:t>Demands:</a:t>
            </a:r>
            <a:r>
              <a:rPr lang="en-GB" sz="2400" dirty="0"/>
              <a:t> for example, workload and the working environment.</a:t>
            </a:r>
          </a:p>
          <a:p>
            <a:pPr algn="l"/>
            <a:r>
              <a:rPr lang="en-GB" sz="2400" b="1" dirty="0"/>
              <a:t>Control: </a:t>
            </a:r>
            <a:r>
              <a:rPr lang="en-GB" sz="2400" dirty="0"/>
              <a:t>for example. how much say someone has over their job.</a:t>
            </a:r>
          </a:p>
          <a:p>
            <a:pPr algn="l"/>
            <a:r>
              <a:rPr lang="en-GB" sz="2400" b="1" dirty="0"/>
              <a:t>Support: </a:t>
            </a:r>
            <a:r>
              <a:rPr lang="en-GB" sz="2400" dirty="0"/>
              <a:t>for example, level of supervision and resources available to do the job.</a:t>
            </a:r>
          </a:p>
          <a:p>
            <a:pPr algn="l"/>
            <a:r>
              <a:rPr lang="en-GB" sz="2400" b="1" dirty="0"/>
              <a:t>Relationships: </a:t>
            </a:r>
            <a:r>
              <a:rPr lang="en-GB" sz="2400" dirty="0"/>
              <a:t>for example. promoting positive working to help prevent conflict.</a:t>
            </a:r>
          </a:p>
          <a:p>
            <a:pPr algn="l"/>
            <a:r>
              <a:rPr lang="en-GB" sz="2400" b="1" dirty="0"/>
              <a:t>Role: </a:t>
            </a:r>
            <a:r>
              <a:rPr lang="en-GB" sz="2400" dirty="0"/>
              <a:t>for example, making sure people understand their role and how it fits in the</a:t>
            </a:r>
          </a:p>
          <a:p>
            <a:pPr algn="l"/>
            <a:r>
              <a:rPr lang="en-GB" sz="2400" dirty="0"/>
              <a:t>organisation.</a:t>
            </a:r>
          </a:p>
          <a:p>
            <a:pPr algn="l"/>
            <a:r>
              <a:rPr lang="en-GB" sz="2400" b="1" dirty="0"/>
              <a:t>Change: </a:t>
            </a:r>
            <a:r>
              <a:rPr lang="en-GB" sz="2400" dirty="0"/>
              <a:t>for example, how organisational change is managed and communicated.</a:t>
            </a:r>
          </a:p>
        </p:txBody>
      </p:sp>
    </p:spTree>
    <p:extLst>
      <p:ext uri="{BB962C8B-B14F-4D97-AF65-F5344CB8AC3E}">
        <p14:creationId xmlns:p14="http://schemas.microsoft.com/office/powerpoint/2010/main" val="26509625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8">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0">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D5F85E-5ECD-4049-BA09-FDA4DE746E1A}"/>
              </a:ext>
            </a:extLst>
          </p:cNvPr>
          <p:cNvSpPr>
            <a:spLocks noGrp="1"/>
          </p:cNvSpPr>
          <p:nvPr>
            <p:ph type="title"/>
          </p:nvPr>
        </p:nvSpPr>
        <p:spPr>
          <a:xfrm>
            <a:off x="5181601" y="634946"/>
            <a:ext cx="6368142" cy="1450757"/>
          </a:xfrm>
        </p:spPr>
        <p:txBody>
          <a:bodyPr>
            <a:normAutofit/>
          </a:bodyPr>
          <a:lstStyle/>
          <a:p>
            <a:r>
              <a:rPr lang="en-GB"/>
              <a:t>Solutions to Stress (CIPD 2021)</a:t>
            </a:r>
            <a:endParaRPr lang="en-GB" dirty="0"/>
          </a:p>
        </p:txBody>
      </p:sp>
      <p:pic>
        <p:nvPicPr>
          <p:cNvPr id="17" name="Picture 4" descr="Large skydiving group mid-air">
            <a:extLst>
              <a:ext uri="{FF2B5EF4-FFF2-40B4-BE49-F238E27FC236}">
                <a16:creationId xmlns:a16="http://schemas.microsoft.com/office/drawing/2014/main" id="{87D5650D-BE15-DE27-F84F-792155964E1C}"/>
              </a:ext>
            </a:extLst>
          </p:cNvPr>
          <p:cNvPicPr>
            <a:picLocks noChangeAspect="1"/>
          </p:cNvPicPr>
          <p:nvPr/>
        </p:nvPicPr>
        <p:blipFill rotWithShape="1">
          <a:blip r:embed="rId2"/>
          <a:srcRect l="28058" r="26892" b="2"/>
          <a:stretch/>
        </p:blipFill>
        <p:spPr>
          <a:xfrm>
            <a:off x="20" y="-12128"/>
            <a:ext cx="4654276" cy="6870127"/>
          </a:xfrm>
          <a:prstGeom prst="rect">
            <a:avLst/>
          </a:prstGeom>
        </p:spPr>
      </p:pic>
      <p:cxnSp>
        <p:nvCxnSpPr>
          <p:cNvPr id="18" name="Straight Connector 12">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2B5BA0E-71CD-4DD4-8405-B44F661CDB5F}"/>
              </a:ext>
            </a:extLst>
          </p:cNvPr>
          <p:cNvSpPr>
            <a:spLocks noGrp="1"/>
          </p:cNvSpPr>
          <p:nvPr>
            <p:ph idx="1"/>
          </p:nvPr>
        </p:nvSpPr>
        <p:spPr>
          <a:xfrm>
            <a:off x="5181601" y="2198914"/>
            <a:ext cx="6368142" cy="3670180"/>
          </a:xfrm>
        </p:spPr>
        <p:txBody>
          <a:bodyPr>
            <a:normAutofit/>
          </a:bodyPr>
          <a:lstStyle/>
          <a:p>
            <a:r>
              <a:rPr lang="en-GB" sz="1300" b="1">
                <a:highlight>
                  <a:srgbClr val="FFFF00"/>
                </a:highlight>
              </a:rPr>
              <a:t>ORGANISATIONAL SOLUTIONS</a:t>
            </a:r>
          </a:p>
          <a:p>
            <a:r>
              <a:rPr lang="en-GB" sz="1300"/>
              <a:t>Employee assistance programme.</a:t>
            </a:r>
          </a:p>
          <a:p>
            <a:r>
              <a:rPr lang="en-GB" sz="1300"/>
              <a:t>Staff surveys and/or focus groups to identify causes.</a:t>
            </a:r>
          </a:p>
          <a:p>
            <a:r>
              <a:rPr lang="en-GB" sz="1300"/>
              <a:t>Flexible working options/improved work–life balance.</a:t>
            </a:r>
          </a:p>
          <a:p>
            <a:r>
              <a:rPr lang="en-GB" sz="1300"/>
              <a:t>Risk assessments/stress audits.</a:t>
            </a:r>
          </a:p>
          <a:p>
            <a:r>
              <a:rPr lang="en-GB" sz="1300"/>
              <a:t>Training aimed at building personal resilience (such as coping techniques, mindfulness).</a:t>
            </a:r>
          </a:p>
          <a:p>
            <a:r>
              <a:rPr lang="en-GB" sz="1300"/>
              <a:t>Training for line managers to manage stress.</a:t>
            </a:r>
          </a:p>
          <a:p>
            <a:r>
              <a:rPr lang="en-GB" sz="1300"/>
              <a:t>Involvement of occupational health specialists.</a:t>
            </a:r>
          </a:p>
          <a:p>
            <a:r>
              <a:rPr lang="en-GB" sz="1300"/>
              <a:t>Written stress policy/guidance.</a:t>
            </a:r>
          </a:p>
          <a:p>
            <a:r>
              <a:rPr lang="en-GB" sz="1300"/>
              <a:t>Stress management training for the whole workforce.</a:t>
            </a:r>
          </a:p>
        </p:txBody>
      </p:sp>
    </p:spTree>
    <p:extLst>
      <p:ext uri="{BB962C8B-B14F-4D97-AF65-F5344CB8AC3E}">
        <p14:creationId xmlns:p14="http://schemas.microsoft.com/office/powerpoint/2010/main" val="32818771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D5F85E-5ECD-4049-BA09-FDA4DE746E1A}"/>
              </a:ext>
            </a:extLst>
          </p:cNvPr>
          <p:cNvSpPr>
            <a:spLocks noGrp="1"/>
          </p:cNvSpPr>
          <p:nvPr>
            <p:ph type="title"/>
          </p:nvPr>
        </p:nvSpPr>
        <p:spPr>
          <a:xfrm>
            <a:off x="5181601" y="634946"/>
            <a:ext cx="6368142" cy="1450757"/>
          </a:xfrm>
        </p:spPr>
        <p:txBody>
          <a:bodyPr>
            <a:normAutofit/>
          </a:bodyPr>
          <a:lstStyle/>
          <a:p>
            <a:r>
              <a:rPr lang="en-GB" dirty="0"/>
              <a:t>Solutions to Stress (CIPD 2021)</a:t>
            </a:r>
          </a:p>
        </p:txBody>
      </p:sp>
      <p:pic>
        <p:nvPicPr>
          <p:cNvPr id="5" name="Picture 4" descr="White puzzle with one red piece">
            <a:extLst>
              <a:ext uri="{FF2B5EF4-FFF2-40B4-BE49-F238E27FC236}">
                <a16:creationId xmlns:a16="http://schemas.microsoft.com/office/drawing/2014/main" id="{B81CCBC6-0F45-64D4-E994-AFF22A12CB72}"/>
              </a:ext>
            </a:extLst>
          </p:cNvPr>
          <p:cNvPicPr>
            <a:picLocks noChangeAspect="1"/>
          </p:cNvPicPr>
          <p:nvPr/>
        </p:nvPicPr>
        <p:blipFill rotWithShape="1">
          <a:blip r:embed="rId2"/>
          <a:srcRect l="31748" r="30144"/>
          <a:stretch/>
        </p:blipFill>
        <p:spPr>
          <a:xfrm>
            <a:off x="20" y="-12128"/>
            <a:ext cx="4654276" cy="6870127"/>
          </a:xfrm>
          <a:prstGeom prst="rect">
            <a:avLst/>
          </a:prstGeom>
        </p:spPr>
      </p:pic>
      <p:cxnSp>
        <p:nvCxnSpPr>
          <p:cNvPr id="13" name="Straight Connector 12">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2B5BA0E-71CD-4DD4-8405-B44F661CDB5F}"/>
              </a:ext>
            </a:extLst>
          </p:cNvPr>
          <p:cNvSpPr>
            <a:spLocks noGrp="1"/>
          </p:cNvSpPr>
          <p:nvPr>
            <p:ph idx="1"/>
          </p:nvPr>
        </p:nvSpPr>
        <p:spPr>
          <a:xfrm>
            <a:off x="5181601" y="2198913"/>
            <a:ext cx="6368142" cy="4135401"/>
          </a:xfrm>
        </p:spPr>
        <p:txBody>
          <a:bodyPr>
            <a:normAutofit fontScale="92500" lnSpcReduction="10000"/>
          </a:bodyPr>
          <a:lstStyle/>
          <a:p>
            <a:r>
              <a:rPr lang="en-GB" b="1" dirty="0">
                <a:highlight>
                  <a:srgbClr val="FFFF00"/>
                </a:highlight>
              </a:rPr>
              <a:t>Prevention</a:t>
            </a:r>
          </a:p>
          <a:p>
            <a:r>
              <a:rPr lang="en-GB" sz="2100" b="1" dirty="0"/>
              <a:t>To help prevent workplace stress:</a:t>
            </a:r>
          </a:p>
          <a:p>
            <a:r>
              <a:rPr lang="en-GB" sz="2100" dirty="0"/>
              <a:t>Carry out a stress risk assessment, and then allocate resources to reduce or eliminate the sources of stress.</a:t>
            </a:r>
          </a:p>
          <a:p>
            <a:r>
              <a:rPr lang="en-GB" sz="2100" dirty="0"/>
              <a:t>Give people adequate training and support to do their jobs well.</a:t>
            </a:r>
          </a:p>
          <a:p>
            <a:r>
              <a:rPr lang="en-GB" sz="2100" dirty="0"/>
              <a:t>Increase support for staff during periods of change and uncertainty.</a:t>
            </a:r>
          </a:p>
          <a:p>
            <a:r>
              <a:rPr lang="en-GB" sz="2100" dirty="0"/>
              <a:t>Train line managers to identify potential causes of stress in their teams and manage people, and workloads, effectively.</a:t>
            </a:r>
          </a:p>
          <a:p>
            <a:r>
              <a:rPr lang="en-GB" sz="2100" dirty="0"/>
              <a:t>Increase support for staff during periods of change and uncertainty, particularly important during the ongoing uncertainty caused by the pandemic.</a:t>
            </a:r>
          </a:p>
          <a:p>
            <a:endParaRPr lang="en-GB" dirty="0"/>
          </a:p>
        </p:txBody>
      </p:sp>
    </p:spTree>
    <p:extLst>
      <p:ext uri="{BB962C8B-B14F-4D97-AF65-F5344CB8AC3E}">
        <p14:creationId xmlns:p14="http://schemas.microsoft.com/office/powerpoint/2010/main" val="29906062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D5F85E-5ECD-4049-BA09-FDA4DE746E1A}"/>
              </a:ext>
            </a:extLst>
          </p:cNvPr>
          <p:cNvSpPr>
            <a:spLocks noGrp="1"/>
          </p:cNvSpPr>
          <p:nvPr>
            <p:ph type="title"/>
          </p:nvPr>
        </p:nvSpPr>
        <p:spPr>
          <a:xfrm>
            <a:off x="5181601" y="634946"/>
            <a:ext cx="6368142" cy="1450757"/>
          </a:xfrm>
        </p:spPr>
        <p:txBody>
          <a:bodyPr>
            <a:normAutofit/>
          </a:bodyPr>
          <a:lstStyle/>
          <a:p>
            <a:r>
              <a:rPr lang="en-GB" dirty="0"/>
              <a:t>Solutions to Stress (CIPD 2021)</a:t>
            </a:r>
          </a:p>
        </p:txBody>
      </p:sp>
      <p:pic>
        <p:nvPicPr>
          <p:cNvPr id="5" name="Picture 4" descr="White puzzle with one red piece">
            <a:extLst>
              <a:ext uri="{FF2B5EF4-FFF2-40B4-BE49-F238E27FC236}">
                <a16:creationId xmlns:a16="http://schemas.microsoft.com/office/drawing/2014/main" id="{B81CCBC6-0F45-64D4-E994-AFF22A12CB72}"/>
              </a:ext>
            </a:extLst>
          </p:cNvPr>
          <p:cNvPicPr>
            <a:picLocks noChangeAspect="1"/>
          </p:cNvPicPr>
          <p:nvPr/>
        </p:nvPicPr>
        <p:blipFill rotWithShape="1">
          <a:blip r:embed="rId2"/>
          <a:srcRect l="31748" r="30144"/>
          <a:stretch/>
        </p:blipFill>
        <p:spPr>
          <a:xfrm>
            <a:off x="20" y="-12128"/>
            <a:ext cx="4654276" cy="6870127"/>
          </a:xfrm>
          <a:prstGeom prst="rect">
            <a:avLst/>
          </a:prstGeom>
        </p:spPr>
      </p:pic>
      <p:cxnSp>
        <p:nvCxnSpPr>
          <p:cNvPr id="13" name="Straight Connector 12">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2B5BA0E-71CD-4DD4-8405-B44F661CDB5F}"/>
              </a:ext>
            </a:extLst>
          </p:cNvPr>
          <p:cNvSpPr>
            <a:spLocks noGrp="1"/>
          </p:cNvSpPr>
          <p:nvPr>
            <p:ph idx="1"/>
          </p:nvPr>
        </p:nvSpPr>
        <p:spPr>
          <a:xfrm>
            <a:off x="4838700" y="2198913"/>
            <a:ext cx="7029450" cy="4278084"/>
          </a:xfrm>
        </p:spPr>
        <p:txBody>
          <a:bodyPr>
            <a:normAutofit fontScale="92500" lnSpcReduction="10000"/>
          </a:bodyPr>
          <a:lstStyle/>
          <a:p>
            <a:r>
              <a:rPr lang="en-GB" b="1" dirty="0">
                <a:highlight>
                  <a:srgbClr val="FFFF00"/>
                </a:highlight>
              </a:rPr>
              <a:t>Early Intervention</a:t>
            </a:r>
          </a:p>
          <a:p>
            <a:r>
              <a:rPr lang="en-GB" dirty="0"/>
              <a:t>Spotting and addressing early signs of an issue can prevent it escalating.</a:t>
            </a:r>
          </a:p>
          <a:p>
            <a:r>
              <a:rPr lang="en-GB" dirty="0"/>
              <a:t>Line Managers are essential to spotting possible issues with many org developing different toolkits for managers (communication)</a:t>
            </a:r>
          </a:p>
          <a:p>
            <a:r>
              <a:rPr lang="en-GB" b="1" dirty="0"/>
              <a:t>Employers should invest in:</a:t>
            </a:r>
          </a:p>
          <a:p>
            <a:r>
              <a:rPr lang="en-GB" dirty="0"/>
              <a:t>Developing the people management skills and confidence of managers so they can have sensitive conversations with staff.</a:t>
            </a:r>
          </a:p>
          <a:p>
            <a:r>
              <a:rPr lang="en-GB" dirty="0"/>
              <a:t>Developing a supportive work culture to encourage staff to discuss and seek support when experiencing stress.</a:t>
            </a:r>
          </a:p>
          <a:p>
            <a:r>
              <a:rPr lang="en-GB" dirty="0"/>
              <a:t>Providing, and signposting to, sources of support, for example a counselling service, employee assistance programme and charities.</a:t>
            </a:r>
          </a:p>
        </p:txBody>
      </p:sp>
    </p:spTree>
    <p:extLst>
      <p:ext uri="{BB962C8B-B14F-4D97-AF65-F5344CB8AC3E}">
        <p14:creationId xmlns:p14="http://schemas.microsoft.com/office/powerpoint/2010/main" val="39696079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D5F85E-5ECD-4049-BA09-FDA4DE746E1A}"/>
              </a:ext>
            </a:extLst>
          </p:cNvPr>
          <p:cNvSpPr>
            <a:spLocks noGrp="1"/>
          </p:cNvSpPr>
          <p:nvPr>
            <p:ph type="title"/>
          </p:nvPr>
        </p:nvSpPr>
        <p:spPr>
          <a:xfrm>
            <a:off x="5181601" y="634946"/>
            <a:ext cx="6368142" cy="1450757"/>
          </a:xfrm>
        </p:spPr>
        <p:txBody>
          <a:bodyPr>
            <a:normAutofit/>
          </a:bodyPr>
          <a:lstStyle/>
          <a:p>
            <a:r>
              <a:rPr lang="en-GB" dirty="0"/>
              <a:t>Solutions to Stress (CIPD 2021)</a:t>
            </a:r>
          </a:p>
        </p:txBody>
      </p:sp>
      <p:pic>
        <p:nvPicPr>
          <p:cNvPr id="5" name="Picture 4" descr="White puzzle with one red piece">
            <a:extLst>
              <a:ext uri="{FF2B5EF4-FFF2-40B4-BE49-F238E27FC236}">
                <a16:creationId xmlns:a16="http://schemas.microsoft.com/office/drawing/2014/main" id="{B81CCBC6-0F45-64D4-E994-AFF22A12CB72}"/>
              </a:ext>
            </a:extLst>
          </p:cNvPr>
          <p:cNvPicPr>
            <a:picLocks noChangeAspect="1"/>
          </p:cNvPicPr>
          <p:nvPr/>
        </p:nvPicPr>
        <p:blipFill rotWithShape="1">
          <a:blip r:embed="rId2"/>
          <a:srcRect l="31748" r="30144"/>
          <a:stretch/>
        </p:blipFill>
        <p:spPr>
          <a:xfrm>
            <a:off x="20" y="-12128"/>
            <a:ext cx="4654276" cy="6870127"/>
          </a:xfrm>
          <a:prstGeom prst="rect">
            <a:avLst/>
          </a:prstGeom>
        </p:spPr>
      </p:pic>
      <p:cxnSp>
        <p:nvCxnSpPr>
          <p:cNvPr id="13" name="Straight Connector 12">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2B5BA0E-71CD-4DD4-8405-B44F661CDB5F}"/>
              </a:ext>
            </a:extLst>
          </p:cNvPr>
          <p:cNvSpPr>
            <a:spLocks noGrp="1"/>
          </p:cNvSpPr>
          <p:nvPr>
            <p:ph idx="1"/>
          </p:nvPr>
        </p:nvSpPr>
        <p:spPr>
          <a:xfrm>
            <a:off x="4933950" y="2198912"/>
            <a:ext cx="6991349" cy="4430483"/>
          </a:xfrm>
        </p:spPr>
        <p:txBody>
          <a:bodyPr>
            <a:normAutofit/>
          </a:bodyPr>
          <a:lstStyle/>
          <a:p>
            <a:r>
              <a:rPr lang="en-GB" b="1" dirty="0">
                <a:highlight>
                  <a:srgbClr val="FFFF00"/>
                </a:highlight>
              </a:rPr>
              <a:t>The Role of LMs – 61% of organisations train their managers to help with stress</a:t>
            </a:r>
          </a:p>
          <a:p>
            <a:r>
              <a:rPr lang="en-GB" dirty="0"/>
              <a:t>Line Managers – best placed to know demands of TM, personal needs and circumstances, and identify possible triggers of stress. Often first point of contact. So LMs need to  </a:t>
            </a:r>
          </a:p>
          <a:p>
            <a:r>
              <a:rPr lang="en-GB" b="1" dirty="0"/>
              <a:t>Get to know your team better.</a:t>
            </a:r>
          </a:p>
          <a:p>
            <a:r>
              <a:rPr lang="en-GB" b="1" dirty="0"/>
              <a:t>Lead by example to promote healthy working habits.</a:t>
            </a:r>
          </a:p>
          <a:p>
            <a:r>
              <a:rPr lang="en-GB" b="1" dirty="0"/>
              <a:t>Review workloads, duties and responsibilities.</a:t>
            </a:r>
          </a:p>
          <a:p>
            <a:r>
              <a:rPr lang="en-GB" b="1" dirty="0"/>
              <a:t>Reflect on your management style.</a:t>
            </a:r>
          </a:p>
          <a:p>
            <a:r>
              <a:rPr lang="en-GB" b="1" dirty="0"/>
              <a:t>Discourage ‘presenteeism’ in your team.</a:t>
            </a:r>
          </a:p>
          <a:p>
            <a:r>
              <a:rPr lang="en-GB" b="1" dirty="0"/>
              <a:t>Manage the mental health of your team while remote working.</a:t>
            </a:r>
          </a:p>
          <a:p>
            <a:endParaRPr lang="en-GB" dirty="0"/>
          </a:p>
        </p:txBody>
      </p:sp>
    </p:spTree>
    <p:extLst>
      <p:ext uri="{BB962C8B-B14F-4D97-AF65-F5344CB8AC3E}">
        <p14:creationId xmlns:p14="http://schemas.microsoft.com/office/powerpoint/2010/main" val="39815940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p:cNvSpPr>
          <p:nvPr>
            <p:ph type="title"/>
          </p:nvPr>
        </p:nvSpPr>
        <p:spPr>
          <a:xfrm>
            <a:off x="1981200" y="273968"/>
            <a:ext cx="8229600" cy="850776"/>
          </a:xfrm>
        </p:spPr>
        <p:txBody>
          <a:bodyPr>
            <a:normAutofit fontScale="90000"/>
          </a:bodyPr>
          <a:lstStyle/>
          <a:p>
            <a:r>
              <a:rPr lang="en-IE" dirty="0">
                <a:ea typeface="ＭＳ Ｐゴシック" pitchFamily="-106" charset="-128"/>
              </a:rPr>
              <a:t>A Working Model of Stress</a:t>
            </a:r>
            <a:r>
              <a:rPr lang="en-IE" sz="3200" dirty="0">
                <a:ea typeface="ＭＳ Ｐゴシック" pitchFamily="-106" charset="-128"/>
              </a:rPr>
              <a:t> </a:t>
            </a:r>
            <a:br>
              <a:rPr lang="en-IE" sz="3200" dirty="0">
                <a:ea typeface="ＭＳ Ｐゴシック" pitchFamily="-106" charset="-128"/>
              </a:rPr>
            </a:br>
            <a:r>
              <a:rPr lang="en-IE" sz="2000" dirty="0">
                <a:ea typeface="ＭＳ Ｐゴシック" pitchFamily="-106" charset="-128"/>
              </a:rPr>
              <a:t>Rollinson (2008)</a:t>
            </a:r>
            <a:endParaRPr lang="en-GB" sz="2000" dirty="0">
              <a:ea typeface="ＭＳ Ｐゴシック" pitchFamily="-106" charset="-128"/>
            </a:endParaRPr>
          </a:p>
        </p:txBody>
      </p:sp>
      <p:pic>
        <p:nvPicPr>
          <p:cNvPr id="49155" name="Picture 3" descr="C10NF00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919288" y="1600201"/>
            <a:ext cx="8280400" cy="5084763"/>
          </a:xfrm>
          <a:noFill/>
        </p:spPr>
      </p:pic>
    </p:spTree>
    <p:extLst>
      <p:ext uri="{BB962C8B-B14F-4D97-AF65-F5344CB8AC3E}">
        <p14:creationId xmlns:p14="http://schemas.microsoft.com/office/powerpoint/2010/main" val="34762609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969264"/>
          </a:xfrm>
        </p:spPr>
        <p:txBody>
          <a:bodyPr>
            <a:normAutofit/>
          </a:bodyPr>
          <a:lstStyle/>
          <a:p>
            <a:r>
              <a:rPr lang="en-IE" dirty="0"/>
              <a:t>Assessing consequences and costs: </a:t>
            </a:r>
          </a:p>
        </p:txBody>
      </p:sp>
      <p:sp>
        <p:nvSpPr>
          <p:cNvPr id="3" name="Content Placeholder 2"/>
          <p:cNvSpPr>
            <a:spLocks noGrp="1"/>
          </p:cNvSpPr>
          <p:nvPr>
            <p:ph idx="1"/>
          </p:nvPr>
        </p:nvSpPr>
        <p:spPr>
          <a:xfrm>
            <a:off x="1024128" y="1813560"/>
            <a:ext cx="9720073" cy="4495800"/>
          </a:xfrm>
        </p:spPr>
        <p:txBody>
          <a:bodyPr/>
          <a:lstStyle/>
          <a:p>
            <a:r>
              <a:rPr lang="en-IE" dirty="0"/>
              <a:t>The measures most frequently used to examine health and well being at work can be grouped into four groups</a:t>
            </a:r>
          </a:p>
          <a:p>
            <a:endParaRPr lang="en-IE" dirty="0"/>
          </a:p>
          <a:p>
            <a:pPr marL="457200" indent="-457200">
              <a:buFont typeface="+mj-lt"/>
              <a:buAutoNum type="arabicPeriod"/>
            </a:pPr>
            <a:r>
              <a:rPr lang="en-IE" dirty="0"/>
              <a:t>Organisational Measures</a:t>
            </a:r>
          </a:p>
          <a:p>
            <a:pPr marL="457200" indent="-457200">
              <a:buFont typeface="+mj-lt"/>
              <a:buAutoNum type="arabicPeriod"/>
            </a:pPr>
            <a:r>
              <a:rPr lang="en-IE" dirty="0"/>
              <a:t>Psychological Measures</a:t>
            </a:r>
          </a:p>
          <a:p>
            <a:pPr marL="457200" indent="-457200">
              <a:buFont typeface="+mj-lt"/>
              <a:buAutoNum type="arabicPeriod"/>
            </a:pPr>
            <a:r>
              <a:rPr lang="en-IE" dirty="0"/>
              <a:t>Physiological Measures</a:t>
            </a:r>
          </a:p>
          <a:p>
            <a:pPr marL="457200" indent="-457200">
              <a:buFont typeface="+mj-lt"/>
              <a:buAutoNum type="arabicPeriod"/>
            </a:pPr>
            <a:r>
              <a:rPr lang="en-IE" dirty="0"/>
              <a:t>Measures of health-related </a:t>
            </a:r>
            <a:r>
              <a:rPr lang="en-IE" dirty="0" err="1"/>
              <a:t>beahviours</a:t>
            </a:r>
            <a:endParaRPr lang="en-IE" dirty="0"/>
          </a:p>
        </p:txBody>
      </p:sp>
    </p:spTree>
    <p:extLst>
      <p:ext uri="{BB962C8B-B14F-4D97-AF65-F5344CB8AC3E}">
        <p14:creationId xmlns:p14="http://schemas.microsoft.com/office/powerpoint/2010/main" val="30193907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969264"/>
          </a:xfrm>
        </p:spPr>
        <p:txBody>
          <a:bodyPr>
            <a:normAutofit/>
          </a:bodyPr>
          <a:lstStyle/>
          <a:p>
            <a:r>
              <a:rPr lang="en-IE" dirty="0"/>
              <a:t>Organisational Measures</a:t>
            </a:r>
          </a:p>
        </p:txBody>
      </p:sp>
      <p:sp>
        <p:nvSpPr>
          <p:cNvPr id="3" name="Content Placeholder 2"/>
          <p:cNvSpPr>
            <a:spLocks noGrp="1"/>
          </p:cNvSpPr>
          <p:nvPr>
            <p:ph idx="1"/>
          </p:nvPr>
        </p:nvSpPr>
        <p:spPr>
          <a:xfrm>
            <a:off x="1024128" y="1813560"/>
            <a:ext cx="9720073" cy="4495800"/>
          </a:xfrm>
        </p:spPr>
        <p:txBody>
          <a:bodyPr/>
          <a:lstStyle/>
          <a:p>
            <a:r>
              <a:rPr lang="en-IE" dirty="0"/>
              <a:t>Organisational measures include absence levels, various measures of job performance, accidents and near miss incidents and actual staff turnover. </a:t>
            </a:r>
          </a:p>
          <a:p>
            <a:pPr marL="128016" lvl="1" indent="0">
              <a:buNone/>
            </a:pPr>
            <a:endParaRPr lang="en-IE" dirty="0"/>
          </a:p>
          <a:p>
            <a:pPr lvl="1">
              <a:buFont typeface="Wingdings" panose="05000000000000000000" pitchFamily="2" charset="2"/>
              <a:buChar char="q"/>
            </a:pPr>
            <a:r>
              <a:rPr lang="en-IE" sz="2000" dirty="0"/>
              <a:t> Absenteeism/</a:t>
            </a:r>
            <a:r>
              <a:rPr lang="en-IE" sz="2000" dirty="0" err="1"/>
              <a:t>Presenteeism</a:t>
            </a:r>
            <a:r>
              <a:rPr lang="en-IE" sz="2000" dirty="0"/>
              <a:t> is one of the obvious costs of stress to employers. </a:t>
            </a:r>
          </a:p>
          <a:p>
            <a:pPr lvl="1">
              <a:buFont typeface="Wingdings" panose="05000000000000000000" pitchFamily="2" charset="2"/>
              <a:buChar char="q"/>
            </a:pPr>
            <a:r>
              <a:rPr lang="en-IE" sz="2000" dirty="0"/>
              <a:t> Turnover has been shown to be linked to working conditions in q number of studies (see Bond et al., 2006). This can be quite expensive.</a:t>
            </a:r>
          </a:p>
          <a:p>
            <a:pPr lvl="1">
              <a:buFont typeface="Wingdings" panose="05000000000000000000" pitchFamily="2" charset="2"/>
              <a:buChar char="q"/>
            </a:pPr>
            <a:endParaRPr lang="en-IE" sz="1600" dirty="0"/>
          </a:p>
          <a:p>
            <a:pPr marL="128016" lvl="1" indent="0">
              <a:buNone/>
            </a:pPr>
            <a:r>
              <a:rPr lang="en-IE" sz="2200" dirty="0"/>
              <a:t>Organisational measures are often thought to be a good measure of work stress because the data are ‘objective’ and are value to the organisation. If absence and turnover rates are reduced, cost savings can be calculated. </a:t>
            </a:r>
          </a:p>
        </p:txBody>
      </p:sp>
    </p:spTree>
    <p:extLst>
      <p:ext uri="{BB962C8B-B14F-4D97-AF65-F5344CB8AC3E}">
        <p14:creationId xmlns:p14="http://schemas.microsoft.com/office/powerpoint/2010/main" val="28796953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7720" y="585216"/>
            <a:ext cx="10271760" cy="969264"/>
          </a:xfrm>
        </p:spPr>
        <p:txBody>
          <a:bodyPr>
            <a:normAutofit fontScale="90000"/>
          </a:bodyPr>
          <a:lstStyle/>
          <a:p>
            <a:r>
              <a:rPr lang="en-IE" dirty="0"/>
              <a:t>Psychological and physical health Measures</a:t>
            </a:r>
          </a:p>
        </p:txBody>
      </p:sp>
      <p:sp>
        <p:nvSpPr>
          <p:cNvPr id="3" name="Content Placeholder 2"/>
          <p:cNvSpPr>
            <a:spLocks noGrp="1"/>
          </p:cNvSpPr>
          <p:nvPr>
            <p:ph idx="1"/>
          </p:nvPr>
        </p:nvSpPr>
        <p:spPr>
          <a:xfrm>
            <a:off x="807720" y="1554480"/>
            <a:ext cx="10988040" cy="5303520"/>
          </a:xfrm>
        </p:spPr>
        <p:txBody>
          <a:bodyPr>
            <a:normAutofit/>
          </a:bodyPr>
          <a:lstStyle/>
          <a:p>
            <a:r>
              <a:rPr lang="en-IE" dirty="0"/>
              <a:t>Psychological data can also be classified as organisational measure: known as individual-organisation interface.</a:t>
            </a:r>
          </a:p>
          <a:p>
            <a:pPr lvl="1">
              <a:buFont typeface="Wingdings" panose="05000000000000000000" pitchFamily="2" charset="2"/>
              <a:buChar char="q"/>
            </a:pPr>
            <a:r>
              <a:rPr lang="en-IE" sz="2000" dirty="0"/>
              <a:t> Physical Health measures – Morbidity, heart disease, strokes, </a:t>
            </a:r>
            <a:r>
              <a:rPr lang="en-IE" sz="2000" dirty="0" err="1"/>
              <a:t>insuries</a:t>
            </a:r>
            <a:r>
              <a:rPr lang="en-IE" sz="2000" dirty="0"/>
              <a:t>, suicide and cancer, chronic liver disease and bronchial complaints. </a:t>
            </a:r>
          </a:p>
          <a:p>
            <a:pPr lvl="1">
              <a:buFont typeface="Wingdings" panose="05000000000000000000" pitchFamily="2" charset="2"/>
              <a:buChar char="q"/>
            </a:pPr>
            <a:r>
              <a:rPr lang="en-IE" sz="2000" dirty="0"/>
              <a:t> </a:t>
            </a:r>
            <a:r>
              <a:rPr lang="en-IE" sz="2000" dirty="0" err="1"/>
              <a:t>Musculoskeleton</a:t>
            </a:r>
            <a:r>
              <a:rPr lang="en-IE" sz="2000" dirty="0"/>
              <a:t> issues. </a:t>
            </a:r>
          </a:p>
          <a:p>
            <a:pPr marL="128016" lvl="1" indent="0">
              <a:buNone/>
            </a:pPr>
            <a:r>
              <a:rPr lang="en-IE" sz="2000" dirty="0"/>
              <a:t>Problem with these outcome measures is that show impact of stress AFTER problem arises. </a:t>
            </a:r>
          </a:p>
          <a:p>
            <a:pPr marL="128016" lvl="1" indent="0">
              <a:buNone/>
            </a:pPr>
            <a:endParaRPr lang="en-IE" sz="2000" dirty="0"/>
          </a:p>
          <a:p>
            <a:pPr marL="128016" lvl="1" indent="0">
              <a:buNone/>
            </a:pPr>
            <a:r>
              <a:rPr lang="en-IE" sz="2000" dirty="0"/>
              <a:t>There are many health and well being self-reports. </a:t>
            </a:r>
          </a:p>
          <a:p>
            <a:pPr lvl="1">
              <a:buFont typeface="Wingdings" panose="05000000000000000000" pitchFamily="2" charset="2"/>
              <a:buChar char="q"/>
            </a:pPr>
            <a:r>
              <a:rPr lang="en-IE" sz="2000" dirty="0"/>
              <a:t> General Health Questionnaire – measures symptoms of anxiety, depression, social dysfunction and loss of confident.</a:t>
            </a:r>
          </a:p>
          <a:p>
            <a:pPr lvl="1">
              <a:buFont typeface="Wingdings" panose="05000000000000000000" pitchFamily="2" charset="2"/>
              <a:buChar char="q"/>
            </a:pPr>
            <a:r>
              <a:rPr lang="en-IE" sz="2000" dirty="0" err="1"/>
              <a:t>Maslach</a:t>
            </a:r>
            <a:r>
              <a:rPr lang="en-IE" sz="2000" dirty="0"/>
              <a:t> Burnout Inventory (</a:t>
            </a:r>
            <a:r>
              <a:rPr lang="en-IE" sz="2000" dirty="0" err="1"/>
              <a:t>Maslach</a:t>
            </a:r>
            <a:r>
              <a:rPr lang="en-IE" sz="2000" dirty="0"/>
              <a:t> and Jackson 1981) identified three subscales of burnout</a:t>
            </a:r>
            <a:endParaRPr lang="en-IE" sz="1200" dirty="0"/>
          </a:p>
          <a:p>
            <a:pPr lvl="1">
              <a:buFont typeface="Wingdings" panose="05000000000000000000" pitchFamily="2" charset="2"/>
              <a:buChar char="q"/>
            </a:pPr>
            <a:r>
              <a:rPr lang="en-IE" sz="1200" dirty="0"/>
              <a:t> </a:t>
            </a:r>
            <a:r>
              <a:rPr lang="en-IE" dirty="0">
                <a:solidFill>
                  <a:srgbClr val="FF0000"/>
                </a:solidFill>
              </a:rPr>
              <a:t>Emotional exhaustion </a:t>
            </a:r>
            <a:r>
              <a:rPr lang="en-IE" dirty="0"/>
              <a:t>– feelings of being emotionally overstretched and exhausted by work</a:t>
            </a:r>
          </a:p>
          <a:p>
            <a:pPr lvl="1">
              <a:buFont typeface="Wingdings" panose="05000000000000000000" pitchFamily="2" charset="2"/>
              <a:buChar char="q"/>
            </a:pPr>
            <a:r>
              <a:rPr lang="en-IE" dirty="0"/>
              <a:t> </a:t>
            </a:r>
            <a:r>
              <a:rPr lang="en-IE" dirty="0">
                <a:solidFill>
                  <a:srgbClr val="FF0000"/>
                </a:solidFill>
              </a:rPr>
              <a:t>Depersonalisation</a:t>
            </a:r>
            <a:r>
              <a:rPr lang="en-IE" dirty="0"/>
              <a:t> – an unfeeling and impersonal response to clients</a:t>
            </a:r>
          </a:p>
          <a:p>
            <a:pPr lvl="1">
              <a:buFont typeface="Wingdings" panose="05000000000000000000" pitchFamily="2" charset="2"/>
              <a:buChar char="q"/>
            </a:pPr>
            <a:r>
              <a:rPr lang="en-IE" dirty="0"/>
              <a:t> </a:t>
            </a:r>
            <a:r>
              <a:rPr lang="en-IE" dirty="0">
                <a:solidFill>
                  <a:srgbClr val="FF0000"/>
                </a:solidFill>
              </a:rPr>
              <a:t>Personal accomplishment </a:t>
            </a:r>
            <a:r>
              <a:rPr lang="en-IE" dirty="0"/>
              <a:t>– Feelings of competence and successful achievement at work</a:t>
            </a:r>
          </a:p>
        </p:txBody>
      </p:sp>
    </p:spTree>
    <p:extLst>
      <p:ext uri="{BB962C8B-B14F-4D97-AF65-F5344CB8AC3E}">
        <p14:creationId xmlns:p14="http://schemas.microsoft.com/office/powerpoint/2010/main" val="18010575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p:cNvSpPr>
          <p:nvPr>
            <p:ph type="title"/>
          </p:nvPr>
        </p:nvSpPr>
        <p:spPr>
          <a:xfrm>
            <a:off x="1981200" y="404665"/>
            <a:ext cx="8229600" cy="791493"/>
          </a:xfrm>
        </p:spPr>
        <p:txBody>
          <a:bodyPr>
            <a:normAutofit fontScale="90000"/>
          </a:bodyPr>
          <a:lstStyle/>
          <a:p>
            <a:r>
              <a:rPr lang="en-IE" dirty="0">
                <a:ea typeface="ＭＳ Ｐゴシック" pitchFamily="-106" charset="-128"/>
              </a:rPr>
              <a:t>Interventions/Managing Stress</a:t>
            </a:r>
            <a:br>
              <a:rPr lang="en-IE" dirty="0">
                <a:ea typeface="ＭＳ Ｐゴシック" pitchFamily="-106" charset="-128"/>
              </a:rPr>
            </a:br>
            <a:r>
              <a:rPr lang="en-IE" sz="2000" dirty="0">
                <a:ea typeface="ＭＳ Ｐゴシック" pitchFamily="-106" charset="-128"/>
              </a:rPr>
              <a:t>Rollinson (2008)</a:t>
            </a:r>
            <a:endParaRPr lang="en-GB" sz="2000" dirty="0">
              <a:ea typeface="ＭＳ Ｐゴシック" pitchFamily="-106" charset="-128"/>
            </a:endParaRPr>
          </a:p>
        </p:txBody>
      </p:sp>
      <p:pic>
        <p:nvPicPr>
          <p:cNvPr id="50179" name="Picture 3" descr="C10NF005"/>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1981200" y="1601545"/>
            <a:ext cx="8229600" cy="4874111"/>
          </a:xfrm>
          <a:noFill/>
        </p:spPr>
      </p:pic>
    </p:spTree>
    <p:extLst>
      <p:ext uri="{BB962C8B-B14F-4D97-AF65-F5344CB8AC3E}">
        <p14:creationId xmlns:p14="http://schemas.microsoft.com/office/powerpoint/2010/main" val="29728198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Downsizing Survivor Syndrome</a:t>
            </a:r>
          </a:p>
        </p:txBody>
      </p:sp>
      <p:sp>
        <p:nvSpPr>
          <p:cNvPr id="3" name="Content Placeholder 2"/>
          <p:cNvSpPr>
            <a:spLocks noGrp="1"/>
          </p:cNvSpPr>
          <p:nvPr>
            <p:ph idx="1"/>
          </p:nvPr>
        </p:nvSpPr>
        <p:spPr>
          <a:xfrm>
            <a:off x="1097280" y="1845733"/>
            <a:ext cx="10058400" cy="4594435"/>
          </a:xfrm>
        </p:spPr>
        <p:txBody>
          <a:bodyPr>
            <a:normAutofit/>
          </a:bodyPr>
          <a:lstStyle/>
          <a:p>
            <a:r>
              <a:rPr lang="en-US" dirty="0" err="1"/>
              <a:t>Organisational</a:t>
            </a:r>
            <a:r>
              <a:rPr lang="en-US" dirty="0"/>
              <a:t> change e.g., downsizing, restructuring, de-layering, and outsourcing) is a powerful force in </a:t>
            </a:r>
            <a:r>
              <a:rPr lang="en-US" dirty="0" err="1"/>
              <a:t>organisational</a:t>
            </a:r>
            <a:r>
              <a:rPr lang="en-US" dirty="0"/>
              <a:t> development and consequently can result in negative consequences for staff. IF not handled properly.</a:t>
            </a:r>
          </a:p>
          <a:p>
            <a:r>
              <a:rPr lang="en-US" dirty="0"/>
              <a:t>Survivor Syndrome is seen as a major consequence of this, and includes emotional, psychological, and </a:t>
            </a:r>
            <a:r>
              <a:rPr lang="en-US" dirty="0" err="1"/>
              <a:t>organisational</a:t>
            </a:r>
            <a:r>
              <a:rPr lang="en-US" dirty="0"/>
              <a:t> repercussions who ‘survive’ redundancies. </a:t>
            </a:r>
          </a:p>
          <a:p>
            <a:r>
              <a:rPr lang="en-US" dirty="0"/>
              <a:t>Effects include lower staff morale due to impaired and reduced social networks, increased workload, lack of trust in </a:t>
            </a:r>
            <a:r>
              <a:rPr lang="en-US" dirty="0" err="1"/>
              <a:t>organisation</a:t>
            </a:r>
            <a:r>
              <a:rPr lang="en-US" dirty="0"/>
              <a:t>, loss of social support, and grief for lost members of staff, guilt for surviving and fear for the future. </a:t>
            </a:r>
          </a:p>
          <a:p>
            <a:r>
              <a:rPr lang="en-US" dirty="0" err="1"/>
              <a:t>Noer</a:t>
            </a:r>
            <a:r>
              <a:rPr lang="en-US" dirty="0"/>
              <a:t> (1993) argues that those left behind are often more susceptible to stress than those that leave.  </a:t>
            </a:r>
          </a:p>
          <a:p>
            <a:r>
              <a:rPr lang="en-US" dirty="0"/>
              <a:t>Recommendation: COMMUNICATION </a:t>
            </a:r>
            <a:r>
              <a:rPr lang="mr-IN" dirty="0"/>
              <a:t>–</a:t>
            </a:r>
            <a:r>
              <a:rPr lang="en-US" dirty="0"/>
              <a:t> rarely such consequences when change is clearly communication maintaining trust and commitment to </a:t>
            </a:r>
            <a:r>
              <a:rPr lang="en-US" dirty="0" err="1"/>
              <a:t>organisation</a:t>
            </a:r>
            <a:r>
              <a:rPr lang="en-US" dirty="0"/>
              <a:t>. </a:t>
            </a:r>
          </a:p>
        </p:txBody>
      </p:sp>
    </p:spTree>
    <p:extLst>
      <p:ext uri="{BB962C8B-B14F-4D97-AF65-F5344CB8AC3E}">
        <p14:creationId xmlns:p14="http://schemas.microsoft.com/office/powerpoint/2010/main" val="34871672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342900" y="642937"/>
          <a:ext cx="11472863" cy="59436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p:cNvSpPr txBox="1"/>
          <p:nvPr/>
        </p:nvSpPr>
        <p:spPr>
          <a:xfrm>
            <a:off x="571501" y="236816"/>
            <a:ext cx="2614613" cy="369332"/>
          </a:xfrm>
          <a:prstGeom prst="rect">
            <a:avLst/>
          </a:prstGeom>
          <a:solidFill>
            <a:schemeClr val="tx2">
              <a:lumMod val="75000"/>
            </a:schemeClr>
          </a:solidFill>
        </p:spPr>
        <p:style>
          <a:lnRef idx="2">
            <a:schemeClr val="accent1"/>
          </a:lnRef>
          <a:fillRef idx="1">
            <a:schemeClr val="lt1"/>
          </a:fillRef>
          <a:effectRef idx="0">
            <a:schemeClr val="accent1"/>
          </a:effectRef>
          <a:fontRef idx="minor">
            <a:schemeClr val="dk1"/>
          </a:fontRef>
        </p:style>
        <p:txBody>
          <a:bodyPr wrap="square" rtlCol="0">
            <a:spAutoFit/>
          </a:bodyPr>
          <a:lstStyle/>
          <a:p>
            <a:r>
              <a:rPr lang="en-IE" b="1" dirty="0">
                <a:solidFill>
                  <a:schemeClr val="bg1"/>
                </a:solidFill>
                <a:effectLst>
                  <a:outerShdw blurRad="38100" dist="38100" dir="2700000" algn="tl">
                    <a:srgbClr val="000000">
                      <a:alpha val="43137"/>
                    </a:srgbClr>
                  </a:outerShdw>
                </a:effectLst>
              </a:rPr>
              <a:t>PREPARING FOR CHANGE</a:t>
            </a:r>
          </a:p>
        </p:txBody>
      </p:sp>
      <p:sp>
        <p:nvSpPr>
          <p:cNvPr id="6" name="TextBox 5"/>
          <p:cNvSpPr txBox="1"/>
          <p:nvPr/>
        </p:nvSpPr>
        <p:spPr>
          <a:xfrm>
            <a:off x="4567237" y="200025"/>
            <a:ext cx="2305051" cy="369332"/>
          </a:xfrm>
          <a:prstGeom prst="rect">
            <a:avLst/>
          </a:prstGeom>
          <a:solidFill>
            <a:schemeClr val="tx2">
              <a:lumMod val="75000"/>
            </a:schemeClr>
          </a:solidFill>
        </p:spPr>
        <p:style>
          <a:lnRef idx="2">
            <a:schemeClr val="accent1"/>
          </a:lnRef>
          <a:fillRef idx="1">
            <a:schemeClr val="lt1"/>
          </a:fillRef>
          <a:effectRef idx="0">
            <a:schemeClr val="accent1"/>
          </a:effectRef>
          <a:fontRef idx="minor">
            <a:schemeClr val="dk1"/>
          </a:fontRef>
        </p:style>
        <p:txBody>
          <a:bodyPr wrap="square" rtlCol="0">
            <a:spAutoFit/>
          </a:bodyPr>
          <a:lstStyle/>
          <a:p>
            <a:r>
              <a:rPr lang="en-IE" b="1" dirty="0">
                <a:solidFill>
                  <a:schemeClr val="bg1"/>
                </a:solidFill>
                <a:effectLst>
                  <a:outerShdw blurRad="38100" dist="38100" dir="2700000" algn="tl">
                    <a:srgbClr val="000000">
                      <a:alpha val="43137"/>
                    </a:srgbClr>
                  </a:outerShdw>
                </a:effectLst>
              </a:rPr>
              <a:t>MANAGING CHANGE</a:t>
            </a:r>
          </a:p>
        </p:txBody>
      </p:sp>
      <p:sp>
        <p:nvSpPr>
          <p:cNvPr id="7" name="TextBox 6"/>
          <p:cNvSpPr txBox="1"/>
          <p:nvPr/>
        </p:nvSpPr>
        <p:spPr>
          <a:xfrm>
            <a:off x="8601076" y="200025"/>
            <a:ext cx="2400300" cy="369332"/>
          </a:xfrm>
          <a:prstGeom prst="rect">
            <a:avLst/>
          </a:prstGeom>
          <a:solidFill>
            <a:schemeClr val="tx2">
              <a:lumMod val="75000"/>
            </a:schemeClr>
          </a:solidFill>
        </p:spPr>
        <p:style>
          <a:lnRef idx="2">
            <a:schemeClr val="accent1"/>
          </a:lnRef>
          <a:fillRef idx="1">
            <a:schemeClr val="lt1"/>
          </a:fillRef>
          <a:effectRef idx="0">
            <a:schemeClr val="accent1"/>
          </a:effectRef>
          <a:fontRef idx="minor">
            <a:schemeClr val="dk1"/>
          </a:fontRef>
        </p:style>
        <p:txBody>
          <a:bodyPr wrap="square" rtlCol="0">
            <a:spAutoFit/>
          </a:bodyPr>
          <a:lstStyle/>
          <a:p>
            <a:r>
              <a:rPr lang="en-IE" b="1" dirty="0">
                <a:solidFill>
                  <a:schemeClr val="bg1"/>
                </a:solidFill>
                <a:effectLst>
                  <a:outerShdw blurRad="38100" dist="38100" dir="2700000" algn="tl">
                    <a:srgbClr val="000000">
                      <a:alpha val="43137"/>
                    </a:srgbClr>
                  </a:outerShdw>
                </a:effectLst>
              </a:rPr>
              <a:t>REINFORCING CHANGE</a:t>
            </a:r>
          </a:p>
        </p:txBody>
      </p:sp>
    </p:spTree>
    <p:extLst>
      <p:ext uri="{BB962C8B-B14F-4D97-AF65-F5344CB8AC3E}">
        <p14:creationId xmlns:p14="http://schemas.microsoft.com/office/powerpoint/2010/main" val="40006022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7262" y="529490"/>
            <a:ext cx="10815638" cy="813535"/>
          </a:xfrm>
        </p:spPr>
        <p:txBody>
          <a:bodyPr>
            <a:normAutofit fontScale="90000"/>
          </a:bodyPr>
          <a:lstStyle/>
          <a:p>
            <a:r>
              <a:rPr lang="en-IE" dirty="0"/>
              <a:t>Building organisations capacity to embrace and manage change</a:t>
            </a:r>
          </a:p>
        </p:txBody>
      </p:sp>
      <p:graphicFrame>
        <p:nvGraphicFramePr>
          <p:cNvPr id="4" name="Content Placeholder 3"/>
          <p:cNvGraphicFramePr>
            <a:graphicFrameLocks noGrp="1"/>
          </p:cNvGraphicFramePr>
          <p:nvPr>
            <p:ph idx="1"/>
          </p:nvPr>
        </p:nvGraphicFramePr>
        <p:xfrm>
          <a:off x="328613" y="1343025"/>
          <a:ext cx="11301412" cy="48720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p:cNvSpPr txBox="1"/>
          <p:nvPr/>
        </p:nvSpPr>
        <p:spPr>
          <a:xfrm rot="1687222">
            <a:off x="9542326" y="1975412"/>
            <a:ext cx="2300288" cy="523220"/>
          </a:xfrm>
          <a:prstGeom prst="rect">
            <a:avLst/>
          </a:prstGeom>
          <a:solidFill>
            <a:schemeClr val="bg2">
              <a:lumMod val="50000"/>
            </a:schemeClr>
          </a:solidFill>
          <a:ln>
            <a:solidFill>
              <a:srgbClr val="FFFF00"/>
            </a:solidFill>
          </a:ln>
          <a:effectLst>
            <a:outerShdw blurRad="184150" dist="241300" dir="11520000" sx="110000" sy="110000" algn="ctr">
              <a:srgbClr val="000000">
                <a:alpha val="18000"/>
              </a:srgbClr>
            </a:outerShdw>
          </a:effectLst>
        </p:spPr>
        <p:style>
          <a:lnRef idx="2">
            <a:schemeClr val="accent1"/>
          </a:lnRef>
          <a:fillRef idx="1">
            <a:schemeClr val="lt1"/>
          </a:fillRef>
          <a:effectRef idx="0">
            <a:schemeClr val="accent1"/>
          </a:effectRef>
          <a:fontRef idx="minor">
            <a:schemeClr val="dk1"/>
          </a:fontRef>
        </p:style>
        <p:txBody>
          <a:bodyPr wrap="square" rtlCol="0">
            <a:spAutoFit/>
          </a:bodyPr>
          <a:lstStyle/>
          <a:p>
            <a:r>
              <a:rPr lang="en-IE" sz="2800" b="1" dirty="0">
                <a:solidFill>
                  <a:schemeClr val="bg1"/>
                </a:solidFill>
                <a:effectLst>
                  <a:outerShdw blurRad="38100" dist="38100" dir="2700000" algn="tl">
                    <a:srgbClr val="000000">
                      <a:alpha val="43137"/>
                    </a:srgbClr>
                  </a:outerShdw>
                </a:effectLst>
              </a:rPr>
              <a:t>Commitment</a:t>
            </a:r>
          </a:p>
        </p:txBody>
      </p:sp>
      <p:sp>
        <p:nvSpPr>
          <p:cNvPr id="11" name="Right Brace 10"/>
          <p:cNvSpPr/>
          <p:nvPr/>
        </p:nvSpPr>
        <p:spPr>
          <a:xfrm>
            <a:off x="5472113" y="4400550"/>
            <a:ext cx="2671762" cy="84296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E"/>
          </a:p>
        </p:txBody>
      </p:sp>
      <p:sp>
        <p:nvSpPr>
          <p:cNvPr id="12" name="Right Brace 11"/>
          <p:cNvSpPr/>
          <p:nvPr/>
        </p:nvSpPr>
        <p:spPr>
          <a:xfrm rot="10800000">
            <a:off x="2269938" y="1666060"/>
            <a:ext cx="2671762" cy="176423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E"/>
          </a:p>
        </p:txBody>
      </p:sp>
      <p:sp>
        <p:nvSpPr>
          <p:cNvPr id="13" name="TextBox 12"/>
          <p:cNvSpPr txBox="1"/>
          <p:nvPr/>
        </p:nvSpPr>
        <p:spPr>
          <a:xfrm>
            <a:off x="8143875" y="4400550"/>
            <a:ext cx="2571750"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E" dirty="0"/>
              <a:t>Information with some involvement is sufficient at these stages</a:t>
            </a:r>
          </a:p>
        </p:txBody>
      </p:sp>
      <p:sp>
        <p:nvSpPr>
          <p:cNvPr id="14" name="TextBox 13"/>
          <p:cNvSpPr txBox="1"/>
          <p:nvPr/>
        </p:nvSpPr>
        <p:spPr>
          <a:xfrm>
            <a:off x="542924" y="2086514"/>
            <a:ext cx="2157309"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E" dirty="0"/>
              <a:t>Significant involvement Needed at these stages </a:t>
            </a:r>
          </a:p>
        </p:txBody>
      </p:sp>
    </p:spTree>
    <p:extLst>
      <p:ext uri="{BB962C8B-B14F-4D97-AF65-F5344CB8AC3E}">
        <p14:creationId xmlns:p14="http://schemas.microsoft.com/office/powerpoint/2010/main" val="15739039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0" y="116632"/>
            <a:ext cx="8077200" cy="1143000"/>
          </a:xfrm>
        </p:spPr>
        <p:txBody>
          <a:bodyPr>
            <a:normAutofit/>
          </a:bodyPr>
          <a:lstStyle/>
          <a:p>
            <a:r>
              <a:rPr lang="en-GB" sz="4000" dirty="0"/>
              <a:t>What is Trust?</a:t>
            </a:r>
          </a:p>
        </p:txBody>
      </p:sp>
      <p:pic>
        <p:nvPicPr>
          <p:cNvPr id="4098" name="Picture 2" descr="C:\Users\student\AppData\Local\Microsoft\Windows\Temporary Internet Files\Content.IE5\58KMOGII\6157595477_eda60b9727_z[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3632" y="1412777"/>
            <a:ext cx="6552728" cy="4382137"/>
          </a:xfrm>
          <a:prstGeom prst="rect">
            <a:avLst/>
          </a:prstGeom>
          <a:noFill/>
          <a:extLst>
            <a:ext uri="{909E8E84-426E-40dd-AFC4-6F175D3DCCD1}">
              <a14:hiddenFill xmlns:a14="http://schemas.microsoft.com/office/drawing/2010/main" xmlns="">
                <a:solidFill>
                  <a:srgbClr val="FFFFFF"/>
                </a:solidFill>
              </a14:hiddenFill>
            </a:ext>
          </a:extLst>
        </p:spPr>
      </p:pic>
      <p:sp>
        <p:nvSpPr>
          <p:cNvPr id="3" name="Rectangle 2"/>
          <p:cNvSpPr/>
          <p:nvPr/>
        </p:nvSpPr>
        <p:spPr>
          <a:xfrm>
            <a:off x="2927648" y="6010264"/>
            <a:ext cx="5932586" cy="707886"/>
          </a:xfrm>
          <a:prstGeom prst="rect">
            <a:avLst/>
          </a:prstGeom>
        </p:spPr>
        <p:txBody>
          <a:bodyPr wrap="none">
            <a:spAutoFit/>
          </a:bodyPr>
          <a:lstStyle/>
          <a:p>
            <a:r>
              <a:rPr lang="en-GB" sz="4000" dirty="0">
                <a:solidFill>
                  <a:schemeClr val="tx1">
                    <a:lumMod val="75000"/>
                    <a:lumOff val="25000"/>
                  </a:schemeClr>
                </a:solidFill>
              </a:rPr>
              <a:t>Who do you trust and why?</a:t>
            </a:r>
          </a:p>
        </p:txBody>
      </p:sp>
    </p:spTree>
    <p:extLst>
      <p:ext uri="{BB962C8B-B14F-4D97-AF65-F5344CB8AC3E}">
        <p14:creationId xmlns:p14="http://schemas.microsoft.com/office/powerpoint/2010/main" val="13398157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286000" y="188640"/>
            <a:ext cx="8077200" cy="1143000"/>
          </a:xfrm>
        </p:spPr>
        <p:txBody>
          <a:bodyPr>
            <a:normAutofit/>
          </a:bodyPr>
          <a:lstStyle/>
          <a:p>
            <a:r>
              <a:rPr lang="en-GB" sz="4000" dirty="0"/>
              <a:t>Trust in an Organisational Context </a:t>
            </a:r>
          </a:p>
        </p:txBody>
      </p:sp>
      <p:sp>
        <p:nvSpPr>
          <p:cNvPr id="7" name="Rectangle 6"/>
          <p:cNvSpPr/>
          <p:nvPr/>
        </p:nvSpPr>
        <p:spPr>
          <a:xfrm>
            <a:off x="1070043" y="1331640"/>
            <a:ext cx="9980578" cy="5078313"/>
          </a:xfrm>
          <a:prstGeom prst="rect">
            <a:avLst/>
          </a:prstGeom>
          <a:noFill/>
          <a:ln>
            <a:noFill/>
          </a:ln>
        </p:spPr>
        <p:txBody>
          <a:bodyPr wrap="square">
            <a:spAutoFit/>
          </a:bodyPr>
          <a:lstStyle/>
          <a:p>
            <a:pPr marL="285750" indent="-285750">
              <a:spcBef>
                <a:spcPct val="20000"/>
              </a:spcBef>
              <a:buFont typeface="Arial" panose="020B0604020202020204" pitchFamily="34" charset="0"/>
              <a:buChar char="•"/>
            </a:pPr>
            <a:r>
              <a:rPr lang="en-IE" altLang="en-US" sz="2400" dirty="0">
                <a:solidFill>
                  <a:schemeClr val="tx1">
                    <a:lumMod val="75000"/>
                    <a:lumOff val="25000"/>
                  </a:schemeClr>
                </a:solidFill>
                <a:cs typeface="Times New Roman" pitchFamily="18" charset="0"/>
              </a:rPr>
              <a:t>Trust is widely accepted as a fundamental component of all human social interactions</a:t>
            </a:r>
          </a:p>
          <a:p>
            <a:pPr marL="285750" indent="-285750">
              <a:spcBef>
                <a:spcPct val="20000"/>
              </a:spcBef>
              <a:buFont typeface="Arial" panose="020B0604020202020204" pitchFamily="34" charset="0"/>
              <a:buChar char="•"/>
            </a:pPr>
            <a:endParaRPr lang="en-IE" altLang="en-US" sz="1400" dirty="0">
              <a:solidFill>
                <a:schemeClr val="tx1">
                  <a:lumMod val="75000"/>
                  <a:lumOff val="25000"/>
                </a:schemeClr>
              </a:solidFill>
              <a:cs typeface="Times New Roman" pitchFamily="18" charset="0"/>
            </a:endParaRPr>
          </a:p>
          <a:p>
            <a:pPr marL="285750" indent="-285750">
              <a:spcBef>
                <a:spcPct val="20000"/>
              </a:spcBef>
              <a:buFont typeface="Arial" panose="020B0604020202020204" pitchFamily="34" charset="0"/>
              <a:buChar char="•"/>
            </a:pPr>
            <a:r>
              <a:rPr lang="en-IE" altLang="en-US" sz="2400" dirty="0">
                <a:solidFill>
                  <a:schemeClr val="tx1">
                    <a:lumMod val="75000"/>
                    <a:lumOff val="25000"/>
                  </a:schemeClr>
                </a:solidFill>
                <a:cs typeface="Times New Roman" pitchFamily="18" charset="0"/>
              </a:rPr>
              <a:t>Trust research in an organisational context has increased significantly in the last twenty years </a:t>
            </a:r>
            <a:endParaRPr lang="en-IE" altLang="en-US" sz="2000" dirty="0">
              <a:solidFill>
                <a:schemeClr val="tx1">
                  <a:lumMod val="75000"/>
                  <a:lumOff val="25000"/>
                </a:schemeClr>
              </a:solidFill>
              <a:cs typeface="Times New Roman" pitchFamily="18" charset="0"/>
            </a:endParaRPr>
          </a:p>
          <a:p>
            <a:pPr marL="285750" indent="-285750">
              <a:spcBef>
                <a:spcPct val="20000"/>
              </a:spcBef>
              <a:buFont typeface="Arial" panose="020B0604020202020204" pitchFamily="34" charset="0"/>
              <a:buChar char="•"/>
            </a:pPr>
            <a:endParaRPr lang="en-IE" altLang="en-US" sz="1400" dirty="0">
              <a:solidFill>
                <a:schemeClr val="tx1">
                  <a:lumMod val="75000"/>
                  <a:lumOff val="25000"/>
                </a:schemeClr>
              </a:solidFill>
              <a:cs typeface="Times New Roman" pitchFamily="18" charset="0"/>
            </a:endParaRPr>
          </a:p>
          <a:p>
            <a:pPr marL="285750" indent="-285750">
              <a:spcBef>
                <a:spcPct val="20000"/>
              </a:spcBef>
              <a:buFont typeface="Arial" panose="020B0604020202020204" pitchFamily="34" charset="0"/>
              <a:buChar char="•"/>
            </a:pPr>
            <a:r>
              <a:rPr lang="en-IE" altLang="en-US" sz="2400" dirty="0">
                <a:solidFill>
                  <a:schemeClr val="tx1">
                    <a:lumMod val="75000"/>
                    <a:lumOff val="25000"/>
                  </a:schemeClr>
                </a:solidFill>
                <a:cs typeface="Times New Roman" pitchFamily="18" charset="0"/>
              </a:rPr>
              <a:t>Is studied from a number of different perspectives</a:t>
            </a:r>
          </a:p>
          <a:p>
            <a:pPr marL="742950" lvl="1" indent="-285750">
              <a:spcBef>
                <a:spcPct val="20000"/>
              </a:spcBef>
              <a:buFont typeface="Arial" panose="020B0604020202020204" pitchFamily="34" charset="0"/>
              <a:buChar char="•"/>
            </a:pPr>
            <a:r>
              <a:rPr lang="en-IE" altLang="en-US" sz="2000" dirty="0">
                <a:solidFill>
                  <a:schemeClr val="tx1">
                    <a:lumMod val="75000"/>
                    <a:lumOff val="25000"/>
                  </a:schemeClr>
                </a:solidFill>
                <a:cs typeface="Times New Roman" pitchFamily="18" charset="0"/>
              </a:rPr>
              <a:t>Behavioural Economics, Marketing, Sociology, Management, Psychology</a:t>
            </a:r>
          </a:p>
          <a:p>
            <a:pPr marL="285750" indent="-285750">
              <a:spcBef>
                <a:spcPct val="20000"/>
              </a:spcBef>
              <a:buFont typeface="Arial" panose="020B0604020202020204" pitchFamily="34" charset="0"/>
              <a:buChar char="•"/>
            </a:pPr>
            <a:endParaRPr lang="en-IE" altLang="en-US" sz="1400" dirty="0">
              <a:solidFill>
                <a:schemeClr val="tx1">
                  <a:lumMod val="75000"/>
                  <a:lumOff val="25000"/>
                </a:schemeClr>
              </a:solidFill>
              <a:cs typeface="Times New Roman" pitchFamily="18" charset="0"/>
            </a:endParaRPr>
          </a:p>
          <a:p>
            <a:pPr marL="285750" indent="-285750">
              <a:spcBef>
                <a:spcPct val="20000"/>
              </a:spcBef>
              <a:buFont typeface="Arial" panose="020B0604020202020204" pitchFamily="34" charset="0"/>
              <a:buChar char="•"/>
            </a:pPr>
            <a:r>
              <a:rPr lang="en-IE" altLang="en-US" sz="2400" dirty="0">
                <a:solidFill>
                  <a:schemeClr val="tx1">
                    <a:lumMod val="75000"/>
                    <a:lumOff val="25000"/>
                  </a:schemeClr>
                </a:solidFill>
                <a:cs typeface="Times New Roman" pitchFamily="18" charset="0"/>
              </a:rPr>
              <a:t>Is studied at a number of levels</a:t>
            </a:r>
          </a:p>
          <a:p>
            <a:pPr marL="742950" lvl="1" indent="-285750">
              <a:spcBef>
                <a:spcPct val="20000"/>
              </a:spcBef>
              <a:buFont typeface="Arial" panose="020B0604020202020204" pitchFamily="34" charset="0"/>
              <a:buChar char="•"/>
            </a:pPr>
            <a:r>
              <a:rPr lang="en-IE" altLang="en-US" sz="2000" dirty="0">
                <a:solidFill>
                  <a:schemeClr val="tx1">
                    <a:lumMod val="75000"/>
                    <a:lumOff val="25000"/>
                  </a:schemeClr>
                </a:solidFill>
                <a:cs typeface="Times New Roman" pitchFamily="18" charset="0"/>
              </a:rPr>
              <a:t>Inter-personal , groups/teams, organisations, technology</a:t>
            </a:r>
          </a:p>
          <a:p>
            <a:pPr>
              <a:spcBef>
                <a:spcPct val="20000"/>
              </a:spcBef>
            </a:pPr>
            <a:endParaRPr lang="en-IE" altLang="en-US" sz="1400" dirty="0">
              <a:solidFill>
                <a:schemeClr val="tx1">
                  <a:lumMod val="75000"/>
                  <a:lumOff val="25000"/>
                </a:schemeClr>
              </a:solidFill>
              <a:cs typeface="Times New Roman" pitchFamily="18" charset="0"/>
            </a:endParaRPr>
          </a:p>
          <a:p>
            <a:pPr marL="285750" indent="-285750">
              <a:spcBef>
                <a:spcPct val="20000"/>
              </a:spcBef>
              <a:buFont typeface="Arial" panose="020B0604020202020204" pitchFamily="34" charset="0"/>
              <a:buChar char="•"/>
            </a:pPr>
            <a:r>
              <a:rPr lang="en-IE" altLang="en-US" sz="2400" dirty="0">
                <a:solidFill>
                  <a:schemeClr val="tx1">
                    <a:lumMod val="75000"/>
                    <a:lumOff val="25000"/>
                  </a:schemeClr>
                </a:solidFill>
                <a:cs typeface="Times New Roman" pitchFamily="18" charset="0"/>
              </a:rPr>
              <a:t>Perspective of this lecture </a:t>
            </a:r>
          </a:p>
          <a:p>
            <a:pPr marL="742950" lvl="1" indent="-285750">
              <a:spcBef>
                <a:spcPct val="20000"/>
              </a:spcBef>
              <a:buFont typeface="Arial" panose="020B0604020202020204" pitchFamily="34" charset="0"/>
              <a:buChar char="•"/>
            </a:pPr>
            <a:r>
              <a:rPr lang="en-IE" altLang="en-US" sz="2000" dirty="0">
                <a:solidFill>
                  <a:schemeClr val="tx1">
                    <a:lumMod val="75000"/>
                    <a:lumOff val="25000"/>
                  </a:schemeClr>
                </a:solidFill>
                <a:cs typeface="Times New Roman" pitchFamily="18" charset="0"/>
              </a:rPr>
              <a:t>HRM, organisational psychology, inter-personal trust </a:t>
            </a:r>
          </a:p>
        </p:txBody>
      </p:sp>
    </p:spTree>
    <p:extLst>
      <p:ext uri="{BB962C8B-B14F-4D97-AF65-F5344CB8AC3E}">
        <p14:creationId xmlns:p14="http://schemas.microsoft.com/office/powerpoint/2010/main" val="413706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286000" y="116632"/>
            <a:ext cx="8077200" cy="1143000"/>
          </a:xfrm>
        </p:spPr>
        <p:txBody>
          <a:bodyPr>
            <a:normAutofit/>
          </a:bodyPr>
          <a:lstStyle/>
          <a:p>
            <a:r>
              <a:rPr lang="en-GB" sz="4000" dirty="0"/>
              <a:t>Trust as a Behavioural Choice</a:t>
            </a:r>
          </a:p>
        </p:txBody>
      </p:sp>
      <p:sp>
        <p:nvSpPr>
          <p:cNvPr id="4" name="Rectangle 3"/>
          <p:cNvSpPr/>
          <p:nvPr/>
        </p:nvSpPr>
        <p:spPr>
          <a:xfrm>
            <a:off x="2495600" y="1592418"/>
            <a:ext cx="3384376" cy="3662541"/>
          </a:xfrm>
          <a:prstGeom prst="rect">
            <a:avLst/>
          </a:prstGeom>
          <a:noFill/>
          <a:ln>
            <a:solidFill>
              <a:schemeClr val="tx1">
                <a:lumMod val="75000"/>
                <a:lumOff val="25000"/>
              </a:schemeClr>
            </a:solidFill>
          </a:ln>
        </p:spPr>
        <p:txBody>
          <a:bodyPr wrap="square">
            <a:spAutoFit/>
          </a:bodyPr>
          <a:lstStyle/>
          <a:p>
            <a:pPr algn="ctr">
              <a:spcBef>
                <a:spcPct val="20000"/>
              </a:spcBef>
            </a:pPr>
            <a:r>
              <a:rPr lang="en-IE" altLang="en-US" sz="2000" u="sng" dirty="0">
                <a:solidFill>
                  <a:schemeClr val="tx1">
                    <a:lumMod val="75000"/>
                    <a:lumOff val="25000"/>
                  </a:schemeClr>
                </a:solidFill>
                <a:cs typeface="Times New Roman" pitchFamily="18" charset="0"/>
              </a:rPr>
              <a:t>Rational</a:t>
            </a:r>
          </a:p>
          <a:p>
            <a:pPr algn="ctr">
              <a:spcBef>
                <a:spcPct val="20000"/>
              </a:spcBef>
            </a:pPr>
            <a:endParaRPr lang="en-IE" altLang="en-US" sz="2000" u="sng" dirty="0">
              <a:solidFill>
                <a:schemeClr val="tx1">
                  <a:lumMod val="75000"/>
                  <a:lumOff val="25000"/>
                </a:schemeClr>
              </a:solidFill>
              <a:cs typeface="Times New Roman" pitchFamily="18" charset="0"/>
            </a:endParaRPr>
          </a:p>
          <a:p>
            <a:pPr marL="285750" indent="-285750">
              <a:spcBef>
                <a:spcPct val="20000"/>
              </a:spcBef>
              <a:buFont typeface="Arial" panose="020B0604020202020204" pitchFamily="34" charset="0"/>
              <a:buChar char="•"/>
            </a:pPr>
            <a:r>
              <a:rPr lang="en-IE" altLang="en-US" sz="2000" dirty="0">
                <a:solidFill>
                  <a:schemeClr val="tx1">
                    <a:lumMod val="75000"/>
                    <a:lumOff val="25000"/>
                  </a:schemeClr>
                </a:solidFill>
                <a:cs typeface="Times New Roman" pitchFamily="18" charset="0"/>
              </a:rPr>
              <a:t>Calculative/instrumental</a:t>
            </a:r>
          </a:p>
          <a:p>
            <a:pPr marL="285750" indent="-285750">
              <a:spcBef>
                <a:spcPct val="20000"/>
              </a:spcBef>
              <a:buFont typeface="Arial" panose="020B0604020202020204" pitchFamily="34" charset="0"/>
              <a:buChar char="•"/>
            </a:pPr>
            <a:r>
              <a:rPr lang="en-IE" altLang="en-US" sz="2000" dirty="0">
                <a:solidFill>
                  <a:schemeClr val="tx1">
                    <a:lumMod val="75000"/>
                    <a:lumOff val="25000"/>
                  </a:schemeClr>
                </a:solidFill>
                <a:cs typeface="Times New Roman" pitchFamily="18" charset="0"/>
              </a:rPr>
              <a:t>Cognitive</a:t>
            </a:r>
          </a:p>
          <a:p>
            <a:pPr marL="285750" indent="-285750">
              <a:spcBef>
                <a:spcPct val="20000"/>
              </a:spcBef>
              <a:buFont typeface="Arial" panose="020B0604020202020204" pitchFamily="34" charset="0"/>
              <a:buChar char="•"/>
            </a:pPr>
            <a:r>
              <a:rPr lang="en-IE" altLang="en-US" sz="2000" dirty="0">
                <a:solidFill>
                  <a:schemeClr val="tx1">
                    <a:lumMod val="75000"/>
                    <a:lumOff val="25000"/>
                  </a:schemeClr>
                </a:solidFill>
                <a:cs typeface="Times New Roman" pitchFamily="18" charset="0"/>
              </a:rPr>
              <a:t>Economic exchange</a:t>
            </a:r>
          </a:p>
          <a:p>
            <a:pPr marL="285750" indent="-285750">
              <a:spcBef>
                <a:spcPct val="20000"/>
              </a:spcBef>
              <a:buFont typeface="Arial" panose="020B0604020202020204" pitchFamily="34" charset="0"/>
              <a:buChar char="•"/>
            </a:pPr>
            <a:r>
              <a:rPr lang="en-IE" altLang="en-US" sz="2000" dirty="0">
                <a:solidFill>
                  <a:schemeClr val="tx1">
                    <a:lumMod val="75000"/>
                    <a:lumOff val="25000"/>
                  </a:schemeClr>
                </a:solidFill>
                <a:cs typeface="Times New Roman" pitchFamily="18" charset="0"/>
              </a:rPr>
              <a:t>Extrinsic economic value</a:t>
            </a:r>
          </a:p>
          <a:p>
            <a:pPr marL="285750" indent="-285750">
              <a:spcBef>
                <a:spcPct val="20000"/>
              </a:spcBef>
              <a:buFont typeface="Arial" panose="020B0604020202020204" pitchFamily="34" charset="0"/>
              <a:buChar char="•"/>
            </a:pPr>
            <a:r>
              <a:rPr lang="en-IE" altLang="en-US" sz="2000" dirty="0">
                <a:solidFill>
                  <a:schemeClr val="tx1">
                    <a:lumMod val="75000"/>
                    <a:lumOff val="25000"/>
                  </a:schemeClr>
                </a:solidFill>
                <a:cs typeface="Times New Roman" pitchFamily="18" charset="0"/>
              </a:rPr>
              <a:t>Often formal, contracted, specific</a:t>
            </a:r>
          </a:p>
          <a:p>
            <a:pPr marL="285750" indent="-285750">
              <a:spcBef>
                <a:spcPct val="20000"/>
              </a:spcBef>
              <a:buFont typeface="Arial" panose="020B0604020202020204" pitchFamily="34" charset="0"/>
              <a:buChar char="•"/>
            </a:pPr>
            <a:r>
              <a:rPr lang="en-IE" altLang="en-US" sz="2000" dirty="0">
                <a:solidFill>
                  <a:schemeClr val="tx1">
                    <a:lumMod val="75000"/>
                    <a:lumOff val="25000"/>
                  </a:schemeClr>
                </a:solidFill>
                <a:cs typeface="Times New Roman" pitchFamily="18" charset="0"/>
              </a:rPr>
              <a:t>Monitoring/control</a:t>
            </a:r>
          </a:p>
          <a:p>
            <a:pPr marL="285750" indent="-285750">
              <a:spcBef>
                <a:spcPct val="20000"/>
              </a:spcBef>
              <a:buFont typeface="Arial" panose="020B0604020202020204" pitchFamily="34" charset="0"/>
              <a:buChar char="•"/>
            </a:pPr>
            <a:r>
              <a:rPr lang="en-IE" altLang="en-US" sz="2000" dirty="0">
                <a:solidFill>
                  <a:schemeClr val="tx1">
                    <a:lumMod val="75000"/>
                    <a:lumOff val="25000"/>
                  </a:schemeClr>
                </a:solidFill>
                <a:cs typeface="Times New Roman" pitchFamily="18" charset="0"/>
              </a:rPr>
              <a:t>Less risk</a:t>
            </a:r>
            <a:endParaRPr lang="en-IE" altLang="en-US" dirty="0">
              <a:solidFill>
                <a:schemeClr val="tx1">
                  <a:lumMod val="75000"/>
                  <a:lumOff val="25000"/>
                </a:schemeClr>
              </a:solidFill>
              <a:cs typeface="Times New Roman" pitchFamily="18" charset="0"/>
            </a:endParaRPr>
          </a:p>
        </p:txBody>
      </p:sp>
      <p:sp>
        <p:nvSpPr>
          <p:cNvPr id="6" name="Rectangle 5"/>
          <p:cNvSpPr/>
          <p:nvPr/>
        </p:nvSpPr>
        <p:spPr>
          <a:xfrm>
            <a:off x="6600056" y="1556793"/>
            <a:ext cx="3312368" cy="3662541"/>
          </a:xfrm>
          <a:prstGeom prst="rect">
            <a:avLst/>
          </a:prstGeom>
          <a:noFill/>
          <a:ln>
            <a:solidFill>
              <a:schemeClr val="tx1">
                <a:lumMod val="75000"/>
                <a:lumOff val="25000"/>
              </a:schemeClr>
            </a:solidFill>
          </a:ln>
        </p:spPr>
        <p:txBody>
          <a:bodyPr wrap="square">
            <a:spAutoFit/>
          </a:bodyPr>
          <a:lstStyle/>
          <a:p>
            <a:pPr algn="ctr">
              <a:spcBef>
                <a:spcPct val="20000"/>
              </a:spcBef>
            </a:pPr>
            <a:r>
              <a:rPr lang="en-IE" altLang="en-US" sz="2000" u="sng" dirty="0">
                <a:solidFill>
                  <a:schemeClr val="tx1">
                    <a:lumMod val="75000"/>
                    <a:lumOff val="25000"/>
                  </a:schemeClr>
                </a:solidFill>
                <a:cs typeface="Times New Roman" pitchFamily="18" charset="0"/>
              </a:rPr>
              <a:t>Relational</a:t>
            </a:r>
          </a:p>
          <a:p>
            <a:pPr algn="ctr">
              <a:spcBef>
                <a:spcPct val="20000"/>
              </a:spcBef>
            </a:pPr>
            <a:endParaRPr lang="en-IE" altLang="en-US" sz="2000" u="sng" dirty="0">
              <a:solidFill>
                <a:schemeClr val="tx1">
                  <a:lumMod val="75000"/>
                  <a:lumOff val="25000"/>
                </a:schemeClr>
              </a:solidFill>
              <a:cs typeface="Times New Roman" pitchFamily="18" charset="0"/>
            </a:endParaRPr>
          </a:p>
          <a:p>
            <a:pPr marL="285750" indent="-285750">
              <a:spcBef>
                <a:spcPct val="20000"/>
              </a:spcBef>
              <a:buFont typeface="Arial" panose="020B0604020202020204" pitchFamily="34" charset="0"/>
              <a:buChar char="•"/>
            </a:pPr>
            <a:r>
              <a:rPr lang="en-IE" altLang="en-US" sz="2000" dirty="0">
                <a:solidFill>
                  <a:schemeClr val="tx1">
                    <a:lumMod val="75000"/>
                    <a:lumOff val="25000"/>
                  </a:schemeClr>
                </a:solidFill>
                <a:cs typeface="Times New Roman" pitchFamily="18" charset="0"/>
              </a:rPr>
              <a:t>Social</a:t>
            </a:r>
          </a:p>
          <a:p>
            <a:pPr marL="285750" indent="-285750">
              <a:spcBef>
                <a:spcPct val="20000"/>
              </a:spcBef>
              <a:buFont typeface="Arial" panose="020B0604020202020204" pitchFamily="34" charset="0"/>
              <a:buChar char="•"/>
            </a:pPr>
            <a:r>
              <a:rPr lang="en-IE" altLang="en-US" sz="2000" dirty="0">
                <a:solidFill>
                  <a:schemeClr val="tx1">
                    <a:lumMod val="75000"/>
                    <a:lumOff val="25000"/>
                  </a:schemeClr>
                </a:solidFill>
                <a:cs typeface="Times New Roman" pitchFamily="18" charset="0"/>
              </a:rPr>
              <a:t>Affective / emotional</a:t>
            </a:r>
          </a:p>
          <a:p>
            <a:pPr marL="285750" indent="-285750">
              <a:spcBef>
                <a:spcPct val="20000"/>
              </a:spcBef>
              <a:buFont typeface="Arial" panose="020B0604020202020204" pitchFamily="34" charset="0"/>
              <a:buChar char="•"/>
            </a:pPr>
            <a:r>
              <a:rPr lang="en-IE" altLang="en-US" sz="2000" dirty="0">
                <a:solidFill>
                  <a:schemeClr val="tx1">
                    <a:lumMod val="75000"/>
                    <a:lumOff val="25000"/>
                  </a:schemeClr>
                </a:solidFill>
                <a:cs typeface="Times New Roman" pitchFamily="18" charset="0"/>
              </a:rPr>
              <a:t>Social exchange</a:t>
            </a:r>
          </a:p>
          <a:p>
            <a:pPr marL="285750" indent="-285750">
              <a:spcBef>
                <a:spcPct val="20000"/>
              </a:spcBef>
              <a:buFont typeface="Arial" panose="020B0604020202020204" pitchFamily="34" charset="0"/>
              <a:buChar char="•"/>
            </a:pPr>
            <a:r>
              <a:rPr lang="en-IE" altLang="en-US" sz="2000" dirty="0">
                <a:solidFill>
                  <a:schemeClr val="tx1">
                    <a:lumMod val="75000"/>
                    <a:lumOff val="25000"/>
                  </a:schemeClr>
                </a:solidFill>
                <a:cs typeface="Times New Roman" pitchFamily="18" charset="0"/>
              </a:rPr>
              <a:t>Intrinsic subjective benefits</a:t>
            </a:r>
          </a:p>
          <a:p>
            <a:pPr marL="285750" indent="-285750">
              <a:spcBef>
                <a:spcPct val="20000"/>
              </a:spcBef>
              <a:buFont typeface="Arial" panose="020B0604020202020204" pitchFamily="34" charset="0"/>
              <a:buChar char="•"/>
            </a:pPr>
            <a:r>
              <a:rPr lang="en-IE" altLang="en-US" sz="2000" dirty="0">
                <a:solidFill>
                  <a:schemeClr val="tx1">
                    <a:lumMod val="75000"/>
                    <a:lumOff val="25000"/>
                  </a:schemeClr>
                </a:solidFill>
                <a:cs typeface="Times New Roman" pitchFamily="18" charset="0"/>
              </a:rPr>
              <a:t>Usually informal, less specific, voluntary</a:t>
            </a:r>
          </a:p>
          <a:p>
            <a:pPr marL="285750" indent="-285750">
              <a:spcBef>
                <a:spcPct val="20000"/>
              </a:spcBef>
              <a:buFont typeface="Arial" panose="020B0604020202020204" pitchFamily="34" charset="0"/>
              <a:buChar char="•"/>
            </a:pPr>
            <a:r>
              <a:rPr lang="en-IE" altLang="en-US" sz="2000" dirty="0">
                <a:solidFill>
                  <a:schemeClr val="tx1">
                    <a:lumMod val="75000"/>
                    <a:lumOff val="25000"/>
                  </a:schemeClr>
                </a:solidFill>
                <a:cs typeface="Times New Roman" pitchFamily="18" charset="0"/>
              </a:rPr>
              <a:t>Less control</a:t>
            </a:r>
          </a:p>
          <a:p>
            <a:pPr marL="285750" indent="-285750">
              <a:spcBef>
                <a:spcPct val="20000"/>
              </a:spcBef>
              <a:buFont typeface="Arial" panose="020B0604020202020204" pitchFamily="34" charset="0"/>
              <a:buChar char="•"/>
            </a:pPr>
            <a:r>
              <a:rPr lang="en-IE" altLang="en-US" sz="2000" dirty="0">
                <a:solidFill>
                  <a:schemeClr val="tx1">
                    <a:lumMod val="75000"/>
                    <a:lumOff val="25000"/>
                  </a:schemeClr>
                </a:solidFill>
                <a:cs typeface="Times New Roman" pitchFamily="18" charset="0"/>
              </a:rPr>
              <a:t>No guarantee of reciprocity</a:t>
            </a:r>
          </a:p>
        </p:txBody>
      </p:sp>
      <p:sp>
        <p:nvSpPr>
          <p:cNvPr id="8" name="Rectangle 7"/>
          <p:cNvSpPr/>
          <p:nvPr/>
        </p:nvSpPr>
        <p:spPr>
          <a:xfrm>
            <a:off x="3719736" y="5530588"/>
            <a:ext cx="5256584" cy="1138773"/>
          </a:xfrm>
          <a:prstGeom prst="rect">
            <a:avLst/>
          </a:prstGeom>
          <a:noFill/>
          <a:ln>
            <a:solidFill>
              <a:schemeClr val="tx1">
                <a:lumMod val="75000"/>
                <a:lumOff val="25000"/>
              </a:schemeClr>
            </a:solidFill>
          </a:ln>
        </p:spPr>
        <p:txBody>
          <a:bodyPr wrap="square">
            <a:spAutoFit/>
          </a:bodyPr>
          <a:lstStyle/>
          <a:p>
            <a:pPr algn="ctr">
              <a:spcBef>
                <a:spcPct val="20000"/>
              </a:spcBef>
            </a:pPr>
            <a:r>
              <a:rPr lang="en-IE" altLang="en-US" sz="2000" u="sng" dirty="0">
                <a:solidFill>
                  <a:schemeClr val="tx1">
                    <a:lumMod val="75000"/>
                    <a:lumOff val="25000"/>
                  </a:schemeClr>
                </a:solidFill>
                <a:cs typeface="Times New Roman" pitchFamily="18" charset="0"/>
              </a:rPr>
              <a:t>Behaviour</a:t>
            </a:r>
          </a:p>
          <a:p>
            <a:pPr marL="285750" indent="-285750">
              <a:spcBef>
                <a:spcPct val="20000"/>
              </a:spcBef>
              <a:buFont typeface="Arial" panose="020B0604020202020204" pitchFamily="34" charset="0"/>
              <a:buChar char="•"/>
            </a:pPr>
            <a:r>
              <a:rPr lang="en-IE" altLang="en-US" sz="2000" dirty="0">
                <a:solidFill>
                  <a:schemeClr val="tx1">
                    <a:lumMod val="75000"/>
                    <a:lumOff val="25000"/>
                  </a:schemeClr>
                </a:solidFill>
                <a:cs typeface="Times New Roman" pitchFamily="18" charset="0"/>
              </a:rPr>
              <a:t>Reliance on another person </a:t>
            </a:r>
          </a:p>
          <a:p>
            <a:pPr marL="285750" indent="-285750">
              <a:spcBef>
                <a:spcPct val="20000"/>
              </a:spcBef>
              <a:buFont typeface="Arial" panose="020B0604020202020204" pitchFamily="34" charset="0"/>
              <a:buChar char="•"/>
            </a:pPr>
            <a:r>
              <a:rPr lang="en-IE" altLang="en-US" sz="2000" dirty="0">
                <a:solidFill>
                  <a:schemeClr val="tx1">
                    <a:lumMod val="75000"/>
                    <a:lumOff val="25000"/>
                  </a:schemeClr>
                </a:solidFill>
                <a:cs typeface="Times New Roman" pitchFamily="18" charset="0"/>
              </a:rPr>
              <a:t>Disclosure of information to another person</a:t>
            </a:r>
          </a:p>
        </p:txBody>
      </p:sp>
    </p:spTree>
    <p:extLst>
      <p:ext uri="{BB962C8B-B14F-4D97-AF65-F5344CB8AC3E}">
        <p14:creationId xmlns:p14="http://schemas.microsoft.com/office/powerpoint/2010/main" val="38897780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2208213" y="198438"/>
            <a:ext cx="7772400" cy="1143000"/>
          </a:xfrm>
        </p:spPr>
        <p:txBody>
          <a:bodyPr>
            <a:normAutofit/>
          </a:bodyPr>
          <a:lstStyle/>
          <a:p>
            <a:r>
              <a:rPr lang="en-IE" altLang="en-US" sz="4000" dirty="0"/>
              <a:t>Trust as a Psychological State</a:t>
            </a:r>
            <a:endParaRPr lang="en-GB" altLang="en-US" sz="4000" dirty="0"/>
          </a:p>
        </p:txBody>
      </p:sp>
      <p:sp>
        <p:nvSpPr>
          <p:cNvPr id="89091" name="Rectangle 3"/>
          <p:cNvSpPr>
            <a:spLocks noGrp="1" noChangeArrowheads="1"/>
          </p:cNvSpPr>
          <p:nvPr>
            <p:ph type="body" idx="1"/>
          </p:nvPr>
        </p:nvSpPr>
        <p:spPr>
          <a:xfrm>
            <a:off x="1919536" y="1340769"/>
            <a:ext cx="8291264" cy="4785395"/>
          </a:xfrm>
        </p:spPr>
        <p:txBody>
          <a:bodyPr/>
          <a:lstStyle/>
          <a:p>
            <a:pPr>
              <a:buFontTx/>
              <a:buNone/>
            </a:pPr>
            <a:endParaRPr lang="en-IE" altLang="en-US" sz="2800" dirty="0">
              <a:latin typeface="Univers"/>
            </a:endParaRPr>
          </a:p>
          <a:p>
            <a:endParaRPr lang="en-IE" altLang="en-US" sz="2800" dirty="0"/>
          </a:p>
          <a:p>
            <a:endParaRPr lang="en-IE" altLang="en-US" sz="2800" dirty="0"/>
          </a:p>
          <a:p>
            <a:endParaRPr lang="en-IE" altLang="en-US" sz="2800" dirty="0"/>
          </a:p>
          <a:p>
            <a:endParaRPr lang="en-IE" altLang="en-US" sz="2800" dirty="0"/>
          </a:p>
          <a:p>
            <a:endParaRPr lang="en-IE" altLang="en-US" sz="2800" dirty="0"/>
          </a:p>
          <a:p>
            <a:pPr>
              <a:buFontTx/>
              <a:buNone/>
            </a:pPr>
            <a:endParaRPr lang="en-GB" altLang="en-US" dirty="0"/>
          </a:p>
        </p:txBody>
      </p:sp>
      <p:sp>
        <p:nvSpPr>
          <p:cNvPr id="171012" name="AutoShape 4"/>
          <p:cNvSpPr>
            <a:spLocks noChangeArrowheads="1"/>
          </p:cNvSpPr>
          <p:nvPr/>
        </p:nvSpPr>
        <p:spPr bwMode="auto">
          <a:xfrm>
            <a:off x="2639194" y="1656334"/>
            <a:ext cx="7561263" cy="4364955"/>
          </a:xfrm>
          <a:prstGeom prst="roundRect">
            <a:avLst>
              <a:gd name="adj" fmla="val 16667"/>
            </a:avLst>
          </a:prstGeom>
          <a:solidFill>
            <a:srgbClr val="FFFFCC"/>
          </a:solidFill>
          <a:ln w="9525">
            <a:solidFill>
              <a:schemeClr val="tx1"/>
            </a:solidFill>
            <a:round/>
            <a:headEnd/>
            <a:tailEnd/>
          </a:ln>
        </p:spPr>
        <p:txBody>
          <a:bodyPr wrap="square" anchor="ctr">
            <a:no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endParaRPr lang="en-IE" altLang="en-US" sz="2000" i="1" dirty="0">
              <a:latin typeface="Univers"/>
            </a:endParaRPr>
          </a:p>
          <a:p>
            <a:pPr algn="ctr" eaLnBrk="1" hangingPunct="1">
              <a:spcBef>
                <a:spcPct val="0"/>
              </a:spcBef>
              <a:buFontTx/>
              <a:buNone/>
            </a:pPr>
            <a:r>
              <a:rPr lang="en-IE" altLang="en-US" sz="2000" i="1" dirty="0">
                <a:latin typeface="Univers"/>
              </a:rPr>
              <a:t>“the willingness of a party to be vulnerable to the actions</a:t>
            </a:r>
          </a:p>
          <a:p>
            <a:pPr algn="ctr" eaLnBrk="1" hangingPunct="1">
              <a:spcBef>
                <a:spcPct val="0"/>
              </a:spcBef>
              <a:buFontTx/>
              <a:buNone/>
            </a:pPr>
            <a:r>
              <a:rPr lang="en-IE" altLang="en-US" sz="2000" i="1" dirty="0">
                <a:latin typeface="Univers"/>
              </a:rPr>
              <a:t>of another party based on the expectation that the other will perform a particular action important to the </a:t>
            </a:r>
            <a:r>
              <a:rPr lang="en-IE" altLang="en-US" sz="2000" i="1" dirty="0" err="1">
                <a:latin typeface="Univers"/>
              </a:rPr>
              <a:t>trustor</a:t>
            </a:r>
            <a:r>
              <a:rPr lang="en-IE" altLang="en-US" sz="2000" i="1" dirty="0">
                <a:latin typeface="Univers"/>
              </a:rPr>
              <a:t>, irrespective of the ability to monitor or control that other party”</a:t>
            </a:r>
          </a:p>
          <a:p>
            <a:pPr algn="ctr" eaLnBrk="1" hangingPunct="1">
              <a:spcBef>
                <a:spcPct val="0"/>
              </a:spcBef>
              <a:buFontTx/>
              <a:buNone/>
            </a:pPr>
            <a:r>
              <a:rPr lang="en-IE" altLang="en-US" sz="1800" i="1" dirty="0">
                <a:latin typeface="Univers"/>
              </a:rPr>
              <a:t>(Mayer, Davis &amp; </a:t>
            </a:r>
            <a:r>
              <a:rPr lang="en-IE" altLang="en-US" sz="1800" i="1" dirty="0" err="1">
                <a:latin typeface="Univers"/>
              </a:rPr>
              <a:t>Schoorman</a:t>
            </a:r>
            <a:r>
              <a:rPr lang="en-IE" altLang="en-US" sz="1800" i="1" dirty="0">
                <a:latin typeface="Univers"/>
              </a:rPr>
              <a:t>, 1995, p712)</a:t>
            </a:r>
          </a:p>
          <a:p>
            <a:pPr algn="ctr" eaLnBrk="1" hangingPunct="1">
              <a:spcBef>
                <a:spcPct val="0"/>
              </a:spcBef>
              <a:buFontTx/>
              <a:buNone/>
            </a:pPr>
            <a:endParaRPr lang="en-GB" altLang="en-US" sz="2000" i="1" dirty="0">
              <a:latin typeface="Univers"/>
            </a:endParaRPr>
          </a:p>
          <a:p>
            <a:pPr algn="ctr" eaLnBrk="1" hangingPunct="1">
              <a:spcBef>
                <a:spcPct val="0"/>
              </a:spcBef>
              <a:buFontTx/>
              <a:buNone/>
            </a:pPr>
            <a:endParaRPr lang="en-GB" altLang="en-US" sz="2000" i="1" dirty="0">
              <a:latin typeface="Univers"/>
            </a:endParaRPr>
          </a:p>
          <a:p>
            <a:pPr algn="ctr" eaLnBrk="1" hangingPunct="1">
              <a:spcBef>
                <a:spcPct val="0"/>
              </a:spcBef>
              <a:buFontTx/>
              <a:buNone/>
            </a:pPr>
            <a:r>
              <a:rPr lang="en-IE" altLang="en-US" sz="2000" i="1" dirty="0">
                <a:latin typeface="Univers"/>
              </a:rPr>
              <a:t>“a psychological state comprising the intention to accept vulnerability based upon positive expectations of the intentions or behaviour of  another” </a:t>
            </a:r>
          </a:p>
          <a:p>
            <a:pPr algn="ctr" eaLnBrk="1" hangingPunct="1">
              <a:spcBef>
                <a:spcPct val="0"/>
              </a:spcBef>
              <a:buFontTx/>
              <a:buNone/>
            </a:pPr>
            <a:r>
              <a:rPr lang="en-IE" altLang="en-US" sz="1800" i="1" dirty="0">
                <a:latin typeface="Univers"/>
              </a:rPr>
              <a:t> (Rousseau, </a:t>
            </a:r>
            <a:r>
              <a:rPr lang="en-IE" altLang="en-US" sz="1800" i="1" dirty="0" err="1">
                <a:latin typeface="Univers"/>
              </a:rPr>
              <a:t>Sitkin</a:t>
            </a:r>
            <a:r>
              <a:rPr lang="en-IE" altLang="en-US" sz="1800" i="1" dirty="0">
                <a:latin typeface="Univers"/>
              </a:rPr>
              <a:t>, Burt &amp; </a:t>
            </a:r>
            <a:r>
              <a:rPr lang="en-IE" altLang="en-US" sz="1800" i="1" dirty="0" err="1">
                <a:latin typeface="Univers"/>
              </a:rPr>
              <a:t>Camerer</a:t>
            </a:r>
            <a:r>
              <a:rPr lang="en-IE" altLang="en-US" sz="1800" i="1" dirty="0">
                <a:latin typeface="Univers"/>
              </a:rPr>
              <a:t> ,1998, p395)</a:t>
            </a:r>
          </a:p>
          <a:p>
            <a:pPr algn="ctr" eaLnBrk="1" hangingPunct="1">
              <a:spcBef>
                <a:spcPct val="0"/>
              </a:spcBef>
              <a:buFontTx/>
              <a:buNone/>
            </a:pPr>
            <a:endParaRPr lang="en-IE" altLang="en-US" sz="2000" i="1" dirty="0">
              <a:latin typeface="Univers"/>
            </a:endParaRPr>
          </a:p>
        </p:txBody>
      </p:sp>
    </p:spTree>
    <p:extLst>
      <p:ext uri="{BB962C8B-B14F-4D97-AF65-F5344CB8AC3E}">
        <p14:creationId xmlns:p14="http://schemas.microsoft.com/office/powerpoint/2010/main" val="10419085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1012"/>
                                        </p:tgtEl>
                                        <p:attrNameLst>
                                          <p:attrName>style.visibility</p:attrName>
                                        </p:attrNameLst>
                                      </p:cBhvr>
                                      <p:to>
                                        <p:strVal val="visible"/>
                                      </p:to>
                                    </p:set>
                                    <p:anim calcmode="lin" valueType="num">
                                      <p:cBhvr additive="base">
                                        <p:cTn id="7" dur="500" fill="hold"/>
                                        <p:tgtEl>
                                          <p:spTgt spid="171012"/>
                                        </p:tgtEl>
                                        <p:attrNameLst>
                                          <p:attrName>ppt_x</p:attrName>
                                        </p:attrNameLst>
                                      </p:cBhvr>
                                      <p:tavLst>
                                        <p:tav tm="0">
                                          <p:val>
                                            <p:strVal val="#ppt_x"/>
                                          </p:val>
                                        </p:tav>
                                        <p:tav tm="100000">
                                          <p:val>
                                            <p:strVal val="#ppt_x"/>
                                          </p:val>
                                        </p:tav>
                                      </p:tavLst>
                                    </p:anim>
                                    <p:anim calcmode="lin" valueType="num">
                                      <p:cBhvr additive="base">
                                        <p:cTn id="8" dur="500" fill="hold"/>
                                        <p:tgtEl>
                                          <p:spTgt spid="1710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11" descr="C:\Users\student\AppData\Local\Microsoft\Windows\Temporary Internet Files\Content.IE5\8ZEIW5VV\3364250371_c632ff60aa[1].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055344" y="2924945"/>
            <a:ext cx="2768848" cy="2452839"/>
          </a:xfrm>
          <a:prstGeom prst="rect">
            <a:avLst/>
          </a:prstGeom>
          <a:noFill/>
          <a:extLst>
            <a:ext uri="{909E8E84-426E-40dd-AFC4-6F175D3DCCD1}">
              <a14:hiddenFill xmlns:a14="http://schemas.microsoft.com/office/drawing/2010/main" xmlns="">
                <a:solidFill>
                  <a:srgbClr val="FFFFFF"/>
                </a:solidFill>
              </a14:hiddenFill>
            </a:ext>
          </a:extLst>
        </p:spPr>
      </p:pic>
      <p:sp>
        <p:nvSpPr>
          <p:cNvPr id="89090" name="Rectangle 2"/>
          <p:cNvSpPr>
            <a:spLocks noGrp="1" noChangeArrowheads="1"/>
          </p:cNvSpPr>
          <p:nvPr>
            <p:ph type="title"/>
          </p:nvPr>
        </p:nvSpPr>
        <p:spPr>
          <a:xfrm>
            <a:off x="2208213" y="44624"/>
            <a:ext cx="7772400" cy="1143000"/>
          </a:xfrm>
        </p:spPr>
        <p:txBody>
          <a:bodyPr>
            <a:normAutofit/>
          </a:bodyPr>
          <a:lstStyle/>
          <a:p>
            <a:r>
              <a:rPr lang="en-IE" altLang="en-US" sz="4000" dirty="0"/>
              <a:t>The Nature of Trust </a:t>
            </a:r>
            <a:endParaRPr lang="en-GB" altLang="en-US" sz="4000" dirty="0"/>
          </a:p>
        </p:txBody>
      </p:sp>
      <p:sp>
        <p:nvSpPr>
          <p:cNvPr id="9" name="Rectangle 2"/>
          <p:cNvSpPr txBox="1">
            <a:spLocks noChangeArrowheads="1"/>
          </p:cNvSpPr>
          <p:nvPr/>
        </p:nvSpPr>
        <p:spPr>
          <a:xfrm>
            <a:off x="2855640" y="5229200"/>
            <a:ext cx="2088232" cy="864096"/>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E" altLang="en-US" sz="3600" dirty="0" err="1"/>
              <a:t>Trustor</a:t>
            </a:r>
            <a:r>
              <a:rPr lang="en-IE" altLang="en-US" sz="3600" dirty="0"/>
              <a:t> </a:t>
            </a:r>
            <a:endParaRPr lang="en-GB" altLang="en-US" sz="3600" dirty="0"/>
          </a:p>
        </p:txBody>
      </p:sp>
      <p:sp>
        <p:nvSpPr>
          <p:cNvPr id="2" name="Curved Left Arrow 1"/>
          <p:cNvSpPr/>
          <p:nvPr/>
        </p:nvSpPr>
        <p:spPr>
          <a:xfrm>
            <a:off x="7536160" y="5355006"/>
            <a:ext cx="792088" cy="1440160"/>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3" name="Curved Left Arrow 12"/>
          <p:cNvSpPr/>
          <p:nvPr/>
        </p:nvSpPr>
        <p:spPr>
          <a:xfrm rot="10800000">
            <a:off x="4943872" y="5301208"/>
            <a:ext cx="792088" cy="1440160"/>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 name="Cloud Callout 3"/>
          <p:cNvSpPr/>
          <p:nvPr/>
        </p:nvSpPr>
        <p:spPr>
          <a:xfrm>
            <a:off x="4872880" y="1268760"/>
            <a:ext cx="3455368" cy="1512168"/>
          </a:xfrm>
          <a:prstGeom prst="cloudCallout">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solidFill>
                  <a:schemeClr val="tx1"/>
                </a:solidFill>
              </a:rPr>
              <a:t>Trust</a:t>
            </a:r>
          </a:p>
          <a:p>
            <a:pPr algn="ctr"/>
            <a:r>
              <a:rPr lang="en-GB" dirty="0">
                <a:solidFill>
                  <a:schemeClr val="tx1"/>
                </a:solidFill>
              </a:rPr>
              <a:t>A psychological state, willingness to be  vulnerable</a:t>
            </a:r>
          </a:p>
        </p:txBody>
      </p:sp>
      <p:sp>
        <p:nvSpPr>
          <p:cNvPr id="16" name="Cloud Callout 15"/>
          <p:cNvSpPr/>
          <p:nvPr/>
        </p:nvSpPr>
        <p:spPr>
          <a:xfrm>
            <a:off x="2207568" y="2636912"/>
            <a:ext cx="3312368" cy="1728192"/>
          </a:xfrm>
          <a:prstGeom prst="cloudCallout">
            <a:avLst>
              <a:gd name="adj1" fmla="val 40016"/>
              <a:gd name="adj2" fmla="val 51787"/>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17" name="Cloud Callout 16"/>
          <p:cNvSpPr/>
          <p:nvPr/>
        </p:nvSpPr>
        <p:spPr>
          <a:xfrm>
            <a:off x="7176120" y="2636913"/>
            <a:ext cx="3418856" cy="1529011"/>
          </a:xfrm>
          <a:prstGeom prst="cloudCallout">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solidFill>
                  <a:schemeClr val="tx1"/>
                </a:solidFill>
              </a:rPr>
              <a:t>Trustworthiness</a:t>
            </a:r>
            <a:r>
              <a:rPr lang="en-GB" b="1" dirty="0">
                <a:solidFill>
                  <a:schemeClr val="tx1"/>
                </a:solidFill>
              </a:rPr>
              <a:t> </a:t>
            </a:r>
          </a:p>
          <a:p>
            <a:pPr algn="ctr"/>
            <a:r>
              <a:rPr lang="en-GB" dirty="0">
                <a:solidFill>
                  <a:schemeClr val="tx1"/>
                </a:solidFill>
              </a:rPr>
              <a:t>Trustee qualities perceived by the </a:t>
            </a:r>
            <a:r>
              <a:rPr lang="en-GB" dirty="0" err="1">
                <a:solidFill>
                  <a:schemeClr val="tx1"/>
                </a:solidFill>
              </a:rPr>
              <a:t>trustor</a:t>
            </a:r>
            <a:endParaRPr lang="en-GB" dirty="0">
              <a:solidFill>
                <a:schemeClr val="tx1"/>
              </a:solidFill>
            </a:endParaRPr>
          </a:p>
        </p:txBody>
      </p:sp>
      <p:sp>
        <p:nvSpPr>
          <p:cNvPr id="18" name="Rectangle 2"/>
          <p:cNvSpPr txBox="1">
            <a:spLocks noChangeArrowheads="1"/>
          </p:cNvSpPr>
          <p:nvPr/>
        </p:nvSpPr>
        <p:spPr>
          <a:xfrm>
            <a:off x="4943873" y="5517232"/>
            <a:ext cx="3231331" cy="86409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285750" indent="-285750">
              <a:buFont typeface="Arial" panose="020B0604020202020204" pitchFamily="34" charset="0"/>
              <a:buChar char="•"/>
            </a:pPr>
            <a:r>
              <a:rPr lang="en-IE" altLang="en-US" sz="1800" dirty="0"/>
              <a:t>Relationship</a:t>
            </a:r>
          </a:p>
          <a:p>
            <a:pPr marL="285750" indent="-285750">
              <a:buFont typeface="Arial" panose="020B0604020202020204" pitchFamily="34" charset="0"/>
              <a:buChar char="•"/>
            </a:pPr>
            <a:r>
              <a:rPr lang="en-IE" altLang="en-US" sz="1800" dirty="0"/>
              <a:t>Develops over time</a:t>
            </a:r>
          </a:p>
          <a:p>
            <a:pPr marL="285750" indent="-285750">
              <a:buFont typeface="Arial" panose="020B0604020202020204" pitchFamily="34" charset="0"/>
              <a:buChar char="•"/>
            </a:pPr>
            <a:r>
              <a:rPr lang="en-IE" altLang="en-US" sz="1800" dirty="0"/>
              <a:t>Depends on context</a:t>
            </a:r>
          </a:p>
          <a:p>
            <a:pPr marL="285750" indent="-285750">
              <a:buFont typeface="Arial" panose="020B0604020202020204" pitchFamily="34" charset="0"/>
              <a:buChar char="•"/>
            </a:pPr>
            <a:r>
              <a:rPr lang="en-IE" altLang="en-US" sz="1800" dirty="0"/>
              <a:t>Involves risk </a:t>
            </a:r>
            <a:endParaRPr lang="en-GB" altLang="en-US" sz="1800" dirty="0"/>
          </a:p>
        </p:txBody>
      </p:sp>
      <p:sp>
        <p:nvSpPr>
          <p:cNvPr id="19" name="Rectangle 2"/>
          <p:cNvSpPr txBox="1">
            <a:spLocks noChangeArrowheads="1"/>
          </p:cNvSpPr>
          <p:nvPr/>
        </p:nvSpPr>
        <p:spPr>
          <a:xfrm>
            <a:off x="8184232" y="5229200"/>
            <a:ext cx="2088232" cy="864096"/>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E" altLang="en-US" sz="3600" dirty="0"/>
              <a:t>Trustee </a:t>
            </a:r>
            <a:endParaRPr lang="en-GB" altLang="en-US" sz="3600" dirty="0"/>
          </a:p>
        </p:txBody>
      </p:sp>
      <p:sp>
        <p:nvSpPr>
          <p:cNvPr id="12" name="Rectangle 11"/>
          <p:cNvSpPr/>
          <p:nvPr/>
        </p:nvSpPr>
        <p:spPr>
          <a:xfrm>
            <a:off x="2099556" y="2845386"/>
            <a:ext cx="3492388" cy="1015663"/>
          </a:xfrm>
          <a:prstGeom prst="rect">
            <a:avLst/>
          </a:prstGeom>
        </p:spPr>
        <p:txBody>
          <a:bodyPr wrap="square">
            <a:spAutoFit/>
          </a:bodyPr>
          <a:lstStyle/>
          <a:p>
            <a:pPr algn="ctr"/>
            <a:r>
              <a:rPr lang="en-GB" sz="2400" b="1" dirty="0"/>
              <a:t>Propensity to Trust</a:t>
            </a:r>
          </a:p>
          <a:p>
            <a:pPr algn="ctr"/>
            <a:r>
              <a:rPr lang="en-GB" dirty="0"/>
              <a:t>A dispositional trait, a general willingness to trust</a:t>
            </a:r>
          </a:p>
        </p:txBody>
      </p:sp>
    </p:spTree>
    <p:extLst>
      <p:ext uri="{BB962C8B-B14F-4D97-AF65-F5344CB8AC3E}">
        <p14:creationId xmlns:p14="http://schemas.microsoft.com/office/powerpoint/2010/main" val="1960476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861261"/>
          </a:xfrm>
        </p:spPr>
        <p:txBody>
          <a:bodyPr>
            <a:normAutofit/>
          </a:bodyPr>
          <a:lstStyle/>
          <a:p>
            <a:r>
              <a:rPr lang="en-GB" dirty="0"/>
              <a:t>Why is Workplace Trust Important? </a:t>
            </a:r>
          </a:p>
        </p:txBody>
      </p:sp>
      <p:sp>
        <p:nvSpPr>
          <p:cNvPr id="4" name="Rectangle 6"/>
          <p:cNvSpPr>
            <a:spLocks noChangeArrowheads="1"/>
          </p:cNvSpPr>
          <p:nvPr/>
        </p:nvSpPr>
        <p:spPr bwMode="auto">
          <a:xfrm>
            <a:off x="708173" y="1290230"/>
            <a:ext cx="10836613" cy="52137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461963" indent="-461963">
              <a:defRPr>
                <a:solidFill>
                  <a:schemeClr val="tx1"/>
                </a:solidFill>
                <a:latin typeface="Century Gothic" pitchFamily="34" charset="0"/>
                <a:ea typeface="MS PGothic" pitchFamily="34" charset="-128"/>
              </a:defRPr>
            </a:lvl1pPr>
            <a:lvl2pPr marL="742950" indent="-285750">
              <a:defRPr>
                <a:solidFill>
                  <a:schemeClr val="tx1"/>
                </a:solidFill>
                <a:latin typeface="Century Gothic" pitchFamily="34" charset="0"/>
                <a:ea typeface="MS PGothic" pitchFamily="34" charset="-128"/>
              </a:defRPr>
            </a:lvl2pPr>
            <a:lvl3pPr marL="1143000" indent="-228600">
              <a:defRPr>
                <a:solidFill>
                  <a:schemeClr val="tx1"/>
                </a:solidFill>
                <a:latin typeface="Century Gothic" pitchFamily="34" charset="0"/>
                <a:ea typeface="MS PGothic" pitchFamily="34" charset="-128"/>
              </a:defRPr>
            </a:lvl3pPr>
            <a:lvl4pPr marL="1600200" indent="-228600">
              <a:defRPr>
                <a:solidFill>
                  <a:schemeClr val="tx1"/>
                </a:solidFill>
                <a:latin typeface="Century Gothic" pitchFamily="34" charset="0"/>
                <a:ea typeface="MS PGothic" pitchFamily="34" charset="-128"/>
              </a:defRPr>
            </a:lvl4pPr>
            <a:lvl5pPr marL="2057400" indent="-228600">
              <a:defRPr>
                <a:solidFill>
                  <a:schemeClr val="tx1"/>
                </a:solidFill>
                <a:latin typeface="Century Gothic"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Century Gothic"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Century Gothic"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Century Gothic"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Century Gothic" pitchFamily="34" charset="0"/>
                <a:ea typeface="MS PGothic" pitchFamily="34" charset="-128"/>
              </a:defRPr>
            </a:lvl9pPr>
          </a:lstStyle>
          <a:p>
            <a:pPr marL="0" indent="0">
              <a:spcBef>
                <a:spcPct val="20000"/>
              </a:spcBef>
            </a:pPr>
            <a:r>
              <a:rPr lang="en-IE" altLang="en-US" sz="2400" dirty="0">
                <a:latin typeface="+mn-lt"/>
                <a:cs typeface="Times New Roman" pitchFamily="18" charset="0"/>
              </a:rPr>
              <a:t>Trust has been shown to influence:</a:t>
            </a:r>
          </a:p>
          <a:p>
            <a:pPr marL="738187" lvl="1" indent="-457200">
              <a:spcBef>
                <a:spcPct val="20000"/>
              </a:spcBef>
              <a:buFont typeface="+mj-lt"/>
              <a:buAutoNum type="arabicPeriod"/>
            </a:pPr>
            <a:r>
              <a:rPr lang="en-IE" altLang="en-US" sz="2000" dirty="0">
                <a:latin typeface="+mn-lt"/>
                <a:cs typeface="Times New Roman" pitchFamily="18" charset="0"/>
              </a:rPr>
              <a:t>Constructive workplace behaviours and attitudes (Dirks &amp; </a:t>
            </a:r>
            <a:r>
              <a:rPr lang="en-IE" altLang="en-US" sz="2000" dirty="0" err="1">
                <a:latin typeface="+mn-lt"/>
                <a:cs typeface="Times New Roman" pitchFamily="18" charset="0"/>
              </a:rPr>
              <a:t>Ferrin</a:t>
            </a:r>
            <a:r>
              <a:rPr lang="en-IE" altLang="en-US" sz="2000" dirty="0">
                <a:latin typeface="+mn-lt"/>
                <a:cs typeface="Times New Roman" pitchFamily="18" charset="0"/>
              </a:rPr>
              <a:t>, 2001)</a:t>
            </a:r>
          </a:p>
          <a:p>
            <a:pPr marL="738187" lvl="1" indent="-457200">
              <a:spcBef>
                <a:spcPct val="20000"/>
              </a:spcBef>
              <a:buFont typeface="+mj-lt"/>
              <a:buAutoNum type="arabicPeriod"/>
            </a:pPr>
            <a:r>
              <a:rPr lang="en-IE" altLang="en-US" sz="2000" dirty="0">
                <a:latin typeface="+mn-lt"/>
                <a:cs typeface="Times New Roman" pitchFamily="18" charset="0"/>
              </a:rPr>
              <a:t>Higher levels of co-operation (Morgan &amp; Hunt, 2004)</a:t>
            </a:r>
          </a:p>
          <a:p>
            <a:pPr marL="738187" lvl="1" indent="-457200">
              <a:spcBef>
                <a:spcPct val="20000"/>
              </a:spcBef>
              <a:buFont typeface="+mj-lt"/>
              <a:buAutoNum type="arabicPeriod"/>
            </a:pPr>
            <a:r>
              <a:rPr lang="en-IE" altLang="en-US" sz="2000" dirty="0">
                <a:latin typeface="+mn-lt"/>
                <a:cs typeface="Times New Roman" pitchFamily="18" charset="0"/>
              </a:rPr>
              <a:t>Greater exchange of knowledge and information (Collins &amp; Smith, 2006)</a:t>
            </a:r>
          </a:p>
          <a:p>
            <a:pPr marL="738187" lvl="1" indent="-457200">
              <a:spcBef>
                <a:spcPct val="20000"/>
              </a:spcBef>
              <a:buFont typeface="+mj-lt"/>
              <a:buAutoNum type="arabicPeriod"/>
            </a:pPr>
            <a:r>
              <a:rPr lang="en-IE" altLang="en-US" sz="2000" dirty="0">
                <a:latin typeface="+mn-lt"/>
                <a:cs typeface="Times New Roman" pitchFamily="18" charset="0"/>
              </a:rPr>
              <a:t>Reduction in transaction costs (Dyer &amp; Chu, 2003)</a:t>
            </a:r>
          </a:p>
          <a:p>
            <a:pPr marL="738187" lvl="1" indent="-457200">
              <a:spcBef>
                <a:spcPct val="20000"/>
              </a:spcBef>
              <a:buFont typeface="+mj-lt"/>
              <a:buAutoNum type="arabicPeriod"/>
            </a:pPr>
            <a:r>
              <a:rPr lang="en-IE" altLang="en-US" sz="2000" dirty="0">
                <a:latin typeface="+mn-lt"/>
                <a:cs typeface="Times New Roman" pitchFamily="18" charset="0"/>
              </a:rPr>
              <a:t>Successful change management (Albrecht &amp; </a:t>
            </a:r>
            <a:r>
              <a:rPr lang="en-IE" altLang="en-US" sz="2000" dirty="0" err="1">
                <a:latin typeface="+mn-lt"/>
                <a:cs typeface="Times New Roman" pitchFamily="18" charset="0"/>
              </a:rPr>
              <a:t>Travaglione</a:t>
            </a:r>
            <a:r>
              <a:rPr lang="en-IE" altLang="en-US" sz="2000" dirty="0">
                <a:latin typeface="+mn-lt"/>
                <a:cs typeface="Times New Roman" pitchFamily="18" charset="0"/>
              </a:rPr>
              <a:t>, 2003)</a:t>
            </a:r>
          </a:p>
          <a:p>
            <a:pPr marL="738187" lvl="1" indent="-457200">
              <a:spcBef>
                <a:spcPct val="20000"/>
              </a:spcBef>
              <a:buFont typeface="+mj-lt"/>
              <a:buAutoNum type="arabicPeriod"/>
            </a:pPr>
            <a:r>
              <a:rPr lang="en-IE" altLang="en-US" sz="2000" dirty="0">
                <a:latin typeface="+mn-lt"/>
                <a:cs typeface="Times New Roman" pitchFamily="18" charset="0"/>
              </a:rPr>
              <a:t>Superior levels of performance (Dirks, 2000)</a:t>
            </a:r>
          </a:p>
          <a:p>
            <a:pPr marL="738187" lvl="1" indent="-457200">
              <a:spcBef>
                <a:spcPct val="20000"/>
              </a:spcBef>
              <a:buFont typeface="+mj-lt"/>
              <a:buAutoNum type="arabicPeriod"/>
            </a:pPr>
            <a:endParaRPr lang="en-IE" altLang="en-US" sz="2000" dirty="0">
              <a:latin typeface="+mn-lt"/>
              <a:cs typeface="Times New Roman" pitchFamily="18" charset="0"/>
            </a:endParaRPr>
          </a:p>
          <a:p>
            <a:pPr marL="0" indent="0">
              <a:spcBef>
                <a:spcPct val="20000"/>
              </a:spcBef>
            </a:pPr>
            <a:r>
              <a:rPr lang="en-IE" altLang="en-US" sz="2400" dirty="0">
                <a:latin typeface="+mn-lt"/>
                <a:cs typeface="Times New Roman" pitchFamily="18" charset="0"/>
              </a:rPr>
              <a:t>Trust augments social capital (Kramer, 1999)</a:t>
            </a:r>
          </a:p>
          <a:p>
            <a:pPr marL="738187" lvl="1" indent="-457200">
              <a:spcBef>
                <a:spcPct val="20000"/>
              </a:spcBef>
              <a:buFont typeface="+mj-lt"/>
              <a:buAutoNum type="arabicPeriod"/>
            </a:pPr>
            <a:r>
              <a:rPr lang="en-IE" altLang="en-US" sz="2000" dirty="0">
                <a:latin typeface="+mn-lt"/>
                <a:cs typeface="Times New Roman" pitchFamily="18" charset="0"/>
              </a:rPr>
              <a:t>Mitigating transaction costs through enhanced collaboration and cooperation</a:t>
            </a:r>
          </a:p>
          <a:p>
            <a:pPr marL="738187" lvl="1" indent="-457200">
              <a:spcBef>
                <a:spcPct val="20000"/>
              </a:spcBef>
              <a:buFont typeface="+mj-lt"/>
              <a:buAutoNum type="arabicPeriod"/>
            </a:pPr>
            <a:r>
              <a:rPr lang="en-IE" altLang="en-US" sz="2000" dirty="0">
                <a:latin typeface="+mn-lt"/>
                <a:cs typeface="Times New Roman" pitchFamily="18" charset="0"/>
              </a:rPr>
              <a:t>Increasing sociability of employees which in turn can lead to more altruistic and prosocial behaviours</a:t>
            </a:r>
          </a:p>
          <a:p>
            <a:pPr marL="738187" lvl="1" indent="-457200">
              <a:spcBef>
                <a:spcPct val="20000"/>
              </a:spcBef>
              <a:buFont typeface="+mj-lt"/>
              <a:buAutoNum type="arabicPeriod"/>
            </a:pPr>
            <a:r>
              <a:rPr lang="en-IE" altLang="en-US" sz="2000" dirty="0">
                <a:latin typeface="+mn-lt"/>
                <a:cs typeface="Times New Roman" pitchFamily="18" charset="0"/>
              </a:rPr>
              <a:t>Facilitating deference to those in authority which implies that superiors do not have to constantly justify their actions and behaviours to their subordinates</a:t>
            </a:r>
          </a:p>
        </p:txBody>
      </p:sp>
    </p:spTree>
    <p:extLst>
      <p:ext uri="{BB962C8B-B14F-4D97-AF65-F5344CB8AC3E}">
        <p14:creationId xmlns:p14="http://schemas.microsoft.com/office/powerpoint/2010/main" val="34867644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33855" y="1340768"/>
            <a:ext cx="10486417" cy="5256584"/>
          </a:xfrm>
        </p:spPr>
        <p:txBody>
          <a:bodyPr>
            <a:noAutofit/>
          </a:bodyPr>
          <a:lstStyle/>
          <a:p>
            <a:r>
              <a:rPr lang="en-IE" sz="2800" dirty="0">
                <a:cs typeface="Times New Roman" pitchFamily="18" charset="0"/>
              </a:rPr>
              <a:t>Trust is influenced by the context in which it operates</a:t>
            </a:r>
          </a:p>
          <a:p>
            <a:pPr lvl="1"/>
            <a:r>
              <a:rPr lang="en-IE" sz="2400" dirty="0">
                <a:cs typeface="Times New Roman" pitchFamily="18" charset="0"/>
              </a:rPr>
              <a:t>in organisations HRM policies are a key factor in shaping the environment and creating guiding principles and rules for behaviour </a:t>
            </a:r>
            <a:endParaRPr lang="en-IE" sz="2800" dirty="0">
              <a:cs typeface="Times New Roman" pitchFamily="18" charset="0"/>
            </a:endParaRPr>
          </a:p>
          <a:p>
            <a:r>
              <a:rPr lang="en-IE" sz="2800" dirty="0">
                <a:cs typeface="Times New Roman" pitchFamily="18" charset="0"/>
              </a:rPr>
              <a:t>HRM emphasises the facilitation of positive workplace behaviours to encourage employee commitment and performance</a:t>
            </a:r>
          </a:p>
          <a:p>
            <a:pPr lvl="1"/>
            <a:r>
              <a:rPr lang="en-IE" sz="2400" dirty="0">
                <a:cs typeface="Times New Roman" pitchFamily="18" charset="0"/>
              </a:rPr>
              <a:t>trust is factor which enables effective workplace relationships that support organisational  performance and employee engagement</a:t>
            </a:r>
            <a:endParaRPr lang="en-IE" sz="2800" dirty="0">
              <a:cs typeface="Times New Roman" pitchFamily="18" charset="0"/>
            </a:endParaRPr>
          </a:p>
          <a:p>
            <a:r>
              <a:rPr lang="en-IE" sz="2800" dirty="0">
                <a:cs typeface="Times New Roman" pitchFamily="18" charset="0"/>
              </a:rPr>
              <a:t>So HRM and trust are intertwined:</a:t>
            </a:r>
          </a:p>
          <a:p>
            <a:pPr lvl="1"/>
            <a:r>
              <a:rPr lang="en-IE" sz="2400" dirty="0">
                <a:cs typeface="Times New Roman" pitchFamily="18" charset="0"/>
              </a:rPr>
              <a:t>HRM policy choices and practices can influence levels of trust in an organisation</a:t>
            </a:r>
          </a:p>
          <a:p>
            <a:pPr lvl="1"/>
            <a:r>
              <a:rPr lang="en-IE" sz="2400" dirty="0">
                <a:cs typeface="Times New Roman" pitchFamily="18" charset="0"/>
              </a:rPr>
              <a:t>Levels of trust can influence HRM policy choices and the effectiveness of HRM practices</a:t>
            </a:r>
          </a:p>
          <a:p>
            <a:r>
              <a:rPr lang="en-IE" sz="2800" dirty="0">
                <a:cs typeface="Times New Roman" pitchFamily="18" charset="0"/>
              </a:rPr>
              <a:t>Trust and HRM is an under-explored  area of research</a:t>
            </a:r>
            <a:endParaRPr lang="en-IE" sz="2800" dirty="0"/>
          </a:p>
          <a:p>
            <a:pPr lvl="0"/>
            <a:endParaRPr lang="en-GB" dirty="0"/>
          </a:p>
          <a:p>
            <a:endParaRPr lang="en-IE" dirty="0"/>
          </a:p>
          <a:p>
            <a:endParaRPr lang="en-IE" dirty="0"/>
          </a:p>
          <a:p>
            <a:pPr lvl="0"/>
            <a:endParaRPr lang="en-IE" dirty="0"/>
          </a:p>
          <a:p>
            <a:pPr lvl="0"/>
            <a:endParaRPr lang="en-IE" dirty="0"/>
          </a:p>
          <a:p>
            <a:pPr lvl="0"/>
            <a:endParaRPr lang="en-IE" dirty="0"/>
          </a:p>
          <a:p>
            <a:pPr lvl="0"/>
            <a:endParaRPr lang="en-GB" dirty="0"/>
          </a:p>
          <a:p>
            <a:pPr lvl="0"/>
            <a:endParaRPr lang="en-GB" dirty="0"/>
          </a:p>
          <a:p>
            <a:endParaRPr lang="en-GB" dirty="0">
              <a:cs typeface="Times New Roman" pitchFamily="18" charset="0"/>
            </a:endParaRPr>
          </a:p>
        </p:txBody>
      </p:sp>
      <p:sp>
        <p:nvSpPr>
          <p:cNvPr id="8" name="Title 1"/>
          <p:cNvSpPr>
            <a:spLocks noGrp="1"/>
          </p:cNvSpPr>
          <p:nvPr>
            <p:ph type="title"/>
            <p:custDataLst>
              <p:tags r:id="rId1"/>
            </p:custDataLst>
          </p:nvPr>
        </p:nvSpPr>
        <p:spPr>
          <a:xfrm>
            <a:off x="2358008" y="116632"/>
            <a:ext cx="8706544" cy="1143000"/>
          </a:xfrm>
        </p:spPr>
        <p:txBody>
          <a:bodyPr>
            <a:normAutofit/>
          </a:bodyPr>
          <a:lstStyle/>
          <a:p>
            <a:r>
              <a:rPr lang="en-US" sz="4000" dirty="0"/>
              <a:t>HRM and Trust </a:t>
            </a:r>
          </a:p>
        </p:txBody>
      </p:sp>
    </p:spTree>
    <p:extLst>
      <p:ext uri="{BB962C8B-B14F-4D97-AF65-F5344CB8AC3E}">
        <p14:creationId xmlns:p14="http://schemas.microsoft.com/office/powerpoint/2010/main" val="9185166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p:cNvSpPr>
            <a:spLocks noGrp="1"/>
          </p:cNvSpPr>
          <p:nvPr>
            <p:ph type="title"/>
            <p:custDataLst>
              <p:tags r:id="rId1"/>
            </p:custDataLst>
          </p:nvPr>
        </p:nvSpPr>
        <p:spPr>
          <a:xfrm>
            <a:off x="5181601" y="634946"/>
            <a:ext cx="6368142" cy="1450757"/>
          </a:xfrm>
        </p:spPr>
        <p:txBody>
          <a:bodyPr vert="horz" lIns="91440" tIns="45720" rIns="91440" bIns="45720" rtlCol="0" anchorCtr="0">
            <a:normAutofit/>
          </a:bodyPr>
          <a:lstStyle/>
          <a:p>
            <a:r>
              <a:rPr lang="en-IE"/>
              <a:t>HRM and Trust</a:t>
            </a:r>
            <a:endParaRPr lang="en-US"/>
          </a:p>
        </p:txBody>
      </p:sp>
      <p:pic>
        <p:nvPicPr>
          <p:cNvPr id="10" name="Picture 9" descr="Colourful carved figures of humans">
            <a:extLst>
              <a:ext uri="{FF2B5EF4-FFF2-40B4-BE49-F238E27FC236}">
                <a16:creationId xmlns:a16="http://schemas.microsoft.com/office/drawing/2014/main" id="{5AC795F0-6FAE-934D-1CCD-489FDE57BFDB}"/>
              </a:ext>
            </a:extLst>
          </p:cNvPr>
          <p:cNvPicPr>
            <a:picLocks noChangeAspect="1"/>
          </p:cNvPicPr>
          <p:nvPr/>
        </p:nvPicPr>
        <p:blipFill rotWithShape="1">
          <a:blip r:embed="rId4"/>
          <a:srcRect l="25981" r="25750" b="1"/>
          <a:stretch/>
        </p:blipFill>
        <p:spPr>
          <a:xfrm>
            <a:off x="20" y="-12128"/>
            <a:ext cx="4654276" cy="6870127"/>
          </a:xfrm>
          <a:prstGeom prst="rect">
            <a:avLst/>
          </a:prstGeom>
        </p:spPr>
      </p:pic>
      <p:cxnSp>
        <p:nvCxnSpPr>
          <p:cNvPr id="18" name="Straight Connector 17">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5181601" y="2198914"/>
            <a:ext cx="6368142" cy="3670180"/>
          </a:xfrm>
        </p:spPr>
        <p:txBody>
          <a:bodyPr>
            <a:normAutofit/>
          </a:bodyPr>
          <a:lstStyle/>
          <a:p>
            <a:r>
              <a:rPr lang="en-IE">
                <a:cs typeface="Times New Roman" pitchFamily="18" charset="0"/>
              </a:rPr>
              <a:t>HRM involves two aspects of trust:</a:t>
            </a:r>
          </a:p>
          <a:p>
            <a:pPr lvl="0"/>
            <a:endParaRPr lang="en-IE">
              <a:cs typeface="Times New Roman" pitchFamily="18" charset="0"/>
            </a:endParaRPr>
          </a:p>
          <a:p>
            <a:pPr lvl="1"/>
            <a:r>
              <a:rPr lang="en-IE">
                <a:cs typeface="Times New Roman" pitchFamily="18" charset="0"/>
              </a:rPr>
              <a:t>Systems trust</a:t>
            </a:r>
          </a:p>
          <a:p>
            <a:pPr lvl="1"/>
            <a:endParaRPr lang="en-IE">
              <a:cs typeface="Times New Roman" pitchFamily="18" charset="0"/>
            </a:endParaRPr>
          </a:p>
          <a:p>
            <a:pPr lvl="2"/>
            <a:r>
              <a:rPr lang="en-IE">
                <a:cs typeface="Times New Roman" pitchFamily="18" charset="0"/>
              </a:rPr>
              <a:t>Employees and line managers must view the HR systems (the processes, procedures, practices) as fair, consistent, non threatening</a:t>
            </a:r>
          </a:p>
          <a:p>
            <a:pPr lvl="1"/>
            <a:endParaRPr lang="en-IE">
              <a:cs typeface="Times New Roman" pitchFamily="18" charset="0"/>
            </a:endParaRPr>
          </a:p>
          <a:p>
            <a:pPr lvl="1"/>
            <a:r>
              <a:rPr lang="en-IE">
                <a:cs typeface="Times New Roman" pitchFamily="18" charset="0"/>
              </a:rPr>
              <a:t>Interpersonal trust</a:t>
            </a:r>
          </a:p>
          <a:p>
            <a:pPr lvl="1"/>
            <a:endParaRPr lang="en-IE">
              <a:cs typeface="Times New Roman" pitchFamily="18" charset="0"/>
            </a:endParaRPr>
          </a:p>
          <a:p>
            <a:pPr lvl="2"/>
            <a:r>
              <a:rPr lang="en-IE">
                <a:cs typeface="Times New Roman" pitchFamily="18" charset="0"/>
              </a:rPr>
              <a:t>Employee perceptions of HRM processes are also influenced by trustworthiness perceptions of both their direct manager and of the designers of the HRM systems (the HR professionals)</a:t>
            </a:r>
            <a:endParaRPr lang="en-GB">
              <a:cs typeface="Times New Roman" pitchFamily="18" charset="0"/>
            </a:endParaRPr>
          </a:p>
          <a:p>
            <a:pPr lvl="0"/>
            <a:endParaRPr lang="en-IE"/>
          </a:p>
          <a:p>
            <a:pPr lvl="0"/>
            <a:endParaRPr lang="en-GB"/>
          </a:p>
          <a:p>
            <a:pPr marL="0" indent="0">
              <a:buNone/>
            </a:pPr>
            <a:endParaRPr lang="en-IE"/>
          </a:p>
          <a:p>
            <a:pPr marL="0" indent="0">
              <a:buNone/>
            </a:pPr>
            <a:endParaRPr lang="en-IE"/>
          </a:p>
          <a:p>
            <a:pPr lvl="0"/>
            <a:endParaRPr lang="en-IE"/>
          </a:p>
          <a:p>
            <a:pPr lvl="0"/>
            <a:endParaRPr lang="en-IE"/>
          </a:p>
          <a:p>
            <a:pPr lvl="0"/>
            <a:endParaRPr lang="en-IE"/>
          </a:p>
          <a:p>
            <a:pPr lvl="0"/>
            <a:endParaRPr lang="en-GB"/>
          </a:p>
          <a:p>
            <a:pPr lvl="0"/>
            <a:endParaRPr lang="en-GB"/>
          </a:p>
          <a:p>
            <a:endParaRPr lang="en-GB">
              <a:cs typeface="Times New Roman" pitchFamily="18" charset="0"/>
            </a:endParaRPr>
          </a:p>
        </p:txBody>
      </p:sp>
    </p:spTree>
    <p:extLst>
      <p:ext uri="{BB962C8B-B14F-4D97-AF65-F5344CB8AC3E}">
        <p14:creationId xmlns:p14="http://schemas.microsoft.com/office/powerpoint/2010/main" val="18439062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5560" y="1556792"/>
            <a:ext cx="8521062" cy="388843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8" name="Title 1"/>
          <p:cNvSpPr>
            <a:spLocks noGrp="1"/>
          </p:cNvSpPr>
          <p:nvPr>
            <p:ph type="title"/>
            <p:custDataLst>
              <p:tags r:id="rId1"/>
            </p:custDataLst>
          </p:nvPr>
        </p:nvSpPr>
        <p:spPr>
          <a:xfrm>
            <a:off x="2207568" y="116632"/>
            <a:ext cx="8706544" cy="1143000"/>
          </a:xfrm>
        </p:spPr>
        <p:txBody>
          <a:bodyPr vert="horz" lIns="91440" tIns="45720" rIns="91440" bIns="45720" rtlCol="0" anchor="ctr" anchorCtr="0">
            <a:normAutofit/>
          </a:bodyPr>
          <a:lstStyle/>
          <a:p>
            <a:r>
              <a:rPr lang="en-US" sz="4000" dirty="0"/>
              <a:t>Trust is a factor throughout the HRM cycle </a:t>
            </a:r>
          </a:p>
        </p:txBody>
      </p:sp>
      <p:sp>
        <p:nvSpPr>
          <p:cNvPr id="11" name="Rectangle 10"/>
          <p:cNvSpPr/>
          <p:nvPr/>
        </p:nvSpPr>
        <p:spPr>
          <a:xfrm>
            <a:off x="2927648" y="6454497"/>
            <a:ext cx="6984776" cy="400110"/>
          </a:xfrm>
          <a:prstGeom prst="rect">
            <a:avLst/>
          </a:prstGeom>
        </p:spPr>
        <p:txBody>
          <a:bodyPr wrap="square">
            <a:spAutoFit/>
          </a:bodyPr>
          <a:lstStyle/>
          <a:p>
            <a:pPr algn="ctr"/>
            <a:r>
              <a:rPr lang="en-GB" sz="1000" dirty="0"/>
              <a:t>Adapted from  </a:t>
            </a:r>
          </a:p>
          <a:p>
            <a:pPr algn="ctr"/>
            <a:r>
              <a:rPr lang="en-GB" sz="1000" dirty="0"/>
              <a:t>Skinner, D., &amp; Searle, R. (2011). </a:t>
            </a:r>
            <a:r>
              <a:rPr lang="en-GB" sz="1000" i="1" dirty="0"/>
              <a:t>Trust and human resource management</a:t>
            </a:r>
            <a:r>
              <a:rPr lang="en-GB" sz="1000" dirty="0"/>
              <a:t>. Edward Elgar Publishing, p6</a:t>
            </a:r>
          </a:p>
        </p:txBody>
      </p:sp>
      <p:sp>
        <p:nvSpPr>
          <p:cNvPr id="6" name="Oval 5"/>
          <p:cNvSpPr/>
          <p:nvPr/>
        </p:nvSpPr>
        <p:spPr>
          <a:xfrm>
            <a:off x="5920920" y="2938592"/>
            <a:ext cx="967168" cy="864096"/>
          </a:xfrm>
          <a:prstGeom prst="ellipse">
            <a:avLst/>
          </a:prstGeom>
          <a:solidFill>
            <a:srgbClr val="FFFF00"/>
          </a:solidFill>
          <a:ln>
            <a:solidFill>
              <a:srgbClr val="FFFFCC"/>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r>
              <a:rPr lang="en-IE" b="1" dirty="0">
                <a:solidFill>
                  <a:schemeClr val="tx2"/>
                </a:solidFill>
              </a:rPr>
              <a:t>TRUST</a:t>
            </a:r>
          </a:p>
        </p:txBody>
      </p:sp>
      <p:pic>
        <p:nvPicPr>
          <p:cNvPr id="7" name="Picture 2" descr="Trust and Human Resource Management"/>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9768409" y="5517233"/>
            <a:ext cx="804923" cy="1212751"/>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24205073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Restoring Trust after Downsizing</a:t>
            </a:r>
          </a:p>
        </p:txBody>
      </p:sp>
      <p:sp>
        <p:nvSpPr>
          <p:cNvPr id="3" name="Content Placeholder 2"/>
          <p:cNvSpPr>
            <a:spLocks noGrp="1"/>
          </p:cNvSpPr>
          <p:nvPr>
            <p:ph idx="1"/>
          </p:nvPr>
        </p:nvSpPr>
        <p:spPr>
          <a:xfrm>
            <a:off x="1097280" y="1845734"/>
            <a:ext cx="10058400" cy="4460720"/>
          </a:xfrm>
        </p:spPr>
        <p:txBody>
          <a:bodyPr>
            <a:normAutofit lnSpcReduction="10000"/>
          </a:bodyPr>
          <a:lstStyle/>
          <a:p>
            <a:r>
              <a:rPr lang="en-US" sz="2400" b="1" dirty="0"/>
              <a:t>PLAN</a:t>
            </a:r>
          </a:p>
          <a:p>
            <a:endParaRPr lang="en-US" sz="2400" b="1" dirty="0"/>
          </a:p>
          <a:p>
            <a:r>
              <a:rPr lang="en-US" sz="2400" b="1" dirty="0"/>
              <a:t>COMMUNICATE</a:t>
            </a:r>
          </a:p>
          <a:p>
            <a:endParaRPr lang="en-US" sz="2400" b="1" dirty="0"/>
          </a:p>
          <a:p>
            <a:r>
              <a:rPr lang="en-US" sz="2400" b="1" dirty="0"/>
              <a:t>LISTEN</a:t>
            </a:r>
          </a:p>
          <a:p>
            <a:endParaRPr lang="en-US" sz="2400" b="1" dirty="0"/>
          </a:p>
          <a:p>
            <a:r>
              <a:rPr lang="en-US" sz="2400" b="1" dirty="0"/>
              <a:t>MAINTAIN CULTURE OF TRUST</a:t>
            </a:r>
          </a:p>
          <a:p>
            <a:endParaRPr lang="en-US" sz="2400" b="1" dirty="0"/>
          </a:p>
          <a:p>
            <a:r>
              <a:rPr lang="en-US" sz="2400" b="1" dirty="0"/>
              <a:t>DEVELOP SURVIVOR’S SKILLS </a:t>
            </a:r>
          </a:p>
          <a:p>
            <a:endParaRPr lang="en-US" dirty="0"/>
          </a:p>
        </p:txBody>
      </p:sp>
      <p:sp>
        <p:nvSpPr>
          <p:cNvPr id="4" name="TextBox 3"/>
          <p:cNvSpPr txBox="1"/>
          <p:nvPr/>
        </p:nvSpPr>
        <p:spPr>
          <a:xfrm>
            <a:off x="6449280" y="6475098"/>
            <a:ext cx="5428350" cy="584776"/>
          </a:xfrm>
          <a:prstGeom prst="rect">
            <a:avLst/>
          </a:prstGeom>
          <a:noFill/>
        </p:spPr>
        <p:txBody>
          <a:bodyPr wrap="square" rtlCol="0">
            <a:spAutoFit/>
          </a:bodyPr>
          <a:lstStyle/>
          <a:p>
            <a:r>
              <a:rPr lang="en-US" sz="1400" dirty="0"/>
              <a:t>Shaw, R. (1997). Trust in the Balance: San Francisco: </a:t>
            </a:r>
            <a:r>
              <a:rPr lang="en-US" sz="1400" dirty="0" err="1"/>
              <a:t>Jossey</a:t>
            </a:r>
            <a:r>
              <a:rPr lang="en-US" sz="1400" dirty="0"/>
              <a:t>-Bass </a:t>
            </a:r>
          </a:p>
          <a:p>
            <a:endParaRPr lang="en-US" dirty="0"/>
          </a:p>
        </p:txBody>
      </p:sp>
      <p:sp>
        <p:nvSpPr>
          <p:cNvPr id="5" name="TextBox 4"/>
          <p:cNvSpPr txBox="1"/>
          <p:nvPr/>
        </p:nvSpPr>
        <p:spPr>
          <a:xfrm>
            <a:off x="6673176" y="1786470"/>
            <a:ext cx="4542065" cy="4308872"/>
          </a:xfrm>
          <a:prstGeom prst="rect">
            <a:avLst/>
          </a:prstGeom>
          <a:noFill/>
          <a:ln>
            <a:solidFill>
              <a:srgbClr val="FF9933"/>
            </a:solidFill>
          </a:ln>
        </p:spPr>
        <p:txBody>
          <a:bodyPr wrap="square" rtlCol="0">
            <a:spAutoFit/>
          </a:bodyPr>
          <a:lstStyle/>
          <a:p>
            <a:r>
              <a:rPr lang="en-US" sz="2000" b="1" u="sng" dirty="0"/>
              <a:t>Employees need to believe: </a:t>
            </a:r>
          </a:p>
          <a:p>
            <a:endParaRPr lang="en-US" sz="2000" b="1" u="sng" dirty="0"/>
          </a:p>
          <a:p>
            <a:pPr marL="457200" indent="-457200">
              <a:buAutoNum type="arabicParenBoth"/>
            </a:pPr>
            <a:r>
              <a:rPr lang="en-US" sz="2000" dirty="0"/>
              <a:t>they can do the job (confidence); </a:t>
            </a:r>
          </a:p>
          <a:p>
            <a:r>
              <a:rPr lang="en-US" sz="2000" dirty="0"/>
              <a:t>(2) they believe management will reward their performance (trust), </a:t>
            </a:r>
          </a:p>
          <a:p>
            <a:r>
              <a:rPr lang="en-US" sz="2000" dirty="0"/>
              <a:t>and </a:t>
            </a:r>
          </a:p>
          <a:p>
            <a:r>
              <a:rPr lang="en-US" sz="2000" dirty="0"/>
              <a:t>(3) the outcomes will satisfy them (satisfaction).</a:t>
            </a:r>
          </a:p>
          <a:p>
            <a:endParaRPr lang="en-US" dirty="0"/>
          </a:p>
          <a:p>
            <a:endParaRPr lang="en-US" sz="1600" dirty="0"/>
          </a:p>
          <a:p>
            <a:endParaRPr lang="en-US" sz="1600" dirty="0"/>
          </a:p>
          <a:p>
            <a:endParaRPr lang="en-US" sz="1600" dirty="0"/>
          </a:p>
          <a:p>
            <a:r>
              <a:rPr lang="en-US" sz="1600" dirty="0"/>
              <a:t>Green, T. &amp; Hayes, M. (1993) The Belief System: the Secret of Motivation and Improved Performance: </a:t>
            </a:r>
            <a:r>
              <a:rPr lang="en-US" sz="1600" dirty="0" err="1"/>
              <a:t>Beechwood</a:t>
            </a:r>
            <a:r>
              <a:rPr lang="en-US" sz="1600" dirty="0"/>
              <a:t> Press</a:t>
            </a:r>
            <a:endParaRPr lang="en-US" dirty="0"/>
          </a:p>
        </p:txBody>
      </p:sp>
    </p:spTree>
    <p:extLst>
      <p:ext uri="{BB962C8B-B14F-4D97-AF65-F5344CB8AC3E}">
        <p14:creationId xmlns:p14="http://schemas.microsoft.com/office/powerpoint/2010/main" val="29686683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half" idx="2"/>
          </p:nvPr>
        </p:nvSpPr>
        <p:spPr/>
        <p:txBody>
          <a:bodyPr/>
          <a:lstStyle/>
          <a:p>
            <a:endParaRPr lang="en-IE" dirty="0"/>
          </a:p>
          <a:p>
            <a:endParaRPr lang="en-IE" dirty="0"/>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30310" y="1146219"/>
            <a:ext cx="3447203" cy="3447203"/>
          </a:xfrm>
          <a:prstGeom prst="rect">
            <a:avLst/>
          </a:prstGeom>
        </p:spPr>
      </p:pic>
      <p:sp>
        <p:nvSpPr>
          <p:cNvPr id="8" name="Title 2"/>
          <p:cNvSpPr>
            <a:spLocks noGrp="1"/>
          </p:cNvSpPr>
          <p:nvPr>
            <p:ph type="title"/>
          </p:nvPr>
        </p:nvSpPr>
        <p:spPr/>
        <p:txBody>
          <a:bodyPr/>
          <a:lstStyle/>
          <a:p>
            <a:pPr algn="ctr"/>
            <a:r>
              <a:rPr lang="en-IE" dirty="0"/>
              <a:t>Thank you for listening</a:t>
            </a:r>
          </a:p>
        </p:txBody>
      </p:sp>
    </p:spTree>
    <p:extLst>
      <p:ext uri="{BB962C8B-B14F-4D97-AF65-F5344CB8AC3E}">
        <p14:creationId xmlns:p14="http://schemas.microsoft.com/office/powerpoint/2010/main" val="105742186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ags/tag2.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ags/tag3.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heme/theme1.xml><?xml version="1.0" encoding="utf-8"?>
<a:theme xmlns:a="http://schemas.openxmlformats.org/drawingml/2006/main" name="Retrospec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2339</TotalTime>
  <Words>4533</Words>
  <Application>Microsoft Office PowerPoint</Application>
  <PresentationFormat>Widescreen</PresentationFormat>
  <Paragraphs>578</Paragraphs>
  <Slides>51</Slides>
  <Notes>31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51</vt:i4>
      </vt:variant>
    </vt:vector>
  </HeadingPairs>
  <TitlesOfParts>
    <vt:vector size="62" baseType="lpstr">
      <vt:lpstr>Arial</vt:lpstr>
      <vt:lpstr>Calibri</vt:lpstr>
      <vt:lpstr>Calibri Light</vt:lpstr>
      <vt:lpstr>Century Gothic</vt:lpstr>
      <vt:lpstr>f1l5i552-d3a-far-1lrtindax2awj</vt:lpstr>
      <vt:lpstr>Georgia</vt:lpstr>
      <vt:lpstr>Tahoma</vt:lpstr>
      <vt:lpstr>Times New Roman</vt:lpstr>
      <vt:lpstr>Univers</vt:lpstr>
      <vt:lpstr>Wingdings</vt:lpstr>
      <vt:lpstr>Retrospect</vt:lpstr>
      <vt:lpstr>Stress and Trust</vt:lpstr>
      <vt:lpstr>Review of Week 3-5</vt:lpstr>
      <vt:lpstr>What is workplace stress?</vt:lpstr>
      <vt:lpstr>STRESS in ORGANISATIONS</vt:lpstr>
      <vt:lpstr>Changing Nature of Contemporary Workplace</vt:lpstr>
      <vt:lpstr>Studying Workplace Stress</vt:lpstr>
      <vt:lpstr>CIPD Report (2021) Health &amp; Well being</vt:lpstr>
      <vt:lpstr>CIPD Report (2021) Health &amp; Well being</vt:lpstr>
      <vt:lpstr>Impact</vt:lpstr>
      <vt:lpstr>Work intensification</vt:lpstr>
      <vt:lpstr>Contributors to intensification</vt:lpstr>
      <vt:lpstr>Is work intensifying? </vt:lpstr>
      <vt:lpstr>Flexible working practices</vt:lpstr>
      <vt:lpstr>Do flexible working practices reduce intensification? </vt:lpstr>
      <vt:lpstr>Links to health? </vt:lpstr>
      <vt:lpstr>Why Bother about Stress?</vt:lpstr>
      <vt:lpstr>European Foundation for the Improvement of Living and Working Conditions, 2007 </vt:lpstr>
      <vt:lpstr>Signs of Stress</vt:lpstr>
      <vt:lpstr>Signs of Stress</vt:lpstr>
      <vt:lpstr>Signs of Stress</vt:lpstr>
      <vt:lpstr>Models of Stress</vt:lpstr>
      <vt:lpstr>Other Models of Stress</vt:lpstr>
      <vt:lpstr>DMC/S Models of Stress</vt:lpstr>
      <vt:lpstr>PowerPoint Presentation</vt:lpstr>
      <vt:lpstr>Dual Processes of the  JD-R model</vt:lpstr>
      <vt:lpstr>Transactional Models of Stress</vt:lpstr>
      <vt:lpstr>Solutions to Stress (CIPD 2021)</vt:lpstr>
      <vt:lpstr>Solutions to Stress (CIPD 2021)</vt:lpstr>
      <vt:lpstr>Solutions to Stress (CIPD 2021)</vt:lpstr>
      <vt:lpstr>Solutions to Stress (CIPD 2021)</vt:lpstr>
      <vt:lpstr>Solutions to Stress (CIPD 2021)</vt:lpstr>
      <vt:lpstr>Solutions to Stress (CIPD 2021)</vt:lpstr>
      <vt:lpstr>A Working Model of Stress  Rollinson (2008)</vt:lpstr>
      <vt:lpstr>Assessing consequences and costs: </vt:lpstr>
      <vt:lpstr>Organisational Measures</vt:lpstr>
      <vt:lpstr>Psychological and physical health Measures</vt:lpstr>
      <vt:lpstr>Interventions/Managing Stress Rollinson (2008)</vt:lpstr>
      <vt:lpstr>Downsizing Survivor Syndrome</vt:lpstr>
      <vt:lpstr>PowerPoint Presentation</vt:lpstr>
      <vt:lpstr>Building organisations capacity to embrace and manage change</vt:lpstr>
      <vt:lpstr>What is Trust?</vt:lpstr>
      <vt:lpstr>Trust in an Organisational Context </vt:lpstr>
      <vt:lpstr>Trust as a Behavioural Choice</vt:lpstr>
      <vt:lpstr>Trust as a Psychological State</vt:lpstr>
      <vt:lpstr>The Nature of Trust </vt:lpstr>
      <vt:lpstr>Why is Workplace Trust Important? </vt:lpstr>
      <vt:lpstr>HRM and Trust </vt:lpstr>
      <vt:lpstr>HRM and Trust</vt:lpstr>
      <vt:lpstr>Trust is a factor throughout the HRM cycle </vt:lpstr>
      <vt:lpstr>Restoring Trust after Downsizing</vt:lpstr>
      <vt:lpstr>Thank you for listening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Mary Kinahan</dc:creator>
  <cp:lastModifiedBy>Mary</cp:lastModifiedBy>
  <cp:revision>202</cp:revision>
  <cp:lastPrinted>2015-11-19T15:02:32Z</cp:lastPrinted>
  <dcterms:created xsi:type="dcterms:W3CDTF">2015-09-13T13:05:11Z</dcterms:created>
  <dcterms:modified xsi:type="dcterms:W3CDTF">2023-10-23T18:52:56Z</dcterms:modified>
</cp:coreProperties>
</file>