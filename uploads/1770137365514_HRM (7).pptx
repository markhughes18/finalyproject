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159"/>
  </p:notesMasterIdLst>
  <p:handoutMasterIdLst>
    <p:handoutMasterId r:id="rId160"/>
  </p:handoutMasterIdLst>
  <p:sldIdLst>
    <p:sldId id="256" r:id="rId2"/>
    <p:sldId id="257" r:id="rId3"/>
    <p:sldId id="381" r:id="rId4"/>
    <p:sldId id="382" r:id="rId5"/>
    <p:sldId id="383" r:id="rId6"/>
    <p:sldId id="258" r:id="rId7"/>
    <p:sldId id="421" r:id="rId8"/>
    <p:sldId id="259" r:id="rId9"/>
    <p:sldId id="268" r:id="rId10"/>
    <p:sldId id="385" r:id="rId11"/>
    <p:sldId id="263" r:id="rId12"/>
    <p:sldId id="264" r:id="rId13"/>
    <p:sldId id="334" r:id="rId14"/>
    <p:sldId id="423" r:id="rId15"/>
    <p:sldId id="386" r:id="rId16"/>
    <p:sldId id="279" r:id="rId17"/>
    <p:sldId id="387" r:id="rId18"/>
    <p:sldId id="424" r:id="rId19"/>
    <p:sldId id="280" r:id="rId20"/>
    <p:sldId id="336" r:id="rId21"/>
    <p:sldId id="426" r:id="rId22"/>
    <p:sldId id="335" r:id="rId23"/>
    <p:sldId id="269" r:id="rId24"/>
    <p:sldId id="270" r:id="rId25"/>
    <p:sldId id="271" r:id="rId26"/>
    <p:sldId id="422" r:id="rId27"/>
    <p:sldId id="337" r:id="rId28"/>
    <p:sldId id="428" r:id="rId29"/>
    <p:sldId id="388" r:id="rId30"/>
    <p:sldId id="429" r:id="rId31"/>
    <p:sldId id="286" r:id="rId32"/>
    <p:sldId id="389" r:id="rId33"/>
    <p:sldId id="431" r:id="rId34"/>
    <p:sldId id="339" r:id="rId35"/>
    <p:sldId id="430" r:id="rId36"/>
    <p:sldId id="457" r:id="rId37"/>
    <p:sldId id="340" r:id="rId38"/>
    <p:sldId id="419" r:id="rId39"/>
    <p:sldId id="333" r:id="rId40"/>
    <p:sldId id="390" r:id="rId41"/>
    <p:sldId id="273" r:id="rId42"/>
    <p:sldId id="341" r:id="rId43"/>
    <p:sldId id="432" r:id="rId44"/>
    <p:sldId id="392" r:id="rId45"/>
    <p:sldId id="435" r:id="rId46"/>
    <p:sldId id="274" r:id="rId47"/>
    <p:sldId id="433" r:id="rId48"/>
    <p:sldId id="393" r:id="rId49"/>
    <p:sldId id="380" r:id="rId50"/>
    <p:sldId id="377" r:id="rId51"/>
    <p:sldId id="342" r:id="rId52"/>
    <p:sldId id="379" r:id="rId53"/>
    <p:sldId id="295" r:id="rId54"/>
    <p:sldId id="296" r:id="rId55"/>
    <p:sldId id="378" r:id="rId56"/>
    <p:sldId id="375" r:id="rId57"/>
    <p:sldId id="343" r:id="rId58"/>
    <p:sldId id="437" r:id="rId59"/>
    <p:sldId id="287" r:id="rId60"/>
    <p:sldId id="361" r:id="rId61"/>
    <p:sldId id="439" r:id="rId62"/>
    <p:sldId id="288" r:id="rId63"/>
    <p:sldId id="394" r:id="rId64"/>
    <p:sldId id="440" r:id="rId65"/>
    <p:sldId id="301" r:id="rId66"/>
    <p:sldId id="345" r:id="rId67"/>
    <p:sldId id="344" r:id="rId68"/>
    <p:sldId id="376" r:id="rId69"/>
    <p:sldId id="395" r:id="rId70"/>
    <p:sldId id="302" r:id="rId71"/>
    <p:sldId id="373" r:id="rId72"/>
    <p:sldId id="442" r:id="rId73"/>
    <p:sldId id="303" r:id="rId74"/>
    <p:sldId id="441" r:id="rId75"/>
    <p:sldId id="374" r:id="rId76"/>
    <p:sldId id="289" r:id="rId77"/>
    <p:sldId id="438" r:id="rId78"/>
    <p:sldId id="308" r:id="rId79"/>
    <p:sldId id="443" r:id="rId80"/>
    <p:sldId id="396" r:id="rId81"/>
    <p:sldId id="370" r:id="rId82"/>
    <p:sldId id="309" r:id="rId83"/>
    <p:sldId id="447" r:id="rId84"/>
    <p:sldId id="397" r:id="rId85"/>
    <p:sldId id="371" r:id="rId86"/>
    <p:sldId id="398" r:id="rId87"/>
    <p:sldId id="372" r:id="rId88"/>
    <p:sldId id="346" r:id="rId89"/>
    <p:sldId id="436" r:id="rId90"/>
    <p:sldId id="399" r:id="rId91"/>
    <p:sldId id="445" r:id="rId92"/>
    <p:sldId id="290" r:id="rId93"/>
    <p:sldId id="444" r:id="rId94"/>
    <p:sldId id="400" r:id="rId95"/>
    <p:sldId id="310" r:id="rId96"/>
    <p:sldId id="368" r:id="rId97"/>
    <p:sldId id="401" r:id="rId98"/>
    <p:sldId id="448" r:id="rId99"/>
    <p:sldId id="325" r:id="rId100"/>
    <p:sldId id="369" r:id="rId101"/>
    <p:sldId id="446" r:id="rId102"/>
    <p:sldId id="402" r:id="rId103"/>
    <p:sldId id="452" r:id="rId104"/>
    <p:sldId id="326" r:id="rId105"/>
    <p:sldId id="367" r:id="rId106"/>
    <p:sldId id="403" r:id="rId107"/>
    <p:sldId id="365" r:id="rId108"/>
    <p:sldId id="405" r:id="rId109"/>
    <p:sldId id="449" r:id="rId110"/>
    <p:sldId id="406" r:id="rId111"/>
    <p:sldId id="450" r:id="rId112"/>
    <p:sldId id="311" r:id="rId113"/>
    <p:sldId id="312" r:id="rId114"/>
    <p:sldId id="366" r:id="rId115"/>
    <p:sldId id="347" r:id="rId116"/>
    <p:sldId id="451" r:id="rId117"/>
    <p:sldId id="407" r:id="rId118"/>
    <p:sldId id="331" r:id="rId119"/>
    <p:sldId id="360" r:id="rId120"/>
    <p:sldId id="348" r:id="rId121"/>
    <p:sldId id="364" r:id="rId122"/>
    <p:sldId id="408" r:id="rId123"/>
    <p:sldId id="363" r:id="rId124"/>
    <p:sldId id="409" r:id="rId125"/>
    <p:sldId id="332" r:id="rId126"/>
    <p:sldId id="453" r:id="rId127"/>
    <p:sldId id="410" r:id="rId128"/>
    <p:sldId id="358" r:id="rId129"/>
    <p:sldId id="313" r:id="rId130"/>
    <p:sldId id="359" r:id="rId131"/>
    <p:sldId id="454" r:id="rId132"/>
    <p:sldId id="412" r:id="rId133"/>
    <p:sldId id="414" r:id="rId134"/>
    <p:sldId id="413" r:id="rId135"/>
    <p:sldId id="415" r:id="rId136"/>
    <p:sldId id="349" r:id="rId137"/>
    <p:sldId id="357" r:id="rId138"/>
    <p:sldId id="411" r:id="rId139"/>
    <p:sldId id="356" r:id="rId140"/>
    <p:sldId id="455" r:id="rId141"/>
    <p:sldId id="416" r:id="rId142"/>
    <p:sldId id="427" r:id="rId143"/>
    <p:sldId id="434" r:id="rId144"/>
    <p:sldId id="350" r:id="rId145"/>
    <p:sldId id="355" r:id="rId146"/>
    <p:sldId id="354" r:id="rId147"/>
    <p:sldId id="420" r:id="rId148"/>
    <p:sldId id="315" r:id="rId149"/>
    <p:sldId id="362" r:id="rId150"/>
    <p:sldId id="417" r:id="rId151"/>
    <p:sldId id="456" r:id="rId152"/>
    <p:sldId id="353" r:id="rId153"/>
    <p:sldId id="351" r:id="rId154"/>
    <p:sldId id="418" r:id="rId155"/>
    <p:sldId id="352" r:id="rId156"/>
    <p:sldId id="262" r:id="rId157"/>
    <p:sldId id="338" r:id="rId158"/>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notesViewPr>
    <p:cSldViewPr>
      <p:cViewPr>
        <p:scale>
          <a:sx n="80" d="100"/>
          <a:sy n="80" d="100"/>
        </p:scale>
        <p:origin x="-1290" y="1698"/>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notesMaster" Target="notesMasters/notes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handoutMaster" Target="handoutMasters/handout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6411"/>
          </a:xfrm>
          <a:prstGeom prst="rect">
            <a:avLst/>
          </a:prstGeom>
        </p:spPr>
        <p:txBody>
          <a:bodyPr vert="horz" lIns="95561" tIns="47781" rIns="95561" bIns="47781" rtlCol="0"/>
          <a:lstStyle>
            <a:lvl1pPr algn="l">
              <a:defRPr sz="1300"/>
            </a:lvl1pPr>
          </a:lstStyle>
          <a:p>
            <a:endParaRPr lang="en-IE" dirty="0"/>
          </a:p>
        </p:txBody>
      </p:sp>
      <p:sp>
        <p:nvSpPr>
          <p:cNvPr id="4" name="Footer Placeholder 3"/>
          <p:cNvSpPr>
            <a:spLocks noGrp="1"/>
          </p:cNvSpPr>
          <p:nvPr>
            <p:ph type="ftr" sz="quarter" idx="2"/>
          </p:nvPr>
        </p:nvSpPr>
        <p:spPr>
          <a:xfrm>
            <a:off x="0" y="9430091"/>
            <a:ext cx="2945659" cy="496411"/>
          </a:xfrm>
          <a:prstGeom prst="rect">
            <a:avLst/>
          </a:prstGeom>
        </p:spPr>
        <p:txBody>
          <a:bodyPr vert="horz" lIns="95561" tIns="47781" rIns="95561" bIns="47781" rtlCol="0" anchor="b"/>
          <a:lstStyle>
            <a:lvl1pPr algn="l">
              <a:defRPr sz="1300"/>
            </a:lvl1pPr>
          </a:lstStyle>
          <a:p>
            <a:r>
              <a:rPr lang="en-IE" dirty="0"/>
              <a:t>Management Lecture Notes: HRM</a:t>
            </a:r>
          </a:p>
          <a:p>
            <a:r>
              <a:rPr lang="en-IE" dirty="0"/>
              <a:t>Orla Gregory</a:t>
            </a:r>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5561" tIns="47781" rIns="95561" bIns="47781" rtlCol="0" anchor="b"/>
          <a:lstStyle>
            <a:lvl1pPr algn="r">
              <a:defRPr sz="1300"/>
            </a:lvl1pPr>
          </a:lstStyle>
          <a:p>
            <a:fld id="{7A9B67BA-CD0B-4207-8C56-1BFE878BFCE4}" type="slidenum">
              <a:rPr lang="en-IE" smtClean="0"/>
              <a:pPr/>
              <a:t>‹#›</a:t>
            </a:fld>
            <a:endParaRPr lang="en-IE" dirty="0"/>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5659" cy="496411"/>
          </a:xfrm>
          <a:prstGeom prst="rect">
            <a:avLst/>
          </a:prstGeom>
        </p:spPr>
        <p:txBody>
          <a:bodyPr vert="horz" lIns="95561" tIns="47781" rIns="95561" bIns="47781" rtlCol="0"/>
          <a:lstStyle>
            <a:lvl1pPr algn="l">
              <a:defRPr sz="1300"/>
            </a:lvl1pPr>
          </a:lstStyle>
          <a:p>
            <a:endParaRPr lang="en-IE" dirty="0"/>
          </a:p>
        </p:txBody>
      </p:sp>
      <p:sp>
        <p:nvSpPr>
          <p:cNvPr id="3" name="Date Placeholder 2"/>
          <p:cNvSpPr>
            <a:spLocks noGrp="1"/>
          </p:cNvSpPr>
          <p:nvPr>
            <p:ph type="dt" idx="1"/>
          </p:nvPr>
        </p:nvSpPr>
        <p:spPr>
          <a:xfrm>
            <a:off x="3850443" y="1"/>
            <a:ext cx="2945659" cy="496411"/>
          </a:xfrm>
          <a:prstGeom prst="rect">
            <a:avLst/>
          </a:prstGeom>
        </p:spPr>
        <p:txBody>
          <a:bodyPr vert="horz" lIns="95561" tIns="47781" rIns="95561" bIns="47781" rtlCol="0"/>
          <a:lstStyle>
            <a:lvl1pPr algn="r">
              <a:defRPr sz="1300"/>
            </a:lvl1pPr>
          </a:lstStyle>
          <a:p>
            <a:fld id="{36C397B1-010E-4A6F-8E4A-03483DAB17A4}" type="datetimeFigureOut">
              <a:rPr lang="en-IE" smtClean="0"/>
              <a:pPr/>
              <a:t>17/11/2022</a:t>
            </a:fld>
            <a:endParaRPr lang="en-IE"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5561" tIns="47781" rIns="95561" bIns="47781" rtlCol="0" anchor="ctr"/>
          <a:lstStyle/>
          <a:p>
            <a:endParaRPr lang="en-IE" dirty="0"/>
          </a:p>
        </p:txBody>
      </p:sp>
      <p:sp>
        <p:nvSpPr>
          <p:cNvPr id="5" name="Notes Placeholder 4"/>
          <p:cNvSpPr>
            <a:spLocks noGrp="1"/>
          </p:cNvSpPr>
          <p:nvPr>
            <p:ph type="body" sz="quarter" idx="3"/>
          </p:nvPr>
        </p:nvSpPr>
        <p:spPr>
          <a:xfrm>
            <a:off x="679768" y="4715908"/>
            <a:ext cx="5438140" cy="4467701"/>
          </a:xfrm>
          <a:prstGeom prst="rect">
            <a:avLst/>
          </a:prstGeom>
        </p:spPr>
        <p:txBody>
          <a:bodyPr vert="horz" lIns="95561" tIns="47781" rIns="95561" bIns="4778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430091"/>
            <a:ext cx="2945659" cy="496411"/>
          </a:xfrm>
          <a:prstGeom prst="rect">
            <a:avLst/>
          </a:prstGeom>
        </p:spPr>
        <p:txBody>
          <a:bodyPr vert="horz" lIns="95561" tIns="47781" rIns="95561" bIns="47781" rtlCol="0" anchor="b"/>
          <a:lstStyle>
            <a:lvl1pPr algn="l">
              <a:defRPr sz="1300"/>
            </a:lvl1pPr>
          </a:lstStyle>
          <a:p>
            <a:endParaRPr lang="en-IE" dirty="0"/>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5561" tIns="47781" rIns="95561" bIns="47781" rtlCol="0" anchor="b"/>
          <a:lstStyle>
            <a:lvl1pPr algn="r">
              <a:defRPr sz="1300"/>
            </a:lvl1pPr>
          </a:lstStyle>
          <a:p>
            <a:fld id="{CB56DB32-B530-45E8-BE12-5699D55FAE1A}" type="slidenum">
              <a:rPr lang="en-IE" smtClean="0"/>
              <a:pPr/>
              <a:t>‹#›</a:t>
            </a:fld>
            <a:endParaRPr lang="en-IE"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E" dirty="0"/>
          </a:p>
        </p:txBody>
      </p:sp>
      <p:sp>
        <p:nvSpPr>
          <p:cNvPr id="4" name="Slide Number Placeholder 3"/>
          <p:cNvSpPr>
            <a:spLocks noGrp="1"/>
          </p:cNvSpPr>
          <p:nvPr>
            <p:ph type="sldNum" sz="quarter" idx="10"/>
          </p:nvPr>
        </p:nvSpPr>
        <p:spPr/>
        <p:txBody>
          <a:bodyPr/>
          <a:lstStyle/>
          <a:p>
            <a:fld id="{CB56DB32-B530-45E8-BE12-5699D55FAE1A}" type="slidenum">
              <a:rPr lang="en-IE" smtClean="0"/>
              <a:pPr/>
              <a:t>6</a:t>
            </a:fld>
            <a:endParaRPr lang="en-IE"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B56DB32-B530-45E8-BE12-5699D55FAE1A}" type="slidenum">
              <a:rPr lang="en-IE" smtClean="0"/>
              <a:pPr/>
              <a:t>75</a:t>
            </a:fld>
            <a:endParaRPr lang="en-IE"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339D3A7-E24F-479F-BB34-E433E61784C8}" type="datetime1">
              <a:rPr lang="en-US" smtClean="0"/>
              <a:pPr/>
              <a:t>11/17/2022</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lvl1pPr>
              <a:defRPr sz="4400" b="1"/>
            </a:lvl1pPr>
          </a:lstStyle>
          <a:p>
            <a:r>
              <a:rPr kumimoji="0" lang="en-US" dirty="0"/>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66FC097-9278-464E-9B40-1889AEE18F7C}" type="datetime1">
              <a:rPr lang="en-US" smtClean="0"/>
              <a:pPr/>
              <a:t>11/17/2022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1133907-6D0E-4FE8-AF5C-F1971614DD30}" type="datetime1">
              <a:rPr lang="en-US" smtClean="0"/>
              <a:pPr/>
              <a:t>11/17/2022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normAutofit/>
          </a:bodyPr>
          <a:lstStyle>
            <a:lvl1pPr>
              <a:defRPr sz="4400" b="1"/>
            </a:lvl1pPr>
          </a:lstStyle>
          <a:p>
            <a:r>
              <a:rPr kumimoji="0" lang="en-US" dirty="0"/>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01E6F1A-56A4-449B-BD72-1C0679C4108B}" type="datetime1">
              <a:rPr lang="en-US" smtClean="0"/>
              <a:pPr/>
              <a:t>11/17/2022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595C3AC-F1AB-43DA-ADC7-E8409C7C1D3F}" type="datetime1">
              <a:rPr lang="en-US" smtClean="0"/>
              <a:pPr/>
              <a:t>11/17/2022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F850D182-BF23-425B-B023-6590FCA417DD}" type="datetime1">
              <a:rPr lang="en-US" smtClean="0"/>
              <a:pPr/>
              <a:t>11/17/2022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1B9FB6-4341-46A4-80D6-31DE50E31B1F}" type="datetime1">
              <a:rPr lang="en-US" smtClean="0"/>
              <a:pPr/>
              <a:t>11/17/2022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AF3D96AA-C68A-4722-A412-1D558F7A648D}" type="datetime1">
              <a:rPr lang="en-US" smtClean="0"/>
              <a:pPr/>
              <a:t>11/17/2022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0FB264B-0EF6-4881-BD27-576C1B25852E}" type="datetime1">
              <a:rPr lang="en-US" smtClean="0"/>
              <a:pPr/>
              <a:t>11/17/2022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13DD3BB-5C78-46B2-91E3-05754D76AB9F}" type="datetime1">
              <a:rPr lang="en-US" smtClean="0"/>
              <a:pPr/>
              <a:t>11/17/2022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C259F47-2656-4C00-A755-72E3B2E5E69F}" type="datetime1">
              <a:rPr lang="en-US" smtClean="0"/>
              <a:pPr/>
              <a:t>11/17/2022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1A53B5A-09B6-4BA2-AE9C-CC55D808CF0C}" type="datetime1">
              <a:rPr lang="en-US" smtClean="0"/>
              <a:pPr/>
              <a:t>11/17/2022</a:t>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4.gi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64.gi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8.gif"/><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82.gif"/><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image" Target="../media/image85.gif"/><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88.gif"/><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image" Target="../media/image90.gif"/><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92.gif"/><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93.gif"/><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95.gif"/><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hyperlink" Target="http://www.shrm.org/" TargetMode="External"/><Relationship Id="rId2" Type="http://schemas.openxmlformats.org/officeDocument/2006/relationships/hyperlink" Target="http://www.cia/" TargetMode="Externa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hyperlink" Target="http://www.shrm.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IE" sz="6600" dirty="0"/>
              <a:t>Human Resource Management</a:t>
            </a:r>
          </a:p>
        </p:txBody>
      </p:sp>
      <p:sp>
        <p:nvSpPr>
          <p:cNvPr id="3" name="Subtitle 2"/>
          <p:cNvSpPr>
            <a:spLocks noGrp="1"/>
          </p:cNvSpPr>
          <p:nvPr>
            <p:ph type="subTitle" idx="1"/>
          </p:nvPr>
        </p:nvSpPr>
        <p:spPr>
          <a:xfrm>
            <a:off x="533400" y="3505200"/>
            <a:ext cx="7854696" cy="1981200"/>
          </a:xfrm>
        </p:spPr>
        <p:txBody>
          <a:bodyPr>
            <a:normAutofit/>
          </a:bodyPr>
          <a:lstStyle/>
          <a:p>
            <a:endParaRPr lang="en-IE" sz="4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lstStyle/>
          <a:p>
            <a:r>
              <a:rPr lang="en-IE" dirty="0"/>
              <a:t>Areas covered include.....</a:t>
            </a:r>
          </a:p>
        </p:txBody>
      </p:sp>
      <p:sp>
        <p:nvSpPr>
          <p:cNvPr id="3" name="Content Placeholder 2"/>
          <p:cNvSpPr>
            <a:spLocks noGrp="1"/>
          </p:cNvSpPr>
          <p:nvPr>
            <p:ph idx="1"/>
          </p:nvPr>
        </p:nvSpPr>
        <p:spPr/>
        <p:txBody>
          <a:bodyPr>
            <a:normAutofit fontScale="85000" lnSpcReduction="20000"/>
          </a:bodyPr>
          <a:lstStyle/>
          <a:p>
            <a:pPr marL="457200" indent="-457200"/>
            <a:r>
              <a:rPr lang="en-US" b="1" dirty="0"/>
              <a:t>Understanding </a:t>
            </a:r>
            <a:r>
              <a:rPr lang="en-US" dirty="0"/>
              <a:t>the importance of the human resource management process and the external influences that might affect that process.</a:t>
            </a:r>
          </a:p>
          <a:p>
            <a:pPr marL="457200" indent="-457200"/>
            <a:endParaRPr lang="en-US" sz="1900" b="1" dirty="0"/>
          </a:p>
          <a:p>
            <a:pPr marL="457200" indent="-457200"/>
            <a:r>
              <a:rPr lang="en-US" b="1" dirty="0"/>
              <a:t>Discussing </a:t>
            </a:r>
            <a:r>
              <a:rPr lang="en-US" dirty="0"/>
              <a:t>the tasks associated with identifying and selecting competent employees.</a:t>
            </a:r>
          </a:p>
          <a:p>
            <a:pPr marL="457200" indent="-457200"/>
            <a:endParaRPr lang="en-US" sz="2100" b="1" dirty="0"/>
          </a:p>
          <a:p>
            <a:pPr marL="457200" indent="-457200"/>
            <a:r>
              <a:rPr lang="en-US" b="1" dirty="0"/>
              <a:t>Explaining </a:t>
            </a:r>
            <a:r>
              <a:rPr lang="en-US" dirty="0"/>
              <a:t>the different types of orientation and training.</a:t>
            </a:r>
          </a:p>
          <a:p>
            <a:pPr marL="457200" indent="-457200"/>
            <a:endParaRPr lang="en-US" sz="1600" b="1" dirty="0"/>
          </a:p>
          <a:p>
            <a:pPr marL="457200" indent="-457200"/>
            <a:r>
              <a:rPr lang="en-US" b="1" dirty="0"/>
              <a:t>Describing </a:t>
            </a:r>
            <a:r>
              <a:rPr lang="en-US" dirty="0"/>
              <a:t>strategies for retaining competent, high-performing employees.</a:t>
            </a:r>
          </a:p>
          <a:p>
            <a:pPr marL="457200" indent="-457200"/>
            <a:endParaRPr lang="en-US" sz="2100" b="1" dirty="0"/>
          </a:p>
          <a:p>
            <a:pPr marL="457200" indent="-457200"/>
            <a:r>
              <a:rPr lang="en-US" b="1" dirty="0"/>
              <a:t>Discussing </a:t>
            </a:r>
            <a:r>
              <a:rPr lang="en-US" dirty="0"/>
              <a:t>contemporary issues in managing human resources.</a:t>
            </a:r>
            <a:endParaRPr lang="en-US" dirty="0">
              <a:cs typeface="Arial" charset="0"/>
            </a:endParaRPr>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38200"/>
          </a:xfrm>
        </p:spPr>
        <p:txBody>
          <a:bodyPr>
            <a:normAutofit/>
          </a:bodyPr>
          <a:lstStyle/>
          <a:p>
            <a:r>
              <a:rPr lang="en-GB" sz="4800" dirty="0"/>
              <a:t>Introduction</a:t>
            </a:r>
            <a:endParaRPr lang="en-US" sz="4800" dirty="0"/>
          </a:p>
        </p:txBody>
      </p:sp>
      <p:sp>
        <p:nvSpPr>
          <p:cNvPr id="3" name="Content Placeholder 2"/>
          <p:cNvSpPr>
            <a:spLocks noGrp="1"/>
          </p:cNvSpPr>
          <p:nvPr>
            <p:ph idx="1"/>
          </p:nvPr>
        </p:nvSpPr>
        <p:spPr>
          <a:xfrm>
            <a:off x="457200" y="1600200"/>
            <a:ext cx="8229600" cy="4724400"/>
          </a:xfrm>
        </p:spPr>
        <p:txBody>
          <a:bodyPr>
            <a:normAutofit fontScale="85000" lnSpcReduction="20000"/>
          </a:bodyPr>
          <a:lstStyle/>
          <a:p>
            <a:r>
              <a:rPr lang="en-US" sz="2800" dirty="0"/>
              <a:t>Once an organisation’s structure is in place, it’s time to find the people to fill the jobs that have been created. That’s where human resource management comes in.</a:t>
            </a:r>
          </a:p>
          <a:p>
            <a:endParaRPr lang="en-US" sz="2800" dirty="0"/>
          </a:p>
          <a:p>
            <a:r>
              <a:rPr lang="en-US" sz="2800" dirty="0"/>
              <a:t>It is an important task that involves getting the right number of the right people in the right place at the right time. </a:t>
            </a:r>
          </a:p>
          <a:p>
            <a:endParaRPr lang="en-GB" sz="2800" dirty="0"/>
          </a:p>
          <a:p>
            <a:pPr hangingPunct="0"/>
            <a:r>
              <a:rPr lang="en-US" sz="2800" dirty="0"/>
              <a:t>The quality of an organisation is, to a large degree, dependent upon the quality of the people it hires and retains. </a:t>
            </a:r>
          </a:p>
          <a:p>
            <a:pPr hangingPunct="0"/>
            <a:endParaRPr lang="en-US" sz="2800" dirty="0"/>
          </a:p>
          <a:p>
            <a:pPr hangingPunct="0"/>
            <a:r>
              <a:rPr lang="en-US" sz="2800" dirty="0"/>
              <a:t>This topic examines the concepts of human resource management. </a:t>
            </a:r>
          </a:p>
          <a:p>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HRM Process</a:t>
            </a:r>
            <a:endParaRPr lang="en-US" dirty="0"/>
          </a:p>
        </p:txBody>
      </p:sp>
      <p:sp>
        <p:nvSpPr>
          <p:cNvPr id="3" name="Content Placeholder 2"/>
          <p:cNvSpPr>
            <a:spLocks noGrp="1"/>
          </p:cNvSpPr>
          <p:nvPr>
            <p:ph idx="1"/>
          </p:nvPr>
        </p:nvSpPr>
        <p:spPr/>
        <p:txBody>
          <a:bodyPr>
            <a:normAutofit fontScale="85000" lnSpcReduction="20000"/>
          </a:bodyPr>
          <a:lstStyle/>
          <a:p>
            <a:pPr hangingPunct="0"/>
            <a:r>
              <a:rPr lang="en-US" dirty="0"/>
              <a:t>Various studies have concluded that an organisation’s human resources can be an important strategic tool and can help establish a firm’s sustainable competitive advantage. </a:t>
            </a:r>
          </a:p>
          <a:p>
            <a:endParaRPr lang="en-GB" dirty="0"/>
          </a:p>
          <a:p>
            <a:r>
              <a:rPr lang="en-GB" dirty="0"/>
              <a:t>It is important to understand the following;</a:t>
            </a:r>
          </a:p>
          <a:p>
            <a:endParaRPr lang="en-US" dirty="0"/>
          </a:p>
          <a:p>
            <a:r>
              <a:rPr lang="en-US" dirty="0"/>
              <a:t>1. Why Is Human Resource Management Important?</a:t>
            </a:r>
          </a:p>
          <a:p>
            <a:endParaRPr lang="en-US" dirty="0"/>
          </a:p>
          <a:p>
            <a:r>
              <a:rPr lang="en-US" dirty="0"/>
              <a:t>2. External Factors that affect the HRM Process, such as;</a:t>
            </a:r>
          </a:p>
          <a:p>
            <a:pPr lvl="1"/>
            <a:r>
              <a:rPr lang="en-GB" dirty="0"/>
              <a:t>Recent economic changes,</a:t>
            </a:r>
          </a:p>
          <a:p>
            <a:pPr lvl="1"/>
            <a:r>
              <a:rPr lang="en-GB" dirty="0"/>
              <a:t>Unionisation,</a:t>
            </a:r>
          </a:p>
          <a:p>
            <a:pPr lvl="1"/>
            <a:r>
              <a:rPr lang="en-GB" dirty="0"/>
              <a:t>Laws &amp; Regulations,</a:t>
            </a:r>
          </a:p>
          <a:p>
            <a:pPr lvl="1"/>
            <a:r>
              <a:rPr lang="en-GB" dirty="0"/>
              <a:t>Demographic trends.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62000"/>
          </a:xfrm>
        </p:spPr>
        <p:txBody>
          <a:bodyPr>
            <a:normAutofit/>
          </a:bodyPr>
          <a:lstStyle/>
          <a:p>
            <a:r>
              <a:rPr lang="en-US" dirty="0"/>
              <a:t>Why Is HRM Important? </a:t>
            </a:r>
          </a:p>
        </p:txBody>
      </p:sp>
      <p:sp>
        <p:nvSpPr>
          <p:cNvPr id="3" name="Content Placeholder 2"/>
          <p:cNvSpPr>
            <a:spLocks noGrp="1"/>
          </p:cNvSpPr>
          <p:nvPr>
            <p:ph idx="1"/>
          </p:nvPr>
        </p:nvSpPr>
        <p:spPr>
          <a:xfrm>
            <a:off x="457200" y="1676400"/>
            <a:ext cx="8229600" cy="4953000"/>
          </a:xfrm>
        </p:spPr>
        <p:txBody>
          <a:bodyPr>
            <a:normAutofit fontScale="85000" lnSpcReduction="20000"/>
          </a:bodyPr>
          <a:lstStyle/>
          <a:p>
            <a:r>
              <a:rPr lang="en-US" sz="2800" dirty="0"/>
              <a:t>Whether or not an organisation has a human resource department, </a:t>
            </a:r>
            <a:r>
              <a:rPr lang="en-US" sz="2800" i="1" dirty="0"/>
              <a:t>every manager is involved </a:t>
            </a:r>
            <a:r>
              <a:rPr lang="en-US" sz="2800" dirty="0"/>
              <a:t>with human resource management activities.</a:t>
            </a:r>
          </a:p>
          <a:p>
            <a:endParaRPr lang="en-US" sz="3000" b="1" dirty="0"/>
          </a:p>
          <a:p>
            <a:r>
              <a:rPr lang="en-US" sz="3000" b="1" dirty="0"/>
              <a:t>3 Reasons</a:t>
            </a:r>
          </a:p>
          <a:p>
            <a:endParaRPr lang="en-GB" sz="1400" dirty="0"/>
          </a:p>
          <a:p>
            <a:r>
              <a:rPr lang="en-US" sz="2800" dirty="0">
                <a:cs typeface="Arial" charset="0"/>
              </a:rPr>
              <a:t>1</a:t>
            </a:r>
            <a:r>
              <a:rPr lang="en-US" sz="2800" baseline="30000" dirty="0">
                <a:cs typeface="Arial" charset="0"/>
              </a:rPr>
              <a:t>st</a:t>
            </a:r>
            <a:r>
              <a:rPr lang="en-US" sz="2800" dirty="0">
                <a:cs typeface="Arial" charset="0"/>
              </a:rPr>
              <a:t> - Studies have concluded, it can be a significant source of competitive.</a:t>
            </a:r>
          </a:p>
          <a:p>
            <a:endParaRPr lang="en-US" sz="2800" dirty="0">
              <a:cs typeface="Arial" charset="0"/>
            </a:endParaRPr>
          </a:p>
          <a:p>
            <a:r>
              <a:rPr lang="en-US" sz="2800" dirty="0"/>
              <a:t>2</a:t>
            </a:r>
            <a:r>
              <a:rPr lang="en-US" sz="2800" baseline="30000" dirty="0"/>
              <a:t>nd</a:t>
            </a:r>
            <a:r>
              <a:rPr lang="en-US" sz="2800" dirty="0"/>
              <a:t> - As an important strategic tool, to be used as part of organisational strategies.</a:t>
            </a:r>
          </a:p>
          <a:p>
            <a:endParaRPr lang="en-US" sz="2800" dirty="0"/>
          </a:p>
          <a:p>
            <a:r>
              <a:rPr lang="en-US" sz="2800" dirty="0"/>
              <a:t>3</a:t>
            </a:r>
            <a:r>
              <a:rPr lang="en-US" sz="2800" baseline="30000" dirty="0"/>
              <a:t>rd</a:t>
            </a:r>
            <a:r>
              <a:rPr lang="en-US" sz="2800" dirty="0"/>
              <a:t> - T</a:t>
            </a:r>
            <a:r>
              <a:rPr lang="en-US" sz="2800" dirty="0">
                <a:cs typeface="Arial" charset="0"/>
              </a:rPr>
              <a:t>he way organisations treat their people, has been found to significantly impact organisational performance. </a:t>
            </a:r>
          </a:p>
          <a:p>
            <a:endParaRPr lang="en-US" sz="28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fontScale="90000"/>
          </a:bodyPr>
          <a:lstStyle/>
          <a:p>
            <a:r>
              <a:rPr lang="en-US" dirty="0"/>
              <a:t>Why Is HRM Important? ….3 Reasons</a:t>
            </a:r>
            <a:endParaRPr lang="en-IE" sz="3600" dirty="0"/>
          </a:p>
        </p:txBody>
      </p:sp>
      <p:sp>
        <p:nvSpPr>
          <p:cNvPr id="3" name="Content Placeholder 2"/>
          <p:cNvSpPr>
            <a:spLocks noGrp="1"/>
          </p:cNvSpPr>
          <p:nvPr>
            <p:ph idx="1"/>
          </p:nvPr>
        </p:nvSpPr>
        <p:spPr>
          <a:xfrm>
            <a:off x="457200" y="1524000"/>
            <a:ext cx="8229600" cy="5105400"/>
          </a:xfrm>
        </p:spPr>
        <p:txBody>
          <a:bodyPr>
            <a:noAutofit/>
          </a:bodyPr>
          <a:lstStyle/>
          <a:p>
            <a:pPr marL="342900" indent="-342900" eaLnBrk="0" hangingPunct="0"/>
            <a:r>
              <a:rPr lang="en-US" sz="1800" b="1" dirty="0">
                <a:cs typeface="Arial" charset="0"/>
              </a:rPr>
              <a:t>1</a:t>
            </a:r>
            <a:r>
              <a:rPr lang="en-US" sz="1800" b="1" baseline="30000" dirty="0">
                <a:cs typeface="Arial" charset="0"/>
              </a:rPr>
              <a:t>st</a:t>
            </a:r>
            <a:r>
              <a:rPr lang="en-US" sz="1800" b="1" dirty="0">
                <a:cs typeface="Arial" charset="0"/>
              </a:rPr>
              <a:t> - Studies have concluded, it can be a significant source of competitive advantage.</a:t>
            </a:r>
            <a:endParaRPr lang="en-US" sz="1800" dirty="0">
              <a:cs typeface="Arial" charset="0"/>
            </a:endParaRPr>
          </a:p>
          <a:p>
            <a:pPr marL="742950" lvl="1" indent="-285750" eaLnBrk="0" hangingPunct="0"/>
            <a:r>
              <a:rPr lang="en-US" sz="1800" dirty="0"/>
              <a:t>People-oriented HR creates superior shareholder value</a:t>
            </a:r>
          </a:p>
          <a:p>
            <a:pPr marL="742950" lvl="1" indent="-285750" eaLnBrk="0" hangingPunct="0"/>
            <a:r>
              <a:rPr lang="en-US" sz="1800" dirty="0"/>
              <a:t>Achieve competitive success through people by treating employees as partners</a:t>
            </a:r>
          </a:p>
          <a:p>
            <a:pPr marL="342900" indent="-342900" eaLnBrk="0" hangingPunct="0">
              <a:buFont typeface="Arial" charset="0"/>
              <a:buChar char="•"/>
            </a:pPr>
            <a:endParaRPr lang="en-US" sz="1400" dirty="0"/>
          </a:p>
          <a:p>
            <a:pPr marL="342900" indent="-342900" eaLnBrk="0" hangingPunct="0">
              <a:buFont typeface="Arial" charset="0"/>
              <a:buChar char="•"/>
            </a:pPr>
            <a:r>
              <a:rPr lang="en-US" sz="1800" b="1" dirty="0"/>
              <a:t>2</a:t>
            </a:r>
            <a:r>
              <a:rPr lang="en-US" sz="1800" b="1" baseline="30000" dirty="0"/>
              <a:t>nd</a:t>
            </a:r>
            <a:r>
              <a:rPr lang="en-US" sz="1800" b="1" dirty="0"/>
              <a:t> - As an important strategic tool, to be used as part of organisational strategies.</a:t>
            </a:r>
          </a:p>
          <a:p>
            <a:pPr marL="708660" lvl="1" indent="-342900" eaLnBrk="0" hangingPunct="0">
              <a:buFont typeface="Arial" charset="0"/>
              <a:buChar char="•"/>
            </a:pPr>
            <a:r>
              <a:rPr lang="en-US" sz="1600" dirty="0">
                <a:cs typeface="Arial" charset="0"/>
              </a:rPr>
              <a:t> Achieving competitive success through people means managers must change how they think about their employees and how they view the work relationship.</a:t>
            </a:r>
          </a:p>
          <a:p>
            <a:pPr marL="342900" indent="-342900" eaLnBrk="0" hangingPunct="0">
              <a:buFont typeface="Arial" charset="0"/>
              <a:buChar char="•"/>
            </a:pPr>
            <a:endParaRPr lang="en-US" sz="1800" dirty="0"/>
          </a:p>
          <a:p>
            <a:pPr marL="342900" indent="-342900" eaLnBrk="0" hangingPunct="0"/>
            <a:r>
              <a:rPr lang="en-US" sz="1800" b="1" dirty="0"/>
              <a:t>3</a:t>
            </a:r>
            <a:r>
              <a:rPr lang="en-US" sz="1800" b="1" baseline="30000" dirty="0"/>
              <a:t>rd</a:t>
            </a:r>
            <a:r>
              <a:rPr lang="en-US" sz="1800" b="1" dirty="0"/>
              <a:t> - T</a:t>
            </a:r>
            <a:r>
              <a:rPr lang="en-US" sz="1800" b="1" dirty="0">
                <a:cs typeface="Arial" charset="0"/>
              </a:rPr>
              <a:t>he way organisations treat their people has been found to significantly impact organisational performance. </a:t>
            </a:r>
          </a:p>
          <a:p>
            <a:pPr marL="742950" lvl="1" indent="-285750" eaLnBrk="0" hangingPunct="0"/>
            <a:r>
              <a:rPr lang="en-US" sz="1600" dirty="0"/>
              <a:t>High performance work practices lead to both high individual and high organisational performance</a:t>
            </a:r>
          </a:p>
          <a:p>
            <a:pPr marL="742950" lvl="1" indent="-285750" eaLnBrk="0" hangingPunct="0"/>
            <a:r>
              <a:rPr lang="en-US" sz="1600" dirty="0">
                <a:cs typeface="Arial" charset="0"/>
              </a:rPr>
              <a:t>For instance, one study reported that improving work practices could increase market value by as much as 30 percent (anon, 1995)</a:t>
            </a:r>
          </a:p>
          <a:p>
            <a:endParaRPr lang="en-IE" sz="1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normAutofit/>
          </a:bodyPr>
          <a:lstStyle/>
          <a:p>
            <a:r>
              <a:rPr lang="en-GB" dirty="0"/>
              <a:t>Responsibilities of HR Managers …</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dirty="0"/>
          </a:p>
        </p:txBody>
      </p:sp>
      <p:pic>
        <p:nvPicPr>
          <p:cNvPr id="141314" name="Picture 2" descr="http://blog.ceesquare.com/wp-content/uploads/2009/01/hrl.gif"/>
          <p:cNvPicPr>
            <a:picLocks noChangeAspect="1" noChangeArrowheads="1"/>
          </p:cNvPicPr>
          <p:nvPr/>
        </p:nvPicPr>
        <p:blipFill>
          <a:blip r:embed="rId2" cstate="print"/>
          <a:srcRect/>
          <a:stretch>
            <a:fillRect/>
          </a:stretch>
        </p:blipFill>
        <p:spPr bwMode="auto">
          <a:xfrm>
            <a:off x="4267200" y="1905000"/>
            <a:ext cx="4648200" cy="4572000"/>
          </a:xfrm>
          <a:prstGeom prst="rect">
            <a:avLst/>
          </a:prstGeom>
          <a:noFill/>
        </p:spPr>
      </p:pic>
      <p:pic>
        <p:nvPicPr>
          <p:cNvPr id="141316" name="Picture 4" descr="http://www.buzzle.com/img/articleImages/280633-51127-33.jpg"/>
          <p:cNvPicPr>
            <a:picLocks noChangeAspect="1" noChangeArrowheads="1"/>
          </p:cNvPicPr>
          <p:nvPr/>
        </p:nvPicPr>
        <p:blipFill>
          <a:blip r:embed="rId3" cstate="print"/>
          <a:srcRect/>
          <a:stretch>
            <a:fillRect/>
          </a:stretch>
        </p:blipFill>
        <p:spPr bwMode="auto">
          <a:xfrm>
            <a:off x="457200" y="1752600"/>
            <a:ext cx="3581400" cy="47244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a:bodyPr>
          <a:lstStyle/>
          <a:p>
            <a:r>
              <a:rPr lang="en-US" dirty="0"/>
              <a:t>Why Is HRM Important?</a:t>
            </a:r>
            <a:endParaRPr lang="en-IE" sz="3200" dirty="0"/>
          </a:p>
        </p:txBody>
      </p:sp>
      <p:sp>
        <p:nvSpPr>
          <p:cNvPr id="3" name="Content Placeholder 2"/>
          <p:cNvSpPr>
            <a:spLocks noGrp="1"/>
          </p:cNvSpPr>
          <p:nvPr>
            <p:ph idx="1"/>
          </p:nvPr>
        </p:nvSpPr>
        <p:spPr>
          <a:xfrm>
            <a:off x="457200" y="1752600"/>
            <a:ext cx="8229600" cy="4648200"/>
          </a:xfrm>
        </p:spPr>
        <p:txBody>
          <a:bodyPr>
            <a:normAutofit/>
          </a:bodyPr>
          <a:lstStyle/>
          <a:p>
            <a:pPr hangingPunct="0"/>
            <a:r>
              <a:rPr lang="en-US" dirty="0"/>
              <a:t>Studies that have explored the link between HRM policies and practices and organisational performance have found that certain HRM policies and practices have a significant impact on performance. </a:t>
            </a:r>
          </a:p>
          <a:p>
            <a:pPr hangingPunct="0"/>
            <a:endParaRPr lang="en-US" sz="2400" dirty="0"/>
          </a:p>
          <a:p>
            <a:pPr hangingPunct="0"/>
            <a:r>
              <a:rPr lang="en-US" sz="2400" dirty="0"/>
              <a:t>These </a:t>
            </a:r>
            <a:r>
              <a:rPr lang="en-US" sz="2800" b="1" dirty="0"/>
              <a:t>high-performance work practices</a:t>
            </a:r>
            <a:r>
              <a:rPr lang="en-US" sz="2800" dirty="0"/>
              <a:t> </a:t>
            </a:r>
            <a:r>
              <a:rPr lang="en-US" sz="2400" dirty="0"/>
              <a:t>are human resource policies and practices that lead to both high individual and high organizational performance.</a:t>
            </a:r>
          </a:p>
          <a:p>
            <a:pPr lvl="1"/>
            <a:r>
              <a:rPr lang="en-US" sz="2200" dirty="0"/>
              <a:t>E.g. use of self managed teams, or performance based compensation</a:t>
            </a:r>
          </a:p>
          <a:p>
            <a:pPr lvl="1"/>
            <a:r>
              <a:rPr lang="en-US" sz="2000" dirty="0"/>
              <a:t>(More examples next slide)</a:t>
            </a:r>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04088"/>
            <a:ext cx="8153400" cy="1200912"/>
          </a:xfrm>
        </p:spPr>
        <p:txBody>
          <a:bodyPr>
            <a:normAutofit fontScale="90000"/>
          </a:bodyPr>
          <a:lstStyle/>
          <a:p>
            <a:r>
              <a:rPr lang="en-US" dirty="0"/>
              <a:t>Examples of High-Performance Work Practices</a:t>
            </a:r>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762000" y="1905000"/>
            <a:ext cx="8143875" cy="44958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HRM Process</a:t>
            </a:r>
          </a:p>
        </p:txBody>
      </p:sp>
      <p:sp>
        <p:nvSpPr>
          <p:cNvPr id="3" name="Content Placeholder 2"/>
          <p:cNvSpPr>
            <a:spLocks noGrp="1"/>
          </p:cNvSpPr>
          <p:nvPr>
            <p:ph idx="1"/>
          </p:nvPr>
        </p:nvSpPr>
        <p:spPr/>
        <p:txBody>
          <a:bodyPr>
            <a:normAutofit/>
          </a:bodyPr>
          <a:lstStyle/>
          <a:p>
            <a:r>
              <a:rPr lang="en-US" dirty="0">
                <a:cs typeface="Arial" charset="0"/>
              </a:rPr>
              <a:t>Even if an organisation does not use high-performance work practices, other specific HRM activities must be completed in order to ensure that the organisation has qualified people to perform the work that needs to be done - activities that comprise the HRM process.</a:t>
            </a:r>
          </a:p>
          <a:p>
            <a:endParaRPr lang="en-US" b="1" dirty="0"/>
          </a:p>
          <a:p>
            <a:r>
              <a:rPr lang="en-US" b="1" dirty="0"/>
              <a:t>Human resource management process</a:t>
            </a:r>
            <a:r>
              <a:rPr lang="en-US" dirty="0"/>
              <a:t> consists of eight activities necessary for staffing the organisation and sustaining high employee performance.  </a:t>
            </a:r>
          </a:p>
          <a:p>
            <a:pPr marL="274320" lvl="1" indent="-274320">
              <a:buClr>
                <a:schemeClr val="accent3"/>
              </a:buClr>
              <a:buSzPct val="95000"/>
            </a:pPr>
            <a:r>
              <a:rPr lang="en-GB" dirty="0">
                <a:cs typeface="Arial" charset="0"/>
              </a:rPr>
              <a:t>(see next slide)</a:t>
            </a:r>
          </a:p>
          <a:p>
            <a:endParaRPr lang="en-US" dirty="0"/>
          </a:p>
          <a:p>
            <a:pPr>
              <a:buNone/>
            </a:pPr>
            <a:endParaRPr lang="en-US" dirty="0"/>
          </a:p>
          <a:p>
            <a:endParaRPr lang="en-IE"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Grp="1" noChangeAspect="1" noChangeArrowheads="1"/>
          </p:cNvPicPr>
          <p:nvPr/>
        </p:nvPicPr>
        <p:blipFill>
          <a:blip r:embed="rId2" cstate="print"/>
          <a:srcRect/>
          <a:stretch>
            <a:fillRect/>
          </a:stretch>
        </p:blipFill>
        <p:spPr bwMode="auto">
          <a:xfrm>
            <a:off x="304800" y="1524001"/>
            <a:ext cx="8839200" cy="5105399"/>
          </a:xfrm>
          <a:prstGeom prst="rect">
            <a:avLst/>
          </a:prstGeom>
          <a:noFill/>
          <a:ln w="9525">
            <a:noFill/>
            <a:miter lim="800000"/>
            <a:headEnd/>
            <a:tailEnd/>
          </a:ln>
        </p:spPr>
      </p:pic>
      <p:sp>
        <p:nvSpPr>
          <p:cNvPr id="2" name="Title 1"/>
          <p:cNvSpPr>
            <a:spLocks noGrp="1"/>
          </p:cNvSpPr>
          <p:nvPr>
            <p:ph type="title"/>
          </p:nvPr>
        </p:nvSpPr>
        <p:spPr>
          <a:xfrm>
            <a:off x="457200" y="381000"/>
            <a:ext cx="8229600" cy="914400"/>
          </a:xfrm>
        </p:spPr>
        <p:txBody>
          <a:bodyPr>
            <a:normAutofit fontScale="90000"/>
          </a:bodyPr>
          <a:lstStyle/>
          <a:p>
            <a:r>
              <a:rPr lang="en-US" sz="4900" dirty="0"/>
              <a:t>8 Activities in the HRM Process</a:t>
            </a:r>
            <a:br>
              <a:rPr lang="en-US" sz="5400" dirty="0"/>
            </a:br>
            <a:r>
              <a:rPr lang="en-US" sz="1200" dirty="0"/>
              <a:t> </a:t>
            </a:r>
            <a:endParaRPr lang="en-IE"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353312"/>
          </a:xfrm>
        </p:spPr>
        <p:txBody>
          <a:bodyPr>
            <a:noAutofit/>
          </a:bodyPr>
          <a:lstStyle/>
          <a:p>
            <a:r>
              <a:rPr lang="en-US" dirty="0"/>
              <a:t>External Factors That Affect the HRM Process</a:t>
            </a:r>
            <a:endParaRPr lang="en-IE" sz="3200" dirty="0"/>
          </a:p>
        </p:txBody>
      </p:sp>
      <p:sp>
        <p:nvSpPr>
          <p:cNvPr id="3" name="Content Placeholder 2"/>
          <p:cNvSpPr>
            <a:spLocks noGrp="1"/>
          </p:cNvSpPr>
          <p:nvPr>
            <p:ph idx="1"/>
          </p:nvPr>
        </p:nvSpPr>
        <p:spPr>
          <a:xfrm>
            <a:off x="457200" y="2438400"/>
            <a:ext cx="8229600" cy="3886200"/>
          </a:xfrm>
        </p:spPr>
        <p:txBody>
          <a:bodyPr>
            <a:noAutofit/>
          </a:bodyPr>
          <a:lstStyle/>
          <a:p>
            <a:pPr marL="342900" indent="-342900" eaLnBrk="0" hangingPunct="0"/>
            <a:r>
              <a:rPr lang="en-US" sz="2800" dirty="0">
                <a:cs typeface="Arial" charset="0"/>
              </a:rPr>
              <a:t>The entire HRM process is influenced by the external environment. </a:t>
            </a:r>
          </a:p>
          <a:p>
            <a:pPr marL="342900" indent="-342900" eaLnBrk="0" hangingPunct="0"/>
            <a:endParaRPr lang="en-US" sz="2800" dirty="0">
              <a:cs typeface="Arial" charset="0"/>
            </a:endParaRPr>
          </a:p>
          <a:p>
            <a:pPr marL="342900" indent="-342900" eaLnBrk="0" hangingPunct="0"/>
            <a:r>
              <a:rPr lang="en-US" sz="2800" dirty="0">
                <a:cs typeface="Arial" charset="0"/>
              </a:rPr>
              <a:t>Those factors most directly influencing it include ;</a:t>
            </a:r>
          </a:p>
          <a:p>
            <a:pPr marL="708660" lvl="1" indent="-342900" eaLnBrk="0" hangingPunct="0"/>
            <a:r>
              <a:rPr lang="en-US" sz="2800" dirty="0">
                <a:cs typeface="Arial" charset="0"/>
              </a:rPr>
              <a:t>the economy, </a:t>
            </a:r>
          </a:p>
          <a:p>
            <a:pPr marL="708660" lvl="1" indent="-342900" eaLnBrk="0" hangingPunct="0"/>
            <a:r>
              <a:rPr lang="en-US" sz="2800" dirty="0">
                <a:cs typeface="Arial" charset="0"/>
              </a:rPr>
              <a:t>employee labour unions,</a:t>
            </a:r>
          </a:p>
          <a:p>
            <a:pPr marL="708660" lvl="1" indent="-342900" eaLnBrk="0" hangingPunct="0"/>
            <a:r>
              <a:rPr lang="en-US" sz="2800" dirty="0">
                <a:cs typeface="Arial" charset="0"/>
              </a:rPr>
              <a:t> governmental laws and regulations,</a:t>
            </a:r>
          </a:p>
          <a:p>
            <a:pPr marL="708660" lvl="1" indent="-342900" eaLnBrk="0" hangingPunct="0"/>
            <a:r>
              <a:rPr lang="en-US" sz="2800" dirty="0">
                <a:cs typeface="Arial" charset="0"/>
              </a:rPr>
              <a:t> demographic trends.</a:t>
            </a:r>
          </a:p>
          <a:p>
            <a:pPr marL="342900" indent="-342900" eaLnBrk="0" hangingPunct="0"/>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normAutofit/>
          </a:bodyPr>
          <a:lstStyle/>
          <a:p>
            <a:r>
              <a:rPr lang="en-US" dirty="0"/>
              <a:t>External Factors  - The Economy</a:t>
            </a:r>
            <a:endParaRPr lang="en-IE" dirty="0"/>
          </a:p>
        </p:txBody>
      </p:sp>
      <p:sp>
        <p:nvSpPr>
          <p:cNvPr id="3" name="Content Placeholder 2"/>
          <p:cNvSpPr>
            <a:spLocks noGrp="1"/>
          </p:cNvSpPr>
          <p:nvPr>
            <p:ph idx="1"/>
          </p:nvPr>
        </p:nvSpPr>
        <p:spPr>
          <a:xfrm>
            <a:off x="457200" y="1600200"/>
            <a:ext cx="8229600" cy="5029200"/>
          </a:xfrm>
        </p:spPr>
        <p:txBody>
          <a:bodyPr>
            <a:noAutofit/>
          </a:bodyPr>
          <a:lstStyle/>
          <a:p>
            <a:pPr hangingPunct="0"/>
            <a:r>
              <a:rPr lang="en-US" sz="2400" dirty="0"/>
              <a:t>Recent economic changes have had a profound impact on the nature of work. </a:t>
            </a:r>
          </a:p>
          <a:p>
            <a:pPr lvl="1" hangingPunct="0"/>
            <a:r>
              <a:rPr lang="en-US" sz="2000" dirty="0"/>
              <a:t>Unemployment is high in most developed countries due to the latest recession felt world-wide.  </a:t>
            </a:r>
          </a:p>
          <a:p>
            <a:pPr hangingPunct="0"/>
            <a:endParaRPr lang="en-US" sz="1400" dirty="0"/>
          </a:p>
          <a:p>
            <a:pPr hangingPunct="0"/>
            <a:r>
              <a:rPr lang="en-US" sz="2400" dirty="0"/>
              <a:t>Economic news, whether good or bad, has an effect on employment, attitudes toward work, careers, and retirement.</a:t>
            </a:r>
          </a:p>
          <a:p>
            <a:pPr hangingPunct="0"/>
            <a:endParaRPr lang="en-US" sz="1200" dirty="0"/>
          </a:p>
          <a:p>
            <a:pPr hangingPunct="0"/>
            <a:r>
              <a:rPr lang="en-US" sz="2400" dirty="0"/>
              <a:t>The global economic downturn has left what many experts believe to be an enduring mark on HRM practices worldwide.</a:t>
            </a:r>
          </a:p>
          <a:p>
            <a:pPr marL="742950" lvl="1" indent="-285750" eaLnBrk="0" hangingPunct="0"/>
            <a:r>
              <a:rPr lang="en-US" sz="2000" dirty="0"/>
              <a:t>Lifetime employment is long gone and corporate pensions are collapsing.</a:t>
            </a:r>
          </a:p>
          <a:p>
            <a:endParaRPr lang="en-US" sz="2000"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dirty="0"/>
          </a:p>
        </p:txBody>
      </p:sp>
      <p:pic>
        <p:nvPicPr>
          <p:cNvPr id="143364" name="Picture 4" descr="http://blogs.trb.com/news/opinion/chanlowe/blog/HR.gif"/>
          <p:cNvPicPr>
            <a:picLocks noChangeAspect="1" noChangeArrowheads="1"/>
          </p:cNvPicPr>
          <p:nvPr/>
        </p:nvPicPr>
        <p:blipFill>
          <a:blip r:embed="rId2" cstate="print"/>
          <a:srcRect/>
          <a:stretch>
            <a:fillRect/>
          </a:stretch>
        </p:blipFill>
        <p:spPr bwMode="auto">
          <a:xfrm>
            <a:off x="914400" y="990600"/>
            <a:ext cx="7154715" cy="5419726"/>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External Factors  - The Economy</a:t>
            </a:r>
          </a:p>
        </p:txBody>
      </p:sp>
      <p:sp>
        <p:nvSpPr>
          <p:cNvPr id="3" name="Content Placeholder 2"/>
          <p:cNvSpPr>
            <a:spLocks noGrp="1"/>
          </p:cNvSpPr>
          <p:nvPr>
            <p:ph idx="1"/>
          </p:nvPr>
        </p:nvSpPr>
        <p:spPr>
          <a:xfrm>
            <a:off x="457200" y="1752600"/>
            <a:ext cx="8229600" cy="4648200"/>
          </a:xfrm>
        </p:spPr>
        <p:txBody>
          <a:bodyPr>
            <a:noAutofit/>
          </a:bodyPr>
          <a:lstStyle/>
          <a:p>
            <a:r>
              <a:rPr lang="en-US" sz="2400" dirty="0">
                <a:cs typeface="Arial" charset="0"/>
              </a:rPr>
              <a:t>In the Europe (2022) average unemployment rate of 6.6%,</a:t>
            </a:r>
          </a:p>
          <a:p>
            <a:pPr lvl="1"/>
            <a:r>
              <a:rPr lang="en-US" sz="1600" dirty="0">
                <a:cs typeface="Arial" charset="0"/>
              </a:rPr>
              <a:t>Kosovo having the highest rate, 20.5% </a:t>
            </a:r>
          </a:p>
          <a:p>
            <a:pPr lvl="1"/>
            <a:r>
              <a:rPr lang="en-US" sz="1600" dirty="0">
                <a:cs typeface="Arial" charset="0"/>
              </a:rPr>
              <a:t>The Czech Republic has lowest rate 2.3%</a:t>
            </a:r>
          </a:p>
          <a:p>
            <a:pPr lvl="1"/>
            <a:r>
              <a:rPr lang="en-US" sz="1600" dirty="0">
                <a:cs typeface="Arial" charset="0"/>
              </a:rPr>
              <a:t>Ireland having unemployment rate of 4.2% (europa.eu, July 2022)</a:t>
            </a:r>
          </a:p>
          <a:p>
            <a:endParaRPr lang="en-US" sz="1800" dirty="0">
              <a:cs typeface="Arial" charset="0"/>
            </a:endParaRPr>
          </a:p>
          <a:p>
            <a:r>
              <a:rPr lang="en-US" sz="2400" dirty="0">
                <a:cs typeface="Arial" charset="0"/>
              </a:rPr>
              <a:t>In the United States, labour economists say that as jobs come back from periods of recession or low employment, they are not the same ones that employees were used to. </a:t>
            </a:r>
          </a:p>
          <a:p>
            <a:pPr lvl="1"/>
            <a:r>
              <a:rPr lang="en-US" sz="2000" dirty="0">
                <a:cs typeface="Arial" charset="0"/>
              </a:rPr>
              <a:t>Many of these jobs are temporary or contract positions, rather than full-time jobs with benefits. </a:t>
            </a:r>
          </a:p>
          <a:p>
            <a:pPr lvl="1"/>
            <a:endParaRPr lang="en-US" sz="1800" dirty="0">
              <a:cs typeface="Arial" charset="0"/>
            </a:endParaRPr>
          </a:p>
          <a:p>
            <a:pPr marL="377190" indent="-285750" eaLnBrk="0" hangingPunct="0"/>
            <a:r>
              <a:rPr lang="en-US" sz="2400" dirty="0"/>
              <a:t>U.S. workers have dramatically lowered their career and retirement expectations for the foreseeable future.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Autofit/>
          </a:bodyPr>
          <a:lstStyle/>
          <a:p>
            <a:r>
              <a:rPr lang="en-US" sz="4000" dirty="0"/>
              <a:t>External Factors: </a:t>
            </a:r>
            <a:br>
              <a:rPr lang="en-US" dirty="0"/>
            </a:br>
            <a:r>
              <a:rPr lang="en-US" dirty="0"/>
              <a:t>Employee Labour Union</a:t>
            </a:r>
            <a:endParaRPr lang="en-IE" dirty="0"/>
          </a:p>
        </p:txBody>
      </p:sp>
      <p:sp>
        <p:nvSpPr>
          <p:cNvPr id="3" name="Content Placeholder 2"/>
          <p:cNvSpPr>
            <a:spLocks noGrp="1"/>
          </p:cNvSpPr>
          <p:nvPr>
            <p:ph idx="1"/>
          </p:nvPr>
        </p:nvSpPr>
        <p:spPr>
          <a:xfrm>
            <a:off x="457200" y="1905000"/>
            <a:ext cx="8229600" cy="4953000"/>
          </a:xfrm>
        </p:spPr>
        <p:txBody>
          <a:bodyPr>
            <a:normAutofit fontScale="55000" lnSpcReduction="20000"/>
          </a:bodyPr>
          <a:lstStyle/>
          <a:p>
            <a:pPr hangingPunct="0"/>
            <a:r>
              <a:rPr lang="en-US" sz="4400" dirty="0"/>
              <a:t>Unionisation can affect a company’s human resource management activities.</a:t>
            </a:r>
          </a:p>
          <a:p>
            <a:pPr hangingPunct="0"/>
            <a:endParaRPr lang="en-US" sz="2900" dirty="0">
              <a:cs typeface="Arial" charset="0"/>
            </a:endParaRPr>
          </a:p>
          <a:p>
            <a:pPr hangingPunct="0"/>
            <a:r>
              <a:rPr lang="en-US" sz="4400" dirty="0">
                <a:cs typeface="Arial" charset="0"/>
              </a:rPr>
              <a:t>A </a:t>
            </a:r>
            <a:r>
              <a:rPr lang="en-US" sz="4400" b="1" dirty="0">
                <a:cs typeface="Arial" charset="0"/>
              </a:rPr>
              <a:t>labour union </a:t>
            </a:r>
            <a:r>
              <a:rPr lang="en-US" sz="4400" dirty="0">
                <a:cs typeface="Arial" charset="0"/>
              </a:rPr>
              <a:t>is an organisation that represents workers and seeks to protect their interests through collective bargaining. </a:t>
            </a:r>
          </a:p>
          <a:p>
            <a:pPr hangingPunct="0"/>
            <a:endParaRPr lang="en-US" sz="2900" dirty="0">
              <a:cs typeface="Arial" charset="0"/>
            </a:endParaRPr>
          </a:p>
          <a:p>
            <a:pPr hangingPunct="0"/>
            <a:r>
              <a:rPr lang="en-US" sz="4400" dirty="0">
                <a:cs typeface="Arial" charset="0"/>
              </a:rPr>
              <a:t>In unionised organisations, many HRM decisions are dictated by collective bargaining agreements, which usually define things such as;</a:t>
            </a:r>
          </a:p>
          <a:p>
            <a:pPr lvl="1" hangingPunct="0"/>
            <a:r>
              <a:rPr lang="en-US" sz="3600" dirty="0">
                <a:cs typeface="Arial" charset="0"/>
              </a:rPr>
              <a:t>recruitment sources,</a:t>
            </a:r>
          </a:p>
          <a:p>
            <a:pPr lvl="1" hangingPunct="0"/>
            <a:r>
              <a:rPr lang="en-US" sz="3600" dirty="0">
                <a:cs typeface="Arial" charset="0"/>
              </a:rPr>
              <a:t>criteria for hiring,</a:t>
            </a:r>
          </a:p>
          <a:p>
            <a:pPr lvl="1" hangingPunct="0"/>
            <a:r>
              <a:rPr lang="en-US" sz="3600" dirty="0">
                <a:cs typeface="Arial" charset="0"/>
              </a:rPr>
              <a:t>promotions and layoffs,</a:t>
            </a:r>
          </a:p>
          <a:p>
            <a:pPr lvl="1" hangingPunct="0"/>
            <a:r>
              <a:rPr lang="en-US" sz="3600" dirty="0">
                <a:cs typeface="Arial" charset="0"/>
              </a:rPr>
              <a:t>training eligibility</a:t>
            </a:r>
          </a:p>
          <a:p>
            <a:pPr lvl="1" hangingPunct="0"/>
            <a:r>
              <a:rPr lang="en-US" sz="3600" dirty="0">
                <a:cs typeface="Arial" charset="0"/>
              </a:rPr>
              <a:t>and disciplinary practices.  </a:t>
            </a:r>
            <a:endParaRPr lang="en-IE" sz="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External Factors: </a:t>
            </a:r>
            <a:br>
              <a:rPr lang="en-US" dirty="0"/>
            </a:br>
            <a:r>
              <a:rPr lang="en-US" sz="4900" dirty="0"/>
              <a:t>Employee Labour Union</a:t>
            </a:r>
            <a:endParaRPr lang="en-US" dirty="0"/>
          </a:p>
        </p:txBody>
      </p:sp>
      <p:sp>
        <p:nvSpPr>
          <p:cNvPr id="3" name="Content Placeholder 2"/>
          <p:cNvSpPr>
            <a:spLocks noGrp="1"/>
          </p:cNvSpPr>
          <p:nvPr>
            <p:ph idx="1"/>
          </p:nvPr>
        </p:nvSpPr>
        <p:spPr>
          <a:xfrm>
            <a:off x="381000" y="1752600"/>
            <a:ext cx="8229600" cy="4724400"/>
          </a:xfrm>
        </p:spPr>
        <p:txBody>
          <a:bodyPr>
            <a:noAutofit/>
          </a:bodyPr>
          <a:lstStyle/>
          <a:p>
            <a:pPr hangingPunct="0"/>
            <a:r>
              <a:rPr lang="en-US" sz="2000" dirty="0"/>
              <a:t>Work stops, labour disputes, and negotiations between management and labour are just a few of the challenges organisations and managers face when their workforce is unionised.</a:t>
            </a:r>
          </a:p>
          <a:p>
            <a:pPr hangingPunct="0"/>
            <a:endParaRPr lang="en-US" sz="1200" dirty="0"/>
          </a:p>
          <a:p>
            <a:pPr hangingPunct="0"/>
            <a:r>
              <a:rPr lang="en-US" sz="2000" dirty="0"/>
              <a:t>Good labor-management relations, the formal interactions between unions and an organisation’s management, are important.</a:t>
            </a:r>
          </a:p>
          <a:p>
            <a:pPr hangingPunct="0"/>
            <a:endParaRPr lang="en-US" sz="1200" dirty="0"/>
          </a:p>
          <a:p>
            <a:pPr hangingPunct="0"/>
            <a:r>
              <a:rPr lang="en-US" sz="2000" dirty="0"/>
              <a:t>Although only about 13% (2022) percent of the workforce in the United States is unionised, that percentage is higher in other countries.</a:t>
            </a:r>
          </a:p>
          <a:p>
            <a:pPr hangingPunct="0"/>
            <a:endParaRPr lang="en-US" sz="1400" dirty="0"/>
          </a:p>
          <a:p>
            <a:pPr hangingPunct="0"/>
            <a:r>
              <a:rPr lang="en-US" sz="2000" dirty="0"/>
              <a:t>Current estimates, % of employees in a union varies globally …..</a:t>
            </a:r>
          </a:p>
          <a:p>
            <a:pPr marL="742950" lvl="1" indent="-285750" eaLnBrk="0" hangingPunct="0"/>
            <a:r>
              <a:rPr lang="en-US" sz="1600" dirty="0"/>
              <a:t>France 9%, Sweden 82% (highest), Finland 76%, Ireland 45%, </a:t>
            </a:r>
          </a:p>
          <a:p>
            <a:pPr marL="742950" lvl="1" indent="-285750" eaLnBrk="0" hangingPunct="0"/>
            <a:r>
              <a:rPr lang="en-US" sz="1600" dirty="0"/>
              <a:t>Germany 27%,  Japan 22%, New Zealand 22%, Canada 30%, Mexico 19%</a:t>
            </a:r>
          </a:p>
          <a:p>
            <a:pPr marL="742950" lvl="1" indent="-285750" eaLnBrk="0" hangingPunct="0"/>
            <a:r>
              <a:rPr lang="en-US" sz="1600" dirty="0">
                <a:cs typeface="Arial" charset="0"/>
              </a:rPr>
              <a:t>Indications that unionisation in private sector is dropping, and union membership in public sector is increasing.</a:t>
            </a:r>
          </a:p>
          <a:p>
            <a:pPr marL="1017270" lvl="2" indent="-285750" eaLnBrk="0" hangingPunct="0"/>
            <a:r>
              <a:rPr lang="en-US" sz="1400" dirty="0">
                <a:cs typeface="Arial" charset="0"/>
              </a:rPr>
              <a:t>(‘Union membership as a % of employees’, Nationmaster.com, Nov 2022) </a:t>
            </a:r>
            <a:endParaRPr lang="en-US" sz="1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rmAutofit/>
          </a:bodyPr>
          <a:lstStyle/>
          <a:p>
            <a:r>
              <a:rPr lang="en-GB" dirty="0"/>
              <a:t>HR &amp; Union Negotiations!</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dirty="0"/>
          </a:p>
        </p:txBody>
      </p:sp>
      <p:pic>
        <p:nvPicPr>
          <p:cNvPr id="144386" name="Picture 2" descr="http://learn.latpro.com/wp-content/uploads/2012/05/mediatation-HR.png"/>
          <p:cNvPicPr>
            <a:picLocks noChangeAspect="1" noChangeArrowheads="1"/>
          </p:cNvPicPr>
          <p:nvPr/>
        </p:nvPicPr>
        <p:blipFill>
          <a:blip r:embed="rId2" cstate="print"/>
          <a:srcRect/>
          <a:stretch>
            <a:fillRect/>
          </a:stretch>
        </p:blipFill>
        <p:spPr bwMode="auto">
          <a:xfrm>
            <a:off x="762000" y="1600200"/>
            <a:ext cx="7467600" cy="4876800"/>
          </a:xfrm>
          <a:prstGeom prst="rect">
            <a:avLst/>
          </a:prstGeom>
          <a:noFill/>
          <a:ln>
            <a:solidFill>
              <a:schemeClr val="accent3">
                <a:lumMod val="75000"/>
              </a:schemeClr>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Autofit/>
          </a:bodyPr>
          <a:lstStyle/>
          <a:p>
            <a:br>
              <a:rPr lang="en-US" dirty="0"/>
            </a:br>
            <a:br>
              <a:rPr lang="en-US" dirty="0"/>
            </a:br>
            <a:r>
              <a:rPr lang="en-US" sz="3600" dirty="0"/>
              <a:t>External Factors: </a:t>
            </a:r>
            <a:r>
              <a:rPr lang="en-US" dirty="0"/>
              <a:t>Legal Environment </a:t>
            </a:r>
            <a:endParaRPr lang="en-IE" dirty="0"/>
          </a:p>
        </p:txBody>
      </p:sp>
      <p:sp>
        <p:nvSpPr>
          <p:cNvPr id="3" name="Content Placeholder 2"/>
          <p:cNvSpPr>
            <a:spLocks noGrp="1"/>
          </p:cNvSpPr>
          <p:nvPr>
            <p:ph idx="1"/>
          </p:nvPr>
        </p:nvSpPr>
        <p:spPr>
          <a:xfrm>
            <a:off x="533400" y="1305017"/>
            <a:ext cx="8229600" cy="5105400"/>
          </a:xfrm>
        </p:spPr>
        <p:txBody>
          <a:bodyPr>
            <a:noAutofit/>
          </a:bodyPr>
          <a:lstStyle/>
          <a:p>
            <a:r>
              <a:rPr lang="en-US" sz="2000" dirty="0">
                <a:cs typeface="Arial" charset="0"/>
              </a:rPr>
              <a:t>An organisation's HRM practices are governed by a country’s laws. </a:t>
            </a:r>
          </a:p>
          <a:p>
            <a:endParaRPr lang="en-US" sz="1000" dirty="0">
              <a:cs typeface="Arial" charset="0"/>
            </a:endParaRPr>
          </a:p>
          <a:p>
            <a:r>
              <a:rPr lang="en-US" sz="2000" dirty="0">
                <a:cs typeface="Arial" charset="0"/>
              </a:rPr>
              <a:t>A number of important laws and regulations affect what you can and cannot do legally as a manager</a:t>
            </a:r>
            <a:r>
              <a:rPr lang="en-US" sz="1800" dirty="0">
                <a:cs typeface="Arial" charset="0"/>
              </a:rPr>
              <a:t>. </a:t>
            </a:r>
          </a:p>
          <a:p>
            <a:pPr lvl="1"/>
            <a:r>
              <a:rPr lang="en-US" sz="1800" dirty="0">
                <a:cs typeface="Arial" charset="0"/>
              </a:rPr>
              <a:t>Because workplace lawsuits are increasingly targeting supervisors, as well as their organisations, managers must know what they can and cannot do by law. </a:t>
            </a:r>
          </a:p>
          <a:p>
            <a:endParaRPr lang="en-US" sz="800" dirty="0"/>
          </a:p>
          <a:p>
            <a:r>
              <a:rPr lang="en-GB" sz="2000" dirty="0"/>
              <a:t>Decisions regarding who will be hired, which employees will participate in a training programme, or what pay or benefits an employee will receive, must be made without regard to race, religion, sex , age colour, nationality, or disability.</a:t>
            </a:r>
          </a:p>
          <a:p>
            <a:endParaRPr lang="en-US" sz="1100" dirty="0"/>
          </a:p>
          <a:p>
            <a:r>
              <a:rPr lang="en-US" sz="2000" dirty="0"/>
              <a:t>Balance of the “should and should-not’s” of many of these laws often fall within the realm of </a:t>
            </a:r>
            <a:r>
              <a:rPr lang="en-US" sz="2000" b="1" dirty="0"/>
              <a:t>affirmative action (‘positive action’)- </a:t>
            </a:r>
            <a:r>
              <a:rPr lang="en-US" sz="2000" dirty="0"/>
              <a:t>programs that enhance the organisational status of members of protected groups.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85800"/>
          </a:xfrm>
        </p:spPr>
        <p:txBody>
          <a:bodyPr>
            <a:normAutofit fontScale="90000"/>
          </a:bodyPr>
          <a:lstStyle/>
          <a:p>
            <a:r>
              <a:rPr lang="en-US" sz="4000" dirty="0"/>
              <a:t>External Factors: </a:t>
            </a:r>
            <a:r>
              <a:rPr lang="en-US" sz="4900" dirty="0"/>
              <a:t>Legal Environment</a:t>
            </a:r>
          </a:p>
        </p:txBody>
      </p:sp>
      <p:sp>
        <p:nvSpPr>
          <p:cNvPr id="3" name="Content Placeholder 2"/>
          <p:cNvSpPr>
            <a:spLocks noGrp="1"/>
          </p:cNvSpPr>
          <p:nvPr>
            <p:ph idx="1"/>
          </p:nvPr>
        </p:nvSpPr>
        <p:spPr>
          <a:xfrm>
            <a:off x="457200" y="1524000"/>
            <a:ext cx="8229600" cy="5105400"/>
          </a:xfrm>
        </p:spPr>
        <p:txBody>
          <a:bodyPr>
            <a:normAutofit fontScale="92500" lnSpcReduction="10000"/>
          </a:bodyPr>
          <a:lstStyle/>
          <a:p>
            <a:pPr marL="377190" indent="-285750" eaLnBrk="0" hangingPunct="0"/>
            <a:r>
              <a:rPr lang="en-US" sz="2200" b="1" dirty="0"/>
              <a:t>Affirmative action/ Positive Action - </a:t>
            </a:r>
            <a:r>
              <a:rPr lang="en-US" sz="2200" dirty="0"/>
              <a:t>organisational programs that enhance the status of members of protected groups</a:t>
            </a:r>
          </a:p>
          <a:p>
            <a:pPr marL="742950" lvl="1" indent="-285750" eaLnBrk="0" hangingPunct="0"/>
            <a:r>
              <a:rPr lang="en-US" sz="2000" dirty="0">
                <a:cs typeface="Arial" charset="0"/>
              </a:rPr>
              <a:t>Many U.S. organisations have affirmative action programs to ensure that decisions and practices enhance the employment, upgrading, and retention of members from protected groups such as minorities and females. </a:t>
            </a:r>
          </a:p>
          <a:p>
            <a:pPr marL="742950" lvl="1" indent="-285750" eaLnBrk="0" hangingPunct="0"/>
            <a:r>
              <a:rPr lang="en-US" sz="2000" dirty="0">
                <a:cs typeface="Arial" charset="0"/>
              </a:rPr>
              <a:t> ….. That is, an organisation refrains from discrimination and actively seeks to enhance the status of members from protected groups.</a:t>
            </a:r>
          </a:p>
          <a:p>
            <a:endParaRPr lang="en-GB" sz="1800" dirty="0"/>
          </a:p>
          <a:p>
            <a:r>
              <a:rPr lang="en-GB" sz="2200" dirty="0"/>
              <a:t>Exceptions can occur in particular circumstances – it is possible to refuse an application for a  fireman position from someone in a wheel chair, but they may apply for a desk job, such as a dispatcher, </a:t>
            </a:r>
          </a:p>
          <a:p>
            <a:pPr lvl="1"/>
            <a:r>
              <a:rPr lang="en-GB" sz="1900" dirty="0"/>
              <a:t>The disability can not be used as a reason to deny employment.</a:t>
            </a:r>
            <a:endParaRPr lang="en-GB" sz="2200" dirty="0"/>
          </a:p>
          <a:p>
            <a:endParaRPr lang="en-GB" sz="2000" dirty="0"/>
          </a:p>
          <a:p>
            <a:r>
              <a:rPr lang="en-GB" sz="2400" dirty="0"/>
              <a:t>Although laws have helped reduce employment discrimination and unfair work practices, they have also reduced management discretion over HRM decisions.</a:t>
            </a:r>
          </a:p>
          <a:p>
            <a:endParaRPr lang="en-GB"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146434" name="Picture 2" descr="http://www.politifake.org/image/political/1301/stop-racism-affirmative-action-battaile-politics-1357458826.jpg"/>
          <p:cNvPicPr>
            <a:picLocks noChangeAspect="1" noChangeArrowheads="1"/>
          </p:cNvPicPr>
          <p:nvPr/>
        </p:nvPicPr>
        <p:blipFill>
          <a:blip r:embed="rId2" cstate="print"/>
          <a:srcRect/>
          <a:stretch>
            <a:fillRect/>
          </a:stretch>
        </p:blipFill>
        <p:spPr bwMode="auto">
          <a:xfrm>
            <a:off x="609600" y="381000"/>
            <a:ext cx="7696200" cy="5867400"/>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External Factors: </a:t>
            </a:r>
            <a:r>
              <a:rPr lang="en-US" dirty="0"/>
              <a:t>Legal Environment</a:t>
            </a:r>
          </a:p>
        </p:txBody>
      </p:sp>
      <p:sp>
        <p:nvSpPr>
          <p:cNvPr id="3" name="Content Placeholder 2"/>
          <p:cNvSpPr>
            <a:spLocks noGrp="1"/>
          </p:cNvSpPr>
          <p:nvPr>
            <p:ph idx="1"/>
          </p:nvPr>
        </p:nvSpPr>
        <p:spPr>
          <a:xfrm>
            <a:off x="457200" y="1752600"/>
            <a:ext cx="8229600" cy="4724400"/>
          </a:xfrm>
        </p:spPr>
        <p:txBody>
          <a:bodyPr>
            <a:normAutofit lnSpcReduction="10000"/>
          </a:bodyPr>
          <a:lstStyle/>
          <a:p>
            <a:pPr marL="377190" indent="-285750" eaLnBrk="0" hangingPunct="0"/>
            <a:r>
              <a:rPr lang="en-US" sz="2400" dirty="0"/>
              <a:t>Two current U.S. laws that each have the potential to affect future HRM practices;</a:t>
            </a:r>
          </a:p>
          <a:p>
            <a:pPr marL="377190" indent="-285750" eaLnBrk="0" hangingPunct="0"/>
            <a:endParaRPr lang="en-US" sz="2400" dirty="0"/>
          </a:p>
          <a:p>
            <a:pPr marL="868680" lvl="1" indent="-228600" eaLnBrk="0" hangingPunct="0"/>
            <a:r>
              <a:rPr lang="en-US" sz="2000" dirty="0"/>
              <a:t>Protection and Affordable Care Act (PPACA and commonly called the Health Care Reform Act)</a:t>
            </a:r>
            <a:r>
              <a:rPr lang="en-US" sz="2000" dirty="0">
                <a:cs typeface="Arial" charset="0"/>
              </a:rPr>
              <a:t> </a:t>
            </a:r>
          </a:p>
          <a:p>
            <a:pPr marL="1143000" lvl="2" indent="-228600" eaLnBrk="0" hangingPunct="0"/>
            <a:r>
              <a:rPr lang="en-US" sz="2000" dirty="0">
                <a:cs typeface="Arial" charset="0"/>
              </a:rPr>
              <a:t>The first of these, the Patient Protection and Affordable Care Act (PPACA and commonly called the Health Care Reform Act), was signed into law in March 2010 and upheld by the Supreme Court of the United States in 2012. (Kushner, 2012)</a:t>
            </a:r>
          </a:p>
          <a:p>
            <a:pPr marL="868680" lvl="1" indent="-228600" eaLnBrk="0" hangingPunct="0"/>
            <a:endParaRPr lang="en-US" sz="2000" dirty="0"/>
          </a:p>
          <a:p>
            <a:pPr marL="868680" lvl="1" indent="-228600" eaLnBrk="0" hangingPunct="0"/>
            <a:r>
              <a:rPr lang="en-US" sz="2000" dirty="0"/>
              <a:t>Social Networking Online Protection Act (SNOPA)</a:t>
            </a:r>
          </a:p>
          <a:p>
            <a:pPr marL="1143000" lvl="2" indent="-228600" eaLnBrk="0" hangingPunct="0"/>
            <a:r>
              <a:rPr lang="en-US" sz="2000" dirty="0">
                <a:cs typeface="Arial" charset="0"/>
              </a:rPr>
              <a:t>Currently a proposed law - SNOPA has been introduced and would prohibit employers from requiring a username, password, or other access to online content. (Smith, 2012)</a:t>
            </a:r>
          </a:p>
          <a:p>
            <a:endParaRPr lang="en-IE" sz="16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t>Important  U.S. Laws that Affect the HRM Process</a:t>
            </a:r>
            <a:endParaRPr lang="en-IE"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dirty="0"/>
          </a:p>
        </p:txBody>
      </p:sp>
      <p:pic>
        <p:nvPicPr>
          <p:cNvPr id="5" name="Picture 3"/>
          <p:cNvPicPr>
            <a:picLocks noChangeAspect="1" noChangeArrowheads="1"/>
          </p:cNvPicPr>
          <p:nvPr/>
        </p:nvPicPr>
        <p:blipFill>
          <a:blip r:embed="rId2" cstate="print"/>
          <a:srcRect b="3465"/>
          <a:stretch>
            <a:fillRect/>
          </a:stretch>
        </p:blipFill>
        <p:spPr bwMode="auto">
          <a:xfrm>
            <a:off x="304801" y="1676400"/>
            <a:ext cx="8458200" cy="4648200"/>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Important  U.S. Laws that Affect the HRM Process (Cont.)</a:t>
            </a:r>
            <a:endParaRPr lang="en-IE" sz="3200"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dirty="0"/>
          </a:p>
        </p:txBody>
      </p:sp>
      <p:pic>
        <p:nvPicPr>
          <p:cNvPr id="5" name="Picture 3"/>
          <p:cNvPicPr>
            <a:picLocks noChangeAspect="1" noChangeArrowheads="1"/>
          </p:cNvPicPr>
          <p:nvPr/>
        </p:nvPicPr>
        <p:blipFill>
          <a:blip r:embed="rId2" cstate="print"/>
          <a:srcRect/>
          <a:stretch>
            <a:fillRect/>
          </a:stretch>
        </p:blipFill>
        <p:spPr bwMode="auto">
          <a:xfrm>
            <a:off x="381000" y="2743200"/>
            <a:ext cx="8305800" cy="3352800"/>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152400" y="1676400"/>
            <a:ext cx="9144000" cy="10668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Autofit/>
          </a:bodyPr>
          <a:lstStyle/>
          <a:p>
            <a:r>
              <a:rPr lang="en-US" sz="3200" dirty="0"/>
              <a:t>Important  U.S. Laws that Affect the HRM Process (Cont.)</a:t>
            </a:r>
            <a:endParaRPr lang="en-IE"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533400" y="3276600"/>
            <a:ext cx="7848600" cy="3124200"/>
          </a:xfrm>
          <a:prstGeom prst="rect">
            <a:avLst/>
          </a:prstGeom>
          <a:noFill/>
          <a:ln w="9525">
            <a:noFill/>
            <a:miter lim="800000"/>
            <a:headEnd/>
            <a:tailEnd/>
          </a:ln>
        </p:spPr>
      </p:pic>
      <p:pic>
        <p:nvPicPr>
          <p:cNvPr id="6" name="Picture 2"/>
          <p:cNvPicPr>
            <a:picLocks noChangeAspect="1" noChangeArrowheads="1"/>
          </p:cNvPicPr>
          <p:nvPr/>
        </p:nvPicPr>
        <p:blipFill>
          <a:blip r:embed="rId3" cstate="print"/>
          <a:srcRect/>
          <a:stretch>
            <a:fillRect/>
          </a:stretch>
        </p:blipFill>
        <p:spPr bwMode="auto">
          <a:xfrm>
            <a:off x="304800" y="1752600"/>
            <a:ext cx="8382000" cy="16002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Autofit/>
          </a:bodyPr>
          <a:lstStyle/>
          <a:p>
            <a:r>
              <a:rPr lang="en-GB" sz="2400" dirty="0"/>
              <a:t>“I’m not allowed to whip non productive employees?  Your Honour, how can a simple CEO like me know every law?</a:t>
            </a:r>
            <a:endParaRPr lang="en-US" sz="24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dirty="0"/>
          </a:p>
        </p:txBody>
      </p:sp>
      <p:pic>
        <p:nvPicPr>
          <p:cNvPr id="142338" name="Picture 2" descr="http://4.bp.blogspot.com/-wqKCu6Hd0EQ/TbgW_tFaKzI/AAAAAAAAABg/lsu_TCcmTbI/s1600/Picture1.png"/>
          <p:cNvPicPr>
            <a:picLocks noChangeAspect="1" noChangeArrowheads="1"/>
          </p:cNvPicPr>
          <p:nvPr/>
        </p:nvPicPr>
        <p:blipFill>
          <a:blip r:embed="rId2" cstate="print"/>
          <a:srcRect/>
          <a:stretch>
            <a:fillRect/>
          </a:stretch>
        </p:blipFill>
        <p:spPr bwMode="auto">
          <a:xfrm>
            <a:off x="1066800" y="1600200"/>
            <a:ext cx="7010400" cy="4895851"/>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sz="4000" dirty="0"/>
              <a:t>Legal Environment: </a:t>
            </a:r>
            <a:r>
              <a:rPr lang="en-US" sz="4900" dirty="0"/>
              <a:t>Global HRM Laws</a:t>
            </a:r>
            <a:endParaRPr lang="en-US" dirty="0"/>
          </a:p>
        </p:txBody>
      </p:sp>
      <p:sp>
        <p:nvSpPr>
          <p:cNvPr id="3" name="Content Placeholder 2"/>
          <p:cNvSpPr>
            <a:spLocks noGrp="1"/>
          </p:cNvSpPr>
          <p:nvPr>
            <p:ph idx="1"/>
          </p:nvPr>
        </p:nvSpPr>
        <p:spPr>
          <a:xfrm>
            <a:off x="381000" y="1905000"/>
            <a:ext cx="8229600" cy="4191000"/>
          </a:xfrm>
        </p:spPr>
        <p:txBody>
          <a:bodyPr>
            <a:normAutofit fontScale="85000" lnSpcReduction="10000"/>
          </a:bodyPr>
          <a:lstStyle/>
          <a:p>
            <a:r>
              <a:rPr lang="en-US" sz="2900" dirty="0"/>
              <a:t>Managers that operate in an international context must also be aware of specific laws that apply to the countries in which they do business. </a:t>
            </a:r>
          </a:p>
          <a:p>
            <a:endParaRPr lang="en-US" sz="2900" dirty="0"/>
          </a:p>
          <a:p>
            <a:pPr lvl="1"/>
            <a:r>
              <a:rPr lang="en-US" sz="2700" dirty="0"/>
              <a:t>Canadian laws most closely mirror those in the U.S.  </a:t>
            </a:r>
          </a:p>
          <a:p>
            <a:pPr lvl="1"/>
            <a:r>
              <a:rPr lang="en-US" sz="2700" dirty="0"/>
              <a:t>In Mexico, employees are more likely to be unionised.  </a:t>
            </a:r>
          </a:p>
          <a:p>
            <a:pPr lvl="1"/>
            <a:r>
              <a:rPr lang="en-US" sz="2700" dirty="0"/>
              <a:t>In Australia, discrimination laws are fairly new and generally apply to affirmative action for women.  </a:t>
            </a:r>
          </a:p>
          <a:p>
            <a:pPr lvl="1"/>
            <a:r>
              <a:rPr lang="en-US" sz="2700" dirty="0"/>
              <a:t>In Germany, companies are required to have a high degree of worker participation in management through the use of work councils and board representatives.</a:t>
            </a:r>
          </a:p>
          <a:p>
            <a:endParaRPr lang="en-GB"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dirty="0"/>
          </a:p>
        </p:txBody>
      </p:sp>
      <p:pic>
        <p:nvPicPr>
          <p:cNvPr id="148482" name="Picture 2" descr="http://www.cartoonstock.com/newscartoons/cartoonists/dcr/lowres/business-commerce-personnel-holiday-contract-jobs-employment_law-dcrn736l.jpg"/>
          <p:cNvPicPr>
            <a:picLocks noChangeAspect="1" noChangeArrowheads="1"/>
          </p:cNvPicPr>
          <p:nvPr/>
        </p:nvPicPr>
        <p:blipFill>
          <a:blip r:embed="rId2" cstate="print"/>
          <a:srcRect/>
          <a:stretch>
            <a:fillRect/>
          </a:stretch>
        </p:blipFill>
        <p:spPr bwMode="auto">
          <a:xfrm>
            <a:off x="685800" y="304800"/>
            <a:ext cx="7467600" cy="5895976"/>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rmAutofit fontScale="90000"/>
          </a:bodyPr>
          <a:lstStyle/>
          <a:p>
            <a:r>
              <a:rPr lang="en-US" sz="4000" dirty="0"/>
              <a:t>Legal Environment: </a:t>
            </a:r>
            <a:r>
              <a:rPr lang="en-US" sz="4900" dirty="0"/>
              <a:t>Global HRM Laws</a:t>
            </a:r>
            <a:endParaRPr lang="en-US" dirty="0"/>
          </a:p>
        </p:txBody>
      </p:sp>
      <p:sp>
        <p:nvSpPr>
          <p:cNvPr id="3" name="Content Placeholder 2"/>
          <p:cNvSpPr>
            <a:spLocks noGrp="1"/>
          </p:cNvSpPr>
          <p:nvPr>
            <p:ph idx="1"/>
          </p:nvPr>
        </p:nvSpPr>
        <p:spPr>
          <a:xfrm>
            <a:off x="457200" y="1676400"/>
            <a:ext cx="8229600" cy="4800600"/>
          </a:xfrm>
        </p:spPr>
        <p:txBody>
          <a:bodyPr>
            <a:normAutofit fontScale="77500" lnSpcReduction="20000"/>
          </a:bodyPr>
          <a:lstStyle/>
          <a:p>
            <a:r>
              <a:rPr lang="en-GB" sz="2800" dirty="0"/>
              <a:t>German HR practices similar to most Western European countries.</a:t>
            </a:r>
          </a:p>
          <a:p>
            <a:endParaRPr lang="en-GB" sz="1300" dirty="0"/>
          </a:p>
          <a:p>
            <a:r>
              <a:rPr lang="en-GB" sz="2800" dirty="0"/>
              <a:t>Legislation requires companies to practice representative participation, in which the goal is to redistribute power within the organisation, putting labour on a more equal footing with the interests of management and shareholders.</a:t>
            </a:r>
          </a:p>
          <a:p>
            <a:endParaRPr lang="en-GB" dirty="0"/>
          </a:p>
          <a:p>
            <a:r>
              <a:rPr lang="en-GB" dirty="0"/>
              <a:t>Two common forms of representative  participation are Work Councils and Board Representatives.</a:t>
            </a:r>
          </a:p>
          <a:p>
            <a:endParaRPr lang="en-GB" b="1" dirty="0"/>
          </a:p>
          <a:p>
            <a:r>
              <a:rPr lang="en-GB" b="1" dirty="0"/>
              <a:t>Work Councils </a:t>
            </a:r>
            <a:r>
              <a:rPr lang="en-GB" dirty="0"/>
              <a:t>- Link employees  with management . </a:t>
            </a:r>
          </a:p>
          <a:p>
            <a:pPr lvl="1"/>
            <a:r>
              <a:rPr lang="en-GB" dirty="0"/>
              <a:t>They are groups nominated or elected employees who must be consulted when management makes decisions involving personnel</a:t>
            </a:r>
          </a:p>
          <a:p>
            <a:endParaRPr lang="en-GB" b="1" dirty="0"/>
          </a:p>
          <a:p>
            <a:r>
              <a:rPr lang="en-GB" b="1" dirty="0"/>
              <a:t>Board representatives  </a:t>
            </a:r>
            <a:r>
              <a:rPr lang="en-GB" dirty="0"/>
              <a:t>are employees who sit on a boards company of directors and represent the interests of the firms employees.</a:t>
            </a:r>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dirty="0"/>
          </a:p>
        </p:txBody>
      </p:sp>
      <p:pic>
        <p:nvPicPr>
          <p:cNvPr id="149506" name="Picture 2" descr="http://www.expensespro.com/wp-content/uploads/2012/11/cartoon.jpg"/>
          <p:cNvPicPr>
            <a:picLocks noChangeAspect="1" noChangeArrowheads="1"/>
          </p:cNvPicPr>
          <p:nvPr/>
        </p:nvPicPr>
        <p:blipFill>
          <a:blip r:embed="rId2" cstate="print"/>
          <a:srcRect/>
          <a:stretch>
            <a:fillRect/>
          </a:stretch>
        </p:blipFill>
        <p:spPr bwMode="auto">
          <a:xfrm>
            <a:off x="609600" y="533400"/>
            <a:ext cx="8229600" cy="5800726"/>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62000"/>
          </a:xfrm>
        </p:spPr>
        <p:txBody>
          <a:bodyPr>
            <a:normAutofit fontScale="90000"/>
          </a:bodyPr>
          <a:lstStyle/>
          <a:p>
            <a:br>
              <a:rPr lang="en-US" sz="5400" dirty="0"/>
            </a:br>
            <a:br>
              <a:rPr lang="en-US" sz="5400" dirty="0"/>
            </a:br>
            <a:r>
              <a:rPr lang="en-US" sz="4000" dirty="0"/>
              <a:t>External Factors: </a:t>
            </a:r>
            <a:r>
              <a:rPr lang="en-US" sz="4900" dirty="0"/>
              <a:t>Demographic Trends</a:t>
            </a:r>
            <a:endParaRPr lang="en-IE" sz="4900" dirty="0"/>
          </a:p>
        </p:txBody>
      </p:sp>
      <p:sp>
        <p:nvSpPr>
          <p:cNvPr id="3" name="Content Placeholder 2"/>
          <p:cNvSpPr>
            <a:spLocks noGrp="1"/>
          </p:cNvSpPr>
          <p:nvPr>
            <p:ph idx="1"/>
          </p:nvPr>
        </p:nvSpPr>
        <p:spPr>
          <a:xfrm>
            <a:off x="457200" y="1447800"/>
            <a:ext cx="8229600" cy="5029200"/>
          </a:xfrm>
        </p:spPr>
        <p:txBody>
          <a:bodyPr>
            <a:noAutofit/>
          </a:bodyPr>
          <a:lstStyle/>
          <a:p>
            <a:pPr marL="377190" indent="-285750" eaLnBrk="0" hangingPunct="0"/>
            <a:r>
              <a:rPr lang="en-US" sz="2400" dirty="0"/>
              <a:t>Demographic trends will continue to play an important role in the Human Resource function as the pool of workers change,</a:t>
            </a:r>
            <a:r>
              <a:rPr lang="en-US" sz="2200" dirty="0"/>
              <a:t> i.e. </a:t>
            </a:r>
          </a:p>
          <a:p>
            <a:pPr marL="742950" lvl="1" indent="-285750" eaLnBrk="0" hangingPunct="0"/>
            <a:r>
              <a:rPr lang="en-US" sz="2000" dirty="0"/>
              <a:t>increase in older workers ready for retirement and greater ethnic diversity due to an increasing number of Hispanics residing in the US.</a:t>
            </a:r>
          </a:p>
          <a:p>
            <a:pPr marL="742950" lvl="1" indent="-285750" eaLnBrk="0" hangingPunct="0"/>
            <a:r>
              <a:rPr lang="en-GB" sz="2000" dirty="0"/>
              <a:t>Mobility of labour between EU member states</a:t>
            </a:r>
            <a:endParaRPr lang="en-US" sz="2000" dirty="0"/>
          </a:p>
          <a:p>
            <a:pPr marL="377190" indent="-285750" eaLnBrk="0" hangingPunct="0"/>
            <a:endParaRPr lang="en-US" sz="1800" dirty="0">
              <a:cs typeface="Arial" charset="0"/>
            </a:endParaRPr>
          </a:p>
          <a:p>
            <a:pPr marL="377190" indent="-285750" eaLnBrk="0" hangingPunct="0"/>
            <a:r>
              <a:rPr lang="en-US" sz="2400" dirty="0">
                <a:cs typeface="Arial" charset="0"/>
              </a:rPr>
              <a:t>Workforce trends in the first half of the twenty-first century will be notable for three reasons</a:t>
            </a:r>
            <a:r>
              <a:rPr lang="en-US" sz="1800" dirty="0">
                <a:cs typeface="Arial" charset="0"/>
              </a:rPr>
              <a:t>:</a:t>
            </a:r>
            <a:endParaRPr lang="en-US" sz="2400" dirty="0">
              <a:cs typeface="Arial" charset="0"/>
            </a:endParaRPr>
          </a:p>
          <a:p>
            <a:pPr marL="742950" lvl="1" indent="-285750" eaLnBrk="0" hangingPunct="0"/>
            <a:r>
              <a:rPr lang="en-US" sz="2000" dirty="0">
                <a:cs typeface="Arial" charset="0"/>
              </a:rPr>
              <a:t>(1) changes in racial and ethnic composition, </a:t>
            </a:r>
          </a:p>
          <a:p>
            <a:pPr marL="742950" lvl="1" indent="-285750" eaLnBrk="0" hangingPunct="0"/>
            <a:r>
              <a:rPr lang="en-US" sz="2000" dirty="0">
                <a:cs typeface="Arial" charset="0"/>
              </a:rPr>
              <a:t>(2) an aging baby boom generation, and </a:t>
            </a:r>
          </a:p>
          <a:p>
            <a:pPr marL="742950" lvl="1" indent="-285750" eaLnBrk="0" hangingPunct="0"/>
            <a:r>
              <a:rPr lang="en-US" sz="2000" dirty="0">
                <a:cs typeface="Arial" charset="0"/>
              </a:rPr>
              <a:t>(3) an expanding cohort of Gen Y workers </a:t>
            </a:r>
            <a:r>
              <a:rPr lang="en-US" sz="1700" dirty="0">
                <a:cs typeface="Arial" charset="0"/>
              </a:rPr>
              <a:t>(born between 1981 – 1996)</a:t>
            </a:r>
          </a:p>
          <a:p>
            <a:pPr marL="377190" indent="-285750" eaLnBrk="0" hangingPunct="0"/>
            <a:endParaRPr lang="en-US" sz="2400"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96112"/>
          </a:xfrm>
        </p:spPr>
        <p:txBody>
          <a:bodyPr>
            <a:normAutofit fontScale="90000"/>
          </a:bodyPr>
          <a:lstStyle/>
          <a:p>
            <a:r>
              <a:rPr lang="en-US" sz="4000" dirty="0"/>
              <a:t>External Factors: </a:t>
            </a:r>
            <a:r>
              <a:rPr lang="en-US" sz="4900" dirty="0"/>
              <a:t>Demographic Trends</a:t>
            </a:r>
            <a:br>
              <a:rPr lang="en-US" sz="4900" dirty="0"/>
            </a:br>
            <a:r>
              <a:rPr lang="en-US" sz="1800" dirty="0"/>
              <a:t> </a:t>
            </a:r>
            <a:endParaRPr lang="en-US" dirty="0"/>
          </a:p>
        </p:txBody>
      </p:sp>
      <p:sp>
        <p:nvSpPr>
          <p:cNvPr id="3" name="Content Placeholder 2"/>
          <p:cNvSpPr>
            <a:spLocks noGrp="1"/>
          </p:cNvSpPr>
          <p:nvPr>
            <p:ph idx="1"/>
          </p:nvPr>
        </p:nvSpPr>
        <p:spPr>
          <a:xfrm>
            <a:off x="457200" y="1905000"/>
            <a:ext cx="8229600" cy="4419600"/>
          </a:xfrm>
        </p:spPr>
        <p:txBody>
          <a:bodyPr>
            <a:normAutofit/>
          </a:bodyPr>
          <a:lstStyle/>
          <a:p>
            <a:pPr marL="377190" indent="-285750" eaLnBrk="0" hangingPunct="0"/>
            <a:r>
              <a:rPr lang="en-US" sz="2200" dirty="0">
                <a:cs typeface="Arial" charset="0"/>
              </a:rPr>
              <a:t>(1) changes in racial and ethnic composition, </a:t>
            </a:r>
          </a:p>
          <a:p>
            <a:pPr marL="742950" lvl="1" indent="-285750" eaLnBrk="0" hangingPunct="0"/>
            <a:r>
              <a:rPr lang="en-US" sz="2200" dirty="0">
                <a:cs typeface="Arial" charset="0"/>
              </a:rPr>
              <a:t> In the USA - by 2050, </a:t>
            </a:r>
          </a:p>
          <a:p>
            <a:pPr marL="1017270" lvl="2" indent="-285750" eaLnBrk="0" hangingPunct="0"/>
            <a:r>
              <a:rPr lang="en-US" sz="1900" dirty="0">
                <a:cs typeface="Arial" charset="0"/>
              </a:rPr>
              <a:t>Hispanics will grow from today’s 13 percent of the workforce to 24 percent, </a:t>
            </a:r>
          </a:p>
          <a:p>
            <a:pPr marL="1017270" lvl="2" indent="-285750" eaLnBrk="0" hangingPunct="0"/>
            <a:r>
              <a:rPr lang="en-US" sz="1900" dirty="0">
                <a:cs typeface="Arial" charset="0"/>
              </a:rPr>
              <a:t>African Americans, will increase from 12 percent to 14 percent, </a:t>
            </a:r>
          </a:p>
          <a:p>
            <a:pPr marL="1017270" lvl="2" indent="-285750" eaLnBrk="0" hangingPunct="0"/>
            <a:r>
              <a:rPr lang="en-US" sz="1900" dirty="0">
                <a:cs typeface="Arial" charset="0"/>
              </a:rPr>
              <a:t>and Asians will increase from 5 percent to 11 percent.</a:t>
            </a:r>
          </a:p>
          <a:p>
            <a:endParaRPr lang="en-US" sz="2400" dirty="0">
              <a:cs typeface="Arial" charset="0"/>
            </a:endParaRPr>
          </a:p>
          <a:p>
            <a:r>
              <a:rPr lang="en-US" sz="2400" dirty="0">
                <a:cs typeface="Arial" charset="0"/>
              </a:rPr>
              <a:t>(2) an aging baby boom generation,</a:t>
            </a:r>
            <a:endParaRPr lang="en-US" sz="2800" dirty="0">
              <a:cs typeface="Arial" charset="0"/>
            </a:endParaRPr>
          </a:p>
          <a:p>
            <a:pPr lvl="1"/>
            <a:r>
              <a:rPr lang="en-US" sz="2200" dirty="0">
                <a:cs typeface="Arial" charset="0"/>
              </a:rPr>
              <a:t>Meanwhile, the labour force is aging. </a:t>
            </a:r>
          </a:p>
          <a:p>
            <a:pPr lvl="2"/>
            <a:r>
              <a:rPr lang="en-US" sz="1900" dirty="0">
                <a:cs typeface="Arial" charset="0"/>
              </a:rPr>
              <a:t>Over 37% of total US workforce are 50 years or older,</a:t>
            </a:r>
          </a:p>
          <a:p>
            <a:pPr lvl="2"/>
            <a:r>
              <a:rPr lang="en-US" sz="1900" dirty="0">
                <a:cs typeface="Arial" charset="0"/>
              </a:rPr>
              <a:t>Over 16% of total US workforce are 60 years or older</a:t>
            </a:r>
          </a:p>
          <a:p>
            <a:pPr lvl="3"/>
            <a:r>
              <a:rPr lang="en-US" sz="1200" dirty="0">
                <a:cs typeface="Arial" charset="0"/>
              </a:rPr>
              <a:t>(US Bureau of Labor Statistics, Nov 2022)</a:t>
            </a:r>
          </a:p>
          <a:p>
            <a:pPr marL="377190" indent="-285750" eaLnBrk="0" hangingPunct="0"/>
            <a:endParaRPr lang="en-US" sz="20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dirty="0"/>
          </a:p>
        </p:txBody>
      </p:sp>
      <p:pic>
        <p:nvPicPr>
          <p:cNvPr id="151554" name="Picture 2" descr="http://www.usnews.com/dbimages/master/2034/WH_CARTOON_071029.jpg"/>
          <p:cNvPicPr>
            <a:picLocks noChangeAspect="1" noChangeArrowheads="1"/>
          </p:cNvPicPr>
          <p:nvPr/>
        </p:nvPicPr>
        <p:blipFill>
          <a:blip r:embed="rId2" cstate="print"/>
          <a:srcRect/>
          <a:stretch>
            <a:fillRect/>
          </a:stretch>
        </p:blipFill>
        <p:spPr bwMode="auto">
          <a:xfrm>
            <a:off x="533400" y="533400"/>
            <a:ext cx="7981948" cy="57150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normAutofit fontScale="90000"/>
          </a:bodyPr>
          <a:lstStyle/>
          <a:p>
            <a:r>
              <a:rPr lang="en-US" sz="4000" dirty="0"/>
              <a:t>External Factors: </a:t>
            </a:r>
            <a:r>
              <a:rPr lang="en-US" sz="4900" dirty="0"/>
              <a:t>Demographic Trends </a:t>
            </a:r>
            <a:endParaRPr lang="en-US" dirty="0"/>
          </a:p>
        </p:txBody>
      </p:sp>
      <p:sp>
        <p:nvSpPr>
          <p:cNvPr id="3" name="Content Placeholder 2"/>
          <p:cNvSpPr>
            <a:spLocks noGrp="1"/>
          </p:cNvSpPr>
          <p:nvPr>
            <p:ph idx="1"/>
          </p:nvPr>
        </p:nvSpPr>
        <p:spPr>
          <a:xfrm>
            <a:off x="457200" y="1447800"/>
            <a:ext cx="8229600" cy="5029200"/>
          </a:xfrm>
        </p:spPr>
        <p:txBody>
          <a:bodyPr>
            <a:normAutofit fontScale="70000" lnSpcReduction="20000"/>
          </a:bodyPr>
          <a:lstStyle/>
          <a:p>
            <a:pPr marL="274320" lvl="1" indent="-274320">
              <a:buClr>
                <a:schemeClr val="accent3"/>
              </a:buClr>
              <a:buSzPct val="95000"/>
            </a:pPr>
            <a:r>
              <a:rPr lang="en-US" sz="3400" dirty="0">
                <a:cs typeface="Arial" charset="0"/>
              </a:rPr>
              <a:t>(3) an expanding cohort of Gen Y workers. </a:t>
            </a:r>
          </a:p>
          <a:p>
            <a:endParaRPr lang="en-US" sz="1700" dirty="0">
              <a:cs typeface="Arial" charset="0"/>
            </a:endParaRPr>
          </a:p>
          <a:p>
            <a:r>
              <a:rPr lang="en-US" sz="2900" dirty="0">
                <a:cs typeface="Arial" charset="0"/>
              </a:rPr>
              <a:t>Another group that is having a significant impact on today’s workforce is Gen Y, a population group that includes individuals born from about 1978/1981 to 1996. </a:t>
            </a:r>
          </a:p>
          <a:p>
            <a:endParaRPr lang="en-US" sz="2800" dirty="0">
              <a:cs typeface="Arial" charset="0"/>
            </a:endParaRPr>
          </a:p>
          <a:p>
            <a:r>
              <a:rPr lang="en-US" sz="2800" dirty="0">
                <a:cs typeface="Arial" charset="0"/>
              </a:rPr>
              <a:t>Gen Y has been the fastest-growing segment of the workforce; increasing from 14 percent to more than 24 percent. </a:t>
            </a:r>
          </a:p>
          <a:p>
            <a:endParaRPr lang="en-US" sz="2800" dirty="0">
              <a:cs typeface="Arial" charset="0"/>
            </a:endParaRPr>
          </a:p>
          <a:p>
            <a:r>
              <a:rPr lang="en-US" sz="2800" dirty="0">
                <a:cs typeface="Arial" charset="0"/>
              </a:rPr>
              <a:t>With Gen Y now in the workforce, analysts point to the four generations that are working side-by-side in the workplace.</a:t>
            </a:r>
          </a:p>
          <a:p>
            <a:pPr marL="377190" indent="-285750" eaLnBrk="0" hangingPunct="0"/>
            <a:endParaRPr lang="en-US" sz="1700" dirty="0"/>
          </a:p>
          <a:p>
            <a:pPr marL="742950" lvl="1" indent="-285750" eaLnBrk="0" hangingPunct="0"/>
            <a:r>
              <a:rPr lang="en-US" dirty="0"/>
              <a:t>The oldest, most experienced workers (those born before 1946) make up 6 percent of the workforce.</a:t>
            </a:r>
          </a:p>
          <a:p>
            <a:pPr marL="742950" lvl="1" indent="-285750" eaLnBrk="0" hangingPunct="0"/>
            <a:r>
              <a:rPr lang="en-US" dirty="0"/>
              <a:t>The baby boomers (those born between 1946 and 1964) make up 41.5 percent of the workforce.</a:t>
            </a:r>
          </a:p>
          <a:p>
            <a:pPr marL="742950" lvl="1" indent="-285750" eaLnBrk="0" hangingPunct="0"/>
            <a:r>
              <a:rPr lang="en-US" dirty="0"/>
              <a:t>Gen Xers (those born 1965 to 1977) make up almost 29 percent of the workforce.</a:t>
            </a:r>
          </a:p>
          <a:p>
            <a:pPr marL="742950" lvl="1" indent="-285750" eaLnBrk="0" hangingPunct="0"/>
            <a:r>
              <a:rPr lang="en-US" dirty="0"/>
              <a:t>Gen Yers (those born 1978 to 1994) make up almost 24 percent of the workforce</a:t>
            </a:r>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dirty="0"/>
          </a:p>
        </p:txBody>
      </p:sp>
      <p:pic>
        <p:nvPicPr>
          <p:cNvPr id="150530" name="Picture 2" descr="http://media.cagle.com/95/2011/10/31/100193_600.jpg"/>
          <p:cNvPicPr>
            <a:picLocks noChangeAspect="1" noChangeArrowheads="1"/>
          </p:cNvPicPr>
          <p:nvPr/>
        </p:nvPicPr>
        <p:blipFill>
          <a:blip r:embed="rId2" cstate="print"/>
          <a:srcRect/>
          <a:stretch>
            <a:fillRect/>
          </a:stretch>
        </p:blipFill>
        <p:spPr bwMode="auto">
          <a:xfrm>
            <a:off x="951390" y="533400"/>
            <a:ext cx="7010400" cy="5676901"/>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9CCCF59-6A8D-4A18-99EE-43335929D132}"/>
              </a:ext>
            </a:extLst>
          </p:cNvPr>
          <p:cNvSpPr>
            <a:spLocks noGrp="1"/>
          </p:cNvSpPr>
          <p:nvPr>
            <p:ph type="sldNum" sz="quarter" idx="12"/>
          </p:nvPr>
        </p:nvSpPr>
        <p:spPr/>
        <p:txBody>
          <a:bodyPr/>
          <a:lstStyle/>
          <a:p>
            <a:fld id="{B6F15528-21DE-4FAA-801E-634DDDAF4B2B}" type="slidenum">
              <a:rPr lang="en-US" smtClean="0"/>
              <a:pPr/>
              <a:t>36</a:t>
            </a:fld>
            <a:endParaRPr lang="en-US" dirty="0"/>
          </a:p>
        </p:txBody>
      </p:sp>
      <p:sp>
        <p:nvSpPr>
          <p:cNvPr id="5" name="AutoShape 4" descr="World population to reach 8 billion | Cartoon Movement">
            <a:extLst>
              <a:ext uri="{FF2B5EF4-FFF2-40B4-BE49-F238E27FC236}">
                <a16:creationId xmlns:a16="http://schemas.microsoft.com/office/drawing/2014/main" id="{BD6204F3-4A33-4406-8CEF-243354F2022D}"/>
              </a:ext>
            </a:extLst>
          </p:cNvPr>
          <p:cNvSpPr>
            <a:spLocks noGrp="1" noChangeAspect="1" noChangeArrowheads="1"/>
          </p:cNvSpPr>
          <p:nvPr>
            <p:ph type="title"/>
          </p:nvPr>
        </p:nvSpPr>
        <p:spPr bwMode="auto">
          <a:xfrm>
            <a:off x="432786" y="457200"/>
            <a:ext cx="8229600" cy="9689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0000"/>
          </a:bodyPr>
          <a:lstStyle/>
          <a:p>
            <a:r>
              <a:rPr lang="en-GB" dirty="0"/>
              <a:t>World Population reaches 8 Billion-  November 2022</a:t>
            </a:r>
          </a:p>
        </p:txBody>
      </p:sp>
      <p:pic>
        <p:nvPicPr>
          <p:cNvPr id="1030" name="Picture 6" descr="World population to reach 8 billion | Cartoon Movement">
            <a:extLst>
              <a:ext uri="{FF2B5EF4-FFF2-40B4-BE49-F238E27FC236}">
                <a16:creationId xmlns:a16="http://schemas.microsoft.com/office/drawing/2014/main" id="{58FDF679-6658-4C2E-BF26-E08DC0A313C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1828800"/>
            <a:ext cx="6553200" cy="4389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6361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24712"/>
          </a:xfrm>
        </p:spPr>
        <p:txBody>
          <a:bodyPr>
            <a:noAutofit/>
          </a:bodyPr>
          <a:lstStyle/>
          <a:p>
            <a:r>
              <a:rPr lang="en-US" sz="3600" dirty="0"/>
              <a:t>External Factors: </a:t>
            </a:r>
            <a:r>
              <a:rPr lang="en-US" sz="4000" dirty="0"/>
              <a:t>Demographic Trends</a:t>
            </a:r>
            <a:br>
              <a:rPr lang="en-US" sz="4000" dirty="0"/>
            </a:br>
            <a:r>
              <a:rPr lang="en-US" dirty="0"/>
              <a:t>A Response from BMW</a:t>
            </a:r>
            <a:endParaRPr lang="en-US" sz="3600" dirty="0"/>
          </a:p>
        </p:txBody>
      </p:sp>
      <p:sp>
        <p:nvSpPr>
          <p:cNvPr id="3" name="Content Placeholder 2"/>
          <p:cNvSpPr>
            <a:spLocks noGrp="1"/>
          </p:cNvSpPr>
          <p:nvPr>
            <p:ph idx="1"/>
          </p:nvPr>
        </p:nvSpPr>
        <p:spPr>
          <a:xfrm>
            <a:off x="457200" y="2057400"/>
            <a:ext cx="8229600" cy="4419600"/>
          </a:xfrm>
        </p:spPr>
        <p:txBody>
          <a:bodyPr>
            <a:normAutofit fontScale="92500" lnSpcReduction="20000"/>
          </a:bodyPr>
          <a:lstStyle/>
          <a:p>
            <a:r>
              <a:rPr lang="en-GB" dirty="0"/>
              <a:t>In 2007, the head of BMW's 2,500 employee power plant in Dingolfing, Lower Bavaria, was worried about the potential inevitable future decline in productivity due to an aging workforce.</a:t>
            </a:r>
          </a:p>
          <a:p>
            <a:endParaRPr lang="en-GB" dirty="0"/>
          </a:p>
          <a:p>
            <a:r>
              <a:rPr lang="en-GB" dirty="0"/>
              <a:t>Company executives decided to redesign its factory for older workers. </a:t>
            </a:r>
          </a:p>
          <a:p>
            <a:endParaRPr lang="en-GB" dirty="0"/>
          </a:p>
          <a:p>
            <a:r>
              <a:rPr lang="en-GB" dirty="0"/>
              <a:t>With input from employees, they implemented physical changes to the workplace, e.g.:</a:t>
            </a:r>
          </a:p>
          <a:p>
            <a:pPr lvl="1"/>
            <a:r>
              <a:rPr lang="en-GB" dirty="0"/>
              <a:t>new wooden floors to reduce joint strain,</a:t>
            </a:r>
          </a:p>
          <a:p>
            <a:pPr lvl="1"/>
            <a:r>
              <a:rPr lang="en-GB" dirty="0"/>
              <a:t>and special chairs for sitting down or relaxing for short periods,  that would reduce wear and tear on workers' bodies. </a:t>
            </a:r>
          </a:p>
          <a:p>
            <a:endParaRPr lang="en-GB" sz="15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dirty="0"/>
          </a:p>
        </p:txBody>
      </p:sp>
      <p:pic>
        <p:nvPicPr>
          <p:cNvPr id="139266" name="Picture 2" descr="http://aesp.org.uk/cartoon_1_june_2005.jpg"/>
          <p:cNvPicPr>
            <a:picLocks noChangeAspect="1" noChangeArrowheads="1"/>
          </p:cNvPicPr>
          <p:nvPr/>
        </p:nvPicPr>
        <p:blipFill>
          <a:blip r:embed="rId2" cstate="print"/>
          <a:srcRect/>
          <a:stretch>
            <a:fillRect/>
          </a:stretch>
        </p:blipFill>
        <p:spPr bwMode="auto">
          <a:xfrm>
            <a:off x="762000" y="838200"/>
            <a:ext cx="7772400" cy="571500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457200"/>
            <a:ext cx="8229600" cy="457200"/>
          </a:xfrm>
        </p:spPr>
        <p:txBody>
          <a:bodyPr>
            <a:normAutofit fontScale="90000"/>
          </a:bodyPr>
          <a:lstStyle/>
          <a:p>
            <a:r>
              <a:rPr lang="en-IE" sz="4000" dirty="0"/>
              <a:t>Miscellaneous data re HRM</a:t>
            </a:r>
            <a:endParaRPr lang="en-IE" sz="2200" dirty="0"/>
          </a:p>
        </p:txBody>
      </p:sp>
      <p:sp>
        <p:nvSpPr>
          <p:cNvPr id="6" name="Content Placeholder 5"/>
          <p:cNvSpPr>
            <a:spLocks noGrp="1"/>
          </p:cNvSpPr>
          <p:nvPr>
            <p:ph sz="half" idx="1"/>
          </p:nvPr>
        </p:nvSpPr>
        <p:spPr>
          <a:xfrm>
            <a:off x="304800" y="1219200"/>
            <a:ext cx="4191000" cy="5410200"/>
          </a:xfrm>
          <a:ln>
            <a:solidFill>
              <a:schemeClr val="accent1"/>
            </a:solidFill>
          </a:ln>
        </p:spPr>
        <p:txBody>
          <a:bodyPr>
            <a:noAutofit/>
          </a:bodyPr>
          <a:lstStyle/>
          <a:p>
            <a:r>
              <a:rPr lang="en-IE" sz="1600" dirty="0"/>
              <a:t>83% of companies </a:t>
            </a:r>
            <a:r>
              <a:rPr lang="en-GB" sz="1600" dirty="0"/>
              <a:t>cite a shortage of talent as their number one hiring challenge.</a:t>
            </a:r>
          </a:p>
          <a:p>
            <a:endParaRPr lang="en-GB" sz="1600" dirty="0"/>
          </a:p>
          <a:p>
            <a:r>
              <a:rPr lang="en-GB" sz="1600" dirty="0"/>
              <a:t>91% of recent college graduates say that if they started a job and did not like it, they would stay in that job for up to a year.</a:t>
            </a:r>
          </a:p>
          <a:p>
            <a:endParaRPr lang="en-GB" sz="1050" dirty="0"/>
          </a:p>
          <a:p>
            <a:r>
              <a:rPr lang="en-GB" sz="1600" dirty="0"/>
              <a:t>52%  of HR professionals say they do not use social networking sites to research job candidates.</a:t>
            </a:r>
          </a:p>
          <a:p>
            <a:endParaRPr lang="en-GB" sz="1000" b="1" dirty="0"/>
          </a:p>
          <a:p>
            <a:r>
              <a:rPr lang="en-GB" sz="1600" b="1" dirty="0"/>
              <a:t>85%</a:t>
            </a:r>
            <a:r>
              <a:rPr lang="en-GB" sz="1600" dirty="0"/>
              <a:t> of survey respondents said the top reason for why an employee should be terminated is sexually harassing a co-worker.</a:t>
            </a:r>
          </a:p>
          <a:p>
            <a:endParaRPr lang="en-GB" sz="900" dirty="0"/>
          </a:p>
          <a:p>
            <a:r>
              <a:rPr lang="en-GB" sz="1600" dirty="0"/>
              <a:t>6.25 seconds is the time recruiters spend looking at a resume before deciding whether the candidate is a good fit for a job.</a:t>
            </a:r>
          </a:p>
          <a:p>
            <a:endParaRPr lang="en-US" sz="1600" i="1" dirty="0"/>
          </a:p>
        </p:txBody>
      </p:sp>
      <p:sp>
        <p:nvSpPr>
          <p:cNvPr id="7" name="Content Placeholder 6"/>
          <p:cNvSpPr>
            <a:spLocks noGrp="1"/>
          </p:cNvSpPr>
          <p:nvPr>
            <p:ph sz="half" idx="2"/>
          </p:nvPr>
        </p:nvSpPr>
        <p:spPr>
          <a:xfrm>
            <a:off x="4648200" y="1219200"/>
            <a:ext cx="4114800" cy="5410200"/>
          </a:xfrm>
          <a:ln>
            <a:solidFill>
              <a:schemeClr val="accent1"/>
            </a:solidFill>
          </a:ln>
        </p:spPr>
        <p:txBody>
          <a:bodyPr>
            <a:noAutofit/>
          </a:bodyPr>
          <a:lstStyle/>
          <a:p>
            <a:r>
              <a:rPr lang="en-GB" sz="1500" dirty="0"/>
              <a:t>61%  of workers surveyed say they are never late </a:t>
            </a:r>
            <a:r>
              <a:rPr lang="en-US" sz="1500" dirty="0"/>
              <a:t>for work.</a:t>
            </a:r>
            <a:endParaRPr lang="en-GB" sz="1500" dirty="0"/>
          </a:p>
          <a:p>
            <a:endParaRPr lang="en-GB" sz="700" dirty="0"/>
          </a:p>
          <a:p>
            <a:r>
              <a:rPr lang="en-GB" sz="1500" dirty="0"/>
              <a:t>15%  of employers say they have fired a worker for calling in sick without a legitimate excuse.</a:t>
            </a:r>
          </a:p>
          <a:p>
            <a:endParaRPr lang="en-GB" sz="700" dirty="0"/>
          </a:p>
          <a:p>
            <a:r>
              <a:rPr lang="en-GB" sz="1500" dirty="0"/>
              <a:t>36% of respondents say the top reason why someone hired would not work out in a position (other than poor performance) is a mismatched skill set.</a:t>
            </a:r>
          </a:p>
          <a:p>
            <a:endParaRPr lang="en-US" sz="800" dirty="0"/>
          </a:p>
          <a:p>
            <a:r>
              <a:rPr lang="en-US" sz="1500" dirty="0"/>
              <a:t>39% </a:t>
            </a:r>
            <a:r>
              <a:rPr lang="en-GB" sz="1500" dirty="0"/>
              <a:t>of HR managers say that annual performance reviews are not an accurate appraisal of employees' work.</a:t>
            </a:r>
          </a:p>
          <a:p>
            <a:endParaRPr lang="en-GB" sz="700" dirty="0"/>
          </a:p>
          <a:p>
            <a:r>
              <a:rPr lang="en-GB" sz="1500" dirty="0"/>
              <a:t>38% of senior managers say the most common mistake candidates make during job interviews is having little or no knowledge of the company.</a:t>
            </a:r>
          </a:p>
          <a:p>
            <a:endParaRPr lang="en-US" sz="400" i="1" dirty="0"/>
          </a:p>
          <a:p>
            <a:r>
              <a:rPr lang="en-US" sz="1500" i="1" dirty="0"/>
              <a:t>82 %</a:t>
            </a:r>
            <a:r>
              <a:rPr lang="en-GB" sz="1500" dirty="0"/>
              <a:t> of employees say they would  give up more than 5 percent of their salary to get a guaranteed retirement income.</a:t>
            </a:r>
            <a:endParaRPr lang="en-IE" sz="1500" dirty="0"/>
          </a:p>
          <a:p>
            <a:endParaRPr lang="en-IE" sz="1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704088"/>
            <a:ext cx="8229600" cy="1505712"/>
          </a:xfrm>
        </p:spPr>
        <p:txBody>
          <a:bodyPr>
            <a:noAutofit/>
          </a:bodyPr>
          <a:lstStyle/>
          <a:p>
            <a:r>
              <a:rPr lang="en-GB" sz="4800" dirty="0"/>
              <a:t>Identifying &amp; Selection Competent Employees</a:t>
            </a:r>
            <a:endParaRPr lang="en-US" sz="4800" dirty="0"/>
          </a:p>
        </p:txBody>
      </p:sp>
      <p:sp>
        <p:nvSpPr>
          <p:cNvPr id="7" name="Content Placeholder 6"/>
          <p:cNvSpPr>
            <a:spLocks noGrp="1"/>
          </p:cNvSpPr>
          <p:nvPr>
            <p:ph idx="1"/>
          </p:nvPr>
        </p:nvSpPr>
        <p:spPr>
          <a:xfrm>
            <a:off x="457200" y="2743200"/>
            <a:ext cx="8229600" cy="3810000"/>
          </a:xfrm>
        </p:spPr>
        <p:txBody>
          <a:bodyPr/>
          <a:lstStyle/>
          <a:p>
            <a:r>
              <a:rPr lang="en-GB" sz="3200" dirty="0"/>
              <a:t>This process involves;</a:t>
            </a:r>
          </a:p>
          <a:p>
            <a:endParaRPr lang="en-GB" sz="2000" dirty="0"/>
          </a:p>
          <a:p>
            <a:r>
              <a:rPr lang="en-GB" sz="3200" dirty="0"/>
              <a:t>Human Resource Planning,</a:t>
            </a:r>
          </a:p>
          <a:p>
            <a:r>
              <a:rPr lang="en-GB" sz="3200" dirty="0"/>
              <a:t>Recruitment and de-recruitment</a:t>
            </a:r>
          </a:p>
          <a:p>
            <a:r>
              <a:rPr lang="en-GB" sz="3200" dirty="0"/>
              <a:t>Selection</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dirty="0"/>
              <a:t>Human Resource Planning</a:t>
            </a:r>
            <a:endParaRPr lang="en-IE" dirty="0"/>
          </a:p>
        </p:txBody>
      </p:sp>
      <p:sp>
        <p:nvSpPr>
          <p:cNvPr id="3" name="Content Placeholder 2"/>
          <p:cNvSpPr>
            <a:spLocks noGrp="1"/>
          </p:cNvSpPr>
          <p:nvPr>
            <p:ph idx="1"/>
          </p:nvPr>
        </p:nvSpPr>
        <p:spPr>
          <a:xfrm>
            <a:off x="457200" y="1905000"/>
            <a:ext cx="8229600" cy="4724400"/>
          </a:xfrm>
        </p:spPr>
        <p:txBody>
          <a:bodyPr>
            <a:noAutofit/>
          </a:bodyPr>
          <a:lstStyle/>
          <a:p>
            <a:pPr marL="342900" indent="-342900" eaLnBrk="0" hangingPunct="0">
              <a:buFont typeface="Arial" charset="0"/>
              <a:buChar char="•"/>
            </a:pPr>
            <a:r>
              <a:rPr lang="en-US" sz="2400" b="1" dirty="0">
                <a:cs typeface="Arial" charset="0"/>
              </a:rPr>
              <a:t>Human resource planning </a:t>
            </a:r>
            <a:r>
              <a:rPr lang="en-US" sz="2400" dirty="0">
                <a:cs typeface="Arial" charset="0"/>
              </a:rPr>
              <a:t>is ensuring </a:t>
            </a:r>
            <a:r>
              <a:rPr lang="en-US" sz="2400" dirty="0"/>
              <a:t>that the organisation has the right </a:t>
            </a:r>
            <a:r>
              <a:rPr lang="en-US" sz="2400" i="1" dirty="0"/>
              <a:t>number</a:t>
            </a:r>
            <a:r>
              <a:rPr lang="en-US" sz="2400" dirty="0"/>
              <a:t>, and </a:t>
            </a:r>
            <a:r>
              <a:rPr lang="en-US" sz="2400" i="1" dirty="0"/>
              <a:t>kinds</a:t>
            </a:r>
            <a:r>
              <a:rPr lang="en-US" sz="2400" dirty="0"/>
              <a:t> of capable people in the right places and at the right times.</a:t>
            </a:r>
          </a:p>
          <a:p>
            <a:pPr marL="342900" indent="-342900" eaLnBrk="0" hangingPunct="0">
              <a:buFont typeface="Arial" charset="0"/>
              <a:buChar char="•"/>
            </a:pPr>
            <a:endParaRPr lang="en-US" sz="2400" dirty="0">
              <a:cs typeface="Arial" charset="0"/>
            </a:endParaRPr>
          </a:p>
          <a:p>
            <a:pPr marL="342900" indent="-342900" eaLnBrk="0" hangingPunct="0">
              <a:buFont typeface="Arial" charset="0"/>
              <a:buChar char="•"/>
            </a:pPr>
            <a:r>
              <a:rPr lang="en-US" sz="2400" dirty="0">
                <a:cs typeface="Arial" charset="0"/>
              </a:rPr>
              <a:t>With methodical planning, organisations avoid sudden people shortages and surpluses.  </a:t>
            </a:r>
          </a:p>
          <a:p>
            <a:pPr marL="342900" indent="-342900" eaLnBrk="0" hangingPunct="0">
              <a:buFont typeface="Arial" charset="0"/>
              <a:buChar char="•"/>
            </a:pPr>
            <a:endParaRPr lang="en-US" sz="2400" dirty="0">
              <a:cs typeface="Arial" charset="0"/>
            </a:endParaRPr>
          </a:p>
          <a:p>
            <a:pPr marL="342900" indent="-342900" eaLnBrk="0" hangingPunct="0">
              <a:buFont typeface="Arial" charset="0"/>
              <a:buChar char="•"/>
            </a:pPr>
            <a:r>
              <a:rPr lang="en-US" sz="2400" dirty="0">
                <a:cs typeface="Arial" charset="0"/>
              </a:rPr>
              <a:t>HR Planning entails two steps: </a:t>
            </a:r>
          </a:p>
          <a:p>
            <a:pPr marL="708660" lvl="1" indent="-342900" eaLnBrk="0" hangingPunct="0">
              <a:buFont typeface="Arial" charset="0"/>
              <a:buChar char="•"/>
            </a:pPr>
            <a:r>
              <a:rPr lang="en-US" dirty="0">
                <a:cs typeface="Arial" charset="0"/>
              </a:rPr>
              <a:t>(1) assessing </a:t>
            </a:r>
            <a:r>
              <a:rPr lang="en-US" i="1" dirty="0">
                <a:cs typeface="Arial" charset="0"/>
              </a:rPr>
              <a:t>current</a:t>
            </a:r>
            <a:r>
              <a:rPr lang="en-US" dirty="0">
                <a:cs typeface="Arial" charset="0"/>
              </a:rPr>
              <a:t> human resources and </a:t>
            </a:r>
          </a:p>
          <a:p>
            <a:pPr marL="708660" lvl="1" indent="-342900" eaLnBrk="0" hangingPunct="0">
              <a:buFont typeface="Arial" charset="0"/>
              <a:buChar char="•"/>
            </a:pPr>
            <a:r>
              <a:rPr lang="en-US" dirty="0">
                <a:cs typeface="Arial" charset="0"/>
              </a:rPr>
              <a:t>(2) meeting </a:t>
            </a:r>
            <a:r>
              <a:rPr lang="en-US" i="1" dirty="0">
                <a:cs typeface="Arial" charset="0"/>
              </a:rPr>
              <a:t>future</a:t>
            </a:r>
            <a:r>
              <a:rPr lang="en-US" dirty="0">
                <a:cs typeface="Arial" charset="0"/>
              </a:rPr>
              <a:t> HR needs.</a:t>
            </a:r>
          </a:p>
          <a:p>
            <a:pPr marL="342900" indent="-342900" eaLnBrk="0" hangingPunct="0">
              <a:buFont typeface="Arial" charset="0"/>
              <a:buChar char="•"/>
            </a:pPr>
            <a:endParaRPr lang="en-US" sz="1800" b="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a:bodyPr>
          <a:lstStyle/>
          <a:p>
            <a:r>
              <a:rPr lang="en-US" sz="4000" dirty="0"/>
              <a:t>HR Planning: </a:t>
            </a:r>
            <a:r>
              <a:rPr lang="en-US" sz="4800" dirty="0"/>
              <a:t>Current Needs</a:t>
            </a:r>
            <a:endParaRPr lang="en-US" dirty="0"/>
          </a:p>
        </p:txBody>
      </p:sp>
      <p:sp>
        <p:nvSpPr>
          <p:cNvPr id="3" name="Content Placeholder 2"/>
          <p:cNvSpPr>
            <a:spLocks noGrp="1"/>
          </p:cNvSpPr>
          <p:nvPr>
            <p:ph idx="1"/>
          </p:nvPr>
        </p:nvSpPr>
        <p:spPr>
          <a:xfrm>
            <a:off x="457200" y="2286000"/>
            <a:ext cx="8229600" cy="3733800"/>
          </a:xfrm>
        </p:spPr>
        <p:txBody>
          <a:bodyPr>
            <a:normAutofit lnSpcReduction="10000"/>
          </a:bodyPr>
          <a:lstStyle/>
          <a:p>
            <a:r>
              <a:rPr lang="en-US" dirty="0"/>
              <a:t>Managers begin HR planning by conducting a current assessment of the organisation’s human resource status.</a:t>
            </a:r>
          </a:p>
          <a:p>
            <a:pPr lvl="0"/>
            <a:endParaRPr lang="en-US" dirty="0"/>
          </a:p>
          <a:p>
            <a:pPr lvl="0"/>
            <a:r>
              <a:rPr lang="en-US" dirty="0"/>
              <a:t>This assessment is typically accomplished through a </a:t>
            </a:r>
            <a:r>
              <a:rPr lang="en-US" i="1" dirty="0"/>
              <a:t>human resource inventory</a:t>
            </a:r>
            <a:r>
              <a:rPr lang="en-US" dirty="0"/>
              <a:t>.</a:t>
            </a:r>
          </a:p>
          <a:p>
            <a:endParaRPr lang="en-US" dirty="0">
              <a:cs typeface="Arial" charset="0"/>
            </a:endParaRPr>
          </a:p>
          <a:p>
            <a:r>
              <a:rPr lang="en-US" dirty="0">
                <a:cs typeface="Arial" charset="0"/>
              </a:rPr>
              <a:t>An important part of this current assessment is </a:t>
            </a:r>
            <a:r>
              <a:rPr lang="en-US" b="1" dirty="0">
                <a:cs typeface="Arial" charset="0"/>
              </a:rPr>
              <a:t>job analysis.</a:t>
            </a:r>
            <a:endParaRPr lang="en-US" sz="2600" dirty="0">
              <a:cs typeface="Arial" charset="0"/>
            </a:endParaRPr>
          </a:p>
          <a:p>
            <a:pPr marL="342900" indent="-342900" eaLnBrk="0" hangingPunct="0">
              <a:buFont typeface="Arial" charset="0"/>
              <a:buChar char="•"/>
            </a:pPr>
            <a:endParaRPr lang="en-US" dirty="0"/>
          </a:p>
          <a:p>
            <a:endParaRPr lang="en-IE"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Autofit/>
          </a:bodyPr>
          <a:lstStyle/>
          <a:p>
            <a:r>
              <a:rPr lang="en-GB" sz="2800" dirty="0"/>
              <a:t>“That’s true.  We did advertise for someone who ‘works well under pressure”</a:t>
            </a:r>
            <a:endParaRPr lang="en-US" sz="28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dirty="0"/>
          </a:p>
        </p:txBody>
      </p:sp>
      <p:pic>
        <p:nvPicPr>
          <p:cNvPr id="152578" name="Picture 2" descr="http://lowres.cartoonstock.com/recruitment-pressure-pressured-stressful-deep_sea_diver-pressure_suit-smgn52_low.jpg"/>
          <p:cNvPicPr>
            <a:picLocks noChangeAspect="1" noChangeArrowheads="1"/>
          </p:cNvPicPr>
          <p:nvPr/>
        </p:nvPicPr>
        <p:blipFill>
          <a:blip r:embed="rId2" cstate="print"/>
          <a:srcRect/>
          <a:stretch>
            <a:fillRect/>
          </a:stretch>
        </p:blipFill>
        <p:spPr bwMode="auto">
          <a:xfrm>
            <a:off x="533400" y="1676400"/>
            <a:ext cx="8070569" cy="4741459"/>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62000"/>
          </a:xfrm>
        </p:spPr>
        <p:txBody>
          <a:bodyPr/>
          <a:lstStyle/>
          <a:p>
            <a:r>
              <a:rPr lang="en-US" sz="3600" dirty="0"/>
              <a:t>HR Planning: </a:t>
            </a:r>
            <a:r>
              <a:rPr lang="en-US" dirty="0"/>
              <a:t>Current Needs</a:t>
            </a:r>
            <a:endParaRPr lang="en-US" sz="4800" dirty="0"/>
          </a:p>
        </p:txBody>
      </p:sp>
      <p:sp>
        <p:nvSpPr>
          <p:cNvPr id="3" name="Content Placeholder 2"/>
          <p:cNvSpPr>
            <a:spLocks noGrp="1"/>
          </p:cNvSpPr>
          <p:nvPr>
            <p:ph idx="1"/>
          </p:nvPr>
        </p:nvSpPr>
        <p:spPr>
          <a:xfrm>
            <a:off x="457200" y="1600200"/>
            <a:ext cx="8229600" cy="5257800"/>
          </a:xfrm>
        </p:spPr>
        <p:txBody>
          <a:bodyPr>
            <a:normAutofit fontScale="92500" lnSpcReduction="20000"/>
          </a:bodyPr>
          <a:lstStyle/>
          <a:p>
            <a:r>
              <a:rPr lang="en-US" b="1" dirty="0">
                <a:cs typeface="Arial" charset="0"/>
              </a:rPr>
              <a:t>Job analysis </a:t>
            </a:r>
            <a:r>
              <a:rPr lang="en-US" dirty="0">
                <a:cs typeface="Arial" charset="0"/>
              </a:rPr>
              <a:t>is an assessment that defines jobs and the behaviors necessary to perform them. </a:t>
            </a:r>
          </a:p>
          <a:p>
            <a:pPr lvl="1"/>
            <a:endParaRPr lang="en-US" sz="2000" dirty="0">
              <a:cs typeface="Arial" charset="0"/>
            </a:endParaRPr>
          </a:p>
          <a:p>
            <a:r>
              <a:rPr lang="en-US" sz="2200" dirty="0">
                <a:cs typeface="Arial" charset="0"/>
              </a:rPr>
              <a:t>Information for a job analysis is gathered by;</a:t>
            </a:r>
          </a:p>
          <a:p>
            <a:pPr lvl="1"/>
            <a:r>
              <a:rPr lang="en-US" sz="2100" dirty="0">
                <a:cs typeface="Arial" charset="0"/>
              </a:rPr>
              <a:t>directly observing individuals on the job, </a:t>
            </a:r>
          </a:p>
          <a:p>
            <a:pPr lvl="1"/>
            <a:r>
              <a:rPr lang="en-US" sz="2100" dirty="0">
                <a:cs typeface="Arial" charset="0"/>
              </a:rPr>
              <a:t>interviewing employees individually or in a group, </a:t>
            </a:r>
          </a:p>
          <a:p>
            <a:pPr lvl="1"/>
            <a:r>
              <a:rPr lang="en-US" sz="2100" dirty="0">
                <a:cs typeface="Arial" charset="0"/>
              </a:rPr>
              <a:t>having employees complete a questionnaire or record daily activities in a diary, </a:t>
            </a:r>
          </a:p>
          <a:p>
            <a:pPr lvl="1"/>
            <a:r>
              <a:rPr lang="en-US" sz="2100" dirty="0">
                <a:cs typeface="Arial" charset="0"/>
              </a:rPr>
              <a:t>or having job “experts” (usually managers) identify a job’s specific characteristics.</a:t>
            </a:r>
          </a:p>
          <a:p>
            <a:endParaRPr lang="en-GB" sz="2200" dirty="0">
              <a:cs typeface="Arial" charset="0"/>
            </a:endParaRPr>
          </a:p>
          <a:p>
            <a:r>
              <a:rPr lang="en-GB" sz="2200" dirty="0">
                <a:cs typeface="Arial" charset="0"/>
              </a:rPr>
              <a:t>Databases are used to help this assessment; e.g.…..</a:t>
            </a:r>
          </a:p>
          <a:p>
            <a:pPr lvl="1"/>
            <a:r>
              <a:rPr lang="en-GB" sz="1900" dirty="0">
                <a:cs typeface="Arial" charset="0"/>
              </a:rPr>
              <a:t>Director of Personnel for North &amp; South America, (Schlumberger’s, Ms. Stephanie Cox), uses a company HR Planning programme, called ‘PeopleMatch’,  to help identify managerial talent, , if she needs a manager for Brazil, she types in qualifications &amp; someone who can speak Portuguese , is willing to relocate, and is a “high potential employee”, the programme generates a list of possible suitable employees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45</a:t>
            </a:fld>
            <a:endParaRPr lang="en-US" dirty="0"/>
          </a:p>
        </p:txBody>
      </p:sp>
      <p:pic>
        <p:nvPicPr>
          <p:cNvPr id="155650" name="Picture 2" descr="http://1.bp.blogspot.com/-FRIciAP58Ek/UHk_9lkvXwI/AAAAAAAAT6c/QqOUEySPLUw/s1600/Role-Clarity-cartoon.jpg"/>
          <p:cNvPicPr>
            <a:picLocks noChangeAspect="1" noChangeArrowheads="1"/>
          </p:cNvPicPr>
          <p:nvPr/>
        </p:nvPicPr>
        <p:blipFill>
          <a:blip r:embed="rId2" cstate="print"/>
          <a:srcRect/>
          <a:stretch>
            <a:fillRect/>
          </a:stretch>
        </p:blipFill>
        <p:spPr bwMode="auto">
          <a:xfrm>
            <a:off x="685800" y="609600"/>
            <a:ext cx="7620000" cy="571500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048512"/>
          </a:xfrm>
        </p:spPr>
        <p:txBody>
          <a:bodyPr>
            <a:noAutofit/>
          </a:bodyPr>
          <a:lstStyle/>
          <a:p>
            <a:r>
              <a:rPr lang="en-US" sz="4000" dirty="0"/>
              <a:t>HR Planning: </a:t>
            </a:r>
            <a:r>
              <a:rPr lang="en-US" sz="4800" dirty="0"/>
              <a:t>Current Needs</a:t>
            </a:r>
            <a:endParaRPr lang="en-IE" dirty="0"/>
          </a:p>
        </p:txBody>
      </p:sp>
      <p:sp>
        <p:nvSpPr>
          <p:cNvPr id="3" name="Content Placeholder 2"/>
          <p:cNvSpPr>
            <a:spLocks noGrp="1"/>
          </p:cNvSpPr>
          <p:nvPr>
            <p:ph idx="1"/>
          </p:nvPr>
        </p:nvSpPr>
        <p:spPr>
          <a:xfrm>
            <a:off x="457200" y="2209800"/>
            <a:ext cx="8229600" cy="4267200"/>
          </a:xfrm>
        </p:spPr>
        <p:txBody>
          <a:bodyPr>
            <a:normAutofit lnSpcReduction="10000"/>
          </a:bodyPr>
          <a:lstStyle/>
          <a:p>
            <a:pPr lvl="0"/>
            <a:r>
              <a:rPr lang="en-US" sz="2800" dirty="0"/>
              <a:t>From the information in a </a:t>
            </a:r>
            <a:r>
              <a:rPr lang="en-US" sz="2800" b="1" dirty="0"/>
              <a:t>job analysis</a:t>
            </a:r>
            <a:r>
              <a:rPr lang="en-US" sz="2800" dirty="0"/>
              <a:t>, management can draw up a </a:t>
            </a:r>
            <a:r>
              <a:rPr lang="en-US" sz="2800" b="1" dirty="0"/>
              <a:t>job description</a:t>
            </a:r>
            <a:r>
              <a:rPr lang="en-US" sz="2800" dirty="0"/>
              <a:t>.</a:t>
            </a:r>
          </a:p>
          <a:p>
            <a:pPr lvl="0"/>
            <a:endParaRPr lang="en-US" sz="2800" dirty="0">
              <a:cs typeface="Arial" charset="0"/>
            </a:endParaRPr>
          </a:p>
          <a:p>
            <a:r>
              <a:rPr lang="en-US" sz="2800" dirty="0">
                <a:cs typeface="Arial" charset="0"/>
              </a:rPr>
              <a:t>A </a:t>
            </a:r>
            <a:r>
              <a:rPr lang="en-US" sz="2800" b="1" dirty="0">
                <a:cs typeface="Arial" charset="0"/>
              </a:rPr>
              <a:t>job description </a:t>
            </a:r>
            <a:r>
              <a:rPr lang="en-US" sz="2800" dirty="0">
                <a:cs typeface="Arial" charset="0"/>
              </a:rPr>
              <a:t>(sometimes called a position description) is a written statement describing a job;</a:t>
            </a:r>
          </a:p>
          <a:p>
            <a:pPr lvl="1"/>
            <a:r>
              <a:rPr lang="en-US" sz="2800" dirty="0">
                <a:cs typeface="Arial" charset="0"/>
              </a:rPr>
              <a:t>typically job content, </a:t>
            </a:r>
          </a:p>
          <a:p>
            <a:pPr lvl="1"/>
            <a:r>
              <a:rPr lang="en-US" sz="2800" dirty="0">
                <a:cs typeface="Arial" charset="0"/>
              </a:rPr>
              <a:t>environment, </a:t>
            </a:r>
          </a:p>
          <a:p>
            <a:pPr lvl="1"/>
            <a:r>
              <a:rPr lang="en-US" sz="2800" dirty="0">
                <a:cs typeface="Arial" charset="0"/>
              </a:rPr>
              <a:t>and conditions of employment.</a:t>
            </a:r>
          </a:p>
          <a:p>
            <a:endParaRPr lang="en-US" dirty="0">
              <a:cs typeface="Arial" charset="0"/>
            </a:endParaRPr>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dirty="0"/>
          </a:p>
        </p:txBody>
      </p:sp>
      <p:pic>
        <p:nvPicPr>
          <p:cNvPr id="153604" name="Picture 4" descr="http://lowres.cartoonstock.com/business-commerce-job_ad-job-job_spec-vacancy-work-forn349_low.jpg"/>
          <p:cNvPicPr>
            <a:picLocks noChangeAspect="1" noChangeArrowheads="1"/>
          </p:cNvPicPr>
          <p:nvPr/>
        </p:nvPicPr>
        <p:blipFill>
          <a:blip r:embed="rId2" cstate="print"/>
          <a:srcRect/>
          <a:stretch>
            <a:fillRect/>
          </a:stretch>
        </p:blipFill>
        <p:spPr bwMode="auto">
          <a:xfrm>
            <a:off x="533400" y="914400"/>
            <a:ext cx="7391400" cy="5543551"/>
          </a:xfrm>
          <a:prstGeom prst="rect">
            <a:avLst/>
          </a:prstGeom>
          <a:noFill/>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HR Planning: </a:t>
            </a:r>
            <a:r>
              <a:rPr lang="en-US" sz="5400" dirty="0"/>
              <a:t>Current Needs</a:t>
            </a:r>
            <a:endParaRPr lang="en-US" dirty="0"/>
          </a:p>
        </p:txBody>
      </p:sp>
      <p:sp>
        <p:nvSpPr>
          <p:cNvPr id="3" name="Content Placeholder 2"/>
          <p:cNvSpPr>
            <a:spLocks noGrp="1"/>
          </p:cNvSpPr>
          <p:nvPr>
            <p:ph idx="1"/>
          </p:nvPr>
        </p:nvSpPr>
        <p:spPr>
          <a:xfrm>
            <a:off x="457200" y="1935480"/>
            <a:ext cx="8229600" cy="4465320"/>
          </a:xfrm>
        </p:spPr>
        <p:txBody>
          <a:bodyPr>
            <a:normAutofit fontScale="92500"/>
          </a:bodyPr>
          <a:lstStyle/>
          <a:p>
            <a:pPr lvl="0"/>
            <a:r>
              <a:rPr lang="en-US" dirty="0"/>
              <a:t>In addition, management must develop a </a:t>
            </a:r>
            <a:r>
              <a:rPr lang="en-US" b="1" dirty="0"/>
              <a:t>job specification.</a:t>
            </a:r>
            <a:r>
              <a:rPr lang="en-US" dirty="0"/>
              <a:t> </a:t>
            </a:r>
          </a:p>
          <a:p>
            <a:pPr lvl="0"/>
            <a:endParaRPr lang="en-US" dirty="0">
              <a:cs typeface="Arial" charset="0"/>
            </a:endParaRPr>
          </a:p>
          <a:p>
            <a:r>
              <a:rPr lang="en-US" dirty="0">
                <a:cs typeface="Arial" charset="0"/>
              </a:rPr>
              <a:t>A </a:t>
            </a:r>
            <a:r>
              <a:rPr lang="en-US" b="1" dirty="0">
                <a:cs typeface="Arial" charset="0"/>
              </a:rPr>
              <a:t>job specification </a:t>
            </a:r>
            <a:r>
              <a:rPr lang="en-US" dirty="0">
                <a:cs typeface="Arial" charset="0"/>
              </a:rPr>
              <a:t>states the minimum qualifications that a person must possess to successfully perform a given job. </a:t>
            </a:r>
          </a:p>
          <a:p>
            <a:pPr lvl="1"/>
            <a:r>
              <a:rPr lang="en-US" dirty="0">
                <a:cs typeface="Arial" charset="0"/>
              </a:rPr>
              <a:t>It identifies the knowledge, skills, and attitudes needed to do the job effectively. </a:t>
            </a:r>
          </a:p>
          <a:p>
            <a:endParaRPr lang="en-US" dirty="0">
              <a:cs typeface="Arial" charset="0"/>
            </a:endParaRPr>
          </a:p>
          <a:p>
            <a:r>
              <a:rPr lang="en-US" dirty="0">
                <a:cs typeface="Arial" charset="0"/>
              </a:rPr>
              <a:t>Both the </a:t>
            </a:r>
            <a:r>
              <a:rPr lang="en-US" i="1" dirty="0">
                <a:cs typeface="Arial" charset="0"/>
              </a:rPr>
              <a:t>job description </a:t>
            </a:r>
            <a:r>
              <a:rPr lang="en-US" dirty="0">
                <a:cs typeface="Arial" charset="0"/>
              </a:rPr>
              <a:t>and </a:t>
            </a:r>
            <a:r>
              <a:rPr lang="en-US" i="1" dirty="0">
                <a:cs typeface="Arial" charset="0"/>
              </a:rPr>
              <a:t>job specification </a:t>
            </a:r>
            <a:r>
              <a:rPr lang="en-US" dirty="0">
                <a:cs typeface="Arial" charset="0"/>
              </a:rPr>
              <a:t>are important documents when managers begin recruiting and selecting.</a:t>
            </a:r>
          </a:p>
          <a:p>
            <a:endParaRPr lang="en-US" dirty="0">
              <a:cs typeface="Arial" charset="0"/>
            </a:endParaRP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rmAutofit/>
          </a:bodyPr>
          <a:lstStyle/>
          <a:p>
            <a:r>
              <a:rPr lang="en-GB" sz="3600" dirty="0"/>
              <a:t>Example of Job Specification</a:t>
            </a:r>
            <a:endParaRPr lang="en-US" sz="36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dirty="0"/>
          </a:p>
        </p:txBody>
      </p:sp>
      <p:pic>
        <p:nvPicPr>
          <p:cNvPr id="101378" name="Picture 2" descr="http://www.jantoo.com/cartoons/lowres/345/34505883_low.jpg"/>
          <p:cNvPicPr>
            <a:picLocks noChangeAspect="1" noChangeArrowheads="1"/>
          </p:cNvPicPr>
          <p:nvPr/>
        </p:nvPicPr>
        <p:blipFill>
          <a:blip r:embed="rId2" cstate="print"/>
          <a:srcRect/>
          <a:stretch>
            <a:fillRect/>
          </a:stretch>
        </p:blipFill>
        <p:spPr bwMode="auto">
          <a:xfrm>
            <a:off x="1143000" y="1371600"/>
            <a:ext cx="6705600" cy="4834892"/>
          </a:xfrm>
          <a:prstGeom prst="rect">
            <a:avLst/>
          </a:prstGeo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descr="http://www.myfirstsalesjob.com.au/Portals/MyFirstSalesJob/Cartoons/Sales-Jobs-06.jpg"/>
          <p:cNvPicPr>
            <a:picLocks noChangeAspect="1" noChangeArrowheads="1"/>
          </p:cNvPicPr>
          <p:nvPr/>
        </p:nvPicPr>
        <p:blipFill>
          <a:blip r:embed="rId2" cstate="print"/>
          <a:srcRect/>
          <a:stretch>
            <a:fillRect/>
          </a:stretch>
        </p:blipFill>
        <p:spPr bwMode="auto">
          <a:xfrm>
            <a:off x="609600" y="914400"/>
            <a:ext cx="8001000" cy="5334000"/>
          </a:xfrm>
          <a:prstGeom prst="rect">
            <a:avLst/>
          </a:prstGeom>
          <a:noFill/>
        </p:spPr>
      </p:pic>
      <p:sp>
        <p:nvSpPr>
          <p:cNvPr id="2" name="Title 1"/>
          <p:cNvSpPr>
            <a:spLocks noGrp="1"/>
          </p:cNvSpPr>
          <p:nvPr>
            <p:ph type="title"/>
          </p:nvPr>
        </p:nvSpPr>
        <p:spPr>
          <a:xfrm>
            <a:off x="457200" y="381000"/>
            <a:ext cx="8229600" cy="533400"/>
          </a:xfrm>
        </p:spPr>
        <p:txBody>
          <a:bodyPr>
            <a:noAutofit/>
          </a:bodyPr>
          <a:lstStyle/>
          <a:p>
            <a:r>
              <a:rPr lang="en-GB" sz="3600" dirty="0"/>
              <a:t>Job Specification</a:t>
            </a:r>
            <a:endParaRPr lang="en-US" sz="3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rmAutofit fontScale="90000"/>
          </a:bodyPr>
          <a:lstStyle/>
          <a:p>
            <a:r>
              <a:rPr lang="en-US" dirty="0"/>
              <a:t>HR Planning: </a:t>
            </a:r>
            <a:r>
              <a:rPr lang="en-US" sz="4800" dirty="0"/>
              <a:t>Future Needs</a:t>
            </a:r>
          </a:p>
        </p:txBody>
      </p:sp>
      <p:sp>
        <p:nvSpPr>
          <p:cNvPr id="3" name="Content Placeholder 2"/>
          <p:cNvSpPr>
            <a:spLocks noGrp="1"/>
          </p:cNvSpPr>
          <p:nvPr>
            <p:ph idx="1"/>
          </p:nvPr>
        </p:nvSpPr>
        <p:spPr>
          <a:xfrm>
            <a:off x="457200" y="1371600"/>
            <a:ext cx="8229600" cy="5486400"/>
          </a:xfrm>
        </p:spPr>
        <p:txBody>
          <a:bodyPr>
            <a:normAutofit fontScale="77500" lnSpcReduction="20000"/>
          </a:bodyPr>
          <a:lstStyle/>
          <a:p>
            <a:r>
              <a:rPr lang="en-GB" dirty="0"/>
              <a:t>HR future needs are determined by the organisations mission, goals ands strategies.</a:t>
            </a:r>
          </a:p>
          <a:p>
            <a:endParaRPr lang="en-GB" dirty="0"/>
          </a:p>
          <a:p>
            <a:r>
              <a:rPr lang="en-GB" dirty="0"/>
              <a:t>Demand for employees results from demand for the organisations products or services.</a:t>
            </a:r>
          </a:p>
          <a:p>
            <a:pPr lvl="1"/>
            <a:r>
              <a:rPr lang="en-GB" dirty="0"/>
              <a:t>E.g. – if a company, is planning on expanding into new global territories, suitable employees need to be selected from existing staff or recruited</a:t>
            </a:r>
          </a:p>
          <a:p>
            <a:pPr lvl="1"/>
            <a:r>
              <a:rPr lang="en-GB" dirty="0"/>
              <a:t>If product development and product range expansion is a strategy ..… appropriate staff are required to make this a reality.</a:t>
            </a:r>
          </a:p>
          <a:p>
            <a:endParaRPr lang="en-US" dirty="0"/>
          </a:p>
          <a:p>
            <a:r>
              <a:rPr lang="en-US" dirty="0"/>
              <a:t>Developing a future program requires estimates in which the organisation will be understaffed or overstaffed.  </a:t>
            </a:r>
          </a:p>
          <a:p>
            <a:endParaRPr lang="en-GB" sz="2100" dirty="0"/>
          </a:p>
          <a:p>
            <a:r>
              <a:rPr lang="en-GB" dirty="0"/>
              <a:t>After assessing current capabilities and future needs …. then managers can estimate areas in which the organisation may be under staffed ,… or over staffed.</a:t>
            </a:r>
          </a:p>
          <a:p>
            <a:endParaRPr lang="en-GB" sz="2100" dirty="0"/>
          </a:p>
          <a:p>
            <a:r>
              <a:rPr lang="en-GB" dirty="0"/>
              <a:t>They are ready for the next step in the HRM process.</a:t>
            </a:r>
          </a:p>
          <a:p>
            <a:endParaRPr lang="en-GB" dirty="0"/>
          </a:p>
          <a:p>
            <a:endParaRPr lang="en-GB"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Planning for Future Needs </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dirty="0"/>
          </a:p>
        </p:txBody>
      </p:sp>
      <p:pic>
        <p:nvPicPr>
          <p:cNvPr id="100354" name="Picture 2" descr="http://bloodbankers.typepad.com/submerging_markets/CartoonPlanB.JPG"/>
          <p:cNvPicPr>
            <a:picLocks noChangeAspect="1" noChangeArrowheads="1"/>
          </p:cNvPicPr>
          <p:nvPr/>
        </p:nvPicPr>
        <p:blipFill>
          <a:blip r:embed="rId2" cstate="print"/>
          <a:srcRect/>
          <a:stretch>
            <a:fillRect/>
          </a:stretch>
        </p:blipFill>
        <p:spPr bwMode="auto">
          <a:xfrm>
            <a:off x="1142999" y="1905000"/>
            <a:ext cx="7090001" cy="4387496"/>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762000"/>
          </a:xfrm>
        </p:spPr>
        <p:txBody>
          <a:bodyPr>
            <a:noAutofit/>
          </a:bodyPr>
          <a:lstStyle/>
          <a:p>
            <a:r>
              <a:rPr lang="en-US" sz="5400" dirty="0"/>
              <a:t>Recruitment </a:t>
            </a:r>
            <a:endParaRPr lang="en-IE" dirty="0"/>
          </a:p>
        </p:txBody>
      </p:sp>
      <p:sp>
        <p:nvSpPr>
          <p:cNvPr id="3" name="Content Placeholder 2"/>
          <p:cNvSpPr>
            <a:spLocks noGrp="1"/>
          </p:cNvSpPr>
          <p:nvPr>
            <p:ph idx="1"/>
          </p:nvPr>
        </p:nvSpPr>
        <p:spPr>
          <a:xfrm>
            <a:off x="457200" y="1524000"/>
            <a:ext cx="8229600" cy="5334000"/>
          </a:xfrm>
        </p:spPr>
        <p:txBody>
          <a:bodyPr>
            <a:normAutofit fontScale="77500" lnSpcReduction="20000"/>
          </a:bodyPr>
          <a:lstStyle/>
          <a:p>
            <a:r>
              <a:rPr lang="en-US" sz="2800" dirty="0">
                <a:cs typeface="Arial" charset="0"/>
              </a:rPr>
              <a:t>If employee vacancies exist, managers should use the information gathered through job analysis to guide them in </a:t>
            </a:r>
            <a:r>
              <a:rPr lang="en-US" sz="2800" b="1" dirty="0">
                <a:cs typeface="Arial" charset="0"/>
              </a:rPr>
              <a:t>recruitment.</a:t>
            </a:r>
          </a:p>
          <a:p>
            <a:endParaRPr lang="en-US" b="1" dirty="0"/>
          </a:p>
          <a:p>
            <a:r>
              <a:rPr lang="en-US" sz="2800" b="1" dirty="0"/>
              <a:t>Recruitment</a:t>
            </a:r>
            <a:r>
              <a:rPr lang="en-US" sz="2800" dirty="0"/>
              <a:t> is the process of locating, identifying, and attracting capable applicants. </a:t>
            </a:r>
          </a:p>
          <a:p>
            <a:endParaRPr lang="en-US" dirty="0"/>
          </a:p>
          <a:p>
            <a:r>
              <a:rPr lang="en-US" dirty="0"/>
              <a:t>Job candidates can be found using a number of different sources </a:t>
            </a:r>
            <a:endParaRPr lang="en-GB" dirty="0">
              <a:cs typeface="Arial" charset="0"/>
            </a:endParaRPr>
          </a:p>
          <a:p>
            <a:endParaRPr lang="en-GB" sz="1500" dirty="0">
              <a:cs typeface="Arial" charset="0"/>
            </a:endParaRPr>
          </a:p>
          <a:p>
            <a:r>
              <a:rPr lang="en-GB" dirty="0">
                <a:cs typeface="Arial" charset="0"/>
              </a:rPr>
              <a:t>Many approaches taken by organisations, ..…</a:t>
            </a:r>
          </a:p>
          <a:p>
            <a:pPr lvl="1"/>
            <a:endParaRPr lang="en-GB" sz="1500" dirty="0">
              <a:cs typeface="Arial" charset="0"/>
            </a:endParaRPr>
          </a:p>
          <a:p>
            <a:pPr lvl="1"/>
            <a:r>
              <a:rPr lang="en-GB" sz="2200" dirty="0">
                <a:cs typeface="Arial" charset="0"/>
              </a:rPr>
              <a:t>McDonalds held a ‘World Hiring Day’ hoping to hire 50,000 employees, they hired 62,000 staff. </a:t>
            </a:r>
          </a:p>
          <a:p>
            <a:pPr lvl="1"/>
            <a:endParaRPr lang="en-GB" sz="900" dirty="0">
              <a:cs typeface="Arial" charset="0"/>
            </a:endParaRPr>
          </a:p>
          <a:p>
            <a:pPr lvl="1"/>
            <a:r>
              <a:rPr lang="en-GB" sz="2200" dirty="0">
                <a:cs typeface="Arial" charset="0"/>
              </a:rPr>
              <a:t>Microsoft – website which integrated 103 countries into one web site career website, potential employees find blogs on interview and CV tips when applying to the firm. </a:t>
            </a:r>
          </a:p>
          <a:p>
            <a:pPr lvl="1"/>
            <a:endParaRPr lang="en-GB" sz="1100" dirty="0">
              <a:cs typeface="Arial" charset="0"/>
            </a:endParaRPr>
          </a:p>
          <a:p>
            <a:pPr lvl="1"/>
            <a:r>
              <a:rPr lang="en-GB" sz="2200" dirty="0">
                <a:cs typeface="Arial" charset="0"/>
              </a:rPr>
              <a:t>Google – receives 3,000 applicants every day, can be choosy, but they still have specific needs for Computer Science and engineering candidates. </a:t>
            </a:r>
            <a:endParaRPr lang="en-US" dirty="0">
              <a:cs typeface="Arial" charset="0"/>
            </a:endParaRPr>
          </a:p>
          <a:p>
            <a:pPr marL="342900" indent="-342900" eaLnBrk="0" hangingPunct="0">
              <a:buFont typeface="Arial" charset="0"/>
              <a:buChar char="•"/>
            </a:pPr>
            <a:endParaRPr lang="en-US" sz="2800" b="1"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Recruitment Sources </a:t>
            </a:r>
            <a:r>
              <a:rPr lang="en-US" sz="2700" dirty="0"/>
              <a:t>Managers Can use to Find Potential Candidates</a:t>
            </a:r>
            <a:endParaRPr lang="en-IE"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457200" y="1905000"/>
            <a:ext cx="7953375" cy="4419600"/>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Autofit/>
          </a:bodyPr>
          <a:lstStyle/>
          <a:p>
            <a:r>
              <a:rPr lang="en-GB" dirty="0"/>
              <a:t>Recruitment </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dirty="0"/>
          </a:p>
        </p:txBody>
      </p:sp>
      <p:pic>
        <p:nvPicPr>
          <p:cNvPr id="99330" name="Picture 2" descr="Facebook interview problems ....... again"/>
          <p:cNvPicPr>
            <a:picLocks noChangeAspect="1" noChangeArrowheads="1"/>
          </p:cNvPicPr>
          <p:nvPr/>
        </p:nvPicPr>
        <p:blipFill>
          <a:blip r:embed="rId2" cstate="print"/>
          <a:srcRect/>
          <a:stretch>
            <a:fillRect/>
          </a:stretch>
        </p:blipFill>
        <p:spPr bwMode="auto">
          <a:xfrm>
            <a:off x="914400" y="1447800"/>
            <a:ext cx="7086600" cy="5029200"/>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57200"/>
          </a:xfrm>
        </p:spPr>
        <p:txBody>
          <a:bodyPr>
            <a:normAutofit fontScale="90000"/>
          </a:bodyPr>
          <a:lstStyle/>
          <a:p>
            <a:r>
              <a:rPr lang="en-GB" dirty="0"/>
              <a:t>Recruitment </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dirty="0"/>
          </a:p>
        </p:txBody>
      </p:sp>
      <p:pic>
        <p:nvPicPr>
          <p:cNvPr id="96260" name="Picture 4" descr="http://careerdfw.org/J/images/stories/Cartoons/Dilbert_Interview.jpg"/>
          <p:cNvPicPr>
            <a:picLocks noChangeAspect="1" noChangeArrowheads="1"/>
          </p:cNvPicPr>
          <p:nvPr/>
        </p:nvPicPr>
        <p:blipFill>
          <a:blip r:embed="rId2" cstate="print"/>
          <a:srcRect/>
          <a:stretch>
            <a:fillRect/>
          </a:stretch>
        </p:blipFill>
        <p:spPr bwMode="auto">
          <a:xfrm>
            <a:off x="762000" y="1219200"/>
            <a:ext cx="7620000" cy="5229226"/>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lstStyle/>
          <a:p>
            <a:r>
              <a:rPr lang="en-GB" dirty="0"/>
              <a:t>De-Recruitment</a:t>
            </a:r>
            <a:endParaRPr lang="en-US" dirty="0"/>
          </a:p>
        </p:txBody>
      </p:sp>
      <p:sp>
        <p:nvSpPr>
          <p:cNvPr id="3" name="Content Placeholder 2"/>
          <p:cNvSpPr>
            <a:spLocks noGrp="1"/>
          </p:cNvSpPr>
          <p:nvPr>
            <p:ph idx="1"/>
          </p:nvPr>
        </p:nvSpPr>
        <p:spPr>
          <a:xfrm>
            <a:off x="457200" y="1371600"/>
            <a:ext cx="8229600" cy="5486400"/>
          </a:xfrm>
        </p:spPr>
        <p:txBody>
          <a:bodyPr>
            <a:normAutofit fontScale="70000" lnSpcReduction="20000"/>
          </a:bodyPr>
          <a:lstStyle/>
          <a:p>
            <a:r>
              <a:rPr lang="en-US" sz="3100" dirty="0">
                <a:cs typeface="Arial" charset="0"/>
              </a:rPr>
              <a:t>If HR Planning shows a surplus of employees, managers may want to reduce the organisation’s workforce through </a:t>
            </a:r>
            <a:r>
              <a:rPr lang="en-US" sz="3100" b="1" dirty="0">
                <a:cs typeface="Arial" charset="0"/>
              </a:rPr>
              <a:t>de-recruitment.</a:t>
            </a:r>
          </a:p>
          <a:p>
            <a:endParaRPr lang="en-US" sz="2300" b="1" dirty="0"/>
          </a:p>
          <a:p>
            <a:r>
              <a:rPr lang="en-US" sz="3100" b="1" dirty="0"/>
              <a:t>De-recruitment</a:t>
            </a:r>
            <a:r>
              <a:rPr lang="en-US" sz="3100" dirty="0"/>
              <a:t> is reducing an organisation’s workforce. </a:t>
            </a:r>
          </a:p>
          <a:p>
            <a:endParaRPr lang="en-US" sz="2300" dirty="0"/>
          </a:p>
          <a:p>
            <a:r>
              <a:rPr lang="en-GB" sz="3100" dirty="0">
                <a:cs typeface="Arial" charset="0"/>
              </a:rPr>
              <a:t>Although employees maybe fired, other choices may be better. </a:t>
            </a:r>
          </a:p>
          <a:p>
            <a:endParaRPr lang="en-US" dirty="0"/>
          </a:p>
          <a:p>
            <a:r>
              <a:rPr lang="en-US" sz="2900" dirty="0"/>
              <a:t>De-recruitment options include;</a:t>
            </a:r>
          </a:p>
          <a:p>
            <a:pPr lvl="1"/>
            <a:r>
              <a:rPr lang="en-US" dirty="0"/>
              <a:t>firing, </a:t>
            </a:r>
          </a:p>
          <a:p>
            <a:pPr lvl="1"/>
            <a:r>
              <a:rPr lang="en-US" dirty="0"/>
              <a:t>layoffs, </a:t>
            </a:r>
          </a:p>
          <a:p>
            <a:pPr lvl="1"/>
            <a:r>
              <a:rPr lang="en-US" dirty="0"/>
              <a:t>attrition, </a:t>
            </a:r>
          </a:p>
          <a:p>
            <a:pPr lvl="1"/>
            <a:r>
              <a:rPr lang="en-US" dirty="0"/>
              <a:t>transfers, </a:t>
            </a:r>
          </a:p>
          <a:p>
            <a:pPr lvl="1"/>
            <a:r>
              <a:rPr lang="en-US" dirty="0"/>
              <a:t>reduced workweeks, </a:t>
            </a:r>
          </a:p>
          <a:p>
            <a:pPr lvl="1"/>
            <a:r>
              <a:rPr lang="en-US" dirty="0"/>
              <a:t>early retirements, </a:t>
            </a:r>
          </a:p>
          <a:p>
            <a:pPr lvl="1"/>
            <a:r>
              <a:rPr lang="en-US" dirty="0"/>
              <a:t>and job sharing. </a:t>
            </a:r>
            <a:endParaRPr lang="en-GB" dirty="0">
              <a:cs typeface="Arial" charset="0"/>
            </a:endParaRPr>
          </a:p>
          <a:p>
            <a:endParaRPr lang="en-GB" dirty="0">
              <a:cs typeface="Arial" charset="0"/>
            </a:endParaRPr>
          </a:p>
          <a:p>
            <a:r>
              <a:rPr lang="en-GB" sz="2900" dirty="0">
                <a:cs typeface="Arial" charset="0"/>
              </a:rPr>
              <a:t>The tasks of de-recruitment is considered to be an extremely unpleasant management task.</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dirty="0"/>
          </a:p>
        </p:txBody>
      </p:sp>
      <p:pic>
        <p:nvPicPr>
          <p:cNvPr id="157698" name="Picture 2" descr="http://static1.mindflash.com/wp-content/uploads/2011/02/Cartoon1.png"/>
          <p:cNvPicPr>
            <a:picLocks noChangeAspect="1" noChangeArrowheads="1"/>
          </p:cNvPicPr>
          <p:nvPr/>
        </p:nvPicPr>
        <p:blipFill>
          <a:blip r:embed="rId2" cstate="print"/>
          <a:srcRect/>
          <a:stretch>
            <a:fillRect/>
          </a:stretch>
        </p:blipFill>
        <p:spPr bwMode="auto">
          <a:xfrm>
            <a:off x="838200" y="838200"/>
            <a:ext cx="7239000" cy="5181601"/>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300" dirty="0"/>
              <a:t>De-recruitment Options </a:t>
            </a:r>
            <a:endParaRPr lang="en-IE"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381000" y="1828800"/>
            <a:ext cx="8304212" cy="4495800"/>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15112"/>
          </a:xfrm>
        </p:spPr>
        <p:txBody>
          <a:bodyPr>
            <a:normAutofit fontScale="90000"/>
          </a:bodyPr>
          <a:lstStyle/>
          <a:p>
            <a:r>
              <a:rPr lang="en-GB" dirty="0"/>
              <a:t>De-Recruitment</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dirty="0"/>
          </a:p>
        </p:txBody>
      </p:sp>
      <p:pic>
        <p:nvPicPr>
          <p:cNvPr id="81922" name="Picture 2" descr="http://filipspagnoli.files.wordpress.com/2011/09/unemployment-cartoon.png"/>
          <p:cNvPicPr>
            <a:picLocks noChangeAspect="1" noChangeArrowheads="1"/>
          </p:cNvPicPr>
          <p:nvPr/>
        </p:nvPicPr>
        <p:blipFill>
          <a:blip r:embed="rId2" cstate="print"/>
          <a:srcRect/>
          <a:stretch>
            <a:fillRect/>
          </a:stretch>
        </p:blipFill>
        <p:spPr bwMode="auto">
          <a:xfrm>
            <a:off x="990600" y="1295400"/>
            <a:ext cx="7467600" cy="5229608"/>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dirty="0"/>
          </a:p>
        </p:txBody>
      </p:sp>
      <p:pic>
        <p:nvPicPr>
          <p:cNvPr id="159746" name="Picture 2" descr="http://blog.readytomanage.com/wp-content/uploads/2012/07/recruitment-selection-cartoon.jpg"/>
          <p:cNvPicPr>
            <a:picLocks noChangeAspect="1" noChangeArrowheads="1"/>
          </p:cNvPicPr>
          <p:nvPr/>
        </p:nvPicPr>
        <p:blipFill>
          <a:blip r:embed="rId2" cstate="print"/>
          <a:srcRect/>
          <a:stretch>
            <a:fillRect/>
          </a:stretch>
        </p:blipFill>
        <p:spPr bwMode="auto">
          <a:xfrm>
            <a:off x="457200" y="609600"/>
            <a:ext cx="7762875" cy="5867400"/>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5400" dirty="0"/>
              <a:t>Selection</a:t>
            </a:r>
            <a:endParaRPr lang="en-IE" dirty="0"/>
          </a:p>
        </p:txBody>
      </p:sp>
      <p:sp>
        <p:nvSpPr>
          <p:cNvPr id="3" name="Content Placeholder 2"/>
          <p:cNvSpPr>
            <a:spLocks noGrp="1"/>
          </p:cNvSpPr>
          <p:nvPr>
            <p:ph idx="1"/>
          </p:nvPr>
        </p:nvSpPr>
        <p:spPr>
          <a:xfrm>
            <a:off x="457200" y="1752600"/>
            <a:ext cx="8229600" cy="4572000"/>
          </a:xfrm>
        </p:spPr>
        <p:txBody>
          <a:bodyPr>
            <a:normAutofit lnSpcReduction="10000"/>
          </a:bodyPr>
          <a:lstStyle/>
          <a:p>
            <a:pPr marL="342900" indent="-342900" eaLnBrk="0" hangingPunct="0">
              <a:buFont typeface="Arial" charset="0"/>
              <a:buChar char="•"/>
            </a:pPr>
            <a:r>
              <a:rPr lang="en-US" sz="2400" dirty="0">
                <a:cs typeface="Arial" charset="0"/>
              </a:rPr>
              <a:t>Once an organisation has a  pool of candidates, the next step in the HRM process is </a:t>
            </a:r>
            <a:r>
              <a:rPr lang="en-US" sz="2400" b="1" dirty="0">
                <a:cs typeface="Arial" charset="0"/>
              </a:rPr>
              <a:t>selection.</a:t>
            </a:r>
            <a:endParaRPr lang="en-US" sz="2400" dirty="0">
              <a:cs typeface="Arial" charset="0"/>
            </a:endParaRPr>
          </a:p>
          <a:p>
            <a:pPr marL="342900" indent="-342900" eaLnBrk="0" hangingPunct="0">
              <a:buFont typeface="Arial" charset="0"/>
              <a:buChar char="•"/>
            </a:pPr>
            <a:endParaRPr lang="en-US" sz="1900" b="1" dirty="0"/>
          </a:p>
          <a:p>
            <a:pPr marL="342900" indent="-342900" eaLnBrk="0" hangingPunct="0">
              <a:buFont typeface="Arial" charset="0"/>
              <a:buChar char="•"/>
            </a:pPr>
            <a:r>
              <a:rPr lang="en-US" sz="2400" b="1" dirty="0"/>
              <a:t>Selection </a:t>
            </a:r>
            <a:r>
              <a:rPr lang="en-US" sz="2400" dirty="0"/>
              <a:t>– is screening job applicants to ensure that the most appropriate candidates are hired;</a:t>
            </a:r>
          </a:p>
          <a:p>
            <a:pPr marL="708660" lvl="1" indent="-342900" eaLnBrk="0" hangingPunct="0">
              <a:buFont typeface="Arial" charset="0"/>
              <a:buChar char="•"/>
            </a:pPr>
            <a:r>
              <a:rPr lang="en-US" sz="2200" dirty="0">
                <a:cs typeface="Arial" charset="0"/>
              </a:rPr>
              <a:t>Managers need to “select” carefully since hiring errors can have significant implications.</a:t>
            </a:r>
          </a:p>
          <a:p>
            <a:pPr marL="342900" indent="-342900" eaLnBrk="0" hangingPunct="0">
              <a:buFont typeface="Arial" charset="0"/>
              <a:buChar char="•"/>
            </a:pPr>
            <a:endParaRPr lang="en-GB" sz="2400" b="1" dirty="0"/>
          </a:p>
          <a:p>
            <a:pPr marL="342900" indent="-342900" eaLnBrk="0" hangingPunct="0">
              <a:buFont typeface="Arial" charset="0"/>
              <a:buChar char="•"/>
            </a:pPr>
            <a:r>
              <a:rPr lang="en-GB" sz="2400" dirty="0"/>
              <a:t>Selection is an exercise in prediction …..</a:t>
            </a:r>
          </a:p>
          <a:p>
            <a:pPr marL="708660" lvl="1" indent="-342900" eaLnBrk="0" hangingPunct="0">
              <a:buFont typeface="Arial" charset="0"/>
              <a:buChar char="•"/>
            </a:pPr>
            <a:r>
              <a:rPr lang="en-GB" sz="2200" dirty="0"/>
              <a:t>…. predicting which candidates will be successful if hired.</a:t>
            </a:r>
          </a:p>
          <a:p>
            <a:pPr marL="982980" lvl="2" indent="-342900" eaLnBrk="0" hangingPunct="0">
              <a:buFont typeface="Arial" charset="0"/>
              <a:buChar char="•"/>
            </a:pPr>
            <a:r>
              <a:rPr lang="en-GB" sz="1900" dirty="0"/>
              <a:t>E.g.: if hiring for a sales position, the selection process should predict which candidate will generate a high volume of sales.</a:t>
            </a:r>
            <a:endParaRPr lang="en-US" sz="1900" dirty="0"/>
          </a:p>
          <a:p>
            <a:endParaRPr lang="en-US" dirty="0">
              <a:cs typeface="Arial" charset="0"/>
            </a:endParaRPr>
          </a:p>
          <a:p>
            <a:endParaRPr lang="en-US" dirty="0">
              <a:cs typeface="Arial" charset="0"/>
            </a:endParaRPr>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http://michaelscutt.co.uk/wp-content/uploads/2011/06/iStock_000013215981XSmall.jpg"/>
          <p:cNvPicPr>
            <a:picLocks noChangeAspect="1" noChangeArrowheads="1"/>
          </p:cNvPicPr>
          <p:nvPr/>
        </p:nvPicPr>
        <p:blipFill>
          <a:blip r:embed="rId2" cstate="print"/>
          <a:srcRect/>
          <a:stretch>
            <a:fillRect/>
          </a:stretch>
        </p:blipFill>
        <p:spPr bwMode="auto">
          <a:xfrm>
            <a:off x="4038600" y="4648200"/>
            <a:ext cx="5105401" cy="2209800"/>
          </a:xfrm>
          <a:prstGeom prst="rect">
            <a:avLst/>
          </a:prstGeom>
          <a:noFill/>
        </p:spPr>
      </p:pic>
      <p:sp>
        <p:nvSpPr>
          <p:cNvPr id="2" name="Title 1"/>
          <p:cNvSpPr>
            <a:spLocks noGrp="1"/>
          </p:cNvSpPr>
          <p:nvPr>
            <p:ph type="title"/>
          </p:nvPr>
        </p:nvSpPr>
        <p:spPr/>
        <p:txBody>
          <a:bodyPr>
            <a:noAutofit/>
          </a:bodyPr>
          <a:lstStyle/>
          <a:p>
            <a:r>
              <a:rPr lang="en-US" sz="6000" dirty="0"/>
              <a:t>Selection: The Decision</a:t>
            </a:r>
          </a:p>
        </p:txBody>
      </p:sp>
      <p:sp>
        <p:nvSpPr>
          <p:cNvPr id="3" name="Content Placeholder 2"/>
          <p:cNvSpPr>
            <a:spLocks noGrp="1"/>
          </p:cNvSpPr>
          <p:nvPr>
            <p:ph idx="1"/>
          </p:nvPr>
        </p:nvSpPr>
        <p:spPr>
          <a:xfrm>
            <a:off x="457200" y="1676400"/>
            <a:ext cx="8229600" cy="2819400"/>
          </a:xfrm>
        </p:spPr>
        <p:txBody>
          <a:bodyPr>
            <a:normAutofit lnSpcReduction="10000"/>
          </a:bodyPr>
          <a:lstStyle/>
          <a:p>
            <a:pPr hangingPunct="0"/>
            <a:r>
              <a:rPr lang="en-US" dirty="0"/>
              <a:t>Prediction is important because any selection decision can result in four possible outcomes (see next slide)</a:t>
            </a:r>
            <a:r>
              <a:rPr lang="en-US" b="1" dirty="0"/>
              <a:t> </a:t>
            </a:r>
          </a:p>
          <a:p>
            <a:pPr hangingPunct="0"/>
            <a:endParaRPr lang="en-US" sz="2000" b="1" dirty="0"/>
          </a:p>
          <a:p>
            <a:pPr hangingPunct="0"/>
            <a:r>
              <a:rPr lang="en-US" dirty="0"/>
              <a:t>The major aim of any selection activity should be to reduce the probability of making reject errors or accept errors, while increasing the probability of making </a:t>
            </a:r>
            <a:r>
              <a:rPr lang="en-US" i="1" dirty="0"/>
              <a:t>correct</a:t>
            </a:r>
            <a:r>
              <a:rPr lang="en-US" dirty="0"/>
              <a:t> </a:t>
            </a:r>
            <a:r>
              <a:rPr lang="en-US" i="1" dirty="0"/>
              <a:t>decisions</a:t>
            </a:r>
            <a:r>
              <a:rPr lang="en-US" dirty="0"/>
              <a:t>.</a:t>
            </a:r>
          </a:p>
          <a:p>
            <a:pPr hangingPunct="0"/>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dirty="0"/>
          </a:p>
        </p:txBody>
      </p:sp>
      <p:pic>
        <p:nvPicPr>
          <p:cNvPr id="19460" name="Picture 4" descr="http://us.123rf.com/450wm/basketman23/basketman231311/basketman23131100070/23351171-cartoon-business-man-selecting-choice--vector-illustration.jpg"/>
          <p:cNvPicPr>
            <a:picLocks noChangeAspect="1" noChangeArrowheads="1"/>
          </p:cNvPicPr>
          <p:nvPr/>
        </p:nvPicPr>
        <p:blipFill>
          <a:blip r:embed="rId3" cstate="print"/>
          <a:srcRect/>
          <a:stretch>
            <a:fillRect/>
          </a:stretch>
        </p:blipFill>
        <p:spPr bwMode="auto">
          <a:xfrm>
            <a:off x="304800" y="4495800"/>
            <a:ext cx="3200400" cy="2362200"/>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dirty="0"/>
          </a:p>
        </p:txBody>
      </p:sp>
      <p:pic>
        <p:nvPicPr>
          <p:cNvPr id="161794" name="Picture 2" descr="http://www.ginacarson.com/gc/wp-content/uploads/2010/02/UD-Testing-Cartoon.jpg"/>
          <p:cNvPicPr>
            <a:picLocks noChangeAspect="1" noChangeArrowheads="1"/>
          </p:cNvPicPr>
          <p:nvPr/>
        </p:nvPicPr>
        <p:blipFill>
          <a:blip r:embed="rId2" cstate="print"/>
          <a:srcRect/>
          <a:stretch>
            <a:fillRect/>
          </a:stretch>
        </p:blipFill>
        <p:spPr bwMode="auto">
          <a:xfrm>
            <a:off x="609600" y="609600"/>
            <a:ext cx="7620000" cy="5886451"/>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noAutofit/>
          </a:bodyPr>
          <a:lstStyle/>
          <a:p>
            <a:r>
              <a:rPr lang="en-US" sz="4000" dirty="0"/>
              <a:t>Selection Decision Outcomes</a:t>
            </a:r>
            <a:br>
              <a:rPr lang="en-US" sz="4000" dirty="0"/>
            </a:br>
            <a:r>
              <a:rPr lang="en-US" sz="1800" dirty="0"/>
              <a:t> </a:t>
            </a:r>
            <a:endParaRPr lang="en-IE" sz="3600" dirty="0"/>
          </a:p>
        </p:txBody>
      </p:sp>
      <p:sp>
        <p:nvSpPr>
          <p:cNvPr id="3" name="Content Placeholder 2"/>
          <p:cNvSpPr>
            <a:spLocks noGrp="1"/>
          </p:cNvSpPr>
          <p:nvPr>
            <p:ph idx="1"/>
          </p:nvPr>
        </p:nvSpPr>
        <p:spPr/>
        <p:txBody>
          <a:bodyPr>
            <a:normAutofit/>
          </a:bodyPr>
          <a:lstStyle/>
          <a:p>
            <a:r>
              <a:rPr lang="en-US" sz="2400" dirty="0">
                <a:cs typeface="Arial" charset="0"/>
              </a:rPr>
              <a:t>Any selection decision can result in four possible outcomes -  two correct and two errors.</a:t>
            </a:r>
            <a:endParaRPr lang="en-IE" sz="24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dirty="0"/>
          </a:p>
        </p:txBody>
      </p:sp>
      <p:pic>
        <p:nvPicPr>
          <p:cNvPr id="5" name="Picture 3"/>
          <p:cNvPicPr>
            <a:picLocks noGrp="1" noChangeAspect="1" noChangeArrowheads="1"/>
          </p:cNvPicPr>
          <p:nvPr/>
        </p:nvPicPr>
        <p:blipFill>
          <a:blip r:embed="rId2" cstate="print"/>
          <a:srcRect/>
          <a:stretch>
            <a:fillRect/>
          </a:stretch>
        </p:blipFill>
        <p:spPr bwMode="auto">
          <a:xfrm>
            <a:off x="609600" y="2971800"/>
            <a:ext cx="7848600" cy="3657600"/>
          </a:xfrm>
          <a:prstGeom prst="rect">
            <a:avLst/>
          </a:prstGeom>
          <a:noFill/>
          <a:ln w="9525">
            <a:solidFill>
              <a:schemeClr val="accent1">
                <a:lumMod val="75000"/>
              </a:schemeClr>
            </a:solidFill>
            <a:miter lim="800000"/>
            <a:headEnd/>
            <a:tailEnd/>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762000"/>
          </a:xfrm>
        </p:spPr>
        <p:txBody>
          <a:bodyPr>
            <a:normAutofit/>
          </a:bodyPr>
          <a:lstStyle/>
          <a:p>
            <a:r>
              <a:rPr lang="en-US" dirty="0"/>
              <a:t>Selection Decision Outcomes</a:t>
            </a:r>
          </a:p>
        </p:txBody>
      </p:sp>
      <p:sp>
        <p:nvSpPr>
          <p:cNvPr id="3" name="Content Placeholder 2"/>
          <p:cNvSpPr>
            <a:spLocks noGrp="1"/>
          </p:cNvSpPr>
          <p:nvPr>
            <p:ph idx="1"/>
          </p:nvPr>
        </p:nvSpPr>
        <p:spPr>
          <a:xfrm>
            <a:off x="457200" y="1600200"/>
            <a:ext cx="8229600" cy="5029200"/>
          </a:xfrm>
        </p:spPr>
        <p:txBody>
          <a:bodyPr>
            <a:noAutofit/>
          </a:bodyPr>
          <a:lstStyle/>
          <a:p>
            <a:r>
              <a:rPr lang="en-GB" sz="2200" dirty="0"/>
              <a:t>Problems arise when errors are made;</a:t>
            </a:r>
          </a:p>
          <a:p>
            <a:pPr lvl="1"/>
            <a:r>
              <a:rPr lang="en-GB" sz="1800" dirty="0"/>
              <a:t> in rejecting candidates who would have performed successfully on the job (reject error),</a:t>
            </a:r>
          </a:p>
          <a:p>
            <a:pPr lvl="1"/>
            <a:r>
              <a:rPr lang="en-GB" sz="1800" dirty="0"/>
              <a:t> or accepting those who later perform poorly on the job (accept errors).</a:t>
            </a:r>
          </a:p>
          <a:p>
            <a:endParaRPr lang="en-GB" sz="1200" dirty="0"/>
          </a:p>
          <a:p>
            <a:r>
              <a:rPr lang="en-GB" sz="2200" dirty="0"/>
              <a:t>These mistakes can be costly….</a:t>
            </a:r>
          </a:p>
          <a:p>
            <a:pPr lvl="1"/>
            <a:r>
              <a:rPr lang="en-GB" sz="1800" dirty="0"/>
              <a:t>Reject errors – can expose the firm to discrimination  charges, </a:t>
            </a:r>
          </a:p>
          <a:p>
            <a:pPr lvl="2"/>
            <a:r>
              <a:rPr lang="en-GB" sz="1600" dirty="0"/>
              <a:t>especially if applicants from protected groups are disproportionately rejected.</a:t>
            </a:r>
          </a:p>
          <a:p>
            <a:pPr lvl="1"/>
            <a:r>
              <a:rPr lang="en-GB" sz="1800" dirty="0"/>
              <a:t>Accept errors – can cost additional training, loss of profits as a result of employee incompetence, cost of severance pay, additional recruiting costs.</a:t>
            </a:r>
          </a:p>
          <a:p>
            <a:endParaRPr lang="en-GB" sz="1400" dirty="0"/>
          </a:p>
          <a:p>
            <a:r>
              <a:rPr lang="en-GB" sz="2200" dirty="0"/>
              <a:t>Managers try to reduce the possibility of Accept &amp; Reject Errors while increase the probability of making correct decisions,</a:t>
            </a:r>
          </a:p>
          <a:p>
            <a:pPr lvl="1"/>
            <a:r>
              <a:rPr lang="en-GB" sz="1800" dirty="0"/>
              <a:t>They do this by using selection procedures that are both valid &amp; reliable.</a:t>
            </a:r>
            <a:endParaRPr lang="en-US" sz="1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38200"/>
          </a:xfrm>
        </p:spPr>
        <p:txBody>
          <a:bodyPr>
            <a:normAutofit/>
          </a:bodyPr>
          <a:lstStyle/>
          <a:p>
            <a:r>
              <a:rPr lang="en-US" dirty="0"/>
              <a:t>Selection: </a:t>
            </a:r>
            <a:r>
              <a:rPr lang="en-US" sz="4800" dirty="0"/>
              <a:t>Validity </a:t>
            </a:r>
          </a:p>
        </p:txBody>
      </p:sp>
      <p:sp>
        <p:nvSpPr>
          <p:cNvPr id="3" name="Content Placeholder 2"/>
          <p:cNvSpPr>
            <a:spLocks noGrp="1"/>
          </p:cNvSpPr>
          <p:nvPr>
            <p:ph idx="1"/>
          </p:nvPr>
        </p:nvSpPr>
        <p:spPr>
          <a:xfrm>
            <a:off x="381000" y="1752600"/>
            <a:ext cx="8305800" cy="4724400"/>
          </a:xfrm>
        </p:spPr>
        <p:txBody>
          <a:bodyPr>
            <a:normAutofit lnSpcReduction="10000"/>
          </a:bodyPr>
          <a:lstStyle/>
          <a:p>
            <a:pPr marL="342900" indent="-342900" eaLnBrk="0" hangingPunct="0">
              <a:buFont typeface="Arial" charset="0"/>
              <a:buChar char="•"/>
            </a:pPr>
            <a:r>
              <a:rPr lang="en-US" sz="2800" dirty="0"/>
              <a:t>A </a:t>
            </a:r>
            <a:r>
              <a:rPr lang="en-US" sz="2800" b="1" i="1" dirty="0"/>
              <a:t>valid selection device </a:t>
            </a:r>
            <a:r>
              <a:rPr lang="en-US" sz="2800" dirty="0"/>
              <a:t>is the proven relationship between the selection device and some relevant criterion.</a:t>
            </a:r>
          </a:p>
          <a:p>
            <a:pPr marL="708660" lvl="1" indent="-342900" eaLnBrk="0" hangingPunct="0">
              <a:buFont typeface="Arial" charset="0"/>
              <a:buChar char="•"/>
            </a:pPr>
            <a:endParaRPr lang="en-GB" sz="1200" dirty="0"/>
          </a:p>
          <a:p>
            <a:pPr marL="708660" lvl="1" indent="-342900" eaLnBrk="0" hangingPunct="0">
              <a:buFont typeface="Arial" charset="0"/>
              <a:buChar char="•"/>
            </a:pPr>
            <a:r>
              <a:rPr lang="en-GB" dirty="0"/>
              <a:t>In the USA employment laws prohibit managers from using test scores to select employees, unless there is clear evidence that once on the job, individuals with high test scores, outperform individuals with low test scores.</a:t>
            </a:r>
          </a:p>
          <a:p>
            <a:pPr marL="708660" lvl="1" indent="-342900" eaLnBrk="0" hangingPunct="0">
              <a:buFont typeface="Arial" charset="0"/>
              <a:buChar char="•"/>
            </a:pPr>
            <a:endParaRPr lang="en-GB" sz="1800" dirty="0"/>
          </a:p>
          <a:p>
            <a:pPr marL="708660" lvl="1" indent="-342900" eaLnBrk="0" hangingPunct="0">
              <a:buFont typeface="Arial" charset="0"/>
              <a:buChar char="•"/>
            </a:pPr>
            <a:r>
              <a:rPr lang="en-GB" dirty="0"/>
              <a:t>The burden is on managers to support any selection device they use, to differentiate applicants, is </a:t>
            </a:r>
            <a:r>
              <a:rPr lang="en-GB" i="1" dirty="0"/>
              <a:t>validly</a:t>
            </a:r>
            <a:r>
              <a:rPr lang="en-GB" dirty="0"/>
              <a:t> related to job performance.</a:t>
            </a:r>
            <a:endParaRPr lang="en-US" dirty="0"/>
          </a:p>
          <a:p>
            <a:pPr marL="342900" indent="-342900" eaLnBrk="0" hangingPunct="0">
              <a:buFont typeface="Arial" charset="0"/>
              <a:buChar char="•"/>
            </a:pPr>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457200"/>
          </a:xfrm>
        </p:spPr>
        <p:txBody>
          <a:bodyPr>
            <a:normAutofit fontScale="90000"/>
          </a:bodyPr>
          <a:lstStyle/>
          <a:p>
            <a:r>
              <a:rPr lang="en-GB" dirty="0"/>
              <a:t>Selection Validity!</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dirty="0"/>
          </a:p>
        </p:txBody>
      </p:sp>
      <p:pic>
        <p:nvPicPr>
          <p:cNvPr id="5" name="Picture 2" descr="Levels the playing field :)"/>
          <p:cNvPicPr>
            <a:picLocks noChangeAspect="1" noChangeArrowheads="1"/>
          </p:cNvPicPr>
          <p:nvPr/>
        </p:nvPicPr>
        <p:blipFill>
          <a:blip r:embed="rId2" cstate="print"/>
          <a:srcRect/>
          <a:stretch>
            <a:fillRect/>
          </a:stretch>
        </p:blipFill>
        <p:spPr bwMode="auto">
          <a:xfrm>
            <a:off x="1066800" y="1066800"/>
            <a:ext cx="7086600" cy="541020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a:t>
            </a:r>
            <a:r>
              <a:rPr lang="en-US" sz="4800" dirty="0"/>
              <a:t>Reliability</a:t>
            </a:r>
          </a:p>
        </p:txBody>
      </p:sp>
      <p:sp>
        <p:nvSpPr>
          <p:cNvPr id="3" name="Content Placeholder 2"/>
          <p:cNvSpPr>
            <a:spLocks noGrp="1"/>
          </p:cNvSpPr>
          <p:nvPr>
            <p:ph idx="1"/>
          </p:nvPr>
        </p:nvSpPr>
        <p:spPr/>
        <p:txBody>
          <a:bodyPr>
            <a:normAutofit lnSpcReduction="10000"/>
          </a:bodyPr>
          <a:lstStyle/>
          <a:p>
            <a:pPr marL="342900" indent="-342900" eaLnBrk="0" hangingPunct="0">
              <a:buFont typeface="Arial" charset="0"/>
              <a:buChar char="•"/>
            </a:pPr>
            <a:r>
              <a:rPr lang="en-US" sz="2800" dirty="0"/>
              <a:t>A </a:t>
            </a:r>
            <a:r>
              <a:rPr lang="en-US" sz="2800" b="1" i="1" dirty="0"/>
              <a:t>reliable selection device </a:t>
            </a:r>
            <a:r>
              <a:rPr lang="en-US" sz="2800" dirty="0"/>
              <a:t>is the ability of the selection device to measure the same thing consistently.</a:t>
            </a:r>
          </a:p>
          <a:p>
            <a:pPr marL="342900" indent="-342900" eaLnBrk="0" hangingPunct="0">
              <a:buFont typeface="Arial" charset="0"/>
              <a:buChar char="•"/>
            </a:pPr>
            <a:endParaRPr lang="en-US" sz="1800" dirty="0"/>
          </a:p>
          <a:p>
            <a:pPr marL="708660" lvl="1" indent="-342900" eaLnBrk="0" hangingPunct="0">
              <a:buFont typeface="Arial" charset="0"/>
              <a:buChar char="•"/>
            </a:pPr>
            <a:r>
              <a:rPr lang="en-GB" dirty="0"/>
              <a:t>On a test that is reliable, any single individual’s score should remain fairly consistent over time.</a:t>
            </a:r>
          </a:p>
          <a:p>
            <a:pPr marL="708660" lvl="1" indent="-342900" eaLnBrk="0" hangingPunct="0">
              <a:buFont typeface="Arial" charset="0"/>
              <a:buChar char="•"/>
            </a:pPr>
            <a:endParaRPr lang="en-GB" dirty="0"/>
          </a:p>
          <a:p>
            <a:pPr marL="708660" lvl="1" indent="-342900" eaLnBrk="0" hangingPunct="0">
              <a:buFont typeface="Arial" charset="0"/>
              <a:buChar char="•"/>
            </a:pPr>
            <a:r>
              <a:rPr lang="en-GB" dirty="0"/>
              <a:t>No selection device can be effective if is not reliable.</a:t>
            </a:r>
          </a:p>
          <a:p>
            <a:pPr marL="982980" lvl="2" indent="-342900" eaLnBrk="0" hangingPunct="0">
              <a:buFont typeface="Arial" charset="0"/>
              <a:buChar char="•"/>
            </a:pPr>
            <a:r>
              <a:rPr lang="en-GB" dirty="0"/>
              <a:t>If a baker is using a measuring scale to weigh out ingredients – if it randomly fluctuates 5 to 10 lbs every time it is used – the results are useless.</a:t>
            </a:r>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69</a:t>
            </a:fld>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a:t>Selection: </a:t>
            </a:r>
            <a:r>
              <a:rPr lang="en-US" sz="6000" dirty="0"/>
              <a:t>Tools</a:t>
            </a:r>
            <a:endParaRPr lang="en-IE" dirty="0"/>
          </a:p>
        </p:txBody>
      </p:sp>
      <p:sp>
        <p:nvSpPr>
          <p:cNvPr id="3" name="Content Placeholder 2"/>
          <p:cNvSpPr>
            <a:spLocks noGrp="1"/>
          </p:cNvSpPr>
          <p:nvPr>
            <p:ph idx="1"/>
          </p:nvPr>
        </p:nvSpPr>
        <p:spPr>
          <a:xfrm>
            <a:off x="457200" y="1752600"/>
            <a:ext cx="8229600" cy="4572000"/>
          </a:xfrm>
        </p:spPr>
        <p:txBody>
          <a:bodyPr>
            <a:normAutofit/>
          </a:bodyPr>
          <a:lstStyle/>
          <a:p>
            <a:r>
              <a:rPr lang="en-US" sz="2000" dirty="0">
                <a:cs typeface="Arial" charset="0"/>
              </a:rPr>
              <a:t>The best-known selection tools include application forms, written and performance-simulation tests, interviews, background investigations, and in some cases, physical exams. </a:t>
            </a:r>
          </a:p>
          <a:p>
            <a:endParaRPr lang="en-US" sz="1200" dirty="0">
              <a:cs typeface="Arial" charset="0"/>
            </a:endParaRPr>
          </a:p>
          <a:p>
            <a:pPr lvl="1"/>
            <a:r>
              <a:rPr lang="en-US" sz="1800" dirty="0">
                <a:cs typeface="Arial" charset="0"/>
              </a:rPr>
              <a:t>The strengths and weaknesses of each – detailed below, and on next slides</a:t>
            </a:r>
          </a:p>
          <a:p>
            <a:endParaRPr lang="en-IE" sz="1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dirty="0"/>
          </a:p>
        </p:txBody>
      </p:sp>
      <p:pic>
        <p:nvPicPr>
          <p:cNvPr id="5" name="Picture 3"/>
          <p:cNvPicPr>
            <a:picLocks noGrp="1" noChangeAspect="1" noChangeArrowheads="1"/>
          </p:cNvPicPr>
          <p:nvPr/>
        </p:nvPicPr>
        <p:blipFill>
          <a:blip r:embed="rId2" cstate="print"/>
          <a:srcRect/>
          <a:stretch>
            <a:fillRect/>
          </a:stretch>
        </p:blipFill>
        <p:spPr bwMode="auto">
          <a:xfrm>
            <a:off x="609600" y="3886200"/>
            <a:ext cx="8077200" cy="2590800"/>
          </a:xfrm>
          <a:prstGeom prst="rect">
            <a:avLst/>
          </a:prstGeom>
          <a:noFill/>
          <a:ln w="9525">
            <a:solidFill>
              <a:schemeClr val="accent1">
                <a:lumMod val="75000"/>
              </a:schemeClr>
            </a:solid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dirty="0"/>
          </a:p>
        </p:txBody>
      </p:sp>
      <p:pic>
        <p:nvPicPr>
          <p:cNvPr id="93186" name="Picture 2" descr="http://www.globalrecruitingroundtable.com/wp-content/uploads/Employers-demand-Facebook-passwords.jpg"/>
          <p:cNvPicPr>
            <a:picLocks noChangeAspect="1" noChangeArrowheads="1"/>
          </p:cNvPicPr>
          <p:nvPr/>
        </p:nvPicPr>
        <p:blipFill>
          <a:blip r:embed="rId2" cstate="print"/>
          <a:srcRect/>
          <a:stretch>
            <a:fillRect/>
          </a:stretch>
        </p:blipFill>
        <p:spPr bwMode="auto">
          <a:xfrm>
            <a:off x="838200" y="533400"/>
            <a:ext cx="7239000" cy="5867400"/>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dirty="0"/>
          </a:p>
        </p:txBody>
      </p:sp>
      <p:pic>
        <p:nvPicPr>
          <p:cNvPr id="163842" name="Picture 2" descr="http://d1mpb3f4gq7nrb.cloudfront.net/img/toons/cartoon6542.png"/>
          <p:cNvPicPr>
            <a:picLocks noChangeAspect="1" noChangeArrowheads="1"/>
          </p:cNvPicPr>
          <p:nvPr/>
        </p:nvPicPr>
        <p:blipFill>
          <a:blip r:embed="rId2" cstate="print"/>
          <a:srcRect/>
          <a:stretch>
            <a:fillRect/>
          </a:stretch>
        </p:blipFill>
        <p:spPr bwMode="auto">
          <a:xfrm>
            <a:off x="990600" y="533400"/>
            <a:ext cx="7086600" cy="5486400"/>
          </a:xfrm>
          <a:prstGeom prst="rect">
            <a:avLst/>
          </a:prstGeo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dirty="0"/>
              <a:t>Selection: </a:t>
            </a:r>
            <a:r>
              <a:rPr lang="en-US" sz="6000" dirty="0"/>
              <a:t>Tools</a:t>
            </a:r>
            <a:endParaRPr lang="en-IE" sz="4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dirty="0"/>
          </a:p>
        </p:txBody>
      </p:sp>
      <p:pic>
        <p:nvPicPr>
          <p:cNvPr id="5" name="Picture 3"/>
          <p:cNvPicPr>
            <a:picLocks noGrp="1" noChangeAspect="1" noChangeArrowheads="1"/>
          </p:cNvPicPr>
          <p:nvPr>
            <p:ph idx="1"/>
          </p:nvPr>
        </p:nvPicPr>
        <p:blipFill>
          <a:blip r:embed="rId2" cstate="print"/>
          <a:srcRect/>
          <a:stretch>
            <a:fillRect/>
          </a:stretch>
        </p:blipFill>
        <p:spPr bwMode="auto">
          <a:xfrm>
            <a:off x="838200" y="1981200"/>
            <a:ext cx="7391400" cy="4419600"/>
          </a:xfrm>
          <a:prstGeom prst="rect">
            <a:avLst/>
          </a:prstGeom>
          <a:noFill/>
          <a:ln w="9525">
            <a:solidFill>
              <a:schemeClr val="accent1">
                <a:lumMod val="75000"/>
              </a:schemeClr>
            </a:solid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dirty="0"/>
          </a:p>
        </p:txBody>
      </p:sp>
      <p:pic>
        <p:nvPicPr>
          <p:cNvPr id="162820" name="Picture 4" descr="http://asset-f.soup.io/asset/1841/0881_f4bf.jpeg"/>
          <p:cNvPicPr>
            <a:picLocks noChangeAspect="1" noChangeArrowheads="1"/>
          </p:cNvPicPr>
          <p:nvPr/>
        </p:nvPicPr>
        <p:blipFill>
          <a:blip r:embed="rId2" cstate="print"/>
          <a:srcRect/>
          <a:stretch>
            <a:fillRect/>
          </a:stretch>
        </p:blipFill>
        <p:spPr bwMode="auto">
          <a:xfrm>
            <a:off x="1295400" y="762000"/>
            <a:ext cx="6400800" cy="5376216"/>
          </a:xfrm>
          <a:prstGeom prst="rect">
            <a:avLst/>
          </a:prstGeom>
          <a:noFill/>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rmAutofit/>
          </a:bodyPr>
          <a:lstStyle/>
          <a:p>
            <a:r>
              <a:rPr lang="en-GB" dirty="0"/>
              <a:t>Selection</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dirty="0"/>
          </a:p>
        </p:txBody>
      </p:sp>
      <p:pic>
        <p:nvPicPr>
          <p:cNvPr id="95234" name="Picture 2" descr="https://encrypted-tbn1.gstatic.com/images?q=tbn:ANd9GcRL_nCExXEf0xd2Xtrf9pdRMJ7ZCGwoeh3-zRZoeEe5OZMXHCF2"/>
          <p:cNvPicPr>
            <a:picLocks noChangeAspect="1" noChangeArrowheads="1"/>
          </p:cNvPicPr>
          <p:nvPr/>
        </p:nvPicPr>
        <p:blipFill>
          <a:blip r:embed="rId3" cstate="print"/>
          <a:srcRect/>
          <a:stretch>
            <a:fillRect/>
          </a:stretch>
        </p:blipFill>
        <p:spPr bwMode="auto">
          <a:xfrm>
            <a:off x="1066800" y="1524000"/>
            <a:ext cx="7315200" cy="4800600"/>
          </a:xfrm>
          <a:prstGeom prst="rect">
            <a:avLst/>
          </a:prstGeom>
          <a:noFill/>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5400" dirty="0"/>
              <a:t>Selection: </a:t>
            </a:r>
            <a:r>
              <a:rPr lang="en-US" sz="6700" dirty="0"/>
              <a:t>Tools</a:t>
            </a:r>
            <a:endParaRPr lang="en-IE"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dirty="0"/>
          </a:p>
        </p:txBody>
      </p:sp>
      <p:pic>
        <p:nvPicPr>
          <p:cNvPr id="5" name="Picture 3"/>
          <p:cNvPicPr>
            <a:picLocks noGrp="1" noChangeAspect="1" noChangeArrowheads="1"/>
          </p:cNvPicPr>
          <p:nvPr/>
        </p:nvPicPr>
        <p:blipFill>
          <a:blip r:embed="rId2" cstate="print"/>
          <a:srcRect/>
          <a:stretch>
            <a:fillRect/>
          </a:stretch>
        </p:blipFill>
        <p:spPr bwMode="auto">
          <a:xfrm>
            <a:off x="609600" y="1783080"/>
            <a:ext cx="7732712" cy="4617720"/>
          </a:xfrm>
          <a:prstGeom prst="rect">
            <a:avLst/>
          </a:prstGeom>
          <a:noFill/>
          <a:ln w="9525">
            <a:solidFill>
              <a:schemeClr val="accent1">
                <a:lumMod val="75000"/>
              </a:schemeClr>
            </a:solid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77</a:t>
            </a:fld>
            <a:endParaRPr lang="en-US" dirty="0"/>
          </a:p>
        </p:txBody>
      </p:sp>
      <p:pic>
        <p:nvPicPr>
          <p:cNvPr id="158722" name="Picture 2" descr="http://www.workplacefairness.org/images/comics/7.jpg"/>
          <p:cNvPicPr>
            <a:picLocks noChangeAspect="1" noChangeArrowheads="1"/>
          </p:cNvPicPr>
          <p:nvPr/>
        </p:nvPicPr>
        <p:blipFill>
          <a:blip r:embed="rId2" cstate="print"/>
          <a:srcRect/>
          <a:stretch>
            <a:fillRect/>
          </a:stretch>
        </p:blipFill>
        <p:spPr bwMode="auto">
          <a:xfrm>
            <a:off x="990600" y="704088"/>
            <a:ext cx="7239000" cy="5315712"/>
          </a:xfrm>
          <a:prstGeom prst="rect">
            <a:avLst/>
          </a:prstGeom>
          <a:noFill/>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82000" cy="896112"/>
          </a:xfrm>
        </p:spPr>
        <p:txBody>
          <a:bodyPr>
            <a:normAutofit fontScale="90000"/>
          </a:bodyPr>
          <a:lstStyle/>
          <a:p>
            <a:r>
              <a:rPr lang="en-US" sz="4900" dirty="0"/>
              <a:t>Selection: </a:t>
            </a:r>
            <a:r>
              <a:rPr lang="en-US" sz="6000" dirty="0"/>
              <a:t>Realistic Job Preview</a:t>
            </a:r>
            <a:endParaRPr lang="en-IE" dirty="0"/>
          </a:p>
        </p:txBody>
      </p:sp>
      <p:sp>
        <p:nvSpPr>
          <p:cNvPr id="3" name="Content Placeholder 2"/>
          <p:cNvSpPr>
            <a:spLocks noGrp="1"/>
          </p:cNvSpPr>
          <p:nvPr>
            <p:ph idx="1"/>
          </p:nvPr>
        </p:nvSpPr>
        <p:spPr/>
        <p:txBody>
          <a:bodyPr>
            <a:normAutofit fontScale="92500"/>
          </a:bodyPr>
          <a:lstStyle/>
          <a:p>
            <a:r>
              <a:rPr lang="en-US" dirty="0">
                <a:cs typeface="Arial" charset="0"/>
              </a:rPr>
              <a:t>One thing managers need to carefully watch is how they portray the organisation and the work an applicant will be doing. </a:t>
            </a:r>
          </a:p>
          <a:p>
            <a:pPr lvl="1"/>
            <a:r>
              <a:rPr lang="en-US" dirty="0">
                <a:cs typeface="Arial" charset="0"/>
              </a:rPr>
              <a:t>If they tell applicants only the good aspects, they are likely to have a workforce that is dissatisfied and prone to high turnover.</a:t>
            </a:r>
          </a:p>
          <a:p>
            <a:endParaRPr lang="en-US" dirty="0">
              <a:cs typeface="Arial" charset="0"/>
            </a:endParaRPr>
          </a:p>
          <a:p>
            <a:r>
              <a:rPr lang="en-US" dirty="0">
                <a:cs typeface="Arial" charset="0"/>
              </a:rPr>
              <a:t>To increase employee job satisfaction and reduce turnover, managers should consider a </a:t>
            </a:r>
            <a:r>
              <a:rPr lang="en-US" b="1" dirty="0">
                <a:cs typeface="Arial" charset="0"/>
              </a:rPr>
              <a:t>realistic job preview (RJP)</a:t>
            </a:r>
            <a:r>
              <a:rPr lang="en-US" dirty="0">
                <a:cs typeface="Arial" charset="0"/>
              </a:rPr>
              <a:t>,</a:t>
            </a:r>
          </a:p>
          <a:p>
            <a:pPr lvl="1"/>
            <a:r>
              <a:rPr lang="en-US" dirty="0">
                <a:cs typeface="Arial" charset="0"/>
              </a:rPr>
              <a:t> one that includes both positive and negative information about the job and the company.</a:t>
            </a:r>
          </a:p>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dirty="0"/>
          </a:p>
        </p:txBody>
      </p:sp>
      <p:pic>
        <p:nvPicPr>
          <p:cNvPr id="164866" name="Picture 2" descr="http://talentbitsandbytes.files.wordpress.com/2013/01/what-its-like-to-work-here.png"/>
          <p:cNvPicPr>
            <a:picLocks noChangeAspect="1" noChangeArrowheads="1"/>
          </p:cNvPicPr>
          <p:nvPr/>
        </p:nvPicPr>
        <p:blipFill>
          <a:blip r:embed="rId2" cstate="print"/>
          <a:srcRect/>
          <a:stretch>
            <a:fillRect/>
          </a:stretch>
        </p:blipFill>
        <p:spPr bwMode="auto">
          <a:xfrm>
            <a:off x="990600" y="1600200"/>
            <a:ext cx="7239000" cy="4724400"/>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a:bodyPr>
          <a:lstStyle/>
          <a:p>
            <a:r>
              <a:rPr lang="en-US" sz="5400" dirty="0"/>
              <a:t>Providing Skills &amp; Knowledge</a:t>
            </a:r>
          </a:p>
        </p:txBody>
      </p:sp>
      <p:sp>
        <p:nvSpPr>
          <p:cNvPr id="3" name="Content Placeholder 2"/>
          <p:cNvSpPr>
            <a:spLocks noGrp="1"/>
          </p:cNvSpPr>
          <p:nvPr>
            <p:ph idx="1"/>
          </p:nvPr>
        </p:nvSpPr>
        <p:spPr>
          <a:xfrm>
            <a:off x="457200" y="2133600"/>
            <a:ext cx="8229600" cy="4191000"/>
          </a:xfrm>
        </p:spPr>
        <p:txBody>
          <a:bodyPr>
            <a:normAutofit lnSpcReduction="10000"/>
          </a:bodyPr>
          <a:lstStyle/>
          <a:p>
            <a:r>
              <a:rPr lang="en-GB" dirty="0"/>
              <a:t>Methods to provide employees with skills and knowledge of the job and the organisation include;</a:t>
            </a:r>
          </a:p>
          <a:p>
            <a:endParaRPr lang="en-GB" dirty="0"/>
          </a:p>
          <a:p>
            <a:r>
              <a:rPr lang="en-GB" dirty="0"/>
              <a:t>1. Orientation</a:t>
            </a:r>
          </a:p>
          <a:p>
            <a:pPr lvl="1"/>
            <a:r>
              <a:rPr lang="en-GB" dirty="0"/>
              <a:t>Work unit orientation </a:t>
            </a:r>
          </a:p>
          <a:p>
            <a:pPr lvl="1"/>
            <a:r>
              <a:rPr lang="en-GB" dirty="0"/>
              <a:t>Organisation orientation</a:t>
            </a:r>
          </a:p>
          <a:p>
            <a:endParaRPr lang="en-GB" dirty="0"/>
          </a:p>
          <a:p>
            <a:r>
              <a:rPr lang="en-GB" dirty="0"/>
              <a:t>2. Employee training</a:t>
            </a:r>
          </a:p>
          <a:p>
            <a:pPr lvl="1"/>
            <a:r>
              <a:rPr lang="en-GB" dirty="0"/>
              <a:t>Traditional training methods </a:t>
            </a:r>
          </a:p>
          <a:p>
            <a:pPr lvl="1"/>
            <a:r>
              <a:rPr lang="en-GB" dirty="0"/>
              <a:t>Technology driven methods</a:t>
            </a:r>
          </a:p>
          <a:p>
            <a:pPr lvl="1"/>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80</a:t>
            </a:fld>
            <a:endParaRPr 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457200"/>
          </a:xfrm>
        </p:spPr>
        <p:txBody>
          <a:bodyPr>
            <a:normAutofit fontScale="90000"/>
          </a:bodyPr>
          <a:lstStyle/>
          <a:p>
            <a:r>
              <a:rPr lang="en-GB" dirty="0"/>
              <a:t>Orientation </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81</a:t>
            </a:fld>
            <a:endParaRPr lang="en-US" dirty="0"/>
          </a:p>
        </p:txBody>
      </p:sp>
      <p:pic>
        <p:nvPicPr>
          <p:cNvPr id="91140" name="Picture 4" descr="http://www.cartoonstock.com/lowres/for0241l.jpg"/>
          <p:cNvPicPr>
            <a:picLocks noChangeAspect="1" noChangeArrowheads="1"/>
          </p:cNvPicPr>
          <p:nvPr/>
        </p:nvPicPr>
        <p:blipFill>
          <a:blip r:embed="rId2" cstate="print"/>
          <a:srcRect/>
          <a:stretch>
            <a:fillRect/>
          </a:stretch>
        </p:blipFill>
        <p:spPr bwMode="auto">
          <a:xfrm>
            <a:off x="1066800" y="1143000"/>
            <a:ext cx="7010400" cy="4953000"/>
          </a:xfrm>
          <a:prstGeom prst="rect">
            <a:avLst/>
          </a:prstGeom>
          <a:noFill/>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38200"/>
          </a:xfrm>
        </p:spPr>
        <p:txBody>
          <a:bodyPr>
            <a:noAutofit/>
          </a:bodyPr>
          <a:lstStyle/>
          <a:p>
            <a:r>
              <a:rPr lang="en-US" sz="3600" dirty="0"/>
              <a:t>Skills and Knowledge: </a:t>
            </a:r>
            <a:r>
              <a:rPr lang="en-US" sz="4800" i="1" dirty="0"/>
              <a:t>Orientation</a:t>
            </a:r>
            <a:endParaRPr lang="en-IE" sz="3200" i="1" dirty="0"/>
          </a:p>
        </p:txBody>
      </p:sp>
      <p:sp>
        <p:nvSpPr>
          <p:cNvPr id="3" name="Content Placeholder 2"/>
          <p:cNvSpPr>
            <a:spLocks noGrp="1"/>
          </p:cNvSpPr>
          <p:nvPr>
            <p:ph idx="1"/>
          </p:nvPr>
        </p:nvSpPr>
        <p:spPr>
          <a:xfrm>
            <a:off x="457200" y="1752600"/>
            <a:ext cx="8229600" cy="4876800"/>
          </a:xfrm>
        </p:spPr>
        <p:txBody>
          <a:bodyPr>
            <a:noAutofit/>
          </a:bodyPr>
          <a:lstStyle/>
          <a:p>
            <a:pPr marL="342900" indent="-342900" eaLnBrk="0" hangingPunct="0">
              <a:buFont typeface="Arial" charset="0"/>
              <a:buChar char="•"/>
            </a:pPr>
            <a:r>
              <a:rPr lang="en-US" sz="2400" dirty="0">
                <a:cs typeface="Arial" charset="0"/>
              </a:rPr>
              <a:t>A person starting a new job needs the </a:t>
            </a:r>
            <a:r>
              <a:rPr lang="en-US" sz="2400" i="1" dirty="0">
                <a:cs typeface="Arial" charset="0"/>
              </a:rPr>
              <a:t>same type </a:t>
            </a:r>
            <a:r>
              <a:rPr lang="en-US" sz="2400" dirty="0">
                <a:cs typeface="Arial" charset="0"/>
              </a:rPr>
              <a:t>of introduction to his or her job and the organisation. </a:t>
            </a:r>
          </a:p>
          <a:p>
            <a:pPr marL="342900" indent="-342900" eaLnBrk="0" hangingPunct="0">
              <a:buFont typeface="Arial" charset="0"/>
              <a:buChar char="•"/>
            </a:pPr>
            <a:endParaRPr lang="en-US" sz="2400" dirty="0">
              <a:cs typeface="Arial" charset="0"/>
            </a:endParaRPr>
          </a:p>
          <a:p>
            <a:pPr marL="342900" indent="-342900" eaLnBrk="0" hangingPunct="0">
              <a:buFont typeface="Arial" charset="0"/>
              <a:buChar char="•"/>
            </a:pPr>
            <a:r>
              <a:rPr lang="en-US" sz="2400" dirty="0">
                <a:cs typeface="Arial" charset="0"/>
              </a:rPr>
              <a:t>This introduction is called </a:t>
            </a:r>
            <a:r>
              <a:rPr lang="en-US" sz="2400" b="1" dirty="0">
                <a:cs typeface="Arial" charset="0"/>
              </a:rPr>
              <a:t>orientation</a:t>
            </a:r>
            <a:r>
              <a:rPr lang="en-US" sz="2400" dirty="0">
                <a:cs typeface="Arial" charset="0"/>
              </a:rPr>
              <a:t>.</a:t>
            </a:r>
          </a:p>
          <a:p>
            <a:pPr marL="342900" indent="-342900" eaLnBrk="0" hangingPunct="0">
              <a:buFont typeface="Arial" charset="0"/>
              <a:buChar char="•"/>
            </a:pPr>
            <a:endParaRPr lang="en-US" sz="2400" dirty="0">
              <a:cs typeface="Arial" charset="0"/>
            </a:endParaRPr>
          </a:p>
          <a:p>
            <a:pPr marL="342900" indent="-342900" eaLnBrk="0" hangingPunct="0">
              <a:buFont typeface="Arial" charset="0"/>
              <a:buChar char="•"/>
            </a:pPr>
            <a:r>
              <a:rPr lang="en-GB" sz="2400" dirty="0">
                <a:cs typeface="Arial" charset="0"/>
              </a:rPr>
              <a:t>Successful orientation results in an ‘outsider’ feeling like an ‘insider’, </a:t>
            </a:r>
          </a:p>
          <a:p>
            <a:pPr marL="708660" lvl="1" indent="-342900" eaLnBrk="0" hangingPunct="0">
              <a:buFont typeface="Arial" charset="0"/>
              <a:buChar char="•"/>
            </a:pPr>
            <a:r>
              <a:rPr lang="en-GB" sz="2200" dirty="0">
                <a:cs typeface="Arial" charset="0"/>
              </a:rPr>
              <a:t>it makes a new employee feel comfortable and well adjusted, </a:t>
            </a:r>
          </a:p>
          <a:p>
            <a:pPr marL="708660" lvl="1" indent="-342900" eaLnBrk="0" hangingPunct="0">
              <a:buFont typeface="Arial" charset="0"/>
              <a:buChar char="•"/>
            </a:pPr>
            <a:r>
              <a:rPr lang="en-GB" sz="2200" dirty="0">
                <a:cs typeface="Arial" charset="0"/>
              </a:rPr>
              <a:t>it lowers the likelihood of poor work performance </a:t>
            </a:r>
          </a:p>
          <a:p>
            <a:pPr marL="708660" lvl="1" indent="-342900" eaLnBrk="0" hangingPunct="0">
              <a:buFont typeface="Arial" charset="0"/>
              <a:buChar char="•"/>
            </a:pPr>
            <a:r>
              <a:rPr lang="en-GB" sz="2200" dirty="0">
                <a:cs typeface="Arial" charset="0"/>
              </a:rPr>
              <a:t>and reduces the likelihood of very quick resignations one or two weeks into the job.</a:t>
            </a:r>
            <a:endParaRPr lang="en-US"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82</a:t>
            </a:fld>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83</a:t>
            </a:fld>
            <a:endParaRPr lang="en-US" dirty="0"/>
          </a:p>
        </p:txBody>
      </p:sp>
      <p:pic>
        <p:nvPicPr>
          <p:cNvPr id="169988" name="Picture 4" descr="http://3.bp.blogspot.com/_vLSXEwir7V8/SPtEjCzN-TI/AAAAAAAABuU/m4aUbvBRdgQ/s400/crwio081019.gif"/>
          <p:cNvPicPr>
            <a:picLocks noChangeAspect="1" noChangeArrowheads="1"/>
          </p:cNvPicPr>
          <p:nvPr/>
        </p:nvPicPr>
        <p:blipFill>
          <a:blip r:embed="rId2" cstate="print"/>
          <a:srcRect/>
          <a:stretch>
            <a:fillRect/>
          </a:stretch>
        </p:blipFill>
        <p:spPr bwMode="auto">
          <a:xfrm>
            <a:off x="762000" y="1281112"/>
            <a:ext cx="7543800" cy="5257800"/>
          </a:xfrm>
          <a:prstGeom prst="rect">
            <a:avLst/>
          </a:prstGeom>
          <a:noFill/>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normAutofit fontScale="90000"/>
          </a:bodyPr>
          <a:lstStyle/>
          <a:p>
            <a:r>
              <a:rPr lang="en-US" dirty="0"/>
              <a:t>Skills and Knowledge: </a:t>
            </a:r>
            <a:r>
              <a:rPr lang="en-US" sz="6000" i="1" dirty="0"/>
              <a:t>Orientation</a:t>
            </a:r>
            <a:endParaRPr lang="en-US" dirty="0"/>
          </a:p>
        </p:txBody>
      </p:sp>
      <p:sp>
        <p:nvSpPr>
          <p:cNvPr id="3" name="Content Placeholder 2"/>
          <p:cNvSpPr>
            <a:spLocks noGrp="1"/>
          </p:cNvSpPr>
          <p:nvPr>
            <p:ph idx="1"/>
          </p:nvPr>
        </p:nvSpPr>
        <p:spPr>
          <a:xfrm>
            <a:off x="457200" y="1676400"/>
            <a:ext cx="8229600" cy="4724400"/>
          </a:xfrm>
        </p:spPr>
        <p:txBody>
          <a:bodyPr>
            <a:noAutofit/>
          </a:bodyPr>
          <a:lstStyle/>
          <a:p>
            <a:pPr marL="342900" indent="-342900" eaLnBrk="0" hangingPunct="0">
              <a:buFont typeface="Arial" charset="0"/>
              <a:buChar char="•"/>
            </a:pPr>
            <a:r>
              <a:rPr lang="en-US" sz="2400" dirty="0">
                <a:cs typeface="Arial" charset="0"/>
              </a:rPr>
              <a:t>There are two types of orientation;</a:t>
            </a:r>
          </a:p>
          <a:p>
            <a:pPr marL="342900" indent="-342900" eaLnBrk="0" hangingPunct="0">
              <a:buFont typeface="Arial" charset="0"/>
              <a:buChar char="•"/>
            </a:pPr>
            <a:endParaRPr lang="en-US" sz="1400" dirty="0">
              <a:cs typeface="Arial" charset="0"/>
            </a:endParaRPr>
          </a:p>
          <a:p>
            <a:pPr marL="342900" indent="-342900" eaLnBrk="0" hangingPunct="0">
              <a:buFont typeface="Arial" charset="0"/>
              <a:buChar char="•"/>
            </a:pPr>
            <a:r>
              <a:rPr lang="en-US" sz="2400" b="1" i="1" dirty="0">
                <a:cs typeface="Arial" charset="0"/>
              </a:rPr>
              <a:t>Work unit orientation;</a:t>
            </a:r>
          </a:p>
          <a:p>
            <a:pPr marL="708660" lvl="1" indent="-342900" eaLnBrk="0" hangingPunct="0">
              <a:buFont typeface="Arial" charset="0"/>
              <a:buChar char="•"/>
            </a:pPr>
            <a:r>
              <a:rPr lang="en-US" sz="2000" dirty="0">
                <a:cs typeface="Arial" charset="0"/>
              </a:rPr>
              <a:t>familiarises the employee with the goals of the work unit, </a:t>
            </a:r>
          </a:p>
          <a:p>
            <a:pPr marL="708660" lvl="1" indent="-342900" eaLnBrk="0" hangingPunct="0">
              <a:buFont typeface="Arial" charset="0"/>
              <a:buChar char="•"/>
            </a:pPr>
            <a:r>
              <a:rPr lang="en-US" sz="2000" dirty="0">
                <a:cs typeface="Arial" charset="0"/>
              </a:rPr>
              <a:t>clarifies how his or her job contributes to the unit’s goals, </a:t>
            </a:r>
          </a:p>
          <a:p>
            <a:pPr marL="708660" lvl="1" indent="-342900" eaLnBrk="0" hangingPunct="0">
              <a:buFont typeface="Arial" charset="0"/>
              <a:buChar char="•"/>
            </a:pPr>
            <a:r>
              <a:rPr lang="en-US" sz="2000" dirty="0">
                <a:cs typeface="Arial" charset="0"/>
              </a:rPr>
              <a:t>and includes an introduction to his or her new coworkers. </a:t>
            </a:r>
          </a:p>
          <a:p>
            <a:pPr marL="342900" indent="-342900" eaLnBrk="0" hangingPunct="0">
              <a:buFont typeface="Arial" charset="0"/>
              <a:buChar char="•"/>
            </a:pPr>
            <a:endParaRPr lang="en-US" sz="1800" dirty="0">
              <a:cs typeface="Arial" charset="0"/>
            </a:endParaRPr>
          </a:p>
          <a:p>
            <a:pPr marL="342900" indent="-342900" eaLnBrk="0" hangingPunct="0">
              <a:buFont typeface="Arial" charset="0"/>
              <a:buChar char="•"/>
            </a:pPr>
            <a:r>
              <a:rPr lang="en-US" sz="2400" b="1" i="1" dirty="0">
                <a:cs typeface="Arial" charset="0"/>
              </a:rPr>
              <a:t>Organisation orientation;</a:t>
            </a:r>
          </a:p>
          <a:p>
            <a:pPr marL="708660" lvl="1" indent="-342900" eaLnBrk="0" hangingPunct="0">
              <a:buFont typeface="Arial" charset="0"/>
              <a:buChar char="•"/>
            </a:pPr>
            <a:r>
              <a:rPr lang="en-US" sz="2000" dirty="0">
                <a:cs typeface="Arial" charset="0"/>
              </a:rPr>
              <a:t>informs the new employee about the company’s goals, </a:t>
            </a:r>
          </a:p>
          <a:p>
            <a:pPr marL="708660" lvl="1" indent="-342900" eaLnBrk="0" hangingPunct="0">
              <a:buFont typeface="Arial" charset="0"/>
              <a:buChar char="•"/>
            </a:pPr>
            <a:r>
              <a:rPr lang="en-US" sz="2000" dirty="0">
                <a:cs typeface="Arial" charset="0"/>
              </a:rPr>
              <a:t>History &amp; philosophy, </a:t>
            </a:r>
          </a:p>
          <a:p>
            <a:pPr marL="708660" lvl="1" indent="-342900" eaLnBrk="0" hangingPunct="0">
              <a:buFont typeface="Arial" charset="0"/>
              <a:buChar char="•"/>
            </a:pPr>
            <a:r>
              <a:rPr lang="en-US" sz="2000" dirty="0">
                <a:cs typeface="Arial" charset="0"/>
              </a:rPr>
              <a:t>procedures and rules. </a:t>
            </a:r>
          </a:p>
          <a:p>
            <a:pPr marL="982980" lvl="2" indent="-342900" eaLnBrk="0" hangingPunct="0">
              <a:buFont typeface="Arial" charset="0"/>
              <a:buChar char="•"/>
            </a:pPr>
            <a:r>
              <a:rPr lang="en-US" sz="2000" dirty="0">
                <a:cs typeface="Arial" charset="0"/>
              </a:rPr>
              <a:t>It should also include relevant HR policies and maybe even a tour of the facilities.</a:t>
            </a:r>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84</a:t>
            </a:fld>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Orientation </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85</a:t>
            </a:fld>
            <a:endParaRPr lang="en-US" dirty="0"/>
          </a:p>
        </p:txBody>
      </p:sp>
      <p:pic>
        <p:nvPicPr>
          <p:cNvPr id="92162" name="Picture 2" descr="http://padresteve.files.wordpress.com/2010/12/orientation-2.gif"/>
          <p:cNvPicPr>
            <a:picLocks noChangeAspect="1" noChangeArrowheads="1"/>
          </p:cNvPicPr>
          <p:nvPr/>
        </p:nvPicPr>
        <p:blipFill>
          <a:blip r:embed="rId2" cstate="print"/>
          <a:srcRect/>
          <a:stretch>
            <a:fillRect/>
          </a:stretch>
        </p:blipFill>
        <p:spPr bwMode="auto">
          <a:xfrm>
            <a:off x="685800" y="2057400"/>
            <a:ext cx="7543800" cy="4114800"/>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Skills and Knowledge: </a:t>
            </a:r>
            <a:r>
              <a:rPr lang="en-US" sz="6000" i="1" dirty="0"/>
              <a:t>Orientation</a:t>
            </a:r>
            <a:endParaRPr lang="en-US" dirty="0"/>
          </a:p>
        </p:txBody>
      </p:sp>
      <p:sp>
        <p:nvSpPr>
          <p:cNvPr id="3" name="Content Placeholder 2"/>
          <p:cNvSpPr>
            <a:spLocks noGrp="1"/>
          </p:cNvSpPr>
          <p:nvPr>
            <p:ph idx="1"/>
          </p:nvPr>
        </p:nvSpPr>
        <p:spPr>
          <a:xfrm>
            <a:off x="457200" y="1828800"/>
            <a:ext cx="8229600" cy="4495800"/>
          </a:xfrm>
        </p:spPr>
        <p:txBody>
          <a:bodyPr>
            <a:normAutofit fontScale="92500" lnSpcReduction="10000"/>
          </a:bodyPr>
          <a:lstStyle/>
          <a:p>
            <a:pPr hangingPunct="0"/>
            <a:r>
              <a:rPr lang="en-US" dirty="0"/>
              <a:t>Major objectives of orientation include the following:</a:t>
            </a:r>
          </a:p>
          <a:p>
            <a:pPr lvl="1" hangingPunct="0"/>
            <a:r>
              <a:rPr lang="en-US" dirty="0"/>
              <a:t>To reduce initial anxiety,</a:t>
            </a:r>
          </a:p>
          <a:p>
            <a:pPr lvl="1" hangingPunct="0"/>
            <a:r>
              <a:rPr lang="en-US" dirty="0"/>
              <a:t>To familiarise new employees with the job, the work unit, and the organization,</a:t>
            </a:r>
          </a:p>
          <a:p>
            <a:pPr lvl="1" hangingPunct="0"/>
            <a:r>
              <a:rPr lang="en-US" dirty="0"/>
              <a:t>To facilitate the outsider-insider transition.</a:t>
            </a:r>
          </a:p>
          <a:p>
            <a:pPr lvl="1" hangingPunct="0"/>
            <a:endParaRPr lang="en-US" dirty="0"/>
          </a:p>
          <a:p>
            <a:pPr hangingPunct="0"/>
            <a:r>
              <a:rPr lang="en-US" i="1" dirty="0"/>
              <a:t>Formal</a:t>
            </a:r>
            <a:r>
              <a:rPr lang="en-US" dirty="0"/>
              <a:t> orientation programs are prevalent in many organisations, particularly in large ones. </a:t>
            </a:r>
          </a:p>
          <a:p>
            <a:pPr hangingPunct="0"/>
            <a:endParaRPr lang="en-US" dirty="0"/>
          </a:p>
          <a:p>
            <a:pPr hangingPunct="0"/>
            <a:r>
              <a:rPr lang="en-US" dirty="0"/>
              <a:t>Managers have an obligation to new employees to ensure that their integration into the organisation is as smooth and as comfortable as possible.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86</a:t>
            </a:fld>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GB" dirty="0"/>
              <a:t>Orientation </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87</a:t>
            </a:fld>
            <a:endParaRPr lang="en-US" dirty="0"/>
          </a:p>
        </p:txBody>
      </p:sp>
      <p:pic>
        <p:nvPicPr>
          <p:cNvPr id="5" name="Picture 2" descr="http://www.cartoonstock.com/newscartoons/cartoonists/for/lowres/forn2866l.jpg"/>
          <p:cNvPicPr>
            <a:picLocks noChangeAspect="1" noChangeArrowheads="1"/>
          </p:cNvPicPr>
          <p:nvPr/>
        </p:nvPicPr>
        <p:blipFill>
          <a:blip r:embed="rId2" cstate="print"/>
          <a:srcRect/>
          <a:stretch>
            <a:fillRect/>
          </a:stretch>
        </p:blipFill>
        <p:spPr bwMode="auto">
          <a:xfrm>
            <a:off x="1600200" y="1676400"/>
            <a:ext cx="5943600" cy="4562476"/>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normAutofit/>
          </a:bodyPr>
          <a:lstStyle/>
          <a:p>
            <a:r>
              <a:rPr lang="en-US" sz="4000" dirty="0"/>
              <a:t>Skills and Knowledge: </a:t>
            </a:r>
            <a:r>
              <a:rPr lang="en-US" sz="5400" i="1" dirty="0"/>
              <a:t>Training</a:t>
            </a:r>
            <a:endParaRPr lang="en-US" dirty="0"/>
          </a:p>
        </p:txBody>
      </p:sp>
      <p:sp>
        <p:nvSpPr>
          <p:cNvPr id="3" name="Content Placeholder 2"/>
          <p:cNvSpPr>
            <a:spLocks noGrp="1"/>
          </p:cNvSpPr>
          <p:nvPr>
            <p:ph idx="1"/>
          </p:nvPr>
        </p:nvSpPr>
        <p:spPr>
          <a:xfrm>
            <a:off x="457200" y="1752600"/>
            <a:ext cx="8229600" cy="4572000"/>
          </a:xfrm>
        </p:spPr>
        <p:txBody>
          <a:bodyPr>
            <a:normAutofit fontScale="85000" lnSpcReduction="20000"/>
          </a:bodyPr>
          <a:lstStyle/>
          <a:p>
            <a:pPr marL="342900" indent="-342900" eaLnBrk="0" hangingPunct="0">
              <a:buFont typeface="Arial" charset="0"/>
              <a:buChar char="•"/>
            </a:pPr>
            <a:r>
              <a:rPr lang="en-US" dirty="0"/>
              <a:t>Employee Training is a critical element of the HRM activity. </a:t>
            </a:r>
          </a:p>
          <a:p>
            <a:pPr marL="708660" lvl="1" indent="-342900" eaLnBrk="0" hangingPunct="0">
              <a:buFont typeface="Arial" charset="0"/>
              <a:buChar char="•"/>
            </a:pPr>
            <a:r>
              <a:rPr lang="en-GB" dirty="0"/>
              <a:t>Approximately ¾ of airline crashes are a result of  human error (pilot error, air traffic controller error or inadequate maintenance),</a:t>
            </a:r>
          </a:p>
          <a:p>
            <a:pPr marL="708660" lvl="1" indent="-342900" eaLnBrk="0" hangingPunct="0">
              <a:buFont typeface="Arial" charset="0"/>
              <a:buChar char="•"/>
            </a:pPr>
            <a:r>
              <a:rPr lang="en-GB" dirty="0"/>
              <a:t>Most of this could have been avoided with adequate training.</a:t>
            </a:r>
          </a:p>
          <a:p>
            <a:pPr marL="708660" lvl="1" indent="-342900" eaLnBrk="0" hangingPunct="0">
              <a:buFont typeface="Arial" charset="0"/>
              <a:buChar char="•"/>
            </a:pPr>
            <a:r>
              <a:rPr lang="en-GB" dirty="0"/>
              <a:t>The remarkable 2009 landing on the Hudson river in New York, of the aircraft by Pilot Sullenberger, he attributes to intensive and extensive training. </a:t>
            </a:r>
            <a:endParaRPr lang="en-US" dirty="0"/>
          </a:p>
          <a:p>
            <a:endParaRPr lang="en-US" dirty="0">
              <a:cs typeface="Arial" charset="0"/>
            </a:endParaRPr>
          </a:p>
          <a:p>
            <a:r>
              <a:rPr lang="en-US" dirty="0">
                <a:cs typeface="Arial" charset="0"/>
              </a:rPr>
              <a:t>As job demands change, employee skills have to change.</a:t>
            </a:r>
          </a:p>
          <a:p>
            <a:pPr lvl="1"/>
            <a:r>
              <a:rPr lang="en-US" dirty="0">
                <a:cs typeface="Arial" charset="0"/>
              </a:rPr>
              <a:t>In 2021, U.S. business firms spent more than $92 billion on formal employee training. </a:t>
            </a:r>
          </a:p>
          <a:p>
            <a:pPr lvl="1"/>
            <a:endParaRPr lang="en-US" dirty="0">
              <a:cs typeface="Arial" charset="0"/>
            </a:endParaRPr>
          </a:p>
          <a:p>
            <a:r>
              <a:rPr lang="en-US" dirty="0">
                <a:cs typeface="Arial" charset="0"/>
              </a:rPr>
              <a:t>Managers, are responsible for deciding what type of training employees need, when they need it, and what form that training should take.</a:t>
            </a:r>
          </a:p>
          <a:p>
            <a:endParaRPr lang="en-IE"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88</a:t>
            </a:fld>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89</a:t>
            </a:fld>
            <a:endParaRPr lang="en-US" dirty="0"/>
          </a:p>
        </p:txBody>
      </p:sp>
      <p:pic>
        <p:nvPicPr>
          <p:cNvPr id="156674" name="Picture 2" descr="http://lowres.jantoo.com/business-human_resources-personnel_training-strategy-plan-training-01436900_low.jpg"/>
          <p:cNvPicPr>
            <a:picLocks noChangeAspect="1" noChangeArrowheads="1"/>
          </p:cNvPicPr>
          <p:nvPr/>
        </p:nvPicPr>
        <p:blipFill>
          <a:blip r:embed="rId2" cstate="print"/>
          <a:srcRect/>
          <a:stretch>
            <a:fillRect/>
          </a:stretch>
        </p:blipFill>
        <p:spPr bwMode="auto">
          <a:xfrm>
            <a:off x="533400" y="914400"/>
            <a:ext cx="7772400" cy="5638800"/>
          </a:xfrm>
          <a:prstGeom prst="rect">
            <a:avLst/>
          </a:prstGeo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Skills and Knowledge: </a:t>
            </a:r>
            <a:r>
              <a:rPr lang="en-US" sz="6000" i="1" dirty="0"/>
              <a:t>Training</a:t>
            </a:r>
            <a:endParaRPr lang="en-US" dirty="0"/>
          </a:p>
        </p:txBody>
      </p:sp>
      <p:sp>
        <p:nvSpPr>
          <p:cNvPr id="3" name="Content Placeholder 2"/>
          <p:cNvSpPr>
            <a:spLocks noGrp="1"/>
          </p:cNvSpPr>
          <p:nvPr>
            <p:ph idx="1"/>
          </p:nvPr>
        </p:nvSpPr>
        <p:spPr>
          <a:xfrm>
            <a:off x="457200" y="1981200"/>
            <a:ext cx="8229600" cy="4572000"/>
          </a:xfrm>
        </p:spPr>
        <p:txBody>
          <a:bodyPr>
            <a:normAutofit/>
          </a:bodyPr>
          <a:lstStyle/>
          <a:p>
            <a:pPr hangingPunct="0"/>
            <a:r>
              <a:rPr lang="en-US" sz="2400" dirty="0"/>
              <a:t>Types of training include general and specific.  </a:t>
            </a:r>
          </a:p>
          <a:p>
            <a:pPr hangingPunct="0"/>
            <a:endParaRPr lang="en-GB" sz="1800" dirty="0"/>
          </a:p>
          <a:p>
            <a:r>
              <a:rPr lang="en-US" sz="2400" dirty="0">
                <a:cs typeface="Arial" charset="0"/>
              </a:rPr>
              <a:t>Some of the most popular types include;</a:t>
            </a:r>
          </a:p>
          <a:p>
            <a:pPr lvl="1"/>
            <a:r>
              <a:rPr lang="en-US" dirty="0">
                <a:cs typeface="Arial" charset="0"/>
              </a:rPr>
              <a:t>profession/industry- specific training, </a:t>
            </a:r>
          </a:p>
          <a:p>
            <a:pPr lvl="1"/>
            <a:r>
              <a:rPr lang="en-US" dirty="0">
                <a:cs typeface="Arial" charset="0"/>
              </a:rPr>
              <a:t>management/supervisory skills, </a:t>
            </a:r>
          </a:p>
          <a:p>
            <a:pPr lvl="1"/>
            <a:r>
              <a:rPr lang="en-US" dirty="0">
                <a:cs typeface="Arial" charset="0"/>
              </a:rPr>
              <a:t>mandatory/compliance information (such as sexual harassment, safety, etc.), </a:t>
            </a:r>
          </a:p>
          <a:p>
            <a:pPr lvl="1"/>
            <a:r>
              <a:rPr lang="en-US" dirty="0">
                <a:cs typeface="Arial" charset="0"/>
              </a:rPr>
              <a:t>and customer service training.</a:t>
            </a:r>
            <a:endParaRPr lang="en-IE" dirty="0"/>
          </a:p>
          <a:p>
            <a:pPr hangingPunct="0"/>
            <a:endParaRPr lang="en-US" sz="2400" dirty="0"/>
          </a:p>
          <a:p>
            <a:pPr hangingPunct="0"/>
            <a:r>
              <a:rPr lang="en-US" sz="1800" dirty="0"/>
              <a:t>Next slide describes the  general &amp; specific types of training that organisations provide.</a:t>
            </a:r>
          </a:p>
          <a:p>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90</a:t>
            </a:fld>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91</a:t>
            </a:fld>
            <a:endParaRPr lang="en-US" dirty="0"/>
          </a:p>
        </p:txBody>
      </p:sp>
      <p:pic>
        <p:nvPicPr>
          <p:cNvPr id="167940" name="Picture 4" descr="http://spudcomics.com/comics/2009-12-17-office.png"/>
          <p:cNvPicPr>
            <a:picLocks noChangeAspect="1" noChangeArrowheads="1"/>
          </p:cNvPicPr>
          <p:nvPr/>
        </p:nvPicPr>
        <p:blipFill>
          <a:blip r:embed="rId2" cstate="print"/>
          <a:srcRect/>
          <a:stretch>
            <a:fillRect/>
          </a:stretch>
        </p:blipFill>
        <p:spPr bwMode="auto">
          <a:xfrm>
            <a:off x="762000" y="420486"/>
            <a:ext cx="7315200" cy="5895976"/>
          </a:xfrm>
          <a:prstGeom prst="rect">
            <a:avLst/>
          </a:prstGeom>
          <a:noFill/>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066800"/>
          </a:xfrm>
        </p:spPr>
        <p:txBody>
          <a:bodyPr>
            <a:normAutofit/>
          </a:bodyPr>
          <a:lstStyle/>
          <a:p>
            <a:r>
              <a:rPr lang="en-US" dirty="0"/>
              <a:t>General &amp; Specific Training</a:t>
            </a:r>
            <a:br>
              <a:rPr lang="en-US" dirty="0"/>
            </a:br>
            <a:r>
              <a:rPr lang="en-US" sz="1800" dirty="0"/>
              <a:t> </a:t>
            </a:r>
            <a:endParaRPr lang="en-IE" dirty="0"/>
          </a:p>
        </p:txBody>
      </p:sp>
      <p:sp>
        <p:nvSpPr>
          <p:cNvPr id="3" name="Content Placeholder 2"/>
          <p:cNvSpPr>
            <a:spLocks noGrp="1"/>
          </p:cNvSpPr>
          <p:nvPr>
            <p:ph idx="1"/>
          </p:nvPr>
        </p:nvSpPr>
        <p:spPr>
          <a:xfrm>
            <a:off x="457200" y="1981200"/>
            <a:ext cx="8229600" cy="4343400"/>
          </a:xfrm>
        </p:spPr>
        <p:txBody>
          <a:bodyPr>
            <a:normAutofit/>
          </a:bodyPr>
          <a:lstStyle/>
          <a:p>
            <a:endParaRPr lang="en-IE" sz="1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92</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838200" y="1828800"/>
            <a:ext cx="7620000" cy="4495800"/>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93</a:t>
            </a:fld>
            <a:endParaRPr lang="en-US" dirty="0"/>
          </a:p>
        </p:txBody>
      </p:sp>
      <p:pic>
        <p:nvPicPr>
          <p:cNvPr id="166914" name="Picture 2" descr="http://live.surveyshack.com/Portals/16480/images/EmployeeTraining.gif"/>
          <p:cNvPicPr>
            <a:picLocks noChangeAspect="1" noChangeArrowheads="1"/>
          </p:cNvPicPr>
          <p:nvPr/>
        </p:nvPicPr>
        <p:blipFill>
          <a:blip r:embed="rId2" cstate="print"/>
          <a:srcRect/>
          <a:stretch>
            <a:fillRect/>
          </a:stretch>
        </p:blipFill>
        <p:spPr bwMode="auto">
          <a:xfrm>
            <a:off x="1066800" y="838200"/>
            <a:ext cx="6934200" cy="5315527"/>
          </a:xfrm>
          <a:prstGeom prst="rect">
            <a:avLst/>
          </a:prstGeom>
          <a:noFill/>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Skills and Knowledge: </a:t>
            </a:r>
            <a:r>
              <a:rPr lang="en-US" sz="6000" i="1" dirty="0"/>
              <a:t>Training</a:t>
            </a:r>
            <a:endParaRPr lang="en-US" dirty="0"/>
          </a:p>
        </p:txBody>
      </p:sp>
      <p:sp>
        <p:nvSpPr>
          <p:cNvPr id="3" name="Content Placeholder 2"/>
          <p:cNvSpPr>
            <a:spLocks noGrp="1"/>
          </p:cNvSpPr>
          <p:nvPr>
            <p:ph idx="1"/>
          </p:nvPr>
        </p:nvSpPr>
        <p:spPr>
          <a:xfrm>
            <a:off x="457200" y="1828800"/>
            <a:ext cx="8229600" cy="4876800"/>
          </a:xfrm>
        </p:spPr>
        <p:txBody>
          <a:bodyPr>
            <a:normAutofit fontScale="92500" lnSpcReduction="10000"/>
          </a:bodyPr>
          <a:lstStyle/>
          <a:p>
            <a:r>
              <a:rPr lang="en-US" sz="3000" b="1" i="1" dirty="0"/>
              <a:t>Traditional Training methods</a:t>
            </a:r>
            <a:r>
              <a:rPr lang="en-US" sz="3000" b="1" dirty="0"/>
              <a:t>  </a:t>
            </a:r>
          </a:p>
          <a:p>
            <a:endParaRPr lang="en-US" sz="1700" i="1" dirty="0"/>
          </a:p>
          <a:p>
            <a:r>
              <a:rPr lang="en-US" i="1" dirty="0"/>
              <a:t>On-the-job training;</a:t>
            </a:r>
          </a:p>
          <a:p>
            <a:pPr lvl="1"/>
            <a:r>
              <a:rPr lang="en-US" sz="2600" dirty="0"/>
              <a:t> is very common, and it may involve job rotation.</a:t>
            </a:r>
          </a:p>
          <a:p>
            <a:endParaRPr lang="en-US" dirty="0"/>
          </a:p>
          <a:p>
            <a:r>
              <a:rPr lang="en-US" dirty="0"/>
              <a:t> </a:t>
            </a:r>
            <a:r>
              <a:rPr lang="en-US" i="1" dirty="0"/>
              <a:t>Job rotation;</a:t>
            </a:r>
          </a:p>
          <a:p>
            <a:pPr lvl="1"/>
            <a:r>
              <a:rPr lang="en-US" dirty="0"/>
              <a:t> </a:t>
            </a:r>
            <a:r>
              <a:rPr lang="en-US" sz="2600" dirty="0"/>
              <a:t>is on-the-job training that involves lateral transfers to enable employees who work on the same level of the organisation to work in different jobs. </a:t>
            </a:r>
            <a:endParaRPr lang="en-US" dirty="0"/>
          </a:p>
          <a:p>
            <a:endParaRPr lang="en-US" dirty="0"/>
          </a:p>
          <a:p>
            <a:r>
              <a:rPr lang="en-US" dirty="0"/>
              <a:t>On-the-job training can also involve mentoring, coaching, experiential exercises, and classroom training.</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94</a:t>
            </a:fld>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normAutofit/>
          </a:bodyPr>
          <a:lstStyle/>
          <a:p>
            <a:r>
              <a:rPr lang="en-US" dirty="0"/>
              <a:t>Traditional Training Methods</a:t>
            </a:r>
            <a:endParaRPr lang="en-IE" dirty="0"/>
          </a:p>
        </p:txBody>
      </p:sp>
      <p:sp>
        <p:nvSpPr>
          <p:cNvPr id="3" name="Content Placeholder 2"/>
          <p:cNvSpPr>
            <a:spLocks noGrp="1"/>
          </p:cNvSpPr>
          <p:nvPr>
            <p:ph idx="1"/>
          </p:nvPr>
        </p:nvSpPr>
        <p:spPr>
          <a:xfrm>
            <a:off x="457200" y="1447800"/>
            <a:ext cx="8229600" cy="4876800"/>
          </a:xfrm>
        </p:spPr>
        <p:txBody>
          <a:bodyPr>
            <a:normAutofit/>
          </a:bodyPr>
          <a:lstStyle/>
          <a:p>
            <a:endParaRPr lang="en-US" sz="1600" dirty="0">
              <a:cs typeface="Arial" charset="0"/>
            </a:endParaRPr>
          </a:p>
          <a:p>
            <a:endParaRPr lang="en-IE" sz="16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95</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990600" y="1638300"/>
            <a:ext cx="7315200" cy="4718050"/>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a:t>Training Methods</a:t>
            </a:r>
            <a:endParaRPr lang="en-US" sz="36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96</a:t>
            </a:fld>
            <a:endParaRPr lang="en-US" dirty="0"/>
          </a:p>
        </p:txBody>
      </p:sp>
      <p:pic>
        <p:nvPicPr>
          <p:cNvPr id="90114" name="Picture 2" descr="http://api.ning.com/files/FDLjAyfRjfp2eQsx*wH9oXI34C9CkLSSXsjvXsUT-yp5m5TZSjERPJs*vDMvu8F3aaaq7tgaZh5XmPsTO6mKjyBYOveklGfK/FunnySalesCartoonTrainingILTNewProductClassroomJokeHumor.gif"/>
          <p:cNvPicPr>
            <a:picLocks noChangeAspect="1" noChangeArrowheads="1"/>
          </p:cNvPicPr>
          <p:nvPr/>
        </p:nvPicPr>
        <p:blipFill>
          <a:blip r:embed="rId2" cstate="print"/>
          <a:srcRect/>
          <a:stretch>
            <a:fillRect/>
          </a:stretch>
        </p:blipFill>
        <p:spPr bwMode="auto">
          <a:xfrm>
            <a:off x="533400" y="1981200"/>
            <a:ext cx="7696200" cy="4191001"/>
          </a:xfrm>
          <a:prstGeom prst="rect">
            <a:avLst/>
          </a:prstGeom>
          <a:noFill/>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Skills and Knowledge: </a:t>
            </a:r>
            <a:r>
              <a:rPr lang="en-US" sz="6000" i="1" dirty="0"/>
              <a:t>Training</a:t>
            </a:r>
            <a:endParaRPr lang="en-US" dirty="0"/>
          </a:p>
        </p:txBody>
      </p:sp>
      <p:sp>
        <p:nvSpPr>
          <p:cNvPr id="3" name="Content Placeholder 2"/>
          <p:cNvSpPr>
            <a:spLocks noGrp="1"/>
          </p:cNvSpPr>
          <p:nvPr>
            <p:ph idx="1"/>
          </p:nvPr>
        </p:nvSpPr>
        <p:spPr/>
        <p:txBody>
          <a:bodyPr>
            <a:normAutofit/>
          </a:bodyPr>
          <a:lstStyle/>
          <a:p>
            <a:r>
              <a:rPr lang="en-US" sz="2800" b="1" i="1" dirty="0"/>
              <a:t>Technology-driven training methods</a:t>
            </a:r>
            <a:endParaRPr lang="en-US" sz="2800" b="1" dirty="0"/>
          </a:p>
          <a:p>
            <a:endParaRPr lang="en-US" sz="2400" dirty="0"/>
          </a:p>
          <a:p>
            <a:r>
              <a:rPr lang="en-US" sz="2400" dirty="0"/>
              <a:t>Today’s organisations are increasingly relying on technology-based training, </a:t>
            </a:r>
          </a:p>
          <a:p>
            <a:pPr lvl="1"/>
            <a:r>
              <a:rPr lang="en-US" sz="2200" dirty="0"/>
              <a:t>including e-learning applications to communicate important information and to train employees.</a:t>
            </a:r>
          </a:p>
          <a:p>
            <a:endParaRPr lang="en-US" sz="2400" dirty="0">
              <a:cs typeface="Arial" charset="0"/>
            </a:endParaRPr>
          </a:p>
          <a:p>
            <a:r>
              <a:rPr lang="en-US" sz="2400" dirty="0">
                <a:cs typeface="Arial" charset="0"/>
              </a:rPr>
              <a:t>Of all these training methods, experts believe that organisations will increasingly use e-learning and mobile applications to develop employees’ skills.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97</a:t>
            </a:fld>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98</a:t>
            </a:fld>
            <a:endParaRPr lang="en-US" dirty="0"/>
          </a:p>
        </p:txBody>
      </p:sp>
      <p:pic>
        <p:nvPicPr>
          <p:cNvPr id="171010" name="Picture 2" descr="http://blog.nus.edu.sg/audreyc/files/2014/03/new-employee-trg456.jpg"/>
          <p:cNvPicPr>
            <a:picLocks noChangeAspect="1" noChangeArrowheads="1"/>
          </p:cNvPicPr>
          <p:nvPr/>
        </p:nvPicPr>
        <p:blipFill>
          <a:blip r:embed="rId2" cstate="print"/>
          <a:srcRect/>
          <a:stretch>
            <a:fillRect/>
          </a:stretch>
        </p:blipFill>
        <p:spPr bwMode="auto">
          <a:xfrm>
            <a:off x="990600" y="1295400"/>
            <a:ext cx="6934200" cy="4724400"/>
          </a:xfrm>
          <a:prstGeom prst="rect">
            <a:avLst/>
          </a:prstGeom>
          <a:noFill/>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Technology Driven Training Methods </a:t>
            </a:r>
            <a:br>
              <a:rPr lang="en-US" dirty="0"/>
            </a:br>
            <a:endParaRPr lang="en-IE" sz="2000"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99</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838200" y="2057400"/>
            <a:ext cx="7372350" cy="4467225"/>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457200"/>
          </a:xfrm>
        </p:spPr>
        <p:txBody>
          <a:bodyPr>
            <a:normAutofit fontScale="90000"/>
          </a:bodyPr>
          <a:lstStyle/>
          <a:p>
            <a:r>
              <a:rPr lang="en-GB" dirty="0"/>
              <a:t>Training Methods</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100</a:t>
            </a:fld>
            <a:endParaRPr lang="en-US" dirty="0"/>
          </a:p>
        </p:txBody>
      </p:sp>
      <p:pic>
        <p:nvPicPr>
          <p:cNvPr id="89090" name="Picture 2" descr="http://www.cartoonstock.com/newscartoons/cartoonists/ato/lowres/aton3855l.jpg"/>
          <p:cNvPicPr>
            <a:picLocks noChangeAspect="1" noChangeArrowheads="1"/>
          </p:cNvPicPr>
          <p:nvPr/>
        </p:nvPicPr>
        <p:blipFill>
          <a:blip r:embed="rId2" cstate="print"/>
          <a:srcRect/>
          <a:stretch>
            <a:fillRect/>
          </a:stretch>
        </p:blipFill>
        <p:spPr bwMode="auto">
          <a:xfrm>
            <a:off x="990600" y="1219200"/>
            <a:ext cx="7010400" cy="4733544"/>
          </a:xfrm>
          <a:prstGeom prst="rect">
            <a:avLst/>
          </a:prstGeom>
          <a:noFill/>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101</a:t>
            </a:fld>
            <a:endParaRPr lang="en-US" dirty="0"/>
          </a:p>
        </p:txBody>
      </p:sp>
      <p:pic>
        <p:nvPicPr>
          <p:cNvPr id="168962" name="Picture 2" descr="http://www.orea.com/~/media/Images/Leadership/Misc/No-More-On-The-Job-Training.jpg"/>
          <p:cNvPicPr>
            <a:picLocks noChangeAspect="1" noChangeArrowheads="1"/>
          </p:cNvPicPr>
          <p:nvPr/>
        </p:nvPicPr>
        <p:blipFill>
          <a:blip r:embed="rId2" cstate="print"/>
          <a:srcRect/>
          <a:stretch>
            <a:fillRect/>
          </a:stretch>
        </p:blipFill>
        <p:spPr bwMode="auto">
          <a:xfrm>
            <a:off x="609600" y="990600"/>
            <a:ext cx="8001000" cy="5257800"/>
          </a:xfrm>
          <a:prstGeom prst="rect">
            <a:avLst/>
          </a:prstGeom>
          <a:noFill/>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200912"/>
          </a:xfrm>
        </p:spPr>
        <p:txBody>
          <a:bodyPr>
            <a:noAutofit/>
          </a:bodyPr>
          <a:lstStyle/>
          <a:p>
            <a:r>
              <a:rPr lang="en-GB" dirty="0"/>
              <a:t>Retaining Competent, High Performing Employees</a:t>
            </a:r>
            <a:endParaRPr lang="en-US" dirty="0"/>
          </a:p>
        </p:txBody>
      </p:sp>
      <p:sp>
        <p:nvSpPr>
          <p:cNvPr id="3" name="Content Placeholder 2"/>
          <p:cNvSpPr>
            <a:spLocks noGrp="1"/>
          </p:cNvSpPr>
          <p:nvPr>
            <p:ph idx="1"/>
          </p:nvPr>
        </p:nvSpPr>
        <p:spPr>
          <a:xfrm>
            <a:off x="457200" y="2286000"/>
            <a:ext cx="8229600" cy="4267200"/>
          </a:xfrm>
        </p:spPr>
        <p:txBody>
          <a:bodyPr>
            <a:normAutofit/>
          </a:bodyPr>
          <a:lstStyle/>
          <a:p>
            <a:r>
              <a:rPr lang="en-US" dirty="0"/>
              <a:t>Managers need to know whether their employees are performing their jobs efficiently and effectively and when improvement is needed. 	</a:t>
            </a:r>
          </a:p>
          <a:p>
            <a:endParaRPr lang="en-GB" dirty="0"/>
          </a:p>
          <a:p>
            <a:r>
              <a:rPr lang="en-GB" dirty="0"/>
              <a:t>Additionally, organisations must </a:t>
            </a:r>
            <a:r>
              <a:rPr lang="en-GB" i="1" dirty="0"/>
              <a:t>retain</a:t>
            </a:r>
            <a:r>
              <a:rPr lang="en-GB" dirty="0"/>
              <a:t> their best staff, they have various methods to attempt to achieve this with by use of; </a:t>
            </a:r>
          </a:p>
          <a:p>
            <a:pPr lvl="1"/>
            <a:r>
              <a:rPr lang="en-GB" dirty="0"/>
              <a:t>1.  ‘</a:t>
            </a:r>
            <a:r>
              <a:rPr lang="en-US" b="1" dirty="0"/>
              <a:t>Employee Performance Management</a:t>
            </a:r>
            <a:r>
              <a:rPr lang="en-US" dirty="0"/>
              <a:t> methods,</a:t>
            </a:r>
          </a:p>
          <a:p>
            <a:pPr lvl="1"/>
            <a:r>
              <a:rPr lang="en-GB" dirty="0"/>
              <a:t>2. </a:t>
            </a:r>
            <a:r>
              <a:rPr lang="en-GB" b="1" dirty="0"/>
              <a:t>Compensation and benefits</a:t>
            </a:r>
            <a:endParaRPr lang="en-US" b="1"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102</a:t>
            </a:fld>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103</a:t>
            </a:fld>
            <a:endParaRPr lang="en-US" dirty="0"/>
          </a:p>
        </p:txBody>
      </p:sp>
      <p:pic>
        <p:nvPicPr>
          <p:cNvPr id="175106" name="Picture 2" descr="http://www.edvoices.com/wp-content/uploads/2010/10/Cartoon.jpg"/>
          <p:cNvPicPr>
            <a:picLocks noChangeAspect="1" noChangeArrowheads="1"/>
          </p:cNvPicPr>
          <p:nvPr/>
        </p:nvPicPr>
        <p:blipFill>
          <a:blip r:embed="rId2" cstate="print"/>
          <a:srcRect/>
          <a:stretch>
            <a:fillRect/>
          </a:stretch>
        </p:blipFill>
        <p:spPr bwMode="auto">
          <a:xfrm>
            <a:off x="533400" y="457200"/>
            <a:ext cx="8041036" cy="5943600"/>
          </a:xfrm>
          <a:prstGeom prst="rect">
            <a:avLst/>
          </a:prstGeom>
          <a:noFill/>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24712"/>
          </a:xfrm>
        </p:spPr>
        <p:txBody>
          <a:bodyPr>
            <a:noAutofit/>
          </a:bodyPr>
          <a:lstStyle/>
          <a:p>
            <a:r>
              <a:rPr lang="en-US" sz="4000" dirty="0"/>
              <a:t>Retaining Employees: </a:t>
            </a:r>
            <a:br>
              <a:rPr lang="en-US" sz="4000" dirty="0"/>
            </a:br>
            <a:r>
              <a:rPr lang="en-US" dirty="0"/>
              <a:t>Performance Management System</a:t>
            </a:r>
            <a:endParaRPr lang="en-IE" dirty="0"/>
          </a:p>
        </p:txBody>
      </p:sp>
      <p:sp>
        <p:nvSpPr>
          <p:cNvPr id="3" name="Content Placeholder 2"/>
          <p:cNvSpPr>
            <a:spLocks noGrp="1"/>
          </p:cNvSpPr>
          <p:nvPr>
            <p:ph idx="1"/>
          </p:nvPr>
        </p:nvSpPr>
        <p:spPr>
          <a:xfrm>
            <a:off x="457200" y="2133600"/>
            <a:ext cx="8229600" cy="4419600"/>
          </a:xfrm>
        </p:spPr>
        <p:txBody>
          <a:bodyPr>
            <a:normAutofit fontScale="92500" lnSpcReduction="20000"/>
          </a:bodyPr>
          <a:lstStyle/>
          <a:p>
            <a:pPr marL="342900" indent="-342900" eaLnBrk="0" hangingPunct="0">
              <a:buFont typeface="Arial" charset="0"/>
              <a:buChar char="•"/>
            </a:pPr>
            <a:r>
              <a:rPr lang="en-US" dirty="0"/>
              <a:t>A </a:t>
            </a:r>
            <a:r>
              <a:rPr lang="en-US" b="1" dirty="0"/>
              <a:t>performance management system</a:t>
            </a:r>
            <a:r>
              <a:rPr lang="en-US" dirty="0"/>
              <a:t> establishes performance standards that are used to evaluate employee performance.</a:t>
            </a:r>
          </a:p>
          <a:p>
            <a:pPr marL="342900" indent="-342900" eaLnBrk="0" hangingPunct="0">
              <a:buFont typeface="Arial" charset="0"/>
              <a:buChar char="•"/>
            </a:pPr>
            <a:endParaRPr lang="en-GB" b="1" dirty="0">
              <a:cs typeface="Arial" charset="0"/>
            </a:endParaRPr>
          </a:p>
          <a:p>
            <a:pPr marL="342900" indent="-342900" eaLnBrk="0" hangingPunct="0">
              <a:buFont typeface="Arial" charset="0"/>
              <a:buChar char="•"/>
            </a:pPr>
            <a:r>
              <a:rPr lang="en-GB" b="1" dirty="0">
                <a:cs typeface="Arial" charset="0"/>
              </a:rPr>
              <a:t>Performance appraisal method;</a:t>
            </a:r>
          </a:p>
          <a:p>
            <a:pPr marL="708660" lvl="1" indent="-342900" eaLnBrk="0" hangingPunct="0">
              <a:buFont typeface="Arial" charset="0"/>
              <a:buChar char="•"/>
            </a:pPr>
            <a:r>
              <a:rPr lang="en-GB" dirty="0">
                <a:cs typeface="Arial" charset="0"/>
              </a:rPr>
              <a:t>70% of managers admit they have trouble giving critical performance reviews to an underachieving employee.</a:t>
            </a:r>
          </a:p>
          <a:p>
            <a:pPr marL="982980" lvl="2" indent="-342900" eaLnBrk="0" hangingPunct="0">
              <a:buFont typeface="Arial" charset="0"/>
              <a:buChar char="•"/>
            </a:pPr>
            <a:r>
              <a:rPr lang="en-GB" sz="2400" dirty="0">
                <a:cs typeface="Arial" charset="0"/>
              </a:rPr>
              <a:t>It is particularly difficult when managers &amp; employee both feel they are not beneficial.</a:t>
            </a:r>
          </a:p>
          <a:p>
            <a:pPr marL="342900" indent="-342900" eaLnBrk="0" hangingPunct="0">
              <a:buFont typeface="Arial" charset="0"/>
              <a:buChar char="•"/>
            </a:pPr>
            <a:endParaRPr lang="en-GB" dirty="0">
              <a:cs typeface="Arial" charset="0"/>
            </a:endParaRPr>
          </a:p>
          <a:p>
            <a:pPr marL="342900" indent="-342900" eaLnBrk="0" hangingPunct="0">
              <a:buFont typeface="Arial" charset="0"/>
              <a:buChar char="•"/>
            </a:pPr>
            <a:r>
              <a:rPr lang="en-GB" dirty="0"/>
              <a:t>It can be made a little easier if managers use any of the Seven different performance appraisal methods, detailed on next slides.</a:t>
            </a:r>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104</a:t>
            </a:fld>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fontScale="90000"/>
          </a:bodyPr>
          <a:lstStyle/>
          <a:p>
            <a:r>
              <a:rPr lang="en-GB" dirty="0"/>
              <a:t>Performance Appraisal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105</a:t>
            </a:fld>
            <a:endParaRPr lang="en-US" dirty="0"/>
          </a:p>
        </p:txBody>
      </p:sp>
      <p:pic>
        <p:nvPicPr>
          <p:cNvPr id="88066" name="Picture 2" descr="https://encrypted-tbn1.gstatic.com/images?q=tbn:ANd9GcT9PcrxxnGRp-xmkcNiKOrKoeyR_UHsETFu2zstfakT0KQUO9Kl"/>
          <p:cNvPicPr>
            <a:picLocks noChangeAspect="1" noChangeArrowheads="1"/>
          </p:cNvPicPr>
          <p:nvPr/>
        </p:nvPicPr>
        <p:blipFill>
          <a:blip r:embed="rId2" cstate="print"/>
          <a:srcRect/>
          <a:stretch>
            <a:fillRect/>
          </a:stretch>
        </p:blipFill>
        <p:spPr bwMode="auto">
          <a:xfrm>
            <a:off x="1295400" y="1903730"/>
            <a:ext cx="6248400" cy="4268470"/>
          </a:xfrm>
          <a:prstGeom prst="rect">
            <a:avLst/>
          </a:prstGeom>
          <a:noFill/>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048512"/>
          </a:xfrm>
        </p:spPr>
        <p:txBody>
          <a:bodyPr>
            <a:normAutofit fontScale="90000"/>
          </a:bodyPr>
          <a:lstStyle/>
          <a:p>
            <a:br>
              <a:rPr lang="en-GB" dirty="0"/>
            </a:br>
            <a:r>
              <a:rPr lang="en-US" sz="4000" dirty="0"/>
              <a:t>Retaining Employees: </a:t>
            </a:r>
            <a:br>
              <a:rPr lang="en-US" dirty="0"/>
            </a:br>
            <a:r>
              <a:rPr lang="en-GB" sz="4900" dirty="0"/>
              <a:t>Performance Appraisal Methods</a:t>
            </a:r>
            <a:endParaRPr lang="en-US" dirty="0"/>
          </a:p>
        </p:txBody>
      </p:sp>
      <p:sp>
        <p:nvSpPr>
          <p:cNvPr id="3" name="Content Placeholder 2"/>
          <p:cNvSpPr>
            <a:spLocks noGrp="1"/>
          </p:cNvSpPr>
          <p:nvPr>
            <p:ph idx="1"/>
          </p:nvPr>
        </p:nvSpPr>
        <p:spPr>
          <a:xfrm>
            <a:off x="457200" y="1981200"/>
            <a:ext cx="8229600" cy="4495800"/>
          </a:xfrm>
        </p:spPr>
        <p:txBody>
          <a:bodyPr>
            <a:normAutofit lnSpcReduction="10000"/>
          </a:bodyPr>
          <a:lstStyle/>
          <a:p>
            <a:pPr lvl="0" hangingPunct="0"/>
            <a:r>
              <a:rPr lang="en-US" b="1" dirty="0"/>
              <a:t>1.</a:t>
            </a:r>
            <a:r>
              <a:rPr lang="en-US" dirty="0"/>
              <a:t> A </a:t>
            </a:r>
            <a:r>
              <a:rPr lang="en-US" b="1" dirty="0"/>
              <a:t>written essay</a:t>
            </a:r>
            <a:r>
              <a:rPr lang="en-US" dirty="0"/>
              <a:t> appraises performance through a written description of an employee’s strengths and weaknesses, past performance, and potential. </a:t>
            </a:r>
          </a:p>
          <a:p>
            <a:pPr lvl="0" hangingPunct="0"/>
            <a:endParaRPr lang="en-US" b="1" dirty="0"/>
          </a:p>
          <a:p>
            <a:pPr lvl="0" hangingPunct="0"/>
            <a:r>
              <a:rPr lang="en-US" b="1" dirty="0"/>
              <a:t>2. Critical incidents</a:t>
            </a:r>
            <a:r>
              <a:rPr lang="en-US" dirty="0"/>
              <a:t> are used to appraise performance by focusing on the critical job behaviors. </a:t>
            </a:r>
          </a:p>
          <a:p>
            <a:pPr lvl="1" hangingPunct="0"/>
            <a:endParaRPr lang="en-US" sz="1400" dirty="0"/>
          </a:p>
          <a:p>
            <a:pPr lvl="1" hangingPunct="0"/>
            <a:r>
              <a:rPr lang="en-US" dirty="0"/>
              <a:t>In this technique the appraiser writes anecdotes to describe what the employee did that was especially effective or ineffective. </a:t>
            </a:r>
          </a:p>
          <a:p>
            <a:pPr lvl="1" hangingPunct="0"/>
            <a:r>
              <a:rPr lang="en-US" dirty="0"/>
              <a:t>Only specific behaviors, rather than vaguely defined personality traits, are cited.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106</a:t>
            </a:fld>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362712"/>
          </a:xfrm>
        </p:spPr>
        <p:txBody>
          <a:bodyPr>
            <a:normAutofit fontScale="90000"/>
          </a:bodyPr>
          <a:lstStyle/>
          <a:p>
            <a:r>
              <a:rPr lang="en-GB" dirty="0"/>
              <a:t>Performance Appraisal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107</a:t>
            </a:fld>
            <a:endParaRPr lang="en-US" dirty="0"/>
          </a:p>
        </p:txBody>
      </p:sp>
      <p:sp>
        <p:nvSpPr>
          <p:cNvPr id="86018" name="AutoShape 2" descr="data:image/jpeg;base64,/9j/4AAQSkZJRgABAQAAAQABAAD/2wCEAAkGBhQSERQUEhQVFRQWGBwWFxcWGBgWGBsYGBgXGBwcFxcYHyYgFxojHBgYHy8gIycpLC0sGB4xNTIqNSYrLCkBCQoKBQUFDQUFDSkYEhgpKSkpKSkpKSkpKSkpKSkpKSkpKSkpKSkpKSkpKSkpKSkpKSkpKSkpKSkpKSkpKSkpKf/AABEIAMIBAwMBIgACEQEDEQH/xAAcAAACAgMBAQAAAAAAAAAAAAAABgQFAgMHAQj/xABQEAACAQMCAwQGBQcIBwYHAAABAgMABBESIQUGEyIxQVEUMmFxgZEHI0JSoSQzYnKSscEWQ2NzgqKywhUlNDVTo9EXZHSD0vBERZOks7Ti/8QAFAEBAAAAAAAAAAAAAAAAAAAAAP/EABQRAQAAAAAAAAAAAAAAAAAAAAD/2gAMAwEAAhEDEQA/AOn/AJSeI/zohC7bp0SunfI9Yya/kF8u+FJfcSX+aDdrVtoA0AHIPeWOWXABGTGdwM5b6KBR4RxLiDGISwSYZvrGKwIUGru0dU5BBG4LEAONzpNZzcQvw8qiE6Cx6bDSWCs6qhxsuBpYsDlgJFPgRTXRQJAv+JMylVfQsTNkxIpdlD41xMdSsToGkOucZwoJ05xcT4kqo5iZ8pJrRkjjKNqJVjpkPUwNKhFIJ7Zycrh0ooFjhd/ea0WSNjGWGJGRUfHbJ6iqxVQQMDTuMLqGXOGeiigKKKKAooooCiiigKKKKAooooCiiigKKKKAooooFS+u+IdSQRoNGvQhKr3ErhjvkoBIPb9S/mM5WnEL76wyRHAjbQuFz1cK6gkHGPrNGe7MLk94y00UCaeJcQ0APGyMp3dIxNqC6FOpezqJfJ7OkFGyCpU1Gm4hxQCVhG4JcKqBIpNIIkJK5KZC4QZJbOdgSTh7ooFK6a9j9RpnLtqBMcLacJGVQgFVjQszhmJJxHgHJBrCLi1/2j0WIIYlTGqMh7gIu0eoFLKSXwW0uV8FDhRQKi316IZFlSTUJTiWFELNHknMcLEhQCVQaiSVy3eKwN/xBjIUjZd8BXSMBcMcBGDkyEr6zHbJGnxFN1FBosWcxoZBh9I1D9LG/d4ZzRW+igKKKKAooooCiiigKKKKAooooCiiigo+McRdLyxjVsJK0wcYHa0wl13IyMEE7eVXlLHMbf6w4WP6Sc/AW0n/AFFM9BUc3cUa2sbmePAeKJnXIyNSjIyPEZr3l6+aX0gsc6biSNe7ZUwANu/x+dV/0lf7rux5x6f2mVf41t5KH1U587y6/C4kX/LQMNFFFAUUUUBRRXjHFBR8vcfNxJMpAAjJAx44uLmLPyhU/E1e0j/RkcrI3cWjgb/6okuP3zGnigKKKKAooooCiiigKKKKAooooCiiigKKxkkCgsxAAGSScAAbkk+ApDN3dcYY+jyPacOBx1l2nuMbHpZ/NR/pd5+YAMnGudLO0OLi4jR/uZ1SH3Rrlj8qr4efxJvDZcQkHgwt+mCPMGZk2qfy/wAl2lkPqIVDd5kbtysfEtI2WPzxV3QLkHOeGAuLW6tVPdJKqGP+28TuI/e+B7aYlbIyNxXtFAUUUUBRRRQK/Ghni3Dh92K6f+7Cn+Y00Us8UH+trH/w91/itqZqBa+kj/dlz+qP8aVv5K/2Vj53F0fndz1o+kcf6unHmYx85ox/Gt3JJ/Jn8vSbvHu9LnoL+iiigKKKKAqs5mujHZ3Mg70gkYe9Y2I/dVnS99IM2nhl3+lEyft4T/NQQ+RbQxyXSeEfo0Q/sWcP/qptpd5ROZL9vO8cfBIYI/8ALTFQFFFFBS8a5vtrVtEkmZcZEUYMkp8uwuSM+ZwPbVX/AChlOmSRxGuciGJVdvPTLM4IPtCKMeDHvrHmfla5uZOpbXaIMaSkkSyAEd+llKny2bV/ClzjXJwsIoJ2lkuLlrmKJ5XOAI5dUbJHGOzGh1DbvPnQW3E+Z3mcdK6ktgBggQQzAnffLnI+Vbrfmua3XXPLHdW646siRmGaJScdR49TLJGPtFdJUb4IFLDwb1us3KuMHH/vux4j2e2g6tHIGAKkEEZBG4IPcQfEVlSbyZN0LmayH5kRpc26/cSRnSSNf0FkXKjwD47gKcqAooooCiiigVfpEBkggtslVurmKByNj0zqdwD7VjK/Gr17uG3TSWjjWJAdOQNKeqvZ8F2wPdiqLn86Fspj6sN7CznyV9UOT7jIK08T4Epu3MsgHpMts0a4LMy2uZGjKgdlAw16s4y+D4ZBsjnViwVgSp0tg5w2A2D5HDA49orZVVw/gIik1h2JLTOQe4meRH3/AFAgQeyrWgKKgcTuJ1aHoxrIrSBZstpKRkN21+8Q2nbyzU+gi23EkeSWNc64iofIIHbUOCD9oYPePEEVKpf4vxe9idunZJPENwy3KxvjG+UkQKPH7dQOV/pEF7KY0tLhdJ0vJ9VJCreRljkIJ/Vz7cUDfRRRQLHFDni9iPK3umPxa2FM9K9wM8ah/Rspj+1PAP4U0UC19IR/IwPvXFqvzuoapuHc0i0srchS5muZSQATpia8cO5xvt1UAG5JYDHlc8/fmIR53lp/+1EaqeXeVIrq1tWlLERNOrRjGiQeks2HyM4Dxo2xG675FA5cO4ik6dSI6l1MucEbo7I2x8mUipNa7e3WNQiKqKowqqAoA8gBsBWygKKKKApc5+UNaBD/ADk9tH8GuYQfwzTHS9zguo2S+d5Ef2A8n+Sg95NHYuT53lz+EzL/AJaYKoOSx+Tye26uj/8AdTVfM2Bmg9qq4mbe4ZrKXtM0YlaMF1+r1gAllxgFhjGd8HwzSvxD6V1EohtrWeWQ93W02aHw2a40kn2BabOB3E0kQe5gWCU5GhZBLhR3ZcAAnv2GaCil+jqCEdThyi1uFOVZS/TfHek0ecOjdxOMjYjcVLvuFPxCyeK6iNtITtpdZNLrhlkRl7wG3AODtvjNXXElkMMggKiUowjL50h8HSWxvgHFZWUTLGiyPrdVUM+ANTAAFsDYZOTj20HImuJYZxa3ceicjKuCOlLjbMR7yTgnRjI+VS4VOqrz6QRJcuLUSQxxJ0ppCUd7gdtipi7kXeMjVnPf8Yk13G0nx78UGzkxNfF7p1OVgtooSf05GaYj4AV0Skj6NFVG4gjbT+ltI6nv6bqvRYeaFBsfPNO9AUUUUBRRRQQuM8JS6glglGUkUocd4z4g+BBwQfMClDgxuJZtJljS/s0MEokQvHNC5VkmQKyldWgEkHGoMpGwp8pf5p5babRPbsI7yDJikPqsD3xSgetE3j5Hce0L9c437/Hwr2qvlvjou4BIFKOCY5Y29aOVDh0b3Hx8QQfGrSgKKKpOaOYfRkVIl6lzMSlvF958bs33Y0HaZvAe0igqm4RFf310LgNLDb9KNImZuj1ShkctGDpc4eMdoHGKbILdUUKihVUYCqAAB5ADYVXctcD9Ft1jLa5CTJLIe+SVzqdz7ydh4AAeFWtAUUUUCv8A/O/dY/4rj/8AkU0Urx/77f2WKfjcSf8ASmigWueh9Xa/+Ntf/wA6/wAa38kJizX+smPzuJT/ABrXzqPq7Yf99tvwmU/wrZyM2bGFvv63HueR3H4MKC+ooooCiiigKX+Zd7jhy+d0W/Ztbk0wVS8YizdWJ+7JIfnBIP40GPJY/JFP3pJn/buJX/jV5VJyX/sMH6v+Zqu6DTdWiSqUkRXU96uoZT7wdqR+Vee7e3t4ba8aS3mRNJ68LxJsxXsuV0adsA5A2p+pQ4jZRzcVaGVQ8ctgRIh7iFuBj/G3yoGyCdXUMjBlIyGUggjzBGxFRuMcUS2glnk9SJC7eeFGcDzJ7gPMiqjlbkWHh7yG2eYRyY+pZ9cSkHdkBGQT471hz32o7aHwmuolYeaRarhvwhx8aBRjgkCPLP8A7ROwlm/QOOxEv6Ma9n36j41EVd6teJuSxz4nJ95qCFyaCTxTiIhWC+jUiW1wk2n+ctGIEgYeJTIkHlpPnXTIZQyhlIKsAQRuCDuCD5YpO4Jw5W7LjUrAqwPcQwwQfga2/RbcE2PSJLC3mmtkY97JFIVQ/BcD4UDfRRRQFROIcXhgGqeWOIecjqg/vEVyj6VPpFuFne0s5DCseFllUdtnIDFEb7AVSMsN8n2b8na3DsXkLSMe9nYuT8TQfQ/EPpg4XFn8qWQ/diV5CfcVGn8apv8At6sznRBdE+GpURfidZI+RriraV7yqD4D5VO4NaxySxiZzFCWGuVkkCBfHDaSMkbD2kUHZfou4w11c8Sn6ZjikliZRkntiIK2DgA5AQn310OuWWXIcqRI1qLWdNACTwXFxYyuoGzMYS8cj+bHv8RXqQcfjOI9RUdyzS21x/f0ROfic0HUjSxyrarNNNfOweR2aGMYI6MKMcR4YArIT23z4kDuApP5g4zxN4BFdpbwt67RxN1HmjG2THqwEH3C+HYhSQuoFl4BzHawQL0i8kbJHP1m3aTrS9F3fYYKMFDDuVcAAAYAOVFFFAUUVqlukX1mVfeQP30C6DjjZ/SsR/cuD/66Z6U4blH4yrRsrqbFu0pDDs3K+I28T8qa80C5zqdrMed7B+BZv3rU/lSLTY2q+UEQ/wCWtQOdvVtD5Xtv/jx/HHxqy5afNnbHzhjPzjWgsqKKKAooooCqPjs2m5sB5zSfIWs5q8qm4zw15LizdACsUkjOSQMBoJEGB49pgKD3k6ErYWoPf0UJ+Kg/xq4qLwu36cMSHYoiqf7Kgfwqi49zOSGjtnCss8dtJMU1pE0o8PB3BKLg7AyLnO4oLW45hgSbol/rOxkAE4MjBUDEbKWOSAdyFY9wJpOtONy2lyXvA2ptQl1DKrGHLLJaOB2oFUqJI9nULrI2YtIteGIt/aW0eSsSy3szMdTvKwECPKx3ZzrkP9kYwAAGy+MMrLBIiS6tRKsFdQEC5LA/rqP7QoIk3ONoraBMsj/chDTv8UhDEfGoXGFkvIleGN4pYZRLCLgCMSEK6spAJdFZGdckAjUDg4rIfRxw8epbLH/VM8RPvMbLn40uXPD7ZhNIxeKxtiwR+rLqM69l50dmLDp7xpjvYyd+1B7e8OlwrNE6Z3KtglSNiCVJB94O/f41Ht7Ug5IwBuSe74nuqDwrjUvEIFK2SSyAtG9zcMbYHQSoI6WZGcqFLAbKSRnbak5/5SlS3R3gBXWNUsd1czKARgKYp2ymSR2hqHd3Z3Cz5m+k+O3RorJhNcsCutd0jztq1dzMPADYHv8AIq/JfMt9bmG2gudKNIBpeJJFzI25OwcjJJPaBpdhtwuygD3VPsQ+tRD+ec9KL+slygPswGZs/o0H0Pyfx03llDcMoUyA5C5K9lmXK530nTqGd8EUVL4Lwpba3igT1YkVB7dIAz7z3/GvaD5457gKcRvFbv67N/ZkCuv4HHwqpUqqaj4Ak/Denv6buF9O8hnA7M8eg/rxHIz5ZRx+zSZy9w43N3bW/hJMgb9RTrf+6poO9cpcoW0VvA5toROYkLuUUvrKgnLkZzkmmfFe0UCxybEqS8QijGIkuuwo7lLwwySBR4DWzHA8WNM9K/0eRfk0kx77i5nnPuaVlX+4i00UCxzzwC3kgluZbeKaWCGRo+oCR2VL6SARkEj8aVeFcQiurewk6aRx65eGzxxrpTTPH2dIHcrOkJHl1K6JxqEvbzKO9o3HzUiuK8ih2tJ7dMl5bSK8gH/eLRgpA9pKQ0HW+TuIPJbaZTmaB3t5T954jp1/210v/bry75cmkYk390ik+pGLdAB5BukW+Oc1XcH4vGlx1c4t+IrFLC/2Ov0whjY/ZZkWMrnvKsO8AFuoFv8AkBat+e685857ieQfsl9P4VLh5LsV9Wzth/5MZPzK5q5ooNEVhGrBlRFYLoBCgEJnOkEdy53xUS+5btpm1SwRsx720gMfew3NWVFAr8T+jm0mQKBJFhlcGKWRd0YMNtWPDvxnyIO9eWXI7QxRxxX15HoRVyHSReyoGyTI4UbeqNhTTRQLg4Pfr6l+j+ya1RvxieP91GjigPr2Lj9SeM/43xTHRQVljdXRbTNBEo+/HMXH7LRqa3X3GoYXRJZFRnOF1HGSdgM9wydhnGTsMmq3nDitxBGrW8YZcnqyEB+kiqTq6Zkj17/pbeRqiWzkeIX8l0t1H6O4WP0cRLMkoBRJAWbPaC42BGT5mgcL3jEEJAmmijJ7g7qhPuDEZ7j8q22t9HKMxujjzRgw+YNJnLsAne9a4CzoHS1UyKrK3oqEO2k5AzNLL8qmW/LNpHMs0VtFFKpyGiURHy3EeAw9hBoLLm3jDwQhYcG4nYQwA7gO2SXYfdRQzn2LjxpK4omkPw+Bj0UihgkZgGJuLu5T6w575hHrkz5uD4UyQWUnWNxcaXZI3RCMlgvVduyo7ILx9IHAzlMbg1Q8Fj6kNjISpe7vRcyaSCAdE0ipkf8ADWONPYVNBP5A4XFDccRlTsxrIkGt2JJMMeuR3kY5ZjJK2WP3fZV7wdRLeXUwA0xlbdcDvZQHlb2kkxof6n2VWcpXPT4ZJMoVpJZriRQxCq0klzIqKSfAnQvxq5s44+H2WZn7MSNJNIftOSXkfHmzljj2gUELnjjxhiEMWszz5A6al3jiGOrMFXc6FO2O9io3pG4zKLi2eaNdHDbGJjbqQR6RNGpCOQdzEjYxn1m3qfDxG4kmYRADiN2oeRm7S2Nnv01Yf8Ug6tHi7EnYCrXmTgqpZW9lEGKvNBD4sxQSLJIzHx7KMxPtNBY8OiZYYg5JYIoYnvLaRqJ9pOT76WvpWuivD9P354VHwYt+5TTxJDXOPpkm0x2cf3pnkP8A5cZA/GSg5sY6ffob5e610904+rtsxx+Rmcdph+qmB72pCkkOwUFnYhUUd7O2yge8mvo3k3lxbGzhtxuUXLt96Ru07fFifhiguqKKKBP+lfgYueGTH7cA9IQ+2MEkfFNQ+Nc1+hm2WTimo/zUDuo/Scqmfgpb513O+tRLFJGe51ZD7mBH8a+YeU+PScPuY7hF1MgMckZONajssufBgRsfMb0H1LVDzfDfNCBYSRxyE4LOuogEqMqSdKgAsxyGO2AMmpXLnMkF9As1u+pTsQdmRvFXX7LDy+IyN6tKBd4dzAIpEtLlelKezFJgCGcgbmIrsjnc9JsEeGob0xVC4xweK6iaKZdSN8CCNwysN1YHcEbg1U8B4q0ImgvJVL22k9dmVQ8MhYRvJv2JMqysDjJXI2agYiK4hygGgksZQDiG5ktn/Umlkg39z9P410U8Pv7ga14jDHEfVNtbq2V/rJXcE+0Clyfh3DQzJPxG6u5CcvDHM7lmzneGzUb586C34YlvHFfWV40aQLO+gSMEXozgTLpLEeq7uAR3FB5VG4J9J1pCrQXV5FI8RCpMjdXrR76WPTyRKAMOMd+42YVI4Fyzw0sAOGpFnJQ3KR9R8fdSRmkPicsBWxOYhY5W8s/R0BIW4tk6luR4FtA1w7eDLj20HjfSvbMSLaG7uTjP1Vu4HxaTSAPbUNueeIS/mbGKEeDXM+T8Y4QSPcTXomSUa4pElTwdGDr8wdj7DvWtgaDKPinEWIM11CgB3W3g3I8tczNj9mpd9xudn1Q3Biz9h445k+GNDj4sfhULNanNBNi5m4gvhYzfGa3P4iQfjUtOeLhfznD3I84Z4ZfkHMZ/CqZDWwOaC5T6SbcfnYbyH9e2kYfOIOKnWvP1hIdK3cAb7ruI2/ZfBz8KWQ+9E8oYYkVXHk4Dj5NQNXMnAU4hAsZlZY9ayEx6GDhMkK2oMrLnBwQd1FV0kFz6PPF0pH0SgxM7oS6LJGy6d8kbNu2MdwzSieXrXOVgWM+cLPAf+Uy1MtrR1P1d5fRnw+uE6/s3Cv8AvoLbkO5i9BgRJUeQLmVQw1iZyXkDr6wYOzA5Gdqv+lvSLdchzXWZHFjdNnd5oHtpj757V9z/AGa1fyTmh9e1v1QeNnxJpAPaEmKNj50D9d3iwxPLIcJGpdj5KoJP4Ckvl2yZHsJpVCSXV1NdSKBgKWtpemuPDTHjPtzmsOJcat/RxbTyX8aSSJ1WvoZciJWDsiyLHpbXpCbsdmJztirDjHNVlO9qYLuByLjB0yLqVZYZos6Sc41SLQHLMBa34TFklWX0pxtjTECynuzvLNCdz9ge3NVzrzPLfXsdhZKHVHy7NvG0sRB7f3ooThmH2n0r4HMid5ksreWDILWUNsJFBboAfnmA+1KxEUcaDdnx3AGpnLXBIuFWz3N1phZgAQTr6cYJKQqRvI+SWYjd3Zj5UDDy5y4lpEVUtJI7a5pn3klkPezH8APAbe+t4gsXEi0URVhbyAmUxLLF1QCDGjalOtQe0yEYyBnJIGhbe74l+c6llZH7AOm6nX+kI/2eMj7I7Z8SKabKyjhjWOJFSNBhVUYAHsFBlo7hXHPpivQ/EIogc9GDJ9jTOT89KL867Ogya+b+a+J9W9vJwwkDTMEK9zKmI0C+YwoHt3oGn6IuXvSb5rhxmK09XyM7jb9hcn2ErXbbnXpPT06vDVnHxxuKo+QuWvQbGKE46mNcpHjK+7e/Gyj2KKYaCja9vx/8LbH2i6cZ+Bt9qKvKKBV4t9JdlBI0Ot5p1JDRW8bzOCO8HSMAj2muS8c5Ylu7l5bW0kt0lYuwuXjjALYJ0oupgCdTEfpV1jj91pkfG3mRtn3476W5Zz50GngfJEdqqvb3UkV6AMyAAwt5o8Rxrj9p7XiMd1NfDed9LrDfx+izNsj5zbSn+imPcT9x8N76W4JMmmC/kt44Al5NAqOuelKVbUDv+bbOr4A0DBxviwtoWkILnZURfWkkY6URfazED2bk7A1RIPRIJVZwbyZJJ5ZMZQPpCgnPdEhKIuRsq5P2jVJ6dZQMklmkbmNW0QuxtvrGBAdDcBQ+xKYz2VZtI7RBvOF8Ga2YXEszzTSRKjBm1Rhy2uQx/dQsVAUbALt30Hthyvby27yID+VokpWUs0ZbTqUvEhUN3jUNtWBnurRLwFLZFWW6mx9iC3UWytjwSO1QSsP7RrzmW+60QUpr0sG0xuY5gR3PBLkaJV3wDs2SMjO8flHnFTKIZ5FkMnZgutIQy6e+GdcDpXKZ3Q41ZyAM4oIkLiJgCvo5O4hiTXcyDzMUZZgP05nYearTFbcXmkHUfp2tum7NIyySEDHrFT0ovI9pz7BWPMV1JGdFvAjM/aJ0mQk57+imAx7u1K8a+00mz2rPJm7neSSPtdKLRPLHjxYkC1sfeQWH/EoLDiycKmk6kYkgmb1Li1VopJG8okUarr3hHXzNSxZXkChpoRewkA6olEF2oIz24c9OUjx0lT7DVbwuSZ9XoMQTUe3LGerI3tm4hcAq3uiSbHgRU205xMWuON/TZkzqWJitrAO8me7lJye/JJJ8Ai91BttpoLjUbZ9WnZkYFJEPlJGwDIfeKwmtyKr7KOS9voZ5HE0ah1MtsrW8UJ7x07hu3eqcaSvqb5x4Uy8V0Z7JoKEisE2NSJTWk0GerNYNvXqE1P4bw3qnchR5/wDSgrUStsjLGV6pKltkUKzyOfKOJRqc/DA8SKv7u2MRKW0ahgMvcz/mox3kgZHVbHgMKPFh3GhXht5IJGtkki1D6y5mKLe3G/qwggpaxgZxlRjwUElqCTccZeHQszNArbx2kOJb6c/paMiJdtwuceMg3FaeLzSylTfoSrEGPhsEsJcrviS56joJ8Efm1ygPfr7xqtLn0DJjsbiFmGZZZYXvGkI8XubeR3A96H2CqiGewu30vGXbuxFOl3gd+BbXgEybk9lYqCNcrHCxOqSzLH7QveG/34+rbN8EAqztOVZ72MsJ7W5Tyuore5B7jtdWpR/iVBph4FytAB+TTTx4+yrSwEHw1QSfVjb+iFWcnALW3DXE2gFAXacqkMgA3OuSEJqHsxQVvBeDSWNrMy2MJlBDJDazOyOR3FVnCiEgknbOw8TgVV8cd76weSfpqYZsNoicPbkAq75cnLR61k1KBsjDxwLzly+ub2UXRLQWYBEERADzAjHVmyMoviiDB8T4Cqi+N3YR63khitlu9TEdtpUubvLNKXUCJVSQjC5JK5yBsQvuWeYPSYiHwtxFhLiMfZfHrL5xOO2jDYgj21aNXOuKcJiNxGlsZIZtjbxOGilWNy51W8qamjgBViYp0ZV2GldQBZ1fiEK4eWzn7Pe4khYNj7RjDrIAfJUz7KCn+lHmZobZ7e3z1pEzIy/zMDMELk/ZLk6F95PhSV9F3JzXV1HK6EWtuQ4JHZkkHqKp7mCntEjxAHjXQ7GKCGKRZMXE05DXMjrtI3gAp9WNe5V8APPJqNdw2jHPoyI33oswN+3CVJoOgUVzVesh+ovLpPZIyXK/85S/9+rrhvGL8YyLa6HjpL2sv7La42PuZaBworXbyFlBZShI3UlSR7CVJB+BrygUOZYz1M+f8KXihroXGuGCRc+IqgTgmDvvQVvCLHVIo8O+tnCOBR3vUuWMsNwJp4OtbuYZDHFM6Ir47L4VVHaU9wpi4bZ6XXaq/ktl6UsYZeolzcl4wRrXVcysNS94ypUg+IIoK7jvL7wwu/pvEZkUZZOtAuV8e00Q2HkDmsOXOMFrLosBqhjR1cSiYNFJJKi9sb6lMZVgfEeNNHGVuFgdrVFeYY0K42O4yPXTG2d9Xz7qT+RuGTPJcmdVVljMUoDxsTPJPLdN2Y2cIo6oABYneg1SS1Fm4ClzqGF6jDdWOlZdO4V2G6ON9Eo7SHzUspmXVkykgjfNECHb2UG/gHM08EbpciS6tUOh5NP5Xb7bpeQru4A/nY86h2twc1a3nNNkyKlrEt6QNSxwKjRJtnVJKfqocfpHI8qiROBIJtJ6yjSrq2gsO/RIcHXHnwIOnvXBrTDYxNlrlOsxbX0sCO1DeYgXaQ/pSam27x3AK25muOIZDt14+4xW7NBYL7J7vGu6I2ykQx7BU+PgsEaqJtNwU3SJUEVnGfDp242Yj70mpvaKkT3TMd+4dyjZQPAKB3Co7jzoJc3GHfvOPYNgPdUNpSTuawNYsKAaShWrwRVvW3NARmt8U2O6vBBWXSoMX4crs7xzS28j+u0el43JGProJAY5M+eAx86qE4JxC0ybUo0e+Ut+3CR+lYzsDHn+gl9y1bb+dZ9YjxoKKx5w6baJrOdH8fQppQ3v9DmKSD9lh7TVxHzNwq5+ru5UYnbRfwLC49gZ0QfvPtqwXjeQEmjSVfJwDj5ipvp0Tkl1Zl06RCQpjG+SdONydtz3AYGMnIbbewtLKIzpIYoEUsfrnaEL7EZmUezSBSje3z8RkEtwpSzQh4LZtmlI3WW5H3fFYvi3kdnEuX7Murx2yx6SW0L2Yi22HaJeyzjwJG2T7MZlc0Em54xK59cj2Db91eQcRkGxYsp+y3aGxyNj5GsIbUnwq+4by6G3fIHl40FWbt2cSHHUClA2AG0EhiufLIBx7K1zszbmp1zxeG34hBadPUJUJLYZyrknpggAgKQkuSfIeGaqpud4plV7NYg6NH1kuFKgJLN0Qdat2NyH1aWBU0B6IT4VtHC3x3Vv4Hz4lzIUS1IVHEUkgIaPX/RyKuh13G5ZSQdl8Kqbf6SZjIR6OjruuAssZQhmGrOHaeMKpLNGmxIAzuQFnFw1vKr/AINwtkOo7VSD6RodC9DpXMoTXL0pAkab4C5ftmRyCqxhSxIOcVJl+kKNZGjZChW4WHMh0h1LLGzRN3OyO4DJnIAJoG2iiigKwMQ8hWdQeLcZitkDzEhSSMhWfcKz9ygnuU48zgd5AITVUDuqp4zyna3ZDTwozjukGUkA8hIhDgezNY/yvt+p09UhbGraCcjTnGoME0lM/azj21ZWl6ksaSIco6q6nu7LAMMg7jYjvoFz/sysvFZ2Hk11dEe7HU7qv+F8IhtoxHBGkSD7KAAZ8z5n2nesLvjcMfU1vvHo1gAsw6h0oNIGSWOwAqaGoNMlkjHLKD7xmtLcGh+4B7sj91TNQr2ghjhEX3fxNYNwOI/Z/Gp2awnuFRGdiAigszHuCgZJJ8sUEYcHiH2BXo4TF9wVnYX6zIrpqCtuNaNG2PPS4DAfDxFSM0EGTgcJOTGPhkUDgcP3BU7WPOjNBDPB4vuD4V5/oWPyNTdQr2gg/wCho/I/Oj/Q0fkfnU0NWCXAJYDPZIU5BAyQDsSMN6w3GRnI7wRQQf8AQMfkaDwGM94qyqql5nt1aRXdkMalm1xyKCqsEZkLKBIAzKCUzjUPMUGX8nYc5wfnW7/Q8Wc6fxNa+LceitgDMXAOwKxSyDJIUAmNSASSAAe/O1S7S6EiB11YPdqVkbvxurgMPiKDE8Pj+4vyFCcPjHdGn7IrfmodxxmJGZWcalaJWABJBncRx5A+8xx++glLEB3AD3Cs68Bo1Cg0TcPjchmRSwZWBxvqTOk59mTj3mtA4Fb6AnRjKAKoUopGlG1qNx3Bu0B4Het9vfpI0iqctE2hxgjDaEfG/f2ZEOR51vBoK48t2plMxt4TKSp1lFLZUAKQSNsBQNvIVKPDoun0jGhj7tBUFMZzup27963k1Am49CkvSdmVt8ZjkCEhDIQsmnQzaAW0gk4B22NBuThcQZWEUYZRhWCKCoPeFOMge6vE4VEE0dNNGsyaSARrZzIWwftaiTnzNRouZrdpI41cs8qq6AKxBV0d1JOML2Y2O+MbZ9YZtKAooooCsXjDDBAIyDuM7g5HyIBrKigo5+EP6UZFUCP0UwrggYbXkDHgMUrryXNHHGiQRaDDaJMqiBmMkS3IkZBMDGXy8ILsCSobG4FdEooEjk7lV7eQNPAjMbeFermNirwhlKk7MdungqMdkd2AKmcm8Dkt45kMQjUhQmrpGZiFYN1Xh2kG4w7ds5Yt4U10UHP7HkRo1iIhiDpHw/caciSGfVcsD95o8At3uNt6tOR+GMpmdjlY2Npbk5z6PBI+Cc+OpihPiIkNNlFByyz5YnnhVoYRFp6nVOYw1yDdpJoIIYEBI3H1ox29ONJY1Y/yFZo5AYdvRZ0iSZoSUlldiMCICNBucaRhckV0KigRU5RdJVCQRg9S3eOdWVejFEsXViVfWGopLsvZb0htWMHMJvo8b0aJBDH1FsVjJyMi6zEWYN36ux6/fsK6PRQc25g5LuGWeOCFBGzTtAE6AMbPFbhCDIp6KF1lJ6eG1aTkZzUu/wCSpmEjRKiTSS3ZMmrSxjmWTpqzr2tJOjb7Pf3in6ig51xHlF5XDLZtDEU0rFC1orRy5BMoLKyoWGka4yHHRXY52Y+YuXmuJ4mGnCQXCq530TObcxOF8SuhjnwIHjimKig51Zco3EUJeCNo7qPpFBI8HSZgssUhHQRc5SUnW41MUjyOzXl7yHKpKhGlt1bSI1aDWR6JawrIRcKyag0UoPcw6mQdyD0aig53eclXR6nTbAAURapMt+URJDdGQjALKF6inG7E92aYb/l7WLjKM31awwjUmBFiMssYOy5dQSW3OlfALTHRQVXM3D3mtykYBbqRNucbJPG7b/qqaoeYOXLpriWa3K4AS5iBbGq7QdLSw+4YBpyfF/ZTnRQIthyfJDNGqxg9OWJ1uiy6hBHCkZix6+WKsNPq4csTq2rbxzlNpbqZxbxusxtCZDoBAguFaVWz2u1GB3ZB04OMCnWig57fcq3KJcJDCpWWK8gjVXVFjE7q8Zwdgvr7LuDjbByNlzyIzyM7QxMXku2YtpJZZR9Tqz3gEA4PqkZ76fqKDnQ5QnZm1QdssjtcLIgcoLGKB4lcHWGaRWGT2d9WcgCrfhnL8o4fd2/TSIyLIkQxEjYeEIDN0B09WvVuo9ULnfNN1FBzriNhM1xFJNaa1knXEBaJ8hLKdDqyemO15ny8dqveF8uSKkCz5cwW4VQGBQSsro2M7swQ6AzbYJ7ixpoooIPCOHrHDENAVkjVe5dQwirgsO/1QNtthU6iigKKKKAooooCiiigKKKKAooooCiiigKKKKAooooCiiigKKKKAooooCiiigKKKKAooooCiiigKKKKAooooCiiig//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86020" name="AutoShape 4" descr="data:image/jpeg;base64,/9j/4AAQSkZJRgABAQAAAQABAAD/2wCEAAkGBhQSERQUEhQVFRQWGBwWFxcWGBgWGBsYGBgXGBwcFxcYHyYgFxojHBgYHy8gIycpLC0sGB4xNTIqNSYrLCkBCQoKBQUFDQUFDSkYEhgpKSkpKSkpKSkpKSkpKSkpKSkpKSkpKSkpKSkpKSkpKSkpKSkpKSkpKSkpKSkpKSkpKf/AABEIAMIBAwMBIgACEQEDEQH/xAAcAAACAgMBAQAAAAAAAAAAAAAABgQFAgMHAQj/xABQEAACAQMCAwQGBQcIBwYHAAABAgMABBESIQUGEyIxQVEUMmFxgZEHI0JSoSQzYnKSscEWQ2NzgqKywhUlNDVTo9EXZHSD0vBERZOks7Ti/8QAFAEBAAAAAAAAAAAAAAAAAAAAAP/EABQRAQAAAAAAAAAAAAAAAAAAAAD/2gAMAwEAAhEDEQA/AOn/AJSeI/zohC7bp0SunfI9Yya/kF8u+FJfcSX+aDdrVtoA0AHIPeWOWXABGTGdwM5b6KBR4RxLiDGISwSYZvrGKwIUGru0dU5BBG4LEAONzpNZzcQvw8qiE6Cx6bDSWCs6qhxsuBpYsDlgJFPgRTXRQJAv+JMylVfQsTNkxIpdlD41xMdSsToGkOucZwoJ05xcT4kqo5iZ8pJrRkjjKNqJVjpkPUwNKhFIJ7Zycrh0ooFjhd/ea0WSNjGWGJGRUfHbJ6iqxVQQMDTuMLqGXOGeiigKKKKAooooCiiigKKKKAooooCiiigKKKKAooooFS+u+IdSQRoNGvQhKr3ErhjvkoBIPb9S/mM5WnEL76wyRHAjbQuFz1cK6gkHGPrNGe7MLk94y00UCaeJcQ0APGyMp3dIxNqC6FOpezqJfJ7OkFGyCpU1Gm4hxQCVhG4JcKqBIpNIIkJK5KZC4QZJbOdgSTh7ooFK6a9j9RpnLtqBMcLacJGVQgFVjQszhmJJxHgHJBrCLi1/2j0WIIYlTGqMh7gIu0eoFLKSXwW0uV8FDhRQKi316IZFlSTUJTiWFELNHknMcLEhQCVQaiSVy3eKwN/xBjIUjZd8BXSMBcMcBGDkyEr6zHbJGnxFN1FBosWcxoZBh9I1D9LG/d4ZzRW+igKKKKAooooCiiigKKKKAooooCiiigo+McRdLyxjVsJK0wcYHa0wl13IyMEE7eVXlLHMbf6w4WP6Sc/AW0n/AFFM9BUc3cUa2sbmePAeKJnXIyNSjIyPEZr3l6+aX0gsc6biSNe7ZUwANu/x+dV/0lf7rux5x6f2mVf41t5KH1U587y6/C4kX/LQMNFFFAUUUUBRRXjHFBR8vcfNxJMpAAjJAx44uLmLPyhU/E1e0j/RkcrI3cWjgb/6okuP3zGnigKKKKAooooCiiigKKKKAooooCiiigKKxkkCgsxAAGSScAAbkk+ApDN3dcYY+jyPacOBx1l2nuMbHpZ/NR/pd5+YAMnGudLO0OLi4jR/uZ1SH3Rrlj8qr4efxJvDZcQkHgwt+mCPMGZk2qfy/wAl2lkPqIVDd5kbtysfEtI2WPzxV3QLkHOeGAuLW6tVPdJKqGP+28TuI/e+B7aYlbIyNxXtFAUUUUBRRRQK/Ghni3Dh92K6f+7Cn+Y00Us8UH+trH/w91/itqZqBa+kj/dlz+qP8aVv5K/2Vj53F0fndz1o+kcf6unHmYx85ox/Gt3JJ/Jn8vSbvHu9LnoL+iiigKKKKAqs5mujHZ3Mg70gkYe9Y2I/dVnS99IM2nhl3+lEyft4T/NQQ+RbQxyXSeEfo0Q/sWcP/qptpd5ROZL9vO8cfBIYI/8ALTFQFFFFBS8a5vtrVtEkmZcZEUYMkp8uwuSM+ZwPbVX/AChlOmSRxGuciGJVdvPTLM4IPtCKMeDHvrHmfla5uZOpbXaIMaSkkSyAEd+llKny2bV/ClzjXJwsIoJ2lkuLlrmKJ5XOAI5dUbJHGOzGh1DbvPnQW3E+Z3mcdK6ktgBggQQzAnffLnI+Vbrfmua3XXPLHdW646siRmGaJScdR49TLJGPtFdJUb4IFLDwb1us3KuMHH/vux4j2e2g6tHIGAKkEEZBG4IPcQfEVlSbyZN0LmayH5kRpc26/cSRnSSNf0FkXKjwD47gKcqAooooCiiigVfpEBkggtslVurmKByNj0zqdwD7VjK/Gr17uG3TSWjjWJAdOQNKeqvZ8F2wPdiqLn86Fspj6sN7CznyV9UOT7jIK08T4Epu3MsgHpMts0a4LMy2uZGjKgdlAw16s4y+D4ZBsjnViwVgSp0tg5w2A2D5HDA49orZVVw/gIik1h2JLTOQe4meRH3/AFAgQeyrWgKKgcTuJ1aHoxrIrSBZstpKRkN21+8Q2nbyzU+gi23EkeSWNc64iofIIHbUOCD9oYPePEEVKpf4vxe9idunZJPENwy3KxvjG+UkQKPH7dQOV/pEF7KY0tLhdJ0vJ9VJCreRljkIJ/Vz7cUDfRRRQLHFDni9iPK3umPxa2FM9K9wM8ah/Rspj+1PAP4U0UC19IR/IwPvXFqvzuoapuHc0i0srchS5muZSQATpia8cO5xvt1UAG5JYDHlc8/fmIR53lp/+1EaqeXeVIrq1tWlLERNOrRjGiQeks2HyM4Dxo2xG675FA5cO4ik6dSI6l1MucEbo7I2x8mUipNa7e3WNQiKqKowqqAoA8gBsBWygKKKKApc5+UNaBD/ADk9tH8GuYQfwzTHS9zguo2S+d5Ef2A8n+Sg95NHYuT53lz+EzL/AJaYKoOSx+Tye26uj/8AdTVfM2Bmg9qq4mbe4ZrKXtM0YlaMF1+r1gAllxgFhjGd8HwzSvxD6V1EohtrWeWQ93W02aHw2a40kn2BabOB3E0kQe5gWCU5GhZBLhR3ZcAAnv2GaCil+jqCEdThyi1uFOVZS/TfHek0ecOjdxOMjYjcVLvuFPxCyeK6iNtITtpdZNLrhlkRl7wG3AODtvjNXXElkMMggKiUowjL50h8HSWxvgHFZWUTLGiyPrdVUM+ANTAAFsDYZOTj20HImuJYZxa3ceicjKuCOlLjbMR7yTgnRjI+VS4VOqrz6QRJcuLUSQxxJ0ppCUd7gdtipi7kXeMjVnPf8Yk13G0nx78UGzkxNfF7p1OVgtooSf05GaYj4AV0Skj6NFVG4gjbT+ltI6nv6bqvRYeaFBsfPNO9AUUUUBRRRQQuM8JS6glglGUkUocd4z4g+BBwQfMClDgxuJZtJljS/s0MEokQvHNC5VkmQKyldWgEkHGoMpGwp8pf5p5babRPbsI7yDJikPqsD3xSgetE3j5Hce0L9c437/Hwr2qvlvjou4BIFKOCY5Y29aOVDh0b3Hx8QQfGrSgKKKpOaOYfRkVIl6lzMSlvF958bs33Y0HaZvAe0igqm4RFf310LgNLDb9KNImZuj1ShkctGDpc4eMdoHGKbILdUUKihVUYCqAAB5ADYVXctcD9Ft1jLa5CTJLIe+SVzqdz7ydh4AAeFWtAUUUUCv8A/O/dY/4rj/8AkU0Urx/77f2WKfjcSf8ASmigWueh9Xa/+Ntf/wA6/wAa38kJizX+smPzuJT/ABrXzqPq7Yf99tvwmU/wrZyM2bGFvv63HueR3H4MKC+ooooCiiigKX+Zd7jhy+d0W/Ztbk0wVS8YizdWJ+7JIfnBIP40GPJY/JFP3pJn/buJX/jV5VJyX/sMH6v+Zqu6DTdWiSqUkRXU96uoZT7wdqR+Vee7e3t4ba8aS3mRNJ68LxJsxXsuV0adsA5A2p+pQ4jZRzcVaGVQ8ctgRIh7iFuBj/G3yoGyCdXUMjBlIyGUggjzBGxFRuMcUS2glnk9SJC7eeFGcDzJ7gPMiqjlbkWHh7yG2eYRyY+pZ9cSkHdkBGQT471hz32o7aHwmuolYeaRarhvwhx8aBRjgkCPLP8A7ROwlm/QOOxEv6Ma9n36j41EVd6teJuSxz4nJ95qCFyaCTxTiIhWC+jUiW1wk2n+ctGIEgYeJTIkHlpPnXTIZQyhlIKsAQRuCDuCD5YpO4Jw5W7LjUrAqwPcQwwQfga2/RbcE2PSJLC3mmtkY97JFIVQ/BcD4UDfRRRQFROIcXhgGqeWOIecjqg/vEVyj6VPpFuFne0s5DCseFllUdtnIDFEb7AVSMsN8n2b8na3DsXkLSMe9nYuT8TQfQ/EPpg4XFn8qWQ/diV5CfcVGn8apv8At6sznRBdE+GpURfidZI+RriraV7yqD4D5VO4NaxySxiZzFCWGuVkkCBfHDaSMkbD2kUHZfou4w11c8Sn6ZjikliZRkntiIK2DgA5AQn310OuWWXIcqRI1qLWdNACTwXFxYyuoGzMYS8cj+bHv8RXqQcfjOI9RUdyzS21x/f0ROfic0HUjSxyrarNNNfOweR2aGMYI6MKMcR4YArIT23z4kDuApP5g4zxN4BFdpbwt67RxN1HmjG2THqwEH3C+HYhSQuoFl4BzHawQL0i8kbJHP1m3aTrS9F3fYYKMFDDuVcAAAYAOVFFFAUUVqlukX1mVfeQP30C6DjjZ/SsR/cuD/66Z6U4blH4yrRsrqbFu0pDDs3K+I28T8qa80C5zqdrMed7B+BZv3rU/lSLTY2q+UEQ/wCWtQOdvVtD5Xtv/jx/HHxqy5afNnbHzhjPzjWgsqKKKAooooCqPjs2m5sB5zSfIWs5q8qm4zw15LizdACsUkjOSQMBoJEGB49pgKD3k6ErYWoPf0UJ+Kg/xq4qLwu36cMSHYoiqf7Kgfwqi49zOSGjtnCss8dtJMU1pE0o8PB3BKLg7AyLnO4oLW45hgSbol/rOxkAE4MjBUDEbKWOSAdyFY9wJpOtONy2lyXvA2ptQl1DKrGHLLJaOB2oFUqJI9nULrI2YtIteGIt/aW0eSsSy3szMdTvKwECPKx3ZzrkP9kYwAAGy+MMrLBIiS6tRKsFdQEC5LA/rqP7QoIk3ONoraBMsj/chDTv8UhDEfGoXGFkvIleGN4pYZRLCLgCMSEK6spAJdFZGdckAjUDg4rIfRxw8epbLH/VM8RPvMbLn40uXPD7ZhNIxeKxtiwR+rLqM69l50dmLDp7xpjvYyd+1B7e8OlwrNE6Z3KtglSNiCVJB94O/f41Ht7Ug5IwBuSe74nuqDwrjUvEIFK2SSyAtG9zcMbYHQSoI6WZGcqFLAbKSRnbak5/5SlS3R3gBXWNUsd1czKARgKYp2ymSR2hqHd3Z3Cz5m+k+O3RorJhNcsCutd0jztq1dzMPADYHv8AIq/JfMt9bmG2gudKNIBpeJJFzI25OwcjJJPaBpdhtwuygD3VPsQ+tRD+ec9KL+slygPswGZs/o0H0Pyfx03llDcMoUyA5C5K9lmXK530nTqGd8EUVL4Lwpba3igT1YkVB7dIAz7z3/GvaD5457gKcRvFbv67N/ZkCuv4HHwqpUqqaj4Ak/Denv6buF9O8hnA7M8eg/rxHIz5ZRx+zSZy9w43N3bW/hJMgb9RTrf+6poO9cpcoW0VvA5toROYkLuUUvrKgnLkZzkmmfFe0UCxybEqS8QijGIkuuwo7lLwwySBR4DWzHA8WNM9K/0eRfk0kx77i5nnPuaVlX+4i00UCxzzwC3kgluZbeKaWCGRo+oCR2VL6SARkEj8aVeFcQiurewk6aRx65eGzxxrpTTPH2dIHcrOkJHl1K6JxqEvbzKO9o3HzUiuK8ih2tJ7dMl5bSK8gH/eLRgpA9pKQ0HW+TuIPJbaZTmaB3t5T954jp1/210v/bry75cmkYk390ik+pGLdAB5BukW+Oc1XcH4vGlx1c4t+IrFLC/2Ov0whjY/ZZkWMrnvKsO8AFuoFv8AkBat+e685857ieQfsl9P4VLh5LsV9Wzth/5MZPzK5q5ooNEVhGrBlRFYLoBCgEJnOkEdy53xUS+5btpm1SwRsx720gMfew3NWVFAr8T+jm0mQKBJFhlcGKWRd0YMNtWPDvxnyIO9eWXI7QxRxxX15HoRVyHSReyoGyTI4UbeqNhTTRQLg4Pfr6l+j+ya1RvxieP91GjigPr2Lj9SeM/43xTHRQVljdXRbTNBEo+/HMXH7LRqa3X3GoYXRJZFRnOF1HGSdgM9wydhnGTsMmq3nDitxBGrW8YZcnqyEB+kiqTq6Zkj17/pbeRqiWzkeIX8l0t1H6O4WP0cRLMkoBRJAWbPaC42BGT5mgcL3jEEJAmmijJ7g7qhPuDEZ7j8q22t9HKMxujjzRgw+YNJnLsAne9a4CzoHS1UyKrK3oqEO2k5AzNLL8qmW/LNpHMs0VtFFKpyGiURHy3EeAw9hBoLLm3jDwQhYcG4nYQwA7gO2SXYfdRQzn2LjxpK4omkPw+Bj0UihgkZgGJuLu5T6w575hHrkz5uD4UyQWUnWNxcaXZI3RCMlgvVduyo7ILx9IHAzlMbg1Q8Fj6kNjISpe7vRcyaSCAdE0ipkf8ADWONPYVNBP5A4XFDccRlTsxrIkGt2JJMMeuR3kY5ZjJK2WP3fZV7wdRLeXUwA0xlbdcDvZQHlb2kkxof6n2VWcpXPT4ZJMoVpJZriRQxCq0klzIqKSfAnQvxq5s44+H2WZn7MSNJNIftOSXkfHmzljj2gUELnjjxhiEMWszz5A6al3jiGOrMFXc6FO2O9io3pG4zKLi2eaNdHDbGJjbqQR6RNGpCOQdzEjYxn1m3qfDxG4kmYRADiN2oeRm7S2Nnv01Yf8Ug6tHi7EnYCrXmTgqpZW9lEGKvNBD4sxQSLJIzHx7KMxPtNBY8OiZYYg5JYIoYnvLaRqJ9pOT76WvpWuivD9P354VHwYt+5TTxJDXOPpkm0x2cf3pnkP8A5cZA/GSg5sY6ffob5e610904+rtsxx+Rmcdph+qmB72pCkkOwUFnYhUUd7O2yge8mvo3k3lxbGzhtxuUXLt96Ru07fFifhiguqKKKBP+lfgYueGTH7cA9IQ+2MEkfFNQ+Nc1+hm2WTimo/zUDuo/Scqmfgpb513O+tRLFJGe51ZD7mBH8a+YeU+PScPuY7hF1MgMckZONajssufBgRsfMb0H1LVDzfDfNCBYSRxyE4LOuogEqMqSdKgAsxyGO2AMmpXLnMkF9As1u+pTsQdmRvFXX7LDy+IyN6tKBd4dzAIpEtLlelKezFJgCGcgbmIrsjnc9JsEeGob0xVC4xweK6iaKZdSN8CCNwysN1YHcEbg1U8B4q0ImgvJVL22k9dmVQ8MhYRvJv2JMqysDjJXI2agYiK4hygGgksZQDiG5ktn/Umlkg39z9P410U8Pv7ga14jDHEfVNtbq2V/rJXcE+0Clyfh3DQzJPxG6u5CcvDHM7lmzneGzUb586C34YlvHFfWV40aQLO+gSMEXozgTLpLEeq7uAR3FB5VG4J9J1pCrQXV5FI8RCpMjdXrR76WPTyRKAMOMd+42YVI4Fyzw0sAOGpFnJQ3KR9R8fdSRmkPicsBWxOYhY5W8s/R0BIW4tk6luR4FtA1w7eDLj20HjfSvbMSLaG7uTjP1Vu4HxaTSAPbUNueeIS/mbGKEeDXM+T8Y4QSPcTXomSUa4pElTwdGDr8wdj7DvWtgaDKPinEWIM11CgB3W3g3I8tczNj9mpd9xudn1Q3Biz9h445k+GNDj4sfhULNanNBNi5m4gvhYzfGa3P4iQfjUtOeLhfznD3I84Z4ZfkHMZ/CqZDWwOaC5T6SbcfnYbyH9e2kYfOIOKnWvP1hIdK3cAb7ruI2/ZfBz8KWQ+9E8oYYkVXHk4Dj5NQNXMnAU4hAsZlZY9ayEx6GDhMkK2oMrLnBwQd1FV0kFz6PPF0pH0SgxM7oS6LJGy6d8kbNu2MdwzSieXrXOVgWM+cLPAf+Uy1MtrR1P1d5fRnw+uE6/s3Cv8AvoLbkO5i9BgRJUeQLmVQw1iZyXkDr6wYOzA5Gdqv+lvSLdchzXWZHFjdNnd5oHtpj757V9z/AGa1fyTmh9e1v1QeNnxJpAPaEmKNj50D9d3iwxPLIcJGpdj5KoJP4Ckvl2yZHsJpVCSXV1NdSKBgKWtpemuPDTHjPtzmsOJcat/RxbTyX8aSSJ1WvoZciJWDsiyLHpbXpCbsdmJztirDjHNVlO9qYLuByLjB0yLqVZYZos6Sc41SLQHLMBa34TFklWX0pxtjTECynuzvLNCdz9ge3NVzrzPLfXsdhZKHVHy7NvG0sRB7f3ooThmH2n0r4HMid5ksreWDILWUNsJFBboAfnmA+1KxEUcaDdnx3AGpnLXBIuFWz3N1phZgAQTr6cYJKQqRvI+SWYjd3Zj5UDDy5y4lpEVUtJI7a5pn3klkPezH8APAbe+t4gsXEi0URVhbyAmUxLLF1QCDGjalOtQe0yEYyBnJIGhbe74l+c6llZH7AOm6nX+kI/2eMj7I7Z8SKabKyjhjWOJFSNBhVUYAHsFBlo7hXHPpivQ/EIogc9GDJ9jTOT89KL867Ogya+b+a+J9W9vJwwkDTMEK9zKmI0C+YwoHt3oGn6IuXvSb5rhxmK09XyM7jb9hcn2ErXbbnXpPT06vDVnHxxuKo+QuWvQbGKE46mNcpHjK+7e/Gyj2KKYaCja9vx/8LbH2i6cZ+Bt9qKvKKBV4t9JdlBI0Ot5p1JDRW8bzOCO8HSMAj2muS8c5Ylu7l5bW0kt0lYuwuXjjALYJ0oupgCdTEfpV1jj91pkfG3mRtn3476W5Zz50GngfJEdqqvb3UkV6AMyAAwt5o8Rxrj9p7XiMd1NfDed9LrDfx+izNsj5zbSn+imPcT9x8N76W4JMmmC/kt44Al5NAqOuelKVbUDv+bbOr4A0DBxviwtoWkILnZURfWkkY6URfazED2bk7A1RIPRIJVZwbyZJJ5ZMZQPpCgnPdEhKIuRsq5P2jVJ6dZQMklmkbmNW0QuxtvrGBAdDcBQ+xKYz2VZtI7RBvOF8Ga2YXEszzTSRKjBm1Rhy2uQx/dQsVAUbALt30Hthyvby27yID+VokpWUs0ZbTqUvEhUN3jUNtWBnurRLwFLZFWW6mx9iC3UWytjwSO1QSsP7RrzmW+60QUpr0sG0xuY5gR3PBLkaJV3wDs2SMjO8flHnFTKIZ5FkMnZgutIQy6e+GdcDpXKZ3Q41ZyAM4oIkLiJgCvo5O4hiTXcyDzMUZZgP05nYearTFbcXmkHUfp2tum7NIyySEDHrFT0ovI9pz7BWPMV1JGdFvAjM/aJ0mQk57+imAx7u1K8a+00mz2rPJm7neSSPtdKLRPLHjxYkC1sfeQWH/EoLDiycKmk6kYkgmb1Li1VopJG8okUarr3hHXzNSxZXkChpoRewkA6olEF2oIz24c9OUjx0lT7DVbwuSZ9XoMQTUe3LGerI3tm4hcAq3uiSbHgRU205xMWuON/TZkzqWJitrAO8me7lJye/JJJ8Ai91BttpoLjUbZ9WnZkYFJEPlJGwDIfeKwmtyKr7KOS9voZ5HE0ah1MtsrW8UJ7x07hu3eqcaSvqb5x4Uy8V0Z7JoKEisE2NSJTWk0GerNYNvXqE1P4bw3qnchR5/wDSgrUStsjLGV6pKltkUKzyOfKOJRqc/DA8SKv7u2MRKW0ahgMvcz/mox3kgZHVbHgMKPFh3GhXht5IJGtkki1D6y5mKLe3G/qwggpaxgZxlRjwUElqCTccZeHQszNArbx2kOJb6c/paMiJdtwuceMg3FaeLzSylTfoSrEGPhsEsJcrviS56joJ8Efm1ygPfr7xqtLn0DJjsbiFmGZZZYXvGkI8XubeR3A96H2CqiGewu30vGXbuxFOl3gd+BbXgEybk9lYqCNcrHCxOqSzLH7QveG/34+rbN8EAqztOVZ72MsJ7W5Tyuore5B7jtdWpR/iVBph4FytAB+TTTx4+yrSwEHw1QSfVjb+iFWcnALW3DXE2gFAXacqkMgA3OuSEJqHsxQVvBeDSWNrMy2MJlBDJDazOyOR3FVnCiEgknbOw8TgVV8cd76weSfpqYZsNoicPbkAq75cnLR61k1KBsjDxwLzly+ub2UXRLQWYBEERADzAjHVmyMoviiDB8T4Cqi+N3YR63khitlu9TEdtpUubvLNKXUCJVSQjC5JK5yBsQvuWeYPSYiHwtxFhLiMfZfHrL5xOO2jDYgj21aNXOuKcJiNxGlsZIZtjbxOGilWNy51W8qamjgBViYp0ZV2GldQBZ1fiEK4eWzn7Pe4khYNj7RjDrIAfJUz7KCn+lHmZobZ7e3z1pEzIy/zMDMELk/ZLk6F95PhSV9F3JzXV1HK6EWtuQ4JHZkkHqKp7mCntEjxAHjXQ7GKCGKRZMXE05DXMjrtI3gAp9WNe5V8APPJqNdw2jHPoyI33oswN+3CVJoOgUVzVesh+ovLpPZIyXK/85S/9+rrhvGL8YyLa6HjpL2sv7La42PuZaBworXbyFlBZShI3UlSR7CVJB+BrygUOZYz1M+f8KXihroXGuGCRc+IqgTgmDvvQVvCLHVIo8O+tnCOBR3vUuWMsNwJp4OtbuYZDHFM6Ir47L4VVHaU9wpi4bZ6XXaq/ktl6UsYZeolzcl4wRrXVcysNS94ypUg+IIoK7jvL7wwu/pvEZkUZZOtAuV8e00Q2HkDmsOXOMFrLosBqhjR1cSiYNFJJKi9sb6lMZVgfEeNNHGVuFgdrVFeYY0K42O4yPXTG2d9Xz7qT+RuGTPJcmdVVljMUoDxsTPJPLdN2Y2cIo6oABYneg1SS1Fm4ClzqGF6jDdWOlZdO4V2G6ON9Eo7SHzUspmXVkykgjfNECHb2UG/gHM08EbpciS6tUOh5NP5Xb7bpeQru4A/nY86h2twc1a3nNNkyKlrEt6QNSxwKjRJtnVJKfqocfpHI8qiROBIJtJ6yjSrq2gsO/RIcHXHnwIOnvXBrTDYxNlrlOsxbX0sCO1DeYgXaQ/pSam27x3AK25muOIZDt14+4xW7NBYL7J7vGu6I2ykQx7BU+PgsEaqJtNwU3SJUEVnGfDp242Yj70mpvaKkT3TMd+4dyjZQPAKB3Co7jzoJc3GHfvOPYNgPdUNpSTuawNYsKAaShWrwRVvW3NARmt8U2O6vBBWXSoMX4crs7xzS28j+u0el43JGProJAY5M+eAx86qE4JxC0ybUo0e+Ut+3CR+lYzsDHn+gl9y1bb+dZ9YjxoKKx5w6baJrOdH8fQppQ3v9DmKSD9lh7TVxHzNwq5+ru5UYnbRfwLC49gZ0QfvPtqwXjeQEmjSVfJwDj5ipvp0Tkl1Zl06RCQpjG+SdONydtz3AYGMnIbbewtLKIzpIYoEUsfrnaEL7EZmUezSBSje3z8RkEtwpSzQh4LZtmlI3WW5H3fFYvi3kdnEuX7Murx2yx6SW0L2Yi22HaJeyzjwJG2T7MZlc0Em54xK59cj2Db91eQcRkGxYsp+y3aGxyNj5GsIbUnwq+4by6G3fIHl40FWbt2cSHHUClA2AG0EhiufLIBx7K1zszbmp1zxeG34hBadPUJUJLYZyrknpggAgKQkuSfIeGaqpud4plV7NYg6NH1kuFKgJLN0Qdat2NyH1aWBU0B6IT4VtHC3x3Vv4Hz4lzIUS1IVHEUkgIaPX/RyKuh13G5ZSQdl8Kqbf6SZjIR6OjruuAssZQhmGrOHaeMKpLNGmxIAzuQFnFw1vKr/AINwtkOo7VSD6RodC9DpXMoTXL0pAkab4C5ftmRyCqxhSxIOcVJl+kKNZGjZChW4WHMh0h1LLGzRN3OyO4DJnIAJoG2iiigKwMQ8hWdQeLcZitkDzEhSSMhWfcKz9ygnuU48zgd5AITVUDuqp4zyna3ZDTwozjukGUkA8hIhDgezNY/yvt+p09UhbGraCcjTnGoME0lM/azj21ZWl6ksaSIco6q6nu7LAMMg7jYjvoFz/sysvFZ2Hk11dEe7HU7qv+F8IhtoxHBGkSD7KAAZ8z5n2nesLvjcMfU1vvHo1gAsw6h0oNIGSWOwAqaGoNMlkjHLKD7xmtLcGh+4B7sj91TNQr2ghjhEX3fxNYNwOI/Z/Gp2awnuFRGdiAigszHuCgZJJ8sUEYcHiH2BXo4TF9wVnYX6zIrpqCtuNaNG2PPS4DAfDxFSM0EGTgcJOTGPhkUDgcP3BU7WPOjNBDPB4vuD4V5/oWPyNTdQr2gg/wCho/I/Oj/Q0fkfnU0NWCXAJYDPZIU5BAyQDsSMN6w3GRnI7wRQQf8AQMfkaDwGM94qyqql5nt1aRXdkMalm1xyKCqsEZkLKBIAzKCUzjUPMUGX8nYc5wfnW7/Q8Wc6fxNa+LceitgDMXAOwKxSyDJIUAmNSASSAAe/O1S7S6EiB11YPdqVkbvxurgMPiKDE8Pj+4vyFCcPjHdGn7IrfmodxxmJGZWcalaJWABJBncRx5A+8xx++glLEB3AD3Cs68Bo1Cg0TcPjchmRSwZWBxvqTOk59mTj3mtA4Fb6AnRjKAKoUopGlG1qNx3Bu0B4Het9vfpI0iqctE2hxgjDaEfG/f2ZEOR51vBoK48t2plMxt4TKSp1lFLZUAKQSNsBQNvIVKPDoun0jGhj7tBUFMZzup27963k1Am49CkvSdmVt8ZjkCEhDIQsmnQzaAW0gk4B22NBuThcQZWEUYZRhWCKCoPeFOMge6vE4VEE0dNNGsyaSARrZzIWwftaiTnzNRouZrdpI41cs8qq6AKxBV0d1JOML2Y2O+MbZ9YZtKAooooCsXjDDBAIyDuM7g5HyIBrKigo5+EP6UZFUCP0UwrggYbXkDHgMUrryXNHHGiQRaDDaJMqiBmMkS3IkZBMDGXy8ILsCSobG4FdEooEjk7lV7eQNPAjMbeFermNirwhlKk7MdungqMdkd2AKmcm8Dkt45kMQjUhQmrpGZiFYN1Xh2kG4w7ds5Yt4U10UHP7HkRo1iIhiDpHw/caciSGfVcsD95o8At3uNt6tOR+GMpmdjlY2Npbk5z6PBI+Cc+OpihPiIkNNlFByyz5YnnhVoYRFp6nVOYw1yDdpJoIIYEBI3H1ox29ONJY1Y/yFZo5AYdvRZ0iSZoSUlldiMCICNBucaRhckV0KigRU5RdJVCQRg9S3eOdWVejFEsXViVfWGopLsvZb0htWMHMJvo8b0aJBDH1FsVjJyMi6zEWYN36ux6/fsK6PRQc25g5LuGWeOCFBGzTtAE6AMbPFbhCDIp6KF1lJ6eG1aTkZzUu/wCSpmEjRKiTSS3ZMmrSxjmWTpqzr2tJOjb7Pf3in6ig51xHlF5XDLZtDEU0rFC1orRy5BMoLKyoWGka4yHHRXY52Y+YuXmuJ4mGnCQXCq530TObcxOF8SuhjnwIHjimKig51Zco3EUJeCNo7qPpFBI8HSZgssUhHQRc5SUnW41MUjyOzXl7yHKpKhGlt1bSI1aDWR6JawrIRcKyag0UoPcw6mQdyD0aig53eclXR6nTbAAURapMt+URJDdGQjALKF6inG7E92aYb/l7WLjKM31awwjUmBFiMssYOy5dQSW3OlfALTHRQVXM3D3mtykYBbqRNucbJPG7b/qqaoeYOXLpriWa3K4AS5iBbGq7QdLSw+4YBpyfF/ZTnRQIthyfJDNGqxg9OWJ1uiy6hBHCkZix6+WKsNPq4csTq2rbxzlNpbqZxbxusxtCZDoBAguFaVWz2u1GB3ZB04OMCnWig57fcq3KJcJDCpWWK8gjVXVFjE7q8Zwdgvr7LuDjbByNlzyIzyM7QxMXku2YtpJZZR9Tqz3gEA4PqkZ76fqKDnQ5QnZm1QdssjtcLIgcoLGKB4lcHWGaRWGT2d9WcgCrfhnL8o4fd2/TSIyLIkQxEjYeEIDN0B09WvVuo9ULnfNN1FBzriNhM1xFJNaa1knXEBaJ8hLKdDqyemO15ny8dqveF8uSKkCz5cwW4VQGBQSsro2M7swQ6AzbYJ7ixpoooIPCOHrHDENAVkjVe5dQwirgsO/1QNtthU6iigKKKKAooooCiiigKKKKAooooCiiigKKKKAooooCiiigKKKKAooooCiiigKKKKAooooCiiigKKKKAooooCiiig//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86022" name="AutoShape 6" descr="data:image/jpeg;base64,/9j/4AAQSkZJRgABAQAAAQABAAD/2wCEAAkGBhQSERQUEhQVFRQWGBwWFxcWGBgWGBsYGBgXGBwcFxcYHyYgFxojHBgYHy8gIycpLC0sGB4xNTIqNSYrLCkBCQoKBQUFDQUFDSkYEhgpKSkpKSkpKSkpKSkpKSkpKSkpKSkpKSkpKSkpKSkpKSkpKSkpKSkpKSkpKSkpKSkpKf/AABEIAMIBAwMBIgACEQEDEQH/xAAcAAACAgMBAQAAAAAAAAAAAAAABgQFAgMHAQj/xABQEAACAQMCAwQGBQcIBwYHAAABAgMABBESIQUGEyIxQVEUMmFxgZEHI0JSoSQzYnKSscEWQ2NzgqKywhUlNDVTo9EXZHSD0vBERZOks7Ti/8QAFAEBAAAAAAAAAAAAAAAAAAAAAP/EABQRAQAAAAAAAAAAAAAAAAAAAAD/2gAMAwEAAhEDEQA/AOn/AJSeI/zohC7bp0SunfI9Yya/kF8u+FJfcSX+aDdrVtoA0AHIPeWOWXABGTGdwM5b6KBR4RxLiDGISwSYZvrGKwIUGru0dU5BBG4LEAONzpNZzcQvw8qiE6Cx6bDSWCs6qhxsuBpYsDlgJFPgRTXRQJAv+JMylVfQsTNkxIpdlD41xMdSsToGkOucZwoJ05xcT4kqo5iZ8pJrRkjjKNqJVjpkPUwNKhFIJ7Zycrh0ooFjhd/ea0WSNjGWGJGRUfHbJ6iqxVQQMDTuMLqGXOGeiigKKKKAooooCiiigKKKKAooooCiiigKKKKAooooFS+u+IdSQRoNGvQhKr3ErhjvkoBIPb9S/mM5WnEL76wyRHAjbQuFz1cK6gkHGPrNGe7MLk94y00UCaeJcQ0APGyMp3dIxNqC6FOpezqJfJ7OkFGyCpU1Gm4hxQCVhG4JcKqBIpNIIkJK5KZC4QZJbOdgSTh7ooFK6a9j9RpnLtqBMcLacJGVQgFVjQszhmJJxHgHJBrCLi1/2j0WIIYlTGqMh7gIu0eoFLKSXwW0uV8FDhRQKi316IZFlSTUJTiWFELNHknMcLEhQCVQaiSVy3eKwN/xBjIUjZd8BXSMBcMcBGDkyEr6zHbJGnxFN1FBosWcxoZBh9I1D9LG/d4ZzRW+igKKKKAooooCiiigKKKKAooooCiiigo+McRdLyxjVsJK0wcYHa0wl13IyMEE7eVXlLHMbf6w4WP6Sc/AW0n/AFFM9BUc3cUa2sbmePAeKJnXIyNSjIyPEZr3l6+aX0gsc6biSNe7ZUwANu/x+dV/0lf7rux5x6f2mVf41t5KH1U587y6/C4kX/LQMNFFFAUUUUBRRXjHFBR8vcfNxJMpAAjJAx44uLmLPyhU/E1e0j/RkcrI3cWjgb/6okuP3zGnigKKKKAooooCiiigKKKKAooooCiiigKKxkkCgsxAAGSScAAbkk+ApDN3dcYY+jyPacOBx1l2nuMbHpZ/NR/pd5+YAMnGudLO0OLi4jR/uZ1SH3Rrlj8qr4efxJvDZcQkHgwt+mCPMGZk2qfy/wAl2lkPqIVDd5kbtysfEtI2WPzxV3QLkHOeGAuLW6tVPdJKqGP+28TuI/e+B7aYlbIyNxXtFAUUUUBRRRQK/Ghni3Dh92K6f+7Cn+Y00Us8UH+trH/w91/itqZqBa+kj/dlz+qP8aVv5K/2Vj53F0fndz1o+kcf6unHmYx85ox/Gt3JJ/Jn8vSbvHu9LnoL+iiigKKKKAqs5mujHZ3Mg70gkYe9Y2I/dVnS99IM2nhl3+lEyft4T/NQQ+RbQxyXSeEfo0Q/sWcP/qptpd5ROZL9vO8cfBIYI/8ALTFQFFFFBS8a5vtrVtEkmZcZEUYMkp8uwuSM+ZwPbVX/AChlOmSRxGuciGJVdvPTLM4IPtCKMeDHvrHmfla5uZOpbXaIMaSkkSyAEd+llKny2bV/ClzjXJwsIoJ2lkuLlrmKJ5XOAI5dUbJHGOzGh1DbvPnQW3E+Z3mcdK6ktgBggQQzAnffLnI+Vbrfmua3XXPLHdW646siRmGaJScdR49TLJGPtFdJUb4IFLDwb1us3KuMHH/vux4j2e2g6tHIGAKkEEZBG4IPcQfEVlSbyZN0LmayH5kRpc26/cSRnSSNf0FkXKjwD47gKcqAooooCiiigVfpEBkggtslVurmKByNj0zqdwD7VjK/Gr17uG3TSWjjWJAdOQNKeqvZ8F2wPdiqLn86Fspj6sN7CznyV9UOT7jIK08T4Epu3MsgHpMts0a4LMy2uZGjKgdlAw16s4y+D4ZBsjnViwVgSp0tg5w2A2D5HDA49orZVVw/gIik1h2JLTOQe4meRH3/AFAgQeyrWgKKgcTuJ1aHoxrIrSBZstpKRkN21+8Q2nbyzU+gi23EkeSWNc64iofIIHbUOCD9oYPePEEVKpf4vxe9idunZJPENwy3KxvjG+UkQKPH7dQOV/pEF7KY0tLhdJ0vJ9VJCreRljkIJ/Vz7cUDfRRRQLHFDni9iPK3umPxa2FM9K9wM8ah/Rspj+1PAP4U0UC19IR/IwPvXFqvzuoapuHc0i0srchS5muZSQATpia8cO5xvt1UAG5JYDHlc8/fmIR53lp/+1EaqeXeVIrq1tWlLERNOrRjGiQeks2HyM4Dxo2xG675FA5cO4ik6dSI6l1MucEbo7I2x8mUipNa7e3WNQiKqKowqqAoA8gBsBWygKKKKApc5+UNaBD/ADk9tH8GuYQfwzTHS9zguo2S+d5Ef2A8n+Sg95NHYuT53lz+EzL/AJaYKoOSx+Tye26uj/8AdTVfM2Bmg9qq4mbe4ZrKXtM0YlaMF1+r1gAllxgFhjGd8HwzSvxD6V1EohtrWeWQ93W02aHw2a40kn2BabOB3E0kQe5gWCU5GhZBLhR3ZcAAnv2GaCil+jqCEdThyi1uFOVZS/TfHek0ecOjdxOMjYjcVLvuFPxCyeK6iNtITtpdZNLrhlkRl7wG3AODtvjNXXElkMMggKiUowjL50h8HSWxvgHFZWUTLGiyPrdVUM+ANTAAFsDYZOTj20HImuJYZxa3ceicjKuCOlLjbMR7yTgnRjI+VS4VOqrz6QRJcuLUSQxxJ0ppCUd7gdtipi7kXeMjVnPf8Yk13G0nx78UGzkxNfF7p1OVgtooSf05GaYj4AV0Skj6NFVG4gjbT+ltI6nv6bqvRYeaFBsfPNO9AUUUUBRRRQQuM8JS6glglGUkUocd4z4g+BBwQfMClDgxuJZtJljS/s0MEokQvHNC5VkmQKyldWgEkHGoMpGwp8pf5p5babRPbsI7yDJikPqsD3xSgetE3j5Hce0L9c437/Hwr2qvlvjou4BIFKOCY5Y29aOVDh0b3Hx8QQfGrSgKKKpOaOYfRkVIl6lzMSlvF958bs33Y0HaZvAe0igqm4RFf310LgNLDb9KNImZuj1ShkctGDpc4eMdoHGKbILdUUKihVUYCqAAB5ADYVXctcD9Ft1jLa5CTJLIe+SVzqdz7ydh4AAeFWtAUUUUCv8A/O/dY/4rj/8AkU0Urx/77f2WKfjcSf8ASmigWueh9Xa/+Ntf/wA6/wAa38kJizX+smPzuJT/ABrXzqPq7Yf99tvwmU/wrZyM2bGFvv63HueR3H4MKC+ooooCiiigKX+Zd7jhy+d0W/Ztbk0wVS8YizdWJ+7JIfnBIP40GPJY/JFP3pJn/buJX/jV5VJyX/sMH6v+Zqu6DTdWiSqUkRXU96uoZT7wdqR+Vee7e3t4ba8aS3mRNJ68LxJsxXsuV0adsA5A2p+pQ4jZRzcVaGVQ8ctgRIh7iFuBj/G3yoGyCdXUMjBlIyGUggjzBGxFRuMcUS2glnk9SJC7eeFGcDzJ7gPMiqjlbkWHh7yG2eYRyY+pZ9cSkHdkBGQT471hz32o7aHwmuolYeaRarhvwhx8aBRjgkCPLP8A7ROwlm/QOOxEv6Ma9n36j41EVd6teJuSxz4nJ95qCFyaCTxTiIhWC+jUiW1wk2n+ctGIEgYeJTIkHlpPnXTIZQyhlIKsAQRuCDuCD5YpO4Jw5W7LjUrAqwPcQwwQfga2/RbcE2PSJLC3mmtkY97JFIVQ/BcD4UDfRRRQFROIcXhgGqeWOIecjqg/vEVyj6VPpFuFne0s5DCseFllUdtnIDFEb7AVSMsN8n2b8na3DsXkLSMe9nYuT8TQfQ/EPpg4XFn8qWQ/diV5CfcVGn8apv8At6sznRBdE+GpURfidZI+RriraV7yqD4D5VO4NaxySxiZzFCWGuVkkCBfHDaSMkbD2kUHZfou4w11c8Sn6ZjikliZRkntiIK2DgA5AQn310OuWWXIcqRI1qLWdNACTwXFxYyuoGzMYS8cj+bHv8RXqQcfjOI9RUdyzS21x/f0ROfic0HUjSxyrarNNNfOweR2aGMYI6MKMcR4YArIT23z4kDuApP5g4zxN4BFdpbwt67RxN1HmjG2THqwEH3C+HYhSQuoFl4BzHawQL0i8kbJHP1m3aTrS9F3fYYKMFDDuVcAAAYAOVFFFAUUVqlukX1mVfeQP30C6DjjZ/SsR/cuD/66Z6U4blH4yrRsrqbFu0pDDs3K+I28T8qa80C5zqdrMed7B+BZv3rU/lSLTY2q+UEQ/wCWtQOdvVtD5Xtv/jx/HHxqy5afNnbHzhjPzjWgsqKKKAooooCqPjs2m5sB5zSfIWs5q8qm4zw15LizdACsUkjOSQMBoJEGB49pgKD3k6ErYWoPf0UJ+Kg/xq4qLwu36cMSHYoiqf7Kgfwqi49zOSGjtnCss8dtJMU1pE0o8PB3BKLg7AyLnO4oLW45hgSbol/rOxkAE4MjBUDEbKWOSAdyFY9wJpOtONy2lyXvA2ptQl1DKrGHLLJaOB2oFUqJI9nULrI2YtIteGIt/aW0eSsSy3szMdTvKwECPKx3ZzrkP9kYwAAGy+MMrLBIiS6tRKsFdQEC5LA/rqP7QoIk3ONoraBMsj/chDTv8UhDEfGoXGFkvIleGN4pYZRLCLgCMSEK6spAJdFZGdckAjUDg4rIfRxw8epbLH/VM8RPvMbLn40uXPD7ZhNIxeKxtiwR+rLqM69l50dmLDp7xpjvYyd+1B7e8OlwrNE6Z3KtglSNiCVJB94O/f41Ht7Ug5IwBuSe74nuqDwrjUvEIFK2SSyAtG9zcMbYHQSoI6WZGcqFLAbKSRnbak5/5SlS3R3gBXWNUsd1czKARgKYp2ymSR2hqHd3Z3Cz5m+k+O3RorJhNcsCutd0jztq1dzMPADYHv8AIq/JfMt9bmG2gudKNIBpeJJFzI25OwcjJJPaBpdhtwuygD3VPsQ+tRD+ec9KL+slygPswGZs/o0H0Pyfx03llDcMoUyA5C5K9lmXK530nTqGd8EUVL4Lwpba3igT1YkVB7dIAz7z3/GvaD5457gKcRvFbv67N/ZkCuv4HHwqpUqqaj4Ak/Denv6buF9O8hnA7M8eg/rxHIz5ZRx+zSZy9w43N3bW/hJMgb9RTrf+6poO9cpcoW0VvA5toROYkLuUUvrKgnLkZzkmmfFe0UCxybEqS8QijGIkuuwo7lLwwySBR4DWzHA8WNM9K/0eRfk0kx77i5nnPuaVlX+4i00UCxzzwC3kgluZbeKaWCGRo+oCR2VL6SARkEj8aVeFcQiurewk6aRx65eGzxxrpTTPH2dIHcrOkJHl1K6JxqEvbzKO9o3HzUiuK8ih2tJ7dMl5bSK8gH/eLRgpA9pKQ0HW+TuIPJbaZTmaB3t5T954jp1/210v/bry75cmkYk390ik+pGLdAB5BukW+Oc1XcH4vGlx1c4t+IrFLC/2Ov0whjY/ZZkWMrnvKsO8AFuoFv8AkBat+e685857ieQfsl9P4VLh5LsV9Wzth/5MZPzK5q5ooNEVhGrBlRFYLoBCgEJnOkEdy53xUS+5btpm1SwRsx720gMfew3NWVFAr8T+jm0mQKBJFhlcGKWRd0YMNtWPDvxnyIO9eWXI7QxRxxX15HoRVyHSReyoGyTI4UbeqNhTTRQLg4Pfr6l+j+ya1RvxieP91GjigPr2Lj9SeM/43xTHRQVljdXRbTNBEo+/HMXH7LRqa3X3GoYXRJZFRnOF1HGSdgM9wydhnGTsMmq3nDitxBGrW8YZcnqyEB+kiqTq6Zkj17/pbeRqiWzkeIX8l0t1H6O4WP0cRLMkoBRJAWbPaC42BGT5mgcL3jEEJAmmijJ7g7qhPuDEZ7j8q22t9HKMxujjzRgw+YNJnLsAne9a4CzoHS1UyKrK3oqEO2k5AzNLL8qmW/LNpHMs0VtFFKpyGiURHy3EeAw9hBoLLm3jDwQhYcG4nYQwA7gO2SXYfdRQzn2LjxpK4omkPw+Bj0UihgkZgGJuLu5T6w575hHrkz5uD4UyQWUnWNxcaXZI3RCMlgvVduyo7ILx9IHAzlMbg1Q8Fj6kNjISpe7vRcyaSCAdE0ipkf8ADWONPYVNBP5A4XFDccRlTsxrIkGt2JJMMeuR3kY5ZjJK2WP3fZV7wdRLeXUwA0xlbdcDvZQHlb2kkxof6n2VWcpXPT4ZJMoVpJZriRQxCq0klzIqKSfAnQvxq5s44+H2WZn7MSNJNIftOSXkfHmzljj2gUELnjjxhiEMWszz5A6al3jiGOrMFXc6FO2O9io3pG4zKLi2eaNdHDbGJjbqQR6RNGpCOQdzEjYxn1m3qfDxG4kmYRADiN2oeRm7S2Nnv01Yf8Ug6tHi7EnYCrXmTgqpZW9lEGKvNBD4sxQSLJIzHx7KMxPtNBY8OiZYYg5JYIoYnvLaRqJ9pOT76WvpWuivD9P354VHwYt+5TTxJDXOPpkm0x2cf3pnkP8A5cZA/GSg5sY6ffob5e610904+rtsxx+Rmcdph+qmB72pCkkOwUFnYhUUd7O2yge8mvo3k3lxbGzhtxuUXLt96Ru07fFifhiguqKKKBP+lfgYueGTH7cA9IQ+2MEkfFNQ+Nc1+hm2WTimo/zUDuo/Scqmfgpb513O+tRLFJGe51ZD7mBH8a+YeU+PScPuY7hF1MgMckZONajssufBgRsfMb0H1LVDzfDfNCBYSRxyE4LOuogEqMqSdKgAsxyGO2AMmpXLnMkF9As1u+pTsQdmRvFXX7LDy+IyN6tKBd4dzAIpEtLlelKezFJgCGcgbmIrsjnc9JsEeGob0xVC4xweK6iaKZdSN8CCNwysN1YHcEbg1U8B4q0ImgvJVL22k9dmVQ8MhYRvJv2JMqysDjJXI2agYiK4hygGgksZQDiG5ktn/Umlkg39z9P410U8Pv7ga14jDHEfVNtbq2V/rJXcE+0Clyfh3DQzJPxG6u5CcvDHM7lmzneGzUb586C34YlvHFfWV40aQLO+gSMEXozgTLpLEeq7uAR3FB5VG4J9J1pCrQXV5FI8RCpMjdXrR76WPTyRKAMOMd+42YVI4Fyzw0sAOGpFnJQ3KR9R8fdSRmkPicsBWxOYhY5W8s/R0BIW4tk6luR4FtA1w7eDLj20HjfSvbMSLaG7uTjP1Vu4HxaTSAPbUNueeIS/mbGKEeDXM+T8Y4QSPcTXomSUa4pElTwdGDr8wdj7DvWtgaDKPinEWIM11CgB3W3g3I8tczNj9mpd9xudn1Q3Biz9h445k+GNDj4sfhULNanNBNi5m4gvhYzfGa3P4iQfjUtOeLhfznD3I84Z4ZfkHMZ/CqZDWwOaC5T6SbcfnYbyH9e2kYfOIOKnWvP1hIdK3cAb7ruI2/ZfBz8KWQ+9E8oYYkVXHk4Dj5NQNXMnAU4hAsZlZY9ayEx6GDhMkK2oMrLnBwQd1FV0kFz6PPF0pH0SgxM7oS6LJGy6d8kbNu2MdwzSieXrXOVgWM+cLPAf+Uy1MtrR1P1d5fRnw+uE6/s3Cv8AvoLbkO5i9BgRJUeQLmVQw1iZyXkDr6wYOzA5Gdqv+lvSLdchzXWZHFjdNnd5oHtpj757V9z/AGa1fyTmh9e1v1QeNnxJpAPaEmKNj50D9d3iwxPLIcJGpdj5KoJP4Ckvl2yZHsJpVCSXV1NdSKBgKWtpemuPDTHjPtzmsOJcat/RxbTyX8aSSJ1WvoZciJWDsiyLHpbXpCbsdmJztirDjHNVlO9qYLuByLjB0yLqVZYZos6Sc41SLQHLMBa34TFklWX0pxtjTECynuzvLNCdz9ge3NVzrzPLfXsdhZKHVHy7NvG0sRB7f3ooThmH2n0r4HMid5ksreWDILWUNsJFBboAfnmA+1KxEUcaDdnx3AGpnLXBIuFWz3N1phZgAQTr6cYJKQqRvI+SWYjd3Zj5UDDy5y4lpEVUtJI7a5pn3klkPezH8APAbe+t4gsXEi0URVhbyAmUxLLF1QCDGjalOtQe0yEYyBnJIGhbe74l+c6llZH7AOm6nX+kI/2eMj7I7Z8SKabKyjhjWOJFSNBhVUYAHsFBlo7hXHPpivQ/EIogc9GDJ9jTOT89KL867Ogya+b+a+J9W9vJwwkDTMEK9zKmI0C+YwoHt3oGn6IuXvSb5rhxmK09XyM7jb9hcn2ErXbbnXpPT06vDVnHxxuKo+QuWvQbGKE46mNcpHjK+7e/Gyj2KKYaCja9vx/8LbH2i6cZ+Bt9qKvKKBV4t9JdlBI0Ot5p1JDRW8bzOCO8HSMAj2muS8c5Ylu7l5bW0kt0lYuwuXjjALYJ0oupgCdTEfpV1jj91pkfG3mRtn3476W5Zz50GngfJEdqqvb3UkV6AMyAAwt5o8Rxrj9p7XiMd1NfDed9LrDfx+izNsj5zbSn+imPcT9x8N76W4JMmmC/kt44Al5NAqOuelKVbUDv+bbOr4A0DBxviwtoWkILnZURfWkkY6URfazED2bk7A1RIPRIJVZwbyZJJ5ZMZQPpCgnPdEhKIuRsq5P2jVJ6dZQMklmkbmNW0QuxtvrGBAdDcBQ+xKYz2VZtI7RBvOF8Ga2YXEszzTSRKjBm1Rhy2uQx/dQsVAUbALt30Hthyvby27yID+VokpWUs0ZbTqUvEhUN3jUNtWBnurRLwFLZFWW6mx9iC3UWytjwSO1QSsP7RrzmW+60QUpr0sG0xuY5gR3PBLkaJV3wDs2SMjO8flHnFTKIZ5FkMnZgutIQy6e+GdcDpXKZ3Q41ZyAM4oIkLiJgCvo5O4hiTXcyDzMUZZgP05nYearTFbcXmkHUfp2tum7NIyySEDHrFT0ovI9pz7BWPMV1JGdFvAjM/aJ0mQk57+imAx7u1K8a+00mz2rPJm7neSSPtdKLRPLHjxYkC1sfeQWH/EoLDiycKmk6kYkgmb1Li1VopJG8okUarr3hHXzNSxZXkChpoRewkA6olEF2oIz24c9OUjx0lT7DVbwuSZ9XoMQTUe3LGerI3tm4hcAq3uiSbHgRU205xMWuON/TZkzqWJitrAO8me7lJye/JJJ8Ai91BttpoLjUbZ9WnZkYFJEPlJGwDIfeKwmtyKr7KOS9voZ5HE0ah1MtsrW8UJ7x07hu3eqcaSvqb5x4Uy8V0Z7JoKEisE2NSJTWk0GerNYNvXqE1P4bw3qnchR5/wDSgrUStsjLGV6pKltkUKzyOfKOJRqc/DA8SKv7u2MRKW0ahgMvcz/mox3kgZHVbHgMKPFh3GhXht5IJGtkki1D6y5mKLe3G/qwggpaxgZxlRjwUElqCTccZeHQszNArbx2kOJb6c/paMiJdtwuceMg3FaeLzSylTfoSrEGPhsEsJcrviS56joJ8Efm1ygPfr7xqtLn0DJjsbiFmGZZZYXvGkI8XubeR3A96H2CqiGewu30vGXbuxFOl3gd+BbXgEybk9lYqCNcrHCxOqSzLH7QveG/34+rbN8EAqztOVZ72MsJ7W5Tyuore5B7jtdWpR/iVBph4FytAB+TTTx4+yrSwEHw1QSfVjb+iFWcnALW3DXE2gFAXacqkMgA3OuSEJqHsxQVvBeDSWNrMy2MJlBDJDazOyOR3FVnCiEgknbOw8TgVV8cd76weSfpqYZsNoicPbkAq75cnLR61k1KBsjDxwLzly+ub2UXRLQWYBEERADzAjHVmyMoviiDB8T4Cqi+N3YR63khitlu9TEdtpUubvLNKXUCJVSQjC5JK5yBsQvuWeYPSYiHwtxFhLiMfZfHrL5xOO2jDYgj21aNXOuKcJiNxGlsZIZtjbxOGilWNy51W8qamjgBViYp0ZV2GldQBZ1fiEK4eWzn7Pe4khYNj7RjDrIAfJUz7KCn+lHmZobZ7e3z1pEzIy/zMDMELk/ZLk6F95PhSV9F3JzXV1HK6EWtuQ4JHZkkHqKp7mCntEjxAHjXQ7GKCGKRZMXE05DXMjrtI3gAp9WNe5V8APPJqNdw2jHPoyI33oswN+3CVJoOgUVzVesh+ovLpPZIyXK/85S/9+rrhvGL8YyLa6HjpL2sv7La42PuZaBworXbyFlBZShI3UlSR7CVJB+BrygUOZYz1M+f8KXihroXGuGCRc+IqgTgmDvvQVvCLHVIo8O+tnCOBR3vUuWMsNwJp4OtbuYZDHFM6Ir47L4VVHaU9wpi4bZ6XXaq/ktl6UsYZeolzcl4wRrXVcysNS94ypUg+IIoK7jvL7wwu/pvEZkUZZOtAuV8e00Q2HkDmsOXOMFrLosBqhjR1cSiYNFJJKi9sb6lMZVgfEeNNHGVuFgdrVFeYY0K42O4yPXTG2d9Xz7qT+RuGTPJcmdVVljMUoDxsTPJPLdN2Y2cIo6oABYneg1SS1Fm4ClzqGF6jDdWOlZdO4V2G6ON9Eo7SHzUspmXVkykgjfNECHb2UG/gHM08EbpciS6tUOh5NP5Xb7bpeQru4A/nY86h2twc1a3nNNkyKlrEt6QNSxwKjRJtnVJKfqocfpHI8qiROBIJtJ6yjSrq2gsO/RIcHXHnwIOnvXBrTDYxNlrlOsxbX0sCO1DeYgXaQ/pSam27x3AK25muOIZDt14+4xW7NBYL7J7vGu6I2ykQx7BU+PgsEaqJtNwU3SJUEVnGfDp242Yj70mpvaKkT3TMd+4dyjZQPAKB3Co7jzoJc3GHfvOPYNgPdUNpSTuawNYsKAaShWrwRVvW3NARmt8U2O6vBBWXSoMX4crs7xzS28j+u0el43JGProJAY5M+eAx86qE4JxC0ybUo0e+Ut+3CR+lYzsDHn+gl9y1bb+dZ9YjxoKKx5w6baJrOdH8fQppQ3v9DmKSD9lh7TVxHzNwq5+ru5UYnbRfwLC49gZ0QfvPtqwXjeQEmjSVfJwDj5ipvp0Tkl1Zl06RCQpjG+SdONydtz3AYGMnIbbewtLKIzpIYoEUsfrnaEL7EZmUezSBSje3z8RkEtwpSzQh4LZtmlI3WW5H3fFYvi3kdnEuX7Murx2yx6SW0L2Yi22HaJeyzjwJG2T7MZlc0Em54xK59cj2Db91eQcRkGxYsp+y3aGxyNj5GsIbUnwq+4by6G3fIHl40FWbt2cSHHUClA2AG0EhiufLIBx7K1zszbmp1zxeG34hBadPUJUJLYZyrknpggAgKQkuSfIeGaqpud4plV7NYg6NH1kuFKgJLN0Qdat2NyH1aWBU0B6IT4VtHC3x3Vv4Hz4lzIUS1IVHEUkgIaPX/RyKuh13G5ZSQdl8Kqbf6SZjIR6OjruuAssZQhmGrOHaeMKpLNGmxIAzuQFnFw1vKr/AINwtkOo7VSD6RodC9DpXMoTXL0pAkab4C5ftmRyCqxhSxIOcVJl+kKNZGjZChW4WHMh0h1LLGzRN3OyO4DJnIAJoG2iiigKwMQ8hWdQeLcZitkDzEhSSMhWfcKz9ygnuU48zgd5AITVUDuqp4zyna3ZDTwozjukGUkA8hIhDgezNY/yvt+p09UhbGraCcjTnGoME0lM/azj21ZWl6ksaSIco6q6nu7LAMMg7jYjvoFz/sysvFZ2Hk11dEe7HU7qv+F8IhtoxHBGkSD7KAAZ8z5n2nesLvjcMfU1vvHo1gAsw6h0oNIGSWOwAqaGoNMlkjHLKD7xmtLcGh+4B7sj91TNQr2ghjhEX3fxNYNwOI/Z/Gp2awnuFRGdiAigszHuCgZJJ8sUEYcHiH2BXo4TF9wVnYX6zIrpqCtuNaNG2PPS4DAfDxFSM0EGTgcJOTGPhkUDgcP3BU7WPOjNBDPB4vuD4V5/oWPyNTdQr2gg/wCho/I/Oj/Q0fkfnU0NWCXAJYDPZIU5BAyQDsSMN6w3GRnI7wRQQf8AQMfkaDwGM94qyqql5nt1aRXdkMalm1xyKCqsEZkLKBIAzKCUzjUPMUGX8nYc5wfnW7/Q8Wc6fxNa+LceitgDMXAOwKxSyDJIUAmNSASSAAe/O1S7S6EiB11YPdqVkbvxurgMPiKDE8Pj+4vyFCcPjHdGn7IrfmodxxmJGZWcalaJWABJBncRx5A+8xx++glLEB3AD3Cs68Bo1Cg0TcPjchmRSwZWBxvqTOk59mTj3mtA4Fb6AnRjKAKoUopGlG1qNx3Bu0B4Het9vfpI0iqctE2hxgjDaEfG/f2ZEOR51vBoK48t2plMxt4TKSp1lFLZUAKQSNsBQNvIVKPDoun0jGhj7tBUFMZzup27963k1Am49CkvSdmVt8ZjkCEhDIQsmnQzaAW0gk4B22NBuThcQZWEUYZRhWCKCoPeFOMge6vE4VEE0dNNGsyaSARrZzIWwftaiTnzNRouZrdpI41cs8qq6AKxBV0d1JOML2Y2O+MbZ9YZtKAooooCsXjDDBAIyDuM7g5HyIBrKigo5+EP6UZFUCP0UwrggYbXkDHgMUrryXNHHGiQRaDDaJMqiBmMkS3IkZBMDGXy8ILsCSobG4FdEooEjk7lV7eQNPAjMbeFermNirwhlKk7MdungqMdkd2AKmcm8Dkt45kMQjUhQmrpGZiFYN1Xh2kG4w7ds5Yt4U10UHP7HkRo1iIhiDpHw/caciSGfVcsD95o8At3uNt6tOR+GMpmdjlY2Npbk5z6PBI+Cc+OpihPiIkNNlFByyz5YnnhVoYRFp6nVOYw1yDdpJoIIYEBI3H1ox29ONJY1Y/yFZo5AYdvRZ0iSZoSUlldiMCICNBucaRhckV0KigRU5RdJVCQRg9S3eOdWVejFEsXViVfWGopLsvZb0htWMHMJvo8b0aJBDH1FsVjJyMi6zEWYN36ux6/fsK6PRQc25g5LuGWeOCFBGzTtAE6AMbPFbhCDIp6KF1lJ6eG1aTkZzUu/wCSpmEjRKiTSS3ZMmrSxjmWTpqzr2tJOjb7Pf3in6ig51xHlF5XDLZtDEU0rFC1orRy5BMoLKyoWGka4yHHRXY52Y+YuXmuJ4mGnCQXCq530TObcxOF8SuhjnwIHjimKig51Zco3EUJeCNo7qPpFBI8HSZgssUhHQRc5SUnW41MUjyOzXl7yHKpKhGlt1bSI1aDWR6JawrIRcKyag0UoPcw6mQdyD0aig53eclXR6nTbAAURapMt+URJDdGQjALKF6inG7E92aYb/l7WLjKM31awwjUmBFiMssYOy5dQSW3OlfALTHRQVXM3D3mtykYBbqRNucbJPG7b/qqaoeYOXLpriWa3K4AS5iBbGq7QdLSw+4YBpyfF/ZTnRQIthyfJDNGqxg9OWJ1uiy6hBHCkZix6+WKsNPq4csTq2rbxzlNpbqZxbxusxtCZDoBAguFaVWz2u1GB3ZB04OMCnWig57fcq3KJcJDCpWWK8gjVXVFjE7q8Zwdgvr7LuDjbByNlzyIzyM7QxMXku2YtpJZZR9Tqz3gEA4PqkZ76fqKDnQ5QnZm1QdssjtcLIgcoLGKB4lcHWGaRWGT2d9WcgCrfhnL8o4fd2/TSIyLIkQxEjYeEIDN0B09WvVuo9ULnfNN1FBzriNhM1xFJNaa1knXEBaJ8hLKdDqyemO15ny8dqveF8uSKkCz5cwW4VQGBQSsro2M7swQ6AzbYJ7ixpoooIPCOHrHDENAVkjVe5dQwirgsO/1QNtthU6iigKKKKAooooCiiigKKKKAooooCiiigKKKKAooooCiiigKKKKAooooCiiigKKKKAooooCiiigKKKKAooooCiiig//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86024" name="AutoShape 8" descr="data:image/jpeg;base64,/9j/4AAQSkZJRgABAQAAAQABAAD/2wCEAAkGBhQSERQUEhQVFRQWGBwWFxcWGBgWGBsYGBgXGBwcFxcYHyYgFxojHBgYHy8gIycpLC0sGB4xNTIqNSYrLCkBCQoKBQUFDQUFDSkYEhgpKSkpKSkpKSkpKSkpKSkpKSkpKSkpKSkpKSkpKSkpKSkpKSkpKSkpKSkpKSkpKSkpKf/AABEIAMIBAwMBIgACEQEDEQH/xAAcAAACAgMBAQAAAAAAAAAAAAAABgQFAgMHAQj/xABQEAACAQMCAwQGBQcIBwYHAAABAgMABBESIQUGEyIxQVEUMmFxgZEHI0JSoSQzYnKSscEWQ2NzgqKywhUlNDVTo9EXZHSD0vBERZOks7Ti/8QAFAEBAAAAAAAAAAAAAAAAAAAAAP/EABQRAQAAAAAAAAAAAAAAAAAAAAD/2gAMAwEAAhEDEQA/AOn/AJSeI/zohC7bp0SunfI9Yya/kF8u+FJfcSX+aDdrVtoA0AHIPeWOWXABGTGdwM5b6KBR4RxLiDGISwSYZvrGKwIUGru0dU5BBG4LEAONzpNZzcQvw8qiE6Cx6bDSWCs6qhxsuBpYsDlgJFPgRTXRQJAv+JMylVfQsTNkxIpdlD41xMdSsToGkOucZwoJ05xcT4kqo5iZ8pJrRkjjKNqJVjpkPUwNKhFIJ7Zycrh0ooFjhd/ea0WSNjGWGJGRUfHbJ6iqxVQQMDTuMLqGXOGeiigKKKKAooooCiiigKKKKAooooCiiigKKKKAooooFS+u+IdSQRoNGvQhKr3ErhjvkoBIPb9S/mM5WnEL76wyRHAjbQuFz1cK6gkHGPrNGe7MLk94y00UCaeJcQ0APGyMp3dIxNqC6FOpezqJfJ7OkFGyCpU1Gm4hxQCVhG4JcKqBIpNIIkJK5KZC4QZJbOdgSTh7ooFK6a9j9RpnLtqBMcLacJGVQgFVjQszhmJJxHgHJBrCLi1/2j0WIIYlTGqMh7gIu0eoFLKSXwW0uV8FDhRQKi316IZFlSTUJTiWFELNHknMcLEhQCVQaiSVy3eKwN/xBjIUjZd8BXSMBcMcBGDkyEr6zHbJGnxFN1FBosWcxoZBh9I1D9LG/d4ZzRW+igKKKKAooooCiiigKKKKAooooCiiigo+McRdLyxjVsJK0wcYHa0wl13IyMEE7eVXlLHMbf6w4WP6Sc/AW0n/AFFM9BUc3cUa2sbmePAeKJnXIyNSjIyPEZr3l6+aX0gsc6biSNe7ZUwANu/x+dV/0lf7rux5x6f2mVf41t5KH1U587y6/C4kX/LQMNFFFAUUUUBRRXjHFBR8vcfNxJMpAAjJAx44uLmLPyhU/E1e0j/RkcrI3cWjgb/6okuP3zGnigKKKKAooooCiiigKKKKAooooCiiigKKxkkCgsxAAGSScAAbkk+ApDN3dcYY+jyPacOBx1l2nuMbHpZ/NR/pd5+YAMnGudLO0OLi4jR/uZ1SH3Rrlj8qr4efxJvDZcQkHgwt+mCPMGZk2qfy/wAl2lkPqIVDd5kbtysfEtI2WPzxV3QLkHOeGAuLW6tVPdJKqGP+28TuI/e+B7aYlbIyNxXtFAUUUUBRRRQK/Ghni3Dh92K6f+7Cn+Y00Us8UH+trH/w91/itqZqBa+kj/dlz+qP8aVv5K/2Vj53F0fndz1o+kcf6unHmYx85ox/Gt3JJ/Jn8vSbvHu9LnoL+iiigKKKKAqs5mujHZ3Mg70gkYe9Y2I/dVnS99IM2nhl3+lEyft4T/NQQ+RbQxyXSeEfo0Q/sWcP/qptpd5ROZL9vO8cfBIYI/8ALTFQFFFFBS8a5vtrVtEkmZcZEUYMkp8uwuSM+ZwPbVX/AChlOmSRxGuciGJVdvPTLM4IPtCKMeDHvrHmfla5uZOpbXaIMaSkkSyAEd+llKny2bV/ClzjXJwsIoJ2lkuLlrmKJ5XOAI5dUbJHGOzGh1DbvPnQW3E+Z3mcdK6ktgBggQQzAnffLnI+Vbrfmua3XXPLHdW646siRmGaJScdR49TLJGPtFdJUb4IFLDwb1us3KuMHH/vux4j2e2g6tHIGAKkEEZBG4IPcQfEVlSbyZN0LmayH5kRpc26/cSRnSSNf0FkXKjwD47gKcqAooooCiiigVfpEBkggtslVurmKByNj0zqdwD7VjK/Gr17uG3TSWjjWJAdOQNKeqvZ8F2wPdiqLn86Fspj6sN7CznyV9UOT7jIK08T4Epu3MsgHpMts0a4LMy2uZGjKgdlAw16s4y+D4ZBsjnViwVgSp0tg5w2A2D5HDA49orZVVw/gIik1h2JLTOQe4meRH3/AFAgQeyrWgKKgcTuJ1aHoxrIrSBZstpKRkN21+8Q2nbyzU+gi23EkeSWNc64iofIIHbUOCD9oYPePEEVKpf4vxe9idunZJPENwy3KxvjG+UkQKPH7dQOV/pEF7KY0tLhdJ0vJ9VJCreRljkIJ/Vz7cUDfRRRQLHFDni9iPK3umPxa2FM9K9wM8ah/Rspj+1PAP4U0UC19IR/IwPvXFqvzuoapuHc0i0srchS5muZSQATpia8cO5xvt1UAG5JYDHlc8/fmIR53lp/+1EaqeXeVIrq1tWlLERNOrRjGiQeks2HyM4Dxo2xG675FA5cO4ik6dSI6l1MucEbo7I2x8mUipNa7e3WNQiKqKowqqAoA8gBsBWygKKKKApc5+UNaBD/ADk9tH8GuYQfwzTHS9zguo2S+d5Ef2A8n+Sg95NHYuT53lz+EzL/AJaYKoOSx+Tye26uj/8AdTVfM2Bmg9qq4mbe4ZrKXtM0YlaMF1+r1gAllxgFhjGd8HwzSvxD6V1EohtrWeWQ93W02aHw2a40kn2BabOB3E0kQe5gWCU5GhZBLhR3ZcAAnv2GaCil+jqCEdThyi1uFOVZS/TfHek0ecOjdxOMjYjcVLvuFPxCyeK6iNtITtpdZNLrhlkRl7wG3AODtvjNXXElkMMggKiUowjL50h8HSWxvgHFZWUTLGiyPrdVUM+ANTAAFsDYZOTj20HImuJYZxa3ceicjKuCOlLjbMR7yTgnRjI+VS4VOqrz6QRJcuLUSQxxJ0ppCUd7gdtipi7kXeMjVnPf8Yk13G0nx78UGzkxNfF7p1OVgtooSf05GaYj4AV0Skj6NFVG4gjbT+ltI6nv6bqvRYeaFBsfPNO9AUUUUBRRRQQuM8JS6glglGUkUocd4z4g+BBwQfMClDgxuJZtJljS/s0MEokQvHNC5VkmQKyldWgEkHGoMpGwp8pf5p5babRPbsI7yDJikPqsD3xSgetE3j5Hce0L9c437/Hwr2qvlvjou4BIFKOCY5Y29aOVDh0b3Hx8QQfGrSgKKKpOaOYfRkVIl6lzMSlvF958bs33Y0HaZvAe0igqm4RFf310LgNLDb9KNImZuj1ShkctGDpc4eMdoHGKbILdUUKihVUYCqAAB5ADYVXctcD9Ft1jLa5CTJLIe+SVzqdz7ydh4AAeFWtAUUUUCv8A/O/dY/4rj/8AkU0Urx/77f2WKfjcSf8ASmigWueh9Xa/+Ntf/wA6/wAa38kJizX+smPzuJT/ABrXzqPq7Yf99tvwmU/wrZyM2bGFvv63HueR3H4MKC+ooooCiiigKX+Zd7jhy+d0W/Ztbk0wVS8YizdWJ+7JIfnBIP40GPJY/JFP3pJn/buJX/jV5VJyX/sMH6v+Zqu6DTdWiSqUkRXU96uoZT7wdqR+Vee7e3t4ba8aS3mRNJ68LxJsxXsuV0adsA5A2p+pQ4jZRzcVaGVQ8ctgRIh7iFuBj/G3yoGyCdXUMjBlIyGUggjzBGxFRuMcUS2glnk9SJC7eeFGcDzJ7gPMiqjlbkWHh7yG2eYRyY+pZ9cSkHdkBGQT471hz32o7aHwmuolYeaRarhvwhx8aBRjgkCPLP8A7ROwlm/QOOxEv6Ma9n36j41EVd6teJuSxz4nJ95qCFyaCTxTiIhWC+jUiW1wk2n+ctGIEgYeJTIkHlpPnXTIZQyhlIKsAQRuCDuCD5YpO4Jw5W7LjUrAqwPcQwwQfga2/RbcE2PSJLC3mmtkY97JFIVQ/BcD4UDfRRRQFROIcXhgGqeWOIecjqg/vEVyj6VPpFuFne0s5DCseFllUdtnIDFEb7AVSMsN8n2b8na3DsXkLSMe9nYuT8TQfQ/EPpg4XFn8qWQ/diV5CfcVGn8apv8At6sznRBdE+GpURfidZI+RriraV7yqD4D5VO4NaxySxiZzFCWGuVkkCBfHDaSMkbD2kUHZfou4w11c8Sn6ZjikliZRkntiIK2DgA5AQn310OuWWXIcqRI1qLWdNACTwXFxYyuoGzMYS8cj+bHv8RXqQcfjOI9RUdyzS21x/f0ROfic0HUjSxyrarNNNfOweR2aGMYI6MKMcR4YArIT23z4kDuApP5g4zxN4BFdpbwt67RxN1HmjG2THqwEH3C+HYhSQuoFl4BzHawQL0i8kbJHP1m3aTrS9F3fYYKMFDDuVcAAAYAOVFFFAUUVqlukX1mVfeQP30C6DjjZ/SsR/cuD/66Z6U4blH4yrRsrqbFu0pDDs3K+I28T8qa80C5zqdrMed7B+BZv3rU/lSLTY2q+UEQ/wCWtQOdvVtD5Xtv/jx/HHxqy5afNnbHzhjPzjWgsqKKKAooooCqPjs2m5sB5zSfIWs5q8qm4zw15LizdACsUkjOSQMBoJEGB49pgKD3k6ErYWoPf0UJ+Kg/xq4qLwu36cMSHYoiqf7Kgfwqi49zOSGjtnCss8dtJMU1pE0o8PB3BKLg7AyLnO4oLW45hgSbol/rOxkAE4MjBUDEbKWOSAdyFY9wJpOtONy2lyXvA2ptQl1DKrGHLLJaOB2oFUqJI9nULrI2YtIteGIt/aW0eSsSy3szMdTvKwECPKx3ZzrkP9kYwAAGy+MMrLBIiS6tRKsFdQEC5LA/rqP7QoIk3ONoraBMsj/chDTv8UhDEfGoXGFkvIleGN4pYZRLCLgCMSEK6spAJdFZGdckAjUDg4rIfRxw8epbLH/VM8RPvMbLn40uXPD7ZhNIxeKxtiwR+rLqM69l50dmLDp7xpjvYyd+1B7e8OlwrNE6Z3KtglSNiCVJB94O/f41Ht7Ug5IwBuSe74nuqDwrjUvEIFK2SSyAtG9zcMbYHQSoI6WZGcqFLAbKSRnbak5/5SlS3R3gBXWNUsd1czKARgKYp2ymSR2hqHd3Z3Cz5m+k+O3RorJhNcsCutd0jztq1dzMPADYHv8AIq/JfMt9bmG2gudKNIBpeJJFzI25OwcjJJPaBpdhtwuygD3VPsQ+tRD+ec9KL+slygPswGZs/o0H0Pyfx03llDcMoUyA5C5K9lmXK530nTqGd8EUVL4Lwpba3igT1YkVB7dIAz7z3/GvaD5457gKcRvFbv67N/ZkCuv4HHwqpUqqaj4Ak/Denv6buF9O8hnA7M8eg/rxHIz5ZRx+zSZy9w43N3bW/hJMgb9RTrf+6poO9cpcoW0VvA5toROYkLuUUvrKgnLkZzkmmfFe0UCxybEqS8QijGIkuuwo7lLwwySBR4DWzHA8WNM9K/0eRfk0kx77i5nnPuaVlX+4i00UCxzzwC3kgluZbeKaWCGRo+oCR2VL6SARkEj8aVeFcQiurewk6aRx65eGzxxrpTTPH2dIHcrOkJHl1K6JxqEvbzKO9o3HzUiuK8ih2tJ7dMl5bSK8gH/eLRgpA9pKQ0HW+TuIPJbaZTmaB3t5T954jp1/210v/bry75cmkYk390ik+pGLdAB5BukW+Oc1XcH4vGlx1c4t+IrFLC/2Ov0whjY/ZZkWMrnvKsO8AFuoFv8AkBat+e685857ieQfsl9P4VLh5LsV9Wzth/5MZPzK5q5ooNEVhGrBlRFYLoBCgEJnOkEdy53xUS+5btpm1SwRsx720gMfew3NWVFAr8T+jm0mQKBJFhlcGKWRd0YMNtWPDvxnyIO9eWXI7QxRxxX15HoRVyHSReyoGyTI4UbeqNhTTRQLg4Pfr6l+j+ya1RvxieP91GjigPr2Lj9SeM/43xTHRQVljdXRbTNBEo+/HMXH7LRqa3X3GoYXRJZFRnOF1HGSdgM9wydhnGTsMmq3nDitxBGrW8YZcnqyEB+kiqTq6Zkj17/pbeRqiWzkeIX8l0t1H6O4WP0cRLMkoBRJAWbPaC42BGT5mgcL3jEEJAmmijJ7g7qhPuDEZ7j8q22t9HKMxujjzRgw+YNJnLsAne9a4CzoHS1UyKrK3oqEO2k5AzNLL8qmW/LNpHMs0VtFFKpyGiURHy3EeAw9hBoLLm3jDwQhYcG4nYQwA7gO2SXYfdRQzn2LjxpK4omkPw+Bj0UihgkZgGJuLu5T6w575hHrkz5uD4UyQWUnWNxcaXZI3RCMlgvVduyo7ILx9IHAzlMbg1Q8Fj6kNjISpe7vRcyaSCAdE0ipkf8ADWONPYVNBP5A4XFDccRlTsxrIkGt2JJMMeuR3kY5ZjJK2WP3fZV7wdRLeXUwA0xlbdcDvZQHlb2kkxof6n2VWcpXPT4ZJMoVpJZriRQxCq0klzIqKSfAnQvxq5s44+H2WZn7MSNJNIftOSXkfHmzljj2gUELnjjxhiEMWszz5A6al3jiGOrMFXc6FO2O9io3pG4zKLi2eaNdHDbGJjbqQR6RNGpCOQdzEjYxn1m3qfDxG4kmYRADiN2oeRm7S2Nnv01Yf8Ug6tHi7EnYCrXmTgqpZW9lEGKvNBD4sxQSLJIzHx7KMxPtNBY8OiZYYg5JYIoYnvLaRqJ9pOT76WvpWuivD9P354VHwYt+5TTxJDXOPpkm0x2cf3pnkP8A5cZA/GSg5sY6ffob5e610904+rtsxx+Rmcdph+qmB72pCkkOwUFnYhUUd7O2yge8mvo3k3lxbGzhtxuUXLt96Ru07fFifhiguqKKKBP+lfgYueGTH7cA9IQ+2MEkfFNQ+Nc1+hm2WTimo/zUDuo/Scqmfgpb513O+tRLFJGe51ZD7mBH8a+YeU+PScPuY7hF1MgMckZONajssufBgRsfMb0H1LVDzfDfNCBYSRxyE4LOuogEqMqSdKgAsxyGO2AMmpXLnMkF9As1u+pTsQdmRvFXX7LDy+IyN6tKBd4dzAIpEtLlelKezFJgCGcgbmIrsjnc9JsEeGob0xVC4xweK6iaKZdSN8CCNwysN1YHcEbg1U8B4q0ImgvJVL22k9dmVQ8MhYRvJv2JMqysDjJXI2agYiK4hygGgksZQDiG5ktn/Umlkg39z9P410U8Pv7ga14jDHEfVNtbq2V/rJXcE+0Clyfh3DQzJPxG6u5CcvDHM7lmzneGzUb586C34YlvHFfWV40aQLO+gSMEXozgTLpLEeq7uAR3FB5VG4J9J1pCrQXV5FI8RCpMjdXrR76WPTyRKAMOMd+42YVI4Fyzw0sAOGpFnJQ3KR9R8fdSRmkPicsBWxOYhY5W8s/R0BIW4tk6luR4FtA1w7eDLj20HjfSvbMSLaG7uTjP1Vu4HxaTSAPbUNueeIS/mbGKEeDXM+T8Y4QSPcTXomSUa4pElTwdGDr8wdj7DvWtgaDKPinEWIM11CgB3W3g3I8tczNj9mpd9xudn1Q3Biz9h445k+GNDj4sfhULNanNBNi5m4gvhYzfGa3P4iQfjUtOeLhfznD3I84Z4ZfkHMZ/CqZDWwOaC5T6SbcfnYbyH9e2kYfOIOKnWvP1hIdK3cAb7ruI2/ZfBz8KWQ+9E8oYYkVXHk4Dj5NQNXMnAU4hAsZlZY9ayEx6GDhMkK2oMrLnBwQd1FV0kFz6PPF0pH0SgxM7oS6LJGy6d8kbNu2MdwzSieXrXOVgWM+cLPAf+Uy1MtrR1P1d5fRnw+uE6/s3Cv8AvoLbkO5i9BgRJUeQLmVQw1iZyXkDr6wYOzA5Gdqv+lvSLdchzXWZHFjdNnd5oHtpj757V9z/AGa1fyTmh9e1v1QeNnxJpAPaEmKNj50D9d3iwxPLIcJGpdj5KoJP4Ckvl2yZHsJpVCSXV1NdSKBgKWtpemuPDTHjPtzmsOJcat/RxbTyX8aSSJ1WvoZciJWDsiyLHpbXpCbsdmJztirDjHNVlO9qYLuByLjB0yLqVZYZos6Sc41SLQHLMBa34TFklWX0pxtjTECynuzvLNCdz9ge3NVzrzPLfXsdhZKHVHy7NvG0sRB7f3ooThmH2n0r4HMid5ksreWDILWUNsJFBboAfnmA+1KxEUcaDdnx3AGpnLXBIuFWz3N1phZgAQTr6cYJKQqRvI+SWYjd3Zj5UDDy5y4lpEVUtJI7a5pn3klkPezH8APAbe+t4gsXEi0URVhbyAmUxLLF1QCDGjalOtQe0yEYyBnJIGhbe74l+c6llZH7AOm6nX+kI/2eMj7I7Z8SKabKyjhjWOJFSNBhVUYAHsFBlo7hXHPpivQ/EIogc9GDJ9jTOT89KL867Ogya+b+a+J9W9vJwwkDTMEK9zKmI0C+YwoHt3oGn6IuXvSb5rhxmK09XyM7jb9hcn2ErXbbnXpPT06vDVnHxxuKo+QuWvQbGKE46mNcpHjK+7e/Gyj2KKYaCja9vx/8LbH2i6cZ+Bt9qKvKKBV4t9JdlBI0Ot5p1JDRW8bzOCO8HSMAj2muS8c5Ylu7l5bW0kt0lYuwuXjjALYJ0oupgCdTEfpV1jj91pkfG3mRtn3476W5Zz50GngfJEdqqvb3UkV6AMyAAwt5o8Rxrj9p7XiMd1NfDed9LrDfx+izNsj5zbSn+imPcT9x8N76W4JMmmC/kt44Al5NAqOuelKVbUDv+bbOr4A0DBxviwtoWkILnZURfWkkY6URfazED2bk7A1RIPRIJVZwbyZJJ5ZMZQPpCgnPdEhKIuRsq5P2jVJ6dZQMklmkbmNW0QuxtvrGBAdDcBQ+xKYz2VZtI7RBvOF8Ga2YXEszzTSRKjBm1Rhy2uQx/dQsVAUbALt30Hthyvby27yID+VokpWUs0ZbTqUvEhUN3jUNtWBnurRLwFLZFWW6mx9iC3UWytjwSO1QSsP7RrzmW+60QUpr0sG0xuY5gR3PBLkaJV3wDs2SMjO8flHnFTKIZ5FkMnZgutIQy6e+GdcDpXKZ3Q41ZyAM4oIkLiJgCvo5O4hiTXcyDzMUZZgP05nYearTFbcXmkHUfp2tum7NIyySEDHrFT0ovI9pz7BWPMV1JGdFvAjM/aJ0mQk57+imAx7u1K8a+00mz2rPJm7neSSPtdKLRPLHjxYkC1sfeQWH/EoLDiycKmk6kYkgmb1Li1VopJG8okUarr3hHXzNSxZXkChpoRewkA6olEF2oIz24c9OUjx0lT7DVbwuSZ9XoMQTUe3LGerI3tm4hcAq3uiSbHgRU205xMWuON/TZkzqWJitrAO8me7lJye/JJJ8Ai91BttpoLjUbZ9WnZkYFJEPlJGwDIfeKwmtyKr7KOS9voZ5HE0ah1MtsrW8UJ7x07hu3eqcaSvqb5x4Uy8V0Z7JoKEisE2NSJTWk0GerNYNvXqE1P4bw3qnchR5/wDSgrUStsjLGV6pKltkUKzyOfKOJRqc/DA8SKv7u2MRKW0ahgMvcz/mox3kgZHVbHgMKPFh3GhXht5IJGtkki1D6y5mKLe3G/qwggpaxgZxlRjwUElqCTccZeHQszNArbx2kOJb6c/paMiJdtwuceMg3FaeLzSylTfoSrEGPhsEsJcrviS56joJ8Efm1ygPfr7xqtLn0DJjsbiFmGZZZYXvGkI8XubeR3A96H2CqiGewu30vGXbuxFOl3gd+BbXgEybk9lYqCNcrHCxOqSzLH7QveG/34+rbN8EAqztOVZ72MsJ7W5Tyuore5B7jtdWpR/iVBph4FytAB+TTTx4+yrSwEHw1QSfVjb+iFWcnALW3DXE2gFAXacqkMgA3OuSEJqHsxQVvBeDSWNrMy2MJlBDJDazOyOR3FVnCiEgknbOw8TgVV8cd76weSfpqYZsNoicPbkAq75cnLR61k1KBsjDxwLzly+ub2UXRLQWYBEERADzAjHVmyMoviiDB8T4Cqi+N3YR63khitlu9TEdtpUubvLNKXUCJVSQjC5JK5yBsQvuWeYPSYiHwtxFhLiMfZfHrL5xOO2jDYgj21aNXOuKcJiNxGlsZIZtjbxOGilWNy51W8qamjgBViYp0ZV2GldQBZ1fiEK4eWzn7Pe4khYNj7RjDrIAfJUz7KCn+lHmZobZ7e3z1pEzIy/zMDMELk/ZLk6F95PhSV9F3JzXV1HK6EWtuQ4JHZkkHqKp7mCntEjxAHjXQ7GKCGKRZMXE05DXMjrtI3gAp9WNe5V8APPJqNdw2jHPoyI33oswN+3CVJoOgUVzVesh+ovLpPZIyXK/85S/9+rrhvGL8YyLa6HjpL2sv7La42PuZaBworXbyFlBZShI3UlSR7CVJB+BrygUOZYz1M+f8KXihroXGuGCRc+IqgTgmDvvQVvCLHVIo8O+tnCOBR3vUuWMsNwJp4OtbuYZDHFM6Ir47L4VVHaU9wpi4bZ6XXaq/ktl6UsYZeolzcl4wRrXVcysNS94ypUg+IIoK7jvL7wwu/pvEZkUZZOtAuV8e00Q2HkDmsOXOMFrLosBqhjR1cSiYNFJJKi9sb6lMZVgfEeNNHGVuFgdrVFeYY0K42O4yPXTG2d9Xz7qT+RuGTPJcmdVVljMUoDxsTPJPLdN2Y2cIo6oABYneg1SS1Fm4ClzqGF6jDdWOlZdO4V2G6ON9Eo7SHzUspmXVkykgjfNECHb2UG/gHM08EbpciS6tUOh5NP5Xb7bpeQru4A/nY86h2twc1a3nNNkyKlrEt6QNSxwKjRJtnVJKfqocfpHI8qiROBIJtJ6yjSrq2gsO/RIcHXHnwIOnvXBrTDYxNlrlOsxbX0sCO1DeYgXaQ/pSam27x3AK25muOIZDt14+4xW7NBYL7J7vGu6I2ykQx7BU+PgsEaqJtNwU3SJUEVnGfDp242Yj70mpvaKkT3TMd+4dyjZQPAKB3Co7jzoJc3GHfvOPYNgPdUNpSTuawNYsKAaShWrwRVvW3NARmt8U2O6vBBWXSoMX4crs7xzS28j+u0el43JGProJAY5M+eAx86qE4JxC0ybUo0e+Ut+3CR+lYzsDHn+gl9y1bb+dZ9YjxoKKx5w6baJrOdH8fQppQ3v9DmKSD9lh7TVxHzNwq5+ru5UYnbRfwLC49gZ0QfvPtqwXjeQEmjSVfJwDj5ipvp0Tkl1Zl06RCQpjG+SdONydtz3AYGMnIbbewtLKIzpIYoEUsfrnaEL7EZmUezSBSje3z8RkEtwpSzQh4LZtmlI3WW5H3fFYvi3kdnEuX7Murx2yx6SW0L2Yi22HaJeyzjwJG2T7MZlc0Em54xK59cj2Db91eQcRkGxYsp+y3aGxyNj5GsIbUnwq+4by6G3fIHl40FWbt2cSHHUClA2AG0EhiufLIBx7K1zszbmp1zxeG34hBadPUJUJLYZyrknpggAgKQkuSfIeGaqpud4plV7NYg6NH1kuFKgJLN0Qdat2NyH1aWBU0B6IT4VtHC3x3Vv4Hz4lzIUS1IVHEUkgIaPX/RyKuh13G5ZSQdl8Kqbf6SZjIR6OjruuAssZQhmGrOHaeMKpLNGmxIAzuQFnFw1vKr/AINwtkOo7VSD6RodC9DpXMoTXL0pAkab4C5ftmRyCqxhSxIOcVJl+kKNZGjZChW4WHMh0h1LLGzRN3OyO4DJnIAJoG2iiigKwMQ8hWdQeLcZitkDzEhSSMhWfcKz9ygnuU48zgd5AITVUDuqp4zyna3ZDTwozjukGUkA8hIhDgezNY/yvt+p09UhbGraCcjTnGoME0lM/azj21ZWl6ksaSIco6q6nu7LAMMg7jYjvoFz/sysvFZ2Hk11dEe7HU7qv+F8IhtoxHBGkSD7KAAZ8z5n2nesLvjcMfU1vvHo1gAsw6h0oNIGSWOwAqaGoNMlkjHLKD7xmtLcGh+4B7sj91TNQr2ghjhEX3fxNYNwOI/Z/Gp2awnuFRGdiAigszHuCgZJJ8sUEYcHiH2BXo4TF9wVnYX6zIrpqCtuNaNG2PPS4DAfDxFSM0EGTgcJOTGPhkUDgcP3BU7WPOjNBDPB4vuD4V5/oWPyNTdQr2gg/wCho/I/Oj/Q0fkfnU0NWCXAJYDPZIU5BAyQDsSMN6w3GRnI7wRQQf8AQMfkaDwGM94qyqql5nt1aRXdkMalm1xyKCqsEZkLKBIAzKCUzjUPMUGX8nYc5wfnW7/Q8Wc6fxNa+LceitgDMXAOwKxSyDJIUAmNSASSAAe/O1S7S6EiB11YPdqVkbvxurgMPiKDE8Pj+4vyFCcPjHdGn7IrfmodxxmJGZWcalaJWABJBncRx5A+8xx++glLEB3AD3Cs68Bo1Cg0TcPjchmRSwZWBxvqTOk59mTj3mtA4Fb6AnRjKAKoUopGlG1qNx3Bu0B4Het9vfpI0iqctE2hxgjDaEfG/f2ZEOR51vBoK48t2plMxt4TKSp1lFLZUAKQSNsBQNvIVKPDoun0jGhj7tBUFMZzup27963k1Am49CkvSdmVt8ZjkCEhDIQsmnQzaAW0gk4B22NBuThcQZWEUYZRhWCKCoPeFOMge6vE4VEE0dNNGsyaSARrZzIWwftaiTnzNRouZrdpI41cs8qq6AKxBV0d1JOML2Y2O+MbZ9YZtKAooooCsXjDDBAIyDuM7g5HyIBrKigo5+EP6UZFUCP0UwrggYbXkDHgMUrryXNHHGiQRaDDaJMqiBmMkS3IkZBMDGXy8ILsCSobG4FdEooEjk7lV7eQNPAjMbeFermNirwhlKk7MdungqMdkd2AKmcm8Dkt45kMQjUhQmrpGZiFYN1Xh2kG4w7ds5Yt4U10UHP7HkRo1iIhiDpHw/caciSGfVcsD95o8At3uNt6tOR+GMpmdjlY2Npbk5z6PBI+Cc+OpihPiIkNNlFByyz5YnnhVoYRFp6nVOYw1yDdpJoIIYEBI3H1ox29ONJY1Y/yFZo5AYdvRZ0iSZoSUlldiMCICNBucaRhckV0KigRU5RdJVCQRg9S3eOdWVejFEsXViVfWGopLsvZb0htWMHMJvo8b0aJBDH1FsVjJyMi6zEWYN36ux6/fsK6PRQc25g5LuGWeOCFBGzTtAE6AMbPFbhCDIp6KF1lJ6eG1aTkZzUu/wCSpmEjRKiTSS3ZMmrSxjmWTpqzr2tJOjb7Pf3in6ig51xHlF5XDLZtDEU0rFC1orRy5BMoLKyoWGka4yHHRXY52Y+YuXmuJ4mGnCQXCq530TObcxOF8SuhjnwIHjimKig51Zco3EUJeCNo7qPpFBI8HSZgssUhHQRc5SUnW41MUjyOzXl7yHKpKhGlt1bSI1aDWR6JawrIRcKyag0UoPcw6mQdyD0aig53eclXR6nTbAAURapMt+URJDdGQjALKF6inG7E92aYb/l7WLjKM31awwjUmBFiMssYOy5dQSW3OlfALTHRQVXM3D3mtykYBbqRNucbJPG7b/qqaoeYOXLpriWa3K4AS5iBbGq7QdLSw+4YBpyfF/ZTnRQIthyfJDNGqxg9OWJ1uiy6hBHCkZix6+WKsNPq4csTq2rbxzlNpbqZxbxusxtCZDoBAguFaVWz2u1GB3ZB04OMCnWig57fcq3KJcJDCpWWK8gjVXVFjE7q8Zwdgvr7LuDjbByNlzyIzyM7QxMXku2YtpJZZR9Tqz3gEA4PqkZ76fqKDnQ5QnZm1QdssjtcLIgcoLGKB4lcHWGaRWGT2d9WcgCrfhnL8o4fd2/TSIyLIkQxEjYeEIDN0B09WvVuo9ULnfNN1FBzriNhM1xFJNaa1knXEBaJ8hLKdDqyemO15ny8dqveF8uSKkCz5cwW4VQGBQSsro2M7swQ6AzbYJ7ixpoooIPCOHrHDENAVkjVe5dQwirgsO/1QNtthU6iigKKKKAooooCiiigKKKKAooooCiiigKKKKAooooCiiigKKKKAooooCiiigKKKKAooooCiiigKKKKAooooCiiig//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86026" name="AutoShape 10" descr="http://d1mpb3f4gq7nrb.cloudfront.net/img/toons/cartoon3526.png"/>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86028" name="Picture 12" descr="http://d1mpb3f4gq7nrb.cloudfront.net/img/toons/cartoon3526.png"/>
          <p:cNvPicPr>
            <a:picLocks noChangeAspect="1" noChangeArrowheads="1"/>
          </p:cNvPicPr>
          <p:nvPr/>
        </p:nvPicPr>
        <p:blipFill>
          <a:blip r:embed="rId2" cstate="print"/>
          <a:srcRect/>
          <a:stretch>
            <a:fillRect/>
          </a:stretch>
        </p:blipFill>
        <p:spPr bwMode="auto">
          <a:xfrm>
            <a:off x="1219200" y="1219200"/>
            <a:ext cx="6781800" cy="4895851"/>
          </a:xfrm>
          <a:prstGeom prst="rect">
            <a:avLst/>
          </a:prstGeom>
          <a:noFill/>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Retaining Employees: </a:t>
            </a:r>
            <a:br>
              <a:rPr lang="en-US" dirty="0"/>
            </a:br>
            <a:r>
              <a:rPr lang="en-GB" sz="4900" dirty="0"/>
              <a:t>Performance Appraisal Methods </a:t>
            </a:r>
            <a:endParaRPr lang="en-US" sz="4900" dirty="0"/>
          </a:p>
        </p:txBody>
      </p:sp>
      <p:sp>
        <p:nvSpPr>
          <p:cNvPr id="3" name="Content Placeholder 2"/>
          <p:cNvSpPr>
            <a:spLocks noGrp="1"/>
          </p:cNvSpPr>
          <p:nvPr>
            <p:ph idx="1"/>
          </p:nvPr>
        </p:nvSpPr>
        <p:spPr>
          <a:xfrm>
            <a:off x="457200" y="1828800"/>
            <a:ext cx="8229600" cy="4495800"/>
          </a:xfrm>
        </p:spPr>
        <p:txBody>
          <a:bodyPr>
            <a:normAutofit fontScale="92500"/>
          </a:bodyPr>
          <a:lstStyle/>
          <a:p>
            <a:r>
              <a:rPr lang="en-US" b="1" dirty="0"/>
              <a:t>3. </a:t>
            </a:r>
            <a:r>
              <a:rPr lang="en-US" dirty="0"/>
              <a:t>The use of </a:t>
            </a:r>
            <a:r>
              <a:rPr lang="en-US" b="1" dirty="0"/>
              <a:t>graphic rating scales</a:t>
            </a:r>
            <a:r>
              <a:rPr lang="en-US" dirty="0"/>
              <a:t> is one of the oldest and most popular performance appraisal methods. </a:t>
            </a:r>
          </a:p>
          <a:p>
            <a:endParaRPr lang="en-US" sz="800" dirty="0"/>
          </a:p>
          <a:p>
            <a:pPr lvl="1"/>
            <a:r>
              <a:rPr lang="en-US" dirty="0"/>
              <a:t>This method appraises performance using a rating scale on a set of performance factors. </a:t>
            </a:r>
          </a:p>
          <a:p>
            <a:pPr lvl="1"/>
            <a:r>
              <a:rPr lang="en-US" dirty="0"/>
              <a:t>Graphic rating scales list a set of performance factors; </a:t>
            </a:r>
          </a:p>
          <a:p>
            <a:pPr lvl="2"/>
            <a:r>
              <a:rPr lang="en-US" dirty="0"/>
              <a:t>the evaluator goes down the list ,</a:t>
            </a:r>
          </a:p>
          <a:p>
            <a:pPr lvl="2"/>
            <a:r>
              <a:rPr lang="en-US" dirty="0"/>
              <a:t>and rates the employee on each factor, </a:t>
            </a:r>
          </a:p>
          <a:p>
            <a:pPr lvl="2"/>
            <a:r>
              <a:rPr lang="en-US" dirty="0"/>
              <a:t>using an incremental scale.</a:t>
            </a:r>
          </a:p>
          <a:p>
            <a:endParaRPr lang="en-GB" dirty="0"/>
          </a:p>
          <a:p>
            <a:pPr lvl="0"/>
            <a:r>
              <a:rPr lang="en-US" b="1" dirty="0"/>
              <a:t>4. Multi-person comparison</a:t>
            </a:r>
            <a:r>
              <a:rPr lang="en-US" dirty="0"/>
              <a:t> appraises performance by comparing it with others’ performance.</a:t>
            </a:r>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108</a:t>
            </a:fld>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762000"/>
          </a:xfrm>
        </p:spPr>
        <p:txBody>
          <a:bodyPr>
            <a:normAutofit/>
          </a:bodyPr>
          <a:lstStyle/>
          <a:p>
            <a:r>
              <a:rPr lang="en-GB" dirty="0"/>
              <a:t>Dilbert &amp; Performance Appraisal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109</a:t>
            </a:fld>
            <a:endParaRPr lang="en-US" dirty="0"/>
          </a:p>
        </p:txBody>
      </p:sp>
      <p:pic>
        <p:nvPicPr>
          <p:cNvPr id="172034" name="Picture 2" descr="http://dilbert.com/dyn/str_strip/000000000/00000000/0000000/000000/20000/3000/600/23697/23697.strip.sunday.gif"/>
          <p:cNvPicPr>
            <a:picLocks noChangeAspect="1" noChangeArrowheads="1"/>
          </p:cNvPicPr>
          <p:nvPr/>
        </p:nvPicPr>
        <p:blipFill>
          <a:blip r:embed="rId2" cstate="print"/>
          <a:srcRect/>
          <a:stretch>
            <a:fillRect/>
          </a:stretch>
        </p:blipFill>
        <p:spPr bwMode="auto">
          <a:xfrm>
            <a:off x="533400" y="1524000"/>
            <a:ext cx="7924800" cy="4772026"/>
          </a:xfrm>
          <a:prstGeom prst="rect">
            <a:avLst/>
          </a:prstGeom>
          <a:noFill/>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914400"/>
          </a:xfrm>
        </p:spPr>
        <p:txBody>
          <a:bodyPr>
            <a:normAutofit fontScale="90000"/>
          </a:bodyPr>
          <a:lstStyle/>
          <a:p>
            <a:r>
              <a:rPr lang="en-US" sz="4000" dirty="0"/>
              <a:t>Retaining Employees: </a:t>
            </a:r>
            <a:br>
              <a:rPr lang="en-US" dirty="0"/>
            </a:br>
            <a:r>
              <a:rPr lang="en-GB" dirty="0"/>
              <a:t>Performance Appraisal Methods </a:t>
            </a:r>
            <a:endParaRPr lang="en-US" dirty="0"/>
          </a:p>
        </p:txBody>
      </p:sp>
      <p:sp>
        <p:nvSpPr>
          <p:cNvPr id="3" name="Content Placeholder 2"/>
          <p:cNvSpPr>
            <a:spLocks noGrp="1"/>
          </p:cNvSpPr>
          <p:nvPr>
            <p:ph idx="1"/>
          </p:nvPr>
        </p:nvSpPr>
        <p:spPr>
          <a:xfrm>
            <a:off x="457200" y="1828800"/>
            <a:ext cx="8229600" cy="4724400"/>
          </a:xfrm>
        </p:spPr>
        <p:txBody>
          <a:bodyPr>
            <a:normAutofit fontScale="85000" lnSpcReduction="10000"/>
          </a:bodyPr>
          <a:lstStyle/>
          <a:p>
            <a:pPr hangingPunct="0"/>
            <a:r>
              <a:rPr lang="en-US" b="1" dirty="0"/>
              <a:t>5.</a:t>
            </a:r>
            <a:r>
              <a:rPr lang="en-US" dirty="0"/>
              <a:t> Using </a:t>
            </a:r>
            <a:r>
              <a:rPr lang="en-US" b="1" dirty="0"/>
              <a:t>behaviorally anchored rating scales (BARS)</a:t>
            </a:r>
            <a:r>
              <a:rPr lang="en-US" dirty="0"/>
              <a:t> is an appraisal approach that appraises performance using a rating scale on examples of </a:t>
            </a:r>
            <a:r>
              <a:rPr lang="en-US" i="1" dirty="0"/>
              <a:t>actual</a:t>
            </a:r>
            <a:r>
              <a:rPr lang="en-US" dirty="0"/>
              <a:t> job behavior. </a:t>
            </a:r>
          </a:p>
          <a:p>
            <a:pPr lvl="1" hangingPunct="0"/>
            <a:r>
              <a:rPr lang="en-US" dirty="0"/>
              <a:t>BARS combines major elements from the critical incident and graphic rating scale approaches. </a:t>
            </a:r>
          </a:p>
          <a:p>
            <a:pPr lvl="1" hangingPunct="0"/>
            <a:r>
              <a:rPr lang="en-US" dirty="0"/>
              <a:t>The appraiser rates an employee according to items along a scale, but the items are examples of actual behavior on the job rather than general descriptions or traits.</a:t>
            </a:r>
          </a:p>
          <a:p>
            <a:pPr lvl="0" hangingPunct="0"/>
            <a:endParaRPr lang="en-US" b="1" dirty="0"/>
          </a:p>
          <a:p>
            <a:pPr lvl="0" hangingPunct="0"/>
            <a:r>
              <a:rPr lang="en-US" b="1" dirty="0"/>
              <a:t>6. Management by objectives</a:t>
            </a:r>
            <a:r>
              <a:rPr lang="en-US" dirty="0"/>
              <a:t> (MBO). It is often used to assess the performance of managers and professional employees.</a:t>
            </a:r>
          </a:p>
          <a:p>
            <a:pPr lvl="0" hangingPunct="0"/>
            <a:endParaRPr lang="en-US" b="1" dirty="0"/>
          </a:p>
          <a:p>
            <a:pPr lvl="0" hangingPunct="0"/>
            <a:r>
              <a:rPr lang="en-US" b="1" dirty="0"/>
              <a:t>7.  360 degree feedback</a:t>
            </a:r>
            <a:r>
              <a:rPr lang="en-US" dirty="0"/>
              <a:t> appraises performance by using feedback from supervisors, employees, and coworkers.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110</a:t>
            </a:fld>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111</a:t>
            </a:fld>
            <a:endParaRPr lang="en-US" dirty="0"/>
          </a:p>
        </p:txBody>
      </p:sp>
      <p:pic>
        <p:nvPicPr>
          <p:cNvPr id="173058" name="Picture 2" descr="http://signaturesterling.files.wordpress.com/2008/01/review.png"/>
          <p:cNvPicPr>
            <a:picLocks noChangeAspect="1" noChangeArrowheads="1"/>
          </p:cNvPicPr>
          <p:nvPr/>
        </p:nvPicPr>
        <p:blipFill>
          <a:blip r:embed="rId2" cstate="print"/>
          <a:srcRect/>
          <a:stretch>
            <a:fillRect/>
          </a:stretch>
        </p:blipFill>
        <p:spPr bwMode="auto">
          <a:xfrm>
            <a:off x="762000" y="457200"/>
            <a:ext cx="7315200" cy="5649362"/>
          </a:xfrm>
          <a:prstGeom prst="rect">
            <a:avLst/>
          </a:prstGeom>
          <a:noFill/>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a:bodyPr>
          <a:lstStyle/>
          <a:p>
            <a:r>
              <a:rPr lang="en-US" sz="4000" dirty="0"/>
              <a:t>Performance Appraisal Methods</a:t>
            </a:r>
            <a:br>
              <a:rPr lang="en-US" sz="3200" dirty="0"/>
            </a:br>
            <a:r>
              <a:rPr lang="en-US" sz="1800" dirty="0"/>
              <a:t> </a:t>
            </a:r>
            <a:endParaRPr lang="en-IE" sz="3200"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112</a:t>
            </a:fld>
            <a:endParaRPr lang="en-US" dirty="0"/>
          </a:p>
        </p:txBody>
      </p:sp>
      <p:pic>
        <p:nvPicPr>
          <p:cNvPr id="5" name="Picture 3"/>
          <p:cNvPicPr>
            <a:picLocks noGrp="1" noChangeAspect="1" noChangeArrowheads="1"/>
          </p:cNvPicPr>
          <p:nvPr/>
        </p:nvPicPr>
        <p:blipFill>
          <a:blip r:embed="rId2" cstate="print"/>
          <a:srcRect/>
          <a:stretch>
            <a:fillRect/>
          </a:stretch>
        </p:blipFill>
        <p:spPr bwMode="auto">
          <a:xfrm>
            <a:off x="457200" y="2057400"/>
            <a:ext cx="8305800" cy="4343400"/>
          </a:xfrm>
          <a:prstGeom prst="rect">
            <a:avLst/>
          </a:prstGeom>
          <a:noFill/>
          <a:ln w="9525">
            <a:solidFill>
              <a:schemeClr val="accent1"/>
            </a:solidFill>
            <a:miter lim="800000"/>
            <a:headEnd/>
            <a:tailEnd/>
          </a:ln>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t>Performance Appraisal Methods (cont.)</a:t>
            </a:r>
            <a:br>
              <a:rPr lang="en-US" sz="3200" dirty="0"/>
            </a:br>
            <a:r>
              <a:rPr lang="en-US" sz="2000" dirty="0"/>
              <a:t> </a:t>
            </a:r>
            <a:endParaRPr lang="en-IE" sz="3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113</a:t>
            </a:fld>
            <a:endParaRPr lang="en-US" dirty="0"/>
          </a:p>
        </p:txBody>
      </p:sp>
      <p:pic>
        <p:nvPicPr>
          <p:cNvPr id="5" name="Picture 3"/>
          <p:cNvPicPr>
            <a:picLocks noGrp="1" noChangeAspect="1" noChangeArrowheads="1"/>
          </p:cNvPicPr>
          <p:nvPr/>
        </p:nvPicPr>
        <p:blipFill>
          <a:blip r:embed="rId2" cstate="print"/>
          <a:srcRect/>
          <a:stretch>
            <a:fillRect/>
          </a:stretch>
        </p:blipFill>
        <p:spPr bwMode="auto">
          <a:xfrm>
            <a:off x="533400" y="1828800"/>
            <a:ext cx="8001000" cy="4572000"/>
          </a:xfrm>
          <a:prstGeom prst="rect">
            <a:avLst/>
          </a:prstGeom>
          <a:noFill/>
          <a:ln w="9525">
            <a:solidFill>
              <a:schemeClr val="accent1"/>
            </a:solidFill>
            <a:miter lim="800000"/>
            <a:headEnd/>
            <a:tailEnd/>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GB" dirty="0"/>
              <a:t>Performance Appraisal</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114</a:t>
            </a:fld>
            <a:endParaRPr lang="en-US" dirty="0"/>
          </a:p>
        </p:txBody>
      </p:sp>
      <p:pic>
        <p:nvPicPr>
          <p:cNvPr id="84994" name="Picture 2" descr="http://dilbert.com/dyn/str_strip/000000000/00000000/0000000/000000/00000/0000/000/6/6.strip.gif"/>
          <p:cNvPicPr>
            <a:picLocks noChangeAspect="1" noChangeArrowheads="1"/>
          </p:cNvPicPr>
          <p:nvPr/>
        </p:nvPicPr>
        <p:blipFill>
          <a:blip r:embed="rId2" cstate="print"/>
          <a:srcRect/>
          <a:stretch>
            <a:fillRect/>
          </a:stretch>
        </p:blipFill>
        <p:spPr bwMode="auto">
          <a:xfrm>
            <a:off x="457200" y="1752600"/>
            <a:ext cx="8056522" cy="4114800"/>
          </a:xfrm>
          <a:prstGeom prst="rect">
            <a:avLst/>
          </a:prstGeom>
          <a:noFill/>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219200"/>
          </a:xfrm>
        </p:spPr>
        <p:txBody>
          <a:bodyPr>
            <a:normAutofit fontScale="90000"/>
          </a:bodyPr>
          <a:lstStyle/>
          <a:p>
            <a:r>
              <a:rPr lang="en-GB" sz="4000" dirty="0"/>
              <a:t>Retaining Employees:</a:t>
            </a:r>
            <a:br>
              <a:rPr lang="en-GB" dirty="0"/>
            </a:br>
            <a:r>
              <a:rPr lang="en-GB" sz="4900" dirty="0"/>
              <a:t>Compensation &amp; Benefits</a:t>
            </a:r>
            <a:endParaRPr lang="en-US" dirty="0"/>
          </a:p>
        </p:txBody>
      </p:sp>
      <p:sp>
        <p:nvSpPr>
          <p:cNvPr id="3" name="Content Placeholder 2"/>
          <p:cNvSpPr>
            <a:spLocks noGrp="1"/>
          </p:cNvSpPr>
          <p:nvPr>
            <p:ph idx="1"/>
          </p:nvPr>
        </p:nvSpPr>
        <p:spPr>
          <a:xfrm>
            <a:off x="457200" y="2133600"/>
            <a:ext cx="8229600" cy="4724400"/>
          </a:xfrm>
        </p:spPr>
        <p:txBody>
          <a:bodyPr>
            <a:normAutofit fontScale="47500" lnSpcReduction="20000"/>
          </a:bodyPr>
          <a:lstStyle/>
          <a:p>
            <a:r>
              <a:rPr lang="en-US" sz="5100" dirty="0"/>
              <a:t>The purpose of having an effective reward system is to attract and retain competent and talented individuals who can help the organisation achieve its mission and goals.</a:t>
            </a:r>
          </a:p>
          <a:p>
            <a:endParaRPr lang="en-US" sz="5000" dirty="0"/>
          </a:p>
          <a:p>
            <a:r>
              <a:rPr lang="en-US" sz="5000" dirty="0"/>
              <a:t>How do organisations determine the compensation levels and benefits that employees will receive?</a:t>
            </a:r>
          </a:p>
          <a:p>
            <a:pPr hangingPunct="0"/>
            <a:endParaRPr lang="en-US" sz="4500" dirty="0"/>
          </a:p>
          <a:p>
            <a:r>
              <a:rPr lang="en-GB" sz="5100" dirty="0"/>
              <a:t>Developing an effective and appropriate pay system is part of the HRM process.</a:t>
            </a:r>
          </a:p>
          <a:p>
            <a:pPr marL="548640" lvl="2" indent="-274320">
              <a:buClr>
                <a:schemeClr val="accent3"/>
              </a:buClr>
              <a:buSzPct val="95000"/>
            </a:pPr>
            <a:r>
              <a:rPr lang="en-GB" sz="4200" dirty="0"/>
              <a:t>71% of workers surveyed said their benefits package would influence their decision to leave a job.</a:t>
            </a:r>
          </a:p>
          <a:p>
            <a:pPr marL="548640" lvl="2" indent="-274320">
              <a:buClr>
                <a:schemeClr val="accent3"/>
              </a:buClr>
              <a:buSzPct val="95000"/>
            </a:pPr>
            <a:r>
              <a:rPr lang="en-GB" sz="4200" dirty="0"/>
              <a:t>An organisations compensation system has been shown to have an impact on its strategic performance.</a:t>
            </a:r>
          </a:p>
          <a:p>
            <a:endParaRPr lang="en-US" sz="3500" dirty="0">
              <a:cs typeface="Arial" charset="0"/>
            </a:endParaRPr>
          </a:p>
          <a:p>
            <a:endParaRPr lang="en-GB" sz="3200" dirty="0">
              <a:cs typeface="Arial" charset="0"/>
            </a:endParaRPr>
          </a:p>
          <a:p>
            <a:endParaRPr lang="en-US" sz="3200" b="1"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115</a:t>
            </a:fld>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116</a:t>
            </a:fld>
            <a:endParaRPr lang="en-US" dirty="0"/>
          </a:p>
        </p:txBody>
      </p:sp>
      <p:pic>
        <p:nvPicPr>
          <p:cNvPr id="174082" name="Picture 2" descr="http://image.shutterstock.com/display_pic_with_logo/807910/127388639/stock-photo--the-health-plan-will-cover-you-and-up-to-three-dwarves-127388639.jpg"/>
          <p:cNvPicPr>
            <a:picLocks noChangeAspect="1" noChangeArrowheads="1"/>
          </p:cNvPicPr>
          <p:nvPr/>
        </p:nvPicPr>
        <p:blipFill>
          <a:blip r:embed="rId2" cstate="print"/>
          <a:srcRect/>
          <a:stretch>
            <a:fillRect/>
          </a:stretch>
        </p:blipFill>
        <p:spPr bwMode="auto">
          <a:xfrm>
            <a:off x="4953000" y="609600"/>
            <a:ext cx="3943350" cy="5943600"/>
          </a:xfrm>
          <a:prstGeom prst="rect">
            <a:avLst/>
          </a:prstGeom>
          <a:noFill/>
          <a:ln>
            <a:solidFill>
              <a:schemeClr val="accent3">
                <a:lumMod val="50000"/>
              </a:schemeClr>
            </a:solidFill>
          </a:ln>
        </p:spPr>
      </p:pic>
      <p:pic>
        <p:nvPicPr>
          <p:cNvPr id="174084" name="Picture 4" descr="http://www.cartoonresource.com/umbraco/ImageGen.ashx?image=/28387/bev104sh.jpg&amp;class=full"/>
          <p:cNvPicPr>
            <a:picLocks noChangeAspect="1" noChangeArrowheads="1"/>
          </p:cNvPicPr>
          <p:nvPr/>
        </p:nvPicPr>
        <p:blipFill>
          <a:blip r:embed="rId3" cstate="print"/>
          <a:srcRect/>
          <a:stretch>
            <a:fillRect/>
          </a:stretch>
        </p:blipFill>
        <p:spPr bwMode="auto">
          <a:xfrm>
            <a:off x="304800" y="609600"/>
            <a:ext cx="4362450" cy="5867400"/>
          </a:xfrm>
          <a:prstGeom prst="rect">
            <a:avLst/>
          </a:prstGeom>
          <a:noFill/>
          <a:ln>
            <a:solidFill>
              <a:schemeClr val="accent3">
                <a:lumMod val="50000"/>
              </a:schemeClr>
            </a:solid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fontScale="90000"/>
          </a:bodyPr>
          <a:lstStyle/>
          <a:p>
            <a:r>
              <a:rPr lang="en-GB" sz="4000" dirty="0"/>
              <a:t>Retaining Employees:</a:t>
            </a:r>
            <a:br>
              <a:rPr lang="en-GB" dirty="0"/>
            </a:br>
            <a:r>
              <a:rPr lang="en-GB" sz="4900" dirty="0"/>
              <a:t>Compensation &amp; Benefits</a:t>
            </a:r>
            <a:endParaRPr lang="en-US" dirty="0"/>
          </a:p>
        </p:txBody>
      </p:sp>
      <p:sp>
        <p:nvSpPr>
          <p:cNvPr id="3" name="Content Placeholder 2"/>
          <p:cNvSpPr>
            <a:spLocks noGrp="1"/>
          </p:cNvSpPr>
          <p:nvPr>
            <p:ph idx="1"/>
          </p:nvPr>
        </p:nvSpPr>
        <p:spPr>
          <a:xfrm>
            <a:off x="457200" y="1981200"/>
            <a:ext cx="8229600" cy="4343400"/>
          </a:xfrm>
        </p:spPr>
        <p:txBody>
          <a:bodyPr>
            <a:noAutofit/>
          </a:bodyPr>
          <a:lstStyle/>
          <a:p>
            <a:r>
              <a:rPr lang="en-GB" sz="2200" dirty="0">
                <a:cs typeface="Arial" charset="0"/>
              </a:rPr>
              <a:t>Managers must develop a compensation system that;</a:t>
            </a:r>
          </a:p>
          <a:p>
            <a:pPr lvl="1"/>
            <a:r>
              <a:rPr lang="en-GB" sz="2200" dirty="0">
                <a:cs typeface="Arial" charset="0"/>
              </a:rPr>
              <a:t>reflects the changing nature of work, </a:t>
            </a:r>
          </a:p>
          <a:p>
            <a:pPr lvl="1"/>
            <a:r>
              <a:rPr lang="en-GB" sz="2200" dirty="0">
                <a:cs typeface="Arial" charset="0"/>
              </a:rPr>
              <a:t>and the work place in order to keep people motivated.</a:t>
            </a:r>
            <a:endParaRPr lang="en-US" sz="2200" dirty="0">
              <a:cs typeface="Arial" charset="0"/>
            </a:endParaRPr>
          </a:p>
          <a:p>
            <a:endParaRPr lang="en-GB" sz="1800" dirty="0">
              <a:cs typeface="Arial" charset="0"/>
            </a:endParaRPr>
          </a:p>
          <a:p>
            <a:r>
              <a:rPr lang="en-GB" sz="2200" dirty="0">
                <a:cs typeface="Arial" charset="0"/>
              </a:rPr>
              <a:t>Many different rewards and benefits such as;</a:t>
            </a:r>
          </a:p>
          <a:p>
            <a:pPr lvl="1"/>
            <a:r>
              <a:rPr lang="en-GB" sz="2200" dirty="0">
                <a:cs typeface="Arial" charset="0"/>
              </a:rPr>
              <a:t>Base salary, salary add on’s, incentive payments, health care payments, funding or tickets towards social events, or prizes, and </a:t>
            </a:r>
            <a:r>
              <a:rPr lang="en-US" sz="2200" dirty="0"/>
              <a:t>benefits and services. </a:t>
            </a:r>
          </a:p>
          <a:p>
            <a:pPr hangingPunct="0"/>
            <a:endParaRPr lang="en-US" sz="1600" dirty="0"/>
          </a:p>
          <a:p>
            <a:pPr hangingPunct="0"/>
            <a:r>
              <a:rPr lang="en-US" sz="2200" dirty="0"/>
              <a:t>What factors determine the compensation and benefits packages for different employees? </a:t>
            </a:r>
          </a:p>
          <a:p>
            <a:pPr lvl="1" hangingPunct="0"/>
            <a:r>
              <a:rPr lang="en-US" sz="1800" dirty="0"/>
              <a:t>A number of factors influence these differences (see next slide)</a:t>
            </a:r>
          </a:p>
          <a:p>
            <a:endParaRPr lang="en-US" sz="2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117</a:t>
            </a:fld>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rmAutofit fontScale="90000"/>
          </a:bodyPr>
          <a:lstStyle/>
          <a:p>
            <a:r>
              <a:rPr lang="en-US" sz="3600" dirty="0"/>
              <a:t>What Determines Pay and Benefits?</a:t>
            </a:r>
            <a:br>
              <a:rPr lang="en-US" sz="3600" dirty="0"/>
            </a:br>
            <a:r>
              <a:rPr lang="en-US" sz="2700" dirty="0"/>
              <a:t>(F</a:t>
            </a:r>
            <a:r>
              <a:rPr lang="en-US" sz="2700" dirty="0">
                <a:cs typeface="Arial" charset="0"/>
              </a:rPr>
              <a:t>actors which are job-based and business- or industry-based)</a:t>
            </a:r>
            <a:endParaRPr lang="en-IE" sz="3600"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118</a:t>
            </a:fld>
            <a:endParaRPr lang="en-US" dirty="0"/>
          </a:p>
        </p:txBody>
      </p:sp>
      <p:pic>
        <p:nvPicPr>
          <p:cNvPr id="5" name="Picture 3"/>
          <p:cNvPicPr>
            <a:picLocks noGrp="1" noChangeAspect="1" noChangeArrowheads="1"/>
          </p:cNvPicPr>
          <p:nvPr/>
        </p:nvPicPr>
        <p:blipFill>
          <a:blip r:embed="rId2" cstate="print"/>
          <a:srcRect/>
          <a:stretch>
            <a:fillRect/>
          </a:stretch>
        </p:blipFill>
        <p:spPr bwMode="auto">
          <a:xfrm>
            <a:off x="381000" y="1295400"/>
            <a:ext cx="8534400" cy="5334000"/>
          </a:xfrm>
          <a:prstGeom prst="rect">
            <a:avLst/>
          </a:prstGeom>
          <a:noFill/>
          <a:ln w="9525">
            <a:noFill/>
            <a:miter lim="800000"/>
            <a:headEnd/>
            <a:tailEnd/>
          </a:ln>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fontScale="90000"/>
          </a:bodyPr>
          <a:lstStyle/>
          <a:p>
            <a:r>
              <a:rPr lang="en-GB" dirty="0"/>
              <a:t>Pay &amp; Benefits</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119</a:t>
            </a:fld>
            <a:endParaRPr lang="en-US" dirty="0"/>
          </a:p>
        </p:txBody>
      </p:sp>
      <p:pic>
        <p:nvPicPr>
          <p:cNvPr id="80898" name="Picture 2" descr="http://www.cartoonstock.com/newscartoons/cartoonists/mba/lowres/mban68l.jpg"/>
          <p:cNvPicPr>
            <a:picLocks noChangeAspect="1" noChangeArrowheads="1"/>
          </p:cNvPicPr>
          <p:nvPr/>
        </p:nvPicPr>
        <p:blipFill>
          <a:blip r:embed="rId2" cstate="print"/>
          <a:srcRect/>
          <a:stretch>
            <a:fillRect/>
          </a:stretch>
        </p:blipFill>
        <p:spPr bwMode="auto">
          <a:xfrm>
            <a:off x="990600" y="1600201"/>
            <a:ext cx="7010400" cy="4572000"/>
          </a:xfrm>
          <a:prstGeom prst="rect">
            <a:avLst/>
          </a:prstGeom>
          <a:noFill/>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72312"/>
          </a:xfrm>
        </p:spPr>
        <p:txBody>
          <a:bodyPr>
            <a:normAutofit fontScale="90000"/>
          </a:bodyPr>
          <a:lstStyle/>
          <a:p>
            <a:r>
              <a:rPr lang="en-GB" sz="3200" dirty="0"/>
              <a:t>Retaining Employees:</a:t>
            </a:r>
            <a:br>
              <a:rPr lang="en-GB" dirty="0"/>
            </a:br>
            <a:r>
              <a:rPr lang="en-GB" dirty="0"/>
              <a:t>Compensation &amp; Benefits</a:t>
            </a:r>
            <a:endParaRPr lang="en-US" dirty="0"/>
          </a:p>
        </p:txBody>
      </p:sp>
      <p:sp>
        <p:nvSpPr>
          <p:cNvPr id="3" name="Content Placeholder 2"/>
          <p:cNvSpPr>
            <a:spLocks noGrp="1"/>
          </p:cNvSpPr>
          <p:nvPr>
            <p:ph idx="1"/>
          </p:nvPr>
        </p:nvSpPr>
        <p:spPr>
          <a:xfrm>
            <a:off x="457200" y="1905000"/>
            <a:ext cx="8229600" cy="4724400"/>
          </a:xfrm>
        </p:spPr>
        <p:txBody>
          <a:bodyPr>
            <a:normAutofit fontScale="77500" lnSpcReduction="20000"/>
          </a:bodyPr>
          <a:lstStyle/>
          <a:p>
            <a:r>
              <a:rPr lang="en-US" sz="3800" dirty="0">
                <a:cs typeface="Arial" charset="0"/>
              </a:rPr>
              <a:t>How do managers determine who gets paid what? </a:t>
            </a:r>
          </a:p>
          <a:p>
            <a:endParaRPr lang="en-US" b="1" dirty="0">
              <a:cs typeface="Arial" charset="0"/>
            </a:endParaRPr>
          </a:p>
          <a:p>
            <a:r>
              <a:rPr lang="en-US" sz="3200" b="1" dirty="0">
                <a:cs typeface="Arial" charset="0"/>
              </a:rPr>
              <a:t>Skill-Based Pay System – </a:t>
            </a:r>
            <a:r>
              <a:rPr lang="en-US" sz="3200" dirty="0">
                <a:cs typeface="Arial" charset="0"/>
              </a:rPr>
              <a:t>employees are compensated for the job skills and competencies they can demonstrate. </a:t>
            </a:r>
          </a:p>
          <a:p>
            <a:endParaRPr lang="en-US" sz="1400" dirty="0">
              <a:cs typeface="Arial" charset="0"/>
            </a:endParaRPr>
          </a:p>
          <a:p>
            <a:pPr lvl="1"/>
            <a:r>
              <a:rPr lang="en-US" sz="3000" dirty="0">
                <a:cs typeface="Arial" charset="0"/>
              </a:rPr>
              <a:t>Under this type of pay system, an employee’s job title does not define his or her pay category, </a:t>
            </a:r>
            <a:r>
              <a:rPr lang="en-US" sz="3000" u="sng" dirty="0">
                <a:cs typeface="Arial" charset="0"/>
              </a:rPr>
              <a:t>skills</a:t>
            </a:r>
            <a:r>
              <a:rPr lang="en-US" sz="3000" dirty="0">
                <a:cs typeface="Arial" charset="0"/>
              </a:rPr>
              <a:t> do. </a:t>
            </a:r>
          </a:p>
          <a:p>
            <a:endParaRPr lang="en-US" sz="3200" dirty="0">
              <a:cs typeface="Arial" charset="0"/>
            </a:endParaRPr>
          </a:p>
          <a:p>
            <a:r>
              <a:rPr lang="en-US" sz="3200" dirty="0">
                <a:cs typeface="Arial" charset="0"/>
              </a:rPr>
              <a:t>Research shows these types of pay systems tend to be more successful in manufacturing organisations, than in service organisations or organisations pursuing technical innovations.   </a:t>
            </a:r>
          </a:p>
          <a:p>
            <a:endParaRPr lang="en-US" sz="3200" dirty="0">
              <a:cs typeface="Arial" charset="0"/>
            </a:endParaRP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120</a:t>
            </a:fld>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09600"/>
          </a:xfrm>
        </p:spPr>
        <p:txBody>
          <a:bodyPr>
            <a:normAutofit fontScale="90000"/>
          </a:bodyPr>
          <a:lstStyle/>
          <a:p>
            <a:r>
              <a:rPr lang="en-GB" dirty="0"/>
              <a:t>Pay &amp; Benefits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121</a:t>
            </a:fld>
            <a:endParaRPr lang="en-US" dirty="0"/>
          </a:p>
        </p:txBody>
      </p:sp>
      <p:pic>
        <p:nvPicPr>
          <p:cNvPr id="5" name="Content Placeholder 4" descr="http://img221.imageshack.us/img221/4636/cartoon20081119cu1.jpg"/>
          <p:cNvPicPr>
            <a:picLocks noGrp="1" noChangeAspect="1" noChangeArrowheads="1"/>
          </p:cNvPicPr>
          <p:nvPr>
            <p:ph idx="1"/>
          </p:nvPr>
        </p:nvPicPr>
        <p:blipFill>
          <a:blip r:embed="rId2" cstate="print"/>
          <a:srcRect/>
          <a:stretch>
            <a:fillRect/>
          </a:stretch>
        </p:blipFill>
        <p:spPr bwMode="auto">
          <a:xfrm>
            <a:off x="838200" y="1295400"/>
            <a:ext cx="7315200" cy="5256494"/>
          </a:xfrm>
          <a:prstGeom prst="rect">
            <a:avLst/>
          </a:prstGeom>
          <a:noFill/>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066800"/>
          </a:xfrm>
        </p:spPr>
        <p:txBody>
          <a:bodyPr>
            <a:normAutofit fontScale="90000"/>
          </a:bodyPr>
          <a:lstStyle/>
          <a:p>
            <a:r>
              <a:rPr lang="en-GB" sz="3200" dirty="0"/>
              <a:t>Retaining Employees:</a:t>
            </a:r>
            <a:br>
              <a:rPr lang="en-GB" dirty="0"/>
            </a:br>
            <a:r>
              <a:rPr lang="en-GB" dirty="0"/>
              <a:t>Compensation &amp; Benefits</a:t>
            </a:r>
            <a:endParaRPr lang="en-US" dirty="0"/>
          </a:p>
        </p:txBody>
      </p:sp>
      <p:sp>
        <p:nvSpPr>
          <p:cNvPr id="3" name="Content Placeholder 2"/>
          <p:cNvSpPr>
            <a:spLocks noGrp="1"/>
          </p:cNvSpPr>
          <p:nvPr>
            <p:ph idx="1"/>
          </p:nvPr>
        </p:nvSpPr>
        <p:spPr>
          <a:xfrm>
            <a:off x="457200" y="1935480"/>
            <a:ext cx="8229600" cy="4693920"/>
          </a:xfrm>
        </p:spPr>
        <p:txBody>
          <a:bodyPr>
            <a:normAutofit fontScale="92500"/>
          </a:bodyPr>
          <a:lstStyle/>
          <a:p>
            <a:r>
              <a:rPr lang="en-US" dirty="0">
                <a:cs typeface="Arial" charset="0"/>
              </a:rPr>
              <a:t>On the other hand, many organisations use </a:t>
            </a:r>
            <a:r>
              <a:rPr lang="en-US" b="1" dirty="0">
                <a:cs typeface="Arial" charset="0"/>
              </a:rPr>
              <a:t>Variable Pay Systems</a:t>
            </a:r>
            <a:r>
              <a:rPr lang="en-US" dirty="0">
                <a:cs typeface="Arial" charset="0"/>
              </a:rPr>
              <a:t>, in which an individual’s compensation is contingent on performance.</a:t>
            </a:r>
          </a:p>
          <a:p>
            <a:pPr lvl="1"/>
            <a:r>
              <a:rPr lang="en-US" sz="2600" dirty="0">
                <a:cs typeface="Arial" charset="0"/>
              </a:rPr>
              <a:t>90% of U.S. organisations use some type of variable pay plans, </a:t>
            </a:r>
          </a:p>
          <a:p>
            <a:pPr lvl="1"/>
            <a:r>
              <a:rPr lang="en-US" sz="2600" dirty="0">
                <a:cs typeface="Arial" charset="0"/>
              </a:rPr>
              <a:t>As do 81% of Canadian and Taiwanese organisations.</a:t>
            </a:r>
          </a:p>
          <a:p>
            <a:endParaRPr lang="en-GB" dirty="0">
              <a:cs typeface="Arial" charset="0"/>
            </a:endParaRPr>
          </a:p>
          <a:p>
            <a:r>
              <a:rPr lang="en-GB" sz="2800" i="1" dirty="0">
                <a:cs typeface="Arial" charset="0"/>
              </a:rPr>
              <a:t>Flexibility </a:t>
            </a:r>
            <a:r>
              <a:rPr lang="en-GB" sz="2800" dirty="0">
                <a:cs typeface="Arial" charset="0"/>
              </a:rPr>
              <a:t>is key when an organisation is designing its compensation system,</a:t>
            </a:r>
          </a:p>
          <a:p>
            <a:pPr lvl="1"/>
            <a:r>
              <a:rPr lang="en-GB" sz="3000" dirty="0">
                <a:cs typeface="Arial" charset="0"/>
              </a:rPr>
              <a:t>It must be fair, equitable and a motivating system.</a:t>
            </a:r>
          </a:p>
          <a:p>
            <a:endParaRPr lang="en-IE" sz="3100"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122</a:t>
            </a:fld>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fontScale="90000"/>
          </a:bodyPr>
          <a:lstStyle/>
          <a:p>
            <a:r>
              <a:rPr lang="en-GB" dirty="0"/>
              <a:t>Pay &amp; Benefits</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123</a:t>
            </a:fld>
            <a:endParaRPr lang="en-US" dirty="0"/>
          </a:p>
        </p:txBody>
      </p:sp>
      <p:pic>
        <p:nvPicPr>
          <p:cNvPr id="83972" name="Picture 4" descr="http://www.grantland.net/2260.gif"/>
          <p:cNvPicPr>
            <a:picLocks noChangeAspect="1" noChangeArrowheads="1"/>
          </p:cNvPicPr>
          <p:nvPr/>
        </p:nvPicPr>
        <p:blipFill>
          <a:blip r:embed="rId2" cstate="print"/>
          <a:srcRect/>
          <a:stretch>
            <a:fillRect/>
          </a:stretch>
        </p:blipFill>
        <p:spPr bwMode="auto">
          <a:xfrm>
            <a:off x="609600" y="1524000"/>
            <a:ext cx="8001000" cy="4876800"/>
          </a:xfrm>
          <a:prstGeom prst="rect">
            <a:avLst/>
          </a:prstGeom>
          <a:noFill/>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353312"/>
          </a:xfrm>
        </p:spPr>
        <p:txBody>
          <a:bodyPr>
            <a:noAutofit/>
          </a:bodyPr>
          <a:lstStyle/>
          <a:p>
            <a:r>
              <a:rPr lang="en-US" sz="4800" dirty="0"/>
              <a:t>Contemporary Issues in Managing Human Resources</a:t>
            </a:r>
          </a:p>
        </p:txBody>
      </p:sp>
      <p:sp>
        <p:nvSpPr>
          <p:cNvPr id="3" name="Content Placeholder 2"/>
          <p:cNvSpPr>
            <a:spLocks noGrp="1"/>
          </p:cNvSpPr>
          <p:nvPr>
            <p:ph idx="1"/>
          </p:nvPr>
        </p:nvSpPr>
        <p:spPr>
          <a:xfrm>
            <a:off x="457200" y="2362200"/>
            <a:ext cx="8229600" cy="4114800"/>
          </a:xfrm>
        </p:spPr>
        <p:txBody>
          <a:bodyPr>
            <a:normAutofit/>
          </a:bodyPr>
          <a:lstStyle/>
          <a:p>
            <a:r>
              <a:rPr lang="en-GB" sz="2800" dirty="0"/>
              <a:t>There are contemporary various issues which include;</a:t>
            </a:r>
          </a:p>
          <a:p>
            <a:endParaRPr lang="en-GB" sz="1800" dirty="0"/>
          </a:p>
          <a:p>
            <a:r>
              <a:rPr lang="en-GB" sz="2800" dirty="0"/>
              <a:t>Managing downsizing,</a:t>
            </a:r>
          </a:p>
          <a:p>
            <a:r>
              <a:rPr lang="en-GB" sz="2800" dirty="0"/>
              <a:t>Managing workforce diversity,</a:t>
            </a:r>
          </a:p>
          <a:p>
            <a:r>
              <a:rPr lang="en-GB" sz="2800" dirty="0"/>
              <a:t>Managing sexual harassment,</a:t>
            </a:r>
          </a:p>
          <a:p>
            <a:r>
              <a:rPr lang="en-GB" sz="2800" dirty="0"/>
              <a:t>Managing work life balance,</a:t>
            </a:r>
          </a:p>
          <a:p>
            <a:r>
              <a:rPr lang="en-GB" sz="2800" dirty="0"/>
              <a:t>Controlling HR costs.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124</a:t>
            </a:fld>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458200" cy="990600"/>
          </a:xfrm>
        </p:spPr>
        <p:txBody>
          <a:bodyPr>
            <a:normAutofit/>
          </a:bodyPr>
          <a:lstStyle/>
          <a:p>
            <a:r>
              <a:rPr lang="en-US" sz="4000" dirty="0"/>
              <a:t>Contemporary Issues:</a:t>
            </a:r>
            <a:r>
              <a:rPr lang="en-US" sz="6000" dirty="0"/>
              <a:t> </a:t>
            </a:r>
            <a:r>
              <a:rPr lang="en-US" sz="5300" dirty="0"/>
              <a:t>Downsizing</a:t>
            </a:r>
            <a:endParaRPr lang="en-IE" sz="5400" dirty="0"/>
          </a:p>
        </p:txBody>
      </p:sp>
      <p:sp>
        <p:nvSpPr>
          <p:cNvPr id="3" name="Content Placeholder 2"/>
          <p:cNvSpPr>
            <a:spLocks noGrp="1"/>
          </p:cNvSpPr>
          <p:nvPr>
            <p:ph idx="1"/>
          </p:nvPr>
        </p:nvSpPr>
        <p:spPr>
          <a:xfrm>
            <a:off x="457200" y="1676400"/>
            <a:ext cx="8229600" cy="4724400"/>
          </a:xfrm>
        </p:spPr>
        <p:txBody>
          <a:bodyPr>
            <a:normAutofit fontScale="92500" lnSpcReduction="10000"/>
          </a:bodyPr>
          <a:lstStyle/>
          <a:p>
            <a:r>
              <a:rPr lang="en-US" b="1" dirty="0">
                <a:cs typeface="Arial" charset="0"/>
              </a:rPr>
              <a:t>Downsizing </a:t>
            </a:r>
            <a:r>
              <a:rPr lang="en-US" dirty="0">
                <a:cs typeface="Arial" charset="0"/>
              </a:rPr>
              <a:t>(or layoffs) is the planned elimination of jobs in an organisation. </a:t>
            </a:r>
          </a:p>
          <a:p>
            <a:endParaRPr lang="en-US" dirty="0">
              <a:cs typeface="Arial" charset="0"/>
            </a:endParaRPr>
          </a:p>
          <a:p>
            <a:r>
              <a:rPr lang="en-US" dirty="0">
                <a:cs typeface="Arial" charset="0"/>
              </a:rPr>
              <a:t>When an organisation has too many employees - which can happen when it is faced with;</a:t>
            </a:r>
          </a:p>
          <a:p>
            <a:pPr lvl="1"/>
            <a:r>
              <a:rPr lang="en-US" sz="2600" dirty="0">
                <a:cs typeface="Arial" charset="0"/>
              </a:rPr>
              <a:t>an economic recession, </a:t>
            </a:r>
          </a:p>
          <a:p>
            <a:pPr lvl="1"/>
            <a:r>
              <a:rPr lang="en-US" sz="2600" dirty="0">
                <a:cs typeface="Arial" charset="0"/>
              </a:rPr>
              <a:t>declining market share, </a:t>
            </a:r>
          </a:p>
          <a:p>
            <a:pPr lvl="1"/>
            <a:r>
              <a:rPr lang="en-US" sz="2600" dirty="0">
                <a:cs typeface="Arial" charset="0"/>
              </a:rPr>
              <a:t>too aggressive organisational growth, </a:t>
            </a:r>
          </a:p>
          <a:p>
            <a:pPr lvl="1"/>
            <a:r>
              <a:rPr lang="en-US" sz="2600" dirty="0">
                <a:cs typeface="Arial" charset="0"/>
              </a:rPr>
              <a:t>or poorly managed operations.</a:t>
            </a:r>
          </a:p>
          <a:p>
            <a:pPr lvl="1"/>
            <a:endParaRPr lang="en-US" sz="2600" dirty="0">
              <a:cs typeface="Arial" charset="0"/>
            </a:endParaRPr>
          </a:p>
          <a:p>
            <a:r>
              <a:rPr lang="en-US" sz="2800" dirty="0">
                <a:cs typeface="Arial" charset="0"/>
              </a:rPr>
              <a:t>… one option for improving profits is to eliminate some of those excess workers. </a:t>
            </a:r>
            <a:endParaRPr lang="en-US"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125</a:t>
            </a:fld>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Autofit/>
          </a:bodyPr>
          <a:lstStyle/>
          <a:p>
            <a:r>
              <a:rPr lang="en-GB" sz="2400" dirty="0"/>
              <a:t>“I don’t like layoffs, but I feel more comfortable making my huge salary, when there are fewer people around”</a:t>
            </a:r>
            <a:endParaRPr lang="en-US" sz="24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126</a:t>
            </a:fld>
            <a:endParaRPr lang="en-US" dirty="0"/>
          </a:p>
        </p:txBody>
      </p:sp>
      <p:pic>
        <p:nvPicPr>
          <p:cNvPr id="176130" name="Picture 2" descr="http://lowres.jantoo.com/business-downsizing-downsize-sacked-fired-layoff-29607053_low.jpg"/>
          <p:cNvPicPr>
            <a:picLocks noChangeAspect="1" noChangeArrowheads="1"/>
          </p:cNvPicPr>
          <p:nvPr/>
        </p:nvPicPr>
        <p:blipFill>
          <a:blip r:embed="rId2" cstate="print"/>
          <a:srcRect/>
          <a:stretch>
            <a:fillRect/>
          </a:stretch>
        </p:blipFill>
        <p:spPr bwMode="auto">
          <a:xfrm>
            <a:off x="762000" y="1295400"/>
            <a:ext cx="7696200" cy="5181600"/>
          </a:xfrm>
          <a:prstGeom prst="rect">
            <a:avLst/>
          </a:prstGeom>
          <a:noFill/>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0600"/>
          </a:xfrm>
        </p:spPr>
        <p:txBody>
          <a:bodyPr>
            <a:normAutofit fontScale="90000"/>
          </a:bodyPr>
          <a:lstStyle/>
          <a:p>
            <a:r>
              <a:rPr lang="en-US" dirty="0"/>
              <a:t>Contemporary Issues:</a:t>
            </a:r>
            <a:r>
              <a:rPr lang="en-US" sz="6600" dirty="0"/>
              <a:t> </a:t>
            </a:r>
            <a:r>
              <a:rPr lang="en-US" sz="6000" dirty="0"/>
              <a:t>Downsizing</a:t>
            </a:r>
            <a:endParaRPr lang="en-US" dirty="0"/>
          </a:p>
        </p:txBody>
      </p:sp>
      <p:sp>
        <p:nvSpPr>
          <p:cNvPr id="3" name="Content Placeholder 2"/>
          <p:cNvSpPr>
            <a:spLocks noGrp="1"/>
          </p:cNvSpPr>
          <p:nvPr>
            <p:ph idx="1"/>
          </p:nvPr>
        </p:nvSpPr>
        <p:spPr>
          <a:xfrm>
            <a:off x="457200" y="1905000"/>
            <a:ext cx="8229600" cy="4495800"/>
          </a:xfrm>
        </p:spPr>
        <p:txBody>
          <a:bodyPr>
            <a:normAutofit fontScale="92500"/>
          </a:bodyPr>
          <a:lstStyle/>
          <a:p>
            <a:r>
              <a:rPr lang="en-US" dirty="0">
                <a:cs typeface="Arial" charset="0"/>
              </a:rPr>
              <a:t>During in the most current economic recession, many well-known companies have downsized; 	</a:t>
            </a:r>
          </a:p>
          <a:p>
            <a:pPr lvl="1"/>
            <a:r>
              <a:rPr lang="en-US" dirty="0">
                <a:cs typeface="Arial" charset="0"/>
              </a:rPr>
              <a:t> including, Boeing, Nokia, Procter &amp; Gamble, </a:t>
            </a:r>
            <a:r>
              <a:rPr lang="sv-SE" dirty="0">
                <a:cs typeface="Arial" charset="0"/>
              </a:rPr>
              <a:t>Hewlett-Packard, Volkswagen, Dell, General Motors, Unisys, Siemens, Merck,</a:t>
            </a:r>
            <a:r>
              <a:rPr lang="en-US" dirty="0">
                <a:cs typeface="Arial" charset="0"/>
              </a:rPr>
              <a:t> and eBay.</a:t>
            </a:r>
          </a:p>
          <a:p>
            <a:endParaRPr lang="en-GB" dirty="0">
              <a:cs typeface="Arial" charset="0"/>
            </a:endParaRPr>
          </a:p>
          <a:p>
            <a:r>
              <a:rPr lang="en-GB" dirty="0">
                <a:cs typeface="Arial" charset="0"/>
              </a:rPr>
              <a:t>How can a manager, best manage, a downsized work place?</a:t>
            </a:r>
          </a:p>
          <a:p>
            <a:pPr lvl="1"/>
            <a:r>
              <a:rPr lang="en-GB" dirty="0">
                <a:cs typeface="Arial" charset="0"/>
              </a:rPr>
              <a:t>Disruptions in the work place and in employees lives are to be expected</a:t>
            </a:r>
          </a:p>
          <a:p>
            <a:pPr lvl="1"/>
            <a:r>
              <a:rPr lang="en-GB" dirty="0">
                <a:cs typeface="Arial" charset="0"/>
              </a:rPr>
              <a:t>Stress, frustration, are typical reactions of individuals laid off and the job ‘survivors’.</a:t>
            </a:r>
          </a:p>
          <a:p>
            <a:pPr lvl="1"/>
            <a:endParaRPr lang="en-US" dirty="0">
              <a:cs typeface="Arial" charset="0"/>
            </a:endParaRPr>
          </a:p>
          <a:p>
            <a:pPr marL="342900" indent="-342900" eaLnBrk="0" hangingPunct="0">
              <a:buFont typeface="Arial" charset="0"/>
              <a:buChar char="•"/>
            </a:pPr>
            <a:endParaRPr lang="en-US" sz="2400" b="1" dirty="0"/>
          </a:p>
          <a:p>
            <a:pPr marL="342900" indent="-342900" eaLnBrk="0" hangingPunct="0">
              <a:buFont typeface="Arial" charset="0"/>
              <a:buChar char="•"/>
            </a:pPr>
            <a:endParaRPr lang="en-US" sz="2400" b="1"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127</a:t>
            </a:fld>
            <a:endParaRPr 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GB" dirty="0"/>
              <a:t>Downsizing</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128</a:t>
            </a:fld>
            <a:endParaRPr lang="en-US" dirty="0"/>
          </a:p>
        </p:txBody>
      </p:sp>
      <p:pic>
        <p:nvPicPr>
          <p:cNvPr id="79874" name="Picture 2" descr="http://www.funnieslol.com/wp-content/uploads/2013/05/Almeida-Downsizing.jpg"/>
          <p:cNvPicPr>
            <a:picLocks noChangeAspect="1" noChangeArrowheads="1"/>
          </p:cNvPicPr>
          <p:nvPr/>
        </p:nvPicPr>
        <p:blipFill>
          <a:blip r:embed="rId2" cstate="print"/>
          <a:srcRect/>
          <a:stretch>
            <a:fillRect/>
          </a:stretch>
        </p:blipFill>
        <p:spPr bwMode="auto">
          <a:xfrm>
            <a:off x="1143000" y="990600"/>
            <a:ext cx="7010400" cy="5181600"/>
          </a:xfrm>
          <a:prstGeom prst="rect">
            <a:avLst/>
          </a:prstGeom>
          <a:noFill/>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000" dirty="0"/>
            </a:br>
            <a:r>
              <a:rPr lang="en-US" sz="3600" dirty="0"/>
              <a:t>Tips for Managing Downsizing</a:t>
            </a:r>
            <a:br>
              <a:rPr lang="en-US" sz="3600" dirty="0"/>
            </a:br>
            <a:r>
              <a:rPr lang="en-US" sz="1600" dirty="0"/>
              <a:t> </a:t>
            </a:r>
            <a:endParaRPr lang="en-IE" sz="2000" dirty="0"/>
          </a:p>
        </p:txBody>
      </p:sp>
      <p:sp>
        <p:nvSpPr>
          <p:cNvPr id="3" name="Content Placeholder 2"/>
          <p:cNvSpPr>
            <a:spLocks noGrp="1"/>
          </p:cNvSpPr>
          <p:nvPr>
            <p:ph idx="1"/>
          </p:nvPr>
        </p:nvSpPr>
        <p:spPr/>
        <p:txBody>
          <a:bodyPr/>
          <a:lstStyle/>
          <a:p>
            <a:endParaRPr lang="en-IE"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129</a:t>
            </a:fld>
            <a:endParaRPr lang="en-US" dirty="0"/>
          </a:p>
        </p:txBody>
      </p:sp>
      <p:pic>
        <p:nvPicPr>
          <p:cNvPr id="5" name="Picture 2"/>
          <p:cNvPicPr>
            <a:picLocks noChangeAspect="1" noChangeArrowheads="1"/>
          </p:cNvPicPr>
          <p:nvPr/>
        </p:nvPicPr>
        <p:blipFill>
          <a:blip r:embed="rId2" cstate="print"/>
          <a:srcRect/>
          <a:stretch>
            <a:fillRect/>
          </a:stretch>
        </p:blipFill>
        <p:spPr bwMode="auto">
          <a:xfrm>
            <a:off x="609600" y="1828800"/>
            <a:ext cx="7496175" cy="4648200"/>
          </a:xfrm>
          <a:prstGeom prst="rect">
            <a:avLst/>
          </a:prstGeom>
          <a:noFill/>
          <a:ln w="9525">
            <a:solidFill>
              <a:schemeClr val="accent1"/>
            </a:solidFill>
            <a:miter lim="800000"/>
            <a:headEnd/>
            <a:tailEnd/>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09600"/>
          </a:xfrm>
        </p:spPr>
        <p:txBody>
          <a:bodyPr>
            <a:normAutofit fontScale="90000"/>
          </a:bodyPr>
          <a:lstStyle/>
          <a:p>
            <a:r>
              <a:rPr lang="en-GB" dirty="0"/>
              <a:t>Downsizing</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130</a:t>
            </a:fld>
            <a:endParaRPr lang="en-US" dirty="0"/>
          </a:p>
        </p:txBody>
      </p:sp>
      <p:pic>
        <p:nvPicPr>
          <p:cNvPr id="78850" name="Picture 2" descr="http://www.funnytimes.com/archives/files/art/20000202.jpg"/>
          <p:cNvPicPr>
            <a:picLocks noChangeAspect="1" noChangeArrowheads="1"/>
          </p:cNvPicPr>
          <p:nvPr/>
        </p:nvPicPr>
        <p:blipFill>
          <a:blip r:embed="rId2" cstate="print"/>
          <a:srcRect/>
          <a:stretch>
            <a:fillRect/>
          </a:stretch>
        </p:blipFill>
        <p:spPr bwMode="auto">
          <a:xfrm>
            <a:off x="4495800" y="1295400"/>
            <a:ext cx="4419600" cy="5324476"/>
          </a:xfrm>
          <a:prstGeom prst="rect">
            <a:avLst/>
          </a:prstGeom>
          <a:noFill/>
          <a:ln>
            <a:solidFill>
              <a:schemeClr val="accent1"/>
            </a:solidFill>
          </a:ln>
        </p:spPr>
      </p:pic>
      <p:pic>
        <p:nvPicPr>
          <p:cNvPr id="78852" name="Picture 4" descr="http://d1mpb3f4gq7nrb.cloudfront.net/img/toons/cartoon3014.png"/>
          <p:cNvPicPr>
            <a:picLocks noChangeAspect="1" noChangeArrowheads="1"/>
          </p:cNvPicPr>
          <p:nvPr/>
        </p:nvPicPr>
        <p:blipFill>
          <a:blip r:embed="rId3" cstate="print"/>
          <a:srcRect/>
          <a:stretch>
            <a:fillRect/>
          </a:stretch>
        </p:blipFill>
        <p:spPr bwMode="auto">
          <a:xfrm>
            <a:off x="228600" y="1371600"/>
            <a:ext cx="4038600" cy="5257800"/>
          </a:xfrm>
          <a:prstGeom prst="rect">
            <a:avLst/>
          </a:prstGeom>
          <a:noFill/>
          <a:ln>
            <a:solidFill>
              <a:schemeClr val="accent1"/>
            </a:solid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131</a:t>
            </a:fld>
            <a:endParaRPr lang="en-US" dirty="0"/>
          </a:p>
        </p:txBody>
      </p:sp>
      <p:pic>
        <p:nvPicPr>
          <p:cNvPr id="177154" name="Picture 2" descr="http://funnytimes.com/wp-content/uploads/1996/07/199607313.jpg"/>
          <p:cNvPicPr>
            <a:picLocks noChangeAspect="1" noChangeArrowheads="1"/>
          </p:cNvPicPr>
          <p:nvPr/>
        </p:nvPicPr>
        <p:blipFill>
          <a:blip r:embed="rId2" cstate="print"/>
          <a:srcRect/>
          <a:stretch>
            <a:fillRect/>
          </a:stretch>
        </p:blipFill>
        <p:spPr bwMode="auto">
          <a:xfrm>
            <a:off x="533400" y="304800"/>
            <a:ext cx="7772400" cy="6324600"/>
          </a:xfrm>
          <a:prstGeom prst="rect">
            <a:avLst/>
          </a:prstGeom>
          <a:noFill/>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371600"/>
          </a:xfrm>
        </p:spPr>
        <p:txBody>
          <a:bodyPr>
            <a:normAutofit fontScale="90000"/>
          </a:bodyPr>
          <a:lstStyle/>
          <a:p>
            <a:r>
              <a:rPr lang="en-US" dirty="0"/>
              <a:t>Contemporary Issues: </a:t>
            </a:r>
            <a:br>
              <a:rPr lang="en-US" dirty="0"/>
            </a:br>
            <a:r>
              <a:rPr lang="en-US" sz="5300" dirty="0"/>
              <a:t>Managing</a:t>
            </a:r>
            <a:r>
              <a:rPr lang="en-US" sz="4000" dirty="0"/>
              <a:t> </a:t>
            </a:r>
            <a:r>
              <a:rPr lang="en-US" sz="5300" dirty="0"/>
              <a:t>Workforce Diversity</a:t>
            </a:r>
            <a:endParaRPr lang="en-US" dirty="0"/>
          </a:p>
        </p:txBody>
      </p:sp>
      <p:sp>
        <p:nvSpPr>
          <p:cNvPr id="3" name="Content Placeholder 2"/>
          <p:cNvSpPr>
            <a:spLocks noGrp="1"/>
          </p:cNvSpPr>
          <p:nvPr>
            <p:ph idx="1"/>
          </p:nvPr>
        </p:nvSpPr>
        <p:spPr>
          <a:xfrm>
            <a:off x="457200" y="1905000"/>
            <a:ext cx="8229600" cy="2971800"/>
          </a:xfrm>
        </p:spPr>
        <p:txBody>
          <a:bodyPr/>
          <a:lstStyle/>
          <a:p>
            <a:r>
              <a:rPr lang="en-US" dirty="0"/>
              <a:t>In a business environment where the composition of the workforce is changing, these changes affect recruitment, selection, orientation, and training.</a:t>
            </a:r>
          </a:p>
          <a:p>
            <a:endParaRPr lang="en-GB" sz="1800" dirty="0"/>
          </a:p>
          <a:p>
            <a:r>
              <a:rPr lang="en-GB" dirty="0"/>
              <a:t>Managing the diversity of the staff in an organisation is increasingly complex for managers.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132</a:t>
            </a:fld>
            <a:endParaRPr lang="en-US" dirty="0"/>
          </a:p>
        </p:txBody>
      </p:sp>
      <p:pic>
        <p:nvPicPr>
          <p:cNvPr id="2050" name="Picture 2" descr="http://www.christophersmith-op.com/wp-content/uploads/2014/04/diversity-cultural-awareness-cartoon.jpg"/>
          <p:cNvPicPr>
            <a:picLocks noChangeAspect="1" noChangeArrowheads="1"/>
          </p:cNvPicPr>
          <p:nvPr/>
        </p:nvPicPr>
        <p:blipFill>
          <a:blip r:embed="rId2" cstate="print"/>
          <a:srcRect/>
          <a:stretch>
            <a:fillRect/>
          </a:stretch>
        </p:blipFill>
        <p:spPr bwMode="auto">
          <a:xfrm>
            <a:off x="1143000" y="4724399"/>
            <a:ext cx="6781800" cy="2133601"/>
          </a:xfrm>
          <a:prstGeom prst="rect">
            <a:avLst/>
          </a:prstGeom>
          <a:noFill/>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33400"/>
          </a:xfrm>
        </p:spPr>
        <p:txBody>
          <a:bodyPr>
            <a:normAutofit fontScale="90000"/>
          </a:bodyPr>
          <a:lstStyle/>
          <a:p>
            <a:r>
              <a:rPr lang="en-GB" dirty="0"/>
              <a:t>Workplace Diversity</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133</a:t>
            </a:fld>
            <a:endParaRPr lang="en-US" dirty="0"/>
          </a:p>
        </p:txBody>
      </p:sp>
      <p:pic>
        <p:nvPicPr>
          <p:cNvPr id="134146" name="Picture 2" descr="http://www.glasbergen.com/wp-content/gallery/diversity/div1.gif"/>
          <p:cNvPicPr>
            <a:picLocks noChangeAspect="1" noChangeArrowheads="1"/>
          </p:cNvPicPr>
          <p:nvPr/>
        </p:nvPicPr>
        <p:blipFill>
          <a:blip r:embed="rId2" cstate="print"/>
          <a:srcRect/>
          <a:stretch>
            <a:fillRect/>
          </a:stretch>
        </p:blipFill>
        <p:spPr bwMode="auto">
          <a:xfrm>
            <a:off x="838200" y="1066800"/>
            <a:ext cx="7696200" cy="4953000"/>
          </a:xfrm>
          <a:prstGeom prst="rect">
            <a:avLst/>
          </a:prstGeom>
          <a:noFill/>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09600"/>
          </a:xfrm>
        </p:spPr>
        <p:txBody>
          <a:bodyPr>
            <a:normAutofit fontScale="90000"/>
          </a:bodyPr>
          <a:lstStyle/>
          <a:p>
            <a:r>
              <a:rPr lang="en-GB" dirty="0"/>
              <a:t>Workplace Diversity</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134</a:t>
            </a:fld>
            <a:endParaRPr lang="en-US" dirty="0"/>
          </a:p>
        </p:txBody>
      </p:sp>
      <p:pic>
        <p:nvPicPr>
          <p:cNvPr id="1026" name="Picture 2" descr="http://www.cartoonwork.com/cultural_diversity_in_the_workplace_sjpg1309.jpg"/>
          <p:cNvPicPr>
            <a:picLocks noChangeAspect="1" noChangeArrowheads="1"/>
          </p:cNvPicPr>
          <p:nvPr/>
        </p:nvPicPr>
        <p:blipFill>
          <a:blip r:embed="rId2" cstate="print"/>
          <a:srcRect/>
          <a:stretch>
            <a:fillRect/>
          </a:stretch>
        </p:blipFill>
        <p:spPr bwMode="auto">
          <a:xfrm>
            <a:off x="1143000" y="1219200"/>
            <a:ext cx="6629400" cy="5133975"/>
          </a:xfrm>
          <a:prstGeom prst="rect">
            <a:avLst/>
          </a:prstGeom>
          <a:noFill/>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533400"/>
          </a:xfrm>
        </p:spPr>
        <p:txBody>
          <a:bodyPr>
            <a:normAutofit fontScale="90000"/>
          </a:bodyPr>
          <a:lstStyle/>
          <a:p>
            <a:r>
              <a:rPr lang="en-GB" dirty="0"/>
              <a:t>Workplace Diversity</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135</a:t>
            </a:fld>
            <a:endParaRPr lang="en-US" dirty="0"/>
          </a:p>
        </p:txBody>
      </p:sp>
      <p:pic>
        <p:nvPicPr>
          <p:cNvPr id="135170" name="Picture 2" descr="http://www.toonpool.com/user/67706/files/diversity_in_the_workplace_1828305.jpg"/>
          <p:cNvPicPr>
            <a:picLocks noChangeAspect="1" noChangeArrowheads="1"/>
          </p:cNvPicPr>
          <p:nvPr/>
        </p:nvPicPr>
        <p:blipFill>
          <a:blip r:embed="rId2" cstate="print"/>
          <a:srcRect/>
          <a:stretch>
            <a:fillRect/>
          </a:stretch>
        </p:blipFill>
        <p:spPr bwMode="auto">
          <a:xfrm>
            <a:off x="762000" y="990600"/>
            <a:ext cx="7391400" cy="5257800"/>
          </a:xfrm>
          <a:prstGeom prst="rect">
            <a:avLst/>
          </a:prstGeom>
          <a:noFill/>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82000" cy="1295400"/>
          </a:xfrm>
        </p:spPr>
        <p:txBody>
          <a:bodyPr>
            <a:noAutofit/>
          </a:bodyPr>
          <a:lstStyle/>
          <a:p>
            <a:r>
              <a:rPr lang="en-US" sz="3600" dirty="0"/>
              <a:t>Contemporary Issues: </a:t>
            </a:r>
            <a:br>
              <a:rPr lang="en-US" sz="3600" dirty="0"/>
            </a:br>
            <a:r>
              <a:rPr lang="en-US" sz="4800" dirty="0"/>
              <a:t>Managing Sexual Harassment </a:t>
            </a:r>
            <a:endParaRPr lang="en-US" dirty="0"/>
          </a:p>
        </p:txBody>
      </p:sp>
      <p:sp>
        <p:nvSpPr>
          <p:cNvPr id="3" name="Content Placeholder 2"/>
          <p:cNvSpPr>
            <a:spLocks noGrp="1"/>
          </p:cNvSpPr>
          <p:nvPr>
            <p:ph idx="1"/>
          </p:nvPr>
        </p:nvSpPr>
        <p:spPr>
          <a:xfrm>
            <a:off x="457200" y="1981200"/>
            <a:ext cx="8229600" cy="4572000"/>
          </a:xfrm>
        </p:spPr>
        <p:txBody>
          <a:bodyPr>
            <a:normAutofit/>
          </a:bodyPr>
          <a:lstStyle/>
          <a:p>
            <a:r>
              <a:rPr lang="en-US" b="1" dirty="0">
                <a:cs typeface="Arial" charset="0"/>
              </a:rPr>
              <a:t>Sexual harassment </a:t>
            </a:r>
            <a:r>
              <a:rPr lang="en-US" dirty="0">
                <a:cs typeface="Arial" charset="0"/>
              </a:rPr>
              <a:t>– is any unwanted action or activity of a sexual nature that explicitly or implicitly affects an individual’s employment, performance, or work environment.</a:t>
            </a:r>
          </a:p>
          <a:p>
            <a:endParaRPr lang="en-US" sz="1200" b="1" dirty="0">
              <a:cs typeface="Arial" charset="0"/>
            </a:endParaRPr>
          </a:p>
          <a:p>
            <a:r>
              <a:rPr lang="en-US" sz="2400" dirty="0">
                <a:cs typeface="Arial" charset="0"/>
              </a:rPr>
              <a:t>Sexual harassment is a serious issue in both public and private sector organisations. </a:t>
            </a:r>
          </a:p>
          <a:p>
            <a:endParaRPr lang="en-US" sz="1100" dirty="0">
              <a:cs typeface="Arial" charset="0"/>
            </a:endParaRPr>
          </a:p>
          <a:p>
            <a:r>
              <a:rPr lang="en-US" sz="2400" dirty="0">
                <a:cs typeface="Arial" charset="0"/>
              </a:rPr>
              <a:t>Between 2018 and 2021, almost 100,000 complaints were filed with the Equal Employment Opportunity Commission (EEOC, USA), of those, over 27,000 were sexual harassment complaints.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136</a:t>
            </a:fld>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438912"/>
          </a:xfrm>
        </p:spPr>
        <p:txBody>
          <a:bodyPr>
            <a:normAutofit fontScale="90000"/>
          </a:bodyPr>
          <a:lstStyle/>
          <a:p>
            <a:r>
              <a:rPr lang="en-GB" dirty="0"/>
              <a:t>Sexual Harassment</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137</a:t>
            </a:fld>
            <a:endParaRPr lang="en-US" dirty="0"/>
          </a:p>
        </p:txBody>
      </p:sp>
      <p:pic>
        <p:nvPicPr>
          <p:cNvPr id="77826" name="Picture 2" descr="http://www.workplacerantings.com/wp-content/uploads/2013/07/PrettyTraining.gif"/>
          <p:cNvPicPr>
            <a:picLocks noChangeAspect="1" noChangeArrowheads="1"/>
          </p:cNvPicPr>
          <p:nvPr/>
        </p:nvPicPr>
        <p:blipFill>
          <a:blip r:embed="rId2" cstate="print">
            <a:lum/>
          </a:blip>
          <a:srcRect/>
          <a:stretch>
            <a:fillRect/>
          </a:stretch>
        </p:blipFill>
        <p:spPr bwMode="auto">
          <a:xfrm>
            <a:off x="4572000" y="1295400"/>
            <a:ext cx="4572000" cy="5562600"/>
          </a:xfrm>
          <a:prstGeom prst="rect">
            <a:avLst/>
          </a:prstGeom>
          <a:noFill/>
          <a:ln>
            <a:solidFill>
              <a:schemeClr val="accent3">
                <a:lumMod val="50000"/>
              </a:schemeClr>
            </a:solidFill>
          </a:ln>
        </p:spPr>
      </p:pic>
      <p:sp>
        <p:nvSpPr>
          <p:cNvPr id="45058" name="AutoShape 2" descr="data:image/jpeg;base64,/9j/4AAQSkZJRgABAQAAAQABAAD/2wCEAAkGBhQQERUUEhQVFBUWFBUXFhgXFxoaGBgZFhsaGR0YGBcZHCYgIBkjGhQgIC8gIycpLC0sGB4xNTAqNSkrLCkBCQoKBQUFDQUFDSkYEhgpKSkpKSkpKSkpKSkpKSkpKSkpKSkpKSkpKSkpKSkpKSkpKSkpKSkpKSkpKSkpKSkpKf/AABEIAPsAyQMBIgACEQEDEQH/xAAcAAADAAMBAQEAAAAAAAAAAAAABQYDBAcBAgj/xABHEAACAQMDAwIEAwQGBggHAAABAgMEERIABSEGEzEiQQcUUWEjMnFCUoGRFSQzQ3KhgpKiscHwFhclYrPR4fFTVWN0k5TC/8QAFAEBAAAAAAAAAAAAAAAAAAAAAP/EABQRAQAAAAAAAAAAAAAAAAAAAAD/2gAMAwEAAhEDEQA/AO36NGjQGjQdTNZ1moSVUFp0+YxjkBGYp5BGzZDjE5qw5vZr+x0FNo1NnruAWLCREJqhmyYi1KubvYm+BUEg+9tak/xMpo4spc45RCkzwFfxI0d0UB/2Q/4inC+Vj40Ffo1DzfEpROIgsa/16WlLySFVKwLFmy+i5k7k4RYxe9ib2BI3+reqaikeKOGnR+4shaaaURwRdtWclyAWsFQseALW50FTo0kHUokoxU0qGrDD0LEQMyGwbFpLcBgeT+740g2rr+d5bVMEcCXEYVJTNIZDOafyqrHiGjcsAS1o2a1gdBdaNJ9k6lSrgM6KyxjLEviCygBg+IYkKym4ysbWNrEXVf8AWPTpDFLKQmY/FF7iAiFZmBOPqI7sa2UXJlAtwbBW6NR03xNgWQgRzNEImk74Ve2bRJMEW7A5FJVHIHqZV8nW9B1vC1eaFlkSTEFWZfw2fAStEGH7axsGI+5/iFHo1o7vvMVJE0s8ixotsifuQo4FybkgcDydfO0bwlVEJYg+DflLxtGSPqFcA4n2PvoGGjU7R9cQSyOAJREga9S6YUxKHFlWZiASDcXtY4mx41v1/UtNAjPJPEqoxVjmDZgAcMQb5WYekc+ofXQM9Go6i+J1NNNEirKqTMFildCiyMSFAjQ/iEXJBcqqgqRfVBtnUFPUIXimR0EhiyB4zXgqCfJ/Tz7aBjo1NRdf0ssnbp2epIdVdoI2eKPIn1STWEaqApJOV7DgHTLcOoIKe4llVSO3xyWPdLKgCqCxZijWABPpb6aBno0j6p6iNGsARRJJPUxQIt7fnN2bj2VAT9PGnanQe6NGjQGjRo0BqD3ToSSerqpcsMmpnpze4HGNSthyFkRQpHj8reRq81C9RbM81VWIpqFV6GKRe07osk0ZqI8C6/VWjugIvZbg6BI3w4IaSOSop6YSzzdto7tLNFLHKJlfvNbudtwAVuFEbEDm+t3a/h5HUAzz1/zqSMrnFIhA7RlEZiFJUkxwCM88es+fG7T9MRDa4rUJeRqcLIi4xT3qI1infKQgGbG9y5ubWvplDt1TLtLQMqQVLU0kQClQqsQyqT2/SpIsTjcKSbeBoJej6DpJ4o5aOvcJDdZJlKtdQgWaznhJGUJ+KPy4/fh51ZttJuIiDVaxt2JJYyrIbxt237tm/YHaBv4IyH11Ov0XWSw01I0ZjCiUmV53mxiWNEFM7JgAkrAZRoFXBOLsCRty9G7jNBWwk0kIrCrlwXZ1QrGny9lUDCNFZQ3N/wB0ZFlCn2uto6CNKY1UbPlazyqZZJJXLG6A3u0jk2AsL20n3z4YxTMrCdo2UsEYqCQZWqGkxNwM3kqQQbG3bFvJOsW49Fzw1vzFIkcayT0Yfs2RhDEZJZywst2kfBOCSwPPGp2m6M3mUGSSVBn8zUqjue5DUSxyQxohuwUKrqwINlI+3IW3Q+zrBRPTLNDI6M6S9hVEcchVQUCjkkcEljkWLXt4EyvwiaJ6dqWqWF4Yog4wyBcrJHLUCMmwkYEFSfeM3v7bHTUk9HUwxyxyRiftw01H3kxhSOPKomYR3RgHW6sTm2Xtc61aHa6mWmqcaOaOrqHjSeedgQ7GdbhY8rmmjiJAYBfSAADyQHi/DaeEzulRBF3XjESyXcRtHUo0UasTykkcSBksSzhR7DTro7pmoE8ktV4SqqZIr2zkeT8HvsqgKi9lcVQX/tGJJ9Opjcukq2VoYXjyVD3JHNwqz1Vc7NPGsZIZliW9iw7aMQTci7bbq2d2jHy1WqS7tM9UwWxOJcxKOb9le3CGewUhCOfVoNPqP4dT1O5d7NVJqopI5El/rAiAjyAVvSEjMZYAKxyce179H/o7t0zQxs98HVWkkZ3yYGzNIxLE5H/y8W1zLbaWpnp6qWaD5eoqJ1iapeBYpII5ZCkmMzy3ZEiVVXEILkWLG+vp+mNzLU5ljDTGZAZV7bpD2DDGk5Vz6j21mkUkEq0rekEggNw9GV88VIk0NEEhpzStFMzTKvpVfmlCqB3bIQFvcA/mFzbF0d8MKmgkhlSRVJpJ1kVyXCVElsXAXgj0R3sf7vi9wdZ923HcKeaScLMY4JTUzRjnuQFjTpEhvjdYYmqCF93FwrC5XVPUFQoTuR1MtVFT009LE6ztHNUVH4krP2l57WfbRGKquB+vpDJWfDOtyn7ckZjMC0scct7lUgjhWoDK1g/ql/MLgFrC7m29tnQNdTTrY0c8IaoKmdCWiMrj8URoqq0jRqBiMQBdQQCb0u/b5UUtBGSmdZKEjVIUJ/FYFnKIWNxGiu9i1jhyRfiTh64qIqelRRMf6tJC8joJH+ZaRqenZiGYEmWB8hf9oX8gaDY3H4b1FQzqzxxxySzlsGItE/y0SBUxxyFNA6i/C923NjdU/Qu60krNHL8w8sBiSZCiGnaPtpHIyynnKKII7KCwDNa5tlTdEb5JV1dTIJ5JYV7yMCB2EdZ3ESwkKCW7ChnN2HrXnwBq1nVbtu8XEiUkLVMBkaywvIkMkkrliwv2+xh+UgWk9QvbQbc+w14qqGOOUfKwpnPNJhLO03qDWaUFhkGxBW1lZxxZRq7XUb8OqioqY/mpqtpg4dGhMcQjjljcqxidL5R+khTc3BBPPAs9AaNGjQGjRo0BqF656tlpaqGCOopYFlidi0kck0ylWA9MSNyGBNrjyj/TV1pJuewtJWUtSrKvY76uCvLJKgHpb2IZQeeOT/EI1/iSPk1WKctOZooVqZ4kSN1klaM1IVWxMS9px7G6i/kE2HRu9NWUiTMQ12lUOFKrIscjIsqqTcB1UNbm17aRbh8JaWVGW8hVpIPS7FlSGKQyGCIAgojBmHm4y48aqtu2z5aBYlkd8QQrytm/kkXawuBe36DQc53fPdtxqaZtxaiambGngjJV3YIG77njNefyqbgAn0+Wy9P/ABIqqtax4BBO0SSPFAkcosEkCgPUfkZ2QMwRRzcWIFwF9fFuM7wRVW2CSrhmhxr43VEwjkDF7qosClwUP7xOIPGmG3dE7jS080Uc0YUKYKVIfQBHLIudTLwuU6xcDz4J88kH21/EP5oQSRRfgVFWtPEzkh2/BkkkfC3ADx9sc82Y+LX00+IZf5qqXtCio1lVhe880q2AIXxHGTwMvUfNreM+3fDOOmmDQSGOFamCoWIKSA0UMsL2Yt/eCRSTY/lI9+Elb8NZmnqpJHp2FXPTrhGoi/BSpWdmbgB5Qigccm5JJNrh9RfEIzttckcUffqWiSocLl2YpHde2rE3BkaJiOTxG32Oreu39RHMadoZ5YVyePvAY8E+oorkEhTa686nNy+H4hEPyKC53WOslJI9K3fKw4uqhrBRYi/vzeno+mKaFZFip4oxKGEgRAuYa9wxFiR6jx99BJbd8UVwV6oIndSiaOKMEyXqmdR6nIzsI8jiosP3rjXztXxbSqqjBHAfyziINKgmaSBVZlePkRqQWxctz22/TVCehqFuewjfhQRqbsbR05DRqhy4UFQTb81he+vug6PpYhEUjy7TzyRlnLc1GXcJN/UCrkeq/H89BJ1vVCbjT0cktAGWoqB8sJagiLNL8zsqYi+NlQhy5uAvGrXqjqAUFMZjG8pzjRY4xd3aRwgC/f1fx0hg6e2isp17fakgpg6HCZwiKGEjLIQ4umS5+u44B1QvFT18cUgZZo1kSaJkc4l4zdWuhsbN7G4uORxoENP8S6ZmkJzZFb8MxRySs0axRSSTOqKcEVpgtz9P1A2No6vkqapoEp1ZEETPNHUKyBJkLxkKUUtdQDYDgMPbX3V9B0bWQI0SkylkikaMSLNh3EYKf7NjGhIW3j7m7Laen4qaWaSIFTN2sl/ZXtII1CKB6VxUcf8AtoF29dYRU1UsUkdkWNJHmJFkMzSRxokYBd3ZomFlHA+19eVHXW3orZTJikKVJ9JIwaTFWsBfLuW4tkCQeDrFP0MhkkmlqqhnJQxyFo1aAIZiFRhHa39ZdfUDwQPYaXf9UG3iGVJFLl2lcSufxI+5Hh+f9rGxf139V2886BpU9b08AqRHG7rSKzSiIRgAizOEV3Ukqr5Gwt5Fy3B+YOsKeSIvVKkIAnZVdllbtxYpIzdsMFIMhRkuTwRzzpS/R9CsFRM9YvYq1/EkvTqjM7KWZZ8b2ZkNlzKjI2HjXxP8II5BJlUyF5Q4dgosudSlSeymVox6CvF/zlva2go9y6oo9vi/MoUKxSOFQxIDrGQiJxfuOFtxyT99UKNcX5H66iKP4VU0KjB5FcJTgNcEd2nfuLNiwPqLkllvicjxfnTjo/o6LbocI8WduZZAoQyHJiLqCQAocqBzYW5OgoNGjRoDRo0aA1J/ELdKmkppJ6dgQIzF27DISSkJFLG1uWWR1BQ8EG4sRZqzSzf9iSsiEchYKssUvpNrmJw4BuD6SRz/AMNBB7X1NXNVTUySiSUCrjETxreH5eNVgqJHFr96SxIbg5+mwHOaaer3GGplkjmRaQU81NGYmjaWpghkd1ZT6inedBYMQTGLHkk1NN1Qhhq52jZUpZJ0cizNIKYXZlA/iAD9NaW89cPG0Sw0cswmaJYpWeOOFzKjSABiWe9lN7oLW/S4KNk6ndpNvd5aiSB6RomkEEuMtVeEZOO3kFtlZyAvDc/m0x66iqzNTLRqz91KqGQFmWFQ8d1eRlBsVZfSbXPIuL62ajrCYVi0iUcrPjmztJGkeAwDOhN2YAyBRdVuQRxY20t469eLbaerSIB6lo1jR83AEgZ827Ks1hGpcgC9uPOgk6bZt0kqQymVXjpaGJmkZldRKjJKFx9EgWQ95mJLXjAH5tfe27VWrW01TVQyB3eThKdJ+07VU7svcd7RKY2jtJiTgtgQRz0npmpmlpo3qGiZ3GX4UcsaANYgYzHO/wCoHkcDSHf+uvl5Zacdv5jv0iQR3LNIkxjDs6r+S2TAE2H5fqAQwfEPpGesMTwNK9m9cLTFaciNJHUNGGS5eUIhbLgG/HJ096MqKlqYCqiELIxRBiFLRqBixjEjhD5GOZ/KDxewSbJ1vLVS1RCqIYu/2SYJQr9q4DGpLYHIqxwRCcffgjU1tnxGq6uCpZGxLxUrQlYWtAZagU7qGcWkNiJAbkXYi5xOgzVfT260sFWlOM4FM8FNAjKCYajut3vezxvKoC+n0owt4Jx7n0vuccdUELiJKaaOJElLrJGUEcMMVPf0sirk0huzHgEgnVn8P66WSOdZKj5tYqhooqjEKZFVULXx4OMjMmQ4OOkXxN+IRoZBAkiwP2u+shHczx7loAgU4l3RFyNhizm4I5Ce3b4bVa0UUUbCRpaykJfEjCJIWjVZorFcIyVBsGvyW+g3N66eqqangpoi8S1sqUs0YmknKZSPK1QkuCKrOuYcBQCLWHB026z6pqo6ikFPIkUciQyOCgcsJJ44yGY8IgWS1xySwHuCHGzfEuiq5O0jSI5jMoEsbR3iVQ3cu3BUqbj62J8c6D6+IUYiomqlYpNSK8sLgXIYqUwYe6OGxYfxHIGpCin3uIrTRdyTGHh3RGjKiNW7oqJDdp2lJURtwAOf3gz3PeKvdJZKOKlg+WIgkaWWZryQyMWRlSKzqXERIDcjH1D210ZRoOM9Z0u57k1PenZVZatzTsDiEVgiZKW7bVIQl1zsL/pzddXQ/L7LPEMmtSfLqW/MxdRCpY/W7i51XW18ugPBAI++g5FW9NV5mRMIs1WWpZIlGCGokSJlpzKRF3kiiJDOPMsni4Y7dPtcrw7pAwnYJD2qaENUXVIVCwgNxEWftK5KMWbNg3uD1Mrox0HLq3aZqAxqJ6uCjip4DMIMAEklfB5TM6OXC4s7jyAykcX1edM7387TrOEKI5ft5eWjDMEk8CwdQGsfrplUU6yKUYXVgVI55BBBHH2OvKSlWKNI0GKIqoo+iqLAc/YaDLo0aNAaNGjQGgjRo0ExL0LGxnHeqBFUCfOFXURZVK4yPwmRPNwGZgp5AGmR6fjMcCMC3y7RtG17ENEpQMQvB9JPFrc+3GmujQL22hDUio9XcELQ+fTgzq5uPrdPP3OlFN0BCkTRdypZMkMV52vAIrlFgK2wC3I9zbgkgAap9Gg0dq2taaJYkLsq3sZHZ3NyWJZ2JJJJJ+32HGsNT05BJ3soxefDukFlZzGAEOSkEFcRaxHgaaaNBN7f0HTQ1L1AEjuzSMqvIzRwmW+fajJsuWRv/iIFgba+qvoWmljMTK/bNPDT4CRgBHA5kQA3yBueTe5AA++qLRoNTatsjpokihRY40UKqr4AH/qb3NyTc3NydatV07FJUNOwObU7U59h22bI8+Q1/e/jSzqzqyXb5qdmhVqSRxHNKGOcTOQEYra3b+pv7+xsGpwdBPbh0PTzzU0rq5+WTBEzIQgFGXMftYtGGAJtcC4NtaD/AAo28xGLsWUzd3h2vfkYg34jxYjDxY/XnVjo0Cmq6eRzUMpeN6iFYXdGsyqgkVTH+6y91iD9bfTWSbc4KRY1mmSIGyIZHAyKr9WPJsOf/XWzuNaIYnkYgKiM5JNhZQSbn2HGuI1nRVfUCGsqYGrKqoZmSKViKWkjazDvKTl4Y2jBAGPORFiHaKPfqeaNpYp4ZI0vm6SKyLYXOTA2FhzzrWp+saGQ4pWUzHzZZ4yf5Bvvr837vTUtNUxsZqaqykxqYKeKRYEXwe1IrrmQCbEG9/rfTafp+iL0kYkQxVNYe2i0rrUGEy2xkkc5+T2lKggnIljidB+kVYHxzr3UN8JN1DUfyjXE9E7QTKebWZ8GU+CpVbD/AAn7E3OgNGjRoDRo0aA0aNGgNGjRoDRo0aA0amepuu6ejvGJYWqOAsRkVbEgnOU3ukaqCzG3gcAkgFF051VudTGyLDA0odsppA8UMSsAyRvGCWacK3KKbKMQzZZABZb5LMsLmmEZl4C90kRrcgF2tyQq3aw82++pvbOsIIVYS7gtdJfhaeEM4IF2CxwZEp49R4Hux1obtVu+4U9JuM8SxfLyzMqhoYal88FidXc3CKMihYhr8i2lm57iRuDVEET4LT1EHzVFCZ1UXiZMhYKzoEe+OSrkFuSrWC96d6vp64usRdZIse7HLG8ciZXtkrAebe19OtR/RkIqpn3MhVFRDHHCoILCFCTlKVOPdZjyoviEUXve1hoJ34iUKzbXWIwv/VpWH+KNS6/7SjTDpqsM1HTSnzJTwuf1dFb/AI60PiFUiPbKwn9qnljW370qmNR/rONONsoxDDHGosI40QD6BFC2/wAtBs68Y8a91N/EFZDQv21ZxnF3lTLJoM17qjH1cx3Bx5te2gh/iB8QytSkStSSUSyUzThZo3mlUuGYBQ3CKVF1I5B/dJt06LdoJXaJJYnkW+SK6swHvkgNx59xrlu/1UNVT01N8mscDuodsBSrLLEmRhpu8AyKWHMjY+lSoyY8OP6CoGkpafb40M1NLC7VEIH4McZBbuzILM8qgp2ySSZCxAAvoE/xi3an2+mihozFBUqwxESqskcLA5WYISgZgvhlJte551zDcPn4mp5JZs550Voiz51HbmXEEyPdo1sSBcixLEe5Fn8b9leauLgO6x08TN2oR+EjsyLk1wZC0o4H7Iv99c2qZHrp+AqHCKOOO5/u1WJI0Frl2IAtbySTYXIDvnwaiW1WQEuHpox2g3bwjgUqFZ+WsZGJfwxbIcMNdJ1NfD/pIbZRpDfKQ+uVr3vIQAbf90ABR9hql0Bo0aNBo09eXYDG18r+bgj68fSwP3Ot23/P/I0uo8+5zIGFjcZX5F72X28r+mmOg90aNGgNGjRoDWOoJCm3mxt9z7D+esmg6Dk2zbnQLDFHJ26hmUtXxvTtJMaqZkS7MwGLd1ygU828cLfXT9voEgVljFgXkc/4pHZ2P+sx/wAtT2+IJ9zooCLrEs1Y4+rR4wxX+tmmZv1VdPN73eOkgaaUkKtuFF2YkhVRF92ZiFA+p0Hu6bHBVKFqIY5lBuBIisAfqLjWVaVY48EVQoWyqAFAFvAA4A1q9O9Qw19Ok8DZKw5H7SsPKOPZgeCP94IOmR0HMtorq7ZaKljnpYJIg8cNo6gmbKVzYKjRhXYZ2xVj+Um9rkdNU8ahvh1QpOaiucdySSsq+07ks0cKvgqIG/ILJ4FuLfSwrN43ZKWF5ZCQiAE2F2JJAVVX3ZmIUD3JA0CPqM/NVVLSKfSjrVzj2whP4Sn/ABzWNvpC36GqGkXSu2SIsk9QAKmoYPKAb4AC0cIPusacX92Ln3090BpN1Xu700GUSo0jyxRR9xisYeVwgZyATiC1zbnj+OnOlHV9FFNQ1CzoskfZkYq17ehSwPBBBBUG4IPGg0qbY4Wj+XrOzUTTM9RIjC4ZrgFkjckhEBVAfYAXPJvv1ax0NK5iSOJI1JVQoWMH2uAVAF/PI1G7PvO17MiJJIoq3ii75AlmmLYAnO2bKL84GwFxxqsNXDuNGWSR1imUqHF43FziCuYBVshYcefHtoITd4HqXSbcwDTL3jKUlkSOmWJVwcLDIwNQ8j+GdjawCixJdfDHoujgpYKiONHmeMMZie492ubBrlVYBsThbxrkHVVCkEsrRxtjBUzO00U6WdpSWpmVOV9Pbs+Kjm4uOBp70Hucmz11ODN3aHcVDI+OK9xrLcoCQkiSehgDax+wsHfho0DRoDRo0aBVS0pSRcla3NrspUcH2UfQnz/w00/npVAVVlPrv6sj25Lvfxfj2v8A8jTXHQe6NGjQGjRo0Bo0aw1NWkal5GVFHJZiAAPqSeBoJ7aWEm61r2H4UNHAD78iSZrfY91R/o6T/FZyDQZytBT/ADg7kqY3jkwbsucgVwEnJvxwPtryo6gXbN0qWqw8VPV/Ldqe14hJHHgyuy8oTxa49ibgc6r2anr4SAYqmFxZgCsiHwbG1xfwftwdBB7R0VuUE09RT1FNE0jKcFRmpqnj1TOl7xSHi+FxwbcHTiWXeZA0ZjoYsgV7yyysUuLZrGU5YeQDpD1P8PKVPl4aOOZTNULGxjmnMcMSeqZiuZUNiMQD7v8AUa6dTQKihVACqAqj6ACwH6AaBTQUEO00OK5mKCN3Y8u7Wu7N92Y3NhxzpbtFHNXSpV1iNCiHKlpWPKXFu/PbgzEEhV8Rg+7EkVujQeBba90aNAa19xoRPDJExIWRHQleGAcFSQSCL2P01sa8J0ETvPTkNB8hJTRrGsNbEjW/My1V6dizHlmLSISWN/Sftre+IcbCkDqoZ45FaO7AEStdIcQVNz3pE4uo+pIurJJervnaqLtPDJSLXR05QWaR5FWSYTEg3jVZIAE49VmPi2mnxDnldIKelAepaeKZY2HoKU7iQmVrgpGGC8+S2KjzwEX8Svh66PTS0sgQClajkBS944oJnLlubkxpiL83w51O7jsLCH5bEPFUQLuO3gZHGVEDz0y29XqRmsAfIj9zcdmoNx/pKgcqpikeOaF0f+7lXKN0JA5CuLXHkD+GlcfQ8hptrQuqS0LwMzC/KomMkakezcC59h99BX0xJRbjE4rcXvY28X97fXWXQNGgNGjRoFsc8QYEzZEXtkwsCeOLAc+2mNtKO2cMcpu7+r2vfzf8ttObjQeaNGjQGjRo0BqAq6j+ltz+WAypKBlkn/dlqf7uM+xVLFiDcXFj7ad/ELqgbbQyz8Z2wiB95HuF497csR9FOtH4T9Omj26LO5lnvUTFvJaWxF/e4XEG/vl/ANvqGEQM0so7tLLilXG/qRBwqzhWuAo4Eg8Ws/lTlz7r74WwRSL8lR1AMscqhqcsypNdMM0LWWMqXF8go9PgDnsk8CupVgGVgQQRcEEWII9wQfGuM9aURVzTT92RaekYRlnfttEamniimxHBmjjqJFLG5vEGPBGgcw7AtEaChhTPsJJuVQitdpJIkCIFLWHqmf03sLRjjjXQen94SspoqiP8sqKwHuLjlT9wbg/cam+jqVGrq+SNQscLQUMKgEYrTJk4HtbOW3H7mvrpM/K1tbReEyWrpx9I6gnuKB4CrMp4/wC/40Flo0aNAaNGl1b1DTwzJDJKqSyAmNCbM9uLJ9Tf2HP20DHXjHWhsm/Q1sXdp3DrcqeCCrC11dWAKsLjgj3Gp34i9RfLJBD3DAKqcQtUe0KeWYNbhyPSpNgLlr+nQJN8qKaKaOpgi7cFJULBL24RjK98lERTlmjcNH+W2U7AHg61qAzVk7dyX5YTztDPKD+K7Rhj8hSMF9MUQVs5v2nLldMOp6NNvo64wIAqUsDQ2jNomiBSN+6zHOUM2a4j09sFuWBLSoiKSbMrsWcSPdmN2YiimuxPuSeSfvoGPSNHBRxihglEjUwGYOOYEpZ1zCgAGx8/bVDqCSn+W6juoslZQkvY+ZYGAyIt+5YfxOr3QGjRo0Br4lkxBJuQPoLn+WvvXjOByeB99BppWR8WZja/kNzx78c63NKoqc5qrFgeb/it6vcWXK4t9/8APTXLQe6NGjQGg6NeN40HLfiR/Xq+noyLojQBrD+8qXJJPFvTS08xH3fXUUtYWt9v01wvc60SVJlZlHf3OrX9othBAaeLKJFJcf2ihAQzlyoIyJHSehah/wASPFsEJuxKnGS4vGzrw83u+AEcZxiS+JsFbqS666MavTKKQxziKWEEn8No57CRXW3mwyUjwwU8jVbo0CPpLYDRQtG7h3aeeV3AsGMsjODY+DiVBHPIPJ0q6kIg3Xbp7gd35ikf6kSL3I7e39pHb/T1v7psFVPOxFfLDTleI4Y4lkBtY/jOrG1+fy3ufPA1A9TdJU6Vc0TCRmK7U8c0kjvMM60xSsszksrESKOPoNBR9V9RVb/M/Jyx08NGjGed4xIWlVM+zEpNrBSMmPguAPGqSm6kijii+bngimaJC6vIqEMVBYYsQRY30r3D4bU8tGlEHmSnWbuuquS0tyzFXdrmxdg36r9eQq3j4dbZRU0sop6cMsbYvVM7Jmfy9xmb3cgXHPOgp916qijpxLCVqCziOJIpE/EkN7LncqAACxJ8KrH20j2DraDcJfl6mGJJL5w+tJ4pwjH1wS4gMVeI34uCoPsbc/8Ah5sdE8U7VsSur1TEtE1qRBShbMCrC6s9T2wvqLZ8C2R0+6h2uN6y1C/y8lHLCkHaVSGqa92kmzB8xrCpJUECxcDxiQ6sqqCSAATyT7m31PvrnHxz3ACgSmXEy1U8aKDa4Cm5ccezYrfj+00yn3ndIYnM8NFGI1ZpKkyyMmKC5cU4UPe3OJYfS41zipr0rt226Md95lqB8w1TGEkYxyFigQelI1EHCKbDM3u2RIdC+J1MKXYpYYxwscECC/tnGg59+Nb++ALW7Qh/MJaj+S0koP8AmRrT+Lrk0cEX/wAaupIj/F8r/wA00y3mLLdtvv8Aswbgw/X+rL/uc6DQ6rXHedoccEtWRk/VezkAf9LVvqN6qBO67QALjuVjH/Rgt/vbVloDRo0aA18yRhgQRcHX1oOgU079v1KtoyebkFvNr2tfz7EnTXHSjt+u+P4v0xTHz+9a9re976bcaD60aNGgNYaypEUbu35UVmP6KLn/ACGs2kvW05j26sYeVpZyP9RtBxzYNqL7fH3JDE4j+Z7l2Z4S8haKT0kFqiZ/RFGD6VMrctIQei9F71HTr2aq1FKccKWQ4RxxhQFSBycZL8szAlsmYEDEaW/DzYu6tPI8ZSKGCkkjBBtNUtTohn8niOMLGoHAYubXsddDq6GOZCkqLIh8q6hlP6qwIPjQZY5QwBUgg+COQf0I0PIFBJNgPJPAH6k6npfhxtrEk0VPc/RAB/IWA15H8N9tU3FFT3+6Aj+RuNBn3DrihhJV6qLP9xG7knIvftx5Na3vbXOeo9zm3PcuzQxyRt8rATLOvawEdVHOJlilAZ1BS3j1fTjnrNDtcVOuMMUcS8m0aKgufsoA1GRof+k7m3A2pbn6fjaD6p/htK4JrtyrZ2JytHIYY1J/dRLnjm3IFj40tqPh/VpLPT0zhqKphjWR6qRp2jYM2XbibguQVIJ4Fr3vxq06q3BIoCHqlozIQkczYWV+W/vPQbhDwfb721tbFOHgQrOKkWP4wwtJYkEjtgJ549ItxoOS1/R9LFUMZ9jrGRWCI1LJ3UlVBisjxo6kMRYn7+eb31t2jmFVHV7Tt9dTTIix9qWiRadrAoGv3PSwRyLgePcXN+44DRjoOWjbd63inljqjFt6cAIkZLyFfULt3CVTIDlTc2PH1mq9027dKeqrJsmhqZYpSicXanWod1RRfmeuYf4QvHB13cDX5f8AjRIw3OeMzdwK4cLhjgZUQlbjzZUQXP0H0Og6P1T8QaPcm29KWbNl3WiZlZWRrZNyAwFwCbEjxcfXVhXyZbzSqP2KKrc/6bwJ/wDxr8o0G4yQSLJExR0N1YeVP1H3511T4T9cTtWTz1Rq6xlpcEEUTzSWMiNYBBYDi92IGg6vual97ox7R0dXIf8ASaGO/wDmNVuuSdM9crufUCPTrIIloJIpBIgVgRJmTYE29WA5Pka63oDRo0aA0aNGgR3Xxxje+eHrtl+fPLxf3tf3tp7bWt/R6Xvj738n9befF+beNbGgNGjRoDWhv9GZqWeJfzSQyoP1ZSB/mdbFZVrEjSOcURWZifZVBJP8ANcz3z4q1KKrJFFSpIC8ZqRJLM8Q8y/LwC6Jbm7sBwfOgy7J1PXbbt6xVG1z/wBVp+XSWJkKxLfIm/HA5Ay/jqg/6YVnB/oqpKmxuJqY8H3sJPprB07VVMs1VSVc8NQOxC6yRR4Yio7i4kXIIsmQNzwf5NegJu5tlGbEf1aJefPoUJf+ON/46DSfrSpCk/0TW8G3DQH7eBJe33tpVsvxWyM0VTSzCphmaN4qaN6gBfZy4AUc3Xk/s39+K7qDcxTQM+USEYhTKWC3Y2tZAWZvoii7Gw4vcc1SCSbd1Zg00hpWZkYRR4dqZCjPEcu0lpbjPuzAN4UkWCtrviUkCdySh3BEuoLNTgAZMFF7vfyQP4jWLpaGeo3KprpYJaaMwQ08KShRIwUl2YgMbAMePrf7aafEGmD7XWexWmlkBH70S9xf9pBp9ByoJ9wD/MaD4q6FJlxkRJFuDZ1DC4NwbHi4PjWZFsLDwPFvpr3RoDRo0aDxjr8edb7oarcKqUm+U8lub+lTioB+gVQB+mv17XVHbjd7XwRmsPfEE2/y1+KAxvf3/wA76BxtnTUjzLHKssIZM8jC5spFlbAC5VnKqCPJcWuba6n0x0ylYk0UNPTw8dqKcSTN26iOxkj9UgMpsWcNGtlIY8ggmk+GPR1PJSy/MRrUSR1k8QkcEuFgdQoVibqLrlZTa51QUvwvoY+3aOQiJnMatPKyqJLh1xLWwa5JXwbm976DnnQ81LtW+VsTTRpDFT4LI7KCxziYgsLZPdyD7+gX8E66rSdd0EzKsdXAzOwVVEi5Mx8ADzc6YUOywQG8MEURxCXSNVOINwt1A9Nze2pvrCLPcdqTg/jzykHzaKEkEfoWH8baCx0aBo0Bo0aNAaNGjQGkvUnVSUPbyinmeVmWOOCPuSMVUuSFuOAB/np1qZmbPeY1NrQ0Ejr+s8yKb/wpxb9ToF1Z1JWVMbxrtM+EiMv408MV1cWNxdiDY+NIKLpfd+247dAplo4KWQzSyyOViR0LAxpYZZ3K3IuPfXVraNBzTZ+m95pHZo221so6eIlvmPyU6FENlH5vUSfv9BwKnoTimZOAY6qtSw/ZAqJSqgfTBlt9iNUVtTPRA5rW9m3Gpx++OCH/AGkI/hoG2+UzSQyBA5fElAj9t8reFk/YJ8ZewJ1zPa6YTblBEvyzolNIcVR/lUAmhJ7TcGpkuhydjjmAbAqVPWpYwykMAQQQQfBB4IP2trnXRWyYbnUMwZDHTwegSM2BkeYhJWBwdlQKQqjBAQqg45MFV1yf+y67/wCyqf8Awn04pfyL/hX/AHanfiQxG11IHGSKh/wyOiN/ssdUyi3Gg90aNGgNGjRoFnU7Wo6kjyKeb/w21+OdvjyljH1dB/Mga/aG5UQnikiJIEiOhI8gOCpIv72Ovz9XfDGGglnPeklamk29VJVVBkqJQTe2XAjA445b9Lhf9LdSrR/ORAB2/pCvY5OEVFDA3YkGy+WZrWVVJPJRXvNkq3liV5EKEj3GJYcevAklAx5CMSwFsrG4HJNr3enSWUSVMMWVZWOWzEji1Q5DCNQTeyhkDDHIdxsrRLq1ofiPtcCKiTtgosD2p25vf1MUJLk8kk3JJPOgtdR9faXfadbH+r0E8t/a80iRAfyRtZl+JtA5xjlkkY+Fjp53P62WMm2vem6WSarqK10kiSSOGGFJRjIEiyYu6eVyeQ2U82FyBewCp0a8y0ZaD3RrzLXugNGjRoDU1SD/ALYqL2v8jS2+oBlqLj+JA/lrzqvfXgKqhVMrZOxVQA0iRj1urKou9yxVv2QBdgVXUU7981JZXl7cNKCCDG3dZZEcso5xza+IAYFCAlyAFvo1Of8AScITHIPxVcqSis0ZAEDZX8gWq0FifJPkC+vpusIRz6wAMjeNjkpWRgyW83ELff2sDwAob6nPh9JnQpJ7TSVE4H0E88soB+4DgH9NbEnUULlIzmpmLxi/BDKzRsvBuWDKQSuQFgSQCpKim6lhpKegj/DjWSCE4tKAY4yI1B9XL2aQc+Tix+tgsjqM+H+1LFPuTrjY1mAwXFbRxqx8klnzmZWYnkp7CwDFeqkaVkCOArIpdl4LGc05UC+X51Pqtb38edLoevUZQrk5cz1Ly4hVZppmYqFDGxAYfpY3sbgBtddHKKni896upEx9mVZRK4P27cLH+GjqHruGilWFoqiaRo+5jBC0llvjc2P1/wCfGvnfD3txoYQR+F36txfxgnYQ8c3yqDb2OLfTVPoIY/EaoZbx7RXsT4zVEH8Tc2/lryLrLdGFxsr25/NWQoePsyjV1bRoIc9Wbv8A/Jh/+/B/5a+9q67qnqEgqdrqKcuSA4dZYwFXIlnAUWAHte/gXPGrXRoJD/rNp7X7FcRzz8nN4+t8fFtS7bglfR7lOkJnj+e7hjkjZVKxwwx5HIrfAx5lcl8WJUHXVS+ubQVQbbt5jJt/Xa6EH7zlVX/OYaBdRu1Lsu4lBgY4oqdLDEo/y0CS2tazd+VyT7tz9NdQ2yjEMMUY4EcaIBkTwihRyfPjXOd7S+y7s9jZ6urb+Ec6x3H/AOLXQK7Z4KyEJPEksZCsFcXsbcEe4YA+Qb86BjbWnvFV2aeWQOkeEbvm6lkTEFsmVSCVFrkA30jT4aUKcxRNAfZoZpoiD9Rg4F/vbWLcZP6KpZ5KqaWrgOKxxyIHk9Qw7JcD8QOxHLi/m5PkhEzdT1ySVHzVS8CkRsWjhGcaosBZEgJYRc16M8rMzWS2II14vV9aShohW1cWEkqNKqCR2MXaxxAQyQJNOjFyn5kIFwCQ42NYjRtLTqaCameaeyuarNTHHI45Yd2No5IwQpFmVLG4BKODrKSHdg89RTv6VWdmDRolOUaQCnUlrpco2RJeRnRVFlbQUOydS1VRUUcM8U0VpS6yMjRCeOOjIkzQsSD35QwBFiLe6nXSBrmNX8aKYCka7x9x5GnQoWdYxG5jFreZHMbKR5W+ukUVR3I0ezLkqtiwswyF7MPZhexH10GbRo0aBFv1VCGCypKWCNJlFkGRRYM2aEMo55seQPB0l3aOOOqp+3G8sPaqFm7RLOrydiSKSRsgwY9g4uzXuVsdPN56YWpfJmIIiZFtlwSwa5AYBl9NijAgi4PBOldf0a34xVg5kZSqsCQoaeOV7qzlCox4UKtwLHI86Be+9xBbjb6xgA1neSAZBmjbIyPVZMC0cdnN+FUA24OlG5EUjrRyPOfy00zCBhHH6L3WSRV4rLAEopVTii2F6M9HFfUJE7lwbmO63vOSCuYOF6tsRlwVXlub4oejgS2MyshheEHAFwW7NyzhrEA0w9OI/MedBI1u413cy+QpKRkDy9+arZ41YO7sSsZBdlaV+LNiZG8AkabCsq6RVjehp6oPF2j8vPgQsIK9sR1DEsiqT6geQ1yASdOKjo1ykitJGzSpKHPYvZnknlUxgy+mxqSDcm4UcrqR3bqWOnmb5inrogZCSzUgZb92WZcJEmK2vMQ1ssgBbE30G/JvobGGGhqIap8MDKe5AoE/ceR5Y5ipMb5PZrMW9PhrHNVx1lNUvJSihWDBz3JpKh5jGlsyYxJ+IV7YxtbgqARc6+9h3ShqqWaCCUvGzRKxNO6IpSKJMCHAU5CAm3tl/E6O/wBTTQue5UJEh75YyoEdc2qz+HE5ErWNaVuiMGx/MtmBDHsu6bhT1NTUVUUNTIwEcXbmSLOCnZi7QowIsGlybNlIsfNjqt2LrsVDmOSmqKaQY37qr2znfHCZWxfK3FvPNr2vqV/puknR5aQT1CKzDGGimbEssAUJZo/ytTK3pNwG/Z4bTjatonrYCJVenRco4xNGO4ySJaSQor+h7t6cmcjG7XJOgqf6ei5u4GMixG/HrZsFFvPLGw+tj9DbY/pBeCGDAkrcEEAi5Nz9rHSKTo4tK8ncTmUSKO1zzLBKwds/Uf6sFB9Ngx82A1gHQZMTRtNlk7sSU4s1OafHEuRaxysLDyAFFrBRz7pGq5ZqQUZxYgllUXJUftWH0+2k2479LIuNM0URObd2oBKCNMA8ihDYkNKExdk5DX/Lziquiy7AibFQ8r2CfvySyAXDDgd+3qB/KCuN2yTb5tMVDHEZ50iEkgjzVDHFGQsDoTaQFUtt6qRncmQkEWtoJ+m+cqaydZ6usRY3MEI7gp0qJEDO7gRx3WHD1ZDIgFbs19ZoNnqqeKamjp4ZEklina9UZDmJInLTVEoT0kRBAFjYk3OXHq35t3o6iNIKMz1bLE0ZNPE8igPC8AYvK6ogAN7Z3J83Jvp9B0p3jm4WJWZW7JRGxCyU74MyMUKlaRQAB6czy1tAg3TchTbHNDVYiepWtxSLKZe7VPJLGncRSoJ76WJIuDca6LtqMsUYf8wjQN+oUX/z1LP0ZeVIzfshoZZDioSQxSVEqoRkWJ7kysbra0Y5ORAstAa8bXujQcu2foCaRzDUwNDTqk6ZpU3eQFwsQXH1KvyqiF8j61VLi6KQ76e+HawsGqEgmxgWFbpkwEZkRHDEcFqdkRl/+mOT51baNAvXp6nCRx9mMrEIhGCoOPZ/s7E8+m/F/qfqdMNGjQGjRo0E9v0VZ3A1MQVwuVYixZCbKOR+cPzzb8Mcr+1ow7bX5GMzN2wGUSkjMhVZkc8fmZpAren+6NgOC1edGgk6ejrpElWVsS8MgjxNgjzKfzEEn8MgAFf3m/N5HzuVLUdljSU5gcnhQ0a3Ko1iyq2GOWIuGuQOQQoU1+jQR1bttWZnkUyE4VCxetMFyjgwut/eRZPIJBt7Wt6tPW3S3dA5xu6XC9yUkTHL1MYTGFIyswbkck2GjQQ7bRUYgyRySsuWLfgOfXFTlu5G5VWUyq/KsrLgAvpOvF2apUWCN/aMQM1ZVYpT42Lm/YXGRSvk2U4ng6udGgizt1V3EYK/oMoe7R8q7x3EFj6LonGX7pFlJzG/XpVNJKYxILwsIfVGIw+Lj1qbkkviQQPHkgXU0ujQRy0NYx/POi3QKC8ZYI01nzPqu4gJsbn2IuwFqTZhIII+9/aBRne17/e3Gt3XmgNYqmkSVcZEV1uDZlDC45BseODrLo0HykQUWAAH0AsP5a+tGjQFtGjRoDRo0aA0aNGgNGjRoDRo0a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45060" name="AutoShape 4" descr="data:image/jpeg;base64,/9j/4AAQSkZJRgABAQAAAQABAAD/2wCEAAkGBhQQERUUEhQVFBUWFBUXFhgXFxoaGBgZFhsaGR0YGBcZHCYgIBkjGhQgIC8gIycpLC0sGB4xNTAqNSkrLCkBCQoKBQUFDQUFDSkYEhgpKSkpKSkpKSkpKSkpKSkpKSkpKSkpKSkpKSkpKSkpKSkpKSkpKSkpKSkpKSkpKSkpKf/AABEIAPsAyQMBIgACEQEDEQH/xAAcAAADAAMBAQEAAAAAAAAAAAAABQYDBAcBAgj/xABHEAACAQMDAwIEAwQGBggHAAABAgMEERIABSEGEzEiQQcUUWEjMnFCUoGRFSQzQ3KhgpKiscHwFhclYrPR4fFTVWN0k5TC/8QAFAEBAAAAAAAAAAAAAAAAAAAAAP/EABQRAQAAAAAAAAAAAAAAAAAAAAD/2gAMAwEAAhEDEQA/AO36NGjQGjQdTNZ1moSVUFp0+YxjkBGYp5BGzZDjE5qw5vZr+x0FNo1NnruAWLCREJqhmyYi1KubvYm+BUEg+9tak/xMpo4spc45RCkzwFfxI0d0UB/2Q/4inC+Vj40Ffo1DzfEpROIgsa/16WlLySFVKwLFmy+i5k7k4RYxe9ib2BI3+reqaikeKOGnR+4shaaaURwRdtWclyAWsFQseALW50FTo0kHUokoxU0qGrDD0LEQMyGwbFpLcBgeT+740g2rr+d5bVMEcCXEYVJTNIZDOafyqrHiGjcsAS1o2a1gdBdaNJ9k6lSrgM6KyxjLEviCygBg+IYkKym4ysbWNrEXVf8AWPTpDFLKQmY/FF7iAiFZmBOPqI7sa2UXJlAtwbBW6NR03xNgWQgRzNEImk74Ve2bRJMEW7A5FJVHIHqZV8nW9B1vC1eaFlkSTEFWZfw2fAStEGH7axsGI+5/iFHo1o7vvMVJE0s8ixotsifuQo4FybkgcDydfO0bwlVEJYg+DflLxtGSPqFcA4n2PvoGGjU7R9cQSyOAJREga9S6YUxKHFlWZiASDcXtY4mx41v1/UtNAjPJPEqoxVjmDZgAcMQb5WYekc+ofXQM9Go6i+J1NNNEirKqTMFildCiyMSFAjQ/iEXJBcqqgqRfVBtnUFPUIXimR0EhiyB4zXgqCfJ/Tz7aBjo1NRdf0ssnbp2epIdVdoI2eKPIn1STWEaqApJOV7DgHTLcOoIKe4llVSO3xyWPdLKgCqCxZijWABPpb6aBno0j6p6iNGsARRJJPUxQIt7fnN2bj2VAT9PGnanQe6NGjQGjRo0BqD3ToSSerqpcsMmpnpze4HGNSthyFkRQpHj8reRq81C9RbM81VWIpqFV6GKRe07osk0ZqI8C6/VWjugIvZbg6BI3w4IaSOSop6YSzzdto7tLNFLHKJlfvNbudtwAVuFEbEDm+t3a/h5HUAzz1/zqSMrnFIhA7RlEZiFJUkxwCM88es+fG7T9MRDa4rUJeRqcLIi4xT3qI1infKQgGbG9y5ubWvplDt1TLtLQMqQVLU0kQClQqsQyqT2/SpIsTjcKSbeBoJej6DpJ4o5aOvcJDdZJlKtdQgWaznhJGUJ+KPy4/fh51ZttJuIiDVaxt2JJYyrIbxt237tm/YHaBv4IyH11Ov0XWSw01I0ZjCiUmV53mxiWNEFM7JgAkrAZRoFXBOLsCRty9G7jNBWwk0kIrCrlwXZ1QrGny9lUDCNFZQ3N/wB0ZFlCn2uto6CNKY1UbPlazyqZZJJXLG6A3u0jk2AsL20n3z4YxTMrCdo2UsEYqCQZWqGkxNwM3kqQQbG3bFvJOsW49Fzw1vzFIkcayT0Yfs2RhDEZJZywst2kfBOCSwPPGp2m6M3mUGSSVBn8zUqjue5DUSxyQxohuwUKrqwINlI+3IW3Q+zrBRPTLNDI6M6S9hVEcchVQUCjkkcEljkWLXt4EyvwiaJ6dqWqWF4Yog4wyBcrJHLUCMmwkYEFSfeM3v7bHTUk9HUwxyxyRiftw01H3kxhSOPKomYR3RgHW6sTm2Xtc61aHa6mWmqcaOaOrqHjSeedgQ7GdbhY8rmmjiJAYBfSAADyQHi/DaeEzulRBF3XjESyXcRtHUo0UasTykkcSBksSzhR7DTro7pmoE8ktV4SqqZIr2zkeT8HvsqgKi9lcVQX/tGJJ9Opjcukq2VoYXjyVD3JHNwqz1Vc7NPGsZIZliW9iw7aMQTci7bbq2d2jHy1WqS7tM9UwWxOJcxKOb9le3CGewUhCOfVoNPqP4dT1O5d7NVJqopI5El/rAiAjyAVvSEjMZYAKxyce179H/o7t0zQxs98HVWkkZ3yYGzNIxLE5H/y8W1zLbaWpnp6qWaD5eoqJ1iapeBYpII5ZCkmMzy3ZEiVVXEILkWLG+vp+mNzLU5ljDTGZAZV7bpD2DDGk5Vz6j21mkUkEq0rekEggNw9GV88VIk0NEEhpzStFMzTKvpVfmlCqB3bIQFvcA/mFzbF0d8MKmgkhlSRVJpJ1kVyXCVElsXAXgj0R3sf7vi9wdZ923HcKeaScLMY4JTUzRjnuQFjTpEhvjdYYmqCF93FwrC5XVPUFQoTuR1MtVFT009LE6ztHNUVH4krP2l57WfbRGKquB+vpDJWfDOtyn7ckZjMC0scct7lUgjhWoDK1g/ql/MLgFrC7m29tnQNdTTrY0c8IaoKmdCWiMrj8URoqq0jRqBiMQBdQQCb0u/b5UUtBGSmdZKEjVIUJ/FYFnKIWNxGiu9i1jhyRfiTh64qIqelRRMf6tJC8joJH+ZaRqenZiGYEmWB8hf9oX8gaDY3H4b1FQzqzxxxySzlsGItE/y0SBUxxyFNA6i/C923NjdU/Qu60krNHL8w8sBiSZCiGnaPtpHIyynnKKII7KCwDNa5tlTdEb5JV1dTIJ5JYV7yMCB2EdZ3ESwkKCW7ChnN2HrXnwBq1nVbtu8XEiUkLVMBkaywvIkMkkrliwv2+xh+UgWk9QvbQbc+w14qqGOOUfKwpnPNJhLO03qDWaUFhkGxBW1lZxxZRq7XUb8OqioqY/mpqtpg4dGhMcQjjljcqxidL5R+khTc3BBPPAs9AaNGjQGjRo0BqF656tlpaqGCOopYFlidi0kck0ylWA9MSNyGBNrjyj/TV1pJuewtJWUtSrKvY76uCvLJKgHpb2IZQeeOT/EI1/iSPk1WKctOZooVqZ4kSN1klaM1IVWxMS9px7G6i/kE2HRu9NWUiTMQ12lUOFKrIscjIsqqTcB1UNbm17aRbh8JaWVGW8hVpIPS7FlSGKQyGCIAgojBmHm4y48aqtu2z5aBYlkd8QQrytm/kkXawuBe36DQc53fPdtxqaZtxaiambGngjJV3YIG77njNefyqbgAn0+Wy9P/ABIqqtax4BBO0SSPFAkcosEkCgPUfkZ2QMwRRzcWIFwF9fFuM7wRVW2CSrhmhxr43VEwjkDF7qosClwUP7xOIPGmG3dE7jS080Uc0YUKYKVIfQBHLIudTLwuU6xcDz4J88kH21/EP5oQSRRfgVFWtPEzkh2/BkkkfC3ADx9sc82Y+LX00+IZf5qqXtCio1lVhe880q2AIXxHGTwMvUfNreM+3fDOOmmDQSGOFamCoWIKSA0UMsL2Yt/eCRSTY/lI9+Elb8NZmnqpJHp2FXPTrhGoi/BSpWdmbgB5Qigccm5JJNrh9RfEIzttckcUffqWiSocLl2YpHde2rE3BkaJiOTxG32Oreu39RHMadoZ5YVyePvAY8E+oorkEhTa686nNy+H4hEPyKC53WOslJI9K3fKw4uqhrBRYi/vzeno+mKaFZFip4oxKGEgRAuYa9wxFiR6jx99BJbd8UVwV6oIndSiaOKMEyXqmdR6nIzsI8jiosP3rjXztXxbSqqjBHAfyziINKgmaSBVZlePkRqQWxctz22/TVCehqFuewjfhQRqbsbR05DRqhy4UFQTb81he+vug6PpYhEUjy7TzyRlnLc1GXcJN/UCrkeq/H89BJ1vVCbjT0cktAGWoqB8sJagiLNL8zsqYi+NlQhy5uAvGrXqjqAUFMZjG8pzjRY4xd3aRwgC/f1fx0hg6e2isp17fakgpg6HCZwiKGEjLIQ4umS5+u44B1QvFT18cUgZZo1kSaJkc4l4zdWuhsbN7G4uORxoENP8S6ZmkJzZFb8MxRySs0axRSSTOqKcEVpgtz9P1A2No6vkqapoEp1ZEETPNHUKyBJkLxkKUUtdQDYDgMPbX3V9B0bWQI0SkylkikaMSLNh3EYKf7NjGhIW3j7m7Laen4qaWaSIFTN2sl/ZXtII1CKB6VxUcf8AtoF29dYRU1UsUkdkWNJHmJFkMzSRxokYBd3ZomFlHA+19eVHXW3orZTJikKVJ9JIwaTFWsBfLuW4tkCQeDrFP0MhkkmlqqhnJQxyFo1aAIZiFRhHa39ZdfUDwQPYaXf9UG3iGVJFLl2lcSufxI+5Hh+f9rGxf139V2886BpU9b08AqRHG7rSKzSiIRgAizOEV3Ukqr5Gwt5Fy3B+YOsKeSIvVKkIAnZVdllbtxYpIzdsMFIMhRkuTwRzzpS/R9CsFRM9YvYq1/EkvTqjM7KWZZ8b2ZkNlzKjI2HjXxP8II5BJlUyF5Q4dgosudSlSeymVox6CvF/zlva2go9y6oo9vi/MoUKxSOFQxIDrGQiJxfuOFtxyT99UKNcX5H66iKP4VU0KjB5FcJTgNcEd2nfuLNiwPqLkllvicjxfnTjo/o6LbocI8WduZZAoQyHJiLqCQAocqBzYW5OgoNGjRoDRo0aA1J/ELdKmkppJ6dgQIzF27DISSkJFLG1uWWR1BQ8EG4sRZqzSzf9iSsiEchYKssUvpNrmJw4BuD6SRz/AMNBB7X1NXNVTUySiSUCrjETxreH5eNVgqJHFr96SxIbg5+mwHOaaer3GGplkjmRaQU81NGYmjaWpghkd1ZT6inedBYMQTGLHkk1NN1Qhhq52jZUpZJ0cizNIKYXZlA/iAD9NaW89cPG0Sw0cswmaJYpWeOOFzKjSABiWe9lN7oLW/S4KNk6ndpNvd5aiSB6RomkEEuMtVeEZOO3kFtlZyAvDc/m0x66iqzNTLRqz91KqGQFmWFQ8d1eRlBsVZfSbXPIuL62ajrCYVi0iUcrPjmztJGkeAwDOhN2YAyBRdVuQRxY20t469eLbaerSIB6lo1jR83AEgZ827Ks1hGpcgC9uPOgk6bZt0kqQymVXjpaGJmkZldRKjJKFx9EgWQ95mJLXjAH5tfe27VWrW01TVQyB3eThKdJ+07VU7svcd7RKY2jtJiTgtgQRz0npmpmlpo3qGiZ3GX4UcsaANYgYzHO/wCoHkcDSHf+uvl5Zacdv5jv0iQR3LNIkxjDs6r+S2TAE2H5fqAQwfEPpGesMTwNK9m9cLTFaciNJHUNGGS5eUIhbLgG/HJ096MqKlqYCqiELIxRBiFLRqBixjEjhD5GOZ/KDxewSbJ1vLVS1RCqIYu/2SYJQr9q4DGpLYHIqxwRCcffgjU1tnxGq6uCpZGxLxUrQlYWtAZagU7qGcWkNiJAbkXYi5xOgzVfT260sFWlOM4FM8FNAjKCYajut3vezxvKoC+n0owt4Jx7n0vuccdUELiJKaaOJElLrJGUEcMMVPf0sirk0huzHgEgnVn8P66WSOdZKj5tYqhooqjEKZFVULXx4OMjMmQ4OOkXxN+IRoZBAkiwP2u+shHczx7loAgU4l3RFyNhizm4I5Ce3b4bVa0UUUbCRpaykJfEjCJIWjVZorFcIyVBsGvyW+g3N66eqqangpoi8S1sqUs0YmknKZSPK1QkuCKrOuYcBQCLWHB026z6pqo6ikFPIkUciQyOCgcsJJ44yGY8IgWS1xySwHuCHGzfEuiq5O0jSI5jMoEsbR3iVQ3cu3BUqbj62J8c6D6+IUYiomqlYpNSK8sLgXIYqUwYe6OGxYfxHIGpCin3uIrTRdyTGHh3RGjKiNW7oqJDdp2lJURtwAOf3gz3PeKvdJZKOKlg+WIgkaWWZryQyMWRlSKzqXERIDcjH1D210ZRoOM9Z0u57k1PenZVZatzTsDiEVgiZKW7bVIQl1zsL/pzddXQ/L7LPEMmtSfLqW/MxdRCpY/W7i51XW18ugPBAI++g5FW9NV5mRMIs1WWpZIlGCGokSJlpzKRF3kiiJDOPMsni4Y7dPtcrw7pAwnYJD2qaENUXVIVCwgNxEWftK5KMWbNg3uD1Mrox0HLq3aZqAxqJ6uCjip4DMIMAEklfB5TM6OXC4s7jyAykcX1edM7387TrOEKI5ft5eWjDMEk8CwdQGsfrplUU6yKUYXVgVI55BBBHH2OvKSlWKNI0GKIqoo+iqLAc/YaDLo0aNAaNGjQGgjRo0ExL0LGxnHeqBFUCfOFXURZVK4yPwmRPNwGZgp5AGmR6fjMcCMC3y7RtG17ENEpQMQvB9JPFrc+3GmujQL22hDUio9XcELQ+fTgzq5uPrdPP3OlFN0BCkTRdypZMkMV52vAIrlFgK2wC3I9zbgkgAap9Gg0dq2taaJYkLsq3sZHZ3NyWJZ2JJJJJ+32HGsNT05BJ3soxefDukFlZzGAEOSkEFcRaxHgaaaNBN7f0HTQ1L1AEjuzSMqvIzRwmW+fajJsuWRv/iIFgba+qvoWmljMTK/bNPDT4CRgBHA5kQA3yBueTe5AA++qLRoNTatsjpokihRY40UKqr4AH/qb3NyTc3NydatV07FJUNOwObU7U59h22bI8+Q1/e/jSzqzqyXb5qdmhVqSRxHNKGOcTOQEYra3b+pv7+xsGpwdBPbh0PTzzU0rq5+WTBEzIQgFGXMftYtGGAJtcC4NtaD/AAo28xGLsWUzd3h2vfkYg34jxYjDxY/XnVjo0Cmq6eRzUMpeN6iFYXdGsyqgkVTH+6y91iD9bfTWSbc4KRY1mmSIGyIZHAyKr9WPJsOf/XWzuNaIYnkYgKiM5JNhZQSbn2HGuI1nRVfUCGsqYGrKqoZmSKViKWkjazDvKTl4Y2jBAGPORFiHaKPfqeaNpYp4ZI0vm6SKyLYXOTA2FhzzrWp+saGQ4pWUzHzZZ4yf5Bvvr837vTUtNUxsZqaqykxqYKeKRYEXwe1IrrmQCbEG9/rfTafp+iL0kYkQxVNYe2i0rrUGEy2xkkc5+T2lKggnIljidB+kVYHxzr3UN8JN1DUfyjXE9E7QTKebWZ8GU+CpVbD/AAn7E3OgNGjRoDRo0aA0aNGgNGjRoDRo0aA0amepuu6ejvGJYWqOAsRkVbEgnOU3ukaqCzG3gcAkgFF051VudTGyLDA0odsppA8UMSsAyRvGCWacK3KKbKMQzZZABZb5LMsLmmEZl4C90kRrcgF2tyQq3aw82++pvbOsIIVYS7gtdJfhaeEM4IF2CxwZEp49R4Hux1obtVu+4U9JuM8SxfLyzMqhoYal88FidXc3CKMihYhr8i2lm57iRuDVEET4LT1EHzVFCZ1UXiZMhYKzoEe+OSrkFuSrWC96d6vp64usRdZIse7HLG8ciZXtkrAebe19OtR/RkIqpn3MhVFRDHHCoILCFCTlKVOPdZjyoviEUXve1hoJ34iUKzbXWIwv/VpWH+KNS6/7SjTDpqsM1HTSnzJTwuf1dFb/AI60PiFUiPbKwn9qnljW370qmNR/rONONsoxDDHGosI40QD6BFC2/wAtBs68Y8a91N/EFZDQv21ZxnF3lTLJoM17qjH1cx3Bx5te2gh/iB8QytSkStSSUSyUzThZo3mlUuGYBQ3CKVF1I5B/dJt06LdoJXaJJYnkW+SK6swHvkgNx59xrlu/1UNVT01N8mscDuodsBSrLLEmRhpu8AyKWHMjY+lSoyY8OP6CoGkpafb40M1NLC7VEIH4McZBbuzILM8qgp2ySSZCxAAvoE/xi3an2+mihozFBUqwxESqskcLA5WYISgZgvhlJte551zDcPn4mp5JZs550Voiz51HbmXEEyPdo1sSBcixLEe5Fn8b9leauLgO6x08TN2oR+EjsyLk1wZC0o4H7Iv99c2qZHrp+AqHCKOOO5/u1WJI0Frl2IAtbySTYXIDvnwaiW1WQEuHpox2g3bwjgUqFZ+WsZGJfwxbIcMNdJ1NfD/pIbZRpDfKQ+uVr3vIQAbf90ABR9hql0Bo0aNBo09eXYDG18r+bgj68fSwP3Ot23/P/I0uo8+5zIGFjcZX5F72X28r+mmOg90aNGgNGjRoDWOoJCm3mxt9z7D+esmg6Dk2zbnQLDFHJ26hmUtXxvTtJMaqZkS7MwGLd1ygU828cLfXT9voEgVljFgXkc/4pHZ2P+sx/wAtT2+IJ9zooCLrEs1Y4+rR4wxX+tmmZv1VdPN73eOkgaaUkKtuFF2YkhVRF92ZiFA+p0Hu6bHBVKFqIY5lBuBIisAfqLjWVaVY48EVQoWyqAFAFvAA4A1q9O9Qw19Ok8DZKw5H7SsPKOPZgeCP94IOmR0HMtorq7ZaKljnpYJIg8cNo6gmbKVzYKjRhXYZ2xVj+Um9rkdNU8ahvh1QpOaiucdySSsq+07ks0cKvgqIG/ILJ4FuLfSwrN43ZKWF5ZCQiAE2F2JJAVVX3ZmIUD3JA0CPqM/NVVLSKfSjrVzj2whP4Sn/ABzWNvpC36GqGkXSu2SIsk9QAKmoYPKAb4AC0cIPusacX92Ln3090BpN1Xu700GUSo0jyxRR9xisYeVwgZyATiC1zbnj+OnOlHV9FFNQ1CzoskfZkYq17ehSwPBBBBUG4IPGg0qbY4Wj+XrOzUTTM9RIjC4ZrgFkjckhEBVAfYAXPJvv1ax0NK5iSOJI1JVQoWMH2uAVAF/PI1G7PvO17MiJJIoq3ii75AlmmLYAnO2bKL84GwFxxqsNXDuNGWSR1imUqHF43FziCuYBVshYcefHtoITd4HqXSbcwDTL3jKUlkSOmWJVwcLDIwNQ8j+GdjawCixJdfDHoujgpYKiONHmeMMZie492ubBrlVYBsThbxrkHVVCkEsrRxtjBUzO00U6WdpSWpmVOV9Pbs+Kjm4uOBp70Hucmz11ODN3aHcVDI+OK9xrLcoCQkiSehgDax+wsHfho0DRoDRo0aBVS0pSRcla3NrspUcH2UfQnz/w00/npVAVVlPrv6sj25Lvfxfj2v8A8jTXHQe6NGjQGjRo0Bo0aw1NWkal5GVFHJZiAAPqSeBoJ7aWEm61r2H4UNHAD78iSZrfY91R/o6T/FZyDQZytBT/ADg7kqY3jkwbsucgVwEnJvxwPtryo6gXbN0qWqw8VPV/Ldqe14hJHHgyuy8oTxa49ibgc6r2anr4SAYqmFxZgCsiHwbG1xfwftwdBB7R0VuUE09RT1FNE0jKcFRmpqnj1TOl7xSHi+FxwbcHTiWXeZA0ZjoYsgV7yyysUuLZrGU5YeQDpD1P8PKVPl4aOOZTNULGxjmnMcMSeqZiuZUNiMQD7v8AUa6dTQKihVACqAqj6ACwH6AaBTQUEO00OK5mKCN3Y8u7Wu7N92Y3NhxzpbtFHNXSpV1iNCiHKlpWPKXFu/PbgzEEhV8Rg+7EkVujQeBba90aNAa19xoRPDJExIWRHQleGAcFSQSCL2P01sa8J0ETvPTkNB8hJTRrGsNbEjW/My1V6dizHlmLSISWN/Sftre+IcbCkDqoZ45FaO7AEStdIcQVNz3pE4uo+pIurJJervnaqLtPDJSLXR05QWaR5FWSYTEg3jVZIAE49VmPi2mnxDnldIKelAepaeKZY2HoKU7iQmVrgpGGC8+S2KjzwEX8Svh66PTS0sgQClajkBS944oJnLlubkxpiL83w51O7jsLCH5bEPFUQLuO3gZHGVEDz0y29XqRmsAfIj9zcdmoNx/pKgcqpikeOaF0f+7lXKN0JA5CuLXHkD+GlcfQ8hptrQuqS0LwMzC/KomMkakezcC59h99BX0xJRbjE4rcXvY28X97fXWXQNGgNGjRoFsc8QYEzZEXtkwsCeOLAc+2mNtKO2cMcpu7+r2vfzf8ttObjQeaNGjQGjRo0BqAq6j+ltz+WAypKBlkn/dlqf7uM+xVLFiDcXFj7ad/ELqgbbQyz8Z2wiB95HuF497csR9FOtH4T9Omj26LO5lnvUTFvJaWxF/e4XEG/vl/ANvqGEQM0so7tLLilXG/qRBwqzhWuAo4Eg8Ws/lTlz7r74WwRSL8lR1AMscqhqcsypNdMM0LWWMqXF8go9PgDnsk8CupVgGVgQQRcEEWII9wQfGuM9aURVzTT92RaekYRlnfttEamniimxHBmjjqJFLG5vEGPBGgcw7AtEaChhTPsJJuVQitdpJIkCIFLWHqmf03sLRjjjXQen94SspoqiP8sqKwHuLjlT9wbg/cam+jqVGrq+SNQscLQUMKgEYrTJk4HtbOW3H7mvrpM/K1tbReEyWrpx9I6gnuKB4CrMp4/wC/40Flo0aNAaNGl1b1DTwzJDJKqSyAmNCbM9uLJ9Tf2HP20DHXjHWhsm/Q1sXdp3DrcqeCCrC11dWAKsLjgj3Gp34i9RfLJBD3DAKqcQtUe0KeWYNbhyPSpNgLlr+nQJN8qKaKaOpgi7cFJULBL24RjK98lERTlmjcNH+W2U7AHg61qAzVk7dyX5YTztDPKD+K7Rhj8hSMF9MUQVs5v2nLldMOp6NNvo64wIAqUsDQ2jNomiBSN+6zHOUM2a4j09sFuWBLSoiKSbMrsWcSPdmN2YiimuxPuSeSfvoGPSNHBRxihglEjUwGYOOYEpZ1zCgAGx8/bVDqCSn+W6juoslZQkvY+ZYGAyIt+5YfxOr3QGjRo0Br4lkxBJuQPoLn+WvvXjOByeB99BppWR8WZja/kNzx78c63NKoqc5qrFgeb/it6vcWXK4t9/8APTXLQe6NGjQGg6NeN40HLfiR/Xq+noyLojQBrD+8qXJJPFvTS08xH3fXUUtYWt9v01wvc60SVJlZlHf3OrX9othBAaeLKJFJcf2ihAQzlyoIyJHSehah/wASPFsEJuxKnGS4vGzrw83u+AEcZxiS+JsFbqS666MavTKKQxziKWEEn8No57CRXW3mwyUjwwU8jVbo0CPpLYDRQtG7h3aeeV3AsGMsjODY+DiVBHPIPJ0q6kIg3Xbp7gd35ikf6kSL3I7e39pHb/T1v7psFVPOxFfLDTleI4Y4lkBtY/jOrG1+fy3ufPA1A9TdJU6Vc0TCRmK7U8c0kjvMM60xSsszksrESKOPoNBR9V9RVb/M/Jyx08NGjGed4xIWlVM+zEpNrBSMmPguAPGqSm6kijii+bngimaJC6vIqEMVBYYsQRY30r3D4bU8tGlEHmSnWbuuquS0tyzFXdrmxdg36r9eQq3j4dbZRU0sop6cMsbYvVM7Jmfy9xmb3cgXHPOgp916qijpxLCVqCziOJIpE/EkN7LncqAACxJ8KrH20j2DraDcJfl6mGJJL5w+tJ4pwjH1wS4gMVeI34uCoPsbc/8Ah5sdE8U7VsSur1TEtE1qRBShbMCrC6s9T2wvqLZ8C2R0+6h2uN6y1C/y8lHLCkHaVSGqa92kmzB8xrCpJUECxcDxiQ6sqqCSAATyT7m31PvrnHxz3ACgSmXEy1U8aKDa4Cm5ccezYrfj+00yn3ndIYnM8NFGI1ZpKkyyMmKC5cU4UPe3OJYfS41zipr0rt226Md95lqB8w1TGEkYxyFigQelI1EHCKbDM3u2RIdC+J1MKXYpYYxwscECC/tnGg59+Nb++ALW7Qh/MJaj+S0koP8AmRrT+Lrk0cEX/wAaupIj/F8r/wA00y3mLLdtvv8Aswbgw/X+rL/uc6DQ6rXHedoccEtWRk/VezkAf9LVvqN6qBO67QALjuVjH/Rgt/vbVloDRo0aA18yRhgQRcHX1oOgU079v1KtoyebkFvNr2tfz7EnTXHSjt+u+P4v0xTHz+9a9re976bcaD60aNGgNYaypEUbu35UVmP6KLn/ACGs2kvW05j26sYeVpZyP9RtBxzYNqL7fH3JDE4j+Z7l2Z4S8haKT0kFqiZ/RFGD6VMrctIQei9F71HTr2aq1FKccKWQ4RxxhQFSBycZL8szAlsmYEDEaW/DzYu6tPI8ZSKGCkkjBBtNUtTohn8niOMLGoHAYubXsddDq6GOZCkqLIh8q6hlP6qwIPjQZY5QwBUgg+COQf0I0PIFBJNgPJPAH6k6npfhxtrEk0VPc/RAB/IWA15H8N9tU3FFT3+6Aj+RuNBn3DrihhJV6qLP9xG7knIvftx5Na3vbXOeo9zm3PcuzQxyRt8rATLOvawEdVHOJlilAZ1BS3j1fTjnrNDtcVOuMMUcS8m0aKgufsoA1GRof+k7m3A2pbn6fjaD6p/htK4JrtyrZ2JytHIYY1J/dRLnjm3IFj40tqPh/VpLPT0zhqKphjWR6qRp2jYM2XbibguQVIJ4Fr3vxq06q3BIoCHqlozIQkczYWV+W/vPQbhDwfb721tbFOHgQrOKkWP4wwtJYkEjtgJ549ItxoOS1/R9LFUMZ9jrGRWCI1LJ3UlVBisjxo6kMRYn7+eb31t2jmFVHV7Tt9dTTIix9qWiRadrAoGv3PSwRyLgePcXN+44DRjoOWjbd63inljqjFt6cAIkZLyFfULt3CVTIDlTc2PH1mq9027dKeqrJsmhqZYpSicXanWod1RRfmeuYf4QvHB13cDX5f8AjRIw3OeMzdwK4cLhjgZUQlbjzZUQXP0H0Og6P1T8QaPcm29KWbNl3WiZlZWRrZNyAwFwCbEjxcfXVhXyZbzSqP2KKrc/6bwJ/wDxr8o0G4yQSLJExR0N1YeVP1H3511T4T9cTtWTz1Rq6xlpcEEUTzSWMiNYBBYDi92IGg6vual97ox7R0dXIf8ASaGO/wDmNVuuSdM9crufUCPTrIIloJIpBIgVgRJmTYE29WA5Pka63oDRo0aA0aNGgR3Xxxje+eHrtl+fPLxf3tf3tp7bWt/R6Xvj738n9befF+beNbGgNGjRoDWhv9GZqWeJfzSQyoP1ZSB/mdbFZVrEjSOcURWZifZVBJP8ANcz3z4q1KKrJFFSpIC8ZqRJLM8Q8y/LwC6Jbm7sBwfOgy7J1PXbbt6xVG1z/wBVp+XSWJkKxLfIm/HA5Ay/jqg/6YVnB/oqpKmxuJqY8H3sJPprB07VVMs1VSVc8NQOxC6yRR4Yio7i4kXIIsmQNzwf5NegJu5tlGbEf1aJefPoUJf+ON/46DSfrSpCk/0TW8G3DQH7eBJe33tpVsvxWyM0VTSzCphmaN4qaN6gBfZy4AUc3Xk/s39+K7qDcxTQM+USEYhTKWC3Y2tZAWZvoii7Gw4vcc1SCSbd1Zg00hpWZkYRR4dqZCjPEcu0lpbjPuzAN4UkWCtrviUkCdySh3BEuoLNTgAZMFF7vfyQP4jWLpaGeo3KprpYJaaMwQ08KShRIwUl2YgMbAMePrf7aafEGmD7XWexWmlkBH70S9xf9pBp9ByoJ9wD/MaD4q6FJlxkRJFuDZ1DC4NwbHi4PjWZFsLDwPFvpr3RoDRo0aDxjr8edb7oarcKqUm+U8lub+lTioB+gVQB+mv17XVHbjd7XwRmsPfEE2/y1+KAxvf3/wA76BxtnTUjzLHKssIZM8jC5spFlbAC5VnKqCPJcWuba6n0x0ylYk0UNPTw8dqKcSTN26iOxkj9UgMpsWcNGtlIY8ggmk+GPR1PJSy/MRrUSR1k8QkcEuFgdQoVibqLrlZTa51QUvwvoY+3aOQiJnMatPKyqJLh1xLWwa5JXwbm976DnnQ81LtW+VsTTRpDFT4LI7KCxziYgsLZPdyD7+gX8E66rSdd0EzKsdXAzOwVVEi5Mx8ADzc6YUOywQG8MEURxCXSNVOINwt1A9Nze2pvrCLPcdqTg/jzykHzaKEkEfoWH8baCx0aBo0Bo0aNAaNGjQGkvUnVSUPbyinmeVmWOOCPuSMVUuSFuOAB/np1qZmbPeY1NrQ0Ejr+s8yKb/wpxb9ToF1Z1JWVMbxrtM+EiMv408MV1cWNxdiDY+NIKLpfd+247dAplo4KWQzSyyOViR0LAxpYZZ3K3IuPfXVraNBzTZ+m95pHZo221so6eIlvmPyU6FENlH5vUSfv9BwKnoTimZOAY6qtSw/ZAqJSqgfTBlt9iNUVtTPRA5rW9m3Gpx++OCH/AGkI/hoG2+UzSQyBA5fElAj9t8reFk/YJ8ZewJ1zPa6YTblBEvyzolNIcVR/lUAmhJ7TcGpkuhydjjmAbAqVPWpYwykMAQQQQfBB4IP2trnXRWyYbnUMwZDHTwegSM2BkeYhJWBwdlQKQqjBAQqg45MFV1yf+y67/wCyqf8Awn04pfyL/hX/AHanfiQxG11IHGSKh/wyOiN/ssdUyi3Gg90aNGgNGjRoFnU7Wo6kjyKeb/w21+OdvjyljH1dB/Mga/aG5UQnikiJIEiOhI8gOCpIv72Ovz9XfDGGglnPeklamk29VJVVBkqJQTe2XAjA445b9Lhf9LdSrR/ORAB2/pCvY5OEVFDA3YkGy+WZrWVVJPJRXvNkq3liV5EKEj3GJYcevAklAx5CMSwFsrG4HJNr3enSWUSVMMWVZWOWzEji1Q5DCNQTeyhkDDHIdxsrRLq1ofiPtcCKiTtgosD2p25vf1MUJLk8kk3JJPOgtdR9faXfadbH+r0E8t/a80iRAfyRtZl+JtA5xjlkkY+Fjp53P62WMm2vem6WSarqK10kiSSOGGFJRjIEiyYu6eVyeQ2U82FyBewCp0a8y0ZaD3RrzLXugNGjRoDU1SD/ALYqL2v8jS2+oBlqLj+JA/lrzqvfXgKqhVMrZOxVQA0iRj1urKou9yxVv2QBdgVXUU7981JZXl7cNKCCDG3dZZEcso5xza+IAYFCAlyAFvo1Of8AScITHIPxVcqSis0ZAEDZX8gWq0FifJPkC+vpusIRz6wAMjeNjkpWRgyW83ELff2sDwAob6nPh9JnQpJ7TSVE4H0E88soB+4DgH9NbEnUULlIzmpmLxi/BDKzRsvBuWDKQSuQFgSQCpKim6lhpKegj/DjWSCE4tKAY4yI1B9XL2aQc+Tix+tgsjqM+H+1LFPuTrjY1mAwXFbRxqx8klnzmZWYnkp7CwDFeqkaVkCOArIpdl4LGc05UC+X51Pqtb38edLoevUZQrk5cz1Ly4hVZppmYqFDGxAYfpY3sbgBtddHKKni896upEx9mVZRK4P27cLH+GjqHruGilWFoqiaRo+5jBC0llvjc2P1/wCfGvnfD3txoYQR+F36txfxgnYQ8c3yqDb2OLfTVPoIY/EaoZbx7RXsT4zVEH8Tc2/lryLrLdGFxsr25/NWQoePsyjV1bRoIc9Wbv8A/Jh/+/B/5a+9q67qnqEgqdrqKcuSA4dZYwFXIlnAUWAHte/gXPGrXRoJD/rNp7X7FcRzz8nN4+t8fFtS7bglfR7lOkJnj+e7hjkjZVKxwwx5HIrfAx5lcl8WJUHXVS+ubQVQbbt5jJt/Xa6EH7zlVX/OYaBdRu1Lsu4lBgY4oqdLDEo/y0CS2tazd+VyT7tz9NdQ2yjEMMUY4EcaIBkTwihRyfPjXOd7S+y7s9jZ6urb+Ec6x3H/AOLXQK7Z4KyEJPEksZCsFcXsbcEe4YA+Qb86BjbWnvFV2aeWQOkeEbvm6lkTEFsmVSCVFrkA30jT4aUKcxRNAfZoZpoiD9Rg4F/vbWLcZP6KpZ5KqaWrgOKxxyIHk9Qw7JcD8QOxHLi/m5PkhEzdT1ySVHzVS8CkRsWjhGcaosBZEgJYRc16M8rMzWS2II14vV9aShohW1cWEkqNKqCR2MXaxxAQyQJNOjFyn5kIFwCQ42NYjRtLTqaCameaeyuarNTHHI45Yd2No5IwQpFmVLG4BKODrKSHdg89RTv6VWdmDRolOUaQCnUlrpco2RJeRnRVFlbQUOydS1VRUUcM8U0VpS6yMjRCeOOjIkzQsSD35QwBFiLe6nXSBrmNX8aKYCka7x9x5GnQoWdYxG5jFreZHMbKR5W+ukUVR3I0ezLkqtiwswyF7MPZhexH10GbRo0aBFv1VCGCypKWCNJlFkGRRYM2aEMo55seQPB0l3aOOOqp+3G8sPaqFm7RLOrydiSKSRsgwY9g4uzXuVsdPN56YWpfJmIIiZFtlwSwa5AYBl9NijAgi4PBOldf0a34xVg5kZSqsCQoaeOV7qzlCox4UKtwLHI86Be+9xBbjb6xgA1neSAZBmjbIyPVZMC0cdnN+FUA24OlG5EUjrRyPOfy00zCBhHH6L3WSRV4rLAEopVTii2F6M9HFfUJE7lwbmO63vOSCuYOF6tsRlwVXlub4oejgS2MyshheEHAFwW7NyzhrEA0w9OI/MedBI1u413cy+QpKRkDy9+arZ41YO7sSsZBdlaV+LNiZG8AkabCsq6RVjehp6oPF2j8vPgQsIK9sR1DEsiqT6geQ1yASdOKjo1ykitJGzSpKHPYvZnknlUxgy+mxqSDcm4UcrqR3bqWOnmb5inrogZCSzUgZb92WZcJEmK2vMQ1ssgBbE30G/JvobGGGhqIap8MDKe5AoE/ceR5Y5ipMb5PZrMW9PhrHNVx1lNUvJSihWDBz3JpKh5jGlsyYxJ+IV7YxtbgqARc6+9h3ShqqWaCCUvGzRKxNO6IpSKJMCHAU5CAm3tl/E6O/wBTTQue5UJEh75YyoEdc2qz+HE5ErWNaVuiMGx/MtmBDHsu6bhT1NTUVUUNTIwEcXbmSLOCnZi7QowIsGlybNlIsfNjqt2LrsVDmOSmqKaQY37qr2znfHCZWxfK3FvPNr2vqV/puknR5aQT1CKzDGGimbEssAUJZo/ytTK3pNwG/Z4bTjatonrYCJVenRco4xNGO4ySJaSQor+h7t6cmcjG7XJOgqf6ei5u4GMixG/HrZsFFvPLGw+tj9DbY/pBeCGDAkrcEEAi5Nz9rHSKTo4tK8ncTmUSKO1zzLBKwds/Uf6sFB9Ngx82A1gHQZMTRtNlk7sSU4s1OafHEuRaxysLDyAFFrBRz7pGq5ZqQUZxYgllUXJUftWH0+2k2479LIuNM0URObd2oBKCNMA8ihDYkNKExdk5DX/Lziquiy7AibFQ8r2CfvySyAXDDgd+3qB/KCuN2yTb5tMVDHEZ50iEkgjzVDHFGQsDoTaQFUtt6qRncmQkEWtoJ+m+cqaydZ6usRY3MEI7gp0qJEDO7gRx3WHD1ZDIgFbs19ZoNnqqeKamjp4ZEklina9UZDmJInLTVEoT0kRBAFjYk3OXHq35t3o6iNIKMz1bLE0ZNPE8igPC8AYvK6ogAN7Z3J83Jvp9B0p3jm4WJWZW7JRGxCyU74MyMUKlaRQAB6czy1tAg3TchTbHNDVYiepWtxSLKZe7VPJLGncRSoJ76WJIuDca6LtqMsUYf8wjQN+oUX/z1LP0ZeVIzfshoZZDioSQxSVEqoRkWJ7kysbra0Y5ORAstAa8bXujQcu2foCaRzDUwNDTqk6ZpU3eQFwsQXH1KvyqiF8j61VLi6KQ76e+HawsGqEgmxgWFbpkwEZkRHDEcFqdkRl/+mOT51baNAvXp6nCRx9mMrEIhGCoOPZ/s7E8+m/F/qfqdMNGjQGjRo0E9v0VZ3A1MQVwuVYixZCbKOR+cPzzb8Mcr+1ow7bX5GMzN2wGUSkjMhVZkc8fmZpAren+6NgOC1edGgk6ejrpElWVsS8MgjxNgjzKfzEEn8MgAFf3m/N5HzuVLUdljSU5gcnhQ0a3Ko1iyq2GOWIuGuQOQQoU1+jQR1bttWZnkUyE4VCxetMFyjgwut/eRZPIJBt7Wt6tPW3S3dA5xu6XC9yUkTHL1MYTGFIyswbkck2GjQQ7bRUYgyRySsuWLfgOfXFTlu5G5VWUyq/KsrLgAvpOvF2apUWCN/aMQM1ZVYpT42Lm/YXGRSvk2U4ng6udGgizt1V3EYK/oMoe7R8q7x3EFj6LonGX7pFlJzG/XpVNJKYxILwsIfVGIw+Lj1qbkkviQQPHkgXU0ujQRy0NYx/POi3QKC8ZYI01nzPqu4gJsbn2IuwFqTZhIII+9/aBRne17/e3Gt3XmgNYqmkSVcZEV1uDZlDC45BseODrLo0HykQUWAAH0AsP5a+tGjQFtGjRoDRo0aA0aNGgNGjRoDRo0aD/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45062" name="Picture 6" descr="http://4.bp.blogspot.com/-00OhGesj2rk/TsaVxN5nM0I/AAAAAAAACNQ/VQm-JArOsZE/s1600/jby0008l.jpg"/>
          <p:cNvPicPr>
            <a:picLocks noChangeAspect="1" noChangeArrowheads="1"/>
          </p:cNvPicPr>
          <p:nvPr/>
        </p:nvPicPr>
        <p:blipFill>
          <a:blip r:embed="rId3" cstate="print"/>
          <a:srcRect/>
          <a:stretch>
            <a:fillRect/>
          </a:stretch>
        </p:blipFill>
        <p:spPr bwMode="auto">
          <a:xfrm>
            <a:off x="228600" y="1295400"/>
            <a:ext cx="4267200" cy="5562600"/>
          </a:xfrm>
          <a:prstGeom prst="rect">
            <a:avLst/>
          </a:prstGeom>
          <a:noFill/>
          <a:ln>
            <a:solidFill>
              <a:schemeClr val="accent3">
                <a:lumMod val="50000"/>
              </a:schemeClr>
            </a:solid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353312"/>
          </a:xfrm>
        </p:spPr>
        <p:txBody>
          <a:bodyPr>
            <a:normAutofit fontScale="90000"/>
          </a:bodyPr>
          <a:lstStyle/>
          <a:p>
            <a:r>
              <a:rPr lang="en-US" dirty="0"/>
              <a:t>Contemporary Issues: </a:t>
            </a:r>
            <a:br>
              <a:rPr lang="en-US" dirty="0"/>
            </a:br>
            <a:r>
              <a:rPr lang="en-US" sz="5300" dirty="0"/>
              <a:t>Managing Sexual Harassment </a:t>
            </a:r>
            <a:endParaRPr lang="en-US" sz="4000" dirty="0"/>
          </a:p>
        </p:txBody>
      </p:sp>
      <p:sp>
        <p:nvSpPr>
          <p:cNvPr id="3" name="Content Placeholder 2"/>
          <p:cNvSpPr>
            <a:spLocks noGrp="1"/>
          </p:cNvSpPr>
          <p:nvPr>
            <p:ph idx="1"/>
          </p:nvPr>
        </p:nvSpPr>
        <p:spPr>
          <a:xfrm>
            <a:off x="457200" y="2438400"/>
            <a:ext cx="8229600" cy="3886200"/>
          </a:xfrm>
        </p:spPr>
        <p:txBody>
          <a:bodyPr/>
          <a:lstStyle/>
          <a:p>
            <a:r>
              <a:rPr lang="en-GB" dirty="0">
                <a:cs typeface="Arial" charset="0"/>
              </a:rPr>
              <a:t>The European Commission found that 30% to 50% of female employees have experienced some form of sexual harassment.</a:t>
            </a:r>
          </a:p>
          <a:p>
            <a:endParaRPr lang="en-GB" dirty="0">
              <a:cs typeface="Arial" charset="0"/>
            </a:endParaRPr>
          </a:p>
          <a:p>
            <a:r>
              <a:rPr lang="en-GB" dirty="0">
                <a:cs typeface="Arial" charset="0"/>
              </a:rPr>
              <a:t>Sexual harassment legal cases often focus on the large  awards granted,</a:t>
            </a:r>
          </a:p>
          <a:p>
            <a:pPr lvl="1"/>
            <a:r>
              <a:rPr lang="en-GB" dirty="0">
                <a:cs typeface="Arial" charset="0"/>
              </a:rPr>
              <a:t> it tends to create an unpleasant, often hostile, work environment and undermines workers ability to perform their job.</a:t>
            </a:r>
            <a:endParaRPr lang="en-IE" dirty="0"/>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138</a:t>
            </a:fld>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fontScale="90000"/>
          </a:bodyPr>
          <a:lstStyle/>
          <a:p>
            <a:r>
              <a:rPr lang="en-GB" dirty="0"/>
              <a:t>Sexual Harassment</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139</a:t>
            </a:fld>
            <a:endParaRPr lang="en-US" dirty="0"/>
          </a:p>
        </p:txBody>
      </p:sp>
      <p:pic>
        <p:nvPicPr>
          <p:cNvPr id="76802" name="Picture 2" descr="http://4.bp.blogspot.com/-qCRHPMsNFU8/Ttiwpca8szI/AAAAAAAAHME/Nv1dbepX5tA/s640/Christmas-Cartoons-to-Make-you-LOL_01-550x496.png"/>
          <p:cNvPicPr>
            <a:picLocks noChangeAspect="1" noChangeArrowheads="1"/>
          </p:cNvPicPr>
          <p:nvPr/>
        </p:nvPicPr>
        <p:blipFill>
          <a:blip r:embed="rId2" cstate="print"/>
          <a:srcRect/>
          <a:stretch>
            <a:fillRect/>
          </a:stretch>
        </p:blipFill>
        <p:spPr bwMode="auto">
          <a:xfrm>
            <a:off x="990600" y="1371600"/>
            <a:ext cx="6858000" cy="4724401"/>
          </a:xfrm>
          <a:prstGeom prst="rect">
            <a:avLst/>
          </a:prstGeom>
          <a:noFill/>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140</a:t>
            </a:fld>
            <a:endParaRPr lang="en-US" dirty="0"/>
          </a:p>
        </p:txBody>
      </p:sp>
      <p:pic>
        <p:nvPicPr>
          <p:cNvPr id="178180" name="Picture 4" descr="http://dilbert.com/dyn/str_strip/000000000/00000000/0000000/000000/20000/3000/800/23844/23844.strip.sunday.gif"/>
          <p:cNvPicPr>
            <a:picLocks noChangeAspect="1" noChangeArrowheads="1"/>
          </p:cNvPicPr>
          <p:nvPr/>
        </p:nvPicPr>
        <p:blipFill>
          <a:blip r:embed="rId2" cstate="print"/>
          <a:srcRect/>
          <a:stretch>
            <a:fillRect/>
          </a:stretch>
        </p:blipFill>
        <p:spPr bwMode="auto">
          <a:xfrm>
            <a:off x="457200" y="685800"/>
            <a:ext cx="8001000" cy="5562600"/>
          </a:xfrm>
          <a:prstGeom prst="rect">
            <a:avLst/>
          </a:prstGeom>
          <a:noFill/>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6477000" cy="1219200"/>
          </a:xfrm>
        </p:spPr>
        <p:txBody>
          <a:bodyPr>
            <a:normAutofit fontScale="90000"/>
          </a:bodyPr>
          <a:lstStyle/>
          <a:p>
            <a:r>
              <a:rPr lang="en-US" sz="4000" dirty="0"/>
              <a:t>Contemporary Issues: </a:t>
            </a:r>
            <a:br>
              <a:rPr lang="en-US" dirty="0"/>
            </a:br>
            <a:r>
              <a:rPr lang="en-US" dirty="0"/>
              <a:t>Managing Sexual Harassment </a:t>
            </a:r>
            <a:endParaRPr lang="en-US" sz="5300" dirty="0"/>
          </a:p>
        </p:txBody>
      </p:sp>
      <p:sp>
        <p:nvSpPr>
          <p:cNvPr id="3" name="Content Placeholder 2"/>
          <p:cNvSpPr>
            <a:spLocks noGrp="1"/>
          </p:cNvSpPr>
          <p:nvPr>
            <p:ph idx="1"/>
          </p:nvPr>
        </p:nvSpPr>
        <p:spPr>
          <a:xfrm>
            <a:off x="457200" y="2209800"/>
            <a:ext cx="8229600" cy="4114800"/>
          </a:xfrm>
        </p:spPr>
        <p:txBody>
          <a:bodyPr>
            <a:normAutofit fontScale="92500" lnSpcReduction="20000"/>
          </a:bodyPr>
          <a:lstStyle/>
          <a:p>
            <a:r>
              <a:rPr lang="en-US" sz="3000" b="1" dirty="0"/>
              <a:t>Workplace Romances</a:t>
            </a:r>
            <a:endParaRPr lang="en-US" sz="3000" dirty="0"/>
          </a:p>
          <a:p>
            <a:endParaRPr lang="en-US" dirty="0"/>
          </a:p>
          <a:p>
            <a:r>
              <a:rPr lang="en-US" dirty="0"/>
              <a:t> 40% of employees surveyed by the Wall Street Journal said they have had an office romance.  </a:t>
            </a:r>
          </a:p>
          <a:p>
            <a:pPr lvl="1"/>
            <a:r>
              <a:rPr lang="en-US" dirty="0"/>
              <a:t>While common, these behaviors can be a serious problem for organisations. </a:t>
            </a:r>
          </a:p>
          <a:p>
            <a:endParaRPr lang="en-US" dirty="0"/>
          </a:p>
          <a:p>
            <a:r>
              <a:rPr lang="en-US" dirty="0"/>
              <a:t>Companies need to identify when a romance is a potential case of sexual harassment.  </a:t>
            </a:r>
          </a:p>
          <a:p>
            <a:endParaRPr lang="en-US" dirty="0"/>
          </a:p>
          <a:p>
            <a:r>
              <a:rPr lang="en-US" dirty="0"/>
              <a:t>If not unlawful, these behaviors may still not be condoned by the organisation.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141</a:t>
            </a:fld>
            <a:endParaRPr lang="en-US" dirty="0"/>
          </a:p>
        </p:txBody>
      </p:sp>
      <p:pic>
        <p:nvPicPr>
          <p:cNvPr id="138242" name="Picture 2" descr="http://blog.momentmissed.com/wp-content/uploads/2013/12/workplaceromance.jpg"/>
          <p:cNvPicPr>
            <a:picLocks noChangeAspect="1" noChangeArrowheads="1"/>
          </p:cNvPicPr>
          <p:nvPr/>
        </p:nvPicPr>
        <p:blipFill>
          <a:blip r:embed="rId2" cstate="print"/>
          <a:srcRect/>
          <a:stretch>
            <a:fillRect/>
          </a:stretch>
        </p:blipFill>
        <p:spPr bwMode="auto">
          <a:xfrm>
            <a:off x="6858000" y="0"/>
            <a:ext cx="2286000" cy="2438400"/>
          </a:xfrm>
          <a:prstGeom prst="rect">
            <a:avLst/>
          </a:prstGeom>
          <a:noFill/>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142</a:t>
            </a:fld>
            <a:endParaRPr lang="en-US" dirty="0"/>
          </a:p>
        </p:txBody>
      </p:sp>
      <p:pic>
        <p:nvPicPr>
          <p:cNvPr id="147458" name="Picture 2" descr="http://www.stus.com/images/products/blg5009.gif"/>
          <p:cNvPicPr>
            <a:picLocks noChangeAspect="1" noChangeArrowheads="1"/>
          </p:cNvPicPr>
          <p:nvPr/>
        </p:nvPicPr>
        <p:blipFill>
          <a:blip r:embed="rId2" cstate="print"/>
          <a:srcRect/>
          <a:stretch>
            <a:fillRect/>
          </a:stretch>
        </p:blipFill>
        <p:spPr bwMode="auto">
          <a:xfrm>
            <a:off x="533400" y="1066800"/>
            <a:ext cx="4113857" cy="5105400"/>
          </a:xfrm>
          <a:prstGeom prst="rect">
            <a:avLst/>
          </a:prstGeom>
          <a:noFill/>
          <a:ln>
            <a:solidFill>
              <a:schemeClr val="accent3">
                <a:lumMod val="50000"/>
              </a:schemeClr>
            </a:solidFill>
          </a:ln>
        </p:spPr>
      </p:pic>
      <p:pic>
        <p:nvPicPr>
          <p:cNvPr id="147460" name="Picture 4" descr="http://lowres.jantoo.com/romance-dating-romance-lover-lovers_tiff-love-office_romances-03536057_low.jpg"/>
          <p:cNvPicPr>
            <a:picLocks noChangeAspect="1" noChangeArrowheads="1"/>
          </p:cNvPicPr>
          <p:nvPr/>
        </p:nvPicPr>
        <p:blipFill>
          <a:blip r:embed="rId3" cstate="print"/>
          <a:srcRect/>
          <a:stretch>
            <a:fillRect/>
          </a:stretch>
        </p:blipFill>
        <p:spPr bwMode="auto">
          <a:xfrm>
            <a:off x="4876800" y="1066800"/>
            <a:ext cx="3810000" cy="5257800"/>
          </a:xfrm>
          <a:prstGeom prst="rect">
            <a:avLst/>
          </a:prstGeom>
          <a:noFill/>
          <a:ln>
            <a:solidFill>
              <a:schemeClr val="accent3">
                <a:lumMod val="50000"/>
              </a:schemeClr>
            </a:solid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143</a:t>
            </a:fld>
            <a:endParaRPr lang="en-US" dirty="0"/>
          </a:p>
        </p:txBody>
      </p:sp>
      <p:pic>
        <p:nvPicPr>
          <p:cNvPr id="154628" name="Picture 4" descr="http://www.grantland.net/4057.gif"/>
          <p:cNvPicPr>
            <a:picLocks noChangeAspect="1" noChangeArrowheads="1"/>
          </p:cNvPicPr>
          <p:nvPr/>
        </p:nvPicPr>
        <p:blipFill>
          <a:blip r:embed="rId2" cstate="print"/>
          <a:srcRect/>
          <a:stretch>
            <a:fillRect/>
          </a:stretch>
        </p:blipFill>
        <p:spPr bwMode="auto">
          <a:xfrm>
            <a:off x="685800" y="1066800"/>
            <a:ext cx="7848600" cy="4953001"/>
          </a:xfrm>
          <a:prstGeom prst="rect">
            <a:avLst/>
          </a:prstGeom>
          <a:noFill/>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295400"/>
          </a:xfrm>
        </p:spPr>
        <p:txBody>
          <a:bodyPr>
            <a:normAutofit fontScale="90000"/>
          </a:bodyPr>
          <a:lstStyle/>
          <a:p>
            <a:r>
              <a:rPr lang="en-US" sz="4000" dirty="0"/>
              <a:t>Contemporary Issues: </a:t>
            </a:r>
            <a:br>
              <a:rPr lang="en-US" sz="4000" dirty="0"/>
            </a:br>
            <a:r>
              <a:rPr lang="en-US" sz="4900" dirty="0"/>
              <a:t>Managing Work-Life Balance</a:t>
            </a:r>
            <a:endParaRPr lang="en-US" dirty="0"/>
          </a:p>
        </p:txBody>
      </p:sp>
      <p:sp>
        <p:nvSpPr>
          <p:cNvPr id="3" name="Content Placeholder 2"/>
          <p:cNvSpPr>
            <a:spLocks noGrp="1"/>
          </p:cNvSpPr>
          <p:nvPr>
            <p:ph idx="1"/>
          </p:nvPr>
        </p:nvSpPr>
        <p:spPr>
          <a:xfrm>
            <a:off x="457200" y="1859280"/>
            <a:ext cx="8229600" cy="4998720"/>
          </a:xfrm>
        </p:spPr>
        <p:txBody>
          <a:bodyPr>
            <a:normAutofit fontScale="85000" lnSpcReduction="20000"/>
          </a:bodyPr>
          <a:lstStyle/>
          <a:p>
            <a:pPr marL="342900" indent="-342900" eaLnBrk="0" hangingPunct="0">
              <a:buFont typeface="Arial" charset="0"/>
              <a:buChar char="•"/>
            </a:pPr>
            <a:r>
              <a:rPr lang="en-US" sz="2800" dirty="0">
                <a:cs typeface="Arial" charset="0"/>
              </a:rPr>
              <a:t>Smart managers recognise that employees do not  leave their families and personal lives behind when they come to work. </a:t>
            </a:r>
          </a:p>
          <a:p>
            <a:pPr marL="708660" lvl="1" indent="-342900" eaLnBrk="0" hangingPunct="0">
              <a:buFont typeface="Arial" charset="0"/>
              <a:buChar char="•"/>
            </a:pPr>
            <a:r>
              <a:rPr lang="en-US" dirty="0"/>
              <a:t>Businesses are responding to these needs by developing programs to help employees deal with family issues that may arise.</a:t>
            </a:r>
          </a:p>
          <a:p>
            <a:pPr marL="342900" indent="-342900" eaLnBrk="0" hangingPunct="0">
              <a:buFont typeface="Arial" charset="0"/>
              <a:buChar char="•"/>
            </a:pPr>
            <a:endParaRPr lang="en-US" sz="2400" dirty="0">
              <a:cs typeface="Arial" charset="0"/>
            </a:endParaRPr>
          </a:p>
          <a:p>
            <a:pPr marL="342900" indent="-342900" eaLnBrk="0" hangingPunct="0">
              <a:buFont typeface="Arial" charset="0"/>
              <a:buChar char="•"/>
            </a:pPr>
            <a:r>
              <a:rPr lang="en-US" sz="2800" dirty="0">
                <a:cs typeface="Arial" charset="0"/>
              </a:rPr>
              <a:t>Many organisations are offering a </a:t>
            </a:r>
            <a:r>
              <a:rPr lang="en-US" sz="2800" dirty="0"/>
              <a:t>variety of scheduling options and </a:t>
            </a:r>
            <a:r>
              <a:rPr lang="en-US" sz="2800" b="1" dirty="0">
                <a:cs typeface="Arial" charset="0"/>
              </a:rPr>
              <a:t>family-friendly benefits</a:t>
            </a:r>
            <a:r>
              <a:rPr lang="en-US" sz="2800" dirty="0">
                <a:cs typeface="Arial" charset="0"/>
              </a:rPr>
              <a:t>, which accommodate employees’ needs for work–family life balance. </a:t>
            </a:r>
          </a:p>
          <a:p>
            <a:pPr marL="342900" indent="-342900" eaLnBrk="0" hangingPunct="0">
              <a:buFont typeface="Arial" charset="0"/>
              <a:buChar char="•"/>
            </a:pPr>
            <a:endParaRPr lang="en-US" dirty="0"/>
          </a:p>
          <a:p>
            <a:pPr marL="342900" indent="-342900" eaLnBrk="0" hangingPunct="0">
              <a:buFont typeface="Arial" charset="0"/>
              <a:buChar char="•"/>
            </a:pPr>
            <a:r>
              <a:rPr lang="en-US" dirty="0">
                <a:cs typeface="Arial" charset="0"/>
              </a:rPr>
              <a:t>They have introduced programs such;</a:t>
            </a:r>
          </a:p>
          <a:p>
            <a:pPr marL="708660" lvl="1" indent="-342900" eaLnBrk="0" hangingPunct="0">
              <a:buFont typeface="Arial" charset="0"/>
              <a:buChar char="•"/>
            </a:pPr>
            <a:r>
              <a:rPr lang="en-US" dirty="0">
                <a:cs typeface="Arial" charset="0"/>
              </a:rPr>
              <a:t>as on-site child care, summer day camps, </a:t>
            </a:r>
          </a:p>
          <a:p>
            <a:pPr marL="708660" lvl="1" indent="-342900" eaLnBrk="0" hangingPunct="0">
              <a:buFont typeface="Arial" charset="0"/>
              <a:buChar char="•"/>
            </a:pPr>
            <a:r>
              <a:rPr lang="en-US" dirty="0">
                <a:cs typeface="Arial" charset="0"/>
              </a:rPr>
              <a:t>flextime, job sharing, </a:t>
            </a:r>
          </a:p>
          <a:p>
            <a:pPr marL="708660" lvl="1" indent="-342900" eaLnBrk="0" hangingPunct="0">
              <a:buFont typeface="Arial" charset="0"/>
              <a:buChar char="•"/>
            </a:pPr>
            <a:r>
              <a:rPr lang="en-US" dirty="0">
                <a:cs typeface="Arial" charset="0"/>
              </a:rPr>
              <a:t>time off for school functions, telecommuting, and part-time employment.</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144</a:t>
            </a:fld>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533400"/>
          </a:xfrm>
        </p:spPr>
        <p:txBody>
          <a:bodyPr>
            <a:normAutofit fontScale="90000"/>
          </a:bodyPr>
          <a:lstStyle/>
          <a:p>
            <a:r>
              <a:rPr lang="en-GB" dirty="0"/>
              <a:t>Work-Life Balance</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145</a:t>
            </a:fld>
            <a:endParaRPr lang="en-US" dirty="0"/>
          </a:p>
        </p:txBody>
      </p:sp>
      <p:pic>
        <p:nvPicPr>
          <p:cNvPr id="75778" name="Picture 2" descr="http://www.timewisejobs.co.uk/getasset/?uiAssetID=71a46949-93bd-468d-975c-c8e238c28e65"/>
          <p:cNvPicPr>
            <a:picLocks noChangeAspect="1" noChangeArrowheads="1"/>
          </p:cNvPicPr>
          <p:nvPr/>
        </p:nvPicPr>
        <p:blipFill>
          <a:blip r:embed="rId2" cstate="print"/>
          <a:srcRect/>
          <a:stretch>
            <a:fillRect/>
          </a:stretch>
        </p:blipFill>
        <p:spPr bwMode="auto">
          <a:xfrm>
            <a:off x="685800" y="1295401"/>
            <a:ext cx="7924800" cy="5562600"/>
          </a:xfrm>
          <a:prstGeom prst="rect">
            <a:avLst/>
          </a:prstGeom>
          <a:noFill/>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www.paramountbusinesscoach.com/wp-content/uploads/2013/09/Work-Life-Balance-Cartoon.png"/>
          <p:cNvPicPr>
            <a:picLocks noChangeAspect="1" noChangeArrowheads="1"/>
          </p:cNvPicPr>
          <p:nvPr/>
        </p:nvPicPr>
        <p:blipFill>
          <a:blip r:embed="rId2" cstate="print"/>
          <a:srcRect/>
          <a:stretch>
            <a:fillRect/>
          </a:stretch>
        </p:blipFill>
        <p:spPr bwMode="auto">
          <a:xfrm>
            <a:off x="533400" y="3581400"/>
            <a:ext cx="8001000" cy="3276600"/>
          </a:xfrm>
          <a:prstGeom prst="rect">
            <a:avLst/>
          </a:prstGeom>
          <a:noFill/>
        </p:spPr>
      </p:pic>
      <p:sp>
        <p:nvSpPr>
          <p:cNvPr id="2" name="Title 1"/>
          <p:cNvSpPr>
            <a:spLocks noGrp="1"/>
          </p:cNvSpPr>
          <p:nvPr>
            <p:ph type="title"/>
          </p:nvPr>
        </p:nvSpPr>
        <p:spPr>
          <a:xfrm>
            <a:off x="457200" y="457200"/>
            <a:ext cx="8229600" cy="228600"/>
          </a:xfrm>
        </p:spPr>
        <p:txBody>
          <a:bodyPr>
            <a:normAutofit fontScale="90000"/>
          </a:bodyPr>
          <a:lstStyle/>
          <a:p>
            <a:r>
              <a:rPr lang="en-GB" sz="4000" dirty="0"/>
              <a:t>Work- Life Balance - Dilbert</a:t>
            </a:r>
            <a:endParaRPr lang="en-US" sz="4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146</a:t>
            </a:fld>
            <a:endParaRPr lang="en-US" dirty="0"/>
          </a:p>
        </p:txBody>
      </p:sp>
      <p:pic>
        <p:nvPicPr>
          <p:cNvPr id="74754" name="Picture 2" descr="http://dilbert.com/dyn/str_strip/000000000/00000000/0000000/100000/10000/6000/600/116639/116639.strip.gif"/>
          <p:cNvPicPr>
            <a:picLocks noChangeAspect="1" noChangeArrowheads="1"/>
          </p:cNvPicPr>
          <p:nvPr/>
        </p:nvPicPr>
        <p:blipFill>
          <a:blip r:embed="rId3" cstate="print"/>
          <a:srcRect/>
          <a:stretch>
            <a:fillRect/>
          </a:stretch>
        </p:blipFill>
        <p:spPr bwMode="auto">
          <a:xfrm>
            <a:off x="609600" y="838200"/>
            <a:ext cx="7848600" cy="2667000"/>
          </a:xfrm>
          <a:prstGeom prst="rect">
            <a:avLst/>
          </a:prstGeom>
          <a:noFill/>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147</a:t>
            </a:fld>
            <a:endParaRPr lang="en-US" dirty="0"/>
          </a:p>
        </p:txBody>
      </p:sp>
      <p:pic>
        <p:nvPicPr>
          <p:cNvPr id="140292" name="Picture 4" descr="http://eurythmia.com.au/wp-content/uploads/2013/04/cartoon-having-family.jpg"/>
          <p:cNvPicPr>
            <a:picLocks noChangeAspect="1" noChangeArrowheads="1"/>
          </p:cNvPicPr>
          <p:nvPr/>
        </p:nvPicPr>
        <p:blipFill>
          <a:blip r:embed="rId2" cstate="print"/>
          <a:srcRect/>
          <a:stretch>
            <a:fillRect/>
          </a:stretch>
        </p:blipFill>
        <p:spPr bwMode="auto">
          <a:xfrm>
            <a:off x="4800600" y="685800"/>
            <a:ext cx="4343400" cy="6019801"/>
          </a:xfrm>
          <a:prstGeom prst="rect">
            <a:avLst/>
          </a:prstGeom>
          <a:noFill/>
        </p:spPr>
      </p:pic>
      <p:pic>
        <p:nvPicPr>
          <p:cNvPr id="140294" name="Picture 6" descr="http://lowres.jantoo.com/children-employer-work_life_balance-family_time-ceo-bosses-25630288_low.jpg"/>
          <p:cNvPicPr>
            <a:picLocks noChangeAspect="1" noChangeArrowheads="1"/>
          </p:cNvPicPr>
          <p:nvPr/>
        </p:nvPicPr>
        <p:blipFill>
          <a:blip r:embed="rId3" cstate="print"/>
          <a:srcRect/>
          <a:stretch>
            <a:fillRect/>
          </a:stretch>
        </p:blipFill>
        <p:spPr bwMode="auto">
          <a:xfrm>
            <a:off x="304800" y="609600"/>
            <a:ext cx="4572000" cy="5886450"/>
          </a:xfrm>
          <a:prstGeom prst="rect">
            <a:avLst/>
          </a:prstGeom>
          <a:noFill/>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24712"/>
          </a:xfrm>
        </p:spPr>
        <p:txBody>
          <a:bodyPr>
            <a:normAutofit fontScale="90000"/>
          </a:bodyPr>
          <a:lstStyle/>
          <a:p>
            <a:r>
              <a:rPr lang="en-US" sz="4000" dirty="0"/>
              <a:t>Contemporary Issues: </a:t>
            </a:r>
            <a:br>
              <a:rPr lang="en-US" dirty="0"/>
            </a:br>
            <a:r>
              <a:rPr lang="en-US" sz="4900" dirty="0"/>
              <a:t>HR Costs - Health Care Costs</a:t>
            </a:r>
            <a:endParaRPr lang="en-IE" sz="4900" dirty="0"/>
          </a:p>
        </p:txBody>
      </p:sp>
      <p:sp>
        <p:nvSpPr>
          <p:cNvPr id="3" name="Content Placeholder 2"/>
          <p:cNvSpPr>
            <a:spLocks noGrp="1"/>
          </p:cNvSpPr>
          <p:nvPr>
            <p:ph idx="1"/>
          </p:nvPr>
        </p:nvSpPr>
        <p:spPr>
          <a:xfrm>
            <a:off x="457200" y="2209800"/>
            <a:ext cx="8229600" cy="4495800"/>
          </a:xfrm>
        </p:spPr>
        <p:txBody>
          <a:bodyPr>
            <a:normAutofit lnSpcReduction="10000"/>
          </a:bodyPr>
          <a:lstStyle/>
          <a:p>
            <a:r>
              <a:rPr lang="en-US" dirty="0">
                <a:cs typeface="Arial" charset="0"/>
              </a:rPr>
              <a:t>Companies are trying to control skyrocketing employee health care costs. </a:t>
            </a:r>
          </a:p>
          <a:p>
            <a:pPr lvl="1"/>
            <a:r>
              <a:rPr lang="en-US" dirty="0"/>
              <a:t>is important for employers to keep their portion of what they pay for health insurance low. </a:t>
            </a:r>
          </a:p>
          <a:p>
            <a:pPr lvl="1"/>
            <a:endParaRPr lang="en-US" dirty="0">
              <a:cs typeface="Arial" charset="0"/>
            </a:endParaRPr>
          </a:p>
          <a:p>
            <a:r>
              <a:rPr lang="en-US" dirty="0">
                <a:cs typeface="Arial" charset="0"/>
              </a:rPr>
              <a:t>Globally employer health care benefit costs have risen an average of 8% (in 2021), these cost are expected to continue to rise each year.</a:t>
            </a:r>
          </a:p>
          <a:p>
            <a:pPr lvl="1"/>
            <a:r>
              <a:rPr lang="en-US" dirty="0">
                <a:cs typeface="Arial" charset="0"/>
              </a:rPr>
              <a:t>In Ireland average costs have risen 4% - 7%,</a:t>
            </a:r>
          </a:p>
          <a:p>
            <a:pPr lvl="2"/>
            <a:r>
              <a:rPr lang="en-US" sz="1700" dirty="0">
                <a:cs typeface="Arial" charset="0"/>
              </a:rPr>
              <a:t>Smokers cost Irish employers an average €400 more per person, per year than non smokers, due to lower productivity, and absenteeism </a:t>
            </a:r>
          </a:p>
          <a:p>
            <a:pPr lvl="3"/>
            <a:r>
              <a:rPr lang="en-US" sz="1400" dirty="0">
                <a:cs typeface="Arial" charset="0"/>
              </a:rPr>
              <a:t>(Irish Medical Times, Nov 2022)</a:t>
            </a:r>
            <a:endParaRPr lang="en-US" sz="1600" dirty="0">
              <a:cs typeface="Arial"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148</a:t>
            </a:fld>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dirty="0"/>
              <a:t>“We’re just another company sunk by a great health plan”!</a:t>
            </a:r>
            <a:endParaRPr lang="en-US" sz="28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149</a:t>
            </a:fld>
            <a:endParaRPr lang="en-US" dirty="0"/>
          </a:p>
        </p:txBody>
      </p:sp>
      <p:pic>
        <p:nvPicPr>
          <p:cNvPr id="82946" name="Picture 2" descr="http://www.cartoonresource.com/umbraco/ImageGen.ashx?image=/24573/beb105ts.jpg&amp;class=full"/>
          <p:cNvPicPr>
            <a:picLocks noChangeAspect="1" noChangeArrowheads="1"/>
          </p:cNvPicPr>
          <p:nvPr/>
        </p:nvPicPr>
        <p:blipFill>
          <a:blip r:embed="rId2" cstate="print"/>
          <a:srcRect/>
          <a:stretch>
            <a:fillRect/>
          </a:stretch>
        </p:blipFill>
        <p:spPr bwMode="auto">
          <a:xfrm>
            <a:off x="838200" y="1676400"/>
            <a:ext cx="7104184" cy="4770121"/>
          </a:xfrm>
          <a:prstGeom prst="rect">
            <a:avLst/>
          </a:prstGeom>
          <a:noFill/>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200912"/>
          </a:xfrm>
        </p:spPr>
        <p:txBody>
          <a:bodyPr>
            <a:normAutofit fontScale="90000"/>
          </a:bodyPr>
          <a:lstStyle/>
          <a:p>
            <a:r>
              <a:rPr lang="en-US" sz="3600" dirty="0"/>
              <a:t>Contemporary Issues: </a:t>
            </a:r>
            <a:br>
              <a:rPr lang="en-US" dirty="0"/>
            </a:br>
            <a:r>
              <a:rPr lang="en-US" sz="4900" dirty="0"/>
              <a:t>HR Costs - Health Care Costs</a:t>
            </a:r>
            <a:endParaRPr lang="en-US" dirty="0"/>
          </a:p>
        </p:txBody>
      </p:sp>
      <p:sp>
        <p:nvSpPr>
          <p:cNvPr id="3" name="Content Placeholder 2"/>
          <p:cNvSpPr>
            <a:spLocks noGrp="1"/>
          </p:cNvSpPr>
          <p:nvPr>
            <p:ph idx="1"/>
          </p:nvPr>
        </p:nvSpPr>
        <p:spPr>
          <a:xfrm>
            <a:off x="457200" y="2209800"/>
            <a:ext cx="8229600" cy="4267200"/>
          </a:xfrm>
        </p:spPr>
        <p:txBody>
          <a:bodyPr>
            <a:normAutofit/>
          </a:bodyPr>
          <a:lstStyle/>
          <a:p>
            <a:r>
              <a:rPr lang="en-US" dirty="0">
                <a:cs typeface="Arial" charset="0"/>
              </a:rPr>
              <a:t>However, the biggest health care cost for US companies - is obesity and its related costs arising from medical expenditures and absenteeism.</a:t>
            </a:r>
          </a:p>
          <a:p>
            <a:endParaRPr lang="en-US" dirty="0"/>
          </a:p>
          <a:p>
            <a:r>
              <a:rPr lang="en-US" dirty="0"/>
              <a:t>To keep costs low, employers are responding by offering wellness programs, reimbursing employees for health club costs (or providing fitness equipment and classes on site) and offering healthy food choices in their cafeterias.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150</a:t>
            </a:fld>
            <a:endParaRPr 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noAutofit/>
          </a:bodyPr>
          <a:lstStyle/>
          <a:p>
            <a:r>
              <a:rPr lang="en-GB" sz="2400" dirty="0"/>
              <a:t>“Prepare a list of employees who go outside to smoke.  Our health care costs are too high, so I want to know who to let go”</a:t>
            </a:r>
            <a:endParaRPr lang="en-US" sz="24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151</a:t>
            </a:fld>
            <a:endParaRPr lang="en-US" dirty="0"/>
          </a:p>
        </p:txBody>
      </p:sp>
      <p:sp>
        <p:nvSpPr>
          <p:cNvPr id="179202" name="AutoShape 2" descr="http://lowres.cartoonstock.com/business-commerce-healthcare-employees-employers-smokes-smokes-aba0305_low.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79204" name="Picture 4" descr="http://lowres.cartoonstock.com/business-commerce-healthcare-employees-employers-smokes-smokes-aba0305_low.jpg"/>
          <p:cNvPicPr>
            <a:picLocks noChangeAspect="1" noChangeArrowheads="1"/>
          </p:cNvPicPr>
          <p:nvPr/>
        </p:nvPicPr>
        <p:blipFill>
          <a:blip r:embed="rId2" cstate="print"/>
          <a:srcRect/>
          <a:stretch>
            <a:fillRect/>
          </a:stretch>
        </p:blipFill>
        <p:spPr bwMode="auto">
          <a:xfrm>
            <a:off x="762000" y="1676400"/>
            <a:ext cx="7620000" cy="4762501"/>
          </a:xfrm>
          <a:prstGeom prst="rect">
            <a:avLst/>
          </a:prstGeom>
          <a:noFill/>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685800"/>
          </a:xfrm>
        </p:spPr>
        <p:txBody>
          <a:bodyPr>
            <a:normAutofit fontScale="90000"/>
          </a:bodyPr>
          <a:lstStyle/>
          <a:p>
            <a:r>
              <a:rPr lang="en-GB" dirty="0"/>
              <a:t>Health Care Costs</a:t>
            </a:r>
            <a:endParaRPr lang="en-US"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152</a:t>
            </a:fld>
            <a:endParaRPr lang="en-US" dirty="0"/>
          </a:p>
        </p:txBody>
      </p:sp>
      <p:pic>
        <p:nvPicPr>
          <p:cNvPr id="73730" name="Picture 2" descr="http://www.americanprogress.org/wp-content/uploads/cartoons/2009/05/img/051209.jpg"/>
          <p:cNvPicPr>
            <a:picLocks noChangeAspect="1" noChangeArrowheads="1"/>
          </p:cNvPicPr>
          <p:nvPr/>
        </p:nvPicPr>
        <p:blipFill>
          <a:blip r:embed="rId2" cstate="print"/>
          <a:srcRect/>
          <a:stretch>
            <a:fillRect/>
          </a:stretch>
        </p:blipFill>
        <p:spPr bwMode="auto">
          <a:xfrm>
            <a:off x="457200" y="1600200"/>
            <a:ext cx="7816426" cy="4800601"/>
          </a:xfrm>
          <a:prstGeom prst="rect">
            <a:avLst/>
          </a:prstGeom>
          <a:noFill/>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048512"/>
          </a:xfrm>
        </p:spPr>
        <p:txBody>
          <a:bodyPr>
            <a:normAutofit fontScale="90000"/>
          </a:bodyPr>
          <a:lstStyle/>
          <a:p>
            <a:r>
              <a:rPr lang="en-US" sz="4000" dirty="0"/>
              <a:t>Contemporary Issues: </a:t>
            </a:r>
            <a:br>
              <a:rPr lang="en-US" dirty="0"/>
            </a:br>
            <a:r>
              <a:rPr lang="en-US" sz="4900" dirty="0"/>
              <a:t>HR Costs - Pension Plan Costs</a:t>
            </a:r>
            <a:endParaRPr lang="en-US" dirty="0"/>
          </a:p>
        </p:txBody>
      </p:sp>
      <p:sp>
        <p:nvSpPr>
          <p:cNvPr id="3" name="Content Placeholder 2"/>
          <p:cNvSpPr>
            <a:spLocks noGrp="1"/>
          </p:cNvSpPr>
          <p:nvPr>
            <p:ph idx="1"/>
          </p:nvPr>
        </p:nvSpPr>
        <p:spPr>
          <a:xfrm>
            <a:off x="457200" y="2057400"/>
            <a:ext cx="8229600" cy="4541520"/>
          </a:xfrm>
        </p:spPr>
        <p:txBody>
          <a:bodyPr>
            <a:normAutofit fontScale="92500" lnSpcReduction="20000"/>
          </a:bodyPr>
          <a:lstStyle/>
          <a:p>
            <a:r>
              <a:rPr lang="en-US" dirty="0">
                <a:cs typeface="Arial" charset="0"/>
              </a:rPr>
              <a:t>The days when companies could afford to give employees a broad-based pension that provided them a guaranteed retirement income have changed. </a:t>
            </a:r>
          </a:p>
          <a:p>
            <a:endParaRPr lang="en-US" dirty="0"/>
          </a:p>
          <a:p>
            <a:r>
              <a:rPr lang="en-US" dirty="0"/>
              <a:t>Employee Pension </a:t>
            </a:r>
            <a:r>
              <a:rPr lang="en-US" dirty="0">
                <a:cs typeface="Arial" charset="0"/>
              </a:rPr>
              <a:t>commitments have become such an enormous burden that companies can no longer afford them. </a:t>
            </a:r>
          </a:p>
          <a:p>
            <a:pPr lvl="1"/>
            <a:r>
              <a:rPr lang="en-US" dirty="0">
                <a:cs typeface="Arial" charset="0"/>
              </a:rPr>
              <a:t>the corporate pension system has been described as “fundamentally broken”.</a:t>
            </a:r>
          </a:p>
          <a:p>
            <a:endParaRPr lang="en-US" dirty="0"/>
          </a:p>
          <a:p>
            <a:r>
              <a:rPr lang="en-US" dirty="0"/>
              <a:t>The choice for employers, is whether to suspend offering pension plans, or to continue to offer new retirement choices to attract employees.</a:t>
            </a:r>
          </a:p>
          <a:p>
            <a:endParaRPr lang="en-IE"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153</a:t>
            </a:fld>
            <a:endParaRPr 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762000"/>
          </a:xfrm>
        </p:spPr>
        <p:txBody>
          <a:bodyPr>
            <a:noAutofit/>
          </a:bodyPr>
          <a:lstStyle/>
          <a:p>
            <a:r>
              <a:rPr lang="en-GB" sz="2800" dirty="0"/>
              <a:t>“Your health and pension benefits will remain intact, but we have eliminated your salary”</a:t>
            </a:r>
            <a:endParaRPr lang="en-US" sz="28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154</a:t>
            </a:fld>
            <a:endParaRPr lang="en-US" dirty="0"/>
          </a:p>
        </p:txBody>
      </p:sp>
      <p:pic>
        <p:nvPicPr>
          <p:cNvPr id="136194" name="Picture 2" descr="http://pcmablog.files.wordpress.com/2012/08/2012-08-01-pension-cartoon1.jpg"/>
          <p:cNvPicPr>
            <a:picLocks noChangeAspect="1" noChangeArrowheads="1"/>
          </p:cNvPicPr>
          <p:nvPr/>
        </p:nvPicPr>
        <p:blipFill>
          <a:blip r:embed="rId2" cstate="print"/>
          <a:srcRect/>
          <a:stretch>
            <a:fillRect/>
          </a:stretch>
        </p:blipFill>
        <p:spPr bwMode="auto">
          <a:xfrm>
            <a:off x="685800" y="1371600"/>
            <a:ext cx="7848600" cy="4724400"/>
          </a:xfrm>
          <a:prstGeom prst="rect">
            <a:avLst/>
          </a:prstGeom>
          <a:noFill/>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3200" dirty="0"/>
              <a:t>“I wish we had a retirement plan that didn’t require matching numbers!”</a:t>
            </a:r>
            <a:endParaRPr lang="en-US" sz="3200" dirty="0"/>
          </a:p>
        </p:txBody>
      </p:sp>
      <p:sp>
        <p:nvSpPr>
          <p:cNvPr id="3" name="Content Placeholder 2"/>
          <p:cNvSpPr>
            <a:spLocks noGrp="1"/>
          </p:cNvSpPr>
          <p:nvPr>
            <p:ph idx="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155</a:t>
            </a:fld>
            <a:endParaRPr lang="en-US" dirty="0"/>
          </a:p>
        </p:txBody>
      </p:sp>
      <p:sp>
        <p:nvSpPr>
          <p:cNvPr id="1026" name="AutoShape 2" descr="data:image/jpeg;base64,/9j/4AAQSkZJRgABAQAAAQABAAD/2wCEAAkGBhQSEBQUExQVFRQVFhgUGBcXGBYYFRgYFBUdFhcXFRcYGyYfFx0kHBcWHy8gIycpLCwsFh4xNTAqNSYrLCkBCQoKDgwOGg8PGiweHCQpKSwpLCkpLCwsLCwsLCwpLCkpKSksLCwsLCkpLCwsLCkpLCwsLCwpLCwsLCwpLCksKf/AABEIAL0BCwMBIgACEQEDEQH/xAAcAAACAgMBAQAAAAAAAAAAAAAFBgQHAAIDAQj/xABTEAACAQMCAgYEBwoJDAEFAAABAgMABBESIQUxBhMiQVFxBzJhgRQjQlKRobEkMzRicnSSs7TBJVNjgpOywtHSFRY1Q1Rzg5Sio9PhpBdkhMTw/8QAGQEBAQEBAQEAAAAAAAAAAAAAAAECAwQF/8QAJhEAAgIBBAICAwADAAAAAAAAAAECEQMSITFBMnEEIiNRwRMzgf/aAAwDAQACEQMRAD8AvGvmnillG1zclkQk3VzklQT+EyDnivpavnDiH4RcfnVz+0yVURkBeGxfxcf6C/3VlxwuLq3xGgOhsEKuc6Ty2qYq11KdkjxBH0iqQd+lXR+1/wAkGVLa3Vzah9SxRhsmDVkELnOd6rO1iEY0hIZE+bNDG/0SKFkH6VWzf9vo/H7bBPp+C4qrUGQD4gH6qiKZbQ2itkRPbN4qkd5b++KVesUfk5po4NxSPkLLhl8P5BIorgDxNvOoOfI0qvsCTyAJ+jenXiXohkZQY3jmGAQHGlt99juPrFKCYZseP8FZgk9nBbSfMuLZIj7iy6T7jTXb9GeGyAFLS0IPIiGIg+XZqorzgl/appfruq70kAuYMeThgB5EUNseJLGcrHJbt3vZSmME+LW0pMZ9zCpRbL3/AMyrD/YrX+gi/wANDeN+ju0kiKxWttG2QQRDF3d3q0icK9ItymAtzb3A+ZcA2dx5BjmFj5Gmu39KsaYF5DNak/KkQtEc/Nlj1KR54qNXszSdO0adHfRrDDZGKa3tpZPjO2YU1dpmYYJBOwIA8qW+gvAIE4jcwz2kbI8SSprhUhGRzG4XK7agQdvm1aPDekEFwoaKVJF8VYMPpBqYsCZ1ADPjWa3s1r+rTQrdIeiliLSVktLUELkEQxZG4/FqtujEFjDxJjdpbpA9uFUyxr1XWdZk76dKnSOZIq7eIWCyxuh21AjI570g33o9lXOhg48D/wCv7qxPUpWtzticHBxk6Gi36JcNkUMlrZup5MsULKfIhcUF6Z9F7OG1Yra24ZmCgiCLI7zg6fZSvwHgE9pxS1ZIWjRjKsxTZGBiOnrNJwe1gjI501eki7ykKb7szEeQAH2mk5fRvgY8dZVG7K/4CIbeaUy2EFxHKVwfig0YVNJCxvHg7knZhnbwrWx4dbLxCzZoIjE0zQspjj0kTRsqFhjBw2mifBOES3UBmiUFdciDc5PVsVzyxvg0I6TQvBGWI0vC8cw/4cgf7Aa4pyTVnqccbjLTyWpx3olYi1lZbS1BCEgiGLI/6arXorwWB+LQI0ELIYJmKmNCpIKgEjGCR4+2rb46Vaylde+PIPsO4qs+hI/hmL81l9v+tSusn+RHmgvwy9krpz0ftY7rSltAo0LsIowN+/1aneifovazcMjeS2t3YtL2nijZtpnAySueQH0V50+P3Zvz0LRL0NXA/wAkxDweYfRO9TG/tIuZfjgMP+Zdl/sVof8Agxf4a8/zOsO+xth/wIv8NG1cHka2r0HkKK9IXBoI2utEEKBUbGmKMY2PLC7U/dBuilnJw20d7S2ZmgiJYwxkkmMEknTuc99JvpOPavPyG+yrE9HqA8Ls+77ni/VrXDFy/Z6/kJaY+jjxvgfDraMu1lak/JXqYhk+06dh7ftqto+KOjlm4fwueMnIRYBC4HcFchgfeKc/SW5DRDPyWP1mu8PQBHiU5IJGcg+PiCMfVUcpuTUehGGOME59grotxrhl3cC2k4XFbTMpZA8MDI+kZYI6jcgb4xyBp1/zKsP9itf6CL/DVT9KuEvbyEK+mW3YTxP4Mg1DI8CNj51b/RvjQurSCfGnrY0k05zpLKCRnvwa6Y56ueTlmxKDTXDInRayjhe8SJFjQXIIVFCqM2sBOANhuSffTBSh6Olwl2B3Xj/qYab62nas5SWltGV88X6p11xu2r4Tddw0/hUnvr6Hr51vF+6Lj86uf2qStIwzpbSqBvGGPiS32V1dwxGEVfLP99R0Wu8a1SDtwxtfR6HPP4KU/QDR/uqsrQZjQ+KKf+kVZ/RTtcFjHh16fo3Mi0nejNsXFp7Y9P0wmslAM69hvyW/qmrus2xLAx7rFj54aFqi30FpMGV4ULHrUyUGcxkITkb83XHsr20limNv1dzokhQRtGNILrhNcbo+GwdHMcs5pZaoiDiV1FCWEqyN1MN38aD6supZIlKkYAYIVPdkivOIxwySMl7ZIumLrXmQhlUBCWJZcOO0rqM5zgbb1Jj4DMkMyuyyEQpbQhchjHGxYdZq21nUAcbdn21H6Rzyy3U8UEBlIhhR2LxxxKWmaYKWc5YlMbKp51QBX9G9tcw9bbSyIpyNEi6sFThldThlIO2Dmq/tppbZmWGV4sEgqpzG2DjeJ8oeXhVxwWN8TKTJawCV+sIjSS4ZSUVDh3Ma/IB9Q7k0OtvRbaBi0pmnYkk65Cikk5PYhCfQSaEKvbiKhw80MIf+Nt3azn8+yTG58wKbuBcd4iV1WrXUyj/V3dtjPsW6jIU+bVYXDujtvB95hiiPikaK36eNR+miBhB57+07/bShYrQ+kKeED4bZTRjG8kJW5iHmYssvvFMHBem9pdfeZ43PeoYah5qe0PeKlGMYqsPSZwGMRlzGhbXHh8AOA0iggOO1yPjUaKmW+CreBqJxXgkVwAJFBxyONx7+dUhacTvLYAwXcmB8ib45PIE4dR5Gj3C/TPMmBc22ofPgbV7+rfDfQTUavkqlTtOiyOAdGorSEQxZCrnG5J3JJyTzJJJ99KfT/orLM7si61eMo3LOcY8qLcF9KFjckKsyq/zJMxv9D4z7s00x3CsNiDWZRUlR0hkcHaFHh00n+Q0EyFZFtlRwe5kUKc+B2z76rqCaeC5S5t2QSIjR6ZELI6uQxBIIK+qNxV6tCCpGBg86Xb7oHA+6jQfxdvs2rE4SbuJ1xZYKLjNbMr3inGHuZBJKqq5UBghJXI+bq3+mmn0LqRw3B5dfPjy60/vzUPifoylZlVZcRMTrI++ae5Ubkud8tjIHIHOztwXhAtYVijVQijAC7ADwAqY4tNtms+SEoqMegi0APdWvVEcmPvrBOO/I866Bge+u54ylvSeO1efkN9lWN0BfTwy0ByMW8Q3H8mtV16UPWvPyG/q1afRQfcNv/uY/1a158XL9ns+R4x9Ch6S3zLH+QftNPtguIk8hVf8ApK+/qP5On60jPVrgnkOe9WHnIzl/1w/6LXSnoILppGVyjOpU8iN1xnB/voz0Z4L8FtIYPW6pFQE8zpGMmiCyn2Ng4ODyI7vOthOO/I866qKXBwlOUkkxX9Hnq3n54/6mGm6lH0eerefnj/qYabqQ8UMnm/bMr56ul+PuPzm6/apK+haopbYGWciG4lb4Tdeoh0fhUnyzhfrrZzZBRa7xRE8gTRe24bcH1LWGP2zShj+jGH+2psvRq6aJy90EXQ20EIHyTtrkLf1RSxRnRniyQ8OMUglU9ZcNkwzaQrzM6HXoxghs59tK/o/kAntMEbFVPsyCu/hRvhnSUGISK+tVjQyIQwdQg0HQ/qk5BOMDfbIxUC1ui11ZSMF1lu02kBjgpnJA379q4xyNumjvLEkrTH5+Dt1jupU5ZjjO4LHJz9EdQL3gAlMTPG+IdWsMoZWAdcFdznAyw9q0Xk0NK2l8Mh7XMbuuBpPI92R7ByqJZ3rKygEaRhdCn8fO2cDkeVbMJix0k4pcWF2sdvMwjMQfQ/xkedZXYOSV2HyStFeg/G3uZbySQKG12uQudO0TLkZJI5csnzNCPSSn3XEfGEj6H/8Adb+jFsSXo/FtX+hpVrXRgsnNDeJ9JLa32mnjRvm5y/ujXLH6KIodx5iqBt4yNWdz1koJPMkSsNz31oxRZV76UIh95hkk8GkxEn0HL/SopX416RL117DrCP5Je1+m+o+8YoRGmwpl6GdDI7tTcXALQ5KxR5IEmk4aR8EErkEKvI6STnIrnkyKCtm4xvZBD0V8UeVJuslaR+uB7Tlnx1Q8STjbyoj6UYgbEnvEkX65BQbp3aWlq0AjtY1IOt5IlEbwxl0iV1dMMpLyKAd9xv4iV0tuHfg6mQ6nEsaM2MajHdCPURyBIUE47yazjy/5FxRqUNIpTjse6hgKdwJovKvZqHBbM76I01yaWfSCqkquNWNRGT2hsN67WktznV8EGe3Rhhoww/Gwftrvwnr4m+555oAOSq2uP+jfI+jFd7oGJgJUaIMpKl8DOkgHOD2eed+7PKu8CYb3VLT3QpoNW3pQvbZczxxXCAgaoyY5NyFHYbKk5I5EU3WnpXtdWi5ElpJy03CGP6HPYP01WXFF+LA/lIfrnSruv7COXUsiK6knZgCDv4GpRbJlrxOORQyOrA8iCCPpFSgar+69GFsGL2zS2j+MDlB703Q/RXEQ8YtPUkhvUHdIDDLjw1LlSfMChbRY2K5mAeGPLakSH0qrF2b23ntT3s6F4vdLHkfSBTXwrpNb3K6oZkkH4jBvpwdqhRF9IPRGeX4Q0S9Z1kbADODkqQBvt9dO/RuJorSBGG6RIhxvuqBT9lFQwNeisxgo8G55HJJPorr0jQEyq/ySunyPtpj4d00tTGuqUIQBlXBBBxuBthvdmivFuErcRlHG32UlX3o6dd43z7G/vFcmpRk3Hc9EZY8kFGbqiuePwCIT3MBeKbUzh43dCS0mxYAjPPvHnX0LA2VBNVSnQGeaURSqBFkMxDbvhshBt2Rkbsd+4c8i04W0gAg1rEpJbmfkuDl9Rb9Hvq3n54/6iGm2lL0e+refnj/qIaba6Q8UcMnm/bMqvuC24MbHv+EXX7ZNVg0h8C+9N+cXf7ZNWjBKYNgjvIIBHcSNjjzpE4PBFJHA05E8k0YbFw7s+vGH0B2MbYbOwVSNt6sQGqj4zw/WtvCR974o0JHdpa5bAx4aZBXOas643VhS24NJbcNmjfBykj5B7QPa7JUZHLtZB+VgjbNQbfh/WiDKFtBl5agVOSFYFSCDlRgg99OM/A5IjiCQlefUzapVAx8mQDrF8O0H7uXdCitDqBTVbv62kFXhcZGcLnluNxoO4ri01ueiLi9jS1sLxCWSYODpOm4yxynIiVRqBxtlgxxULhs8kd7Gs0ZjZ3dlIYPGwxlgrLjcAZwwB5+Fd5ONu4yDgH6aF3Nzie3ZjsJDkn2xOP31YSd7knjVWg16QjmaEjf4th/1Co/o7bF5cjxtYz+hcH/HXLjt0kgiKMraQwODuMkEZHuP0V70IOOIsO5rKYe9Jom/ea9XR4uy0VNUbLHiSYeFxcD6Lh6usTVUlxZEz3OOXwq4/XMf30SMkVF7PuNWR0NvFh4PaPIQirbIxJ2AAXOfft5kikabhGqJUzgyyRwZ8OvlWMn3BiadOkwEvDozBlUcKsYzpwJIWjgBxyAkaA/za8fyt2onoxds4tw6eaC8kljVWuYlChmPWIiMREgVFbTpy0hJ5vIV2VdRG8cn18EiPf1kQYeDfCVLfbn+dTjpt7u2jaVj1d5DEFQtpBypmXqx3SYOc8/ix82q94vqjhu7VjkxTWm45MdaprHgWjSBiOQYvjbFdYbUkZluQpV7NE+ifBZpzOYOpjkVgpuJFMjqHQMqxJy2A3U4GXDZPq1AnTs0y+j6QLDOCzSSP1jGAKrLsFjPY1AuSiwE6sDEoAPaOOs1cTEXTJPEYQ4ltZXAlCdvQNOVdc5jDEsyjOksRjUCMd1V9w6YnIb1lLoRjBGhyNwNs4A5bVZfSTgMiQQzRkI1rGYyikuOqOA/VNICQ2FXBbIAznNVrwuHLM5OSWdicYBy53A7h3++uWGOluuDpklqS/ZtxMdhfbLAPpnSrX6cfgc/k3Lbn5VV1+mRH/v7f9pjq0emh+5JvI13ORTvB+n99a4CTGRB/q5wZFx4BiQ6+5vdT5wj0wQtgXMTwH56fGxe/SA6/onzqsRF2eQ5V71XZ5d1Uh9AWPELe6TVFJHMneUYNj2NjdT7DQDjHo2s5cyLH1UoBIkhJjfPmmPrzVc9ALcDidqwGGLsCe8jqnOCe8bcjV3znsHyqDgrqxtOJ28CyxXqSIfkXYB5OUA64YbfAG+edFIvSTcQbXtjMg/jIcTR+ZC4ZR7jQr0hj+APPR9dwKQIOLT2v4PNJGPmZ1xf0T5Ue4CpRqy9+CdP7K6+9Txs3zc4ceaNhh9FH0lB5GvnRulMU+17YxTH+Ng+LlH81jv7nFGuFX6qQLHikkDd1vejK/kqZf7Lmg2L0xWVWcPTfiNtj4VZ9cn8ZbNnI8erfBPuJo3wn0qWM50GURSfMmBifPhh8A+4moWgt0bt1SW9VQAPhWcDllrWAn6yaO0C6NzBpb1gcg3Qwe78Et6O1SGUh8C+9N+cXf7ZNT5SBwOYdWw5n4Rd8vzyagCopFSD+E2U8lv0n8fWtBIvv1r9VO4J8MUlcRk6ric7d+i2kGd99Mif2axPZWdMat0WA7oR2l3PevnnJHec77j7aCceiEckQBB7Mm/ysZjOCMeeP/W/Cx6WI+kONOMDbcc99uYrl0lvFcxupByXGQcgghT/AGazJpxdG4xcZKxNik2Hv+2o182Xh/3yj6QR++tet5+Z/rGot9daerY57MsZ2BJ9ccgNz7q5x5R3n4sZY+FMedTOBWvV8Rt/x4bpfoRH/s1D4fxsOupGDryyDyPgR3H2GpNhe6uI2R/GnT9O1f8Aw163wfOV2PaNsPKkNo8TXX5zKf0tLf2qI3PH5xc9XEhfkgjdQFYjc4kXLRlwcoz9klCuMnIXeIcZHwm5Qhkczk9WVYyZ6qMEBVB1doMARkHGQSKiaNNHfiV7pj7I1PG8cyjvLQyLIB79OPfRbhnE1exdFbspHB1bHliOc6X9gCdWx8MHPI0E4dwd7lWbWYAsrRENGTNmPGrssQse5x2s8s4rrxXgXUxF4XVYAis4YM7yAuJJJJHyMnABxpxhSMYJFYy/HeVWIZFB0HY5JI+FxRTwK1t8BlmZ2ySrg6oISnyW0suM75GBuKWj1fwRkxomMltEYzkt8RKOsfX6shaSRicEkAJnByBM4qZ5y0rBmty4eKJ5ZPixGQYy0ZbQxlKYxgGMzDHq7D7nhH3PHcKNTo/WjuLxo2pU8nUF8fPkJ8a0sT5K8iJ91aso3FEeiPGoLWGUpiW9lZlEI9ZViYrErn5EfaMhc4GJdicAHq3E43QHmCAQe4gjIPvBB99R+GB4ZPhSRPLErmB40TWXDDrZW8AIikYHi5kXY71J+JIvcsHi8mmzlMmDiFy2BgEhDnAJ2yeQ8qpjhKuuI5V0SKpX8VxE5iZkPhqG45jI8Rmy4OltvIGSeQaSFlBeGSAMgGvSFkJLY0Mc7asELq0tgL0j4YV4ZFKykTRZuT4gyMZZYz/Ndl81HhXBZNEq/Z0asV71fvX5xbftUdWZ0y/BJvI1XNymWhA77m1/ao6sbpd+CS+Rr0nPspLXtjflUcxtjc4qQyP3cqw2u2Tk1SBroBvxK23zh3/Z5aum4PYbyqmugEAHErfHjIf/AI8tXFdnsN5UBX3pE/0CPKH650NV5OmTVh+kb/QSeVv+tSkdYMvUKcbW22yajXrhsrsRyxsfqohdTqvZBqz+gPCbebhUKzRRSa3m2dFJJ6+Q4BIznAJ28KCiruFTzQ/g80kI+arZjPnE+UP0UXn6UaxovbWC6X5yjqpPPS2pCfLT7qsmT0eWEm8asnP71K2Njg7EsOYI5dxoNe+h9DnRcyD/AHkat9alfsoUJeiMQ/BZ/g6skPwltKv6y/EQ5BwxHPPI+FPdJ/o24MbSK5gLByl0e0AQDqt4W5HlzpwqAykLgLjq3Hf8Iu/2yan2kLgcYMTZ/wBou/2yagCS0gdM7lY+IEswUNbRc+WRNKPsp87S+0fX/wC6hXvAYZ5Y5WHxkfqsCQcAMMHxHxj7e2stWqNxel2IKzBgCCCO4j9xFei5IOM5B3+im7ifQSGTLREwyc9SeqT+Oh7Leex9tJvF+FXFqczJmPkJkyY9+WsHeP37fjVxeNo9UcqfIK6zc/lN/WNedZ24fZND+tWozyYJ8SxAHMnc7ADc+Qra4jkQxFo3BaRCgbCltMqZGCcrzHMCiW4k1RbE3Re3uUV5E0yYx1sR6ub3svrj2OGFL0nRye0vbFzKk0PwtEDFdEymSOSMB1HYcHUe0uPKmXo/xuORAm6SAbxuNLj2gfKH4wJHtrOk65S2Pzb6zb/5Cof61eno8JB4zBMTDJDAXMZLGRXVHGlger1HdUYZLHS+QMBcnIgj0h3s0jqiwQhCF36yQklFfI3TGzj6KcOGN2JF/GYfSKTOj/AkuVmYsUkzAc8wdVlCe0PPO4rFJvc1bSA95HeKLkoUl+E63IX4opI6aSUDFshsAnfOfOmPhd8k0EbpurRr9SgEEezGMeyh99w2e23cZQb6huv093vrjwu1W1jSQO+ZRGzoSChln0ksoO6kl+QOPZXpxPo8+RE3pFL8TpHN3C59uCy/9xY69MuLLVjZVkcAdwimkCgZ7gqAeQrhx1stHjkGLY9oKMv9Vq68O4TPcpNCkkUVvFqTrWR2fMjvJIinWELRs2M92QCMqRVlJJtv1/f6FG0kvf8AAMvDriCEZtyEUZDswMJjLMyESxdYiqI+q7UhQHJwcCnHotc/GiLTJELa3RRHKFV2d5CZpmUEht1jIbP+vbxpb4X0imY6YY1uTNCGaIKwTUXUNIqBVVQwkctkoj4UhhjtFOj9nLM0EkEyP1MXU/HRTRuVjDqY5N2AbLAFg2RpJKtyPiy/aNHpiqYw2PBYoYnVwrqWMh1DKhVI6pQCOUaRxKPbHnvqZxZA0bg7jG+fDv8A30F4rxkG0nIOiVYWZonIEqHTurLnxyAw7J2wSDUa/wCnEGGDLcIzHQEeCUNqbkowpUnyONudeHTJ7nXYW7Th5ENo3hc2yf0d4sf9mrA6U/gsvkaQLLiJaOBCNLC+i1A4JB+HhsHHsIp/6T/g0nka+n0efsp7RuPya30dmthGTyHdj6a1+AkDvNaMhfoKv8JW/wDxP2eSrYvj8W3lVXdA1xxCHbH339Q9WdxA/FP5UKIvpDH8CxD82/WR0p3cOke2m70g/wCh4f8A8T9ZHSRxEM5wKiKDpFXO5zVt9AImPC7MopbElwTjTlQ8k6BjqI2BYZxv7DVXQWpO2mrV6G24PCLdDqx1uOyzKd75lO6EEbE0YRIk4Qrq5a3AHUTKqtGupSEhUAYBxlkkYAcxk99QrttHW9UVDJO5KpNKjqkMUxTrFzpAAUFVHZcKA3Ku/wDleQIHWdjISilDhgiFFPW4PLGtpCPl8twuAQj4hcEKQdQM0qaJIh20WN3URMjgEHq9IYg+tuNsVk0Suh0hLXoO5S7aPJOS3V28Chj7SAM+3NMlK/Qe7MounOjLXOSUyFJ+CwAnS3aU55q24OQd6aKpDKReA/em/OLv9smp6pF4D95b84u/2yaoyoJAVjRZrBW9VFOYJHPeukih0Ze5lKnyYYP21qZ1G3M+A3rXQx5DT58/ooQWuj/o/W11Zl15VFDFQGAQHIBydjsceyjkfCIRjI1Ecu/6KlhSPW39vdUqNR3UoNg684LHOoVoxgbqdwynxRhgqfaCKBdIuGT29q563rY0eCTtjEq9Xcxt6w2cYB3IB276dAKDdNV/g289lvI36C6/7NBRAu1l62QJMY01nIVFLkgnk75CjyXPtrj0YtxHPdIudIS1wCc7CN0znvPYH0VJu2zLJ7WJ+neoXCUc31xowfue3Yg9+JJxse6hBnXu/wD4VVthYNJaWh1kgdXNpI5FXJ0KR8kDIAPLAHLYWRa3wJAZWRgd1YYOx7u4j2ikfg4xbwr80PH70nkQ/ZXWHJynwR34xCLr48MYoWQac6dbSKXJbG5VYwWIG2A2oHKK23HOJNcoQxNvYg6Y7eNQjOvhJo+ccnq1xzwc7iovErISSyEjOmKID+fLIG+kDB9hxXK8ht4DkKFds4VRlm7zhRudgd68eeb1tI9eCC0KTCtiRLaQth2AXstG2mVV5DBDA50gBlB7uRrfo3C8MbzW8jp1004k1DrC3VzNGpfrDrD6VBzkcxkGgXCeIdVbxp2saFOcdntjUMtyXn34pe4x0vuLC+LREFZUR3ibtIxwUBPLDYUdoewbiuuSLcduTjF0y2bXp0Vwt5bs5XlLEnWqfboGXjOw2wRnvNDeMXkl5MkrRmK3g1OgcaXkdlKhyp9VVUtz3JOcADdIT0yxEZa0w3scEZ960IuOmVxxS5it/vULuNSqfkDdi7d4CgnGAPOuChN7cHTUhp4XIHnhcerJfwugOMlDcoAwHPBxnyIq0Onch0ovcyy59uFGM/TSZNcQ9bahMEi8ttwMhfjl21DYHG2BTf069aHHLTN9iV6arY5LcRHtAoB2IxyJwT5bb1vbIGIBVkzy1jGfI8qnllXTqyAQO1g6R+Uw9X34FTsBV23z3jkfIjnXQ5mnBbcLe22Ofx/6kj99NvE2+JfypP4RJ/CFsP5O5b6EjH76bOLH4l/KsM2hP9IA/gqAe20H/cjpPnh7W+RTr04X7gth/KWY/wC9HXPh/Bo57gxvkAozZXHMEeI9tEGJqOFFWt0EjKcOt87HS7b7bPK7DJ7hgj3Glm/9FZJJjnHk6kfWpP2U32CPBbJGY9ZiiC4BzqKJy38SMe+llpkBOLsV1SRxONOmTKFHLEShUKnUAFCOp3YMJNSnB7U+C2iMssPVFQGdwdZKOSgSUqurMe02MYAOrI35Bp+pDGPqp0whRdMiszsXaNNKTtmRl1nSd1AkAOwXBPg8yNMzdc7kgaQ0LR7yqjv28aXY6EOlcaMMCPDJoldDrXq2vF1M+LrJZyC7E2sBJYgAZ8gKZKBdGvvt7+dD9kt6O1SGUhcDmAibx+EXe3f+GzU+0i9H8dU35xd/tk1ATg7HkMef91bLBn1iT9QrcVvRIptGgHIYroK5g1uDQptWvU43XY/VWwraqZZ4s+Nm2+yo3SCHXZ3KfOt5l+mJhUwLXKW27LAHZgRg8txj3UFipDNqVG+dFE36USmuSyTRzmSEoNcSxMWXURodnBUZAz2zzBrSwb4m3PjbW/6lRW894qAs7KoHMkgAeZNZKbSxvIQZZJJCDkamwoI7wiBU/wCmgfCmAeSLOGjlmbB56XmaRTjwIbOakp0jWQ4t45bg/wAmh0f0jYT6648Z6OXFxBJJPHBCscbuDvLMNKk4VxpCZPgW599ajLSzMo2DuKOgVGdigzuwdkOO8agR9FCeG3cJlmaFWfTDIgZFZy8koCgGQ55ANklsdujnHeFWVjLCsq5kjtetZWLO8krr1QjUuSFX76zcgAoPdTJ0N4kp4fGsiDrELxMCCB8W5VQVIzkDAORns771HNS6KoNLkWrKHTGinmqKp/mqAfsqvfSXEq3MelcfFAnHedbd3d7qtrifB9W8TEDmUJ28lfBZR7Dn3UmdKui4nQIB1cy5KattWea5+VnGcgnHf31bslUVVTr6NrBHMzspLLpUc9OGySMd/Ic6TZoirFW2Kkg+YODuKs30bInwNm7evrWHZ5HsrjVq7PefbRBjDHa4ltSBgC7tthsv39e7kPdTzxfhy6CwzkAgDJ0jVjJC8s7CkqKaRp7YNpA+FW+Auf45Tvn91P8AxZsQsfZRkQt/5QCoCmk7YznO/eMDv8yKDoCX1LlcnJ07KfNB2ffjPtrJYxIwPqnbLDY/zs7N780SS2ZB6ocfPGR9Kcz7j7qo2OvCZM8Rt/Zb3R+uEU0cYb4h/KlXgpB4lFhtWLa4z3Y+Mg2x3c+/embjR+If8k1GELnTt9NlbZ5Ca0+qVK96P3fWXEgAJHUyersx5bA9xPKtfSBHm0gXxmth/wBxal9ELERzMe/qz9o7u/lToE61YqEjGtcrBjssMAuQ4BIwpGpRg74xXCLi06KTrLhYkbLRgjVI5HaMZDbDHZC7455rbh3F5Sq/GBwhBfUFYuHkRAFdcYA16htkZCncHPayvUkMXXRR9bIQmpBsFMYnU5btYyVGM+tWTdEe7T4VNZF8aWikZh2tx11uxC8iuQh57jNEeE8JeJgGGQDGQwlLIdFv1X3psBDkc1zqyM9+APS+R4Li36iQxlYpcdlXBzJHzVwc9/LBqHF07vE9dIJh4jrIW/tr9VWgPfRn75e/nQ/ZLej1KPo74obhLqUp1Za5PZ1BsabaBfWHPln303UIZSFwBwYnAO4uLvP/ADkvOn2q34OI2Vwey4uLrtDZvwyX6fI5oBgArdTQ03jRffRlP4xRsPyx8nz3HtFT4ZQwBBBB7xyqkOwrZRWgrohobN69FeVtSjJsK2U1pWM4AoyChedBJM4hu5Y4uQTTGzIudkjkYZCjOwIJA2zUix9HkCEOymZxvqmYyNn8XV2V9wFMwkJ5D3nlW4jzzOfZyFQ0QLu+gt4WkcHEYyQBluYAVRyJJIA86U+IdPk1EzRFVQK8cSsHEsmRoErAc1bBEYBGd8vgAO95ZLLG0bIrIykEMAVIPMEHnS1aej+GJ9ccSBhyO5YfklidPuxWZJvg0q7E7gVu1/LLeXOolpFCJyT4jIG3NlVjjc4JViRvimp4ggydKBmzk4UFmOT5knPtNM/DuDxrjGNu7lj3USe1UjBUEeBAIoo0RsVrbgzt3Y86H9OeClOG3BEkaPpwrSkKgJIzhjsG06tPfnFPoXFIfpM9Gj8UaJlujEIwR1bKWjJJzrGCMNjbv2A5VqiWfM0i4JGQfaOR9ozVpdBICljHkEa2dtxgHtaez47L3U7cA9BNpDHpn+6HJBLHKAY+SoVth45Jz9VOvD+BQdWAqDqx2ApQgAIdONDAbbeGPChCt1jIntMjY3luP+vP7qsC9tusjK8gdj++hXTHhcNsLWb1EjvIC5JOhE7XaJPqgEgZ5bgUWt7pXUMpDKRkEEEHyIqmeAQ/RcxDVGOuA8NnHtCnn7jQW54kckAY7vbTwr45GtLq0im3lQFvnjZvf4++qKErowjHiAZsfg02PH79BzNNHSBsW0n5J+w1rHwIx3SyqQ0YhkjzyYM8kTAEeSNv7K86Sn7ll/Jb+qajAI6cj4q2H/3Nt+tWifABiQ/k/vFCvSHOI4YGYgBbmAknYACQZJPcKj8O6Q9U5cqXBXACkDvByCdjy/8AdAH+GXCzGPrIo9QeYhlwAhRl7u8kODqGQcA8ztztbO26xFAkSRJCE6zLEGPQThssMFFVBk8gRjIrjaccswNj1Byx7QKAGQgt2t0ySB31Pj4ervFKkgZEaRyQc6i5LDtKdJAJ5HPIYxWaNWL/AE+kxdQf7mT9ZHQeK11jw86YulMIa8iz3QSfrIqjdVjlW0tjDYd9F8OmC5HhdN+zw06Upejwdi6/Oj+zQU21lmkZVCScTuLeadtHXQG5udlGJY/uqQdnukGQdtjvtV91TJhZn6wOwEVzeBo+2VlD3M+herEqBmMhVcfKEm/ZjNChfgXSpJU1I4deR+cp8GB3U+w0UjswTqt26tjuV5xsfag9U+1ce0Gk7h/DpdaSSpCkoDRvLnSSckZQbrJF24yjMCMQOOToalNfziN9U9uhMcvaUBYxLIBoiKjTjSGZUYspJj+VqxQDdb8XwwjmXq3PLO6Nj5jcm8tiO8CiYNKsNwYoeqlikuV3JIVMnNw0Y0xhAAMDrcl2bDbZ2rrbXMsQVo47l4ikjdW66pUMbYVAwzq1gZXXjb5ZPZoUakrVpxy5nwFAY+kOokG3uSwZQUCLqAfQA5XVnT223P8AFPjOxqSvHiEz8Eus6S2lY8nZdQUnYBjyHt5451QFhqPs+2tliA9p8TQuXjbrIy/BbggKrB1XIJaNnK+wgro7xk922ci6QMWx8EugMkatHZGJRFnx3zrGB6oJOKEDIr0UEfpC4WJhZ3J6wMxGk6otLhcSAKQCwyy777ZwDqr0dJHz+B3XNRkoAO1oyd+WNe+ceo3gahUw6K2WhPDeMtLIUNvPFhNeuRMIe2V0A/O2DY8D30XWqDZ4QfPxHOtNbLz7Q8Rz94rorVsDQh4kgPKtq5PADuNj4j9/jXgmK+sNvEfv8KgO1e1qrA7ivc0BrLEGUqwBUjBB3BB5gik679HgiYvYSm1YnJixrtmPtiJ7HmhWmx7sch2j4CvNLtzIUezc0AjnpNJbEJfwmHuE6EyWx9pYDVF/PAHtpgt7pXUMrBlIyCCCCPEEc6LR2kbLnZwe8kNnuNLl30BVGMljIbVyclANVu5/HhOwPtTSatkr9BMGg/S1sWcv5Df1TUWTpBLbHF9CYhy6+PMlufazAaov54x7a36STiWyYxsrh17JUgg6thgjnz7qAOz26OSHRXG4IYBgfMGl2+9HcBJa0drNzvoA6y2Y+2EnseaFffTKzbnzrygK7u7S4szm6gPVj/XwZlhx4uANcX85ce2ptlHbSgSREAncSQuUJ/nRkavfT1HMV5HFA+KdDbWdjIoa2mO5lt8JqP8AKR40Se8Z9tUlA/4KxkDtK8mlCg1aMgMwY5ZVBb1Rz39tbmOoVxw6+tdygu4h/rLcYlA/Ht2Of6Mt5V7w3pBFPnQ4JGzDkynwZThlPsIqpmWmNXo/HYuvzo/s0FNdKvQI9m7x/tX/AOtBTVWGbXB4aXG6A2hZ2xMpdnZgtxcKpMjF37KyAAFmJxy3pkrWhRb/APp5aeE//M3P/krlP6MrFwQ8crA7ENcXBBHtBkpprKAT7j0e2dvA5iinbq0ZliS5uctpUsEQdZsSRgD21zg4FALmO3KXSF4GnJ+GzkKUZUZMCXJILruNqdKhScJU3KXBLa0jaIDPY0uyscrjc5Rd891AKHELHhoJYyytLGH0hrq7DAr1oYatRKjNvMCeXxflnya4sEcKZbtV1yRl2uL0KGizqC5ftjsSZI2AjYnbej910ItJJJJGi7colDsCQT18SwyYxyyiD3ljzJNaXPQeCR5XcyFpdYbt4wJIniOMDc6ZGAJycBBnCKABEvuH2ULFZZ7hGChsG6vNwVkYafjO0cQynAyex7RmG62jQXUkElzK1sjsyfC7xMlFY4BL8iUZdQBGUYfJNMXGOittdFTPGHKKUG5GxdHPLn2o1+vxNeWXRaGJJ41B0XBcuuQAOsB1hdIHPU25ydwM4AAAXxNw7SrG5uQr68Fri+UAxp1jB9TDQdA1ANgkbjNd+H2FvLA8wN6FRnXBuL0SfFnBzGXDA+wj6t6IXnQa2ll6xusOdWpdZ0NrVVORzGyL6pGcDOcLjunReIW0kBaV1kJd2aQmQsSCW1bd6jbl3YxtQAiW3tFt4pxJfPHNoEfVz3rs3WDKdkSZGcd/LvqCvELNpoo4nvpOsmeAstxfBVaOMyasl8FSBzz3EjODW0HTKwNuoC3AS2CTKrqVYhShUhpWAbaeJsFuUi9+1ReHS2qlxHFdBLe8WS3EWMyNNaiUpGgwwTQ8jEHmqjtHOmgJMV9Z6NTS3u0cMjFbi+MX3QFMSpI7rqLFsDYHY5C1v/lLh/WiL4Re6m04br7/AKv4xEdT1mvSBiWLmdjKg5mst57V0eAo0bCWO3A1TL2LW5EUDxSFDlxriJGdmcKxGTXJuK8OZVm6md9RRjkSagmLcrK4dxlDi18Sd9j26A6WfE7CXqyk96RIQoIuL0qNToi62EhC5MsXP+MHtx1tOoa0e5f4fGqyPHpNxeFzpl6oFU6zVucbEAg5HdmtuJQ2dmUh6uVmWFpEZmlZFW3YTqCdWpgrQJsisQAuRht9me3ktb1F65FTM0zHrCFLEzkQEtkZUdYAuMCVDsTigIMd9ZqSWa9RdcUeTdXeQ0upSJF6zsFXR0I33BxRG1s7WcS6HvmMQJKm4vQxwXXsAydrLRSKMcyvtGYfUcNfqy0U6vrVAGMyyankKjrMuCdbSFm1HfXlu8V2tOltsqmS3hnZj1SlSkisyPJqXqw+zNm7R8ZG0wydsACDwO9glMIkF7B18EEqZurw9qdnXSxV8IMouksQW6wDAO1TLR7eWeKOI37LIJiz/CbxerMDIpDhpBj1/MZXbc4jQcZ4cgMUSzzaFtyAhkdsFhJbqupwyhTLEBnAHWKN9LaZ/R3httoYW8c2q0d1USSsupwFXQ+ljhfiYjpdRgBGCkEEgQ9FpHM0MZuUUP23N1eRxmR7iOFgpDYdtUhyR8oAEjOR5bcUsWDMZr1U16UY3F/hlEUcplI1dhAsoOo7aRqzijtt0WhlAmkikR5RHK8RlkKRv1iXDKFzpHxsalsAaiDnmay16B2qIyYkYMrodUjk6JI1iKA5GAI440HeAg3ySSAM4TaJPM8LpfxMkUUjaru6Kgyg5j1dZhsEEZXIOG5YxQq04fwhCoUXEXWySAZlvI1Z4mCu3rgbOQmRzPjgkPo4Snwg3Ha6woIyNTaCFYsCUzpLDURqO4BIqIvRWAGPAb4tpWHbbtC4cySK/wA5S5zj2ActqAW7Q2Djd72M6gmmSe9VsloVG3Wcj8Jg3/lPYcRLm9sokLS/DAFRHLpdXPVZmbTEqySTJksQw3AA0NqKjBJ+D0fwK2SZSFmEqDrJCRhIAFcsxLgPaxOAeWkDlnJFui1v1ZTQQpCLs7hh1TtIhVg2pSGdzkEHfHKgIdr0WtpEV1e5KuodT8KuxkMMg4MmRsRXb/M2D59z/wA3df8Alo1FGFUKM4AAGSScAYGSdz5mtqABjodCPl3X/N3X/lqFeejWylkEsiSvIuwdri4LgeGrrM4pprKAgcF4FFaoyQhgrMXOp3clioXJZyTyVRz7qI14K9oDK8xXtZQHmKzFe1lAeYrMV7WUB5isxXtZQHmKzFe1lAeYrCte1lAA36F2hGOpAwABpaRSNIQDBVgRgQxjI+b551boTanOEZcrGvYklTT1KhFKFWBRtCqhYYJUAEkUerKAFf5tQag2g5Viw7Tc2mSc9/z4kPuxyJodxPoDbyrGijq1Qx507krEqqq6icjZEHgdIyCQCGasoAbxLo/DcOjSqWKZwNbhTqBHaRWAbGTjIOM7YrS36MwIJQqbTqVkBZzqB1c8nwcqCOShRyUAFaygBNz0XgklWVkOtW6wYeRQWBVgzKrANgoMZzjfxNcp+h9s0fV9WVUBQNDyIy9X1Wgq6sGUj4PDgg5+LHtybrKADQdErdGJRGXPVHSHk0ZtyvVto1adWI4wWxkhADW8HRmBJmmCkyM4k1F3bBAcAKC2Avx0p08suTjlRasoDzFZivaygPMVmK9rKA8xWYr2soDzFZivaygPMVmK9rKAysrKygP/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028" name="AutoShape 4" descr="data:image/jpeg;base64,/9j/4AAQSkZJRgABAQAAAQABAAD/2wCEAAkGBhQSEBQUExQVFRQVFhgUGBcXGBYYFRgYFBUdFhcXFRcYGyYfFx0kHBcWHy8gIycpLCwsFh4xNTAqNSYrLCkBCQoKDgwOGg8PGiweHCQpKSwpLCkpLCwsLCwsLCwpLCkpKSksLCwsLCkpLCwsLCkpLCwsLCwpLCwsLCwpLCksKf/AABEIAL0BCwMBIgACEQEDEQH/xAAcAAACAgMBAQAAAAAAAAAAAAAFBgQHAAIDAQj/xABTEAACAQMCAgYEBwoJDAEFAAABAgMABBESIQUxBhMiQVFxBzJhgRQjQlKRobEkMzRicnSSs7TBJVNjgpOywtHSFRY1Q1Rzg5Sio9PhpBdkhMTw/8QAGQEBAQEBAQEAAAAAAAAAAAAAAAECAwQF/8QAJhEAAgIBBAICAwADAAAAAAAAAAECEQMSITFBMnEEIiNRwRMzgf/aAAwDAQACEQMRAD8AvGvmnillG1zclkQk3VzklQT+EyDnivpavnDiH4RcfnVz+0yVURkBeGxfxcf6C/3VlxwuLq3xGgOhsEKuc6Ty2qYq11KdkjxBH0iqQd+lXR+1/wAkGVLa3Vzah9SxRhsmDVkELnOd6rO1iEY0hIZE+bNDG/0SKFkH6VWzf9vo/H7bBPp+C4qrUGQD4gH6qiKZbQ2itkRPbN4qkd5b++KVesUfk5po4NxSPkLLhl8P5BIorgDxNvOoOfI0qvsCTyAJ+jenXiXohkZQY3jmGAQHGlt99juPrFKCYZseP8FZgk9nBbSfMuLZIj7iy6T7jTXb9GeGyAFLS0IPIiGIg+XZqorzgl/appfruq70kAuYMeThgB5EUNseJLGcrHJbt3vZSmME+LW0pMZ9zCpRbL3/AMyrD/YrX+gi/wANDeN+ju0kiKxWttG2QQRDF3d3q0icK9ItymAtzb3A+ZcA2dx5BjmFj5Gmu39KsaYF5DNak/KkQtEc/Nlj1KR54qNXszSdO0adHfRrDDZGKa3tpZPjO2YU1dpmYYJBOwIA8qW+gvAIE4jcwz2kbI8SSprhUhGRzG4XK7agQdvm1aPDekEFwoaKVJF8VYMPpBqYsCZ1ADPjWa3s1r+rTQrdIeiliLSVktLUELkEQxZG4/FqtujEFjDxJjdpbpA9uFUyxr1XWdZk76dKnSOZIq7eIWCyxuh21AjI570g33o9lXOhg48D/wCv7qxPUpWtzticHBxk6Gi36JcNkUMlrZup5MsULKfIhcUF6Z9F7OG1Yra24ZmCgiCLI7zg6fZSvwHgE9pxS1ZIWjRjKsxTZGBiOnrNJwe1gjI501eki7ykKb7szEeQAH2mk5fRvgY8dZVG7K/4CIbeaUy2EFxHKVwfig0YVNJCxvHg7knZhnbwrWx4dbLxCzZoIjE0zQspjj0kTRsqFhjBw2mifBOES3UBmiUFdciDc5PVsVzyxvg0I6TQvBGWI0vC8cw/4cgf7Aa4pyTVnqccbjLTyWpx3olYi1lZbS1BCEgiGLI/6arXorwWB+LQI0ELIYJmKmNCpIKgEjGCR4+2rb46Vaylde+PIPsO4qs+hI/hmL81l9v+tSusn+RHmgvwy9krpz0ftY7rSltAo0LsIowN+/1aneifovazcMjeS2t3YtL2nijZtpnAySueQH0V50+P3Zvz0LRL0NXA/wAkxDweYfRO9TG/tIuZfjgMP+Zdl/sVof8Agxf4a8/zOsO+xth/wIv8NG1cHka2r0HkKK9IXBoI2utEEKBUbGmKMY2PLC7U/dBuilnJw20d7S2ZmgiJYwxkkmMEknTuc99JvpOPavPyG+yrE9HqA8Ls+77ni/VrXDFy/Z6/kJaY+jjxvgfDraMu1lak/JXqYhk+06dh7ftqto+KOjlm4fwueMnIRYBC4HcFchgfeKc/SW5DRDPyWP1mu8PQBHiU5IJGcg+PiCMfVUcpuTUehGGOME59grotxrhl3cC2k4XFbTMpZA8MDI+kZYI6jcgb4xyBp1/zKsP9itf6CL/DVT9KuEvbyEK+mW3YTxP4Mg1DI8CNj51b/RvjQurSCfGnrY0k05zpLKCRnvwa6Y56ueTlmxKDTXDInRayjhe8SJFjQXIIVFCqM2sBOANhuSffTBSh6Olwl2B3Xj/qYab62nas5SWltGV88X6p11xu2r4Tddw0/hUnvr6Hr51vF+6Lj86uf2qStIwzpbSqBvGGPiS32V1dwxGEVfLP99R0Wu8a1SDtwxtfR6HPP4KU/QDR/uqsrQZjQ+KKf+kVZ/RTtcFjHh16fo3Mi0nejNsXFp7Y9P0wmslAM69hvyW/qmrus2xLAx7rFj54aFqi30FpMGV4ULHrUyUGcxkITkb83XHsr20limNv1dzokhQRtGNILrhNcbo+GwdHMcs5pZaoiDiV1FCWEqyN1MN38aD6supZIlKkYAYIVPdkivOIxwySMl7ZIumLrXmQhlUBCWJZcOO0rqM5zgbb1Jj4DMkMyuyyEQpbQhchjHGxYdZq21nUAcbdn21H6Rzyy3U8UEBlIhhR2LxxxKWmaYKWc5YlMbKp51QBX9G9tcw9bbSyIpyNEi6sFThldThlIO2Dmq/tppbZmWGV4sEgqpzG2DjeJ8oeXhVxwWN8TKTJawCV+sIjSS4ZSUVDh3Ma/IB9Q7k0OtvRbaBi0pmnYkk65Cikk5PYhCfQSaEKvbiKhw80MIf+Nt3azn8+yTG58wKbuBcd4iV1WrXUyj/V3dtjPsW6jIU+bVYXDujtvB95hiiPikaK36eNR+miBhB57+07/bShYrQ+kKeED4bZTRjG8kJW5iHmYssvvFMHBem9pdfeZ43PeoYah5qe0PeKlGMYqsPSZwGMRlzGhbXHh8AOA0iggOO1yPjUaKmW+CreBqJxXgkVwAJFBxyONx7+dUhacTvLYAwXcmB8ib45PIE4dR5Gj3C/TPMmBc22ofPgbV7+rfDfQTUavkqlTtOiyOAdGorSEQxZCrnG5J3JJyTzJJJ99KfT/orLM7si61eMo3LOcY8qLcF9KFjckKsyq/zJMxv9D4z7s00x3CsNiDWZRUlR0hkcHaFHh00n+Q0EyFZFtlRwe5kUKc+B2z76rqCaeC5S5t2QSIjR6ZELI6uQxBIIK+qNxV6tCCpGBg86Xb7oHA+6jQfxdvs2rE4SbuJ1xZYKLjNbMr3inGHuZBJKqq5UBghJXI+bq3+mmn0LqRw3B5dfPjy60/vzUPifoylZlVZcRMTrI++ae5Ubkud8tjIHIHOztwXhAtYVijVQijAC7ADwAqY4tNtms+SEoqMegi0APdWvVEcmPvrBOO/I866Bge+u54ylvSeO1efkN9lWN0BfTwy0ByMW8Q3H8mtV16UPWvPyG/q1afRQfcNv/uY/1a158XL9ns+R4x9Ch6S3zLH+QftNPtguIk8hVf8ApK+/qP5On60jPVrgnkOe9WHnIzl/1w/6LXSnoILppGVyjOpU8iN1xnB/voz0Z4L8FtIYPW6pFQE8zpGMmiCyn2Ng4ODyI7vOthOO/I866qKXBwlOUkkxX9Hnq3n54/6mGm6lH0eerefnj/qYabqQ8UMnm/bMr56ul+PuPzm6/apK+haopbYGWciG4lb4Tdeoh0fhUnyzhfrrZzZBRa7xRE8gTRe24bcH1LWGP2zShj+jGH+2psvRq6aJy90EXQ20EIHyTtrkLf1RSxRnRniyQ8OMUglU9ZcNkwzaQrzM6HXoxghs59tK/o/kAntMEbFVPsyCu/hRvhnSUGISK+tVjQyIQwdQg0HQ/qk5BOMDfbIxUC1ui11ZSMF1lu02kBjgpnJA379q4xyNumjvLEkrTH5+Dt1jupU5ZjjO4LHJz9EdQL3gAlMTPG+IdWsMoZWAdcFdznAyw9q0Xk0NK2l8Mh7XMbuuBpPI92R7ByqJZ3rKygEaRhdCn8fO2cDkeVbMJix0k4pcWF2sdvMwjMQfQ/xkedZXYOSV2HyStFeg/G3uZbySQKG12uQudO0TLkZJI5csnzNCPSSn3XEfGEj6H/8Adb+jFsSXo/FtX+hpVrXRgsnNDeJ9JLa32mnjRvm5y/ujXLH6KIodx5iqBt4yNWdz1koJPMkSsNz31oxRZV76UIh95hkk8GkxEn0HL/SopX416RL117DrCP5Je1+m+o+8YoRGmwpl6GdDI7tTcXALQ5KxR5IEmk4aR8EErkEKvI6STnIrnkyKCtm4xvZBD0V8UeVJuslaR+uB7Tlnx1Q8STjbyoj6UYgbEnvEkX65BQbp3aWlq0AjtY1IOt5IlEbwxl0iV1dMMpLyKAd9xv4iV0tuHfg6mQ6nEsaM2MajHdCPURyBIUE47yazjy/5FxRqUNIpTjse6hgKdwJovKvZqHBbM76I01yaWfSCqkquNWNRGT2hsN67WktznV8EGe3Rhhoww/Gwftrvwnr4m+555oAOSq2uP+jfI+jFd7oGJgJUaIMpKl8DOkgHOD2eed+7PKu8CYb3VLT3QpoNW3pQvbZczxxXCAgaoyY5NyFHYbKk5I5EU3WnpXtdWi5ElpJy03CGP6HPYP01WXFF+LA/lIfrnSruv7COXUsiK6knZgCDv4GpRbJlrxOORQyOrA8iCCPpFSgar+69GFsGL2zS2j+MDlB703Q/RXEQ8YtPUkhvUHdIDDLjw1LlSfMChbRY2K5mAeGPLakSH0qrF2b23ntT3s6F4vdLHkfSBTXwrpNb3K6oZkkH4jBvpwdqhRF9IPRGeX4Q0S9Z1kbADODkqQBvt9dO/RuJorSBGG6RIhxvuqBT9lFQwNeisxgo8G55HJJPorr0jQEyq/ySunyPtpj4d00tTGuqUIQBlXBBBxuBthvdmivFuErcRlHG32UlX3o6dd43z7G/vFcmpRk3Hc9EZY8kFGbqiuePwCIT3MBeKbUzh43dCS0mxYAjPPvHnX0LA2VBNVSnQGeaURSqBFkMxDbvhshBt2Rkbsd+4c8i04W0gAg1rEpJbmfkuDl9Rb9Hvq3n54/6iGm2lL0e+refnj/qIaba6Q8UcMnm/bMqvuC24MbHv+EXX7ZNVg0h8C+9N+cXf7ZNWjBKYNgjvIIBHcSNjjzpE4PBFJHA05E8k0YbFw7s+vGH0B2MbYbOwVSNt6sQGqj4zw/WtvCR974o0JHdpa5bAx4aZBXOas643VhS24NJbcNmjfBykj5B7QPa7JUZHLtZB+VgjbNQbfh/WiDKFtBl5agVOSFYFSCDlRgg99OM/A5IjiCQlefUzapVAx8mQDrF8O0H7uXdCitDqBTVbv62kFXhcZGcLnluNxoO4ri01ueiLi9jS1sLxCWSYODpOm4yxynIiVRqBxtlgxxULhs8kd7Gs0ZjZ3dlIYPGwxlgrLjcAZwwB5+Fd5ONu4yDgH6aF3Nzie3ZjsJDkn2xOP31YSd7knjVWg16QjmaEjf4th/1Co/o7bF5cjxtYz+hcH/HXLjt0kgiKMraQwODuMkEZHuP0V70IOOIsO5rKYe9Jom/ea9XR4uy0VNUbLHiSYeFxcD6Lh6usTVUlxZEz3OOXwq4/XMf30SMkVF7PuNWR0NvFh4PaPIQirbIxJ2AAXOfft5kikabhGqJUzgyyRwZ8OvlWMn3BiadOkwEvDozBlUcKsYzpwJIWjgBxyAkaA/za8fyt2onoxds4tw6eaC8kljVWuYlChmPWIiMREgVFbTpy0hJ5vIV2VdRG8cn18EiPf1kQYeDfCVLfbn+dTjpt7u2jaVj1d5DEFQtpBypmXqx3SYOc8/ix82q94vqjhu7VjkxTWm45MdaprHgWjSBiOQYvjbFdYbUkZluQpV7NE+ifBZpzOYOpjkVgpuJFMjqHQMqxJy2A3U4GXDZPq1AnTs0y+j6QLDOCzSSP1jGAKrLsFjPY1AuSiwE6sDEoAPaOOs1cTEXTJPEYQ4ltZXAlCdvQNOVdc5jDEsyjOksRjUCMd1V9w6YnIb1lLoRjBGhyNwNs4A5bVZfSTgMiQQzRkI1rGYyikuOqOA/VNICQ2FXBbIAznNVrwuHLM5OSWdicYBy53A7h3++uWGOluuDpklqS/ZtxMdhfbLAPpnSrX6cfgc/k3Lbn5VV1+mRH/v7f9pjq0emh+5JvI13ORTvB+n99a4CTGRB/q5wZFx4BiQ6+5vdT5wj0wQtgXMTwH56fGxe/SA6/onzqsRF2eQ5V71XZ5d1Uh9AWPELe6TVFJHMneUYNj2NjdT7DQDjHo2s5cyLH1UoBIkhJjfPmmPrzVc9ALcDidqwGGLsCe8jqnOCe8bcjV3znsHyqDgrqxtOJ28CyxXqSIfkXYB5OUA64YbfAG+edFIvSTcQbXtjMg/jIcTR+ZC4ZR7jQr0hj+APPR9dwKQIOLT2v4PNJGPmZ1xf0T5Ue4CpRqy9+CdP7K6+9Txs3zc4ceaNhh9FH0lB5GvnRulMU+17YxTH+Ng+LlH81jv7nFGuFX6qQLHikkDd1vejK/kqZf7Lmg2L0xWVWcPTfiNtj4VZ9cn8ZbNnI8erfBPuJo3wn0qWM50GURSfMmBifPhh8A+4moWgt0bt1SW9VQAPhWcDllrWAn6yaO0C6NzBpb1gcg3Qwe78Et6O1SGUh8C+9N+cXf7ZNT5SBwOYdWw5n4Rd8vzyagCopFSD+E2U8lv0n8fWtBIvv1r9VO4J8MUlcRk6ric7d+i2kGd99Mif2axPZWdMat0WA7oR2l3PevnnJHec77j7aCceiEckQBB7Mm/ysZjOCMeeP/W/Cx6WI+kONOMDbcc99uYrl0lvFcxupByXGQcgghT/AGazJpxdG4xcZKxNik2Hv+2o182Xh/3yj6QR++tet5+Z/rGot9daerY57MsZ2BJ9ccgNz7q5x5R3n4sZY+FMedTOBWvV8Rt/x4bpfoRH/s1D4fxsOupGDryyDyPgR3H2GpNhe6uI2R/GnT9O1f8Aw163wfOV2PaNsPKkNo8TXX5zKf0tLf2qI3PH5xc9XEhfkgjdQFYjc4kXLRlwcoz9klCuMnIXeIcZHwm5Qhkczk9WVYyZ6qMEBVB1doMARkHGQSKiaNNHfiV7pj7I1PG8cyjvLQyLIB79OPfRbhnE1exdFbspHB1bHliOc6X9gCdWx8MHPI0E4dwd7lWbWYAsrRENGTNmPGrssQse5x2s8s4rrxXgXUxF4XVYAis4YM7yAuJJJJHyMnABxpxhSMYJFYy/HeVWIZFB0HY5JI+FxRTwK1t8BlmZ2ySrg6oISnyW0suM75GBuKWj1fwRkxomMltEYzkt8RKOsfX6shaSRicEkAJnByBM4qZ5y0rBmty4eKJ5ZPixGQYy0ZbQxlKYxgGMzDHq7D7nhH3PHcKNTo/WjuLxo2pU8nUF8fPkJ8a0sT5K8iJ91aso3FEeiPGoLWGUpiW9lZlEI9ZViYrErn5EfaMhc4GJdicAHq3E43QHmCAQe4gjIPvBB99R+GB4ZPhSRPLErmB40TWXDDrZW8AIikYHi5kXY71J+JIvcsHi8mmzlMmDiFy2BgEhDnAJ2yeQ8qpjhKuuI5V0SKpX8VxE5iZkPhqG45jI8Rmy4OltvIGSeQaSFlBeGSAMgGvSFkJLY0Mc7asELq0tgL0j4YV4ZFKykTRZuT4gyMZZYz/Ndl81HhXBZNEq/Z0asV71fvX5xbftUdWZ0y/BJvI1XNymWhA77m1/ao6sbpd+CS+Rr0nPspLXtjflUcxtjc4qQyP3cqw2u2Tk1SBroBvxK23zh3/Z5aum4PYbyqmugEAHErfHjIf/AI8tXFdnsN5UBX3pE/0CPKH650NV5OmTVh+kb/QSeVv+tSkdYMvUKcbW22yajXrhsrsRyxsfqohdTqvZBqz+gPCbebhUKzRRSa3m2dFJJ6+Q4BIznAJ28KCiruFTzQ/g80kI+arZjPnE+UP0UXn6UaxovbWC6X5yjqpPPS2pCfLT7qsmT0eWEm8asnP71K2Njg7EsOYI5dxoNe+h9DnRcyD/AHkat9alfsoUJeiMQ/BZ/g6skPwltKv6y/EQ5BwxHPPI+FPdJ/o24MbSK5gLByl0e0AQDqt4W5HlzpwqAykLgLjq3Hf8Iu/2yan2kLgcYMTZ/wBou/2yagCS0gdM7lY+IEswUNbRc+WRNKPsp87S+0fX/wC6hXvAYZ5Y5WHxkfqsCQcAMMHxHxj7e2stWqNxel2IKzBgCCCO4j9xFei5IOM5B3+im7ifQSGTLREwyc9SeqT+Oh7Leex9tJvF+FXFqczJmPkJkyY9+WsHeP37fjVxeNo9UcqfIK6zc/lN/WNedZ24fZND+tWozyYJ8SxAHMnc7ADc+Qra4jkQxFo3BaRCgbCltMqZGCcrzHMCiW4k1RbE3Re3uUV5E0yYx1sR6ub3svrj2OGFL0nRye0vbFzKk0PwtEDFdEymSOSMB1HYcHUe0uPKmXo/xuORAm6SAbxuNLj2gfKH4wJHtrOk65S2Pzb6zb/5Cof61eno8JB4zBMTDJDAXMZLGRXVHGlger1HdUYZLHS+QMBcnIgj0h3s0jqiwQhCF36yQklFfI3TGzj6KcOGN2JF/GYfSKTOj/AkuVmYsUkzAc8wdVlCe0PPO4rFJvc1bSA95HeKLkoUl+E63IX4opI6aSUDFshsAnfOfOmPhd8k0EbpurRr9SgEEezGMeyh99w2e23cZQb6huv093vrjwu1W1jSQO+ZRGzoSChln0ksoO6kl+QOPZXpxPo8+RE3pFL8TpHN3C59uCy/9xY69MuLLVjZVkcAdwimkCgZ7gqAeQrhx1stHjkGLY9oKMv9Vq68O4TPcpNCkkUVvFqTrWR2fMjvJIinWELRs2M92QCMqRVlJJtv1/f6FG0kvf8AAMvDriCEZtyEUZDswMJjLMyESxdYiqI+q7UhQHJwcCnHotc/GiLTJELa3RRHKFV2d5CZpmUEht1jIbP+vbxpb4X0imY6YY1uTNCGaIKwTUXUNIqBVVQwkctkoj4UhhjtFOj9nLM0EkEyP1MXU/HRTRuVjDqY5N2AbLAFg2RpJKtyPiy/aNHpiqYw2PBYoYnVwrqWMh1DKhVI6pQCOUaRxKPbHnvqZxZA0bg7jG+fDv8A30F4rxkG0nIOiVYWZonIEqHTurLnxyAw7J2wSDUa/wCnEGGDLcIzHQEeCUNqbkowpUnyONudeHTJ7nXYW7Th5ENo3hc2yf0d4sf9mrA6U/gsvkaQLLiJaOBCNLC+i1A4JB+HhsHHsIp/6T/g0nka+n0efsp7RuPya30dmthGTyHdj6a1+AkDvNaMhfoKv8JW/wDxP2eSrYvj8W3lVXdA1xxCHbH339Q9WdxA/FP5UKIvpDH8CxD82/WR0p3cOke2m70g/wCh4f8A8T9ZHSRxEM5wKiKDpFXO5zVt9AImPC7MopbElwTjTlQ8k6BjqI2BYZxv7DVXQWpO2mrV6G24PCLdDqx1uOyzKd75lO6EEbE0YRIk4Qrq5a3AHUTKqtGupSEhUAYBxlkkYAcxk99QrttHW9UVDJO5KpNKjqkMUxTrFzpAAUFVHZcKA3Ku/wDleQIHWdjISilDhgiFFPW4PLGtpCPl8twuAQj4hcEKQdQM0qaJIh20WN3URMjgEHq9IYg+tuNsVk0Suh0hLXoO5S7aPJOS3V28Chj7SAM+3NMlK/Qe7MounOjLXOSUyFJ+CwAnS3aU55q24OQd6aKpDKReA/em/OLv9smp6pF4D95b84u/2yaoyoJAVjRZrBW9VFOYJHPeukih0Ze5lKnyYYP21qZ1G3M+A3rXQx5DT58/ooQWuj/o/W11Zl15VFDFQGAQHIBydjsceyjkfCIRjI1Ecu/6KlhSPW39vdUqNR3UoNg684LHOoVoxgbqdwynxRhgqfaCKBdIuGT29q563rY0eCTtjEq9Xcxt6w2cYB3IB276dAKDdNV/g289lvI36C6/7NBRAu1l62QJMY01nIVFLkgnk75CjyXPtrj0YtxHPdIudIS1wCc7CN0znvPYH0VJu2zLJ7WJ+neoXCUc31xowfue3Yg9+JJxse6hBnXu/wD4VVthYNJaWh1kgdXNpI5FXJ0KR8kDIAPLAHLYWRa3wJAZWRgd1YYOx7u4j2ikfg4xbwr80PH70nkQ/ZXWHJynwR34xCLr48MYoWQac6dbSKXJbG5VYwWIG2A2oHKK23HOJNcoQxNvYg6Y7eNQjOvhJo+ccnq1xzwc7iovErISSyEjOmKID+fLIG+kDB9hxXK8ht4DkKFds4VRlm7zhRudgd68eeb1tI9eCC0KTCtiRLaQth2AXstG2mVV5DBDA50gBlB7uRrfo3C8MbzW8jp1004k1DrC3VzNGpfrDrD6VBzkcxkGgXCeIdVbxp2saFOcdntjUMtyXn34pe4x0vuLC+LREFZUR3ibtIxwUBPLDYUdoewbiuuSLcduTjF0y2bXp0Vwt5bs5XlLEnWqfboGXjOw2wRnvNDeMXkl5MkrRmK3g1OgcaXkdlKhyp9VVUtz3JOcADdIT0yxEZa0w3scEZ960IuOmVxxS5it/vULuNSqfkDdi7d4CgnGAPOuChN7cHTUhp4XIHnhcerJfwugOMlDcoAwHPBxnyIq0Onch0ovcyy59uFGM/TSZNcQ9bahMEi8ttwMhfjl21DYHG2BTf069aHHLTN9iV6arY5LcRHtAoB2IxyJwT5bb1vbIGIBVkzy1jGfI8qnllXTqyAQO1g6R+Uw9X34FTsBV23z3jkfIjnXQ5mnBbcLe22Ofx/6kj99NvE2+JfypP4RJ/CFsP5O5b6EjH76bOLH4l/KsM2hP9IA/gqAe20H/cjpPnh7W+RTr04X7gth/KWY/wC9HXPh/Bo57gxvkAozZXHMEeI9tEGJqOFFWt0EjKcOt87HS7b7bPK7DJ7hgj3Glm/9FZJJjnHk6kfWpP2U32CPBbJGY9ZiiC4BzqKJy38SMe+llpkBOLsV1SRxONOmTKFHLEShUKnUAFCOp3YMJNSnB7U+C2iMssPVFQGdwdZKOSgSUqurMe02MYAOrI35Bp+pDGPqp0whRdMiszsXaNNKTtmRl1nSd1AkAOwXBPg8yNMzdc7kgaQ0LR7yqjv28aXY6EOlcaMMCPDJoldDrXq2vF1M+LrJZyC7E2sBJYgAZ8gKZKBdGvvt7+dD9kt6O1SGUhcDmAibx+EXe3f+GzU+0i9H8dU35xd/tk1ATg7HkMef91bLBn1iT9QrcVvRIptGgHIYroK5g1uDQptWvU43XY/VWwraqZZ4s+Nm2+yo3SCHXZ3KfOt5l+mJhUwLXKW27LAHZgRg8txj3UFipDNqVG+dFE36USmuSyTRzmSEoNcSxMWXURodnBUZAz2zzBrSwb4m3PjbW/6lRW894qAs7KoHMkgAeZNZKbSxvIQZZJJCDkamwoI7wiBU/wCmgfCmAeSLOGjlmbB56XmaRTjwIbOakp0jWQ4t45bg/wAmh0f0jYT6648Z6OXFxBJJPHBCscbuDvLMNKk4VxpCZPgW599ajLSzMo2DuKOgVGdigzuwdkOO8agR9FCeG3cJlmaFWfTDIgZFZy8koCgGQ55ANklsdujnHeFWVjLCsq5kjtetZWLO8krr1QjUuSFX76zcgAoPdTJ0N4kp4fGsiDrELxMCCB8W5VQVIzkDAORns771HNS6KoNLkWrKHTGinmqKp/mqAfsqvfSXEq3MelcfFAnHedbd3d7qtrifB9W8TEDmUJ28lfBZR7Dn3UmdKui4nQIB1cy5KattWea5+VnGcgnHf31bslUVVTr6NrBHMzspLLpUc9OGySMd/Ic6TZoirFW2Kkg+YODuKs30bInwNm7evrWHZ5HsrjVq7PefbRBjDHa4ltSBgC7tthsv39e7kPdTzxfhy6CwzkAgDJ0jVjJC8s7CkqKaRp7YNpA+FW+Auf45Tvn91P8AxZsQsfZRkQt/5QCoCmk7YznO/eMDv8yKDoCX1LlcnJ07KfNB2ffjPtrJYxIwPqnbLDY/zs7N780SS2ZB6ocfPGR9Kcz7j7qo2OvCZM8Rt/Zb3R+uEU0cYb4h/KlXgpB4lFhtWLa4z3Y+Mg2x3c+/embjR+If8k1GELnTt9NlbZ5Ca0+qVK96P3fWXEgAJHUyersx5bA9xPKtfSBHm0gXxmth/wBxal9ELERzMe/qz9o7u/lToE61YqEjGtcrBjssMAuQ4BIwpGpRg74xXCLi06KTrLhYkbLRgjVI5HaMZDbDHZC7455rbh3F5Sq/GBwhBfUFYuHkRAFdcYA16htkZCncHPayvUkMXXRR9bIQmpBsFMYnU5btYyVGM+tWTdEe7T4VNZF8aWikZh2tx11uxC8iuQh57jNEeE8JeJgGGQDGQwlLIdFv1X3psBDkc1zqyM9+APS+R4Li36iQxlYpcdlXBzJHzVwc9/LBqHF07vE9dIJh4jrIW/tr9VWgPfRn75e/nQ/ZLej1KPo74obhLqUp1Za5PZ1BsabaBfWHPln303UIZSFwBwYnAO4uLvP/ADkvOn2q34OI2Vwey4uLrtDZvwyX6fI5oBgArdTQ03jRffRlP4xRsPyx8nz3HtFT4ZQwBBBB7xyqkOwrZRWgrohobN69FeVtSjJsK2U1pWM4AoyChedBJM4hu5Y4uQTTGzIudkjkYZCjOwIJA2zUix9HkCEOymZxvqmYyNn8XV2V9wFMwkJ5D3nlW4jzzOfZyFQ0QLu+gt4WkcHEYyQBluYAVRyJJIA86U+IdPk1EzRFVQK8cSsHEsmRoErAc1bBEYBGd8vgAO95ZLLG0bIrIykEMAVIPMEHnS1aej+GJ9ccSBhyO5YfklidPuxWZJvg0q7E7gVu1/LLeXOolpFCJyT4jIG3NlVjjc4JViRvimp4ggydKBmzk4UFmOT5knPtNM/DuDxrjGNu7lj3USe1UjBUEeBAIoo0RsVrbgzt3Y86H9OeClOG3BEkaPpwrSkKgJIzhjsG06tPfnFPoXFIfpM9Gj8UaJlujEIwR1bKWjJJzrGCMNjbv2A5VqiWfM0i4JGQfaOR9ozVpdBICljHkEa2dtxgHtaez47L3U7cA9BNpDHpn+6HJBLHKAY+SoVth45Jz9VOvD+BQdWAqDqx2ApQgAIdONDAbbeGPChCt1jIntMjY3luP+vP7qsC9tusjK8gdj++hXTHhcNsLWb1EjvIC5JOhE7XaJPqgEgZ5bgUWt7pXUMpDKRkEEEHyIqmeAQ/RcxDVGOuA8NnHtCnn7jQW54kckAY7vbTwr45GtLq0im3lQFvnjZvf4++qKErowjHiAZsfg02PH79BzNNHSBsW0n5J+w1rHwIx3SyqQ0YhkjzyYM8kTAEeSNv7K86Sn7ll/Jb+qajAI6cj4q2H/3Nt+tWifABiQ/k/vFCvSHOI4YGYgBbmAknYACQZJPcKj8O6Q9U5cqXBXACkDvByCdjy/8AdAH+GXCzGPrIo9QeYhlwAhRl7u8kODqGQcA8ztztbO26xFAkSRJCE6zLEGPQThssMFFVBk8gRjIrjaccswNj1Byx7QKAGQgt2t0ySB31Pj4ervFKkgZEaRyQc6i5LDtKdJAJ5HPIYxWaNWL/AE+kxdQf7mT9ZHQeK11jw86YulMIa8iz3QSfrIqjdVjlW0tjDYd9F8OmC5HhdN+zw06Upejwdi6/Oj+zQU21lmkZVCScTuLeadtHXQG5udlGJY/uqQdnukGQdtjvtV91TJhZn6wOwEVzeBo+2VlD3M+herEqBmMhVcfKEm/ZjNChfgXSpJU1I4deR+cp8GB3U+w0UjswTqt26tjuV5xsfag9U+1ce0Gk7h/DpdaSSpCkoDRvLnSSckZQbrJF24yjMCMQOOToalNfziN9U9uhMcvaUBYxLIBoiKjTjSGZUYspJj+VqxQDdb8XwwjmXq3PLO6Nj5jcm8tiO8CiYNKsNwYoeqlikuV3JIVMnNw0Y0xhAAMDrcl2bDbZ2rrbXMsQVo47l4ikjdW66pUMbYVAwzq1gZXXjb5ZPZoUakrVpxy5nwFAY+kOokG3uSwZQUCLqAfQA5XVnT223P8AFPjOxqSvHiEz8Eus6S2lY8nZdQUnYBjyHt5451QFhqPs+2tliA9p8TQuXjbrIy/BbggKrB1XIJaNnK+wgro7xk922ci6QMWx8EugMkatHZGJRFnx3zrGB6oJOKEDIr0UEfpC4WJhZ3J6wMxGk6otLhcSAKQCwyy777ZwDqr0dJHz+B3XNRkoAO1oyd+WNe+ceo3gahUw6K2WhPDeMtLIUNvPFhNeuRMIe2V0A/O2DY8D30XWqDZ4QfPxHOtNbLz7Q8Rz94rorVsDQh4kgPKtq5PADuNj4j9/jXgmK+sNvEfv8KgO1e1qrA7ivc0BrLEGUqwBUjBB3BB5gik679HgiYvYSm1YnJixrtmPtiJ7HmhWmx7sch2j4CvNLtzIUezc0AjnpNJbEJfwmHuE6EyWx9pYDVF/PAHtpgt7pXUMrBlIyCCCCPEEc6LR2kbLnZwe8kNnuNLl30BVGMljIbVyclANVu5/HhOwPtTSatkr9BMGg/S1sWcv5Df1TUWTpBLbHF9CYhy6+PMlufazAaov54x7a36STiWyYxsrh17JUgg6thgjnz7qAOz26OSHRXG4IYBgfMGl2+9HcBJa0drNzvoA6y2Y+2EnseaFffTKzbnzrygK7u7S4szm6gPVj/XwZlhx4uANcX85ce2ptlHbSgSREAncSQuUJ/nRkavfT1HMV5HFA+KdDbWdjIoa2mO5lt8JqP8AKR40Se8Z9tUlA/4KxkDtK8mlCg1aMgMwY5ZVBb1Rz39tbmOoVxw6+tdygu4h/rLcYlA/Ht2Of6Mt5V7w3pBFPnQ4JGzDkynwZThlPsIqpmWmNXo/HYuvzo/s0FNdKvQI9m7x/tX/AOtBTVWGbXB4aXG6A2hZ2xMpdnZgtxcKpMjF37KyAAFmJxy3pkrWhRb/APp5aeE//M3P/krlP6MrFwQ8crA7ENcXBBHtBkpprKAT7j0e2dvA5iinbq0ZliS5uctpUsEQdZsSRgD21zg4FALmO3KXSF4GnJ+GzkKUZUZMCXJILruNqdKhScJU3KXBLa0jaIDPY0uyscrjc5Rd891AKHELHhoJYyytLGH0hrq7DAr1oYatRKjNvMCeXxflnya4sEcKZbtV1yRl2uL0KGizqC5ftjsSZI2AjYnbej910ItJJJJGi7colDsCQT18SwyYxyyiD3ljzJNaXPQeCR5XcyFpdYbt4wJIniOMDc6ZGAJycBBnCKABEvuH2ULFZZ7hGChsG6vNwVkYafjO0cQynAyex7RmG62jQXUkElzK1sjsyfC7xMlFY4BL8iUZdQBGUYfJNMXGOittdFTPGHKKUG5GxdHPLn2o1+vxNeWXRaGJJ41B0XBcuuQAOsB1hdIHPU25ydwM4AAAXxNw7SrG5uQr68Fri+UAxp1jB9TDQdA1ANgkbjNd+H2FvLA8wN6FRnXBuL0SfFnBzGXDA+wj6t6IXnQa2ll6xusOdWpdZ0NrVVORzGyL6pGcDOcLjunReIW0kBaV1kJd2aQmQsSCW1bd6jbl3YxtQAiW3tFt4pxJfPHNoEfVz3rs3WDKdkSZGcd/LvqCvELNpoo4nvpOsmeAstxfBVaOMyasl8FSBzz3EjODW0HTKwNuoC3AS2CTKrqVYhShUhpWAbaeJsFuUi9+1ReHS2qlxHFdBLe8WS3EWMyNNaiUpGgwwTQ8jEHmqjtHOmgJMV9Z6NTS3u0cMjFbi+MX3QFMSpI7rqLFsDYHY5C1v/lLh/WiL4Re6m04br7/AKv4xEdT1mvSBiWLmdjKg5mst57V0eAo0bCWO3A1TL2LW5EUDxSFDlxriJGdmcKxGTXJuK8OZVm6md9RRjkSagmLcrK4dxlDi18Sd9j26A6WfE7CXqyk96RIQoIuL0qNToi62EhC5MsXP+MHtx1tOoa0e5f4fGqyPHpNxeFzpl6oFU6zVucbEAg5HdmtuJQ2dmUh6uVmWFpEZmlZFW3YTqCdWpgrQJsisQAuRht9me3ktb1F65FTM0zHrCFLEzkQEtkZUdYAuMCVDsTigIMd9ZqSWa9RdcUeTdXeQ0upSJF6zsFXR0I33BxRG1s7WcS6HvmMQJKm4vQxwXXsAydrLRSKMcyvtGYfUcNfqy0U6vrVAGMyyankKjrMuCdbSFm1HfXlu8V2tOltsqmS3hnZj1SlSkisyPJqXqw+zNm7R8ZG0wydsACDwO9glMIkF7B18EEqZurw9qdnXSxV8IMouksQW6wDAO1TLR7eWeKOI37LIJiz/CbxerMDIpDhpBj1/MZXbc4jQcZ4cgMUSzzaFtyAhkdsFhJbqupwyhTLEBnAHWKN9LaZ/R3httoYW8c2q0d1USSsupwFXQ+ljhfiYjpdRgBGCkEEgQ9FpHM0MZuUUP23N1eRxmR7iOFgpDYdtUhyR8oAEjOR5bcUsWDMZr1U16UY3F/hlEUcplI1dhAsoOo7aRqzijtt0WhlAmkikR5RHK8RlkKRv1iXDKFzpHxsalsAaiDnmay16B2qIyYkYMrodUjk6JI1iKA5GAI440HeAg3ySSAM4TaJPM8LpfxMkUUjaru6Kgyg5j1dZhsEEZXIOG5YxQq04fwhCoUXEXWySAZlvI1Z4mCu3rgbOQmRzPjgkPo4Snwg3Ha6woIyNTaCFYsCUzpLDURqO4BIqIvRWAGPAb4tpWHbbtC4cySK/wA5S5zj2ActqAW7Q2Djd72M6gmmSe9VsloVG3Wcj8Jg3/lPYcRLm9sokLS/DAFRHLpdXPVZmbTEqySTJksQw3AA0NqKjBJ+D0fwK2SZSFmEqDrJCRhIAFcsxLgPaxOAeWkDlnJFui1v1ZTQQpCLs7hh1TtIhVg2pSGdzkEHfHKgIdr0WtpEV1e5KuodT8KuxkMMg4MmRsRXb/M2D59z/wA3df8Alo1FGFUKM4AAGSScAYGSdz5mtqABjodCPl3X/N3X/lqFeejWylkEsiSvIuwdri4LgeGrrM4pprKAgcF4FFaoyQhgrMXOp3clioXJZyTyVRz7qI14K9oDK8xXtZQHmKzFe1lAeYrMV7WUB5isxXtZQHmKzFe1lAeYrCte1lAA36F2hGOpAwABpaRSNIQDBVgRgQxjI+b551boTanOEZcrGvYklTT1KhFKFWBRtCqhYYJUAEkUerKAFf5tQag2g5Viw7Tc2mSc9/z4kPuxyJodxPoDbyrGijq1Qx507krEqqq6icjZEHgdIyCQCGasoAbxLo/DcOjSqWKZwNbhTqBHaRWAbGTjIOM7YrS36MwIJQqbTqVkBZzqB1c8nwcqCOShRyUAFaygBNz0XgklWVkOtW6wYeRQWBVgzKrANgoMZzjfxNcp+h9s0fV9WVUBQNDyIy9X1Wgq6sGUj4PDgg5+LHtybrKADQdErdGJRGXPVHSHk0ZtyvVto1adWI4wWxkhADW8HRmBJmmCkyM4k1F3bBAcAKC2Avx0p08suTjlRasoDzFZivaygPMVmK9rKA8xWYr2soDzFZivaygPMVmK9rKAysrKygP/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030" name="Picture 6" descr="http://www.claybennett.com/images/archivetoons/retirement_plan.jpg"/>
          <p:cNvPicPr>
            <a:picLocks noChangeAspect="1" noChangeArrowheads="1"/>
          </p:cNvPicPr>
          <p:nvPr/>
        </p:nvPicPr>
        <p:blipFill>
          <a:blip r:embed="rId2" cstate="print"/>
          <a:srcRect/>
          <a:stretch>
            <a:fillRect/>
          </a:stretch>
        </p:blipFill>
        <p:spPr bwMode="auto">
          <a:xfrm>
            <a:off x="1066800" y="2133600"/>
            <a:ext cx="6934200" cy="4431490"/>
          </a:xfrm>
          <a:prstGeom prst="rect">
            <a:avLst/>
          </a:prstGeom>
          <a:noFill/>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IE" dirty="0"/>
              <a:t>References</a:t>
            </a:r>
          </a:p>
        </p:txBody>
      </p:sp>
      <p:sp>
        <p:nvSpPr>
          <p:cNvPr id="3" name="Content Placeholder 2"/>
          <p:cNvSpPr>
            <a:spLocks noGrp="1"/>
          </p:cNvSpPr>
          <p:nvPr>
            <p:ph idx="1"/>
          </p:nvPr>
        </p:nvSpPr>
        <p:spPr>
          <a:xfrm>
            <a:off x="457200" y="1524000"/>
            <a:ext cx="8229600" cy="5105400"/>
          </a:xfrm>
        </p:spPr>
        <p:txBody>
          <a:bodyPr>
            <a:normAutofit fontScale="85000" lnSpcReduction="20000"/>
          </a:bodyPr>
          <a:lstStyle/>
          <a:p>
            <a:r>
              <a:rPr lang="en-IE" sz="1800" dirty="0"/>
              <a:t>Anonymous, (1995), “Human Capital a Key to Higher Market Value”,  </a:t>
            </a:r>
            <a:r>
              <a:rPr lang="en-IE" sz="1800" i="1" dirty="0"/>
              <a:t>Business</a:t>
            </a:r>
            <a:r>
              <a:rPr lang="en-IE" sz="1800" dirty="0"/>
              <a:t> </a:t>
            </a:r>
            <a:r>
              <a:rPr lang="en-IE" sz="1800" i="1" dirty="0"/>
              <a:t>Finance</a:t>
            </a:r>
            <a:r>
              <a:rPr lang="en-IE" sz="1800" dirty="0"/>
              <a:t>, December.</a:t>
            </a:r>
          </a:p>
          <a:p>
            <a:endParaRPr lang="en-IE" sz="1800" dirty="0"/>
          </a:p>
          <a:p>
            <a:r>
              <a:rPr lang="en-IE" sz="1800" dirty="0"/>
              <a:t>Armour, S. , (2002), “ Lawsuits Pin Targert on Managers”, </a:t>
            </a:r>
            <a:r>
              <a:rPr lang="en-IE" sz="1800" i="1" dirty="0"/>
              <a:t>USA Today</a:t>
            </a:r>
            <a:r>
              <a:rPr lang="en-IE" sz="1800" dirty="0"/>
              <a:t>, October</a:t>
            </a:r>
          </a:p>
          <a:p>
            <a:pPr>
              <a:buNone/>
            </a:pPr>
            <a:endParaRPr lang="en-IE" sz="1800" dirty="0"/>
          </a:p>
          <a:p>
            <a:r>
              <a:rPr lang="en-IE" sz="1800" dirty="0"/>
              <a:t>Barrett, C. (2008), “Trade Union Membership – 2008”, </a:t>
            </a:r>
            <a:r>
              <a:rPr lang="en-IE" sz="1800" i="1" dirty="0"/>
              <a:t>Department for Business Enterprise and Regulatory Reform</a:t>
            </a:r>
          </a:p>
          <a:p>
            <a:endParaRPr lang="en-IE" sz="1800" dirty="0"/>
          </a:p>
          <a:p>
            <a:r>
              <a:rPr lang="en-IE" sz="1800" dirty="0"/>
              <a:t>Carmeli, A. and Shaubroeck, J, (2005), “How leveraging human capital with its competitive distinctiveness enhances the performance of commercial and public organisations”, </a:t>
            </a:r>
            <a:r>
              <a:rPr lang="en-IE" sz="1800" i="1" dirty="0"/>
              <a:t>Human</a:t>
            </a:r>
            <a:r>
              <a:rPr lang="en-IE" sz="1800" dirty="0"/>
              <a:t> </a:t>
            </a:r>
            <a:r>
              <a:rPr lang="en-IE" sz="1800" i="1" dirty="0"/>
              <a:t>Resource Management</a:t>
            </a:r>
            <a:r>
              <a:rPr lang="en-IE" sz="1800" dirty="0"/>
              <a:t>, Winter.</a:t>
            </a:r>
          </a:p>
          <a:p>
            <a:endParaRPr lang="en-IE" sz="1800" dirty="0"/>
          </a:p>
          <a:p>
            <a:r>
              <a:rPr lang="en-IE" sz="1800" dirty="0"/>
              <a:t>CIA WorldFact Book, (2012), </a:t>
            </a:r>
            <a:r>
              <a:rPr lang="en-IE" sz="1800" dirty="0">
                <a:hlinkClick r:id="rId2"/>
              </a:rPr>
              <a:t>www.cia</a:t>
            </a:r>
            <a:r>
              <a:rPr lang="en-IE" sz="1800" dirty="0"/>
              <a:t>. gov./library/publications/the-world-factbook</a:t>
            </a:r>
          </a:p>
          <a:p>
            <a:endParaRPr lang="en-IE" sz="1800" dirty="0"/>
          </a:p>
          <a:p>
            <a:r>
              <a:rPr lang="en-IE" sz="1800" dirty="0"/>
              <a:t>Clenfield, J. (2010), “A Tear in Japan’s Safety Net”, </a:t>
            </a:r>
            <a:r>
              <a:rPr lang="en-IE" sz="1800" i="1" dirty="0"/>
              <a:t>Bloomberg</a:t>
            </a:r>
            <a:r>
              <a:rPr lang="en-IE" sz="1800" dirty="0"/>
              <a:t> </a:t>
            </a:r>
            <a:r>
              <a:rPr lang="en-IE" sz="1800" i="1" dirty="0"/>
              <a:t>Business</a:t>
            </a:r>
            <a:r>
              <a:rPr lang="en-IE" sz="1800" dirty="0"/>
              <a:t> </a:t>
            </a:r>
            <a:r>
              <a:rPr lang="en-IE" sz="1800" i="1" dirty="0"/>
              <a:t>Week</a:t>
            </a:r>
            <a:r>
              <a:rPr lang="en-IE" sz="1800" dirty="0"/>
              <a:t>, April 12</a:t>
            </a:r>
            <a:r>
              <a:rPr lang="en-IE" sz="1800" baseline="30000" dirty="0"/>
              <a:t>th</a:t>
            </a:r>
            <a:endParaRPr lang="en-IE" sz="1800" dirty="0"/>
          </a:p>
          <a:p>
            <a:r>
              <a:rPr lang="en-IE" sz="1800" dirty="0"/>
              <a:t>Kohpaiboon, A. (2010), “Global Recession: Labour Market Adjustment and International Production Networks”, </a:t>
            </a:r>
            <a:r>
              <a:rPr lang="en-IE" sz="1800" i="1" dirty="0"/>
              <a:t>ASEAN Economic Bulletin</a:t>
            </a:r>
            <a:r>
              <a:rPr lang="en-IE" sz="1800" dirty="0"/>
              <a:t>, April</a:t>
            </a:r>
          </a:p>
          <a:p>
            <a:endParaRPr lang="en-IE" sz="1800" dirty="0"/>
          </a:p>
          <a:p>
            <a:r>
              <a:rPr lang="en-IE" sz="1800" dirty="0"/>
              <a:t>Kuschner, G.B., (2012), “Special Report: What HR Professionals Should Do Now”, </a:t>
            </a:r>
            <a:r>
              <a:rPr lang="en-IE" sz="1800" dirty="0">
                <a:hlinkClick r:id="rId3"/>
              </a:rPr>
              <a:t>www.shrm.org</a:t>
            </a:r>
            <a:r>
              <a:rPr lang="en-IE" sz="1800" dirty="0"/>
              <a:t>, June 28 (Source Robbins &amp; Coulter)</a:t>
            </a:r>
          </a:p>
          <a:p>
            <a:endParaRPr lang="en-IE" sz="1800" dirty="0"/>
          </a:p>
          <a:p>
            <a:r>
              <a:rPr lang="en-GB" sz="1800" dirty="0"/>
              <a:t>Loch, C.H., Sting, F.J., Bauer, N., and Mauermann, J., (2010), “How BMW is defusing the demographic time bomb”, </a:t>
            </a:r>
            <a:r>
              <a:rPr lang="en-GB" sz="1800" i="1" dirty="0"/>
              <a:t>Harvard Business Review</a:t>
            </a:r>
            <a:r>
              <a:rPr lang="en-GB" sz="1800" dirty="0"/>
              <a:t>, March</a:t>
            </a:r>
          </a:p>
          <a:p>
            <a:pPr>
              <a:buNone/>
            </a:pPr>
            <a:endParaRPr lang="en-IE" sz="1800" dirty="0"/>
          </a:p>
          <a:p>
            <a:endParaRPr lang="en-IE" sz="1800" dirty="0"/>
          </a:p>
          <a:p>
            <a:endParaRPr lang="en-IE" sz="1800" dirty="0"/>
          </a:p>
          <a:p>
            <a:endParaRPr lang="en-IE" sz="1800" dirty="0"/>
          </a:p>
          <a:p>
            <a:endParaRPr lang="en-IE" sz="1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156</a:t>
            </a:fld>
            <a:endParaRPr lang="en-US"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15112"/>
          </a:xfrm>
        </p:spPr>
        <p:txBody>
          <a:bodyPr>
            <a:normAutofit fontScale="90000"/>
          </a:bodyPr>
          <a:lstStyle/>
          <a:p>
            <a:r>
              <a:rPr lang="en-IE" dirty="0"/>
              <a:t>References</a:t>
            </a:r>
            <a:endParaRPr lang="en-US" dirty="0"/>
          </a:p>
        </p:txBody>
      </p:sp>
      <p:sp>
        <p:nvSpPr>
          <p:cNvPr id="3" name="Content Placeholder 2"/>
          <p:cNvSpPr>
            <a:spLocks noGrp="1"/>
          </p:cNvSpPr>
          <p:nvPr>
            <p:ph idx="1"/>
          </p:nvPr>
        </p:nvSpPr>
        <p:spPr>
          <a:xfrm>
            <a:off x="457200" y="1371600"/>
            <a:ext cx="8229600" cy="5486400"/>
          </a:xfrm>
        </p:spPr>
        <p:txBody>
          <a:bodyPr>
            <a:normAutofit fontScale="47500" lnSpcReduction="20000"/>
          </a:bodyPr>
          <a:lstStyle/>
          <a:p>
            <a:r>
              <a:rPr lang="en-GB" sz="3400" dirty="0"/>
              <a:t>Petrecca, L, (2010), “With 3,000 Applications a Day Google Can be Picky”, </a:t>
            </a:r>
            <a:r>
              <a:rPr lang="en-GB" sz="3400" i="1" dirty="0"/>
              <a:t>USA Today</a:t>
            </a:r>
            <a:r>
              <a:rPr lang="en-GB" sz="3400" dirty="0"/>
              <a:t>, May 19</a:t>
            </a:r>
            <a:endParaRPr lang="en-IE" sz="3400" dirty="0"/>
          </a:p>
          <a:p>
            <a:endParaRPr lang="en-IE" sz="3400" dirty="0"/>
          </a:p>
          <a:p>
            <a:r>
              <a:rPr lang="en-IE" sz="3400" dirty="0"/>
              <a:t>Reynolds, C. (2011), “McDonalds Hiring Day Draws Crowds, High Hopes”, </a:t>
            </a:r>
            <a:r>
              <a:rPr lang="en-IE" sz="3400" i="1" dirty="0"/>
              <a:t>Missouri News Leader</a:t>
            </a:r>
            <a:r>
              <a:rPr lang="en-IE" sz="3400" dirty="0"/>
              <a:t>, April 20</a:t>
            </a:r>
          </a:p>
          <a:p>
            <a:endParaRPr lang="en-IE" sz="3400" dirty="0"/>
          </a:p>
          <a:p>
            <a:r>
              <a:rPr lang="en-IE" sz="3400" dirty="0"/>
              <a:t>Robbins, S. and Coulter, M., (2014), </a:t>
            </a:r>
            <a:r>
              <a:rPr lang="en-IE" sz="3400" i="1" dirty="0"/>
              <a:t>Management</a:t>
            </a:r>
            <a:r>
              <a:rPr lang="en-IE" sz="3400" dirty="0"/>
              <a:t>, Pearson Publishing</a:t>
            </a:r>
          </a:p>
          <a:p>
            <a:endParaRPr lang="en-IE" sz="3400" dirty="0"/>
          </a:p>
          <a:p>
            <a:r>
              <a:rPr lang="en-IE" sz="3400" dirty="0"/>
              <a:t>Smith, A., (2012), “Social Networking  Online Protection Act Introduced”, </a:t>
            </a:r>
            <a:r>
              <a:rPr lang="en-IE" sz="3400" dirty="0">
                <a:hlinkClick r:id="rId2"/>
              </a:rPr>
              <a:t>www.shrm.org</a:t>
            </a:r>
            <a:r>
              <a:rPr lang="en-IE" sz="3400" dirty="0"/>
              <a:t>, May 2012, (Source Robbins &amp; Coulter)</a:t>
            </a:r>
          </a:p>
          <a:p>
            <a:endParaRPr lang="en-IE" sz="3400" dirty="0"/>
          </a:p>
          <a:p>
            <a:r>
              <a:rPr lang="en-IE" sz="3400" dirty="0"/>
              <a:t>Stout, H. (2011), “Less ‘He Said, She Said’ in Sex Harassment Cases</a:t>
            </a:r>
            <a:r>
              <a:rPr lang="en-IE" sz="3400" i="1" dirty="0"/>
              <a:t>”, New York Times</a:t>
            </a:r>
            <a:r>
              <a:rPr lang="en-IE" sz="3400" dirty="0"/>
              <a:t>, November 5</a:t>
            </a:r>
            <a:r>
              <a:rPr lang="en-IE" sz="3400" baseline="30000" dirty="0"/>
              <a:t>th</a:t>
            </a:r>
            <a:r>
              <a:rPr lang="en-IE" sz="3400" dirty="0"/>
              <a:t>.</a:t>
            </a:r>
          </a:p>
          <a:p>
            <a:endParaRPr lang="en-IE" sz="3400" dirty="0"/>
          </a:p>
          <a:p>
            <a:r>
              <a:rPr lang="en-IE" sz="3400" dirty="0"/>
              <a:t>Training Industry Report (2011), Traniningmag.com, November 23</a:t>
            </a:r>
          </a:p>
          <a:p>
            <a:endParaRPr lang="en-IE" sz="3400" dirty="0"/>
          </a:p>
          <a:p>
            <a:r>
              <a:rPr lang="en-IE" sz="3400" dirty="0"/>
              <a:t>Tulgan, B., (209), “Generation Y Defined : The New Young Workforce”, </a:t>
            </a:r>
            <a:r>
              <a:rPr lang="en-IE" sz="3400" i="1" dirty="0"/>
              <a:t>HR Tools Online</a:t>
            </a:r>
            <a:r>
              <a:rPr lang="en-IE" sz="3400" dirty="0"/>
              <a:t>, February 25</a:t>
            </a:r>
            <a:r>
              <a:rPr lang="en-IE" sz="3400" baseline="30000" dirty="0"/>
              <a:t>th</a:t>
            </a:r>
            <a:r>
              <a:rPr lang="en-IE" sz="3400" dirty="0"/>
              <a:t> (Source Robbins &amp; Coulter)</a:t>
            </a:r>
          </a:p>
          <a:p>
            <a:endParaRPr lang="en-IE" sz="3400" dirty="0"/>
          </a:p>
          <a:p>
            <a:r>
              <a:rPr lang="en-IE" sz="3400" dirty="0"/>
              <a:t>Visser, J ( 2006), “Union Membership Statistics in 24 Countries”, </a:t>
            </a:r>
            <a:r>
              <a:rPr lang="en-IE" sz="3400" i="1" dirty="0"/>
              <a:t>Monthly Labour Review</a:t>
            </a:r>
            <a:r>
              <a:rPr lang="en-IE" sz="3400" dirty="0"/>
              <a:t>, January</a:t>
            </a:r>
          </a:p>
          <a:p>
            <a:endParaRPr lang="en-IE" sz="3400" dirty="0"/>
          </a:p>
          <a:p>
            <a:r>
              <a:rPr lang="en-IE" sz="3400" dirty="0"/>
              <a:t>Walker, J. (2010), “Firms Invest Big in Career Sites”, </a:t>
            </a:r>
            <a:r>
              <a:rPr lang="en-IE" sz="3400" i="1" dirty="0"/>
              <a:t>Wall Street Journal</a:t>
            </a:r>
            <a:r>
              <a:rPr lang="en-IE" sz="3400" dirty="0"/>
              <a:t>, June 8</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157</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1112</TotalTime>
  <Words>6913</Words>
  <Application>Microsoft Office PowerPoint</Application>
  <PresentationFormat>On-screen Show (4:3)</PresentationFormat>
  <Paragraphs>846</Paragraphs>
  <Slides>157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157</vt:i4>
      </vt:variant>
    </vt:vector>
  </HeadingPairs>
  <TitlesOfParts>
    <vt:vector size="162" baseType="lpstr">
      <vt:lpstr>Arial</vt:lpstr>
      <vt:lpstr>Calibri</vt:lpstr>
      <vt:lpstr>Constantia</vt:lpstr>
      <vt:lpstr>Wingdings 2</vt:lpstr>
      <vt:lpstr>Flow</vt:lpstr>
      <vt:lpstr>Human Resource Management</vt:lpstr>
      <vt:lpstr>Areas covered include.....</vt:lpstr>
      <vt:lpstr>Introduction</vt:lpstr>
      <vt:lpstr>The HRM Process</vt:lpstr>
      <vt:lpstr>Why Is HRM Important? </vt:lpstr>
      <vt:lpstr>Why Is HRM Important? ….3 Reasons</vt:lpstr>
      <vt:lpstr>Responsibilities of HR Managers …</vt:lpstr>
      <vt:lpstr>Why Is HRM Important?</vt:lpstr>
      <vt:lpstr>Examples of High-Performance Work Practices</vt:lpstr>
      <vt:lpstr>The HRM Process</vt:lpstr>
      <vt:lpstr>8 Activities in the HRM Process  </vt:lpstr>
      <vt:lpstr>External Factors That Affect the HRM Process</vt:lpstr>
      <vt:lpstr>External Factors  - The Economy</vt:lpstr>
      <vt:lpstr>PowerPoint Presentation</vt:lpstr>
      <vt:lpstr>External Factors  - The Economy</vt:lpstr>
      <vt:lpstr>External Factors:  Employee Labour Union</vt:lpstr>
      <vt:lpstr>External Factors:  Employee Labour Union</vt:lpstr>
      <vt:lpstr>HR &amp; Union Negotiations!</vt:lpstr>
      <vt:lpstr>  External Factors: Legal Environment </vt:lpstr>
      <vt:lpstr>External Factors: Legal Environment</vt:lpstr>
      <vt:lpstr>PowerPoint Presentation</vt:lpstr>
      <vt:lpstr>External Factors: Legal Environment</vt:lpstr>
      <vt:lpstr>Important  U.S. Laws that Affect the HRM Process</vt:lpstr>
      <vt:lpstr>Important  U.S. Laws that Affect the HRM Process (Cont.)</vt:lpstr>
      <vt:lpstr>Important  U.S. Laws that Affect the HRM Process (Cont.)</vt:lpstr>
      <vt:lpstr>“I’m not allowed to whip non productive employees?  Your Honour, how can a simple CEO like me know every law?</vt:lpstr>
      <vt:lpstr>Legal Environment: Global HRM Laws</vt:lpstr>
      <vt:lpstr>PowerPoint Presentation</vt:lpstr>
      <vt:lpstr>Legal Environment: Global HRM Laws</vt:lpstr>
      <vt:lpstr>PowerPoint Presentation</vt:lpstr>
      <vt:lpstr>  External Factors: Demographic Trends</vt:lpstr>
      <vt:lpstr>External Factors: Demographic Trends  </vt:lpstr>
      <vt:lpstr>PowerPoint Presentation</vt:lpstr>
      <vt:lpstr>External Factors: Demographic Trends </vt:lpstr>
      <vt:lpstr>PowerPoint Presentation</vt:lpstr>
      <vt:lpstr>World Population reaches 8 Billion-  November 2022</vt:lpstr>
      <vt:lpstr>External Factors: Demographic Trends A Response from BMW</vt:lpstr>
      <vt:lpstr>PowerPoint Presentation</vt:lpstr>
      <vt:lpstr>Miscellaneous data re HRM</vt:lpstr>
      <vt:lpstr>Identifying &amp; Selection Competent Employees</vt:lpstr>
      <vt:lpstr>Human Resource Planning</vt:lpstr>
      <vt:lpstr>HR Planning: Current Needs</vt:lpstr>
      <vt:lpstr>“That’s true.  We did advertise for someone who ‘works well under pressure”</vt:lpstr>
      <vt:lpstr>HR Planning: Current Needs</vt:lpstr>
      <vt:lpstr>PowerPoint Presentation</vt:lpstr>
      <vt:lpstr>HR Planning: Current Needs</vt:lpstr>
      <vt:lpstr>PowerPoint Presentation</vt:lpstr>
      <vt:lpstr>HR Planning: Current Needs</vt:lpstr>
      <vt:lpstr>Example of Job Specification</vt:lpstr>
      <vt:lpstr>Job Specification</vt:lpstr>
      <vt:lpstr>HR Planning: Future Needs</vt:lpstr>
      <vt:lpstr>Planning for Future Needs </vt:lpstr>
      <vt:lpstr>Recruitment </vt:lpstr>
      <vt:lpstr>Recruitment Sources Managers Can use to Find Potential Candidates</vt:lpstr>
      <vt:lpstr>Recruitment </vt:lpstr>
      <vt:lpstr>Recruitment </vt:lpstr>
      <vt:lpstr>De-Recruitment</vt:lpstr>
      <vt:lpstr>PowerPoint Presentation</vt:lpstr>
      <vt:lpstr>De-recruitment Options </vt:lpstr>
      <vt:lpstr>De-Recruitment</vt:lpstr>
      <vt:lpstr>PowerPoint Presentation</vt:lpstr>
      <vt:lpstr>Selection</vt:lpstr>
      <vt:lpstr>Selection: The Decision</vt:lpstr>
      <vt:lpstr>PowerPoint Presentation</vt:lpstr>
      <vt:lpstr>Selection Decision Outcomes  </vt:lpstr>
      <vt:lpstr>Selection Decision Outcomes</vt:lpstr>
      <vt:lpstr>Selection: Validity </vt:lpstr>
      <vt:lpstr>Selection Validity!</vt:lpstr>
      <vt:lpstr>Selection: Reliability</vt:lpstr>
      <vt:lpstr>Selection: Tools</vt:lpstr>
      <vt:lpstr>PowerPoint Presentation</vt:lpstr>
      <vt:lpstr>PowerPoint Presentation</vt:lpstr>
      <vt:lpstr>Selection: Tools</vt:lpstr>
      <vt:lpstr>PowerPoint Presentation</vt:lpstr>
      <vt:lpstr>Selection</vt:lpstr>
      <vt:lpstr>Selection: Tools</vt:lpstr>
      <vt:lpstr>PowerPoint Presentation</vt:lpstr>
      <vt:lpstr>Selection: Realistic Job Preview</vt:lpstr>
      <vt:lpstr>PowerPoint Presentation</vt:lpstr>
      <vt:lpstr>Providing Skills &amp; Knowledge</vt:lpstr>
      <vt:lpstr>Orientation </vt:lpstr>
      <vt:lpstr>Skills and Knowledge: Orientation</vt:lpstr>
      <vt:lpstr>PowerPoint Presentation</vt:lpstr>
      <vt:lpstr>Skills and Knowledge: Orientation</vt:lpstr>
      <vt:lpstr>Orientation </vt:lpstr>
      <vt:lpstr>Skills and Knowledge: Orientation</vt:lpstr>
      <vt:lpstr>Orientation </vt:lpstr>
      <vt:lpstr>Skills and Knowledge: Training</vt:lpstr>
      <vt:lpstr>PowerPoint Presentation</vt:lpstr>
      <vt:lpstr>Skills and Knowledge: Training</vt:lpstr>
      <vt:lpstr>PowerPoint Presentation</vt:lpstr>
      <vt:lpstr>General &amp; Specific Training  </vt:lpstr>
      <vt:lpstr>PowerPoint Presentation</vt:lpstr>
      <vt:lpstr>Skills and Knowledge: Training</vt:lpstr>
      <vt:lpstr>Traditional Training Methods</vt:lpstr>
      <vt:lpstr>Training Methods</vt:lpstr>
      <vt:lpstr>Skills and Knowledge: Training</vt:lpstr>
      <vt:lpstr>PowerPoint Presentation</vt:lpstr>
      <vt:lpstr>Technology Driven Training Methods  </vt:lpstr>
      <vt:lpstr>Training Methods</vt:lpstr>
      <vt:lpstr>PowerPoint Presentation</vt:lpstr>
      <vt:lpstr>Retaining Competent, High Performing Employees</vt:lpstr>
      <vt:lpstr>PowerPoint Presentation</vt:lpstr>
      <vt:lpstr>Retaining Employees:  Performance Management System</vt:lpstr>
      <vt:lpstr>Performance Appraisal</vt:lpstr>
      <vt:lpstr> Retaining Employees:  Performance Appraisal Methods</vt:lpstr>
      <vt:lpstr>Performance Appraisal</vt:lpstr>
      <vt:lpstr>Retaining Employees:  Performance Appraisal Methods </vt:lpstr>
      <vt:lpstr>Dilbert &amp; Performance Appraisal</vt:lpstr>
      <vt:lpstr>Retaining Employees:  Performance Appraisal Methods </vt:lpstr>
      <vt:lpstr>PowerPoint Presentation</vt:lpstr>
      <vt:lpstr>Performance Appraisal Methods  </vt:lpstr>
      <vt:lpstr>Performance Appraisal Methods (cont.)  </vt:lpstr>
      <vt:lpstr>Performance Appraisal</vt:lpstr>
      <vt:lpstr>Retaining Employees: Compensation &amp; Benefits</vt:lpstr>
      <vt:lpstr>PowerPoint Presentation</vt:lpstr>
      <vt:lpstr>Retaining Employees: Compensation &amp; Benefits</vt:lpstr>
      <vt:lpstr>What Determines Pay and Benefits? (Factors which are job-based and business- or industry-based)</vt:lpstr>
      <vt:lpstr>Pay &amp; Benefits</vt:lpstr>
      <vt:lpstr>Retaining Employees: Compensation &amp; Benefits</vt:lpstr>
      <vt:lpstr>Pay &amp; Benefits</vt:lpstr>
      <vt:lpstr>Retaining Employees: Compensation &amp; Benefits</vt:lpstr>
      <vt:lpstr>Pay &amp; Benefits</vt:lpstr>
      <vt:lpstr>Contemporary Issues in Managing Human Resources</vt:lpstr>
      <vt:lpstr>Contemporary Issues: Downsizing</vt:lpstr>
      <vt:lpstr>“I don’t like layoffs, but I feel more comfortable making my huge salary, when there are fewer people around”</vt:lpstr>
      <vt:lpstr>Contemporary Issues: Downsizing</vt:lpstr>
      <vt:lpstr>Downsizing</vt:lpstr>
      <vt:lpstr> Tips for Managing Downsizing  </vt:lpstr>
      <vt:lpstr>Downsizing</vt:lpstr>
      <vt:lpstr>PowerPoint Presentation</vt:lpstr>
      <vt:lpstr>Contemporary Issues:  Managing Workforce Diversity</vt:lpstr>
      <vt:lpstr>Workplace Diversity</vt:lpstr>
      <vt:lpstr>Workplace Diversity</vt:lpstr>
      <vt:lpstr>Workplace Diversity</vt:lpstr>
      <vt:lpstr>Contemporary Issues:  Managing Sexual Harassment </vt:lpstr>
      <vt:lpstr>Sexual Harassment</vt:lpstr>
      <vt:lpstr>Contemporary Issues:  Managing Sexual Harassment </vt:lpstr>
      <vt:lpstr>Sexual Harassment</vt:lpstr>
      <vt:lpstr>PowerPoint Presentation</vt:lpstr>
      <vt:lpstr>Contemporary Issues:  Managing Sexual Harassment </vt:lpstr>
      <vt:lpstr>PowerPoint Presentation</vt:lpstr>
      <vt:lpstr>PowerPoint Presentation</vt:lpstr>
      <vt:lpstr>Contemporary Issues:  Managing Work-Life Balance</vt:lpstr>
      <vt:lpstr>Work-Life Balance</vt:lpstr>
      <vt:lpstr>Work- Life Balance - Dilbert</vt:lpstr>
      <vt:lpstr>PowerPoint Presentation</vt:lpstr>
      <vt:lpstr>Contemporary Issues:  HR Costs - Health Care Costs</vt:lpstr>
      <vt:lpstr>“We’re just another company sunk by a great health plan”!</vt:lpstr>
      <vt:lpstr>Contemporary Issues:  HR Costs - Health Care Costs</vt:lpstr>
      <vt:lpstr>“Prepare a list of employees who go outside to smoke.  Our health care costs are too high, so I want to know who to let go”</vt:lpstr>
      <vt:lpstr>Health Care Costs</vt:lpstr>
      <vt:lpstr>Contemporary Issues:  HR Costs - Pension Plan Costs</vt:lpstr>
      <vt:lpstr>“Your health and pension benefits will remain intact, but we have eliminated your salary”</vt:lpstr>
      <vt:lpstr>“I wish we had a retirement plan that didn’t require matching numbers!”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Manageemnt</dc:title>
  <dc:creator>Jerome</dc:creator>
  <cp:lastModifiedBy>Orla Gregory</cp:lastModifiedBy>
  <cp:revision>306</cp:revision>
  <cp:lastPrinted>2022-11-17T16:12:35Z</cp:lastPrinted>
  <dcterms:created xsi:type="dcterms:W3CDTF">2006-08-16T00:00:00Z</dcterms:created>
  <dcterms:modified xsi:type="dcterms:W3CDTF">2022-11-17T16:14:19Z</dcterms:modified>
</cp:coreProperties>
</file>