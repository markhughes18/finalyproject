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92" r:id="rId1"/>
  </p:sldMasterIdLst>
  <p:notesMasterIdLst>
    <p:notesMasterId r:id="rId56"/>
  </p:notesMasterIdLst>
  <p:handoutMasterIdLst>
    <p:handoutMasterId r:id="rId57"/>
  </p:handoutMasterIdLst>
  <p:sldIdLst>
    <p:sldId id="256" r:id="rId2"/>
    <p:sldId id="305" r:id="rId3"/>
    <p:sldId id="355" r:id="rId4"/>
    <p:sldId id="358" r:id="rId5"/>
    <p:sldId id="357" r:id="rId6"/>
    <p:sldId id="306" r:id="rId7"/>
    <p:sldId id="359" r:id="rId8"/>
    <p:sldId id="374" r:id="rId9"/>
    <p:sldId id="313" r:id="rId10"/>
    <p:sldId id="339" r:id="rId11"/>
    <p:sldId id="360" r:id="rId12"/>
    <p:sldId id="311" r:id="rId13"/>
    <p:sldId id="375" r:id="rId14"/>
    <p:sldId id="340" r:id="rId15"/>
    <p:sldId id="341" r:id="rId16"/>
    <p:sldId id="380" r:id="rId17"/>
    <p:sldId id="378" r:id="rId18"/>
    <p:sldId id="361" r:id="rId19"/>
    <p:sldId id="342" r:id="rId20"/>
    <p:sldId id="308" r:id="rId21"/>
    <p:sldId id="345" r:id="rId22"/>
    <p:sldId id="344" r:id="rId23"/>
    <p:sldId id="376" r:id="rId24"/>
    <p:sldId id="347" r:id="rId25"/>
    <p:sldId id="346" r:id="rId26"/>
    <p:sldId id="381" r:id="rId27"/>
    <p:sldId id="362" r:id="rId28"/>
    <p:sldId id="317" r:id="rId29"/>
    <p:sldId id="364" r:id="rId30"/>
    <p:sldId id="338" r:id="rId31"/>
    <p:sldId id="318" r:id="rId32"/>
    <p:sldId id="348" r:id="rId33"/>
    <p:sldId id="382" r:id="rId34"/>
    <p:sldId id="383" r:id="rId35"/>
    <p:sldId id="356" r:id="rId36"/>
    <p:sldId id="365" r:id="rId37"/>
    <p:sldId id="316" r:id="rId38"/>
    <p:sldId id="384" r:id="rId39"/>
    <p:sldId id="367" r:id="rId40"/>
    <p:sldId id="349" r:id="rId41"/>
    <p:sldId id="350" r:id="rId42"/>
    <p:sldId id="351" r:id="rId43"/>
    <p:sldId id="352" r:id="rId44"/>
    <p:sldId id="385" r:id="rId45"/>
    <p:sldId id="368" r:id="rId46"/>
    <p:sldId id="371" r:id="rId47"/>
    <p:sldId id="373" r:id="rId48"/>
    <p:sldId id="372" r:id="rId49"/>
    <p:sldId id="369" r:id="rId50"/>
    <p:sldId id="333" r:id="rId51"/>
    <p:sldId id="321" r:id="rId52"/>
    <p:sldId id="386" r:id="rId53"/>
    <p:sldId id="354" r:id="rId54"/>
    <p:sldId id="377" r:id="rId55"/>
  </p:sldIdLst>
  <p:sldSz cx="9144000" cy="6858000" type="screen4x3"/>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1956" y="-9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6411"/>
          </a:xfrm>
          <a:prstGeom prst="rect">
            <a:avLst/>
          </a:prstGeom>
        </p:spPr>
        <p:txBody>
          <a:bodyPr vert="horz" lIns="95561" tIns="47781" rIns="95561" bIns="47781" rtlCol="0"/>
          <a:lstStyle>
            <a:lvl1pPr algn="l">
              <a:defRPr sz="1300"/>
            </a:lvl1pPr>
          </a:lstStyle>
          <a:p>
            <a:endParaRPr lang="en-US" dirty="0"/>
          </a:p>
        </p:txBody>
      </p:sp>
      <p:sp>
        <p:nvSpPr>
          <p:cNvPr id="4" name="Footer Placeholder 3"/>
          <p:cNvSpPr>
            <a:spLocks noGrp="1"/>
          </p:cNvSpPr>
          <p:nvPr>
            <p:ph type="ftr" sz="quarter" idx="2"/>
          </p:nvPr>
        </p:nvSpPr>
        <p:spPr>
          <a:xfrm>
            <a:off x="0" y="9430091"/>
            <a:ext cx="2945659" cy="496411"/>
          </a:xfrm>
          <a:prstGeom prst="rect">
            <a:avLst/>
          </a:prstGeom>
        </p:spPr>
        <p:txBody>
          <a:bodyPr vert="horz" lIns="95561" tIns="47781" rIns="95561" bIns="47781" rtlCol="0" anchor="b"/>
          <a:lstStyle>
            <a:lvl1pPr algn="l">
              <a:defRPr sz="1300"/>
            </a:lvl1pPr>
          </a:lstStyle>
          <a:p>
            <a:r>
              <a:rPr lang="en-GB" dirty="0" smtClean="0"/>
              <a:t>History of Management</a:t>
            </a:r>
          </a:p>
          <a:p>
            <a:r>
              <a:rPr lang="en-GB" dirty="0" smtClean="0"/>
              <a:t>(Orla Gregory)</a:t>
            </a:r>
            <a:endParaRPr lang="en-US" dirty="0"/>
          </a:p>
        </p:txBody>
      </p:sp>
      <p:sp>
        <p:nvSpPr>
          <p:cNvPr id="5" name="Slide Number Placeholder 4"/>
          <p:cNvSpPr>
            <a:spLocks noGrp="1"/>
          </p:cNvSpPr>
          <p:nvPr>
            <p:ph type="sldNum" sz="quarter" idx="3"/>
          </p:nvPr>
        </p:nvSpPr>
        <p:spPr>
          <a:xfrm>
            <a:off x="3850443" y="9430091"/>
            <a:ext cx="2945659" cy="496411"/>
          </a:xfrm>
          <a:prstGeom prst="rect">
            <a:avLst/>
          </a:prstGeom>
        </p:spPr>
        <p:txBody>
          <a:bodyPr vert="horz" lIns="95561" tIns="47781" rIns="95561" bIns="47781" rtlCol="0" anchor="b"/>
          <a:lstStyle>
            <a:lvl1pPr algn="r">
              <a:defRPr sz="1300"/>
            </a:lvl1pPr>
          </a:lstStyle>
          <a:p>
            <a:fld id="{AC4DFE68-06E3-43C0-BCD1-8FE54BACB2D9}" type="slidenum">
              <a:rPr lang="en-US" smtClean="0"/>
              <a:pPr/>
              <a:t>‹#›</a:t>
            </a:fld>
            <a:endParaRPr lang="en-US" dirty="0"/>
          </a:p>
        </p:txBody>
      </p:sp>
    </p:spTree>
    <p:extLst>
      <p:ext uri="{BB962C8B-B14F-4D97-AF65-F5344CB8AC3E}">
        <p14:creationId xmlns:p14="http://schemas.microsoft.com/office/powerpoint/2010/main" val="268410270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6411"/>
          </a:xfrm>
          <a:prstGeom prst="rect">
            <a:avLst/>
          </a:prstGeom>
        </p:spPr>
        <p:txBody>
          <a:bodyPr vert="horz" lIns="95561" tIns="47781" rIns="95561" bIns="47781" rtlCol="0"/>
          <a:lstStyle>
            <a:lvl1pPr algn="l">
              <a:defRPr sz="1300"/>
            </a:lvl1pPr>
          </a:lstStyle>
          <a:p>
            <a:endParaRPr lang="en-US" dirty="0"/>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5561" tIns="47781" rIns="95561" bIns="47781" rtlCol="0" anchor="ctr"/>
          <a:lstStyle/>
          <a:p>
            <a:endParaRPr lang="en-US" dirty="0"/>
          </a:p>
        </p:txBody>
      </p:sp>
      <p:sp>
        <p:nvSpPr>
          <p:cNvPr id="5" name="Notes Placeholder 4"/>
          <p:cNvSpPr>
            <a:spLocks noGrp="1"/>
          </p:cNvSpPr>
          <p:nvPr>
            <p:ph type="body" sz="quarter" idx="3"/>
          </p:nvPr>
        </p:nvSpPr>
        <p:spPr>
          <a:xfrm>
            <a:off x="679768" y="4715908"/>
            <a:ext cx="5438140" cy="4467701"/>
          </a:xfrm>
          <a:prstGeom prst="rect">
            <a:avLst/>
          </a:prstGeom>
        </p:spPr>
        <p:txBody>
          <a:bodyPr vert="horz" lIns="95561" tIns="47781" rIns="95561" bIns="4778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30091"/>
            <a:ext cx="2945659" cy="496411"/>
          </a:xfrm>
          <a:prstGeom prst="rect">
            <a:avLst/>
          </a:prstGeom>
        </p:spPr>
        <p:txBody>
          <a:bodyPr vert="horz" lIns="95561" tIns="47781" rIns="95561" bIns="47781" rtlCol="0" anchor="b"/>
          <a:lstStyle>
            <a:lvl1pPr algn="l">
              <a:defRPr sz="1300"/>
            </a:lvl1pPr>
          </a:lstStyle>
          <a:p>
            <a:endParaRPr lang="en-US" dirty="0"/>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lIns="95561" tIns="47781" rIns="95561" bIns="47781" rtlCol="0" anchor="b"/>
          <a:lstStyle>
            <a:lvl1pPr algn="r">
              <a:defRPr sz="1300"/>
            </a:lvl1pPr>
          </a:lstStyle>
          <a:p>
            <a:fld id="{F08CEECC-3AC2-4AEF-8A8C-0CA5C2335FC0}" type="slidenum">
              <a:rPr lang="en-US" smtClean="0"/>
              <a:pPr/>
              <a:t>‹#›</a:t>
            </a:fld>
            <a:endParaRPr lang="en-US" dirty="0"/>
          </a:p>
        </p:txBody>
      </p:sp>
    </p:spTree>
    <p:extLst>
      <p:ext uri="{BB962C8B-B14F-4D97-AF65-F5344CB8AC3E}">
        <p14:creationId xmlns:p14="http://schemas.microsoft.com/office/powerpoint/2010/main" val="140920494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p:spPr>
      </p:sp>
      <p:sp>
        <p:nvSpPr>
          <p:cNvPr id="3174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dirty="0" smtClean="0"/>
          </a:p>
        </p:txBody>
      </p:sp>
      <p:sp>
        <p:nvSpPr>
          <p:cNvPr id="4" name="Slide Number Placeholder 3"/>
          <p:cNvSpPr>
            <a:spLocks noGrp="1"/>
          </p:cNvSpPr>
          <p:nvPr>
            <p:ph type="sldNum" sz="quarter" idx="5"/>
          </p:nvPr>
        </p:nvSpPr>
        <p:spPr/>
        <p:txBody>
          <a:bodyPr/>
          <a:lstStyle/>
          <a:p>
            <a:pPr>
              <a:defRPr/>
            </a:pPr>
            <a:fld id="{947EFACA-9D7C-43C9-A575-DA6BA3C35D89}" type="slidenum">
              <a:rPr lang="en-US" smtClean="0"/>
              <a:pPr>
                <a:defRPr/>
              </a:pPr>
              <a:t>9</a:t>
            </a:fld>
            <a:endParaRPr lang="en-US" dirty="0"/>
          </a:p>
        </p:txBody>
      </p:sp>
    </p:spTree>
    <p:extLst>
      <p:ext uri="{BB962C8B-B14F-4D97-AF65-F5344CB8AC3E}">
        <p14:creationId xmlns:p14="http://schemas.microsoft.com/office/powerpoint/2010/main" val="3749884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p:spPr>
      </p:sp>
      <p:sp>
        <p:nvSpPr>
          <p:cNvPr id="399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dirty="0" smtClean="0"/>
          </a:p>
        </p:txBody>
      </p:sp>
      <p:sp>
        <p:nvSpPr>
          <p:cNvPr id="4" name="Slide Number Placeholder 3"/>
          <p:cNvSpPr>
            <a:spLocks noGrp="1"/>
          </p:cNvSpPr>
          <p:nvPr>
            <p:ph type="sldNum" sz="quarter" idx="5"/>
          </p:nvPr>
        </p:nvSpPr>
        <p:spPr/>
        <p:txBody>
          <a:bodyPr/>
          <a:lstStyle/>
          <a:p>
            <a:pPr>
              <a:defRPr/>
            </a:pPr>
            <a:fld id="{432C8518-F7D4-45D8-AD93-CE8E80BAD48B}" type="slidenum">
              <a:rPr lang="en-US" smtClean="0"/>
              <a:pPr>
                <a:defRPr/>
              </a:pPr>
              <a:t>30</a:t>
            </a:fld>
            <a:endParaRPr lang="en-US" dirty="0"/>
          </a:p>
        </p:txBody>
      </p:sp>
    </p:spTree>
    <p:extLst>
      <p:ext uri="{BB962C8B-B14F-4D97-AF65-F5344CB8AC3E}">
        <p14:creationId xmlns:p14="http://schemas.microsoft.com/office/powerpoint/2010/main" val="666828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p:spPr>
      </p:sp>
      <p:sp>
        <p:nvSpPr>
          <p:cNvPr id="4403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dirty="0" smtClean="0"/>
          </a:p>
        </p:txBody>
      </p:sp>
      <p:sp>
        <p:nvSpPr>
          <p:cNvPr id="4" name="Slide Number Placeholder 3"/>
          <p:cNvSpPr>
            <a:spLocks noGrp="1"/>
          </p:cNvSpPr>
          <p:nvPr>
            <p:ph type="sldNum" sz="quarter" idx="5"/>
          </p:nvPr>
        </p:nvSpPr>
        <p:spPr/>
        <p:txBody>
          <a:bodyPr/>
          <a:lstStyle/>
          <a:p>
            <a:pPr>
              <a:defRPr/>
            </a:pPr>
            <a:fld id="{D0174A1A-7073-45AD-9BD9-1F87B284C96F}" type="slidenum">
              <a:rPr lang="en-US" smtClean="0"/>
              <a:pPr>
                <a:defRPr/>
              </a:pPr>
              <a:t>50</a:t>
            </a:fld>
            <a:endParaRPr lang="en-US" dirty="0"/>
          </a:p>
        </p:txBody>
      </p:sp>
    </p:spTree>
    <p:extLst>
      <p:ext uri="{BB962C8B-B14F-4D97-AF65-F5344CB8AC3E}">
        <p14:creationId xmlns:p14="http://schemas.microsoft.com/office/powerpoint/2010/main" val="326459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dirty="0"/>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400" b="1"/>
            </a:lvl1pPr>
          </a:lstStyle>
          <a:p>
            <a:r>
              <a:rPr kumimoji="0" lang="en-US" dirty="0" smtClean="0"/>
              <a:t>Click to edit Master title style</a:t>
            </a:r>
            <a:endParaRPr kumimoji="0"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8" name="Content Placeholder 7"/>
          <p:cNvSpPr>
            <a:spLocks noGrp="1"/>
          </p:cNvSpPr>
          <p:nvPr>
            <p:ph sz="quarter" idx="1"/>
          </p:nvPr>
        </p:nvSpPr>
        <p:spPr>
          <a:xfrm>
            <a:off x="914400" y="1447800"/>
            <a:ext cx="7772400" cy="4572000"/>
          </a:xfrm>
        </p:spPr>
        <p:txBody>
          <a:bodyPr vert="horz">
            <a:normAutofit/>
          </a:bodyPr>
          <a:lstStyle>
            <a:lvl1pPr>
              <a:defRPr sz="3200"/>
            </a:lvl1pPr>
            <a:lvl2pPr>
              <a:defRPr sz="3200"/>
            </a:lvl2pPr>
            <a:lvl3pPr>
              <a:defRPr sz="2800"/>
            </a:lvl3pPr>
            <a:lvl4pPr>
              <a:defRPr sz="2800"/>
            </a:lvl4pPr>
            <a:lvl5pPr>
              <a:defRPr sz="2800"/>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800100" y="6172200"/>
            <a:ext cx="4000500" cy="457200"/>
          </a:xfrm>
        </p:spPr>
        <p:txBody>
          <a:bodyPr/>
          <a:lstStyle/>
          <a:p>
            <a:endParaRPr lang="en-US" dirty="0"/>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kumimoji="0" lang="en-US" dirty="0" smtClean="0"/>
              <a:t>Click to edit Master title style</a:t>
            </a:r>
            <a:endParaRPr kumimoji="0"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a:xfrm>
            <a:off x="914400" y="6172200"/>
            <a:ext cx="3886200" cy="457200"/>
          </a:xfrm>
        </p:spPr>
        <p:txBody>
          <a:bodyPr/>
          <a:lstStyle/>
          <a:p>
            <a:endParaRPr lang="en-US" dirty="0"/>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dirty="0"/>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dirty="0"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youtube.com/watch?v=8PdmNbqtDdI" TargetMode="External"/><Relationship Id="rId2" Type="http://schemas.openxmlformats.org/officeDocument/2006/relationships/hyperlink" Target="http://www.youtube.com/watch?v=fF_YvY7jfi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www.youtube.com/watch?v=D3pDWt7GntI&amp;list=TLGTRcVQV3bMYFfO425as_gg61sWV0ecmm"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en-GB" sz="4000" b="1" dirty="0" smtClean="0"/>
              <a:t>Lecturer: Orla Gregory</a:t>
            </a:r>
            <a:endParaRPr lang="en-US" sz="4000" b="1" dirty="0"/>
          </a:p>
        </p:txBody>
      </p:sp>
      <p:sp>
        <p:nvSpPr>
          <p:cNvPr id="2" name="Title 1"/>
          <p:cNvSpPr>
            <a:spLocks noGrp="1"/>
          </p:cNvSpPr>
          <p:nvPr>
            <p:ph type="ctrTitle"/>
          </p:nvPr>
        </p:nvSpPr>
        <p:spPr/>
        <p:txBody>
          <a:bodyPr>
            <a:normAutofit/>
          </a:bodyPr>
          <a:lstStyle/>
          <a:p>
            <a:r>
              <a:rPr lang="en-GB" sz="5400" dirty="0" smtClean="0"/>
              <a:t>History of Management</a:t>
            </a:r>
            <a:endParaRPr lang="en-US" sz="5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smtClean="0"/>
              <a:t>Areas discussed include ….</a:t>
            </a:r>
            <a:endParaRPr lang="en-US"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2</a:t>
            </a:fld>
            <a:endParaRPr lang="en-US" dirty="0"/>
          </a:p>
        </p:txBody>
      </p:sp>
      <p:sp>
        <p:nvSpPr>
          <p:cNvPr id="4" name="Content Placeholder 3"/>
          <p:cNvSpPr>
            <a:spLocks noGrp="1"/>
          </p:cNvSpPr>
          <p:nvPr>
            <p:ph sz="quarter" idx="1"/>
          </p:nvPr>
        </p:nvSpPr>
        <p:spPr>
          <a:xfrm>
            <a:off x="914400" y="1676400"/>
            <a:ext cx="7772400" cy="4343400"/>
          </a:xfrm>
        </p:spPr>
        <p:txBody>
          <a:bodyPr>
            <a:normAutofit fontScale="85000" lnSpcReduction="10000"/>
          </a:bodyPr>
          <a:lstStyle/>
          <a:p>
            <a:pPr marL="342900" indent="-342900">
              <a:buFont typeface="Arial" charset="0"/>
              <a:buChar char="•"/>
            </a:pPr>
            <a:r>
              <a:rPr lang="en-US" b="1" dirty="0" smtClean="0"/>
              <a:t>Describing </a:t>
            </a:r>
            <a:r>
              <a:rPr lang="en-US" dirty="0" smtClean="0"/>
              <a:t>some early management examples.</a:t>
            </a:r>
          </a:p>
          <a:p>
            <a:pPr marL="342900" indent="-342900">
              <a:buFont typeface="Arial" charset="0"/>
              <a:buChar char="•"/>
            </a:pPr>
            <a:endParaRPr lang="en-US" sz="2100" b="1" dirty="0" smtClean="0"/>
          </a:p>
          <a:p>
            <a:pPr marL="342900" indent="-342900">
              <a:buFont typeface="Arial" charset="0"/>
              <a:buChar char="•"/>
            </a:pPr>
            <a:r>
              <a:rPr lang="en-US" b="1" dirty="0" smtClean="0"/>
              <a:t>Explaining </a:t>
            </a:r>
            <a:r>
              <a:rPr lang="en-US" dirty="0" smtClean="0"/>
              <a:t>the various theories in the classical approach.</a:t>
            </a:r>
          </a:p>
          <a:p>
            <a:pPr marL="342900" indent="-342900">
              <a:buFont typeface="Arial" charset="0"/>
              <a:buChar char="•"/>
            </a:pPr>
            <a:endParaRPr lang="en-US" sz="2100" b="1" dirty="0" smtClean="0"/>
          </a:p>
          <a:p>
            <a:pPr marL="342900" indent="-342900">
              <a:buFont typeface="Arial" charset="0"/>
              <a:buChar char="•"/>
            </a:pPr>
            <a:r>
              <a:rPr lang="en-US" b="1" dirty="0" smtClean="0"/>
              <a:t>Discussing </a:t>
            </a:r>
            <a:r>
              <a:rPr lang="en-US" dirty="0" smtClean="0"/>
              <a:t>the</a:t>
            </a:r>
            <a:r>
              <a:rPr lang="en-US" b="1" dirty="0" smtClean="0"/>
              <a:t> </a:t>
            </a:r>
            <a:r>
              <a:rPr lang="en-US" dirty="0" smtClean="0"/>
              <a:t>development and uses of the behavioral approach.</a:t>
            </a:r>
          </a:p>
          <a:p>
            <a:pPr marL="342900" indent="-342900">
              <a:buFont typeface="Arial" charset="0"/>
              <a:buChar char="•"/>
            </a:pPr>
            <a:endParaRPr lang="en-US" sz="2100" b="1" dirty="0" smtClean="0"/>
          </a:p>
          <a:p>
            <a:pPr marL="342900" indent="-342900">
              <a:buFont typeface="Arial" charset="0"/>
              <a:buChar char="•"/>
            </a:pPr>
            <a:r>
              <a:rPr lang="en-US" b="1" dirty="0" smtClean="0"/>
              <a:t>Describing </a:t>
            </a:r>
            <a:r>
              <a:rPr lang="en-US" dirty="0" smtClean="0"/>
              <a:t>the</a:t>
            </a:r>
            <a:r>
              <a:rPr lang="en-US" b="1" dirty="0" smtClean="0"/>
              <a:t> </a:t>
            </a:r>
            <a:r>
              <a:rPr lang="en-US" dirty="0" smtClean="0"/>
              <a:t>quantitative approach.</a:t>
            </a:r>
          </a:p>
          <a:p>
            <a:pPr marL="342900" indent="-342900">
              <a:buFont typeface="Arial" charset="0"/>
              <a:buChar char="•"/>
            </a:pPr>
            <a:endParaRPr lang="en-US" sz="2100" b="1" dirty="0" smtClean="0"/>
          </a:p>
          <a:p>
            <a:pPr marL="342900" indent="-342900">
              <a:buFont typeface="Arial" charset="0"/>
              <a:buChar char="•"/>
            </a:pPr>
            <a:r>
              <a:rPr lang="en-US" b="1" dirty="0" smtClean="0"/>
              <a:t>Explaining </a:t>
            </a:r>
            <a:r>
              <a:rPr lang="en-US" dirty="0" smtClean="0"/>
              <a:t>the various theories in the contemporary approach to management.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Video Links</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a:t>
            </a:fld>
            <a:endParaRPr lang="en-US" dirty="0"/>
          </a:p>
        </p:txBody>
      </p:sp>
      <p:sp>
        <p:nvSpPr>
          <p:cNvPr id="4" name="Content Placeholder 3"/>
          <p:cNvSpPr>
            <a:spLocks noGrp="1"/>
          </p:cNvSpPr>
          <p:nvPr>
            <p:ph sz="quarter" idx="1"/>
          </p:nvPr>
        </p:nvSpPr>
        <p:spPr/>
        <p:txBody>
          <a:bodyPr/>
          <a:lstStyle/>
          <a:p>
            <a:r>
              <a:rPr lang="en-GB" dirty="0" smtClean="0">
                <a:hlinkClick r:id="rId2"/>
              </a:rPr>
              <a:t>History of Management (3.15 </a:t>
            </a:r>
            <a:r>
              <a:rPr lang="en-GB" dirty="0" err="1" smtClean="0">
                <a:hlinkClick r:id="rId2"/>
              </a:rPr>
              <a:t>mins</a:t>
            </a:r>
            <a:r>
              <a:rPr lang="en-GB" dirty="0" smtClean="0">
                <a:hlinkClick r:id="rId2"/>
              </a:rPr>
              <a:t>) http://www.youtube.com/watch?v=fF_YvY7jfiE</a:t>
            </a:r>
            <a:endParaRPr lang="en-US" dirty="0" smtClean="0">
              <a:hlinkClick r:id="rId2"/>
            </a:endParaRPr>
          </a:p>
          <a:p>
            <a:r>
              <a:rPr lang="en-US" dirty="0" smtClean="0">
                <a:hlinkClick r:id="rId3"/>
              </a:rPr>
              <a:t>Ford &amp; Scientific Management (7.23 </a:t>
            </a:r>
            <a:r>
              <a:rPr lang="en-US" dirty="0" err="1" smtClean="0">
                <a:hlinkClick r:id="rId3"/>
              </a:rPr>
              <a:t>mins</a:t>
            </a:r>
            <a:r>
              <a:rPr lang="en-US" dirty="0" smtClean="0">
                <a:hlinkClick r:id="rId3"/>
              </a:rPr>
              <a:t>)</a:t>
            </a:r>
            <a:endParaRPr lang="en-US" dirty="0" smtClean="0"/>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1325562"/>
          </a:xfrm>
        </p:spPr>
        <p:txBody>
          <a:bodyPr/>
          <a:lstStyle/>
          <a:p>
            <a:r>
              <a:rPr lang="en-GB" dirty="0" smtClean="0"/>
              <a:t>Introduction</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a:t>
            </a:fld>
            <a:endParaRPr lang="en-US" dirty="0"/>
          </a:p>
        </p:txBody>
      </p:sp>
      <p:sp>
        <p:nvSpPr>
          <p:cNvPr id="4" name="Content Placeholder 3"/>
          <p:cNvSpPr>
            <a:spLocks noGrp="1"/>
          </p:cNvSpPr>
          <p:nvPr>
            <p:ph sz="quarter" idx="1"/>
          </p:nvPr>
        </p:nvSpPr>
        <p:spPr>
          <a:xfrm>
            <a:off x="914400" y="2057400"/>
            <a:ext cx="7772400" cy="4572000"/>
          </a:xfrm>
        </p:spPr>
        <p:txBody>
          <a:bodyPr>
            <a:normAutofit fontScale="85000" lnSpcReduction="20000"/>
          </a:bodyPr>
          <a:lstStyle/>
          <a:p>
            <a:r>
              <a:rPr lang="en-US" dirty="0" smtClean="0"/>
              <a:t>Since the birth of modern management theory in the early 1900s, management experts have developed theories to help organisations and their managers coordinate and oversee work activities as effectively and efficiently as possible.</a:t>
            </a:r>
          </a:p>
          <a:p>
            <a:endParaRPr lang="en-US" sz="1900" dirty="0" smtClean="0"/>
          </a:p>
          <a:p>
            <a:r>
              <a:rPr lang="en-US" dirty="0" smtClean="0"/>
              <a:t>In reviewing the history of modern management, it  is possible to explore the evolution of management thought and practice during the twentieth century. </a:t>
            </a:r>
          </a:p>
          <a:p>
            <a:endParaRPr lang="en-US" sz="1900" dirty="0" smtClean="0"/>
          </a:p>
          <a:p>
            <a:r>
              <a:rPr lang="en-US" dirty="0" smtClean="0"/>
              <a:t>By having a knowledge of management history, it can help us better understand current management practices while avoiding some mistakes of the past.</a:t>
            </a:r>
          </a:p>
          <a:p>
            <a:endParaRPr lang="en-US" dirty="0"/>
          </a:p>
        </p:txBody>
      </p:sp>
      <p:pic>
        <p:nvPicPr>
          <p:cNvPr id="1026" name="Picture 2" descr="http://www.become-better.com/wp-content/uploads/2012/08/become-better-sign1.jpg"/>
          <p:cNvPicPr>
            <a:picLocks noChangeAspect="1" noChangeArrowheads="1"/>
          </p:cNvPicPr>
          <p:nvPr/>
        </p:nvPicPr>
        <p:blipFill>
          <a:blip r:embed="rId2" cstate="print"/>
          <a:srcRect/>
          <a:stretch>
            <a:fillRect/>
          </a:stretch>
        </p:blipFill>
        <p:spPr bwMode="auto">
          <a:xfrm>
            <a:off x="6477000" y="0"/>
            <a:ext cx="2667000" cy="1897988"/>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http://img.timeinc.net/time/photoessays/2008/beijing_travel/great_wall_beijing.jpg"/>
          <p:cNvPicPr>
            <a:picLocks noChangeAspect="1" noChangeArrowheads="1"/>
          </p:cNvPicPr>
          <p:nvPr/>
        </p:nvPicPr>
        <p:blipFill>
          <a:blip r:embed="rId2" cstate="print"/>
          <a:srcRect/>
          <a:stretch>
            <a:fillRect/>
          </a:stretch>
        </p:blipFill>
        <p:spPr bwMode="auto">
          <a:xfrm>
            <a:off x="6200775" y="3124200"/>
            <a:ext cx="2943225" cy="1648207"/>
          </a:xfrm>
          <a:prstGeom prst="rect">
            <a:avLst/>
          </a:prstGeom>
          <a:noFill/>
        </p:spPr>
      </p:pic>
      <p:pic>
        <p:nvPicPr>
          <p:cNvPr id="2050" name="Picture 2" descr="http://resources.woodlands-junior.kent.sch.uk/homework/egypt/images/sp.jpg"/>
          <p:cNvPicPr>
            <a:picLocks noChangeAspect="1" noChangeArrowheads="1"/>
          </p:cNvPicPr>
          <p:nvPr/>
        </p:nvPicPr>
        <p:blipFill>
          <a:blip r:embed="rId3" cstate="print">
            <a:lum contrast="30000"/>
          </a:blip>
          <a:srcRect/>
          <a:stretch>
            <a:fillRect/>
          </a:stretch>
        </p:blipFill>
        <p:spPr bwMode="auto">
          <a:xfrm>
            <a:off x="6324600" y="0"/>
            <a:ext cx="2819400" cy="1752600"/>
          </a:xfrm>
          <a:prstGeom prst="rect">
            <a:avLst/>
          </a:prstGeom>
          <a:noFill/>
        </p:spPr>
      </p:pic>
      <p:sp>
        <p:nvSpPr>
          <p:cNvPr id="2" name="Title 1"/>
          <p:cNvSpPr>
            <a:spLocks noGrp="1"/>
          </p:cNvSpPr>
          <p:nvPr>
            <p:ph type="title"/>
          </p:nvPr>
        </p:nvSpPr>
        <p:spPr>
          <a:xfrm>
            <a:off x="533400" y="274638"/>
            <a:ext cx="6019800" cy="1096962"/>
          </a:xfrm>
        </p:spPr>
        <p:txBody>
          <a:bodyPr>
            <a:noAutofit/>
          </a:bodyPr>
          <a:lstStyle/>
          <a:p>
            <a:r>
              <a:rPr lang="en-US" sz="3800" dirty="0" smtClean="0">
                <a:solidFill>
                  <a:schemeClr val="tx1">
                    <a:lumMod val="50000"/>
                    <a:lumOff val="50000"/>
                  </a:schemeClr>
                </a:solidFill>
              </a:rPr>
              <a:t>Historical Background of Management</a:t>
            </a:r>
            <a:endParaRPr lang="en-US" sz="38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5</a:t>
            </a:fld>
            <a:endParaRPr lang="en-US" dirty="0"/>
          </a:p>
        </p:txBody>
      </p:sp>
      <p:sp>
        <p:nvSpPr>
          <p:cNvPr id="4" name="Content Placeholder 3"/>
          <p:cNvSpPr>
            <a:spLocks noGrp="1"/>
          </p:cNvSpPr>
          <p:nvPr>
            <p:ph sz="quarter" idx="1"/>
          </p:nvPr>
        </p:nvSpPr>
        <p:spPr>
          <a:xfrm>
            <a:off x="762000" y="1371600"/>
            <a:ext cx="7924800" cy="5486400"/>
          </a:xfrm>
        </p:spPr>
        <p:txBody>
          <a:bodyPr>
            <a:normAutofit fontScale="70000" lnSpcReduction="20000"/>
          </a:bodyPr>
          <a:lstStyle/>
          <a:p>
            <a:r>
              <a:rPr lang="en-US" sz="3700" dirty="0" smtClean="0"/>
              <a:t>Organisations and managers have                                      existed for thousands of years</a:t>
            </a:r>
            <a:r>
              <a:rPr lang="en-US" sz="3600" dirty="0" smtClean="0"/>
              <a:t>. </a:t>
            </a:r>
          </a:p>
          <a:p>
            <a:endParaRPr lang="en-US" sz="1300" dirty="0" smtClean="0"/>
          </a:p>
          <a:p>
            <a:r>
              <a:rPr lang="en-US" sz="3700" dirty="0" smtClean="0"/>
              <a:t>The Egyptian Pyramids and the Great Wall of China were projects of tremendous scope and magnitude, requiring the efforts of tens of thousands of people. </a:t>
            </a:r>
          </a:p>
          <a:p>
            <a:endParaRPr lang="en-US" sz="1400" dirty="0" smtClean="0"/>
          </a:p>
          <a:p>
            <a:r>
              <a:rPr lang="en-US" sz="3700" dirty="0" smtClean="0"/>
              <a:t>How was it possible for these projects                                     to be completed successfully? </a:t>
            </a:r>
          </a:p>
          <a:p>
            <a:endParaRPr lang="en-US" sz="1300" dirty="0" smtClean="0"/>
          </a:p>
          <a:p>
            <a:r>
              <a:rPr lang="en-US" sz="3700" dirty="0" smtClean="0"/>
              <a:t>The answer is </a:t>
            </a:r>
            <a:r>
              <a:rPr lang="en-US" sz="3700" b="1" i="1" dirty="0" smtClean="0"/>
              <a:t>MANAGEMENT!</a:t>
            </a:r>
            <a:endParaRPr lang="en-US" sz="3700" dirty="0" smtClean="0"/>
          </a:p>
          <a:p>
            <a:endParaRPr lang="en-US" sz="1400" dirty="0" smtClean="0"/>
          </a:p>
          <a:p>
            <a:r>
              <a:rPr lang="en-US" sz="3600" dirty="0" smtClean="0"/>
              <a:t>Regardless of the titles given to managers throughout history, someone has always had to plan what needs to be accomplished, </a:t>
            </a:r>
            <a:r>
              <a:rPr lang="en-US" sz="3600" dirty="0" err="1" smtClean="0"/>
              <a:t>organise</a:t>
            </a:r>
            <a:r>
              <a:rPr lang="en-US" sz="3600" dirty="0" smtClean="0"/>
              <a:t> people and materials, lead and direct workers, and impose controls to ensure that goals were attained as planned.</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6" name="Picture 4" descr="http://upload.wikimedia.org/wikipedia/commons/d/d1/Campo_de_l'Arsenal.jpg"/>
          <p:cNvPicPr>
            <a:picLocks noChangeAspect="1" noChangeArrowheads="1"/>
          </p:cNvPicPr>
          <p:nvPr/>
        </p:nvPicPr>
        <p:blipFill>
          <a:blip r:embed="rId2" cstate="print"/>
          <a:srcRect/>
          <a:stretch>
            <a:fillRect/>
          </a:stretch>
        </p:blipFill>
        <p:spPr bwMode="auto">
          <a:xfrm>
            <a:off x="5867400" y="0"/>
            <a:ext cx="3276600" cy="1905000"/>
          </a:xfrm>
          <a:prstGeom prst="rect">
            <a:avLst/>
          </a:prstGeom>
          <a:noFill/>
        </p:spPr>
      </p:pic>
      <p:sp>
        <p:nvSpPr>
          <p:cNvPr id="2" name="Title 1"/>
          <p:cNvSpPr>
            <a:spLocks noGrp="1"/>
          </p:cNvSpPr>
          <p:nvPr>
            <p:ph type="title"/>
          </p:nvPr>
        </p:nvSpPr>
        <p:spPr>
          <a:xfrm>
            <a:off x="762000" y="274638"/>
            <a:ext cx="5029200" cy="1401762"/>
          </a:xfrm>
        </p:spPr>
        <p:txBody>
          <a:bodyPr>
            <a:noAutofit/>
          </a:bodyPr>
          <a:lstStyle/>
          <a:p>
            <a:r>
              <a:rPr lang="en-US" sz="4000" dirty="0" smtClean="0">
                <a:solidFill>
                  <a:schemeClr val="tx1">
                    <a:lumMod val="50000"/>
                    <a:lumOff val="50000"/>
                  </a:schemeClr>
                </a:solidFill>
              </a:rPr>
              <a:t>Historical Background of Management</a:t>
            </a:r>
            <a:endParaRPr lang="en-US" sz="40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6</a:t>
            </a:fld>
            <a:endParaRPr lang="en-US" dirty="0"/>
          </a:p>
        </p:txBody>
      </p:sp>
      <p:sp>
        <p:nvSpPr>
          <p:cNvPr id="4" name="Content Placeholder 3"/>
          <p:cNvSpPr>
            <a:spLocks noGrp="1"/>
          </p:cNvSpPr>
          <p:nvPr>
            <p:ph sz="quarter" idx="1"/>
          </p:nvPr>
        </p:nvSpPr>
        <p:spPr>
          <a:xfrm>
            <a:off x="533400" y="1905000"/>
            <a:ext cx="7772400" cy="4724400"/>
          </a:xfrm>
        </p:spPr>
        <p:txBody>
          <a:bodyPr>
            <a:normAutofit fontScale="85000" lnSpcReduction="20000"/>
          </a:bodyPr>
          <a:lstStyle/>
          <a:p>
            <a:r>
              <a:rPr lang="en-US" dirty="0" smtClean="0"/>
              <a:t>Examples of early management practices can also be seen by studying the Arsenal of Venice. </a:t>
            </a:r>
          </a:p>
          <a:p>
            <a:pPr lvl="2"/>
            <a:r>
              <a:rPr lang="en-GB" dirty="0" smtClean="0"/>
              <a:t>The Venetian Arsenal was a complex of state owned shipyards and </a:t>
            </a:r>
            <a:r>
              <a:rPr lang="en-GB" dirty="0" err="1" smtClean="0"/>
              <a:t>armories</a:t>
            </a:r>
            <a:r>
              <a:rPr lang="en-GB" dirty="0" smtClean="0"/>
              <a:t>, clustered together in the Republic of Venice.</a:t>
            </a:r>
          </a:p>
          <a:p>
            <a:pPr lvl="2"/>
            <a:r>
              <a:rPr lang="en-GB" dirty="0" smtClean="0"/>
              <a:t>It was responsible for the bulk of Venice's naval power during the middle part of the second millennium AD. </a:t>
            </a:r>
          </a:p>
          <a:p>
            <a:pPr lvl="2"/>
            <a:r>
              <a:rPr lang="en-GB" dirty="0" smtClean="0"/>
              <a:t>It was one of the earliest large-scale industrial enterprises in history.</a:t>
            </a:r>
            <a:endParaRPr lang="en-US" dirty="0" smtClean="0"/>
          </a:p>
          <a:p>
            <a:endParaRPr lang="en-US" dirty="0" smtClean="0"/>
          </a:p>
          <a:p>
            <a:r>
              <a:rPr lang="en-US" dirty="0" smtClean="0"/>
              <a:t>Assembly lines, accounting systems, and personnel functions are only a few of the processes and activities used in business in the fifteenth century that are common to today’s organisations as well.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8" name="Picture 10" descr="http://www.sviokla.com/wp-content/uploads/2009/09/taylorism.jpg"/>
          <p:cNvPicPr>
            <a:picLocks noChangeAspect="1" noChangeArrowheads="1"/>
          </p:cNvPicPr>
          <p:nvPr/>
        </p:nvPicPr>
        <p:blipFill>
          <a:blip r:embed="rId2" cstate="print"/>
          <a:srcRect/>
          <a:stretch>
            <a:fillRect/>
          </a:stretch>
        </p:blipFill>
        <p:spPr bwMode="auto">
          <a:xfrm>
            <a:off x="0" y="3419474"/>
            <a:ext cx="4400550" cy="3438526"/>
          </a:xfrm>
          <a:prstGeom prst="rect">
            <a:avLst/>
          </a:prstGeom>
          <a:noFill/>
        </p:spPr>
      </p:pic>
      <p:pic>
        <p:nvPicPr>
          <p:cNvPr id="58374" name="Picture 6" descr="http://ozgurzan.files.wordpress.com/2011/01/adam-smith.jpg"/>
          <p:cNvPicPr>
            <a:picLocks noChangeAspect="1" noChangeArrowheads="1"/>
          </p:cNvPicPr>
          <p:nvPr/>
        </p:nvPicPr>
        <p:blipFill>
          <a:blip r:embed="rId3" cstate="print"/>
          <a:srcRect/>
          <a:stretch>
            <a:fillRect/>
          </a:stretch>
        </p:blipFill>
        <p:spPr bwMode="auto">
          <a:xfrm>
            <a:off x="7086600" y="0"/>
            <a:ext cx="2057400" cy="1447800"/>
          </a:xfrm>
          <a:prstGeom prst="rect">
            <a:avLst/>
          </a:prstGeom>
          <a:noFill/>
        </p:spPr>
      </p:pic>
      <p:pic>
        <p:nvPicPr>
          <p:cNvPr id="58376" name="Picture 8" descr="http://3.bp.blogspot.com/-hJUYM8Pn1iw/T0GDwXMcmNI/AAAAAAAAEKQ/f4HStqXubz4/s1600/sweatshop.jpg"/>
          <p:cNvPicPr>
            <a:picLocks noChangeAspect="1" noChangeArrowheads="1"/>
          </p:cNvPicPr>
          <p:nvPr/>
        </p:nvPicPr>
        <p:blipFill>
          <a:blip r:embed="rId4" cstate="print"/>
          <a:srcRect/>
          <a:stretch>
            <a:fillRect/>
          </a:stretch>
        </p:blipFill>
        <p:spPr bwMode="auto">
          <a:xfrm>
            <a:off x="4191000" y="3505200"/>
            <a:ext cx="4953000" cy="3352800"/>
          </a:xfrm>
          <a:prstGeom prst="rect">
            <a:avLst/>
          </a:prstGeom>
          <a:noFill/>
        </p:spPr>
      </p:pic>
      <p:sp>
        <p:nvSpPr>
          <p:cNvPr id="2" name="Title 1"/>
          <p:cNvSpPr>
            <a:spLocks noGrp="1"/>
          </p:cNvSpPr>
          <p:nvPr>
            <p:ph type="title"/>
          </p:nvPr>
        </p:nvSpPr>
        <p:spPr>
          <a:xfrm>
            <a:off x="762000" y="274638"/>
            <a:ext cx="5638800" cy="1096962"/>
          </a:xfrm>
        </p:spPr>
        <p:txBody>
          <a:bodyPr>
            <a:noAutofit/>
          </a:bodyPr>
          <a:lstStyle/>
          <a:p>
            <a:r>
              <a:rPr lang="en-US" sz="3600" dirty="0" smtClean="0">
                <a:solidFill>
                  <a:schemeClr val="tx1">
                    <a:lumMod val="50000"/>
                    <a:lumOff val="50000"/>
                  </a:schemeClr>
                </a:solidFill>
              </a:rPr>
              <a:t>Historical Background of Management</a:t>
            </a:r>
            <a:endParaRPr lang="en-US" sz="36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7</a:t>
            </a:fld>
            <a:endParaRPr lang="en-US" dirty="0"/>
          </a:p>
        </p:txBody>
      </p:sp>
      <p:sp>
        <p:nvSpPr>
          <p:cNvPr id="4" name="Content Placeholder 3"/>
          <p:cNvSpPr>
            <a:spLocks noGrp="1"/>
          </p:cNvSpPr>
          <p:nvPr>
            <p:ph sz="quarter" idx="1"/>
          </p:nvPr>
        </p:nvSpPr>
        <p:spPr>
          <a:xfrm>
            <a:off x="838200" y="1524000"/>
            <a:ext cx="7772400" cy="2133600"/>
          </a:xfrm>
        </p:spPr>
        <p:txBody>
          <a:bodyPr>
            <a:normAutofit fontScale="77500" lnSpcReduction="20000"/>
          </a:bodyPr>
          <a:lstStyle/>
          <a:p>
            <a:pPr hangingPunct="0"/>
            <a:r>
              <a:rPr lang="en-US" sz="3000" i="1" dirty="0" smtClean="0"/>
              <a:t>Adam Smith, </a:t>
            </a:r>
            <a:r>
              <a:rPr lang="en-US" sz="3000" dirty="0" smtClean="0"/>
              <a:t>author of the classical economics doctrine </a:t>
            </a:r>
            <a:r>
              <a:rPr lang="en-US" sz="3000" i="1" dirty="0" smtClean="0"/>
              <a:t>The Wealth of Nations</a:t>
            </a:r>
            <a:r>
              <a:rPr lang="en-US" sz="3000" dirty="0" smtClean="0"/>
              <a:t>.</a:t>
            </a:r>
          </a:p>
          <a:p>
            <a:pPr hangingPunct="0"/>
            <a:endParaRPr lang="en-US" sz="600" dirty="0" smtClean="0"/>
          </a:p>
          <a:p>
            <a:pPr hangingPunct="0"/>
            <a:r>
              <a:rPr lang="en-US" sz="3000" dirty="0" smtClean="0"/>
              <a:t>He argued brilliantly for the economic advantages that he believed </a:t>
            </a:r>
            <a:r>
              <a:rPr lang="en-US" sz="3000" b="1" dirty="0" smtClean="0"/>
              <a:t>division of labor </a:t>
            </a:r>
            <a:r>
              <a:rPr lang="en-US" sz="3000" dirty="0" smtClean="0"/>
              <a:t>(the breakdown of jobs into narrow, repetitive tasks) would bring to organisations and society.</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apushchapter24.weebly.com/uploads/1/0/3/2/10327352/4152952_orig.jpg"/>
          <p:cNvPicPr>
            <a:picLocks noChangeAspect="1" noChangeArrowheads="1"/>
          </p:cNvPicPr>
          <p:nvPr/>
        </p:nvPicPr>
        <p:blipFill>
          <a:blip r:embed="rId2" cstate="print"/>
          <a:srcRect/>
          <a:stretch>
            <a:fillRect/>
          </a:stretch>
        </p:blipFill>
        <p:spPr bwMode="auto">
          <a:xfrm>
            <a:off x="381000" y="4114800"/>
            <a:ext cx="4800600" cy="2514600"/>
          </a:xfrm>
          <a:prstGeom prst="rect">
            <a:avLst/>
          </a:prstGeom>
          <a:noFill/>
        </p:spPr>
      </p:pic>
      <p:sp>
        <p:nvSpPr>
          <p:cNvPr id="2" name="Title 1"/>
          <p:cNvSpPr>
            <a:spLocks noGrp="1"/>
          </p:cNvSpPr>
          <p:nvPr>
            <p:ph type="title"/>
          </p:nvPr>
        </p:nvSpPr>
        <p:spPr>
          <a:xfrm>
            <a:off x="914400" y="274638"/>
            <a:ext cx="8077200" cy="868362"/>
          </a:xfrm>
        </p:spPr>
        <p:txBody>
          <a:bodyPr>
            <a:normAutofit/>
          </a:bodyPr>
          <a:lstStyle/>
          <a:p>
            <a:r>
              <a:rPr lang="en-US" sz="3600" dirty="0" smtClean="0">
                <a:solidFill>
                  <a:schemeClr val="tx1">
                    <a:lumMod val="50000"/>
                    <a:lumOff val="50000"/>
                  </a:schemeClr>
                </a:solidFill>
              </a:rPr>
              <a:t>Historical Background of Management</a:t>
            </a:r>
            <a:endParaRPr lang="en-US" sz="36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8</a:t>
            </a:fld>
            <a:endParaRPr lang="en-US" dirty="0"/>
          </a:p>
        </p:txBody>
      </p:sp>
      <p:sp>
        <p:nvSpPr>
          <p:cNvPr id="4" name="Content Placeholder 3"/>
          <p:cNvSpPr>
            <a:spLocks noGrp="1"/>
          </p:cNvSpPr>
          <p:nvPr>
            <p:ph sz="quarter" idx="1"/>
          </p:nvPr>
        </p:nvSpPr>
        <p:spPr>
          <a:xfrm>
            <a:off x="914400" y="1219200"/>
            <a:ext cx="7772400" cy="2819400"/>
          </a:xfrm>
        </p:spPr>
        <p:txBody>
          <a:bodyPr>
            <a:normAutofit fontScale="92500" lnSpcReduction="20000"/>
          </a:bodyPr>
          <a:lstStyle/>
          <a:p>
            <a:pPr hangingPunct="0"/>
            <a:r>
              <a:rPr lang="en-US" sz="2600" dirty="0" smtClean="0"/>
              <a:t>The </a:t>
            </a:r>
            <a:r>
              <a:rPr lang="en-US" sz="2600" b="1" dirty="0" smtClean="0"/>
              <a:t>Industrial Revolution</a:t>
            </a:r>
            <a:r>
              <a:rPr lang="en-US" sz="2600" dirty="0" smtClean="0"/>
              <a:t> is possibly the most important pre-twentieth-century influence on management. </a:t>
            </a:r>
          </a:p>
          <a:p>
            <a:pPr lvl="1"/>
            <a:r>
              <a:rPr lang="en-US" sz="2600" dirty="0" smtClean="0"/>
              <a:t>Substituted machine power for human labor</a:t>
            </a:r>
          </a:p>
          <a:p>
            <a:pPr lvl="1"/>
            <a:r>
              <a:rPr lang="en-US" sz="2600" dirty="0" smtClean="0"/>
              <a:t>Created large organisations in need of management</a:t>
            </a:r>
          </a:p>
          <a:p>
            <a:pPr hangingPunct="0"/>
            <a:endParaRPr lang="en-US" sz="1500" dirty="0" smtClean="0"/>
          </a:p>
          <a:p>
            <a:pPr hangingPunct="0"/>
            <a:r>
              <a:rPr lang="en-US" sz="2600" dirty="0" smtClean="0"/>
              <a:t>The introduction of machine powers combined with the division of labor made large, efficient factories possible. Planning, </a:t>
            </a:r>
            <a:r>
              <a:rPr lang="en-US" sz="2600" dirty="0" err="1" smtClean="0"/>
              <a:t>organising</a:t>
            </a:r>
            <a:r>
              <a:rPr lang="en-US" sz="2600" dirty="0" smtClean="0"/>
              <a:t>, leading, and controlling became necessary activities.</a:t>
            </a:r>
          </a:p>
          <a:p>
            <a:endParaRPr lang="en-US" dirty="0"/>
          </a:p>
        </p:txBody>
      </p:sp>
      <p:pic>
        <p:nvPicPr>
          <p:cNvPr id="6" name="Picture 4" descr="http://www.cmegroup.com/stories/_files/images/02-advancements/advancements-industrial-revolution-panel-04.jpg"/>
          <p:cNvPicPr>
            <a:picLocks noChangeAspect="1" noChangeArrowheads="1"/>
          </p:cNvPicPr>
          <p:nvPr/>
        </p:nvPicPr>
        <p:blipFill>
          <a:blip r:embed="rId3" cstate="print"/>
          <a:srcRect/>
          <a:stretch>
            <a:fillRect/>
          </a:stretch>
        </p:blipFill>
        <p:spPr bwMode="auto">
          <a:xfrm>
            <a:off x="5334000" y="4267200"/>
            <a:ext cx="3581400" cy="236220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idx="4294967295"/>
          </p:nvPr>
        </p:nvSpPr>
        <p:spPr>
          <a:xfrm>
            <a:off x="381000" y="381000"/>
            <a:ext cx="8153400" cy="838200"/>
          </a:xfrm>
        </p:spPr>
        <p:txBody>
          <a:bodyPr>
            <a:normAutofit fontScale="90000"/>
          </a:bodyPr>
          <a:lstStyle/>
          <a:p>
            <a:pPr>
              <a:defRPr/>
            </a:pPr>
            <a:r>
              <a:rPr lang="en-US" b="1" dirty="0" smtClean="0">
                <a:solidFill>
                  <a:schemeClr val="tx1">
                    <a:lumMod val="50000"/>
                    <a:lumOff val="50000"/>
                  </a:schemeClr>
                </a:solidFill>
              </a:rPr>
              <a:t>Four</a:t>
            </a:r>
            <a:r>
              <a:rPr lang="en-US" sz="4000" b="1" dirty="0" smtClean="0">
                <a:solidFill>
                  <a:schemeClr val="tx1">
                    <a:lumMod val="50000"/>
                    <a:lumOff val="50000"/>
                  </a:schemeClr>
                </a:solidFill>
              </a:rPr>
              <a:t> Major Approaches to Management</a:t>
            </a:r>
            <a:br>
              <a:rPr lang="en-US" sz="4000" b="1" dirty="0" smtClean="0">
                <a:solidFill>
                  <a:schemeClr val="tx1">
                    <a:lumMod val="50000"/>
                    <a:lumOff val="50000"/>
                  </a:schemeClr>
                </a:solidFill>
              </a:rPr>
            </a:br>
            <a:r>
              <a:rPr lang="en-US" sz="1800" b="1" dirty="0" smtClean="0">
                <a:solidFill>
                  <a:schemeClr val="tx1">
                    <a:lumMod val="50000"/>
                    <a:lumOff val="50000"/>
                  </a:schemeClr>
                </a:solidFill>
              </a:rPr>
              <a:t>(Source: Robbins &amp; Coulter, 2014)</a:t>
            </a:r>
            <a:endParaRPr lang="en-US" sz="4000" b="1" dirty="0" smtClean="0">
              <a:solidFill>
                <a:schemeClr val="tx1">
                  <a:lumMod val="50000"/>
                  <a:lumOff val="50000"/>
                </a:schemeClr>
              </a:solidFill>
            </a:endParaRPr>
          </a:p>
        </p:txBody>
      </p:sp>
      <p:pic>
        <p:nvPicPr>
          <p:cNvPr id="10244" name="Picture 2"/>
          <p:cNvPicPr>
            <a:picLocks noChangeAspect="1" noChangeArrowheads="1"/>
          </p:cNvPicPr>
          <p:nvPr/>
        </p:nvPicPr>
        <p:blipFill>
          <a:blip r:embed="rId3" cstate="print"/>
          <a:srcRect/>
          <a:stretch>
            <a:fillRect/>
          </a:stretch>
        </p:blipFill>
        <p:spPr bwMode="auto">
          <a:xfrm>
            <a:off x="762000" y="1600200"/>
            <a:ext cx="7473122" cy="47244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B6F15528-21DE-4FAA-801E-634DDDAF4B2B}" type="slidenum">
              <a:rPr lang="en-US" smtClean="0"/>
              <a:pPr/>
              <a:t>9</a:t>
            </a:fld>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274638"/>
            <a:ext cx="7772400" cy="792162"/>
          </a:xfrm>
        </p:spPr>
        <p:txBody>
          <a:bodyPr>
            <a:normAutofit fontScale="90000"/>
          </a:bodyPr>
          <a:lstStyle/>
          <a:p>
            <a:r>
              <a:rPr lang="en-IE" dirty="0" smtClean="0"/>
              <a:t>Classical Approach</a:t>
            </a:r>
            <a:endParaRPr lang="en-IE"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10</a:t>
            </a:fld>
            <a:endParaRPr lang="en-US" dirty="0"/>
          </a:p>
        </p:txBody>
      </p:sp>
      <p:sp>
        <p:nvSpPr>
          <p:cNvPr id="4" name="Content Placeholder 3"/>
          <p:cNvSpPr>
            <a:spLocks noGrp="1"/>
          </p:cNvSpPr>
          <p:nvPr>
            <p:ph sz="quarter" idx="1"/>
          </p:nvPr>
        </p:nvSpPr>
        <p:spPr>
          <a:xfrm>
            <a:off x="685800" y="1219200"/>
            <a:ext cx="8001000" cy="5618018"/>
          </a:xfrm>
        </p:spPr>
        <p:txBody>
          <a:bodyPr>
            <a:normAutofit fontScale="77500" lnSpcReduction="20000"/>
          </a:bodyPr>
          <a:lstStyle/>
          <a:p>
            <a:r>
              <a:rPr lang="en-US" sz="3600" dirty="0" smtClean="0">
                <a:cs typeface="Arial" charset="0"/>
              </a:rPr>
              <a:t>The </a:t>
            </a:r>
            <a:r>
              <a:rPr lang="en-US" sz="3600" dirty="0">
                <a:cs typeface="Arial" charset="0"/>
              </a:rPr>
              <a:t>first studies of management, often called the </a:t>
            </a:r>
            <a:r>
              <a:rPr lang="en-US" sz="3600" b="1" dirty="0">
                <a:cs typeface="Arial" charset="0"/>
              </a:rPr>
              <a:t>classical approach</a:t>
            </a:r>
            <a:r>
              <a:rPr lang="en-US" sz="3600" dirty="0">
                <a:cs typeface="Arial" charset="0"/>
              </a:rPr>
              <a:t>, </a:t>
            </a:r>
            <a:r>
              <a:rPr lang="en-US" sz="3600" dirty="0" smtClean="0">
                <a:cs typeface="Arial" charset="0"/>
              </a:rPr>
              <a:t>emphasised </a:t>
            </a:r>
            <a:r>
              <a:rPr lang="en-US" sz="3600" dirty="0">
                <a:cs typeface="Arial" charset="0"/>
              </a:rPr>
              <a:t>rationality and making </a:t>
            </a:r>
            <a:r>
              <a:rPr lang="en-US" sz="3600" dirty="0" smtClean="0">
                <a:cs typeface="Arial" charset="0"/>
              </a:rPr>
              <a:t>organisations </a:t>
            </a:r>
            <a:r>
              <a:rPr lang="en-US" sz="3600" dirty="0">
                <a:cs typeface="Arial" charset="0"/>
              </a:rPr>
              <a:t>and workers as efficient as possible. </a:t>
            </a:r>
            <a:endParaRPr lang="en-US" sz="3600" dirty="0" smtClean="0">
              <a:cs typeface="Arial" charset="0"/>
            </a:endParaRPr>
          </a:p>
          <a:p>
            <a:endParaRPr lang="en-US" sz="2900" dirty="0">
              <a:cs typeface="Arial" charset="0"/>
            </a:endParaRPr>
          </a:p>
          <a:p>
            <a:r>
              <a:rPr lang="en-US" sz="3800" i="1" dirty="0" smtClean="0">
                <a:cs typeface="Arial" charset="0"/>
              </a:rPr>
              <a:t>Two </a:t>
            </a:r>
            <a:r>
              <a:rPr lang="en-US" sz="3800" i="1" dirty="0">
                <a:cs typeface="Arial" charset="0"/>
              </a:rPr>
              <a:t>major </a:t>
            </a:r>
            <a:r>
              <a:rPr lang="en-US" sz="3800" i="1" dirty="0" smtClean="0">
                <a:cs typeface="Arial" charset="0"/>
              </a:rPr>
              <a:t>theories;</a:t>
            </a:r>
          </a:p>
          <a:p>
            <a:endParaRPr lang="en-US" sz="500" dirty="0" smtClean="0">
              <a:cs typeface="Arial" charset="0"/>
            </a:endParaRPr>
          </a:p>
          <a:p>
            <a:r>
              <a:rPr lang="en-US" sz="3600" dirty="0" smtClean="0">
                <a:cs typeface="Arial" charset="0"/>
              </a:rPr>
              <a:t>(1) Scientific Management</a:t>
            </a:r>
          </a:p>
          <a:p>
            <a:pPr lvl="2"/>
            <a:r>
              <a:rPr lang="en-US" sz="3200" dirty="0" smtClean="0">
                <a:cs typeface="Arial" charset="0"/>
              </a:rPr>
              <a:t> </a:t>
            </a:r>
            <a:r>
              <a:rPr lang="en-US" sz="3500" dirty="0">
                <a:cs typeface="Arial" charset="0"/>
              </a:rPr>
              <a:t>The two most important contributors to scientific management theory were Frederick W. Taylor and the husband-wife team of Frank and Lillian Gilbreth</a:t>
            </a:r>
            <a:endParaRPr lang="en-US" sz="3500" dirty="0" smtClean="0">
              <a:cs typeface="Arial" charset="0"/>
            </a:endParaRPr>
          </a:p>
          <a:p>
            <a:endParaRPr lang="en-US" sz="2200" dirty="0" smtClean="0">
              <a:cs typeface="Arial" charset="0"/>
            </a:endParaRPr>
          </a:p>
          <a:p>
            <a:r>
              <a:rPr lang="en-US" sz="3600" dirty="0" smtClean="0">
                <a:cs typeface="Arial" charset="0"/>
              </a:rPr>
              <a:t>(2) </a:t>
            </a:r>
            <a:r>
              <a:rPr lang="en-US" sz="3600" dirty="0">
                <a:cs typeface="Arial" charset="0"/>
              </a:rPr>
              <a:t>G</a:t>
            </a:r>
            <a:r>
              <a:rPr lang="en-US" sz="3600" dirty="0" smtClean="0">
                <a:cs typeface="Arial" charset="0"/>
              </a:rPr>
              <a:t>eneral </a:t>
            </a:r>
            <a:r>
              <a:rPr lang="en-US" sz="3600" dirty="0">
                <a:cs typeface="Arial" charset="0"/>
              </a:rPr>
              <a:t>A</a:t>
            </a:r>
            <a:r>
              <a:rPr lang="en-US" sz="3600" dirty="0" smtClean="0">
                <a:cs typeface="Arial" charset="0"/>
              </a:rPr>
              <a:t>dministrative Theory</a:t>
            </a:r>
          </a:p>
          <a:p>
            <a:pPr lvl="1"/>
            <a:r>
              <a:rPr lang="en-US" sz="3500" dirty="0" smtClean="0">
                <a:cs typeface="Arial" charset="0"/>
              </a:rPr>
              <a:t>The </a:t>
            </a:r>
            <a:r>
              <a:rPr lang="en-US" sz="3500" dirty="0">
                <a:cs typeface="Arial" charset="0"/>
              </a:rPr>
              <a:t>two most important contributors to general administrative theory were Henri Fayol and Max Weber. </a:t>
            </a:r>
            <a:endParaRPr lang="en-US" sz="3500" dirty="0" smtClean="0">
              <a:cs typeface="Arial" charset="0"/>
            </a:endParaRPr>
          </a:p>
        </p:txBody>
      </p:sp>
    </p:spTree>
    <p:extLst>
      <p:ext uri="{BB962C8B-B14F-4D97-AF65-F5344CB8AC3E}">
        <p14:creationId xmlns:p14="http://schemas.microsoft.com/office/powerpoint/2010/main" val="23291659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944562"/>
          </a:xfrm>
        </p:spPr>
        <p:txBody>
          <a:bodyPr/>
          <a:lstStyle/>
          <a:p>
            <a:r>
              <a:rPr lang="en-US" dirty="0" smtClean="0">
                <a:solidFill>
                  <a:schemeClr val="tx1">
                    <a:lumMod val="50000"/>
                    <a:lumOff val="50000"/>
                  </a:schemeClr>
                </a:solidFill>
              </a:rPr>
              <a:t>Scientific Management</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11</a:t>
            </a:fld>
            <a:endParaRPr lang="en-US" dirty="0"/>
          </a:p>
        </p:txBody>
      </p:sp>
      <p:sp>
        <p:nvSpPr>
          <p:cNvPr id="4" name="Content Placeholder 3"/>
          <p:cNvSpPr>
            <a:spLocks noGrp="1"/>
          </p:cNvSpPr>
          <p:nvPr>
            <p:ph sz="quarter" idx="1"/>
          </p:nvPr>
        </p:nvSpPr>
        <p:spPr>
          <a:xfrm>
            <a:off x="685800" y="1600200"/>
            <a:ext cx="8001000" cy="5029200"/>
          </a:xfrm>
        </p:spPr>
        <p:txBody>
          <a:bodyPr>
            <a:noAutofit/>
          </a:bodyPr>
          <a:lstStyle/>
          <a:p>
            <a:pPr marL="342900" indent="-342900">
              <a:spcBef>
                <a:spcPct val="40000"/>
              </a:spcBef>
              <a:buFont typeface="Arial" charset="0"/>
              <a:buChar char="•"/>
            </a:pPr>
            <a:r>
              <a:rPr lang="en-US" sz="2400" b="1" dirty="0" smtClean="0"/>
              <a:t>The </a:t>
            </a:r>
            <a:r>
              <a:rPr lang="en-US" sz="2400" b="1" dirty="0" smtClean="0"/>
              <a:t>theory of Scientific Management</a:t>
            </a:r>
          </a:p>
          <a:p>
            <a:pPr marL="342900" indent="-342900">
              <a:spcBef>
                <a:spcPct val="40000"/>
              </a:spcBef>
              <a:buFont typeface="Arial" charset="0"/>
              <a:buChar char="•"/>
            </a:pPr>
            <a:r>
              <a:rPr lang="en-US" sz="2400" dirty="0" smtClean="0"/>
              <a:t>Using scientific methods to define the “one best way” for a job to be done:</a:t>
            </a:r>
          </a:p>
          <a:p>
            <a:pPr marL="891540" lvl="2" indent="-342900">
              <a:spcBef>
                <a:spcPts val="0"/>
              </a:spcBef>
              <a:buFont typeface="Arial" charset="0"/>
              <a:buChar char="•"/>
            </a:pPr>
            <a:r>
              <a:rPr lang="en-US" sz="2400" dirty="0" smtClean="0"/>
              <a:t>Putting the right person on the job with the correct tools and equipment,</a:t>
            </a:r>
          </a:p>
          <a:p>
            <a:pPr marL="891540" lvl="2" indent="-342900">
              <a:spcBef>
                <a:spcPts val="0"/>
              </a:spcBef>
              <a:buFont typeface="Arial" charset="0"/>
              <a:buChar char="•"/>
            </a:pPr>
            <a:r>
              <a:rPr lang="en-US" sz="2400" dirty="0" smtClean="0"/>
              <a:t>Having a standardised method of doing the job,</a:t>
            </a:r>
          </a:p>
          <a:p>
            <a:pPr marL="891540" lvl="2" indent="-342900">
              <a:spcBef>
                <a:spcPts val="0"/>
              </a:spcBef>
              <a:buFont typeface="Arial" charset="0"/>
              <a:buChar char="•"/>
            </a:pPr>
            <a:r>
              <a:rPr lang="en-US" sz="2400" dirty="0" smtClean="0"/>
              <a:t>Providing an economic incentive to the worker.</a:t>
            </a:r>
          </a:p>
          <a:p>
            <a:pPr marL="342900" indent="-342900">
              <a:spcBef>
                <a:spcPct val="40000"/>
              </a:spcBef>
              <a:buFont typeface="Arial" charset="0"/>
              <a:buChar char="•"/>
            </a:pPr>
            <a:endParaRPr lang="en-US" sz="1050" dirty="0" smtClean="0"/>
          </a:p>
          <a:p>
            <a:pPr marL="342900" indent="-342900">
              <a:spcBef>
                <a:spcPct val="40000"/>
              </a:spcBef>
              <a:buFont typeface="Arial" charset="0"/>
              <a:buChar char="•"/>
            </a:pPr>
            <a:r>
              <a:rPr lang="en-US" sz="2400" dirty="0" smtClean="0"/>
              <a:t>It is said modern management theory was ‘born’ in 1911, when Taylor’s Principles of Scientific Management was published.</a:t>
            </a:r>
          </a:p>
          <a:p>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15962"/>
          </a:xfrm>
        </p:spPr>
        <p:txBody>
          <a:bodyPr>
            <a:noAutofit/>
          </a:bodyPr>
          <a:lstStyle/>
          <a:p>
            <a:r>
              <a:rPr lang="en-US" sz="4000" dirty="0" smtClean="0">
                <a:solidFill>
                  <a:schemeClr val="tx1">
                    <a:lumMod val="50000"/>
                    <a:lumOff val="50000"/>
                  </a:schemeClr>
                </a:solidFill>
              </a:rPr>
              <a:t>Scientific Management</a:t>
            </a:r>
            <a:endParaRPr lang="en-US" sz="40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12</a:t>
            </a:fld>
            <a:endParaRPr lang="en-US" dirty="0"/>
          </a:p>
        </p:txBody>
      </p:sp>
      <p:sp>
        <p:nvSpPr>
          <p:cNvPr id="4" name="Content Placeholder 3"/>
          <p:cNvSpPr>
            <a:spLocks noGrp="1"/>
          </p:cNvSpPr>
          <p:nvPr>
            <p:ph sz="quarter" idx="1"/>
          </p:nvPr>
        </p:nvSpPr>
        <p:spPr>
          <a:xfrm>
            <a:off x="990600" y="1143001"/>
            <a:ext cx="7848600" cy="5410199"/>
          </a:xfrm>
        </p:spPr>
        <p:txBody>
          <a:bodyPr>
            <a:normAutofit fontScale="85000" lnSpcReduction="20000"/>
          </a:bodyPr>
          <a:lstStyle/>
          <a:p>
            <a:pPr hangingPunct="0"/>
            <a:r>
              <a:rPr lang="en-US" sz="2900" dirty="0" smtClean="0"/>
              <a:t>Frederick W. Taylor is known as the “father”                                 of scientific management. </a:t>
            </a:r>
          </a:p>
          <a:p>
            <a:pPr lvl="1" hangingPunct="0"/>
            <a:r>
              <a:rPr lang="en-US" sz="2900" dirty="0" smtClean="0"/>
              <a:t>Taylor’s work at the Midvale and Bethlehem Steel companies stimulated his interest in improving efficiency.</a:t>
            </a:r>
          </a:p>
          <a:p>
            <a:pPr lvl="1" hangingPunct="0"/>
            <a:r>
              <a:rPr lang="en-US" sz="2900" dirty="0" smtClean="0"/>
              <a:t>Taylor sought to create a mental revolution among both workers and managers by defining clear guidelines for improving production efficiency. </a:t>
            </a:r>
          </a:p>
          <a:p>
            <a:pPr lvl="1" hangingPunct="0"/>
            <a:r>
              <a:rPr lang="en-US" sz="2900" dirty="0" smtClean="0"/>
              <a:t>He defined four principles of management (see next slide)</a:t>
            </a:r>
          </a:p>
          <a:p>
            <a:pPr hangingPunct="0"/>
            <a:endParaRPr lang="en-US" sz="2900" dirty="0" smtClean="0"/>
          </a:p>
          <a:p>
            <a:pPr hangingPunct="0"/>
            <a:r>
              <a:rPr lang="en-US" sz="2900" dirty="0" smtClean="0"/>
              <a:t>His pig iron experiment is probably the most widely cited example of his scientific management efforts. </a:t>
            </a:r>
          </a:p>
          <a:p>
            <a:pPr hangingPunct="0"/>
            <a:r>
              <a:rPr lang="en-US" sz="2900" dirty="0" smtClean="0"/>
              <a:t>Frederick W. Taylor achieved consistent improvements in productivity in the range of 200 percent. </a:t>
            </a:r>
          </a:p>
          <a:p>
            <a:pPr hangingPunct="0"/>
            <a:r>
              <a:rPr lang="en-US" sz="2900" dirty="0" smtClean="0"/>
              <a:t>He affirmed the role of managers to plan and control and the role of workers to perform as they were instructed. </a:t>
            </a:r>
          </a:p>
          <a:p>
            <a:endParaRPr lang="en-US" dirty="0"/>
          </a:p>
        </p:txBody>
      </p:sp>
      <p:pic>
        <p:nvPicPr>
          <p:cNvPr id="29698" name="Picture 2" descr="http://www.12manage.com/images/picture_frederick_winslow_taylor.jpg"/>
          <p:cNvPicPr>
            <a:picLocks noChangeAspect="1" noChangeArrowheads="1"/>
          </p:cNvPicPr>
          <p:nvPr/>
        </p:nvPicPr>
        <p:blipFill>
          <a:blip r:embed="rId2" cstate="print"/>
          <a:srcRect/>
          <a:stretch>
            <a:fillRect/>
          </a:stretch>
        </p:blipFill>
        <p:spPr bwMode="auto">
          <a:xfrm flipH="1">
            <a:off x="7315200" y="0"/>
            <a:ext cx="1828800" cy="17526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13</a:t>
            </a:fld>
            <a:endParaRPr lang="en-US" dirty="0"/>
          </a:p>
        </p:txBody>
      </p:sp>
      <p:sp>
        <p:nvSpPr>
          <p:cNvPr id="4" name="Content Placeholder 3"/>
          <p:cNvSpPr>
            <a:spLocks noGrp="1"/>
          </p:cNvSpPr>
          <p:nvPr>
            <p:ph sz="quarter" idx="1"/>
          </p:nvPr>
        </p:nvSpPr>
        <p:spPr/>
        <p:txBody>
          <a:bodyPr/>
          <a:lstStyle/>
          <a:p>
            <a:endParaRPr lang="en-US"/>
          </a:p>
        </p:txBody>
      </p:sp>
      <p:pic>
        <p:nvPicPr>
          <p:cNvPr id="67590" name="Picture 6" descr="http://images.slideplayer.us/1/231100/slides/slide_11.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1477962"/>
          </a:xfrm>
        </p:spPr>
        <p:txBody>
          <a:bodyPr>
            <a:noAutofit/>
          </a:bodyPr>
          <a:lstStyle/>
          <a:p>
            <a:r>
              <a:rPr lang="en-IE" sz="4000" dirty="0" smtClean="0"/>
              <a:t>Taylor’s Scientific Management Principles</a:t>
            </a:r>
            <a:endParaRPr lang="en-IE" sz="40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14</a:t>
            </a:fld>
            <a:endParaRPr lang="en-US" dirty="0"/>
          </a:p>
        </p:txBody>
      </p:sp>
      <p:pic>
        <p:nvPicPr>
          <p:cNvPr id="5" name="Picture 2"/>
          <p:cNvPicPr>
            <a:picLocks noGrp="1" noChangeAspect="1" noChangeArrowheads="1"/>
          </p:cNvPicPr>
          <p:nvPr>
            <p:ph sz="quarter" idx="1"/>
          </p:nvPr>
        </p:nvPicPr>
        <p:blipFill>
          <a:blip r:embed="rId2" cstate="print"/>
          <a:srcRect/>
          <a:stretch>
            <a:fillRect/>
          </a:stretch>
        </p:blipFill>
        <p:spPr bwMode="auto">
          <a:xfrm>
            <a:off x="914400" y="2133600"/>
            <a:ext cx="7772400" cy="4038600"/>
          </a:xfrm>
          <a:prstGeom prst="rect">
            <a:avLst/>
          </a:prstGeom>
          <a:noFill/>
          <a:ln w="9525">
            <a:noFill/>
            <a:miter lim="800000"/>
            <a:headEnd/>
            <a:tailEnd/>
          </a:ln>
        </p:spPr>
      </p:pic>
    </p:spTree>
    <p:extLst>
      <p:ext uri="{BB962C8B-B14F-4D97-AF65-F5344CB8AC3E}">
        <p14:creationId xmlns:p14="http://schemas.microsoft.com/office/powerpoint/2010/main" val="4089140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4800600" cy="1447800"/>
          </a:xfrm>
        </p:spPr>
        <p:txBody>
          <a:bodyPr>
            <a:normAutofit/>
          </a:bodyPr>
          <a:lstStyle/>
          <a:p>
            <a:r>
              <a:rPr lang="en-US" sz="4000" dirty="0"/>
              <a:t>Frank and Lillian Gilbreth</a:t>
            </a:r>
            <a:endParaRPr lang="en-IE" sz="40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dirty="0"/>
          </a:p>
        </p:txBody>
      </p:sp>
      <p:sp>
        <p:nvSpPr>
          <p:cNvPr id="4" name="Content Placeholder 3"/>
          <p:cNvSpPr>
            <a:spLocks noGrp="1"/>
          </p:cNvSpPr>
          <p:nvPr>
            <p:ph sz="quarter" idx="1"/>
          </p:nvPr>
        </p:nvSpPr>
        <p:spPr>
          <a:xfrm>
            <a:off x="533400" y="1981200"/>
            <a:ext cx="8153400" cy="4648200"/>
          </a:xfrm>
        </p:spPr>
        <p:txBody>
          <a:bodyPr>
            <a:normAutofit fontScale="77500" lnSpcReduction="20000"/>
          </a:bodyPr>
          <a:lstStyle/>
          <a:p>
            <a:pPr hangingPunct="0"/>
            <a:r>
              <a:rPr lang="en-US" dirty="0" smtClean="0"/>
              <a:t>Frank Gilbreth and his wife Lillian (a psychologist) Gilbreth were inspired by Taylor’s work and proceeded to study and develop their own methods of scientific management.</a:t>
            </a:r>
          </a:p>
          <a:p>
            <a:pPr hangingPunct="0"/>
            <a:endParaRPr lang="en-US" sz="2100" dirty="0" smtClean="0"/>
          </a:p>
          <a:p>
            <a:pPr hangingPunct="0"/>
            <a:r>
              <a:rPr lang="en-US" dirty="0" smtClean="0"/>
              <a:t>Frank Gilbreth is probably best known for his experiments in reducing the number inefficient hand-and-body of motions in bricklaying.</a:t>
            </a:r>
          </a:p>
          <a:p>
            <a:pPr lvl="1" hangingPunct="0"/>
            <a:r>
              <a:rPr lang="en-US" dirty="0" smtClean="0"/>
              <a:t>The Gilbreths were among the first to use motion picture films to study hand-and-body motions in order to eliminate wasteful motions.</a:t>
            </a:r>
          </a:p>
          <a:p>
            <a:pPr hangingPunct="0"/>
            <a:endParaRPr lang="en-US" sz="2100" dirty="0" smtClean="0"/>
          </a:p>
          <a:p>
            <a:pPr hangingPunct="0"/>
            <a:r>
              <a:rPr lang="en-US" dirty="0" smtClean="0"/>
              <a:t>They also devised a classification scheme to label 17 basic hand motions (</a:t>
            </a:r>
            <a:r>
              <a:rPr lang="en-US" dirty="0" smtClean="0">
                <a:cs typeface="Arial" charset="0"/>
              </a:rPr>
              <a:t>such as search, grasp, hold) </a:t>
            </a:r>
            <a:r>
              <a:rPr lang="en-US" dirty="0" smtClean="0"/>
              <a:t>called ‘</a:t>
            </a:r>
            <a:r>
              <a:rPr lang="en-US" b="1" dirty="0" smtClean="0"/>
              <a:t>Therbligs’ </a:t>
            </a:r>
            <a:r>
              <a:rPr lang="en-US" dirty="0" smtClean="0"/>
              <a:t>(Gilbreth spelled backward, with the </a:t>
            </a:r>
            <a:r>
              <a:rPr lang="en-US" i="1" dirty="0" err="1" smtClean="0"/>
              <a:t>th</a:t>
            </a:r>
            <a:r>
              <a:rPr lang="en-US" dirty="0" smtClean="0"/>
              <a:t> transposed).</a:t>
            </a:r>
          </a:p>
          <a:p>
            <a:pPr>
              <a:buNone/>
            </a:pPr>
            <a:endParaRPr lang="en-US" dirty="0" smtClean="0">
              <a:cs typeface="Arial" charset="0"/>
            </a:endParaRPr>
          </a:p>
        </p:txBody>
      </p:sp>
      <p:pic>
        <p:nvPicPr>
          <p:cNvPr id="27650" name="Picture 2" descr="http://sphotos-a.ak.fbcdn.net/hphotos-ak-prn1/537648_107530649418414_376900260_n.jpg"/>
          <p:cNvPicPr>
            <a:picLocks noChangeAspect="1" noChangeArrowheads="1"/>
          </p:cNvPicPr>
          <p:nvPr/>
        </p:nvPicPr>
        <p:blipFill>
          <a:blip r:embed="rId2" cstate="print"/>
          <a:srcRect/>
          <a:stretch>
            <a:fillRect/>
          </a:stretch>
        </p:blipFill>
        <p:spPr bwMode="auto">
          <a:xfrm>
            <a:off x="6172200" y="0"/>
            <a:ext cx="2971800" cy="1905000"/>
          </a:xfrm>
          <a:prstGeom prst="rect">
            <a:avLst/>
          </a:prstGeom>
          <a:noFill/>
        </p:spPr>
      </p:pic>
    </p:spTree>
    <p:extLst>
      <p:ext uri="{BB962C8B-B14F-4D97-AF65-F5344CB8AC3E}">
        <p14:creationId xmlns:p14="http://schemas.microsoft.com/office/powerpoint/2010/main" val="3686502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16</a:t>
            </a:fld>
            <a:endParaRPr lang="en-US" dirty="0"/>
          </a:p>
        </p:txBody>
      </p:sp>
      <p:sp>
        <p:nvSpPr>
          <p:cNvPr id="4" name="Content Placeholder 3"/>
          <p:cNvSpPr>
            <a:spLocks noGrp="1"/>
          </p:cNvSpPr>
          <p:nvPr>
            <p:ph sz="quarter" idx="1"/>
          </p:nvPr>
        </p:nvSpPr>
        <p:spPr/>
        <p:txBody>
          <a:bodyPr/>
          <a:lstStyle/>
          <a:p>
            <a:endParaRPr lang="en-US" dirty="0"/>
          </a:p>
        </p:txBody>
      </p:sp>
      <p:pic>
        <p:nvPicPr>
          <p:cNvPr id="71686" name="Picture 6" descr="http://i1.squidoocdn.com/resize/squidoo_images/400/draft_lens18440441module152896357photo_1314901711Therbligs_Smaller.png"/>
          <p:cNvPicPr>
            <a:picLocks noChangeAspect="1" noChangeArrowheads="1"/>
          </p:cNvPicPr>
          <p:nvPr/>
        </p:nvPicPr>
        <p:blipFill>
          <a:blip r:embed="rId2" cstate="print"/>
          <a:srcRect/>
          <a:stretch>
            <a:fillRect/>
          </a:stretch>
        </p:blipFill>
        <p:spPr bwMode="auto">
          <a:xfrm>
            <a:off x="1752600" y="609600"/>
            <a:ext cx="5617923" cy="54102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64" name="Picture 8" descr="http://www.pmcorp.com/Portals/5/DotNetNukeStudyImages/time%20study.jpg"/>
          <p:cNvPicPr>
            <a:picLocks noChangeAspect="1" noChangeArrowheads="1"/>
          </p:cNvPicPr>
          <p:nvPr/>
        </p:nvPicPr>
        <p:blipFill>
          <a:blip r:embed="rId2" cstate="print"/>
          <a:srcRect/>
          <a:stretch>
            <a:fillRect/>
          </a:stretch>
        </p:blipFill>
        <p:spPr bwMode="auto">
          <a:xfrm>
            <a:off x="381000" y="1600200"/>
            <a:ext cx="2695575" cy="4800600"/>
          </a:xfrm>
          <a:prstGeom prst="rect">
            <a:avLst/>
          </a:prstGeom>
          <a:noFill/>
        </p:spPr>
      </p:pic>
      <p:sp>
        <p:nvSpPr>
          <p:cNvPr id="2" name="Title 1"/>
          <p:cNvSpPr>
            <a:spLocks noGrp="1"/>
          </p:cNvSpPr>
          <p:nvPr>
            <p:ph type="title"/>
          </p:nvPr>
        </p:nvSpPr>
        <p:spPr>
          <a:xfrm>
            <a:off x="914400" y="274638"/>
            <a:ext cx="5181600" cy="792162"/>
          </a:xfrm>
        </p:spPr>
        <p:txBody>
          <a:bodyPr>
            <a:normAutofit fontScale="90000"/>
          </a:bodyPr>
          <a:lstStyle/>
          <a:p>
            <a:r>
              <a:rPr lang="en-GB" dirty="0" smtClean="0"/>
              <a:t>Time &amp; Motion Studies</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17</a:t>
            </a:fld>
            <a:endParaRPr lang="en-US" dirty="0"/>
          </a:p>
        </p:txBody>
      </p:sp>
      <p:pic>
        <p:nvPicPr>
          <p:cNvPr id="70662" name="Picture 6" descr="https://encrypted-tbn2.gstatic.com/images?q=tbn:ANd9GcTIJyJCFZDLo2g5tkE7orF8m6GwgemFkUpWzkPtt9wDf_CETMH9eA"/>
          <p:cNvPicPr>
            <a:picLocks noChangeAspect="1" noChangeArrowheads="1"/>
          </p:cNvPicPr>
          <p:nvPr/>
        </p:nvPicPr>
        <p:blipFill>
          <a:blip r:embed="rId3" cstate="print"/>
          <a:srcRect/>
          <a:stretch>
            <a:fillRect/>
          </a:stretch>
        </p:blipFill>
        <p:spPr bwMode="auto">
          <a:xfrm>
            <a:off x="3200400" y="1752600"/>
            <a:ext cx="5616433" cy="4619056"/>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1477962"/>
          </a:xfrm>
        </p:spPr>
        <p:txBody>
          <a:bodyPr>
            <a:noAutofit/>
          </a:bodyPr>
          <a:lstStyle/>
          <a:p>
            <a:r>
              <a:rPr lang="en-US" sz="3800" dirty="0" smtClean="0"/>
              <a:t>How Do Today’s Managers Use Scientific Management?</a:t>
            </a:r>
            <a:endParaRPr lang="en-US" sz="38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18</a:t>
            </a:fld>
            <a:endParaRPr lang="en-US" dirty="0"/>
          </a:p>
        </p:txBody>
      </p:sp>
      <p:sp>
        <p:nvSpPr>
          <p:cNvPr id="4" name="Content Placeholder 3"/>
          <p:cNvSpPr>
            <a:spLocks noGrp="1"/>
          </p:cNvSpPr>
          <p:nvPr>
            <p:ph sz="quarter" idx="1"/>
          </p:nvPr>
        </p:nvSpPr>
        <p:spPr>
          <a:xfrm>
            <a:off x="914400" y="1905000"/>
            <a:ext cx="7772400" cy="4419600"/>
          </a:xfrm>
        </p:spPr>
        <p:txBody>
          <a:bodyPr>
            <a:normAutofit fontScale="92500" lnSpcReduction="20000"/>
          </a:bodyPr>
          <a:lstStyle/>
          <a:p>
            <a:pPr hangingPunct="0"/>
            <a:r>
              <a:rPr lang="en-US" dirty="0" smtClean="0"/>
              <a:t>Guidelines devised by Taylor and others to improve production efficiency are still used in today’s organisations. </a:t>
            </a:r>
          </a:p>
          <a:p>
            <a:pPr hangingPunct="0"/>
            <a:endParaRPr lang="en-US" sz="2100" dirty="0" smtClean="0"/>
          </a:p>
          <a:p>
            <a:pPr hangingPunct="0"/>
            <a:r>
              <a:rPr lang="en-US" dirty="0" smtClean="0"/>
              <a:t>However, current management practice is not restricted to scientific management practices alone. </a:t>
            </a:r>
          </a:p>
          <a:p>
            <a:pPr hangingPunct="0"/>
            <a:endParaRPr lang="en-US" sz="2200" dirty="0" smtClean="0"/>
          </a:p>
          <a:p>
            <a:pPr hangingPunct="0"/>
            <a:r>
              <a:rPr lang="en-US" dirty="0" smtClean="0"/>
              <a:t>Elements of scientific management still used include:</a:t>
            </a:r>
          </a:p>
          <a:p>
            <a:pPr lvl="1" hangingPunct="0"/>
            <a:r>
              <a:rPr lang="en-US" dirty="0" smtClean="0"/>
              <a:t>Using time and motion studies,</a:t>
            </a:r>
          </a:p>
          <a:p>
            <a:pPr lvl="1" hangingPunct="0"/>
            <a:r>
              <a:rPr lang="en-US" dirty="0" smtClean="0"/>
              <a:t>Hiring best qualified workers,</a:t>
            </a:r>
          </a:p>
          <a:p>
            <a:pPr lvl="1" hangingPunct="0"/>
            <a:r>
              <a:rPr lang="en-US" dirty="0" smtClean="0"/>
              <a:t>Designing incentive systems based on output.</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lumMod val="50000"/>
                    <a:lumOff val="50000"/>
                  </a:schemeClr>
                </a:solidFill>
              </a:rPr>
              <a:t>General Administrative Theory</a:t>
            </a:r>
            <a:endParaRPr lang="en-IE"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19</a:t>
            </a:fld>
            <a:endParaRPr lang="en-US" dirty="0"/>
          </a:p>
        </p:txBody>
      </p:sp>
      <p:sp>
        <p:nvSpPr>
          <p:cNvPr id="4" name="Content Placeholder 3"/>
          <p:cNvSpPr>
            <a:spLocks noGrp="1"/>
          </p:cNvSpPr>
          <p:nvPr>
            <p:ph sz="quarter" idx="1"/>
          </p:nvPr>
        </p:nvSpPr>
        <p:spPr>
          <a:xfrm>
            <a:off x="914400" y="1600200"/>
            <a:ext cx="7772400" cy="4419600"/>
          </a:xfrm>
        </p:spPr>
        <p:txBody>
          <a:bodyPr>
            <a:normAutofit/>
          </a:bodyPr>
          <a:lstStyle/>
          <a:p>
            <a:pPr hangingPunct="0"/>
            <a:r>
              <a:rPr lang="en-US" b="1" dirty="0" smtClean="0"/>
              <a:t>General Administrative Theory </a:t>
            </a:r>
            <a:r>
              <a:rPr lang="en-US" dirty="0" smtClean="0"/>
              <a:t>- an approach to management that focuses on the entire </a:t>
            </a:r>
            <a:r>
              <a:rPr lang="en-US" dirty="0" err="1" smtClean="0"/>
              <a:t>organisation</a:t>
            </a:r>
            <a:r>
              <a:rPr lang="en-US" dirty="0" smtClean="0"/>
              <a:t>, and describing what managers do and what constitutes good management practice.</a:t>
            </a:r>
          </a:p>
          <a:p>
            <a:pPr hangingPunct="0"/>
            <a:endParaRPr lang="en-US" b="1" dirty="0" smtClean="0"/>
          </a:p>
          <a:p>
            <a:pPr lvl="1" hangingPunct="0"/>
            <a:r>
              <a:rPr lang="en-GB" dirty="0" smtClean="0"/>
              <a:t>Henri </a:t>
            </a:r>
            <a:r>
              <a:rPr lang="en-GB" dirty="0" err="1" smtClean="0"/>
              <a:t>Fayol</a:t>
            </a:r>
            <a:endParaRPr lang="en-GB" dirty="0" smtClean="0"/>
          </a:p>
          <a:p>
            <a:pPr lvl="1" hangingPunct="0"/>
            <a:r>
              <a:rPr lang="en-GB" dirty="0" smtClean="0"/>
              <a:t>Max Weber</a:t>
            </a:r>
          </a:p>
          <a:p>
            <a:pPr lvl="1" hangingPunct="0">
              <a:buNone/>
            </a:pPr>
            <a:endParaRPr lang="en-US" dirty="0" smtClean="0"/>
          </a:p>
        </p:txBody>
      </p:sp>
    </p:spTree>
    <p:extLst>
      <p:ext uri="{BB962C8B-B14F-4D97-AF65-F5344CB8AC3E}">
        <p14:creationId xmlns:p14="http://schemas.microsoft.com/office/powerpoint/2010/main" val="3008516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638"/>
            <a:ext cx="6400800" cy="1143000"/>
          </a:xfrm>
        </p:spPr>
        <p:txBody>
          <a:bodyPr>
            <a:noAutofit/>
          </a:bodyPr>
          <a:lstStyle/>
          <a:p>
            <a:r>
              <a:rPr lang="en-US" sz="3600" dirty="0" smtClean="0">
                <a:solidFill>
                  <a:schemeClr val="tx1">
                    <a:lumMod val="50000"/>
                    <a:lumOff val="50000"/>
                  </a:schemeClr>
                </a:solidFill>
              </a:rPr>
              <a:t>General Administrative Theory:</a:t>
            </a:r>
            <a:br>
              <a:rPr lang="en-US" sz="3600" dirty="0" smtClean="0">
                <a:solidFill>
                  <a:schemeClr val="tx1">
                    <a:lumMod val="50000"/>
                    <a:lumOff val="50000"/>
                  </a:schemeClr>
                </a:solidFill>
              </a:rPr>
            </a:br>
            <a:r>
              <a:rPr lang="en-US" sz="3600" dirty="0" smtClean="0">
                <a:solidFill>
                  <a:schemeClr val="tx1">
                    <a:lumMod val="50000"/>
                    <a:lumOff val="50000"/>
                  </a:schemeClr>
                </a:solidFill>
              </a:rPr>
              <a:t>Henri Fayol</a:t>
            </a:r>
            <a:endParaRPr lang="en-US" sz="36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20</a:t>
            </a:fld>
            <a:endParaRPr lang="en-US" dirty="0"/>
          </a:p>
        </p:txBody>
      </p:sp>
      <p:sp>
        <p:nvSpPr>
          <p:cNvPr id="4" name="Content Placeholder 3"/>
          <p:cNvSpPr>
            <a:spLocks noGrp="1"/>
          </p:cNvSpPr>
          <p:nvPr>
            <p:ph sz="quarter" idx="1"/>
          </p:nvPr>
        </p:nvSpPr>
        <p:spPr>
          <a:xfrm>
            <a:off x="685800" y="1752601"/>
            <a:ext cx="7924800" cy="4724400"/>
          </a:xfrm>
        </p:spPr>
        <p:txBody>
          <a:bodyPr>
            <a:normAutofit fontScale="77500" lnSpcReduction="20000"/>
          </a:bodyPr>
          <a:lstStyle/>
          <a:p>
            <a:r>
              <a:rPr lang="en-US" b="1" dirty="0" smtClean="0"/>
              <a:t>Henri Fayol</a:t>
            </a:r>
            <a:r>
              <a:rPr lang="en-US" dirty="0" smtClean="0"/>
              <a:t>, who was a contemporary of Frederick W. Taylor, was the managing director of a large French coal-mining firm.</a:t>
            </a:r>
          </a:p>
          <a:p>
            <a:endParaRPr lang="en-US" dirty="0" smtClean="0"/>
          </a:p>
          <a:p>
            <a:r>
              <a:rPr lang="en-US" dirty="0" smtClean="0"/>
              <a:t>Believed that the practice of management was distinct from other </a:t>
            </a:r>
            <a:r>
              <a:rPr lang="en-US" dirty="0" err="1" smtClean="0"/>
              <a:t>organisational</a:t>
            </a:r>
            <a:r>
              <a:rPr lang="en-US" dirty="0" smtClean="0"/>
              <a:t> functions.</a:t>
            </a:r>
          </a:p>
          <a:p>
            <a:pPr lvl="2"/>
            <a:r>
              <a:rPr lang="en-US" dirty="0" smtClean="0">
                <a:cs typeface="Arial" charset="0"/>
              </a:rPr>
              <a:t>…distinct </a:t>
            </a:r>
            <a:r>
              <a:rPr lang="en-US" dirty="0">
                <a:cs typeface="Arial" charset="0"/>
              </a:rPr>
              <a:t>from accounting, finance, production, distribution, and other typical business functions. </a:t>
            </a:r>
            <a:endParaRPr lang="en-US" dirty="0" smtClean="0">
              <a:cs typeface="Arial" charset="0"/>
            </a:endParaRPr>
          </a:p>
          <a:p>
            <a:endParaRPr lang="en-US" dirty="0" smtClean="0">
              <a:cs typeface="Arial" charset="0"/>
            </a:endParaRPr>
          </a:p>
          <a:p>
            <a:r>
              <a:rPr lang="en-US" dirty="0" smtClean="0">
                <a:cs typeface="Arial" charset="0"/>
              </a:rPr>
              <a:t>His </a:t>
            </a:r>
            <a:r>
              <a:rPr lang="en-US" dirty="0">
                <a:cs typeface="Arial" charset="0"/>
              </a:rPr>
              <a:t>belief that management was </a:t>
            </a:r>
            <a:r>
              <a:rPr lang="en-US" dirty="0" smtClean="0">
                <a:cs typeface="Arial" charset="0"/>
              </a:rPr>
              <a:t>a </a:t>
            </a:r>
            <a:r>
              <a:rPr lang="en-US" dirty="0">
                <a:cs typeface="Arial" charset="0"/>
              </a:rPr>
              <a:t>activity common to all business endeavors, government, and even the </a:t>
            </a:r>
            <a:r>
              <a:rPr lang="en-US" dirty="0" smtClean="0">
                <a:cs typeface="Arial" charset="0"/>
              </a:rPr>
              <a:t>home, </a:t>
            </a:r>
            <a:r>
              <a:rPr lang="en-US" dirty="0">
                <a:cs typeface="Arial" charset="0"/>
              </a:rPr>
              <a:t>led him to develop 14 </a:t>
            </a:r>
            <a:r>
              <a:rPr lang="en-US" b="1" dirty="0">
                <a:cs typeface="Arial" charset="0"/>
              </a:rPr>
              <a:t>principles of </a:t>
            </a:r>
            <a:r>
              <a:rPr lang="en-US" b="1" dirty="0" smtClean="0">
                <a:cs typeface="Arial" charset="0"/>
              </a:rPr>
              <a:t>management</a:t>
            </a:r>
            <a:r>
              <a:rPr lang="en-US" dirty="0" smtClean="0">
                <a:cs typeface="Arial" charset="0"/>
              </a:rPr>
              <a:t>;</a:t>
            </a:r>
          </a:p>
          <a:p>
            <a:pPr lvl="1"/>
            <a:r>
              <a:rPr lang="en-US" dirty="0" smtClean="0">
                <a:cs typeface="Arial" charset="0"/>
              </a:rPr>
              <a:t>fundamental </a:t>
            </a:r>
            <a:r>
              <a:rPr lang="en-US" dirty="0">
                <a:cs typeface="Arial" charset="0"/>
              </a:rPr>
              <a:t>rules of management that could be applied to all </a:t>
            </a:r>
            <a:r>
              <a:rPr lang="en-US" dirty="0" err="1" smtClean="0">
                <a:cs typeface="Arial" charset="0"/>
              </a:rPr>
              <a:t>organisational</a:t>
            </a:r>
            <a:r>
              <a:rPr lang="en-US" dirty="0" smtClean="0">
                <a:cs typeface="Arial" charset="0"/>
              </a:rPr>
              <a:t> </a:t>
            </a:r>
            <a:r>
              <a:rPr lang="en-US" dirty="0">
                <a:cs typeface="Arial" charset="0"/>
              </a:rPr>
              <a:t>situations and taught in schools. </a:t>
            </a:r>
            <a:endParaRPr lang="en-US" dirty="0" smtClean="0"/>
          </a:p>
          <a:p>
            <a:pPr marL="0" indent="0">
              <a:buNone/>
            </a:pPr>
            <a:endParaRPr lang="en-US" b="1" dirty="0"/>
          </a:p>
        </p:txBody>
      </p:sp>
      <p:pic>
        <p:nvPicPr>
          <p:cNvPr id="5" name="Picture 2"/>
          <p:cNvPicPr>
            <a:picLocks noChangeAspect="1" noChangeArrowheads="1"/>
          </p:cNvPicPr>
          <p:nvPr/>
        </p:nvPicPr>
        <p:blipFill>
          <a:blip r:embed="rId2" cstate="print"/>
          <a:srcRect/>
          <a:stretch>
            <a:fillRect/>
          </a:stretch>
        </p:blipFill>
        <p:spPr bwMode="auto">
          <a:xfrm>
            <a:off x="7010400" y="1"/>
            <a:ext cx="2133600" cy="1676399"/>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868362"/>
          </a:xfrm>
        </p:spPr>
        <p:txBody>
          <a:bodyPr>
            <a:normAutofit/>
          </a:bodyPr>
          <a:lstStyle/>
          <a:p>
            <a:r>
              <a:rPr lang="en-IE" sz="3600" dirty="0" smtClean="0"/>
              <a:t>Fayol’s 14 Principles of Management</a:t>
            </a:r>
            <a:endParaRPr lang="en-IE" sz="36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21</a:t>
            </a:fld>
            <a:endParaRPr lang="en-US" dirty="0"/>
          </a:p>
        </p:txBody>
      </p:sp>
      <p:pic>
        <p:nvPicPr>
          <p:cNvPr id="5" name="Picture 2"/>
          <p:cNvPicPr>
            <a:picLocks noGrp="1" noChangeAspect="1" noChangeArrowheads="1"/>
          </p:cNvPicPr>
          <p:nvPr>
            <p:ph sz="quarter" idx="1"/>
          </p:nvPr>
        </p:nvPicPr>
        <p:blipFill>
          <a:blip r:embed="rId2" cstate="print"/>
          <a:srcRect/>
          <a:stretch>
            <a:fillRect/>
          </a:stretch>
        </p:blipFill>
        <p:spPr bwMode="auto">
          <a:xfrm>
            <a:off x="685800" y="1524000"/>
            <a:ext cx="8001000" cy="4648200"/>
          </a:xfrm>
          <a:prstGeom prst="rect">
            <a:avLst/>
          </a:prstGeom>
          <a:noFill/>
          <a:ln w="9525">
            <a:noFill/>
            <a:miter lim="800000"/>
            <a:headEnd/>
            <a:tailEnd/>
          </a:ln>
        </p:spPr>
      </p:pic>
    </p:spTree>
    <p:extLst>
      <p:ext uri="{BB962C8B-B14F-4D97-AF65-F5344CB8AC3E}">
        <p14:creationId xmlns:p14="http://schemas.microsoft.com/office/powerpoint/2010/main" val="1851598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92162"/>
          </a:xfrm>
        </p:spPr>
        <p:txBody>
          <a:bodyPr>
            <a:normAutofit/>
          </a:bodyPr>
          <a:lstStyle/>
          <a:p>
            <a:r>
              <a:rPr lang="en-IE" sz="3600" dirty="0"/>
              <a:t>Fayol’s 14 Principles of Management</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22</a:t>
            </a:fld>
            <a:endParaRPr lang="en-US" dirty="0"/>
          </a:p>
        </p:txBody>
      </p:sp>
      <p:pic>
        <p:nvPicPr>
          <p:cNvPr id="5" name="Picture 3"/>
          <p:cNvPicPr>
            <a:picLocks noGrp="1" noChangeAspect="1" noChangeArrowheads="1"/>
          </p:cNvPicPr>
          <p:nvPr>
            <p:ph sz="quarter" idx="1"/>
          </p:nvPr>
        </p:nvPicPr>
        <p:blipFill>
          <a:blip r:embed="rId2" cstate="print"/>
          <a:srcRect/>
          <a:stretch>
            <a:fillRect/>
          </a:stretch>
        </p:blipFill>
        <p:spPr bwMode="auto">
          <a:xfrm>
            <a:off x="914400" y="1447800"/>
            <a:ext cx="7772400" cy="4724400"/>
          </a:xfrm>
          <a:prstGeom prst="rect">
            <a:avLst/>
          </a:prstGeom>
          <a:noFill/>
          <a:ln w="9525">
            <a:noFill/>
            <a:miter lim="800000"/>
            <a:headEnd/>
            <a:tailEnd/>
          </a:ln>
        </p:spPr>
      </p:pic>
    </p:spTree>
    <p:extLst>
      <p:ext uri="{BB962C8B-B14F-4D97-AF65-F5344CB8AC3E}">
        <p14:creationId xmlns:p14="http://schemas.microsoft.com/office/powerpoint/2010/main" val="695584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descr="http://leongwaisincno.files.wordpress.com/2011/11/fayol.jpg"/>
          <p:cNvPicPr>
            <a:picLocks noChangeAspect="1" noChangeArrowheads="1"/>
          </p:cNvPicPr>
          <p:nvPr/>
        </p:nvPicPr>
        <p:blipFill>
          <a:blip r:embed="rId2" cstate="print"/>
          <a:srcRect/>
          <a:stretch>
            <a:fillRect/>
          </a:stretch>
        </p:blipFill>
        <p:spPr bwMode="auto">
          <a:xfrm>
            <a:off x="381000" y="609600"/>
            <a:ext cx="8572500" cy="5715000"/>
          </a:xfrm>
          <a:prstGeom prst="rect">
            <a:avLst/>
          </a:prstGeom>
          <a:noFill/>
        </p:spPr>
      </p:pic>
      <p:sp>
        <p:nvSpPr>
          <p:cNvPr id="3" name="Slide Number Placeholder 2"/>
          <p:cNvSpPr>
            <a:spLocks noGrp="1"/>
          </p:cNvSpPr>
          <p:nvPr>
            <p:ph type="sldNum" sz="quarter" idx="12"/>
          </p:nvPr>
        </p:nvSpPr>
        <p:spPr/>
        <p:txBody>
          <a:bodyPr/>
          <a:lstStyle/>
          <a:p>
            <a:fld id="{B6F15528-21DE-4FAA-801E-634DDDAF4B2B}"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6096000" cy="1249362"/>
          </a:xfrm>
        </p:spPr>
        <p:txBody>
          <a:bodyPr>
            <a:normAutofit fontScale="90000"/>
          </a:bodyPr>
          <a:lstStyle/>
          <a:p>
            <a:r>
              <a:rPr lang="en-US" dirty="0">
                <a:solidFill>
                  <a:schemeClr val="tx1">
                    <a:lumMod val="50000"/>
                    <a:lumOff val="50000"/>
                  </a:schemeClr>
                </a:solidFill>
              </a:rPr>
              <a:t>General Administrative Theory </a:t>
            </a:r>
            <a:r>
              <a:rPr lang="en-US" dirty="0" smtClean="0">
                <a:solidFill>
                  <a:schemeClr val="tx1">
                    <a:lumMod val="50000"/>
                    <a:lumOff val="50000"/>
                  </a:schemeClr>
                </a:solidFill>
              </a:rPr>
              <a:t>– Max Weber</a:t>
            </a:r>
            <a:endParaRPr lang="en-IE"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24</a:t>
            </a:fld>
            <a:endParaRPr lang="en-US" dirty="0"/>
          </a:p>
        </p:txBody>
      </p:sp>
      <p:sp>
        <p:nvSpPr>
          <p:cNvPr id="4" name="Content Placeholder 3"/>
          <p:cNvSpPr>
            <a:spLocks noGrp="1"/>
          </p:cNvSpPr>
          <p:nvPr>
            <p:ph sz="quarter" idx="1"/>
          </p:nvPr>
        </p:nvSpPr>
        <p:spPr>
          <a:xfrm>
            <a:off x="685800" y="1752600"/>
            <a:ext cx="7605712" cy="4572000"/>
          </a:xfrm>
        </p:spPr>
        <p:txBody>
          <a:bodyPr>
            <a:normAutofit fontScale="85000" lnSpcReduction="10000"/>
          </a:bodyPr>
          <a:lstStyle/>
          <a:p>
            <a:pPr marL="342900" indent="-342900">
              <a:spcBef>
                <a:spcPct val="25000"/>
              </a:spcBef>
              <a:buFont typeface="Arial" charset="0"/>
              <a:buChar char="•"/>
            </a:pPr>
            <a:r>
              <a:rPr lang="en-US" dirty="0"/>
              <a:t>Max Weber</a:t>
            </a:r>
            <a:r>
              <a:rPr lang="en-US" dirty="0">
                <a:cs typeface="Arial" charset="0"/>
              </a:rPr>
              <a:t>(pronounced VAY-</a:t>
            </a:r>
            <a:r>
              <a:rPr lang="en-US" dirty="0" err="1">
                <a:cs typeface="Arial" charset="0"/>
              </a:rPr>
              <a:t>ber</a:t>
            </a:r>
            <a:r>
              <a:rPr lang="en-US" dirty="0">
                <a:cs typeface="Arial" charset="0"/>
              </a:rPr>
              <a:t>) </a:t>
            </a:r>
            <a:endParaRPr lang="en-US" dirty="0" smtClean="0">
              <a:cs typeface="Arial" charset="0"/>
            </a:endParaRPr>
          </a:p>
          <a:p>
            <a:pPr marL="617220" lvl="1" indent="-342900">
              <a:spcBef>
                <a:spcPct val="25000"/>
              </a:spcBef>
              <a:buFont typeface="Arial" charset="0"/>
              <a:buChar char="•"/>
            </a:pPr>
            <a:r>
              <a:rPr lang="en-US" dirty="0" smtClean="0">
                <a:cs typeface="Arial" charset="0"/>
              </a:rPr>
              <a:t>Weber </a:t>
            </a:r>
            <a:r>
              <a:rPr lang="en-US" dirty="0">
                <a:cs typeface="Arial" charset="0"/>
              </a:rPr>
              <a:t>was a German sociologist who studied </a:t>
            </a:r>
            <a:r>
              <a:rPr lang="en-US" dirty="0" smtClean="0">
                <a:cs typeface="Arial" charset="0"/>
              </a:rPr>
              <a:t>organisations.</a:t>
            </a:r>
          </a:p>
          <a:p>
            <a:pPr marL="617220" lvl="1" indent="-342900">
              <a:spcBef>
                <a:spcPct val="25000"/>
              </a:spcBef>
              <a:buFont typeface="Arial" charset="0"/>
              <a:buChar char="•"/>
            </a:pPr>
            <a:r>
              <a:rPr lang="en-US" dirty="0" smtClean="0">
                <a:cs typeface="Arial" charset="0"/>
              </a:rPr>
              <a:t>Writing </a:t>
            </a:r>
            <a:r>
              <a:rPr lang="en-US" dirty="0">
                <a:cs typeface="Arial" charset="0"/>
              </a:rPr>
              <a:t>in the early 1900s, he d</a:t>
            </a:r>
            <a:r>
              <a:rPr lang="en-US" dirty="0"/>
              <a:t>eveloped a theory of authority based on an ideal type of </a:t>
            </a:r>
            <a:r>
              <a:rPr lang="en-US" dirty="0" err="1"/>
              <a:t>organisation</a:t>
            </a:r>
            <a:r>
              <a:rPr lang="en-US" dirty="0"/>
              <a:t> </a:t>
            </a:r>
            <a:r>
              <a:rPr lang="en-US" dirty="0">
                <a:cs typeface="Arial" charset="0"/>
              </a:rPr>
              <a:t>he called a </a:t>
            </a:r>
            <a:r>
              <a:rPr lang="en-US" b="1" dirty="0" smtClean="0">
                <a:cs typeface="Arial" charset="0"/>
              </a:rPr>
              <a:t>bureaucracy</a:t>
            </a:r>
            <a:r>
              <a:rPr lang="en-US" dirty="0">
                <a:cs typeface="Arial" charset="0"/>
              </a:rPr>
              <a:t> </a:t>
            </a:r>
            <a:r>
              <a:rPr lang="en-US" dirty="0" smtClean="0">
                <a:cs typeface="Arial" charset="0"/>
              </a:rPr>
              <a:t>- a </a:t>
            </a:r>
            <a:r>
              <a:rPr lang="en-US" dirty="0">
                <a:cs typeface="Arial" charset="0"/>
              </a:rPr>
              <a:t>form of </a:t>
            </a:r>
            <a:r>
              <a:rPr lang="en-US" dirty="0" err="1" smtClean="0">
                <a:cs typeface="Arial" charset="0"/>
              </a:rPr>
              <a:t>organisation</a:t>
            </a:r>
            <a:r>
              <a:rPr lang="en-US" dirty="0" smtClean="0">
                <a:cs typeface="Arial" charset="0"/>
              </a:rPr>
              <a:t> </a:t>
            </a:r>
            <a:r>
              <a:rPr lang="en-US" dirty="0" err="1" smtClean="0">
                <a:cs typeface="Arial" charset="0"/>
              </a:rPr>
              <a:t>characterised</a:t>
            </a:r>
            <a:r>
              <a:rPr lang="en-US" dirty="0" smtClean="0">
                <a:cs typeface="Arial" charset="0"/>
              </a:rPr>
              <a:t> </a:t>
            </a:r>
            <a:r>
              <a:rPr lang="en-US" dirty="0">
                <a:cs typeface="Arial" charset="0"/>
              </a:rPr>
              <a:t>by division of labor, a clearly defined hierarchy, detailed rules and regulations, and impersonal relationships. </a:t>
            </a:r>
            <a:endParaRPr lang="en-US" dirty="0" smtClean="0">
              <a:cs typeface="Arial" charset="0"/>
            </a:endParaRPr>
          </a:p>
          <a:p>
            <a:pPr marL="617220" lvl="1" indent="-342900">
              <a:spcBef>
                <a:spcPct val="25000"/>
              </a:spcBef>
              <a:buFont typeface="Arial" charset="0"/>
              <a:buChar char="•"/>
            </a:pPr>
            <a:r>
              <a:rPr lang="en-US" dirty="0" smtClean="0"/>
              <a:t>Emphasised </a:t>
            </a:r>
            <a:r>
              <a:rPr lang="en-US" dirty="0"/>
              <a:t>rationality, predictability, impersonality, technical competence, and authoritarianism</a:t>
            </a:r>
          </a:p>
          <a:p>
            <a:pPr marL="342900" indent="-342900">
              <a:buFont typeface="Arial" charset="0"/>
              <a:buChar char="•"/>
            </a:pPr>
            <a:endParaRPr lang="en-US" dirty="0"/>
          </a:p>
          <a:p>
            <a:endParaRPr lang="en-IE" dirty="0"/>
          </a:p>
          <a:p>
            <a:endParaRPr lang="en-IE" dirty="0"/>
          </a:p>
        </p:txBody>
      </p:sp>
      <p:pic>
        <p:nvPicPr>
          <p:cNvPr id="5" name="Picture 2"/>
          <p:cNvPicPr>
            <a:picLocks noChangeAspect="1" noChangeArrowheads="1"/>
          </p:cNvPicPr>
          <p:nvPr/>
        </p:nvPicPr>
        <p:blipFill>
          <a:blip r:embed="rId2" cstate="print"/>
          <a:srcRect/>
          <a:stretch>
            <a:fillRect/>
          </a:stretch>
        </p:blipFill>
        <p:spPr bwMode="auto">
          <a:xfrm>
            <a:off x="7238999" y="0"/>
            <a:ext cx="1905001" cy="2133600"/>
          </a:xfrm>
          <a:prstGeom prst="rect">
            <a:avLst/>
          </a:prstGeom>
          <a:noFill/>
          <a:ln w="9525">
            <a:noFill/>
            <a:miter lim="800000"/>
            <a:headEnd/>
            <a:tailEnd/>
          </a:ln>
        </p:spPr>
      </p:pic>
    </p:spTree>
    <p:extLst>
      <p:ext uri="{BB962C8B-B14F-4D97-AF65-F5344CB8AC3E}">
        <p14:creationId xmlns:p14="http://schemas.microsoft.com/office/powerpoint/2010/main" val="3885696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274638"/>
            <a:ext cx="7924800" cy="715962"/>
          </a:xfrm>
        </p:spPr>
        <p:txBody>
          <a:bodyPr>
            <a:normAutofit fontScale="90000"/>
          </a:bodyPr>
          <a:lstStyle/>
          <a:p>
            <a:r>
              <a:rPr lang="en-IE" b="1" dirty="0" smtClean="0"/>
              <a:t>Characteristics of Weber’s Bureaucracy</a:t>
            </a:r>
            <a:endParaRPr lang="en-IE" b="1" dirty="0"/>
          </a:p>
        </p:txBody>
      </p:sp>
      <p:pic>
        <p:nvPicPr>
          <p:cNvPr id="4" name="Picture 2"/>
          <p:cNvPicPr>
            <a:picLocks noChangeAspect="1" noChangeArrowheads="1"/>
          </p:cNvPicPr>
          <p:nvPr/>
        </p:nvPicPr>
        <p:blipFill>
          <a:blip r:embed="rId2" cstate="print"/>
          <a:srcRect t="4575" b="3566"/>
          <a:stretch>
            <a:fillRect/>
          </a:stretch>
        </p:blipFill>
        <p:spPr>
          <a:xfrm>
            <a:off x="422564" y="1066800"/>
            <a:ext cx="8416636" cy="5486400"/>
          </a:xfrm>
          <a:prstGeom prst="rect">
            <a:avLst/>
          </a:prstGeom>
          <a:noFill/>
        </p:spPr>
      </p:pic>
      <p:sp>
        <p:nvSpPr>
          <p:cNvPr id="2" name="Slide Number Placeholder 1"/>
          <p:cNvSpPr>
            <a:spLocks noGrp="1"/>
          </p:cNvSpPr>
          <p:nvPr>
            <p:ph type="sldNum" sz="quarter" idx="12"/>
          </p:nvPr>
        </p:nvSpPr>
        <p:spPr/>
        <p:txBody>
          <a:bodyPr/>
          <a:lstStyle/>
          <a:p>
            <a:fld id="{B6F15528-21DE-4FAA-801E-634DDDAF4B2B}" type="slidenum">
              <a:rPr lang="en-US" smtClean="0"/>
              <a:pPr/>
              <a:t>25</a:t>
            </a:fld>
            <a:endParaRPr lang="en-US" dirty="0"/>
          </a:p>
        </p:txBody>
      </p:sp>
    </p:spTree>
    <p:extLst>
      <p:ext uri="{BB962C8B-B14F-4D97-AF65-F5344CB8AC3E}">
        <p14:creationId xmlns:p14="http://schemas.microsoft.com/office/powerpoint/2010/main" val="32431430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26</a:t>
            </a:fld>
            <a:endParaRPr lang="en-US" dirty="0"/>
          </a:p>
        </p:txBody>
      </p:sp>
      <p:sp>
        <p:nvSpPr>
          <p:cNvPr id="4" name="Content Placeholder 3"/>
          <p:cNvSpPr>
            <a:spLocks noGrp="1"/>
          </p:cNvSpPr>
          <p:nvPr>
            <p:ph sz="quarter" idx="1"/>
          </p:nvPr>
        </p:nvSpPr>
        <p:spPr/>
        <p:txBody>
          <a:bodyPr/>
          <a:lstStyle/>
          <a:p>
            <a:endParaRPr lang="en-US"/>
          </a:p>
        </p:txBody>
      </p:sp>
      <p:pic>
        <p:nvPicPr>
          <p:cNvPr id="73730" name="Picture 2" descr="http://leongwaisincno.files.wordpress.com/2011/11/weber.jpg"/>
          <p:cNvPicPr>
            <a:picLocks noChangeAspect="1" noChangeArrowheads="1"/>
          </p:cNvPicPr>
          <p:nvPr/>
        </p:nvPicPr>
        <p:blipFill>
          <a:blip r:embed="rId2" cstate="print"/>
          <a:srcRect/>
          <a:stretch>
            <a:fillRect/>
          </a:stretch>
        </p:blipFill>
        <p:spPr bwMode="auto">
          <a:xfrm>
            <a:off x="381000" y="533400"/>
            <a:ext cx="8572500" cy="57150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1249362"/>
          </a:xfrm>
        </p:spPr>
        <p:txBody>
          <a:bodyPr>
            <a:normAutofit fontScale="90000"/>
          </a:bodyPr>
          <a:lstStyle/>
          <a:p>
            <a:r>
              <a:rPr lang="en-US" dirty="0" smtClean="0"/>
              <a:t>How Do Today’s Managers Use General Administrative Theories? </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27</a:t>
            </a:fld>
            <a:endParaRPr lang="en-US" dirty="0"/>
          </a:p>
        </p:txBody>
      </p:sp>
      <p:sp>
        <p:nvSpPr>
          <p:cNvPr id="4" name="Content Placeholder 3"/>
          <p:cNvSpPr>
            <a:spLocks noGrp="1"/>
          </p:cNvSpPr>
          <p:nvPr>
            <p:ph sz="quarter" idx="1"/>
          </p:nvPr>
        </p:nvSpPr>
        <p:spPr>
          <a:xfrm>
            <a:off x="914400" y="1676400"/>
            <a:ext cx="7772400" cy="4724400"/>
          </a:xfrm>
        </p:spPr>
        <p:txBody>
          <a:bodyPr>
            <a:normAutofit fontScale="85000" lnSpcReduction="20000"/>
          </a:bodyPr>
          <a:lstStyle/>
          <a:p>
            <a:pPr hangingPunct="0"/>
            <a:r>
              <a:rPr lang="en-US" dirty="0" smtClean="0"/>
              <a:t>Some current management concepts and theories can be traced to the work of the general administrative theorists.</a:t>
            </a:r>
          </a:p>
          <a:p>
            <a:pPr hangingPunct="0"/>
            <a:endParaRPr lang="en-US" sz="2600" dirty="0" smtClean="0"/>
          </a:p>
          <a:p>
            <a:pPr lvl="0" hangingPunct="0"/>
            <a:r>
              <a:rPr lang="en-US" dirty="0" smtClean="0"/>
              <a:t>The functional view of a manager’s job relates to Henri </a:t>
            </a:r>
            <a:r>
              <a:rPr lang="en-US" dirty="0" err="1" smtClean="0"/>
              <a:t>Fayol’s</a:t>
            </a:r>
            <a:r>
              <a:rPr lang="en-US" dirty="0" smtClean="0"/>
              <a:t> concept of management.</a:t>
            </a:r>
          </a:p>
          <a:p>
            <a:pPr lvl="0" hangingPunct="0"/>
            <a:endParaRPr lang="en-US" sz="2100" dirty="0" smtClean="0"/>
          </a:p>
          <a:p>
            <a:pPr lvl="0" hangingPunct="0"/>
            <a:r>
              <a:rPr lang="en-US" dirty="0" smtClean="0"/>
              <a:t>Weber’s bureaucratic characteristics are evident in many of today’s large organisations - even in highly flexible organisations that employ talented professionals. </a:t>
            </a:r>
          </a:p>
          <a:p>
            <a:pPr lvl="0" hangingPunct="0"/>
            <a:endParaRPr lang="en-US" sz="2100" dirty="0" smtClean="0"/>
          </a:p>
          <a:p>
            <a:pPr lvl="0" hangingPunct="0"/>
            <a:r>
              <a:rPr lang="en-US" dirty="0" smtClean="0"/>
              <a:t>Some bureaucratic mechanisms are necessary in highly innovative organisations to ensure that resources are used efficiently and effectively.</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2" name="Picture 6" descr="http://research-methodology.net/wp-content/uploads/2013/05/Approaches-to-SHRM.jpg"/>
          <p:cNvPicPr>
            <a:picLocks noChangeAspect="1" noChangeArrowheads="1"/>
          </p:cNvPicPr>
          <p:nvPr/>
        </p:nvPicPr>
        <p:blipFill>
          <a:blip r:embed="rId2" cstate="print"/>
          <a:srcRect/>
          <a:stretch>
            <a:fillRect/>
          </a:stretch>
        </p:blipFill>
        <p:spPr bwMode="auto">
          <a:xfrm>
            <a:off x="838200" y="4953000"/>
            <a:ext cx="7162800" cy="1771651"/>
          </a:xfrm>
          <a:prstGeom prst="rect">
            <a:avLst/>
          </a:prstGeom>
          <a:noFill/>
        </p:spPr>
      </p:pic>
      <p:sp>
        <p:nvSpPr>
          <p:cNvPr id="2" name="Title 1"/>
          <p:cNvSpPr>
            <a:spLocks noGrp="1"/>
          </p:cNvSpPr>
          <p:nvPr>
            <p:ph type="title"/>
          </p:nvPr>
        </p:nvSpPr>
        <p:spPr>
          <a:xfrm>
            <a:off x="914400" y="274638"/>
            <a:ext cx="7772400" cy="868362"/>
          </a:xfrm>
        </p:spPr>
        <p:txBody>
          <a:bodyPr/>
          <a:lstStyle/>
          <a:p>
            <a:r>
              <a:rPr lang="en-US" dirty="0" smtClean="0">
                <a:solidFill>
                  <a:schemeClr val="tx1">
                    <a:lumMod val="50000"/>
                    <a:lumOff val="50000"/>
                  </a:schemeClr>
                </a:solidFill>
              </a:rPr>
              <a:t>Organisational Behavior</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28</a:t>
            </a:fld>
            <a:endParaRPr lang="en-US" dirty="0"/>
          </a:p>
        </p:txBody>
      </p:sp>
      <p:sp>
        <p:nvSpPr>
          <p:cNvPr id="4" name="Content Placeholder 3"/>
          <p:cNvSpPr>
            <a:spLocks noGrp="1"/>
          </p:cNvSpPr>
          <p:nvPr>
            <p:ph sz="quarter" idx="1"/>
          </p:nvPr>
        </p:nvSpPr>
        <p:spPr>
          <a:xfrm>
            <a:off x="685800" y="1219200"/>
            <a:ext cx="8001000" cy="3733800"/>
          </a:xfrm>
        </p:spPr>
        <p:txBody>
          <a:bodyPr>
            <a:normAutofit fontScale="77500" lnSpcReduction="20000"/>
          </a:bodyPr>
          <a:lstStyle/>
          <a:p>
            <a:pPr marL="342900" indent="-342900">
              <a:spcBef>
                <a:spcPct val="30000"/>
              </a:spcBef>
              <a:buFont typeface="Arial" charset="0"/>
              <a:buChar char="•"/>
            </a:pPr>
            <a:r>
              <a:rPr lang="en-US" dirty="0" smtClean="0"/>
              <a:t>The field of study concerned with the actions (behaviors) of people at work is </a:t>
            </a:r>
            <a:r>
              <a:rPr lang="en-US" b="1" dirty="0" err="1" smtClean="0"/>
              <a:t>organisational</a:t>
            </a:r>
            <a:r>
              <a:rPr lang="en-US" b="1" dirty="0" smtClean="0"/>
              <a:t> behavior</a:t>
            </a:r>
            <a:r>
              <a:rPr lang="en-US" dirty="0" smtClean="0"/>
              <a:t>. </a:t>
            </a:r>
          </a:p>
          <a:p>
            <a:pPr marL="342900" indent="-342900">
              <a:spcBef>
                <a:spcPct val="30000"/>
              </a:spcBef>
              <a:buFont typeface="Arial" charset="0"/>
              <a:buChar char="•"/>
            </a:pPr>
            <a:endParaRPr lang="en-US" sz="1800" dirty="0" smtClean="0"/>
          </a:p>
          <a:p>
            <a:pPr marL="342900" indent="-342900">
              <a:spcBef>
                <a:spcPct val="30000"/>
              </a:spcBef>
              <a:buFont typeface="Arial" charset="0"/>
              <a:buChar char="•"/>
            </a:pPr>
            <a:r>
              <a:rPr lang="en-US" dirty="0" err="1" smtClean="0"/>
              <a:t>Organisational</a:t>
            </a:r>
            <a:r>
              <a:rPr lang="en-US" dirty="0" smtClean="0"/>
              <a:t> behavior (OB) research has contributed much of what we know about human resources management and contemporary views of motivation, leadership, trust, teamwork, and conflict management. </a:t>
            </a:r>
          </a:p>
          <a:p>
            <a:pPr marL="342900" indent="-342900">
              <a:spcBef>
                <a:spcPct val="30000"/>
              </a:spcBef>
              <a:buFont typeface="Arial" charset="0"/>
              <a:buChar char="•"/>
            </a:pPr>
            <a:endParaRPr lang="en-US" sz="1500" dirty="0" smtClean="0">
              <a:cs typeface="Arial" charset="0"/>
            </a:endParaRPr>
          </a:p>
          <a:p>
            <a:pPr marL="342900" indent="-342900">
              <a:spcBef>
                <a:spcPct val="30000"/>
              </a:spcBef>
              <a:buFont typeface="Arial" charset="0"/>
              <a:buChar char="•"/>
            </a:pPr>
            <a:r>
              <a:rPr lang="en-US" dirty="0" smtClean="0">
                <a:cs typeface="Arial" charset="0"/>
              </a:rPr>
              <a:t>Much </a:t>
            </a:r>
            <a:r>
              <a:rPr lang="en-US" dirty="0">
                <a:cs typeface="Arial" charset="0"/>
              </a:rPr>
              <a:t>of what managers do today when managing </a:t>
            </a:r>
            <a:r>
              <a:rPr lang="en-US" dirty="0" smtClean="0">
                <a:cs typeface="Arial" charset="0"/>
              </a:rPr>
              <a:t>people - motivating</a:t>
            </a:r>
            <a:r>
              <a:rPr lang="en-US" dirty="0">
                <a:cs typeface="Arial" charset="0"/>
              </a:rPr>
              <a:t>, leading, building trust, working with a team, managing conflict, </a:t>
            </a:r>
            <a:r>
              <a:rPr lang="en-US" dirty="0" smtClean="0">
                <a:cs typeface="Arial" charset="0"/>
              </a:rPr>
              <a:t>etc - has </a:t>
            </a:r>
            <a:r>
              <a:rPr lang="en-US" dirty="0">
                <a:cs typeface="Arial" charset="0"/>
              </a:rPr>
              <a:t>come out of OB research</a:t>
            </a:r>
            <a:r>
              <a:rPr lang="en-US" dirty="0" smtClean="0">
                <a:cs typeface="Arial" charset="0"/>
              </a:rPr>
              <a:t>.</a:t>
            </a:r>
            <a:endParaRPr lang="en-US" dirty="0">
              <a:cs typeface="Arial"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chemeClr val="tx1">
                    <a:lumMod val="50000"/>
                    <a:lumOff val="50000"/>
                  </a:schemeClr>
                </a:solidFill>
              </a:rPr>
              <a:t>Organisational</a:t>
            </a:r>
            <a:r>
              <a:rPr lang="en-US" dirty="0" smtClean="0">
                <a:solidFill>
                  <a:schemeClr val="tx1">
                    <a:lumMod val="50000"/>
                    <a:lumOff val="50000"/>
                  </a:schemeClr>
                </a:solidFill>
              </a:rPr>
              <a:t> Behavior</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29</a:t>
            </a:fld>
            <a:endParaRPr lang="en-US" dirty="0"/>
          </a:p>
        </p:txBody>
      </p:sp>
      <p:sp>
        <p:nvSpPr>
          <p:cNvPr id="4" name="Content Placeholder 3"/>
          <p:cNvSpPr>
            <a:spLocks noGrp="1"/>
          </p:cNvSpPr>
          <p:nvPr>
            <p:ph sz="quarter" idx="1"/>
          </p:nvPr>
        </p:nvSpPr>
        <p:spPr>
          <a:xfrm>
            <a:off x="914400" y="1524000"/>
            <a:ext cx="7772400" cy="4724400"/>
          </a:xfrm>
        </p:spPr>
        <p:txBody>
          <a:bodyPr>
            <a:noAutofit/>
          </a:bodyPr>
          <a:lstStyle/>
          <a:p>
            <a:pPr marL="342900" indent="-342900">
              <a:spcBef>
                <a:spcPct val="30000"/>
              </a:spcBef>
              <a:buFont typeface="Arial" charset="0"/>
              <a:buChar char="•"/>
            </a:pPr>
            <a:r>
              <a:rPr lang="en-US" sz="2600" dirty="0" smtClean="0"/>
              <a:t>Early OB advocates;</a:t>
            </a:r>
          </a:p>
          <a:p>
            <a:pPr marL="342900" indent="-342900">
              <a:spcBef>
                <a:spcPct val="30000"/>
              </a:spcBef>
              <a:buFont typeface="Arial" charset="0"/>
              <a:buChar char="•"/>
            </a:pPr>
            <a:endParaRPr lang="en-US" sz="1000" dirty="0" smtClean="0"/>
          </a:p>
          <a:p>
            <a:pPr marL="342900" indent="-342900">
              <a:spcBef>
                <a:spcPct val="30000"/>
              </a:spcBef>
              <a:buFont typeface="Arial" charset="0"/>
              <a:buChar char="•"/>
            </a:pPr>
            <a:r>
              <a:rPr lang="en-US" sz="2600" dirty="0" smtClean="0"/>
              <a:t>Robert Owen, Hugo Munsterberg, Mary Parker Follett, Chester Barnard,</a:t>
            </a:r>
          </a:p>
          <a:p>
            <a:pPr marL="617220" lvl="1" indent="-342900">
              <a:spcBef>
                <a:spcPct val="30000"/>
              </a:spcBef>
              <a:buFont typeface="Arial" charset="0"/>
              <a:buChar char="•"/>
            </a:pPr>
            <a:r>
              <a:rPr lang="en-US" sz="2400" dirty="0" smtClean="0">
                <a:cs typeface="Arial" charset="0"/>
              </a:rPr>
              <a:t>Their contributions were varied and distinct, but all believed </a:t>
            </a:r>
            <a:r>
              <a:rPr lang="en-US" sz="2400" i="1" dirty="0" smtClean="0">
                <a:cs typeface="Arial" charset="0"/>
              </a:rPr>
              <a:t>that people were the most important asset of the </a:t>
            </a:r>
            <a:r>
              <a:rPr lang="en-US" sz="2400" i="1" dirty="0" err="1" smtClean="0">
                <a:cs typeface="Arial" charset="0"/>
              </a:rPr>
              <a:t>organisation</a:t>
            </a:r>
            <a:r>
              <a:rPr lang="en-US" sz="2400" i="1" dirty="0" smtClean="0">
                <a:cs typeface="Arial" charset="0"/>
              </a:rPr>
              <a:t> </a:t>
            </a:r>
            <a:r>
              <a:rPr lang="en-US" sz="2400" dirty="0" smtClean="0">
                <a:cs typeface="Arial" charset="0"/>
              </a:rPr>
              <a:t>and should be managed accordingly.</a:t>
            </a:r>
          </a:p>
          <a:p>
            <a:pPr marL="617220" lvl="1" indent="-342900">
              <a:spcBef>
                <a:spcPct val="30000"/>
              </a:spcBef>
              <a:buFont typeface="Arial" charset="0"/>
              <a:buChar char="•"/>
            </a:pPr>
            <a:endParaRPr lang="en-US" sz="1050" dirty="0" smtClean="0"/>
          </a:p>
          <a:p>
            <a:pPr marL="617220" lvl="1" indent="-342900">
              <a:spcBef>
                <a:spcPct val="30000"/>
              </a:spcBef>
              <a:buFont typeface="Arial" charset="0"/>
              <a:buChar char="•"/>
            </a:pPr>
            <a:r>
              <a:rPr lang="en-US" sz="2400" dirty="0" smtClean="0"/>
              <a:t>Their ideas served as the foundation for employee selection procedures, motivation programs, work teams, and </a:t>
            </a:r>
            <a:r>
              <a:rPr lang="en-US" sz="2400" dirty="0" err="1" smtClean="0"/>
              <a:t>organisation</a:t>
            </a:r>
            <a:r>
              <a:rPr lang="en-US" sz="2400" dirty="0" smtClean="0"/>
              <a:t> environment management techniques.</a:t>
            </a:r>
          </a:p>
          <a:p>
            <a:pPr marL="891540" lvl="2" indent="-342900">
              <a:spcBef>
                <a:spcPct val="30000"/>
              </a:spcBef>
              <a:buFont typeface="Arial" charset="0"/>
              <a:buChar char="•"/>
            </a:pPr>
            <a:r>
              <a:rPr lang="en-US" sz="2000" dirty="0" smtClean="0"/>
              <a:t>See next slide for summary of the most important ideas of these early advocates.</a:t>
            </a:r>
          </a:p>
          <a:p>
            <a:pPr marL="617220" lvl="1" indent="-342900">
              <a:spcBef>
                <a:spcPct val="30000"/>
              </a:spcBef>
              <a:buFont typeface="Arial" charset="0"/>
              <a:buChar char="•"/>
            </a:pPr>
            <a:endParaRPr lang="en-US" sz="2600" dirty="0">
              <a:cs typeface="Arial"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563562"/>
          </a:xfrm>
        </p:spPr>
        <p:txBody>
          <a:bodyPr>
            <a:normAutofit fontScale="90000"/>
          </a:bodyPr>
          <a:lstStyle/>
          <a:p>
            <a:r>
              <a:rPr lang="en-IE" b="1" dirty="0" smtClean="0"/>
              <a:t>Early OB Advocates </a:t>
            </a:r>
            <a:r>
              <a:rPr lang="en-IE" sz="1600" b="1" dirty="0" smtClean="0"/>
              <a:t>(Source: Robbins &amp; </a:t>
            </a:r>
            <a:r>
              <a:rPr lang="en-IE" sz="1600" b="1" dirty="0" err="1" smtClean="0"/>
              <a:t>Coutler</a:t>
            </a:r>
            <a:r>
              <a:rPr lang="en-IE" sz="1600" b="1" dirty="0" smtClean="0"/>
              <a:t>, 2014)</a:t>
            </a:r>
            <a:endParaRPr lang="en-IE" sz="1600" b="1" dirty="0"/>
          </a:p>
        </p:txBody>
      </p:sp>
      <p:pic>
        <p:nvPicPr>
          <p:cNvPr id="18436" name="Picture 2"/>
          <p:cNvPicPr>
            <a:picLocks noGrp="1" noChangeAspect="1" noChangeArrowheads="1"/>
          </p:cNvPicPr>
          <p:nvPr>
            <p:ph idx="4294967295"/>
          </p:nvPr>
        </p:nvPicPr>
        <p:blipFill>
          <a:blip r:embed="rId3" cstate="print"/>
          <a:srcRect/>
          <a:stretch>
            <a:fillRect/>
          </a:stretch>
        </p:blipFill>
        <p:spPr>
          <a:xfrm>
            <a:off x="228600" y="901473"/>
            <a:ext cx="8915400" cy="5651727"/>
          </a:xfrm>
          <a:noFill/>
        </p:spPr>
      </p:pic>
      <p:sp>
        <p:nvSpPr>
          <p:cNvPr id="3" name="Slide Number Placeholder 2"/>
          <p:cNvSpPr>
            <a:spLocks noGrp="1"/>
          </p:cNvSpPr>
          <p:nvPr>
            <p:ph type="sldNum" sz="quarter" idx="12"/>
          </p:nvPr>
        </p:nvSpPr>
        <p:spPr/>
        <p:txBody>
          <a:bodyPr/>
          <a:lstStyle/>
          <a:p>
            <a:fld id="{B6F15528-21DE-4FAA-801E-634DDDAF4B2B}" type="slidenum">
              <a:rPr lang="en-US" smtClean="0"/>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868362"/>
          </a:xfrm>
        </p:spPr>
        <p:txBody>
          <a:bodyPr>
            <a:normAutofit/>
          </a:bodyPr>
          <a:lstStyle/>
          <a:p>
            <a:r>
              <a:rPr lang="en-US" dirty="0" smtClean="0">
                <a:solidFill>
                  <a:schemeClr val="tx1">
                    <a:lumMod val="50000"/>
                    <a:lumOff val="50000"/>
                  </a:schemeClr>
                </a:solidFill>
              </a:rPr>
              <a:t>The Hawthorne Studies</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31</a:t>
            </a:fld>
            <a:endParaRPr lang="en-US" dirty="0"/>
          </a:p>
        </p:txBody>
      </p:sp>
      <p:sp>
        <p:nvSpPr>
          <p:cNvPr id="4" name="Content Placeholder 3"/>
          <p:cNvSpPr>
            <a:spLocks noGrp="1"/>
          </p:cNvSpPr>
          <p:nvPr>
            <p:ph sz="quarter" idx="1"/>
          </p:nvPr>
        </p:nvSpPr>
        <p:spPr>
          <a:xfrm>
            <a:off x="609600" y="1371600"/>
            <a:ext cx="8153400" cy="5105400"/>
          </a:xfrm>
        </p:spPr>
        <p:txBody>
          <a:bodyPr>
            <a:normAutofit fontScale="77500" lnSpcReduction="20000"/>
          </a:bodyPr>
          <a:lstStyle/>
          <a:p>
            <a:pPr marL="342900" indent="-342900">
              <a:buFont typeface="Arial" charset="0"/>
              <a:buChar char="•"/>
            </a:pPr>
            <a:r>
              <a:rPr lang="en-US" sz="3100" dirty="0" smtClean="0"/>
              <a:t>The </a:t>
            </a:r>
            <a:r>
              <a:rPr lang="en-US" sz="3100" b="1" dirty="0" smtClean="0"/>
              <a:t>Hawthorne Studies</a:t>
            </a:r>
            <a:r>
              <a:rPr lang="en-US" sz="3100" dirty="0" smtClean="0"/>
              <a:t> were the most important contribution to the development of </a:t>
            </a:r>
            <a:r>
              <a:rPr lang="en-US" sz="3100" dirty="0" err="1" smtClean="0"/>
              <a:t>organisational</a:t>
            </a:r>
            <a:r>
              <a:rPr lang="en-US" sz="3100" dirty="0" smtClean="0"/>
              <a:t> behavior.</a:t>
            </a:r>
          </a:p>
          <a:p>
            <a:pPr marL="617220" lvl="1" indent="-342900">
              <a:buFont typeface="Arial" charset="0"/>
              <a:buChar char="•"/>
            </a:pPr>
            <a:r>
              <a:rPr lang="en-US" sz="3100" dirty="0" smtClean="0"/>
              <a:t>They provided </a:t>
            </a:r>
            <a:r>
              <a:rPr lang="en-US" sz="3100" dirty="0"/>
              <a:t>new insights into individual and group </a:t>
            </a:r>
            <a:r>
              <a:rPr lang="en-US" sz="3100" dirty="0" smtClean="0"/>
              <a:t>behavior.</a:t>
            </a:r>
            <a:endParaRPr lang="en-US" sz="3100" dirty="0"/>
          </a:p>
          <a:p>
            <a:pPr marL="342900" indent="-342900">
              <a:buFont typeface="Arial" charset="0"/>
              <a:buChar char="•"/>
            </a:pPr>
            <a:endParaRPr lang="en-US" sz="3100" dirty="0" smtClean="0"/>
          </a:p>
          <a:p>
            <a:pPr marL="342900" indent="-342900">
              <a:buFont typeface="Arial" charset="0"/>
              <a:buChar char="•"/>
            </a:pPr>
            <a:r>
              <a:rPr lang="en-US" sz="3100" dirty="0" smtClean="0"/>
              <a:t>The series of experiments conducted from 1924 to the early 1930s at the Western Electric Company Works in Cicero, Illinois, </a:t>
            </a:r>
          </a:p>
          <a:p>
            <a:pPr marL="617220" lvl="1" indent="-342900">
              <a:buFont typeface="Arial" charset="0"/>
              <a:buChar char="•"/>
            </a:pPr>
            <a:r>
              <a:rPr lang="en-US" sz="3100" dirty="0" smtClean="0"/>
              <a:t>were initially devised as a scientific management experiment to assess the impact of changes in various physical environment variables on employee productivity.</a:t>
            </a:r>
          </a:p>
          <a:p>
            <a:pPr marL="342900" lvl="2" indent="-342900">
              <a:spcBef>
                <a:spcPts val="580"/>
              </a:spcBef>
              <a:buClr>
                <a:schemeClr val="accent1"/>
              </a:buClr>
              <a:buFont typeface="Arial" charset="0"/>
              <a:buChar char="•"/>
            </a:pPr>
            <a:endParaRPr lang="en-US" sz="3100" dirty="0" smtClean="0"/>
          </a:p>
          <a:p>
            <a:pPr marL="342900" lvl="2" indent="-342900">
              <a:spcBef>
                <a:spcPts val="580"/>
              </a:spcBef>
              <a:buClr>
                <a:schemeClr val="accent1"/>
              </a:buClr>
              <a:buFont typeface="Arial" charset="0"/>
              <a:buChar char="•"/>
            </a:pPr>
            <a:r>
              <a:rPr lang="en-US" sz="3100" dirty="0" smtClean="0"/>
              <a:t>After Harvard professor Elton Mayo and his associates joined the study as consultants, other experiments were included to look at redesigning jobs, make changes in workday and workweek length, introduce rest periods, and introduce individual versus group wage plans.</a:t>
            </a:r>
            <a:endParaRPr lang="en-US" sz="2100" dirty="0" smtClean="0"/>
          </a:p>
          <a:p>
            <a:pPr marL="868680" lvl="1">
              <a:buFont typeface="Arial" charset="0"/>
              <a:buChar char="•"/>
            </a:pPr>
            <a:endParaRPr lang="en-US" dirty="0" smtClean="0"/>
          </a:p>
          <a:p>
            <a:endParaRPr lang="en-US" dirty="0" smtClean="0">
              <a:cs typeface="Arial"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15962"/>
          </a:xfrm>
        </p:spPr>
        <p:txBody>
          <a:bodyPr>
            <a:normAutofit fontScale="90000"/>
          </a:bodyPr>
          <a:lstStyle/>
          <a:p>
            <a:r>
              <a:rPr lang="en-US" dirty="0">
                <a:solidFill>
                  <a:schemeClr val="tx1">
                    <a:lumMod val="50000"/>
                    <a:lumOff val="50000"/>
                  </a:schemeClr>
                </a:solidFill>
              </a:rPr>
              <a:t>The Hawthorne Studies</a:t>
            </a:r>
            <a:endParaRPr lang="en-IE"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32</a:t>
            </a:fld>
            <a:endParaRPr lang="en-US" dirty="0"/>
          </a:p>
        </p:txBody>
      </p:sp>
      <p:sp>
        <p:nvSpPr>
          <p:cNvPr id="4" name="Content Placeholder 3"/>
          <p:cNvSpPr>
            <a:spLocks noGrp="1"/>
          </p:cNvSpPr>
          <p:nvPr>
            <p:ph sz="quarter" idx="1"/>
          </p:nvPr>
        </p:nvSpPr>
        <p:spPr>
          <a:xfrm>
            <a:off x="762000" y="1066800"/>
            <a:ext cx="8001000" cy="5791200"/>
          </a:xfrm>
        </p:spPr>
        <p:txBody>
          <a:bodyPr>
            <a:normAutofit fontScale="77500" lnSpcReduction="20000"/>
          </a:bodyPr>
          <a:lstStyle/>
          <a:p>
            <a:pPr marL="342900" indent="-342900">
              <a:buFont typeface="Arial" charset="0"/>
              <a:buChar char="•"/>
            </a:pPr>
            <a:r>
              <a:rPr lang="en-US" sz="3100" i="1" dirty="0" smtClean="0"/>
              <a:t>Experimental findings;</a:t>
            </a:r>
          </a:p>
          <a:p>
            <a:pPr marL="617220" lvl="1" indent="-342900">
              <a:buFont typeface="Arial" charset="0"/>
              <a:buChar char="•"/>
            </a:pPr>
            <a:r>
              <a:rPr lang="en-US" sz="3100" dirty="0" smtClean="0"/>
              <a:t>Productivity unexpectedly increased under imposed adverse working conditions.</a:t>
            </a:r>
          </a:p>
          <a:p>
            <a:pPr marL="617220" lvl="1" indent="-342900">
              <a:buFont typeface="Arial" charset="0"/>
              <a:buChar char="•"/>
            </a:pPr>
            <a:r>
              <a:rPr lang="en-US" sz="3100" dirty="0" smtClean="0"/>
              <a:t>The effect of incentive plans was less than expected.</a:t>
            </a:r>
          </a:p>
          <a:p>
            <a:endParaRPr lang="en-US" sz="1400" dirty="0" smtClean="0">
              <a:cs typeface="Arial" charset="0"/>
            </a:endParaRPr>
          </a:p>
          <a:p>
            <a:r>
              <a:rPr lang="en-US" sz="3100" i="1" dirty="0" smtClean="0">
                <a:cs typeface="Arial" charset="0"/>
              </a:rPr>
              <a:t>The </a:t>
            </a:r>
            <a:r>
              <a:rPr lang="en-US" sz="3100" i="1" dirty="0">
                <a:cs typeface="Arial" charset="0"/>
              </a:rPr>
              <a:t>studies </a:t>
            </a:r>
            <a:r>
              <a:rPr lang="en-US" sz="3100" i="1" dirty="0" smtClean="0">
                <a:cs typeface="Arial" charset="0"/>
              </a:rPr>
              <a:t>concluded that;</a:t>
            </a:r>
          </a:p>
          <a:p>
            <a:pPr lvl="1"/>
            <a:r>
              <a:rPr lang="en-US" sz="3100" dirty="0" smtClean="0">
                <a:cs typeface="Arial" charset="0"/>
              </a:rPr>
              <a:t>people’s </a:t>
            </a:r>
            <a:r>
              <a:rPr lang="en-US" sz="3100" dirty="0">
                <a:cs typeface="Arial" charset="0"/>
              </a:rPr>
              <a:t>behavior and attitudes are closely related, </a:t>
            </a:r>
            <a:endParaRPr lang="en-US" sz="3100" dirty="0" smtClean="0">
              <a:cs typeface="Arial" charset="0"/>
            </a:endParaRPr>
          </a:p>
          <a:p>
            <a:pPr lvl="1"/>
            <a:r>
              <a:rPr lang="en-US" sz="3100" dirty="0" smtClean="0">
                <a:cs typeface="Arial" charset="0"/>
              </a:rPr>
              <a:t>that </a:t>
            </a:r>
            <a:r>
              <a:rPr lang="en-US" sz="3100" dirty="0">
                <a:cs typeface="Arial" charset="0"/>
              </a:rPr>
              <a:t>group factors </a:t>
            </a:r>
            <a:r>
              <a:rPr lang="en-US" sz="3100" dirty="0" smtClean="0">
                <a:cs typeface="Arial" charset="0"/>
              </a:rPr>
              <a:t>significantly affect </a:t>
            </a:r>
            <a:r>
              <a:rPr lang="en-US" sz="3100" dirty="0">
                <a:cs typeface="Arial" charset="0"/>
              </a:rPr>
              <a:t>individual behavior, </a:t>
            </a:r>
            <a:endParaRPr lang="en-US" sz="3100" dirty="0" smtClean="0">
              <a:cs typeface="Arial" charset="0"/>
            </a:endParaRPr>
          </a:p>
          <a:p>
            <a:pPr lvl="1"/>
            <a:r>
              <a:rPr lang="en-US" sz="3100" dirty="0" smtClean="0">
                <a:cs typeface="Arial" charset="0"/>
              </a:rPr>
              <a:t>that </a:t>
            </a:r>
            <a:r>
              <a:rPr lang="en-US" sz="3100" dirty="0">
                <a:cs typeface="Arial" charset="0"/>
              </a:rPr>
              <a:t>group standards establish individual worker output</a:t>
            </a:r>
            <a:r>
              <a:rPr lang="en-US" sz="3100" dirty="0" smtClean="0">
                <a:cs typeface="Arial" charset="0"/>
              </a:rPr>
              <a:t>,</a:t>
            </a:r>
          </a:p>
          <a:p>
            <a:pPr lvl="1"/>
            <a:r>
              <a:rPr lang="en-US" sz="3100" dirty="0" smtClean="0">
                <a:cs typeface="Arial" charset="0"/>
              </a:rPr>
              <a:t>and </a:t>
            </a:r>
            <a:r>
              <a:rPr lang="en-US" sz="3100" dirty="0">
                <a:cs typeface="Arial" charset="0"/>
              </a:rPr>
              <a:t>that money is less a factor in determining output than group standards, group attitudes, and security. </a:t>
            </a:r>
            <a:endParaRPr lang="en-US" sz="3100" dirty="0" smtClean="0">
              <a:cs typeface="Arial" charset="0"/>
            </a:endParaRPr>
          </a:p>
          <a:p>
            <a:endParaRPr lang="en-US" sz="1200" dirty="0">
              <a:cs typeface="Arial" charset="0"/>
            </a:endParaRPr>
          </a:p>
          <a:p>
            <a:r>
              <a:rPr lang="en-US" sz="3100" dirty="0" smtClean="0">
                <a:cs typeface="Arial" charset="0"/>
              </a:rPr>
              <a:t>These </a:t>
            </a:r>
            <a:r>
              <a:rPr lang="en-US" sz="3100" dirty="0">
                <a:cs typeface="Arial" charset="0"/>
              </a:rPr>
              <a:t>conclusions led to a new emphasis on the human behavior factor in the management of </a:t>
            </a:r>
            <a:r>
              <a:rPr lang="en-US" sz="3100" dirty="0" smtClean="0">
                <a:cs typeface="Arial" charset="0"/>
              </a:rPr>
              <a:t>organisations.</a:t>
            </a:r>
          </a:p>
          <a:p>
            <a:endParaRPr lang="en-US" sz="1300" dirty="0" smtClean="0">
              <a:cs typeface="Arial" charset="0"/>
            </a:endParaRPr>
          </a:p>
          <a:p>
            <a:r>
              <a:rPr lang="en-US" sz="3000" dirty="0" smtClean="0"/>
              <a:t>Although not without criticism (concerning procedures, analyses of findings, and the conclusions), the Hawthorne Studies stimulated interest in human behavior in </a:t>
            </a:r>
            <a:r>
              <a:rPr lang="en-US" sz="3000" dirty="0" err="1" smtClean="0"/>
              <a:t>organisational</a:t>
            </a:r>
            <a:r>
              <a:rPr lang="en-US" sz="3000" dirty="0" smtClean="0"/>
              <a:t> settings.</a:t>
            </a:r>
            <a:endParaRPr lang="en-US" sz="3000" dirty="0"/>
          </a:p>
          <a:p>
            <a:endParaRPr lang="en-US" dirty="0"/>
          </a:p>
          <a:p>
            <a:endParaRPr lang="en-IE" dirty="0"/>
          </a:p>
        </p:txBody>
      </p:sp>
    </p:spTree>
    <p:extLst>
      <p:ext uri="{BB962C8B-B14F-4D97-AF65-F5344CB8AC3E}">
        <p14:creationId xmlns:p14="http://schemas.microsoft.com/office/powerpoint/2010/main" val="582780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6F15528-21DE-4FAA-801E-634DDDAF4B2B}" type="slidenum">
              <a:rPr lang="en-US" smtClean="0"/>
              <a:pPr/>
              <a:t>33</a:t>
            </a:fld>
            <a:endParaRPr lang="en-US" dirty="0"/>
          </a:p>
        </p:txBody>
      </p:sp>
      <p:pic>
        <p:nvPicPr>
          <p:cNvPr id="74754" name="Picture 2" descr="http://www.widerfunnel.com/wp-content/uploads/2013/02/Hawthorne-verbalizeYSTT.gif"/>
          <p:cNvPicPr>
            <a:picLocks noChangeAspect="1" noChangeArrowheads="1"/>
          </p:cNvPicPr>
          <p:nvPr/>
        </p:nvPicPr>
        <p:blipFill>
          <a:blip r:embed="rId2" cstate="print"/>
          <a:srcRect/>
          <a:stretch>
            <a:fillRect/>
          </a:stretch>
        </p:blipFill>
        <p:spPr bwMode="auto">
          <a:xfrm>
            <a:off x="1524000" y="914400"/>
            <a:ext cx="6324600" cy="556260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34</a:t>
            </a:fld>
            <a:endParaRPr lang="en-US" dirty="0"/>
          </a:p>
        </p:txBody>
      </p:sp>
      <p:sp>
        <p:nvSpPr>
          <p:cNvPr id="4" name="Content Placeholder 3"/>
          <p:cNvSpPr>
            <a:spLocks noGrp="1"/>
          </p:cNvSpPr>
          <p:nvPr>
            <p:ph sz="quarter" idx="1"/>
          </p:nvPr>
        </p:nvSpPr>
        <p:spPr/>
        <p:txBody>
          <a:bodyPr/>
          <a:lstStyle/>
          <a:p>
            <a:endParaRPr lang="en-US"/>
          </a:p>
        </p:txBody>
      </p:sp>
      <p:pic>
        <p:nvPicPr>
          <p:cNvPr id="5" name="Picture 4" descr="http://education-portal.com/cimages/multimages/16/Definition-Of-The-Hawthorne-Effect.jpg"/>
          <p:cNvPicPr>
            <a:picLocks noChangeAspect="1" noChangeArrowheads="1"/>
          </p:cNvPicPr>
          <p:nvPr/>
        </p:nvPicPr>
        <p:blipFill>
          <a:blip r:embed="rId2" cstate="print"/>
          <a:srcRect/>
          <a:stretch>
            <a:fillRect/>
          </a:stretch>
        </p:blipFill>
        <p:spPr bwMode="auto">
          <a:xfrm>
            <a:off x="1295400" y="1066800"/>
            <a:ext cx="6640286" cy="487680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Video Clip  - The Hawthorn Effect</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35</a:t>
            </a:fld>
            <a:endParaRPr lang="en-US" dirty="0"/>
          </a:p>
        </p:txBody>
      </p:sp>
      <p:sp>
        <p:nvSpPr>
          <p:cNvPr id="4" name="Content Placeholder 3"/>
          <p:cNvSpPr>
            <a:spLocks noGrp="1"/>
          </p:cNvSpPr>
          <p:nvPr>
            <p:ph sz="quarter" idx="1"/>
          </p:nvPr>
        </p:nvSpPr>
        <p:spPr/>
        <p:txBody>
          <a:bodyPr/>
          <a:lstStyle/>
          <a:p>
            <a:r>
              <a:rPr lang="en-GB" dirty="0" smtClean="0">
                <a:hlinkClick r:id="rId2"/>
              </a:rPr>
              <a:t>The Hawthorn Effect - AT &amp; T - The Year they discovered people (13.58 </a:t>
            </a:r>
            <a:r>
              <a:rPr lang="en-GB" dirty="0" err="1" smtClean="0">
                <a:hlinkClick r:id="rId2"/>
              </a:rPr>
              <a:t>mins</a:t>
            </a:r>
            <a:r>
              <a:rPr lang="en-GB" dirty="0" smtClean="0">
                <a:hlinkClick r:id="rId2"/>
              </a:rPr>
              <a:t>)</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1401762"/>
          </a:xfrm>
        </p:spPr>
        <p:txBody>
          <a:bodyPr>
            <a:normAutofit fontScale="90000"/>
          </a:bodyPr>
          <a:lstStyle/>
          <a:p>
            <a:r>
              <a:rPr lang="en-US" dirty="0" smtClean="0"/>
              <a:t>How Do Today’s Managers Use the Behavioral Approach?</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36</a:t>
            </a:fld>
            <a:endParaRPr lang="en-US" dirty="0"/>
          </a:p>
        </p:txBody>
      </p:sp>
      <p:sp>
        <p:nvSpPr>
          <p:cNvPr id="4" name="Content Placeholder 3"/>
          <p:cNvSpPr>
            <a:spLocks noGrp="1"/>
          </p:cNvSpPr>
          <p:nvPr>
            <p:ph sz="quarter" idx="1"/>
          </p:nvPr>
        </p:nvSpPr>
        <p:spPr>
          <a:xfrm>
            <a:off x="838200" y="2209800"/>
            <a:ext cx="7772400" cy="4114800"/>
          </a:xfrm>
        </p:spPr>
        <p:txBody>
          <a:bodyPr>
            <a:normAutofit lnSpcReduction="10000"/>
          </a:bodyPr>
          <a:lstStyle/>
          <a:p>
            <a:pPr hangingPunct="0"/>
            <a:r>
              <a:rPr lang="en-US" dirty="0" smtClean="0"/>
              <a:t>The behavioral approach assists managers in designing jobs that motivate workers, in working with employee teams, and in facilitating the flow of communication within organisations.</a:t>
            </a:r>
          </a:p>
          <a:p>
            <a:pPr hangingPunct="0"/>
            <a:endParaRPr lang="en-US" dirty="0" smtClean="0"/>
          </a:p>
          <a:p>
            <a:pPr hangingPunct="0"/>
            <a:r>
              <a:rPr lang="en-US" dirty="0" smtClean="0"/>
              <a:t>The behavioral approach provides the foundation for current theories of motivation, leadership, and group behavior and development.</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638"/>
            <a:ext cx="6248400" cy="868362"/>
          </a:xfrm>
        </p:spPr>
        <p:txBody>
          <a:bodyPr>
            <a:normAutofit fontScale="90000"/>
          </a:bodyPr>
          <a:lstStyle/>
          <a:p>
            <a:r>
              <a:rPr lang="en-US" dirty="0" smtClean="0">
                <a:solidFill>
                  <a:schemeClr val="tx1">
                    <a:lumMod val="50000"/>
                    <a:lumOff val="50000"/>
                  </a:schemeClr>
                </a:solidFill>
              </a:rPr>
              <a:t>The Quantitative Approach</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37</a:t>
            </a:fld>
            <a:endParaRPr lang="en-US" dirty="0"/>
          </a:p>
        </p:txBody>
      </p:sp>
      <p:sp>
        <p:nvSpPr>
          <p:cNvPr id="4" name="Content Placeholder 3"/>
          <p:cNvSpPr>
            <a:spLocks noGrp="1"/>
          </p:cNvSpPr>
          <p:nvPr>
            <p:ph sz="quarter" idx="1"/>
          </p:nvPr>
        </p:nvSpPr>
        <p:spPr>
          <a:xfrm>
            <a:off x="533400" y="1295400"/>
            <a:ext cx="7962900" cy="5153891"/>
          </a:xfrm>
        </p:spPr>
        <p:txBody>
          <a:bodyPr>
            <a:noAutofit/>
          </a:bodyPr>
          <a:lstStyle/>
          <a:p>
            <a:pPr marL="640080" indent="-457200">
              <a:spcBef>
                <a:spcPct val="25000"/>
              </a:spcBef>
            </a:pPr>
            <a:r>
              <a:rPr lang="en-US" sz="2400" dirty="0" smtClean="0">
                <a:cs typeface="Arial" charset="0"/>
              </a:rPr>
              <a:t>The </a:t>
            </a:r>
            <a:r>
              <a:rPr lang="en-US" sz="2400" b="1" dirty="0">
                <a:cs typeface="Arial" charset="0"/>
              </a:rPr>
              <a:t>quantitative approach </a:t>
            </a:r>
            <a:r>
              <a:rPr lang="en-US" sz="2400" dirty="0">
                <a:cs typeface="Arial" charset="0"/>
              </a:rPr>
              <a:t>is the use of </a:t>
            </a:r>
            <a:r>
              <a:rPr lang="en-US" sz="2400" dirty="0" smtClean="0">
                <a:cs typeface="Arial" charset="0"/>
              </a:rPr>
              <a:t>                    quantitative </a:t>
            </a:r>
            <a:r>
              <a:rPr lang="en-US" sz="2400" dirty="0">
                <a:cs typeface="Arial" charset="0"/>
              </a:rPr>
              <a:t>techniques to improve </a:t>
            </a:r>
            <a:r>
              <a:rPr lang="en-US" sz="2400" dirty="0" smtClean="0">
                <a:cs typeface="Arial" charset="0"/>
              </a:rPr>
              <a:t>managerial decision </a:t>
            </a:r>
            <a:r>
              <a:rPr lang="en-US" sz="2400" dirty="0">
                <a:cs typeface="Arial" charset="0"/>
              </a:rPr>
              <a:t>making. </a:t>
            </a:r>
            <a:endParaRPr lang="en-US" sz="2400" dirty="0" smtClean="0">
              <a:cs typeface="Arial" charset="0"/>
            </a:endParaRPr>
          </a:p>
          <a:p>
            <a:pPr marL="914400" lvl="1" indent="-457200">
              <a:spcBef>
                <a:spcPct val="25000"/>
              </a:spcBef>
            </a:pPr>
            <a:r>
              <a:rPr lang="en-US" sz="2400" dirty="0" smtClean="0"/>
              <a:t>Also called </a:t>
            </a:r>
            <a:r>
              <a:rPr lang="en-US" sz="2400" i="1" dirty="0" smtClean="0"/>
              <a:t>Operations Research</a:t>
            </a:r>
            <a:r>
              <a:rPr lang="en-US" sz="2400" dirty="0" smtClean="0"/>
              <a:t> or </a:t>
            </a:r>
            <a:r>
              <a:rPr lang="en-US" sz="2400" i="1" dirty="0" smtClean="0"/>
              <a:t>Management Science</a:t>
            </a:r>
          </a:p>
          <a:p>
            <a:pPr marL="640080" indent="-457200">
              <a:spcBef>
                <a:spcPct val="25000"/>
              </a:spcBef>
            </a:pPr>
            <a:endParaRPr lang="en-US" sz="1100" dirty="0" smtClean="0"/>
          </a:p>
          <a:p>
            <a:pPr marL="640080" indent="-457200">
              <a:spcBef>
                <a:spcPct val="25000"/>
              </a:spcBef>
            </a:pPr>
            <a:r>
              <a:rPr lang="en-US" sz="2400" dirty="0" smtClean="0"/>
              <a:t>This approach focuses on improving managerial decision making by applying statistics, </a:t>
            </a:r>
            <a:r>
              <a:rPr lang="en-US" sz="2400" dirty="0" err="1" smtClean="0"/>
              <a:t>optimisation</a:t>
            </a:r>
            <a:r>
              <a:rPr lang="en-US" sz="2400" dirty="0" smtClean="0"/>
              <a:t> models, information models, and computer simulations.</a:t>
            </a:r>
          </a:p>
          <a:p>
            <a:pPr marL="640080" indent="-457200">
              <a:spcBef>
                <a:spcPct val="25000"/>
              </a:spcBef>
            </a:pPr>
            <a:endParaRPr lang="en-US" sz="1200" dirty="0" smtClean="0"/>
          </a:p>
          <a:p>
            <a:pPr marL="640080" indent="-457200">
              <a:spcBef>
                <a:spcPct val="25000"/>
              </a:spcBef>
            </a:pPr>
            <a:r>
              <a:rPr lang="en-US" sz="2400" dirty="0" smtClean="0"/>
              <a:t>Evolved from mathematical and statistical methods developed to solve WWII military logistics and quality control problems.</a:t>
            </a:r>
          </a:p>
          <a:p>
            <a:pPr marL="914400" lvl="1" indent="-457200">
              <a:spcBef>
                <a:spcPct val="25000"/>
              </a:spcBef>
            </a:pPr>
            <a:r>
              <a:rPr lang="en-US" sz="2000" dirty="0" smtClean="0">
                <a:cs typeface="Arial" charset="0"/>
              </a:rPr>
              <a:t>After </a:t>
            </a:r>
            <a:r>
              <a:rPr lang="en-US" sz="2000" dirty="0">
                <a:cs typeface="Arial" charset="0"/>
              </a:rPr>
              <a:t>the war was over, many of these techniques used for military problems were applied </a:t>
            </a:r>
            <a:r>
              <a:rPr lang="en-US" sz="2000" dirty="0" smtClean="0">
                <a:cs typeface="Arial" charset="0"/>
              </a:rPr>
              <a:t>to</a:t>
            </a:r>
            <a:r>
              <a:rPr lang="en-US" sz="2000" dirty="0" smtClean="0"/>
              <a:t> private industry.</a:t>
            </a:r>
          </a:p>
          <a:p>
            <a:pPr marL="914400" lvl="1" indent="-457200">
              <a:spcBef>
                <a:spcPct val="25000"/>
              </a:spcBef>
            </a:pPr>
            <a:r>
              <a:rPr lang="en-US" sz="2000" dirty="0" smtClean="0"/>
              <a:t>For instance, a group of military officers – ‘the Whiz Kids’ - used quantitative methods to improve decision making at Ford Motor Company in the mid-1940s.</a:t>
            </a:r>
          </a:p>
        </p:txBody>
      </p:sp>
      <p:pic>
        <p:nvPicPr>
          <p:cNvPr id="5" name="Picture 2"/>
          <p:cNvPicPr>
            <a:picLocks noChangeAspect="1" noChangeArrowheads="1"/>
          </p:cNvPicPr>
          <p:nvPr/>
        </p:nvPicPr>
        <p:blipFill>
          <a:blip r:embed="rId2" cstate="print"/>
          <a:srcRect/>
          <a:stretch>
            <a:fillRect/>
          </a:stretch>
        </p:blipFill>
        <p:spPr bwMode="auto">
          <a:xfrm>
            <a:off x="6821714" y="0"/>
            <a:ext cx="2322286" cy="16002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868362"/>
          </a:xfrm>
        </p:spPr>
        <p:txBody>
          <a:bodyPr/>
          <a:lstStyle/>
          <a:p>
            <a:r>
              <a:rPr lang="en-GB" dirty="0" smtClean="0"/>
              <a:t>Management Use of Data!</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38</a:t>
            </a:fld>
            <a:endParaRPr lang="en-US" dirty="0"/>
          </a:p>
        </p:txBody>
      </p:sp>
      <p:sp>
        <p:nvSpPr>
          <p:cNvPr id="4" name="Content Placeholder 3"/>
          <p:cNvSpPr>
            <a:spLocks noGrp="1"/>
          </p:cNvSpPr>
          <p:nvPr>
            <p:ph sz="quarter" idx="1"/>
          </p:nvPr>
        </p:nvSpPr>
        <p:spPr/>
        <p:txBody>
          <a:bodyPr/>
          <a:lstStyle/>
          <a:p>
            <a:endParaRPr lang="en-US" dirty="0"/>
          </a:p>
        </p:txBody>
      </p:sp>
      <p:sp>
        <p:nvSpPr>
          <p:cNvPr id="75778" name="AutoShape 2" descr="data:image/jpeg;base64,/9j/4AAQSkZJRgABAQAAAQABAAD/2wCEAAkGBxITERUUExQWFhUXFhoaGBgWGCAbHBsbGx4cIB8eHSEfHCggGholGx4cIjEhJSksLy8wGB8zODMsNygtLiwBCgoKBQUFDgUFDisZExkrKysrKysrKysrKysrKysrKysrKysrKysrKysrKysrKysrKysrKysrKysrKysrKysrK//AABEIAMQBAQMBIgACEQEDEQH/xAAbAAEAAgMBAQAAAAAAAAAAAAAABQYDBAcCAf/EAFEQAAIBAwIDBAYFBQ4DBQkAAAECAwAEERIhBRMxBiJBURQyYXGBkSNCUqGxM2Jyc4IVJDRDU4OSk7LBw9HS00RjogdUo8LwFjVkhJSztOHi/8QAFAEBAAAAAAAAAAAAAAAAAAAAAP/EABQRAQAAAAAAAAAAAAAAAAAAAAD/2gAMAwEAAhEDEQA/AO40pSgUpSgUpSgUpSgV5ZgNyQPfUbxC7kaUW8JCto1vIRnlrnAwPF2OcZ2Gkk56H4vZ63P5ROaftTEyHP7WQPcABQbjX8IODLHn9Mf516S8jIyHQj2MP86hbyS3QlEtUkkDhAioi5OjWdztgJv78DxrJxua1tkVmt1bWxUBY1JyFZumPJTQTayA9CD7jXqoC2s7SSZovRY1aNI3PcXbmattvEafvFZbLh1nJqKRjAdkJAK5KHBx5gHIz7DQTVKiF4NaN0UHBK7SN1HUbN1B+Nev3Ct9vX9mJpP9dBK0qL/cGHwMw908v+utLhcNrcAmN5zgKTmaYesMj6/lQWGlRbcBhIwTMR+vl/10PAYfOb/6iX/XQSlKihwNNsS3A/n3P4sa+/uIv8tcf1zf50EpSoscEX+WuP65v869HhHlNOP5wn8QaCSpUY/CnwMXM6keOUPz1RnNeJYrxB3JIpsfVkUoT+0pIH9CglqVHWHFg78p0aKYLqKP4jplWHdcZ8jkZGQM1I0ClKUClKUClKUClKUClKUClKUClKUEP2eGprmXOS9w6/CLEYH/AEn5mpZnA6kD3monsww5cq7dy5nHzkZhn24NYO1HBZbkxctkQAOrlgScNpPdA6k6cdRjOd6D3xDhCm5hlCljzizfmjlFQfYMonzrfvrEyPC+rHKctjGc5Rlx7PWz8KqF/wBm71ZXljcYkkOsISZShDY+kLRnSCQRHnbHUjapziEdyIYY4S8m2mSTWvMyq4GWOwy3rMASMbDyDL2c4SYNZd1eZ9OoqMZC5wTkkliSxJ9uBsKg27LsupPTQHZ1JJUakDTF1WPfuhiMYIOSPhWbh3BrkXUUkmdSwKryEgnWEcftd52PwFYbvsvdSXDS8861caWIABUQsBpUHSGDucMem5oMj9iTrVVdeQGZwDnUjM4YsvgXIGA53GT51oW/YadNCNe6cMrREA5EgwG0gn1eUvTzLE1v3vC70w5BYv8AR5QPguREqkuwdCDrB6E+eDVh4hbSSJFpIVlkRnwx6L1APU7/ADoIxrc21hGk90YjGNJlBHeO4UEspO+x2GdqibLshcxRqYLgahoZe82ksIdGW66hrwQp2AztmsUPZS7V4ObcyyNqZ86yVjflsAcEYIyQN+u/nVh4VFfrEqyPCZCxyWJbCgDYBVTVvk+GAQN+tBBta3lvHEouPWuI1kDyGRzreMnBx3e6GyNxgk+O0r2ht7uR0ms3UqsMgIyCJGLLhfEDYN3h0IHtqTurGPQ0skcbyiJgzLHuwwcgdWwemMnrWDgSlOHxiNdLCAaV047wXyIH1qCurBxSLaFSUjhMSKxUhnUJpfc5IOl9yRjUox1NZbpOKMI5cRmWFZ+7pOC5YKpXcZHLPdyN8HPWsMXHuIMFLxSRHGM8kuMSYKuUG+tVRlK5wGcZpPx+/POhkhZcQN30RvW0xeoQe8Rqc7eQ8jQbPD04hLMiTt3Ypg5YR6QVC5He2yxLacBegYnGwrf4vNxL0g+johhBjHfx3s6tXtCjKknr3dhvXnszcySC4uSgVZAvLAyS2hT1yBluinHiCN8ZMLJf8XVY1kKIZeUDIVAWJir5B2IJyEzkdWIHUGgleEcTvnuI4pkEaiDLkoe/JvkqRkAAjOkn8RWrPFxCGSWSJjKXnVSGiGCixLhtmGldW2RnHtr1Pxi/DSBFXIlWBS6lU1Zc8zc5IK8sbNjLbZO1T3COKSTSyqYtKRMYyxO7OPsjHqaSDnPU4oPvaLh7SwkxnTNH34mHUOBsN+qt6pHiDW3wq+WeGOVekiKw+IzitknFQ3Yz+AwEdCuR7iSR9xoJqlKUClKUClKUClKUClK+MwAyTge2g+0qLn7QW6g4kD468sa/mRsvxIqGXtY8r6YY+79oK8xH9WOWP6ygttKr6304zr5uPMRRqPvkJ+dav7syAk84YH20iH+OP7qDZ54tbuQyYWG40sJD6qygBSrHouoBSCepBHlVhBqpzcfkYEEQOvQhnjGfMH6Zh91V+84/a2+A9oyqSAOTcHSM7dFYKvzoOlmqDZ8L4lDEjLq1upV0RlPL1OzAqGOjUNstv+UbrgCpnhfDIJg3dvISpwVa4mA6AgqRKVdSCNwfvrfPAV+rNcr7p3b+2WoIW6fihjXSu/IRz6uRLGGLIcHcSNo6bY1dK3eEteC0lYs0s5BMayJywG0jYA4JGrJ3x5dN63P3JnA7l7N+2kTf4YP317Nnd42uUz+dD/k4oK6l9fRlDO02nnEFVjQyFe5pzpUqY921ae8Mjc4NalrxC/trZtcJQlxvpBzrkGuRmL4VsHYMFA26gVbWW+HRrd/erp/5mryJ77xgtz7RO3+zQRHA7m5nukE0eBbq2ZACA7OFxjYKRpP1cjK52yK07lblLieYlJXSSJBpt3do42XdkAkzsGORg5I+AsZuL7+Qg/r2/wBmsaTX2SfRrcE9fp2zt0z9DvQYOA3t7LLiaLlJGu7YH0xb1cDJ0FQMkZO7AVpvxmY3CBMLGZp1LSsQrMmlAoOnbLFiF8dOakHv7sNpPoinIAUzOTkgkfxY3ODj3VmLX32LY/zjj/DNBmDSm4jBYBViJdVPrOxAXrvpADY88+ypKofVfZzyrbOMZ5r5935GvJur8dbeBh46Z2z8MxAfM0E1SolOPRmGKXS+ZTpWMAF9Y1ZXrjI0tvnG1fG42w/4W5+CofwkoJcilRCcZkbZbS4z+cI1HzMn4Zry8F5NkM626f8AK78hH6TLpX4KffQY+0V0X/ekR+llXDEfxUR2Zz4A4yFB6n3Gpm3hVFVFGFUAAeQGwrBw3hsUC6Y1xndmJLMx82Y7sffW3QKUpQKUpQKUpQKUpQK5vxLhvEby51yRBI4nITAAZtJ67yA6Ttg+NdIqucEt/SUkknd3zLKgTUVQKjsoGlSA2w3LZzQVbhis0mlLeZ3VtLEmFtG2fWIcDB6jVq36Gt/tBw66EECzXB0m4hQxxd3IZ8EM6hSwwcYCqPfV6hiVFCqoVQMAKMAD2AdKgu1C6prFPO6Dn3Ro7fLOPnQQXFbXh8dzyBbWuoIHZ5nMe5JwAdDEttk7jGRXuOyh6g2aZ6EXMj9fitXqlBzjikcMas5lspWRGbl6pNRCjUQDzmPT2eVSXaTgluvD5ZRGyNyCdKyuBqI6HvYbBPiN8VcygIwQMVCdt2HoMoP1tCf0nVfj1oMXDuJM0KRWaiXQgTmscRAgAddzIR5KMeGRWDg93fyyXCNLb5hkCbQthsoG/lduuPGrQgwAPKq72ZXM/ED53OM+6NBQeo+MSaiomsnKnDASFSD5Y72DWwvF3Jx+9j5Yud/lyq82fZ1IoI4oxEdCgFpIg5Y+JPeG5O9JODyEac2xXxBts/4uPuoJGxnkbPMj0EHbDhgw8wcA/MVtVFcB4KLbmYYHmOGwqhFXCgYVQdhtn41sR8SU3DwAHUkaSE+GHLAAeOe6aDbkcKCSQABkk7AAeJqrdsO0d3a8tre1FxGw3ZWJIJ6bKp2I6N76tTqCCCMg7EHxFc44r2W4Olyxadojgao45MLH7TgfRjfOCQPgaCnca7SQ3cvNnt5YWx3njbVsoZQMFV67rknYjbxqR7G8evPSV03TS2cOeaz7aY+8dTq2WBztkZ8BWa/7Ji2lYQXEqqCGQnvoVI1gMNg4IWTbx0r51Kdo7pVtZwsUEd0YtGpFxrUHMqge5SwG/dYeNB0HhPFoblOZBIHXOMjz8vfWt2g4qIlCKyiaTupqIwvnI2/qKNz57DxrjPZ++ms8Xtt34M/Twgn6M9MNvnB30ufbXYuGmzvY1uVjik1Ad5kUsMfVORkEZ6UGl2etRI0TJn0e3UrCT/GuRhpfdgso89THyqz18Ar7QKUpQKUpQKUpQKUpQKUpQKUpQKr3YRgbT+dmz7TzX3rZ4zx8W8kcfKlkeVgqaFGnUc7FiQBsCTjOAKpMFxfWrywNPb20SnnPI5MrKJnfAXIUM2QdsdT45oOmSSBRliAB4k4FVDifHIDf27BjJHFFMWaJTIqsxQLnQDvjVUVa200wzGtzdNn8rciOGM+1NSs4H6KisVtwa+uJJ4i1rFyiqnUjXByyhu60vTAI6KPdQWd+2trnC8xz5LGfxOAPiaf+1LE4S1lJ8j//ACGH31ocI7KtbRpE08e5IX8qNR3bYc8DzOAKlDwluha3OdhmNsn/AMXOaD6nGpz/AMPp94lP4QY++onjPE2doUm0pGJ4i+YZ8HDDSuWiCjL6epqUHAH+q0Q9yyD7xNmoDtDYTwKjsvMiE0OVF1IQTzF0krIrFcNg7P4b7UF/qvdkG1elP11Xcu/gQpC7fLHwqLl7aSi7a35MaAM4DyyMuQmnfAiOxJ2wT0PSs/Db/kR6Ijb41O570jHLsWY7R77mgt1Kp79sGSOaV/R2SNTpCSvrZ8d1dLxDGd+hPToag+F9pr5pdeuNxI/0a6lMDqd+WkgUNHMB9Vx3seFB0yoDg/fvr2T7PJhH7Klz98leZu10IhV1V2kdiiwAAScwesrDOF0+LE4A3ydq0eznF0EqqIZQ14TcZLowXuLkbNqCjAAyN80H3tBAq3Wu7MvozIojdHdVhcZzr0EY1bYc7DptXq24PcJFJDbzKYZQzpcEKzozEHDDpMGBOH67b52rPx4i5uUs8/RqvOufagPcQnyZtyPJT51tcGit1eRrVozH0ZImyA/ngNpTbwAGaCq8B4a4sBcNetDCmp0QIjRxqCfWDKST12BGM4FaEvEo7pRMQp2Op1UqAUOkuoI6MBD7gSPA1ZO0HDoItRQzIJcmWKJlCOMHJKsCAT0ymCSRVTuXVwsLIyQK2mVgpwkKk7bDvLksmrHQAk5oNDhyLYyW9xJlrW9jZZg+N8kkMwO+CCGwAMb1Odnrh+GcR9DY6re4OYAratAZjgnOOvQ9fCrf2q4JHd2LQqVA0hoyMYBUZX9nw9xqJ4LBbi2sjezRi4gAYFpF1A4I0kk5OARn2igu1Kjk49akgC4hJPTEi/51uwzo4yrKw81IP4UGSlKUClKUClKUClKUClKUClKUFR48JJOIRhHCJb27vI5wSnMOAVB216UYAnYAk4Neux3AYTBFcypzJ5F5heU62GrcAZ6YBA28qmu0s4jtLhz0WFyf6JrJwKIrbQKeqxID8FFBvVXexRLJcSn+Mu5iD5qraF+GFqxVA9h/4Eh83lI9xkfBoIzi1lw9p5A00huQ6ycuORjIpwB9Gn1Qy4BI+YrGOG2T4I4ZKwY5bVGFKMPIOwOTjdk6+Zq6aRnPjX2giOzthDErcqF4d8ESHJIXpjvN3RkgCtTtlpYW0J6S3UQI8wh1/wDlFWKq7xwFr+xTwUzSH9lAo+96D7dHPFYB5Wsp+bx/LpVhqvLvxY4+rZgH2FpTj54Pyqw0GjxfhUdwgSTOx1KykqyMOjKRuDufnXPeL9k/RpeZK2q1kIE7hcYGdjKq7aw2CJlwQRuOprqFeZYwylWAIIIIPiDQc8aGGa/aBEMUkqMJpmyzvGgUBYzgaDIneLezbOxqb4NYJHxKdYwQqW0IA1M27F9tycAKq4HtqncUSSykBVsizmBwzbtBIDpxnbZNSHBGSo2Jq98B713eSAHSxh0tg4IEedj0I38POg0Daxm54jHPkCaNH1AkEwiMKcEdNLBtvzh51Sor9bZI7m0mka2VTGW5SiRMkFFlUga4sg4YYIyRmr92jlW3uYrqTHJMbQSHrp1spVsdWBI0kAE756ZqiSmJBJHFcW6RSw8vSx5oVZC7krpOWAYEKDkrrGeooJpuJeklZ9XVcjwVcAMpO/TLRhv1TVhigluIYJFs2EmnKhVQAkggFpi+oRkEEppyax9luEm9CgI8dmqpksMGYANlF8k1M4Y+I04xXT0QAAAYAGAB4CgpnEbKCKwgsJ1luHMYGiEd/uDdxv3VHQZ9g3qgJGl4BGjRekaAzB0VG1ZKiKNWIUMgyxI3YsOnh0biUUsnFMQS8l0tASdIdWzIcB1OMjY9CDTjXDo5Bi8twAAcXEAyFz9pcFlHsIZfM0En2bnhMKQhy0kaKrrKNMmw6sp3389x7TW1LwK1Y5MEWfMIAfmBmqXe8OMaIzzF4U7yTr3lAAJ9YEPA5GwYMYz4gZxUNe3l7PHCY7maWRUVjytCLGHAZOYcjnOB1AAHXpmg6LHwqWH+DzHT/JzkyL7lYnWnzYDyr2ON6MC5jaD88nVF/THT9oLVcg/7QVcbRFMbHnEg58cBFYfMiss3bheh5O46a2O39DpQXNWBAIOQehFfa5lw/takV1GkJjWKRwrxhmKgsfWj+j7jZ+rnSfIGum0ClKUClKUClKUClKUEF27bHDbv9Q/4VIwTxxxIGdVAQDvMB0A86rvavizNN6IkaSJy9U5kGVAb1FOXUDOC2Sei48arHCkNy7yFF+jkZI1t1dQAuxJEK4Yk9CZMdMYoL1xDtRax4HM1s2QqxK0jEgeAQGoTg/aSK0toYplYFUGW2QZOSRiRlbb3VD9hbctxAyOJM6Z9AfUQFR0jwC7s2cgk/pY3q59tf/d910/ISdRn6p8/Gg8DtTFseXLgjOQFYY8+658K9HtVbjGRKMnAzE3+XtqJtLdwgBV8ADG9yANh0CgADHhWWRWI7wbPkTcbe7J/uoJmPj8BGRzcfqJf9FVq67SRScTtxBqmYRTLpUaSGJTOdenAAU1rcUiABbT4esyPjp5tbN/aHvqnT2EugsrNGqQySo4IJOWVTy2WQlcliWOcHfujrQdNsTci6uZTat3xGiZkToiknxO2pj8qk4765+van9iVW/taaWnB41VQHm9UdZ5D4e16yrwtQciSb+tY/iSKDFLxV1620/wEbfhIa8txtR1huB/Msf7Oaytwz/nTD9sf3ivB4Scfwi4/pL/ooKP244xatIG0SyMInSaEK6PpODGxyo2DjGT4OdjWrwOzeeJY4XnuGQAMxuZIraI42jXRiSQqMf3mr9BwZY5jcNNKxEZX6QrpCkgnoo8h8qiewt1qe7WJlktxOXSUHctIAzLjG4Gdm8c+yg0If+zOJ1c3M0ksjqQDqYrGT4oHZiSPNia05OxhQwW0t0AjllRIoSGIUBj3izaNge9/zGHjt0KC6RywVgxRtLAHdW2OD5HBHzqqHiaT8aijjcMILeUvpOQGdkGNvEAD50ERcdnHPEJobWZoESGKRYw8gQFi6kAJIAo7oPQ9a2jwvjEHeSfmgDJGoNn9mRM/KQVPWxzxWfbpawgn3vKaz9peM8hFWNS9xKSsMY6lsdT5Io3JoITgPF2MkNxcIv74URJNFkLnJISRG3R9WQCCwyCNtqulUa0tyXtbBG1+jMJrqQdA+7Bf0mclseAFXmghuJcIADyQHlSYJO2Y38xInQ5+0MN7fCud2tyyulxZcNdo5UDSo6Bo9X/KyMqB7O6Qegrq94cRv+ifwqF7J2qvwy2RxlWgjyN+hAPhQUS3HGJTvGIULeoIcaVPkVTJPx+VbNl2cuELMRdO7DBw7KCM56lkI6eBrqVKDm9nBLbTwH0VI9cgjVpMksWyTl/SHbVtkEqfhXSKrHbL8tw/y9MX+y9WegUpSgUpSgUpSgUpSgqHEoTHczs65WYxNG3IM3eRdJXA9V+jAnbBbyNQTJNz3VBIwlbVhpTlHIwxeK22AOB6zL0OSKsnH7IyzFWuLvRpB5MEeFPvk0b58tQqNubuBFEbqsekBRHLOztjoMxQlh86CNs7R7OUyF7aA5fDTzY/KBSw5QZjs65GHzg75qcummureSFpGKSRspcWjLkEdVJlwfZ18KiL26gA0yvy4z6/IigjBX84Ss0p9wGfZUra8OiAQwok6PjDc0aiCCVLBsDBz0APhtQYbzh5mkDtLIpCgEC1OCAPEMzZPtFYF4OqjaTPtaxK/fyyPurbntHI3sY84wNEqDp4bkf+jUfJwqXOUspwD4xXcQxjyzv8M0HmWziOVyQwyxNo0XMGOraBGkpx4gA1j43byxGRJJmnAtY8M66Ww1wuQ++5+XSsMl5cwzxMy3kQVgMTRpMpB6qHVzpyPLes/HuKx3F3PHAxmPLtlCxDXqKStI65HdXu4GpiBv1oOkKah+Kdo4o2McatPP8AyUI1Efpn1Yx7WIqj8W7U3ksxjkBs4lODpOtj7GMeW+C6f0q3eHXdii6GvpY0HVEjaBCT1JYpzGPmS5NBa14rcD17UjbfE0Z/Eiqd27423Nt1a2ulKMz6YyO8mMFlMbEhlJUjO3getb11LwaNSqJBNI4PdLhjt4u7nuDfqT7ga1YbGzGHa5ZJBnlCzDMkBbrp0o2onYEvscbAUHm84ndXVo0drMt1G+zsNK3MaEd5XTIDMemRp9x61IdnS0FxarIDGZrFFZW2+khI6g/W0vj4eyvtszc4SJPYyShdPMkjMUuDj1gG73ht3fhUGl9cXFzBazPD3zO45kJcZVnXSNUhypwSBtjAoNzi9hZ3t+8kzRRQw9wvzAjTyYBIJz6iDbzJyM7Vh4xFZtcR+hlSkNrMCLaTQA2pBGpZDjUSWwpPeIrXvrS6gcQhIS+CilYFiMinDa42DFWdMY5fdJAOxqYg4Vc3UREd1CIy4YqInBRgMFCpcFR46SMqemNqDX/7N+JWypLLNcoJnfRiWfJCJ6uNZ1YJLH416PEHeSa7QAyyyeh2YPQKpOqT2jIZtvBQKmbbsWq2yxGaQyAHMmTpZidRJjJKkE7EeRNV3ivC2gdOZbwxYccua1zGxYg7rk6Ef8x9mzgEnagkn4VLwxA1tJraZ1EpnAKGTSe+zalKam26ndgMb1K9n+0FxcISYIyQSDy51YD2EEBlb2EVFtx5zA8cxSSPAXn8otoJ8LmDZk9pHd69Kj2tuWFcHlM+AjpJmNvIRTb6PZHMCvgKC5Xc900bqtuoJUgapfEj2Ia1OD2t9FbQxD0dSkSL3tbbqoG+MD5ZrXse0siEpOjNp3Yqv0ijzaME61/Pi1D2CrHZXkcqB43V0PQqcigibTi8sTFL0IhJ7kqAiEg/VJYnS4O3exnbFTgNfJEDAggEEYIO4I9tQ8nDpYATaEFf5Bz3P5tusfu3X2DrQR3bqTS9gR19Nj+8MP76tdUXtRdm65UHo8sU6SxyIZGRUBDDVhteJO7nZcnpsKvVApSlApSlApSlArzIdjjrivVfGGRQUns9wRru2SaeeT6QFtKMcDc7AuWPyxUva9iuHp0tYyfNxrJ95bOa8dlJCnDU0AM0aSAAnGWRmGDj2isHD+1E8kSStaiJHUMHeUlcEAg5SNtI/SxQbvGOC2q2s2m3iXEUmNMajHdPTbrWfgvDoeRCeVHnlIc6Bn1R7Kr/ABPtBfFNJsQ0cmpGZJyQFO2oMqYwQeu2K+8L7T3COsMlodAUBDG+WIUfZkVeZt4qTQWp+FwHrDEdyd0Xqevh41hfgNqf4iIe5APwqJj7fcP5jRvNynU4ImUx7+XeGx9h8qmoOLW77JNE36Min8DQUDj3ZVn4gIY3CRPCZFjYyMrlSA4Pf7p3B7uNiRVj4ZZ31uoSK1sFQfycjx5+HJO/vJrY7QHTdWMoGfpXiOPKRCc/NBVhoOX3HY/iRneQsulnLBVdWxk5x3o1z8cV4vuyd4xxy3Ye6LHy54x8BXU6UHI7Lsk0WNVvesxJJYJA4Gf57UNsDGcVKJZzKDq9O88cqT/DusV0ilBzSRXIIPPYEerIl0B96ygbVgW153LaeSSKSFm5J5UjsFOkpjEEedLr0I3BIrqVKCu3XGLOdDFIskikAn6CXYjoQdGVYHpjcVXrrYrJBcSrKrbPLazF+WeiSFQBIo8CwJ9tdDpQc4/dW/HS9V//AJSRf8Bs14ueM3+CJZYSjDGmS1nIbPniAZHyrpVKDkNm85c5nWFo8tFJHDNIAp6xNrQMUPUKdWMbYwKlOLx22NVreJbTNu0UgZbeU+OqN1woO+4HzrpVeXQEYIBHkRmg5Rw/iqsxhkTluneKoxlhx9uJkJlg96ZUZORWe746lspnILczuq8UmkvuPrIDHKRj1mVZAM5Bya377grT3sklmscQtcR9wCMvI4y+HUHBVSBuCDkioDirIk0jyFIp1wZFcKgc42Z4S3LnxnOpHB9nhQWnhvHxKgZWbPiomlYj5Q1uS3c+DgzbeQkz/wDjGqovGIlSMsvD3L7ZiVWGfHIER0j2E5qRtpY2j1oIQrZ7yw6FODjqAOlBu3kty6lSs7qV3UqpB/rLUffWv2fvbpZ1hVb7SpBYSpEU07bK5KkDfpudjgVGX1mG6tZOMZCuoA399yN/hXzgvEJ7Qu8drAFI3KPIE2/RMiLnxNB1alVrst2mlumKyWzRd0sJFbmRtg4IDADDZ8CPA1ZaBSlKBSlKBUKnayyOdM6sQ5TCgklh4AAZb4Vucctnltpo420u8Tqp6YYqQN/DfxrllvDaNdJFPiFjJhh6hRFiUKmeiZkDZbqe6c4IoLt2beeGDli2kf6WVtRKxjDyMw2chuh37tbXYK4DWMS5XVGCjqD6pUkYPl8a2LOxmgQLBIJY16LMSWx5CQZJ/aB99aVx6HEC80LWpyxMgBXdjknmRkjc74J+FBtce4QhhkeJ2t5ArNriOnoM94Y0tnGMkZ8sVqcF4SZLOF2lnLtCjECXQNRUHHcAA38QPnWOx4xBcQy6b5WiKFCzKFdCR5kAHbPVa0rSKF4lW3S8ukVQocTtFH3RjYl0DDb6oIoK5wiAq9xklIHbINwpnt3fJDgyAbDPSTKnc7Nip6JVTBCoiDf6XE9sw/NmA1wn9Pb2VF9nOG3BluGs/wB7pG+j0V5ix1L6zb6lAPhkb+YqUn+jJaa3MTHq0eqJs+1kLQv+2V91BJW4sHZUmtkhkJ7mpQFY+BjkXuv7MHV7BUq3Z6E7apgPsieQDf8AbqnSxrgLFIpDdUmCqj59gzbyN+jobb1q0+EdoZormS3acQBUBSJ15qsfHSzyAp+gXI64NBd04C8f8HuZU/NkPOT/AK++PgwrILu7jH0sKyj7VucH36HP3Biarb9pZV9e5RfeYEHv/LOTWlJ2qcZPp6ADckFGGP2LVvxoLxbcbgdtGvS/2JAY3/osAT7xUjXJLrteXVleeOdcgAPHkEnpj96AE/fUh2O4jcvdovMmWIjJRo2MZwDspdAU+BA26UHS6UpQKUpQKUpQK0+M34gt5Zm6Roze/A2HxNblVbt9IzRwW6aS09wi4boVQ6znG4HdAJ8jQanYDjcIto45DolkZmJYjTI7sWOlh3dW/qEhhjpVuurWORdMiK6+TAEffVN4nbwsf33A9q7dZYyHgY/n7afjIgI8DWr6df2TrFHm7RlLRKO9qjXTqw+dSkal9bWDnYjpQeeyfYSwnsopJYMu4JLamB9Y9MHAGKt1lwCKFFjiaVEUYVVkOBvn/wBe+oLsXxllsYFNtckhcZCDHU+JYbVNLx1/+53Q96x/7tBtPwpT1km/rWH4Gqt2q7NwyT20WpyZJMuGbV9HH3n3ILDJ0rsR61WAce/+Guh/Nf8A73+FVziLvNeekL6VCY4VWI+juwLFiXDrp3UjSPA7dRigu8EIRQq9FGBkk7D2nc1kqC7N8fNwWjliaGeMAsrAgMpyA6Z30kg9QCKnaBSlKBSlKDHcFgjaBltJ0g+Jxt99czu+GwLHbLdRtGzO5upXGlpHIJCc0HBVnOAAegA2rqFYbq1SRCkiq6nqrDIPzoKp2I4JA1osoBUynXiKRkEY8EGlhuowD5kEmt7tJwKSaFkFxhQVcCVQwBjYMMkaSV23BzW1bdlbOMkxwhCepQspJ88g5z7a+3fBGaJ41uJQHVlOvEmzAjqRq6H7VBzu7uTcTGRrSM+lQmKAowzsSGlCiMuQRg6iNgAPGt+w4TeWsqwR4LLFrb0eVkGNWPycuqIsTk9F6HcVI8IsOI29w373hk1Rxxc7mYVVjBAIXGrBGCUHjneti+4JxAPPMHgleaLlMiq0WlRq0lGLNk5Y5DYB23FBoXV6Cy+kxK7k6V1r6Lc/sPq5ch/RdalrbiGhlUXEsDN6sN6udXsV85Y+5291U/ht9dRDkSRtjBBhZQ23nymA1p+rKj21K2M1tIpjjZoz4wph0+NvLvj2R599BNcT4XG2oz2hXV60tqdQb9NQAX88FXFUhuDhruGK3uY5Y5DpYkFZIxGCcMA4dcKT00DcbVY7QywZMDaQuzejoZYR+styebA3sQ4rFdX6XcqiaHh8jRoW5zXB0Bc4OV0ZB2zpbyO9BuR8F4fAfpbuIN455IPzYF/+qtqKXg6uPpI5nO4DO05+AJbT8AK1IeLac8q4tSPs2lm8xHh1SQ5HwFfJONSkEvLcqv2tMFqPlMxeg9dpLtpnthaxzBY5TIW9GYp3Rhdjp1bnwPt8KnJ+PPbDN4gVB/HRNqT3spw6fAMPbVVti07hFbnFs4Et7I2w33EEfLHjtqrDxbs/L6RHbIlmHuEfU4hdnjRR3mDvISSc6R060HSbO6SWNZI2DI4BVh0IPjWaq/Dwy+RVVLqEKqgAG2O2BgYxMNq9Lb8TB/L2rjyMDr94lP4UE9SoUvxH7Fr79cn4aNq+pLxDxitj7pXH+EaCZpUQL28HrWqH9XPn+0i/jUZxvti1rHzJ7SZV1Bc6ojknyxJk/KgtVVe8jWXi8Ixk29u7n3yNpX7g1SHZftFFfQ82JXUBtJDrjfAO3gRv1FQEM1wOI3s8KLKicqJ4+jkKuolDnGoaj3T1z1FBdmUEYO4NUXhfBH/dC5e2lECQ6Y1j5euPvqjvpXUoTcL6tW/hfFIrhNUbZwcMpGGRvFWU7qw8jUP2aP774h+vT/7S0GW9S6hieR7qMJGjMcW3goydubvWpFd3ZAJkcA9MWgPgD9WVsbHxqX7TWbzWk8UeNbxMq5ONyMdfD31E3fCIjKWaylZhpy6SKquQoXOOauSF7uSOm3Sg8vxK5TJMrkDc6rGT8VevN3xa75du8MsDi4kRUzCw7rAktvLnZQTitO/4TIsMi2lnNGzRSRoDOoReZ5JzCoAO+2KkZYgL2wgA/IwyOR5YVY1/FvlQSnB+EtE0kssnNmlI1Pp0gKvqooydKjc9dySalK0bDiHNeTSh5aHSJCdnYbNpH2VO2fMHyreoFKUoFKUoFKUoFKUoFKUoNa+sIpl0yorr5MM4PmPI+0VAcS7JBt42DDb6OcFwMfZcESqf2iPZVopQUOETWlwssyvyx3SXAlVFIxqjlReYq+ayjG/UVF8YaK54g8qSIUREVWjhMgYkktkqhBIwBnUDXTZYwylTnBBGxwd/IjcH21B2PYvh8Q7ttGdh64L9P0yd/bQVm9ChQHZh7S8S4HmFllkPw01hiMf1Q7EeKpK/X9RAi49xroNrw6GP8nFGn6CBfwFbVBzv0S6caY47gqRnWC8WD5fTXWr46anuAcNuPSefOgXTbrCmX1uSGJZiRsM7eJ6VZqUClKUClKUCoHth2Xjv4QjkqykmNh4MRjceIPlU9Sgq3BeCXttbxwxTW2EGN4X38SSRKNyd+lSfZ3hTW6ya3DvLM8rMq6RlsbAEk4AA8alqUETxLgSyPzo2MM4/jEx3gPqup2dffv5EVD8Ihvrea4eS3SXnOrZhkVR3VC5xIQRnHTJq3UoIn90rnxs3+Esf97ij8UnH/BTH3PD/ALtS1KCHPGpf+5XP/hf71QcvpRu5Z/R5Y9dssMOShw+piWfSzaFGQck+B8cVdKjuO8N58ekEZBzhs6W2Iw2PfkdcEA4NBWbIXkDMUUmJVYABg+orhIlUD1FOTIx65znAG+twLtDcpDGfRZXjGVeQtkEh21NpVWcPuS2QACMCrJ2U4I9rGVdgSQowuSO6MZyQCWOfLYBR4VIR8MjWQyKGVmOWCswVj5lc6SfbjNBmtblJFDRsrqfFTkfdWasMVqiszKqqzY1EDBOPPzNZqBSlKBSlKBSlKBSlKBSlKBSlKBSlKBSlKBSlKBSlKBSlKBSlKBSlKBSlKBSlKBSlKBSlKBSlKD//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5780" name="AutoShape 4" descr="data:image/jpeg;base64,/9j/4AAQSkZJRgABAQAAAQABAAD/2wCEAAkGBxITERUUExQWFhUXFhoaGBgWGCAbHBsbGx4cIB8eHSEfHCggGholGx4cIjEhJSksLy8wGB8zODMsNygtLiwBCgoKBQUFDgUFDisZExkrKysrKysrKysrKysrKysrKysrKysrKysrKysrKysrKysrKysrKysrKysrKysrKysrK//AABEIAMQBAQMBIgACEQEDEQH/xAAbAAEAAgMBAQAAAAAAAAAAAAAABQYDBAcCAf/EAFEQAAIBAwIDBAYFBQ4DBQkAAAECAwAEERIhBRMxBiJBURQyYXGBkSNCUqGxM2Jyc4IVJDRDU4OSk7LBw9HS00RjogdUo8LwFjVkhJSztOHi/8QAFAEBAAAAAAAAAAAAAAAAAAAAAP/EABQRAQAAAAAAAAAAAAAAAAAAAAD/2gAMAwEAAhEDEQA/AO40pSgUpSgUpSgUpSgV5ZgNyQPfUbxC7kaUW8JCto1vIRnlrnAwPF2OcZ2Gkk56H4vZ63P5ROaftTEyHP7WQPcABQbjX8IODLHn9Mf516S8jIyHQj2MP86hbyS3QlEtUkkDhAioi5OjWdztgJv78DxrJxua1tkVmt1bWxUBY1JyFZumPJTQTayA9CD7jXqoC2s7SSZovRY1aNI3PcXbmattvEafvFZbLh1nJqKRjAdkJAK5KHBx5gHIz7DQTVKiF4NaN0UHBK7SN1HUbN1B+Nev3Ct9vX9mJpP9dBK0qL/cGHwMw908v+utLhcNrcAmN5zgKTmaYesMj6/lQWGlRbcBhIwTMR+vl/10PAYfOb/6iX/XQSlKihwNNsS3A/n3P4sa+/uIv8tcf1zf50EpSoscEX+WuP65v869HhHlNOP5wn8QaCSpUY/CnwMXM6keOUPz1RnNeJYrxB3JIpsfVkUoT+0pIH9CglqVHWHFg78p0aKYLqKP4jplWHdcZ8jkZGQM1I0ClKUClKUClKUClKUClKUClKUClKUEP2eGprmXOS9w6/CLEYH/AEn5mpZnA6kD3monsww5cq7dy5nHzkZhn24NYO1HBZbkxctkQAOrlgScNpPdA6k6cdRjOd6D3xDhCm5hlCljzizfmjlFQfYMonzrfvrEyPC+rHKctjGc5Rlx7PWz8KqF/wBm71ZXljcYkkOsISZShDY+kLRnSCQRHnbHUjapziEdyIYY4S8m2mSTWvMyq4GWOwy3rMASMbDyDL2c4SYNZd1eZ9OoqMZC5wTkkliSxJ9uBsKg27LsupPTQHZ1JJUakDTF1WPfuhiMYIOSPhWbh3BrkXUUkmdSwKryEgnWEcftd52PwFYbvsvdSXDS8861caWIABUQsBpUHSGDucMem5oMj9iTrVVdeQGZwDnUjM4YsvgXIGA53GT51oW/YadNCNe6cMrREA5EgwG0gn1eUvTzLE1v3vC70w5BYv8AR5QPguREqkuwdCDrB6E+eDVh4hbSSJFpIVlkRnwx6L1APU7/ADoIxrc21hGk90YjGNJlBHeO4UEspO+x2GdqibLshcxRqYLgahoZe82ksIdGW66hrwQp2AztmsUPZS7V4ObcyyNqZ86yVjflsAcEYIyQN+u/nVh4VFfrEqyPCZCxyWJbCgDYBVTVvk+GAQN+tBBta3lvHEouPWuI1kDyGRzreMnBx3e6GyNxgk+O0r2ht7uR0ms3UqsMgIyCJGLLhfEDYN3h0IHtqTurGPQ0skcbyiJgzLHuwwcgdWwemMnrWDgSlOHxiNdLCAaV047wXyIH1qCurBxSLaFSUjhMSKxUhnUJpfc5IOl9yRjUox1NZbpOKMI5cRmWFZ+7pOC5YKpXcZHLPdyN8HPWsMXHuIMFLxSRHGM8kuMSYKuUG+tVRlK5wGcZpPx+/POhkhZcQN30RvW0xeoQe8Rqc7eQ8jQbPD04hLMiTt3Ypg5YR6QVC5He2yxLacBegYnGwrf4vNxL0g+johhBjHfx3s6tXtCjKknr3dhvXnszcySC4uSgVZAvLAyS2hT1yBluinHiCN8ZMLJf8XVY1kKIZeUDIVAWJir5B2IJyEzkdWIHUGgleEcTvnuI4pkEaiDLkoe/JvkqRkAAjOkn8RWrPFxCGSWSJjKXnVSGiGCixLhtmGldW2RnHtr1Pxi/DSBFXIlWBS6lU1Zc8zc5IK8sbNjLbZO1T3COKSTSyqYtKRMYyxO7OPsjHqaSDnPU4oPvaLh7SwkxnTNH34mHUOBsN+qt6pHiDW3wq+WeGOVekiKw+IzitknFQ3Yz+AwEdCuR7iSR9xoJqlKUClKUClKUClKUClK+MwAyTge2g+0qLn7QW6g4kD468sa/mRsvxIqGXtY8r6YY+79oK8xH9WOWP6ygttKr6304zr5uPMRRqPvkJ+dav7syAk84YH20iH+OP7qDZ54tbuQyYWG40sJD6qygBSrHouoBSCepBHlVhBqpzcfkYEEQOvQhnjGfMH6Zh91V+84/a2+A9oyqSAOTcHSM7dFYKvzoOlmqDZ8L4lDEjLq1upV0RlPL1OzAqGOjUNstv+UbrgCpnhfDIJg3dvISpwVa4mA6AgqRKVdSCNwfvrfPAV+rNcr7p3b+2WoIW6fihjXSu/IRz6uRLGGLIcHcSNo6bY1dK3eEteC0lYs0s5BMayJywG0jYA4JGrJ3x5dN63P3JnA7l7N+2kTf4YP317Nnd42uUz+dD/k4oK6l9fRlDO02nnEFVjQyFe5pzpUqY921ae8Mjc4NalrxC/trZtcJQlxvpBzrkGuRmL4VsHYMFA26gVbWW+HRrd/erp/5mryJ77xgtz7RO3+zQRHA7m5nukE0eBbq2ZACA7OFxjYKRpP1cjK52yK07lblLieYlJXSSJBpt3do42XdkAkzsGORg5I+AsZuL7+Qg/r2/wBmsaTX2SfRrcE9fp2zt0z9DvQYOA3t7LLiaLlJGu7YH0xb1cDJ0FQMkZO7AVpvxmY3CBMLGZp1LSsQrMmlAoOnbLFiF8dOakHv7sNpPoinIAUzOTkgkfxY3ODj3VmLX32LY/zjj/DNBmDSm4jBYBViJdVPrOxAXrvpADY88+ypKofVfZzyrbOMZ5r5935GvJur8dbeBh46Z2z8MxAfM0E1SolOPRmGKXS+ZTpWMAF9Y1ZXrjI0tvnG1fG42w/4W5+CofwkoJcilRCcZkbZbS4z+cI1HzMn4Zry8F5NkM626f8AK78hH6TLpX4KffQY+0V0X/ekR+llXDEfxUR2Zz4A4yFB6n3Gpm3hVFVFGFUAAeQGwrBw3hsUC6Y1xndmJLMx82Y7sffW3QKUpQKUpQKUpQKUpQK5vxLhvEby51yRBI4nITAAZtJ67yA6Ttg+NdIqucEt/SUkknd3zLKgTUVQKjsoGlSA2w3LZzQVbhis0mlLeZ3VtLEmFtG2fWIcDB6jVq36Gt/tBw66EECzXB0m4hQxxd3IZ8EM6hSwwcYCqPfV6hiVFCqoVQMAKMAD2AdKgu1C6prFPO6Dn3Ro7fLOPnQQXFbXh8dzyBbWuoIHZ5nMe5JwAdDEttk7jGRXuOyh6g2aZ6EXMj9fitXqlBzjikcMas5lspWRGbl6pNRCjUQDzmPT2eVSXaTgluvD5ZRGyNyCdKyuBqI6HvYbBPiN8VcygIwQMVCdt2HoMoP1tCf0nVfj1oMXDuJM0KRWaiXQgTmscRAgAddzIR5KMeGRWDg93fyyXCNLb5hkCbQthsoG/lduuPGrQgwAPKq72ZXM/ED53OM+6NBQeo+MSaiomsnKnDASFSD5Y72DWwvF3Jx+9j5Yud/lyq82fZ1IoI4oxEdCgFpIg5Y+JPeG5O9JODyEac2xXxBts/4uPuoJGxnkbPMj0EHbDhgw8wcA/MVtVFcB4KLbmYYHmOGwqhFXCgYVQdhtn41sR8SU3DwAHUkaSE+GHLAAeOe6aDbkcKCSQABkk7AAeJqrdsO0d3a8tre1FxGw3ZWJIJ6bKp2I6N76tTqCCCMg7EHxFc44r2W4Olyxadojgao45MLH7TgfRjfOCQPgaCnca7SQ3cvNnt5YWx3njbVsoZQMFV67rknYjbxqR7G8evPSV03TS2cOeaz7aY+8dTq2WBztkZ8BWa/7Ji2lYQXEqqCGQnvoVI1gMNg4IWTbx0r51Kdo7pVtZwsUEd0YtGpFxrUHMqge5SwG/dYeNB0HhPFoblOZBIHXOMjz8vfWt2g4qIlCKyiaTupqIwvnI2/qKNz57DxrjPZ++ms8Xtt34M/Twgn6M9MNvnB30ufbXYuGmzvY1uVjik1Ad5kUsMfVORkEZ6UGl2etRI0TJn0e3UrCT/GuRhpfdgso89THyqz18Ar7QKUpQKUpQKUpQKUpQKUpQKUpQKr3YRgbT+dmz7TzX3rZ4zx8W8kcfKlkeVgqaFGnUc7FiQBsCTjOAKpMFxfWrywNPb20SnnPI5MrKJnfAXIUM2QdsdT45oOmSSBRliAB4k4FVDifHIDf27BjJHFFMWaJTIqsxQLnQDvjVUVa200wzGtzdNn8rciOGM+1NSs4H6KisVtwa+uJJ4i1rFyiqnUjXByyhu60vTAI6KPdQWd+2trnC8xz5LGfxOAPiaf+1LE4S1lJ8j//ACGH31ocI7KtbRpE08e5IX8qNR3bYc8DzOAKlDwluha3OdhmNsn/AMXOaD6nGpz/AMPp94lP4QY++onjPE2doUm0pGJ4i+YZ8HDDSuWiCjL6epqUHAH+q0Q9yyD7xNmoDtDYTwKjsvMiE0OVF1IQTzF0krIrFcNg7P4b7UF/qvdkG1elP11Xcu/gQpC7fLHwqLl7aSi7a35MaAM4DyyMuQmnfAiOxJ2wT0PSs/Db/kR6Ijb41O570jHLsWY7R77mgt1Kp79sGSOaV/R2SNTpCSvrZ8d1dLxDGd+hPToag+F9pr5pdeuNxI/0a6lMDqd+WkgUNHMB9Vx3seFB0yoDg/fvr2T7PJhH7Klz98leZu10IhV1V2kdiiwAAScwesrDOF0+LE4A3ydq0eznF0EqqIZQ14TcZLowXuLkbNqCjAAyN80H3tBAq3Wu7MvozIojdHdVhcZzr0EY1bYc7DptXq24PcJFJDbzKYZQzpcEKzozEHDDpMGBOH67b52rPx4i5uUs8/RqvOufagPcQnyZtyPJT51tcGit1eRrVozH0ZImyA/ngNpTbwAGaCq8B4a4sBcNetDCmp0QIjRxqCfWDKST12BGM4FaEvEo7pRMQp2Op1UqAUOkuoI6MBD7gSPA1ZO0HDoItRQzIJcmWKJlCOMHJKsCAT0ymCSRVTuXVwsLIyQK2mVgpwkKk7bDvLksmrHQAk5oNDhyLYyW9xJlrW9jZZg+N8kkMwO+CCGwAMb1Odnrh+GcR9DY6re4OYAratAZjgnOOvQ9fCrf2q4JHd2LQqVA0hoyMYBUZX9nw9xqJ4LBbi2sjezRi4gAYFpF1A4I0kk5OARn2igu1Kjk49akgC4hJPTEi/51uwzo4yrKw81IP4UGSlKUClKUClKUClKUClKUClKUFR48JJOIRhHCJb27vI5wSnMOAVB216UYAnYAk4Neux3AYTBFcypzJ5F5heU62GrcAZ6YBA28qmu0s4jtLhz0WFyf6JrJwKIrbQKeqxID8FFBvVXexRLJcSn+Mu5iD5qraF+GFqxVA9h/4Eh83lI9xkfBoIzi1lw9p5A00huQ6ycuORjIpwB9Gn1Qy4BI+YrGOG2T4I4ZKwY5bVGFKMPIOwOTjdk6+Zq6aRnPjX2giOzthDErcqF4d8ESHJIXpjvN3RkgCtTtlpYW0J6S3UQI8wh1/wDlFWKq7xwFr+xTwUzSH9lAo+96D7dHPFYB5Wsp+bx/LpVhqvLvxY4+rZgH2FpTj54Pyqw0GjxfhUdwgSTOx1KykqyMOjKRuDufnXPeL9k/RpeZK2q1kIE7hcYGdjKq7aw2CJlwQRuOprqFeZYwylWAIIIIPiDQc8aGGa/aBEMUkqMJpmyzvGgUBYzgaDIneLezbOxqb4NYJHxKdYwQqW0IA1M27F9tycAKq4HtqncUSSykBVsizmBwzbtBIDpxnbZNSHBGSo2Jq98B713eSAHSxh0tg4IEedj0I38POg0Daxm54jHPkCaNH1AkEwiMKcEdNLBtvzh51Sor9bZI7m0mka2VTGW5SiRMkFFlUga4sg4YYIyRmr92jlW3uYrqTHJMbQSHrp1spVsdWBI0kAE756ZqiSmJBJHFcW6RSw8vSx5oVZC7krpOWAYEKDkrrGeooJpuJeklZ9XVcjwVcAMpO/TLRhv1TVhigluIYJFs2EmnKhVQAkggFpi+oRkEEppyax9luEm9CgI8dmqpksMGYANlF8k1M4Y+I04xXT0QAAAYAGAB4CgpnEbKCKwgsJ1luHMYGiEd/uDdxv3VHQZ9g3qgJGl4BGjRekaAzB0VG1ZKiKNWIUMgyxI3YsOnh0biUUsnFMQS8l0tASdIdWzIcB1OMjY9CDTjXDo5Bi8twAAcXEAyFz9pcFlHsIZfM0En2bnhMKQhy0kaKrrKNMmw6sp3389x7TW1LwK1Y5MEWfMIAfmBmqXe8OMaIzzF4U7yTr3lAAJ9YEPA5GwYMYz4gZxUNe3l7PHCY7maWRUVjytCLGHAZOYcjnOB1AAHXpmg6LHwqWH+DzHT/JzkyL7lYnWnzYDyr2ON6MC5jaD88nVF/THT9oLVcg/7QVcbRFMbHnEg58cBFYfMiss3bheh5O46a2O39DpQXNWBAIOQehFfa5lw/takV1GkJjWKRwrxhmKgsfWj+j7jZ+rnSfIGum0ClKUClKUClKUClKUEF27bHDbv9Q/4VIwTxxxIGdVAQDvMB0A86rvavizNN6IkaSJy9U5kGVAb1FOXUDOC2Sei48arHCkNy7yFF+jkZI1t1dQAuxJEK4Yk9CZMdMYoL1xDtRax4HM1s2QqxK0jEgeAQGoTg/aSK0toYplYFUGW2QZOSRiRlbb3VD9hbctxAyOJM6Z9AfUQFR0jwC7s2cgk/pY3q59tf/d910/ISdRn6p8/Gg8DtTFseXLgjOQFYY8+658K9HtVbjGRKMnAzE3+XtqJtLdwgBV8ADG9yANh0CgADHhWWRWI7wbPkTcbe7J/uoJmPj8BGRzcfqJf9FVq67SRScTtxBqmYRTLpUaSGJTOdenAAU1rcUiABbT4esyPjp5tbN/aHvqnT2EugsrNGqQySo4IJOWVTy2WQlcliWOcHfujrQdNsTci6uZTat3xGiZkToiknxO2pj8qk4765+van9iVW/taaWnB41VQHm9UdZ5D4e16yrwtQciSb+tY/iSKDFLxV1620/wEbfhIa8txtR1huB/Msf7Oaytwz/nTD9sf3ivB4Scfwi4/pL/ooKP244xatIG0SyMInSaEK6PpODGxyo2DjGT4OdjWrwOzeeJY4XnuGQAMxuZIraI42jXRiSQqMf3mr9BwZY5jcNNKxEZX6QrpCkgnoo8h8qiewt1qe7WJlktxOXSUHctIAzLjG4Gdm8c+yg0If+zOJ1c3M0ksjqQDqYrGT4oHZiSPNia05OxhQwW0t0AjllRIoSGIUBj3izaNge9/zGHjt0KC6RywVgxRtLAHdW2OD5HBHzqqHiaT8aijjcMILeUvpOQGdkGNvEAD50ERcdnHPEJobWZoESGKRYw8gQFi6kAJIAo7oPQ9a2jwvjEHeSfmgDJGoNn9mRM/KQVPWxzxWfbpawgn3vKaz9peM8hFWNS9xKSsMY6lsdT5Io3JoITgPF2MkNxcIv74URJNFkLnJISRG3R9WQCCwyCNtqulUa0tyXtbBG1+jMJrqQdA+7Bf0mclseAFXmghuJcIADyQHlSYJO2Y38xInQ5+0MN7fCud2tyyulxZcNdo5UDSo6Bo9X/KyMqB7O6Qegrq94cRv+ifwqF7J2qvwy2RxlWgjyN+hAPhQUS3HGJTvGIULeoIcaVPkVTJPx+VbNl2cuELMRdO7DBw7KCM56lkI6eBrqVKDm9nBLbTwH0VI9cgjVpMksWyTl/SHbVtkEqfhXSKrHbL8tw/y9MX+y9WegUpSgUpSgUpSgUpSgqHEoTHczs65WYxNG3IM3eRdJXA9V+jAnbBbyNQTJNz3VBIwlbVhpTlHIwxeK22AOB6zL0OSKsnH7IyzFWuLvRpB5MEeFPvk0b58tQqNubuBFEbqsekBRHLOztjoMxQlh86CNs7R7OUyF7aA5fDTzY/KBSw5QZjs65GHzg75qcummureSFpGKSRspcWjLkEdVJlwfZ18KiL26gA0yvy4z6/IigjBX84Ss0p9wGfZUra8OiAQwok6PjDc0aiCCVLBsDBz0APhtQYbzh5mkDtLIpCgEC1OCAPEMzZPtFYF4OqjaTPtaxK/fyyPurbntHI3sY84wNEqDp4bkf+jUfJwqXOUspwD4xXcQxjyzv8M0HmWziOVyQwyxNo0XMGOraBGkpx4gA1j43byxGRJJmnAtY8M66Ww1wuQ++5+XSsMl5cwzxMy3kQVgMTRpMpB6qHVzpyPLes/HuKx3F3PHAxmPLtlCxDXqKStI65HdXu4GpiBv1oOkKah+Kdo4o2McatPP8AyUI1Efpn1Yx7WIqj8W7U3ksxjkBs4lODpOtj7GMeW+C6f0q3eHXdii6GvpY0HVEjaBCT1JYpzGPmS5NBa14rcD17UjbfE0Z/Eiqd27423Nt1a2ulKMz6YyO8mMFlMbEhlJUjO3getb11LwaNSqJBNI4PdLhjt4u7nuDfqT7ga1YbGzGHa5ZJBnlCzDMkBbrp0o2onYEvscbAUHm84ndXVo0drMt1G+zsNK3MaEd5XTIDMemRp9x61IdnS0FxarIDGZrFFZW2+khI6g/W0vj4eyvtszc4SJPYyShdPMkjMUuDj1gG73ht3fhUGl9cXFzBazPD3zO45kJcZVnXSNUhypwSBtjAoNzi9hZ3t+8kzRRQw9wvzAjTyYBIJz6iDbzJyM7Vh4xFZtcR+hlSkNrMCLaTQA2pBGpZDjUSWwpPeIrXvrS6gcQhIS+CilYFiMinDa42DFWdMY5fdJAOxqYg4Vc3UREd1CIy4YqInBRgMFCpcFR46SMqemNqDX/7N+JWypLLNcoJnfRiWfJCJ6uNZ1YJLH416PEHeSa7QAyyyeh2YPQKpOqT2jIZtvBQKmbbsWq2yxGaQyAHMmTpZidRJjJKkE7EeRNV3ivC2gdOZbwxYccua1zGxYg7rk6Ef8x9mzgEnagkn4VLwxA1tJraZ1EpnAKGTSe+zalKam26ndgMb1K9n+0FxcISYIyQSDy51YD2EEBlb2EVFtx5zA8cxSSPAXn8otoJ8LmDZk9pHd69Kj2tuWFcHlM+AjpJmNvIRTb6PZHMCvgKC5Xc900bqtuoJUgapfEj2Ia1OD2t9FbQxD0dSkSL3tbbqoG+MD5ZrXse0siEpOjNp3Yqv0ijzaME61/Pi1D2CrHZXkcqB43V0PQqcigibTi8sTFL0IhJ7kqAiEg/VJYnS4O3exnbFTgNfJEDAggEEYIO4I9tQ8nDpYATaEFf5Bz3P5tusfu3X2DrQR3bqTS9gR19Nj+8MP76tdUXtRdm65UHo8sU6SxyIZGRUBDDVhteJO7nZcnpsKvVApSlApSlApSlArzIdjjrivVfGGRQUns9wRru2SaeeT6QFtKMcDc7AuWPyxUva9iuHp0tYyfNxrJ95bOa8dlJCnDU0AM0aSAAnGWRmGDj2isHD+1E8kSStaiJHUMHeUlcEAg5SNtI/SxQbvGOC2q2s2m3iXEUmNMajHdPTbrWfgvDoeRCeVHnlIc6Bn1R7Kr/ABPtBfFNJsQ0cmpGZJyQFO2oMqYwQeu2K+8L7T3COsMlodAUBDG+WIUfZkVeZt4qTQWp+FwHrDEdyd0Xqevh41hfgNqf4iIe5APwqJj7fcP5jRvNynU4ImUx7+XeGx9h8qmoOLW77JNE36Min8DQUDj3ZVn4gIY3CRPCZFjYyMrlSA4Pf7p3B7uNiRVj4ZZ31uoSK1sFQfycjx5+HJO/vJrY7QHTdWMoGfpXiOPKRCc/NBVhoOX3HY/iRneQsulnLBVdWxk5x3o1z8cV4vuyd4xxy3Ye6LHy54x8BXU6UHI7Lsk0WNVvesxJJYJA4Gf57UNsDGcVKJZzKDq9O88cqT/DusV0ilBzSRXIIPPYEerIl0B96ygbVgW153LaeSSKSFm5J5UjsFOkpjEEedLr0I3BIrqVKCu3XGLOdDFIskikAn6CXYjoQdGVYHpjcVXrrYrJBcSrKrbPLazF+WeiSFQBIo8CwJ9tdDpQc4/dW/HS9V//AJSRf8Bs14ueM3+CJZYSjDGmS1nIbPniAZHyrpVKDkNm85c5nWFo8tFJHDNIAp6xNrQMUPUKdWMbYwKlOLx22NVreJbTNu0UgZbeU+OqN1woO+4HzrpVeXQEYIBHkRmg5Rw/iqsxhkTluneKoxlhx9uJkJlg96ZUZORWe746lspnILczuq8UmkvuPrIDHKRj1mVZAM5Bya377grT3sklmscQtcR9wCMvI4y+HUHBVSBuCDkioDirIk0jyFIp1wZFcKgc42Z4S3LnxnOpHB9nhQWnhvHxKgZWbPiomlYj5Q1uS3c+DgzbeQkz/wDjGqovGIlSMsvD3L7ZiVWGfHIER0j2E5qRtpY2j1oIQrZ7yw6FODjqAOlBu3kty6lSs7qV3UqpB/rLUffWv2fvbpZ1hVb7SpBYSpEU07bK5KkDfpudjgVGX1mG6tZOMZCuoA399yN/hXzgvEJ7Qu8drAFI3KPIE2/RMiLnxNB1alVrst2mlumKyWzRd0sJFbmRtg4IDADDZ8CPA1ZaBSlKBSlKBUKnayyOdM6sQ5TCgklh4AAZb4Vucctnltpo420u8Tqp6YYqQN/DfxrllvDaNdJFPiFjJhh6hRFiUKmeiZkDZbqe6c4IoLt2beeGDli2kf6WVtRKxjDyMw2chuh37tbXYK4DWMS5XVGCjqD6pUkYPl8a2LOxmgQLBIJY16LMSWx5CQZJ/aB99aVx6HEC80LWpyxMgBXdjknmRkjc74J+FBtce4QhhkeJ2t5ArNriOnoM94Y0tnGMkZ8sVqcF4SZLOF2lnLtCjECXQNRUHHcAA38QPnWOx4xBcQy6b5WiKFCzKFdCR5kAHbPVa0rSKF4lW3S8ukVQocTtFH3RjYl0DDb6oIoK5wiAq9xklIHbINwpnt3fJDgyAbDPSTKnc7Nip6JVTBCoiDf6XE9sw/NmA1wn9Pb2VF9nOG3BluGs/wB7pG+j0V5ix1L6zb6lAPhkb+YqUn+jJaa3MTHq0eqJs+1kLQv+2V91BJW4sHZUmtkhkJ7mpQFY+BjkXuv7MHV7BUq3Z6E7apgPsieQDf8AbqnSxrgLFIpDdUmCqj59gzbyN+jobb1q0+EdoZormS3acQBUBSJ15qsfHSzyAp+gXI64NBd04C8f8HuZU/NkPOT/AK++PgwrILu7jH0sKyj7VucH36HP3Biarb9pZV9e5RfeYEHv/LOTWlJ2qcZPp6ADckFGGP2LVvxoLxbcbgdtGvS/2JAY3/osAT7xUjXJLrteXVleeOdcgAPHkEnpj96AE/fUh2O4jcvdovMmWIjJRo2MZwDspdAU+BA26UHS6UpQKUpQKUpQK0+M34gt5Zm6Roze/A2HxNblVbt9IzRwW6aS09wi4boVQ6znG4HdAJ8jQanYDjcIto45DolkZmJYjTI7sWOlh3dW/qEhhjpVuurWORdMiK6+TAEffVN4nbwsf33A9q7dZYyHgY/n7afjIgI8DWr6df2TrFHm7RlLRKO9qjXTqw+dSkal9bWDnYjpQeeyfYSwnsopJYMu4JLamB9Y9MHAGKt1lwCKFFjiaVEUYVVkOBvn/wBe+oLsXxllsYFNtckhcZCDHU+JYbVNLx1/+53Q96x/7tBtPwpT1km/rWH4Gqt2q7NwyT20WpyZJMuGbV9HH3n3ILDJ0rsR61WAce/+Guh/Nf8A73+FVziLvNeekL6VCY4VWI+juwLFiXDrp3UjSPA7dRigu8EIRQq9FGBkk7D2nc1kqC7N8fNwWjliaGeMAsrAgMpyA6Z30kg9QCKnaBSlKBSlKDHcFgjaBltJ0g+Jxt99czu+GwLHbLdRtGzO5upXGlpHIJCc0HBVnOAAegA2rqFYbq1SRCkiq6nqrDIPzoKp2I4JA1osoBUynXiKRkEY8EGlhuowD5kEmt7tJwKSaFkFxhQVcCVQwBjYMMkaSV23BzW1bdlbOMkxwhCepQspJ88g5z7a+3fBGaJ41uJQHVlOvEmzAjqRq6H7VBzu7uTcTGRrSM+lQmKAowzsSGlCiMuQRg6iNgAPGt+w4TeWsqwR4LLFrb0eVkGNWPycuqIsTk9F6HcVI8IsOI29w373hk1Rxxc7mYVVjBAIXGrBGCUHjneti+4JxAPPMHgleaLlMiq0WlRq0lGLNk5Y5DYB23FBoXV6Cy+kxK7k6V1r6Lc/sPq5ch/RdalrbiGhlUXEsDN6sN6udXsV85Y+5291U/ht9dRDkSRtjBBhZQ23nymA1p+rKj21K2M1tIpjjZoz4wph0+NvLvj2R599BNcT4XG2oz2hXV60tqdQb9NQAX88FXFUhuDhruGK3uY5Y5DpYkFZIxGCcMA4dcKT00DcbVY7QywZMDaQuzejoZYR+styebA3sQ4rFdX6XcqiaHh8jRoW5zXB0Bc4OV0ZB2zpbyO9BuR8F4fAfpbuIN455IPzYF/+qtqKXg6uPpI5nO4DO05+AJbT8AK1IeLac8q4tSPs2lm8xHh1SQ5HwFfJONSkEvLcqv2tMFqPlMxeg9dpLtpnthaxzBY5TIW9GYp3Rhdjp1bnwPt8KnJ+PPbDN4gVB/HRNqT3spw6fAMPbVVti07hFbnFs4Et7I2w33EEfLHjtqrDxbs/L6RHbIlmHuEfU4hdnjRR3mDvISSc6R060HSbO6SWNZI2DI4BVh0IPjWaq/Dwy+RVVLqEKqgAG2O2BgYxMNq9Lb8TB/L2rjyMDr94lP4UE9SoUvxH7Fr79cn4aNq+pLxDxitj7pXH+EaCZpUQL28HrWqH9XPn+0i/jUZxvti1rHzJ7SZV1Bc6ojknyxJk/KgtVVe8jWXi8Ixk29u7n3yNpX7g1SHZftFFfQ82JXUBtJDrjfAO3gRv1FQEM1wOI3s8KLKicqJ4+jkKuolDnGoaj3T1z1FBdmUEYO4NUXhfBH/dC5e2lECQ6Y1j5euPvqjvpXUoTcL6tW/hfFIrhNUbZwcMpGGRvFWU7qw8jUP2aP774h+vT/7S0GW9S6hieR7qMJGjMcW3goydubvWpFd3ZAJkcA9MWgPgD9WVsbHxqX7TWbzWk8UeNbxMq5ONyMdfD31E3fCIjKWaylZhpy6SKquQoXOOauSF7uSOm3Sg8vxK5TJMrkDc6rGT8VevN3xa75du8MsDi4kRUzCw7rAktvLnZQTitO/4TIsMi2lnNGzRSRoDOoReZ5JzCoAO+2KkZYgL2wgA/IwyOR5YVY1/FvlQSnB+EtE0kssnNmlI1Pp0gKvqooydKjc9dySalK0bDiHNeTSh5aHSJCdnYbNpH2VO2fMHyreoFKUoFKUoFKUoFKUoFKUoNa+sIpl0yorr5MM4PmPI+0VAcS7JBt42DDb6OcFwMfZcESqf2iPZVopQUOETWlwssyvyx3SXAlVFIxqjlReYq+ayjG/UVF8YaK54g8qSIUREVWjhMgYkktkqhBIwBnUDXTZYwylTnBBGxwd/IjcH21B2PYvh8Q7ttGdh64L9P0yd/bQVm9ChQHZh7S8S4HmFllkPw01hiMf1Q7EeKpK/X9RAi49xroNrw6GP8nFGn6CBfwFbVBzv0S6caY47gqRnWC8WD5fTXWr46anuAcNuPSefOgXTbrCmX1uSGJZiRsM7eJ6VZqUClKUClKUCoHth2Xjv4QjkqykmNh4MRjceIPlU9Sgq3BeCXttbxwxTW2EGN4X38SSRKNyd+lSfZ3hTW6ya3DvLM8rMq6RlsbAEk4AA8alqUETxLgSyPzo2MM4/jEx3gPqup2dffv5EVD8Ihvrea4eS3SXnOrZhkVR3VC5xIQRnHTJq3UoIn90rnxs3+Esf97ij8UnH/BTH3PD/ALtS1KCHPGpf+5XP/hf71QcvpRu5Z/R5Y9dssMOShw+piWfSzaFGQck+B8cVdKjuO8N58ekEZBzhs6W2Iw2PfkdcEA4NBWbIXkDMUUmJVYABg+orhIlUD1FOTIx65znAG+twLtDcpDGfRZXjGVeQtkEh21NpVWcPuS2QACMCrJ2U4I9rGVdgSQowuSO6MZyQCWOfLYBR4VIR8MjWQyKGVmOWCswVj5lc6SfbjNBmtblJFDRsrqfFTkfdWasMVqiszKqqzY1EDBOPPzNZqBSlKBSlKBSlKBSlKBSlKBSlKBSlKBSlKBSlKBSlKBSlKBSlKBSlKBSlKBSlKBSlKBSlKBSlKD//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5782" name="AutoShape 6" descr="data:image/jpeg;base64,/9j/4AAQSkZJRgABAQAAAQABAAD/2wCEAAkGBxITERUUExQWFhUXFhoaGBgWGCAbHBsbGx4cIB8eHSEfHCggGholGx4cIjEhJSksLy8wGB8zODMsNygtLiwBCgoKBQUFDgUFDisZExkrKysrKysrKysrKysrKysrKysrKysrKysrKysrKysrKysrKysrKysrKysrKysrKysrK//AABEIAMQBAQMBIgACEQEDEQH/xAAbAAEAAgMBAQAAAAAAAAAAAAAABQYDBAcCAf/EAFEQAAIBAwIDBAYFBQ4DBQkAAAECAwAEERIhBRMxBiJBURQyYXGBkSNCUqGxM2Jyc4IVJDRDU4OSk7LBw9HS00RjogdUo8LwFjVkhJSztOHi/8QAFAEBAAAAAAAAAAAAAAAAAAAAAP/EABQRAQAAAAAAAAAAAAAAAAAAAAD/2gAMAwEAAhEDEQA/AO40pSgUpSgUpSgUpSgV5ZgNyQPfUbxC7kaUW8JCto1vIRnlrnAwPF2OcZ2Gkk56H4vZ63P5ROaftTEyHP7WQPcABQbjX8IODLHn9Mf516S8jIyHQj2MP86hbyS3QlEtUkkDhAioi5OjWdztgJv78DxrJxua1tkVmt1bWxUBY1JyFZumPJTQTayA9CD7jXqoC2s7SSZovRY1aNI3PcXbmattvEafvFZbLh1nJqKRjAdkJAK5KHBx5gHIz7DQTVKiF4NaN0UHBK7SN1HUbN1B+Nev3Ct9vX9mJpP9dBK0qL/cGHwMw908v+utLhcNrcAmN5zgKTmaYesMj6/lQWGlRbcBhIwTMR+vl/10PAYfOb/6iX/XQSlKihwNNsS3A/n3P4sa+/uIv8tcf1zf50EpSoscEX+WuP65v869HhHlNOP5wn8QaCSpUY/CnwMXM6keOUPz1RnNeJYrxB3JIpsfVkUoT+0pIH9CglqVHWHFg78p0aKYLqKP4jplWHdcZ8jkZGQM1I0ClKUClKUClKUClKUClKUClKUClKUEP2eGprmXOS9w6/CLEYH/AEn5mpZnA6kD3monsww5cq7dy5nHzkZhn24NYO1HBZbkxctkQAOrlgScNpPdA6k6cdRjOd6D3xDhCm5hlCljzizfmjlFQfYMonzrfvrEyPC+rHKctjGc5Rlx7PWz8KqF/wBm71ZXljcYkkOsISZShDY+kLRnSCQRHnbHUjapziEdyIYY4S8m2mSTWvMyq4GWOwy3rMASMbDyDL2c4SYNZd1eZ9OoqMZC5wTkkliSxJ9uBsKg27LsupPTQHZ1JJUakDTF1WPfuhiMYIOSPhWbh3BrkXUUkmdSwKryEgnWEcftd52PwFYbvsvdSXDS8861caWIABUQsBpUHSGDucMem5oMj9iTrVVdeQGZwDnUjM4YsvgXIGA53GT51oW/YadNCNe6cMrREA5EgwG0gn1eUvTzLE1v3vC70w5BYv8AR5QPguREqkuwdCDrB6E+eDVh4hbSSJFpIVlkRnwx6L1APU7/ADoIxrc21hGk90YjGNJlBHeO4UEspO+x2GdqibLshcxRqYLgahoZe82ksIdGW66hrwQp2AztmsUPZS7V4ObcyyNqZ86yVjflsAcEYIyQN+u/nVh4VFfrEqyPCZCxyWJbCgDYBVTVvk+GAQN+tBBta3lvHEouPWuI1kDyGRzreMnBx3e6GyNxgk+O0r2ht7uR0ms3UqsMgIyCJGLLhfEDYN3h0IHtqTurGPQ0skcbyiJgzLHuwwcgdWwemMnrWDgSlOHxiNdLCAaV047wXyIH1qCurBxSLaFSUjhMSKxUhnUJpfc5IOl9yRjUox1NZbpOKMI5cRmWFZ+7pOC5YKpXcZHLPdyN8HPWsMXHuIMFLxSRHGM8kuMSYKuUG+tVRlK5wGcZpPx+/POhkhZcQN30RvW0xeoQe8Rqc7eQ8jQbPD04hLMiTt3Ypg5YR6QVC5He2yxLacBegYnGwrf4vNxL0g+johhBjHfx3s6tXtCjKknr3dhvXnszcySC4uSgVZAvLAyS2hT1yBluinHiCN8ZMLJf8XVY1kKIZeUDIVAWJir5B2IJyEzkdWIHUGgleEcTvnuI4pkEaiDLkoe/JvkqRkAAjOkn8RWrPFxCGSWSJjKXnVSGiGCixLhtmGldW2RnHtr1Pxi/DSBFXIlWBS6lU1Zc8zc5IK8sbNjLbZO1T3COKSTSyqYtKRMYyxO7OPsjHqaSDnPU4oPvaLh7SwkxnTNH34mHUOBsN+qt6pHiDW3wq+WeGOVekiKw+IzitknFQ3Yz+AwEdCuR7iSR9xoJqlKUClKUClKUClKUClK+MwAyTge2g+0qLn7QW6g4kD468sa/mRsvxIqGXtY8r6YY+79oK8xH9WOWP6ygttKr6304zr5uPMRRqPvkJ+dav7syAk84YH20iH+OP7qDZ54tbuQyYWG40sJD6qygBSrHouoBSCepBHlVhBqpzcfkYEEQOvQhnjGfMH6Zh91V+84/a2+A9oyqSAOTcHSM7dFYKvzoOlmqDZ8L4lDEjLq1upV0RlPL1OzAqGOjUNstv+UbrgCpnhfDIJg3dvISpwVa4mA6AgqRKVdSCNwfvrfPAV+rNcr7p3b+2WoIW6fihjXSu/IRz6uRLGGLIcHcSNo6bY1dK3eEteC0lYs0s5BMayJywG0jYA4JGrJ3x5dN63P3JnA7l7N+2kTf4YP317Nnd42uUz+dD/k4oK6l9fRlDO02nnEFVjQyFe5pzpUqY921ae8Mjc4NalrxC/trZtcJQlxvpBzrkGuRmL4VsHYMFA26gVbWW+HRrd/erp/5mryJ77xgtz7RO3+zQRHA7m5nukE0eBbq2ZACA7OFxjYKRpP1cjK52yK07lblLieYlJXSSJBpt3do42XdkAkzsGORg5I+AsZuL7+Qg/r2/wBmsaTX2SfRrcE9fp2zt0z9DvQYOA3t7LLiaLlJGu7YH0xb1cDJ0FQMkZO7AVpvxmY3CBMLGZp1LSsQrMmlAoOnbLFiF8dOakHv7sNpPoinIAUzOTkgkfxY3ODj3VmLX32LY/zjj/DNBmDSm4jBYBViJdVPrOxAXrvpADY88+ypKofVfZzyrbOMZ5r5935GvJur8dbeBh46Z2z8MxAfM0E1SolOPRmGKXS+ZTpWMAF9Y1ZXrjI0tvnG1fG42w/4W5+CofwkoJcilRCcZkbZbS4z+cI1HzMn4Zry8F5NkM626f8AK78hH6TLpX4KffQY+0V0X/ekR+llXDEfxUR2Zz4A4yFB6n3Gpm3hVFVFGFUAAeQGwrBw3hsUC6Y1xndmJLMx82Y7sffW3QKUpQKUpQKUpQKUpQK5vxLhvEby51yRBI4nITAAZtJ67yA6Ttg+NdIqucEt/SUkknd3zLKgTUVQKjsoGlSA2w3LZzQVbhis0mlLeZ3VtLEmFtG2fWIcDB6jVq36Gt/tBw66EECzXB0m4hQxxd3IZ8EM6hSwwcYCqPfV6hiVFCqoVQMAKMAD2AdKgu1C6prFPO6Dn3Ro7fLOPnQQXFbXh8dzyBbWuoIHZ5nMe5JwAdDEttk7jGRXuOyh6g2aZ6EXMj9fitXqlBzjikcMas5lspWRGbl6pNRCjUQDzmPT2eVSXaTgluvD5ZRGyNyCdKyuBqI6HvYbBPiN8VcygIwQMVCdt2HoMoP1tCf0nVfj1oMXDuJM0KRWaiXQgTmscRAgAddzIR5KMeGRWDg93fyyXCNLb5hkCbQthsoG/lduuPGrQgwAPKq72ZXM/ED53OM+6NBQeo+MSaiomsnKnDASFSD5Y72DWwvF3Jx+9j5Yud/lyq82fZ1IoI4oxEdCgFpIg5Y+JPeG5O9JODyEac2xXxBts/4uPuoJGxnkbPMj0EHbDhgw8wcA/MVtVFcB4KLbmYYHmOGwqhFXCgYVQdhtn41sR8SU3DwAHUkaSE+GHLAAeOe6aDbkcKCSQABkk7AAeJqrdsO0d3a8tre1FxGw3ZWJIJ6bKp2I6N76tTqCCCMg7EHxFc44r2W4Olyxadojgao45MLH7TgfRjfOCQPgaCnca7SQ3cvNnt5YWx3njbVsoZQMFV67rknYjbxqR7G8evPSV03TS2cOeaz7aY+8dTq2WBztkZ8BWa/7Ji2lYQXEqqCGQnvoVI1gMNg4IWTbx0r51Kdo7pVtZwsUEd0YtGpFxrUHMqge5SwG/dYeNB0HhPFoblOZBIHXOMjz8vfWt2g4qIlCKyiaTupqIwvnI2/qKNz57DxrjPZ++ms8Xtt34M/Twgn6M9MNvnB30ufbXYuGmzvY1uVjik1Ad5kUsMfVORkEZ6UGl2etRI0TJn0e3UrCT/GuRhpfdgso89THyqz18Ar7QKUpQKUpQKUpQKUpQKUpQKUpQKr3YRgbT+dmz7TzX3rZ4zx8W8kcfKlkeVgqaFGnUc7FiQBsCTjOAKpMFxfWrywNPb20SnnPI5MrKJnfAXIUM2QdsdT45oOmSSBRliAB4k4FVDifHIDf27BjJHFFMWaJTIqsxQLnQDvjVUVa200wzGtzdNn8rciOGM+1NSs4H6KisVtwa+uJJ4i1rFyiqnUjXByyhu60vTAI6KPdQWd+2trnC8xz5LGfxOAPiaf+1LE4S1lJ8j//ACGH31ocI7KtbRpE08e5IX8qNR3bYc8DzOAKlDwluha3OdhmNsn/AMXOaD6nGpz/AMPp94lP4QY++onjPE2doUm0pGJ4i+YZ8HDDSuWiCjL6epqUHAH+q0Q9yyD7xNmoDtDYTwKjsvMiE0OVF1IQTzF0krIrFcNg7P4b7UF/qvdkG1elP11Xcu/gQpC7fLHwqLl7aSi7a35MaAM4DyyMuQmnfAiOxJ2wT0PSs/Db/kR6Ijb41O570jHLsWY7R77mgt1Kp79sGSOaV/R2SNTpCSvrZ8d1dLxDGd+hPToag+F9pr5pdeuNxI/0a6lMDqd+WkgUNHMB9Vx3seFB0yoDg/fvr2T7PJhH7Klz98leZu10IhV1V2kdiiwAAScwesrDOF0+LE4A3ydq0eznF0EqqIZQ14TcZLowXuLkbNqCjAAyN80H3tBAq3Wu7MvozIojdHdVhcZzr0EY1bYc7DptXq24PcJFJDbzKYZQzpcEKzozEHDDpMGBOH67b52rPx4i5uUs8/RqvOufagPcQnyZtyPJT51tcGit1eRrVozH0ZImyA/ngNpTbwAGaCq8B4a4sBcNetDCmp0QIjRxqCfWDKST12BGM4FaEvEo7pRMQp2Op1UqAUOkuoI6MBD7gSPA1ZO0HDoItRQzIJcmWKJlCOMHJKsCAT0ymCSRVTuXVwsLIyQK2mVgpwkKk7bDvLksmrHQAk5oNDhyLYyW9xJlrW9jZZg+N8kkMwO+CCGwAMb1Odnrh+GcR9DY6re4OYAratAZjgnOOvQ9fCrf2q4JHd2LQqVA0hoyMYBUZX9nw9xqJ4LBbi2sjezRi4gAYFpF1A4I0kk5OARn2igu1Kjk49akgC4hJPTEi/51uwzo4yrKw81IP4UGSlKUClKUClKUClKUClKUClKUFR48JJOIRhHCJb27vI5wSnMOAVB216UYAnYAk4Neux3AYTBFcypzJ5F5heU62GrcAZ6YBA28qmu0s4jtLhz0WFyf6JrJwKIrbQKeqxID8FFBvVXexRLJcSn+Mu5iD5qraF+GFqxVA9h/4Eh83lI9xkfBoIzi1lw9p5A00huQ6ycuORjIpwB9Gn1Qy4BI+YrGOG2T4I4ZKwY5bVGFKMPIOwOTjdk6+Zq6aRnPjX2giOzthDErcqF4d8ESHJIXpjvN3RkgCtTtlpYW0J6S3UQI8wh1/wDlFWKq7xwFr+xTwUzSH9lAo+96D7dHPFYB5Wsp+bx/LpVhqvLvxY4+rZgH2FpTj54Pyqw0GjxfhUdwgSTOx1KykqyMOjKRuDufnXPeL9k/RpeZK2q1kIE7hcYGdjKq7aw2CJlwQRuOprqFeZYwylWAIIIIPiDQc8aGGa/aBEMUkqMJpmyzvGgUBYzgaDIneLezbOxqb4NYJHxKdYwQqW0IA1M27F9tycAKq4HtqncUSSykBVsizmBwzbtBIDpxnbZNSHBGSo2Jq98B713eSAHSxh0tg4IEedj0I38POg0Daxm54jHPkCaNH1AkEwiMKcEdNLBtvzh51Sor9bZI7m0mka2VTGW5SiRMkFFlUga4sg4YYIyRmr92jlW3uYrqTHJMbQSHrp1spVsdWBI0kAE756ZqiSmJBJHFcW6RSw8vSx5oVZC7krpOWAYEKDkrrGeooJpuJeklZ9XVcjwVcAMpO/TLRhv1TVhigluIYJFs2EmnKhVQAkggFpi+oRkEEppyax9luEm9CgI8dmqpksMGYANlF8k1M4Y+I04xXT0QAAAYAGAB4CgpnEbKCKwgsJ1luHMYGiEd/uDdxv3VHQZ9g3qgJGl4BGjRekaAzB0VG1ZKiKNWIUMgyxI3YsOnh0biUUsnFMQS8l0tASdIdWzIcB1OMjY9CDTjXDo5Bi8twAAcXEAyFz9pcFlHsIZfM0En2bnhMKQhy0kaKrrKNMmw6sp3389x7TW1LwK1Y5MEWfMIAfmBmqXe8OMaIzzF4U7yTr3lAAJ9YEPA5GwYMYz4gZxUNe3l7PHCY7maWRUVjytCLGHAZOYcjnOB1AAHXpmg6LHwqWH+DzHT/JzkyL7lYnWnzYDyr2ON6MC5jaD88nVF/THT9oLVcg/7QVcbRFMbHnEg58cBFYfMiss3bheh5O46a2O39DpQXNWBAIOQehFfa5lw/takV1GkJjWKRwrxhmKgsfWj+j7jZ+rnSfIGum0ClKUClKUClKUClKUEF27bHDbv9Q/4VIwTxxxIGdVAQDvMB0A86rvavizNN6IkaSJy9U5kGVAb1FOXUDOC2Sei48arHCkNy7yFF+jkZI1t1dQAuxJEK4Yk9CZMdMYoL1xDtRax4HM1s2QqxK0jEgeAQGoTg/aSK0toYplYFUGW2QZOSRiRlbb3VD9hbctxAyOJM6Z9AfUQFR0jwC7s2cgk/pY3q59tf/d910/ISdRn6p8/Gg8DtTFseXLgjOQFYY8+658K9HtVbjGRKMnAzE3+XtqJtLdwgBV8ADG9yANh0CgADHhWWRWI7wbPkTcbe7J/uoJmPj8BGRzcfqJf9FVq67SRScTtxBqmYRTLpUaSGJTOdenAAU1rcUiABbT4esyPjp5tbN/aHvqnT2EugsrNGqQySo4IJOWVTy2WQlcliWOcHfujrQdNsTci6uZTat3xGiZkToiknxO2pj8qk4765+van9iVW/taaWnB41VQHm9UdZ5D4e16yrwtQciSb+tY/iSKDFLxV1620/wEbfhIa8txtR1huB/Msf7Oaytwz/nTD9sf3ivB4Scfwi4/pL/ooKP244xatIG0SyMInSaEK6PpODGxyo2DjGT4OdjWrwOzeeJY4XnuGQAMxuZIraI42jXRiSQqMf3mr9BwZY5jcNNKxEZX6QrpCkgnoo8h8qiewt1qe7WJlktxOXSUHctIAzLjG4Gdm8c+yg0If+zOJ1c3M0ksjqQDqYrGT4oHZiSPNia05OxhQwW0t0AjllRIoSGIUBj3izaNge9/zGHjt0KC6RywVgxRtLAHdW2OD5HBHzqqHiaT8aijjcMILeUvpOQGdkGNvEAD50ERcdnHPEJobWZoESGKRYw8gQFi6kAJIAo7oPQ9a2jwvjEHeSfmgDJGoNn9mRM/KQVPWxzxWfbpawgn3vKaz9peM8hFWNS9xKSsMY6lsdT5Io3JoITgPF2MkNxcIv74URJNFkLnJISRG3R9WQCCwyCNtqulUa0tyXtbBG1+jMJrqQdA+7Bf0mclseAFXmghuJcIADyQHlSYJO2Y38xInQ5+0MN7fCud2tyyulxZcNdo5UDSo6Bo9X/KyMqB7O6Qegrq94cRv+ifwqF7J2qvwy2RxlWgjyN+hAPhQUS3HGJTvGIULeoIcaVPkVTJPx+VbNl2cuELMRdO7DBw7KCM56lkI6eBrqVKDm9nBLbTwH0VI9cgjVpMksWyTl/SHbVtkEqfhXSKrHbL8tw/y9MX+y9WegUpSgUpSgUpSgUpSgqHEoTHczs65WYxNG3IM3eRdJXA9V+jAnbBbyNQTJNz3VBIwlbVhpTlHIwxeK22AOB6zL0OSKsnH7IyzFWuLvRpB5MEeFPvk0b58tQqNubuBFEbqsekBRHLOztjoMxQlh86CNs7R7OUyF7aA5fDTzY/KBSw5QZjs65GHzg75qcummureSFpGKSRspcWjLkEdVJlwfZ18KiL26gA0yvy4z6/IigjBX84Ss0p9wGfZUra8OiAQwok6PjDc0aiCCVLBsDBz0APhtQYbzh5mkDtLIpCgEC1OCAPEMzZPtFYF4OqjaTPtaxK/fyyPurbntHI3sY84wNEqDp4bkf+jUfJwqXOUspwD4xXcQxjyzv8M0HmWziOVyQwyxNo0XMGOraBGkpx4gA1j43byxGRJJmnAtY8M66Ww1wuQ++5+XSsMl5cwzxMy3kQVgMTRpMpB6qHVzpyPLes/HuKx3F3PHAxmPLtlCxDXqKStI65HdXu4GpiBv1oOkKah+Kdo4o2McatPP8AyUI1Efpn1Yx7WIqj8W7U3ksxjkBs4lODpOtj7GMeW+C6f0q3eHXdii6GvpY0HVEjaBCT1JYpzGPmS5NBa14rcD17UjbfE0Z/Eiqd27423Nt1a2ulKMz6YyO8mMFlMbEhlJUjO3getb11LwaNSqJBNI4PdLhjt4u7nuDfqT7ga1YbGzGHa5ZJBnlCzDMkBbrp0o2onYEvscbAUHm84ndXVo0drMt1G+zsNK3MaEd5XTIDMemRp9x61IdnS0FxarIDGZrFFZW2+khI6g/W0vj4eyvtszc4SJPYyShdPMkjMUuDj1gG73ht3fhUGl9cXFzBazPD3zO45kJcZVnXSNUhypwSBtjAoNzi9hZ3t+8kzRRQw9wvzAjTyYBIJz6iDbzJyM7Vh4xFZtcR+hlSkNrMCLaTQA2pBGpZDjUSWwpPeIrXvrS6gcQhIS+CilYFiMinDa42DFWdMY5fdJAOxqYg4Vc3UREd1CIy4YqInBRgMFCpcFR46SMqemNqDX/7N+JWypLLNcoJnfRiWfJCJ6uNZ1YJLH416PEHeSa7QAyyyeh2YPQKpOqT2jIZtvBQKmbbsWq2yxGaQyAHMmTpZidRJjJKkE7EeRNV3ivC2gdOZbwxYccua1zGxYg7rk6Ef8x9mzgEnagkn4VLwxA1tJraZ1EpnAKGTSe+zalKam26ndgMb1K9n+0FxcISYIyQSDy51YD2EEBlb2EVFtx5zA8cxSSPAXn8otoJ8LmDZk9pHd69Kj2tuWFcHlM+AjpJmNvIRTb6PZHMCvgKC5Xc900bqtuoJUgapfEj2Ia1OD2t9FbQxD0dSkSL3tbbqoG+MD5ZrXse0siEpOjNp3Yqv0ijzaME61/Pi1D2CrHZXkcqB43V0PQqcigibTi8sTFL0IhJ7kqAiEg/VJYnS4O3exnbFTgNfJEDAggEEYIO4I9tQ8nDpYATaEFf5Bz3P5tusfu3X2DrQR3bqTS9gR19Nj+8MP76tdUXtRdm65UHo8sU6SxyIZGRUBDDVhteJO7nZcnpsKvVApSlApSlApSlArzIdjjrivVfGGRQUns9wRru2SaeeT6QFtKMcDc7AuWPyxUva9iuHp0tYyfNxrJ95bOa8dlJCnDU0AM0aSAAnGWRmGDj2isHD+1E8kSStaiJHUMHeUlcEAg5SNtI/SxQbvGOC2q2s2m3iXEUmNMajHdPTbrWfgvDoeRCeVHnlIc6Bn1R7Kr/ABPtBfFNJsQ0cmpGZJyQFO2oMqYwQeu2K+8L7T3COsMlodAUBDG+WIUfZkVeZt4qTQWp+FwHrDEdyd0Xqevh41hfgNqf4iIe5APwqJj7fcP5jRvNynU4ImUx7+XeGx9h8qmoOLW77JNE36Min8DQUDj3ZVn4gIY3CRPCZFjYyMrlSA4Pf7p3B7uNiRVj4ZZ31uoSK1sFQfycjx5+HJO/vJrY7QHTdWMoGfpXiOPKRCc/NBVhoOX3HY/iRneQsulnLBVdWxk5x3o1z8cV4vuyd4xxy3Ye6LHy54x8BXU6UHI7Lsk0WNVvesxJJYJA4Gf57UNsDGcVKJZzKDq9O88cqT/DusV0ilBzSRXIIPPYEerIl0B96ygbVgW153LaeSSKSFm5J5UjsFOkpjEEedLr0I3BIrqVKCu3XGLOdDFIskikAn6CXYjoQdGVYHpjcVXrrYrJBcSrKrbPLazF+WeiSFQBIo8CwJ9tdDpQc4/dW/HS9V//AJSRf8Bs14ueM3+CJZYSjDGmS1nIbPniAZHyrpVKDkNm85c5nWFo8tFJHDNIAp6xNrQMUPUKdWMbYwKlOLx22NVreJbTNu0UgZbeU+OqN1woO+4HzrpVeXQEYIBHkRmg5Rw/iqsxhkTluneKoxlhx9uJkJlg96ZUZORWe746lspnILczuq8UmkvuPrIDHKRj1mVZAM5Bya377grT3sklmscQtcR9wCMvI4y+HUHBVSBuCDkioDirIk0jyFIp1wZFcKgc42Z4S3LnxnOpHB9nhQWnhvHxKgZWbPiomlYj5Q1uS3c+DgzbeQkz/wDjGqovGIlSMsvD3L7ZiVWGfHIER0j2E5qRtpY2j1oIQrZ7yw6FODjqAOlBu3kty6lSs7qV3UqpB/rLUffWv2fvbpZ1hVb7SpBYSpEU07bK5KkDfpudjgVGX1mG6tZOMZCuoA399yN/hXzgvEJ7Qu8drAFI3KPIE2/RMiLnxNB1alVrst2mlumKyWzRd0sJFbmRtg4IDADDZ8CPA1ZaBSlKBSlKBUKnayyOdM6sQ5TCgklh4AAZb4Vucctnltpo420u8Tqp6YYqQN/DfxrllvDaNdJFPiFjJhh6hRFiUKmeiZkDZbqe6c4IoLt2beeGDli2kf6WVtRKxjDyMw2chuh37tbXYK4DWMS5XVGCjqD6pUkYPl8a2LOxmgQLBIJY16LMSWx5CQZJ/aB99aVx6HEC80LWpyxMgBXdjknmRkjc74J+FBtce4QhhkeJ2t5ArNriOnoM94Y0tnGMkZ8sVqcF4SZLOF2lnLtCjECXQNRUHHcAA38QPnWOx4xBcQy6b5WiKFCzKFdCR5kAHbPVa0rSKF4lW3S8ukVQocTtFH3RjYl0DDb6oIoK5wiAq9xklIHbINwpnt3fJDgyAbDPSTKnc7Nip6JVTBCoiDf6XE9sw/NmA1wn9Pb2VF9nOG3BluGs/wB7pG+j0V5ix1L6zb6lAPhkb+YqUn+jJaa3MTHq0eqJs+1kLQv+2V91BJW4sHZUmtkhkJ7mpQFY+BjkXuv7MHV7BUq3Z6E7apgPsieQDf8AbqnSxrgLFIpDdUmCqj59gzbyN+jobb1q0+EdoZormS3acQBUBSJ15qsfHSzyAp+gXI64NBd04C8f8HuZU/NkPOT/AK++PgwrILu7jH0sKyj7VucH36HP3Biarb9pZV9e5RfeYEHv/LOTWlJ2qcZPp6ADckFGGP2LVvxoLxbcbgdtGvS/2JAY3/osAT7xUjXJLrteXVleeOdcgAPHkEnpj96AE/fUh2O4jcvdovMmWIjJRo2MZwDspdAU+BA26UHS6UpQKUpQKUpQK0+M34gt5Zm6Roze/A2HxNblVbt9IzRwW6aS09wi4boVQ6znG4HdAJ8jQanYDjcIto45DolkZmJYjTI7sWOlh3dW/qEhhjpVuurWORdMiK6+TAEffVN4nbwsf33A9q7dZYyHgY/n7afjIgI8DWr6df2TrFHm7RlLRKO9qjXTqw+dSkal9bWDnYjpQeeyfYSwnsopJYMu4JLamB9Y9MHAGKt1lwCKFFjiaVEUYVVkOBvn/wBe+oLsXxllsYFNtckhcZCDHU+JYbVNLx1/+53Q96x/7tBtPwpT1km/rWH4Gqt2q7NwyT20WpyZJMuGbV9HH3n3ILDJ0rsR61WAce/+Guh/Nf8A73+FVziLvNeekL6VCY4VWI+juwLFiXDrp3UjSPA7dRigu8EIRQq9FGBkk7D2nc1kqC7N8fNwWjliaGeMAsrAgMpyA6Z30kg9QCKnaBSlKBSlKDHcFgjaBltJ0g+Jxt99czu+GwLHbLdRtGzO5upXGlpHIJCc0HBVnOAAegA2rqFYbq1SRCkiq6nqrDIPzoKp2I4JA1osoBUynXiKRkEY8EGlhuowD5kEmt7tJwKSaFkFxhQVcCVQwBjYMMkaSV23BzW1bdlbOMkxwhCepQspJ88g5z7a+3fBGaJ41uJQHVlOvEmzAjqRq6H7VBzu7uTcTGRrSM+lQmKAowzsSGlCiMuQRg6iNgAPGt+w4TeWsqwR4LLFrb0eVkGNWPycuqIsTk9F6HcVI8IsOI29w373hk1Rxxc7mYVVjBAIXGrBGCUHjneti+4JxAPPMHgleaLlMiq0WlRq0lGLNk5Y5DYB23FBoXV6Cy+kxK7k6V1r6Lc/sPq5ch/RdalrbiGhlUXEsDN6sN6udXsV85Y+5291U/ht9dRDkSRtjBBhZQ23nymA1p+rKj21K2M1tIpjjZoz4wph0+NvLvj2R599BNcT4XG2oz2hXV60tqdQb9NQAX88FXFUhuDhruGK3uY5Y5DpYkFZIxGCcMA4dcKT00DcbVY7QywZMDaQuzejoZYR+styebA3sQ4rFdX6XcqiaHh8jRoW5zXB0Bc4OV0ZB2zpbyO9BuR8F4fAfpbuIN455IPzYF/+qtqKXg6uPpI5nO4DO05+AJbT8AK1IeLac8q4tSPs2lm8xHh1SQ5HwFfJONSkEvLcqv2tMFqPlMxeg9dpLtpnthaxzBY5TIW9GYp3Rhdjp1bnwPt8KnJ+PPbDN4gVB/HRNqT3spw6fAMPbVVti07hFbnFs4Et7I2w33EEfLHjtqrDxbs/L6RHbIlmHuEfU4hdnjRR3mDvISSc6R060HSbO6SWNZI2DI4BVh0IPjWaq/Dwy+RVVLqEKqgAG2O2BgYxMNq9Lb8TB/L2rjyMDr94lP4UE9SoUvxH7Fr79cn4aNq+pLxDxitj7pXH+EaCZpUQL28HrWqH9XPn+0i/jUZxvti1rHzJ7SZV1Bc6ojknyxJk/KgtVVe8jWXi8Ixk29u7n3yNpX7g1SHZftFFfQ82JXUBtJDrjfAO3gRv1FQEM1wOI3s8KLKicqJ4+jkKuolDnGoaj3T1z1FBdmUEYO4NUXhfBH/dC5e2lECQ6Y1j5euPvqjvpXUoTcL6tW/hfFIrhNUbZwcMpGGRvFWU7qw8jUP2aP774h+vT/7S0GW9S6hieR7qMJGjMcW3goydubvWpFd3ZAJkcA9MWgPgD9WVsbHxqX7TWbzWk8UeNbxMq5ONyMdfD31E3fCIjKWaylZhpy6SKquQoXOOauSF7uSOm3Sg8vxK5TJMrkDc6rGT8VevN3xa75du8MsDi4kRUzCw7rAktvLnZQTitO/4TIsMi2lnNGzRSRoDOoReZ5JzCoAO+2KkZYgL2wgA/IwyOR5YVY1/FvlQSnB+EtE0kssnNmlI1Pp0gKvqooydKjc9dySalK0bDiHNeTSh5aHSJCdnYbNpH2VO2fMHyreoFKUoFKUoFKUoFKUoFKUoNa+sIpl0yorr5MM4PmPI+0VAcS7JBt42DDb6OcFwMfZcESqf2iPZVopQUOETWlwssyvyx3SXAlVFIxqjlReYq+ayjG/UVF8YaK54g8qSIUREVWjhMgYkktkqhBIwBnUDXTZYwylTnBBGxwd/IjcH21B2PYvh8Q7ttGdh64L9P0yd/bQVm9ChQHZh7S8S4HmFllkPw01hiMf1Q7EeKpK/X9RAi49xroNrw6GP8nFGn6CBfwFbVBzv0S6caY47gqRnWC8WD5fTXWr46anuAcNuPSefOgXTbrCmX1uSGJZiRsM7eJ6VZqUClKUClKUCoHth2Xjv4QjkqykmNh4MRjceIPlU9Sgq3BeCXttbxwxTW2EGN4X38SSRKNyd+lSfZ3hTW6ya3DvLM8rMq6RlsbAEk4AA8alqUETxLgSyPzo2MM4/jEx3gPqup2dffv5EVD8Ihvrea4eS3SXnOrZhkVR3VC5xIQRnHTJq3UoIn90rnxs3+Esf97ij8UnH/BTH3PD/ALtS1KCHPGpf+5XP/hf71QcvpRu5Z/R5Y9dssMOShw+piWfSzaFGQck+B8cVdKjuO8N58ekEZBzhs6W2Iw2PfkdcEA4NBWbIXkDMUUmJVYABg+orhIlUD1FOTIx65znAG+twLtDcpDGfRZXjGVeQtkEh21NpVWcPuS2QACMCrJ2U4I9rGVdgSQowuSO6MZyQCWOfLYBR4VIR8MjWQyKGVmOWCswVj5lc6SfbjNBmtblJFDRsrqfFTkfdWasMVqiszKqqzY1EDBOPPzNZqBSlKBSlKBSlKBSlKBSlKBSlKBSlKBSlKBSlKBSlKBSlKBSlKBSlKBSlKBSlKBSlKBSlKBSlKD//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5784" name="AutoShape 8" descr="data:image/jpeg;base64,/9j/4AAQSkZJRgABAQAAAQABAAD/2wCEAAkGBxITERUUExQWFhUXFhoaGBgWGCAbHBsbGx4cIB8eHSEfHCggGholGx4cIjEhJSksLy8wGB8zODMsNygtLiwBCgoKBQUFDgUFDisZExkrKysrKysrKysrKysrKysrKysrKysrKysrKysrKysrKysrKysrKysrKysrKysrKysrK//AABEIAMQBAQMBIgACEQEDEQH/xAAbAAEAAgMBAQAAAAAAAAAAAAAABQYDBAcCAf/EAFEQAAIBAwIDBAYFBQ4DBQkAAAECAwAEERIhBRMxBiJBURQyYXGBkSNCUqGxM2Jyc4IVJDRDU4OSk7LBw9HS00RjogdUo8LwFjVkhJSztOHi/8QAFAEBAAAAAAAAAAAAAAAAAAAAAP/EABQRAQAAAAAAAAAAAAAAAAAAAAD/2gAMAwEAAhEDEQA/AO40pSgUpSgUpSgUpSgV5ZgNyQPfUbxC7kaUW8JCto1vIRnlrnAwPF2OcZ2Gkk56H4vZ63P5ROaftTEyHP7WQPcABQbjX8IODLHn9Mf516S8jIyHQj2MP86hbyS3QlEtUkkDhAioi5OjWdztgJv78DxrJxua1tkVmt1bWxUBY1JyFZumPJTQTayA9CD7jXqoC2s7SSZovRY1aNI3PcXbmattvEafvFZbLh1nJqKRjAdkJAK5KHBx5gHIz7DQTVKiF4NaN0UHBK7SN1HUbN1B+Nev3Ct9vX9mJpP9dBK0qL/cGHwMw908v+utLhcNrcAmN5zgKTmaYesMj6/lQWGlRbcBhIwTMR+vl/10PAYfOb/6iX/XQSlKihwNNsS3A/n3P4sa+/uIv8tcf1zf50EpSoscEX+WuP65v869HhHlNOP5wn8QaCSpUY/CnwMXM6keOUPz1RnNeJYrxB3JIpsfVkUoT+0pIH9CglqVHWHFg78p0aKYLqKP4jplWHdcZ8jkZGQM1I0ClKUClKUClKUClKUClKUClKUClKUEP2eGprmXOS9w6/CLEYH/AEn5mpZnA6kD3monsww5cq7dy5nHzkZhn24NYO1HBZbkxctkQAOrlgScNpPdA6k6cdRjOd6D3xDhCm5hlCljzizfmjlFQfYMonzrfvrEyPC+rHKctjGc5Rlx7PWz8KqF/wBm71ZXljcYkkOsISZShDY+kLRnSCQRHnbHUjapziEdyIYY4S8m2mSTWvMyq4GWOwy3rMASMbDyDL2c4SYNZd1eZ9OoqMZC5wTkkliSxJ9uBsKg27LsupPTQHZ1JJUakDTF1WPfuhiMYIOSPhWbh3BrkXUUkmdSwKryEgnWEcftd52PwFYbvsvdSXDS8861caWIABUQsBpUHSGDucMem5oMj9iTrVVdeQGZwDnUjM4YsvgXIGA53GT51oW/YadNCNe6cMrREA5EgwG0gn1eUvTzLE1v3vC70w5BYv8AR5QPguREqkuwdCDrB6E+eDVh4hbSSJFpIVlkRnwx6L1APU7/ADoIxrc21hGk90YjGNJlBHeO4UEspO+x2GdqibLshcxRqYLgahoZe82ksIdGW66hrwQp2AztmsUPZS7V4ObcyyNqZ86yVjflsAcEYIyQN+u/nVh4VFfrEqyPCZCxyWJbCgDYBVTVvk+GAQN+tBBta3lvHEouPWuI1kDyGRzreMnBx3e6GyNxgk+O0r2ht7uR0ms3UqsMgIyCJGLLhfEDYN3h0IHtqTurGPQ0skcbyiJgzLHuwwcgdWwemMnrWDgSlOHxiNdLCAaV047wXyIH1qCurBxSLaFSUjhMSKxUhnUJpfc5IOl9yRjUox1NZbpOKMI5cRmWFZ+7pOC5YKpXcZHLPdyN8HPWsMXHuIMFLxSRHGM8kuMSYKuUG+tVRlK5wGcZpPx+/POhkhZcQN30RvW0xeoQe8Rqc7eQ8jQbPD04hLMiTt3Ypg5YR6QVC5He2yxLacBegYnGwrf4vNxL0g+johhBjHfx3s6tXtCjKknr3dhvXnszcySC4uSgVZAvLAyS2hT1yBluinHiCN8ZMLJf8XVY1kKIZeUDIVAWJir5B2IJyEzkdWIHUGgleEcTvnuI4pkEaiDLkoe/JvkqRkAAjOkn8RWrPFxCGSWSJjKXnVSGiGCixLhtmGldW2RnHtr1Pxi/DSBFXIlWBS6lU1Zc8zc5IK8sbNjLbZO1T3COKSTSyqYtKRMYyxO7OPsjHqaSDnPU4oPvaLh7SwkxnTNH34mHUOBsN+qt6pHiDW3wq+WeGOVekiKw+IzitknFQ3Yz+AwEdCuR7iSR9xoJqlKUClKUClKUClKUClK+MwAyTge2g+0qLn7QW6g4kD468sa/mRsvxIqGXtY8r6YY+79oK8xH9WOWP6ygttKr6304zr5uPMRRqPvkJ+dav7syAk84YH20iH+OP7qDZ54tbuQyYWG40sJD6qygBSrHouoBSCepBHlVhBqpzcfkYEEQOvQhnjGfMH6Zh91V+84/a2+A9oyqSAOTcHSM7dFYKvzoOlmqDZ8L4lDEjLq1upV0RlPL1OzAqGOjUNstv+UbrgCpnhfDIJg3dvISpwVa4mA6AgqRKVdSCNwfvrfPAV+rNcr7p3b+2WoIW6fihjXSu/IRz6uRLGGLIcHcSNo6bY1dK3eEteC0lYs0s5BMayJywG0jYA4JGrJ3x5dN63P3JnA7l7N+2kTf4YP317Nnd42uUz+dD/k4oK6l9fRlDO02nnEFVjQyFe5pzpUqY921ae8Mjc4NalrxC/trZtcJQlxvpBzrkGuRmL4VsHYMFA26gVbWW+HRrd/erp/5mryJ77xgtz7RO3+zQRHA7m5nukE0eBbq2ZACA7OFxjYKRpP1cjK52yK07lblLieYlJXSSJBpt3do42XdkAkzsGORg5I+AsZuL7+Qg/r2/wBmsaTX2SfRrcE9fp2zt0z9DvQYOA3t7LLiaLlJGu7YH0xb1cDJ0FQMkZO7AVpvxmY3CBMLGZp1LSsQrMmlAoOnbLFiF8dOakHv7sNpPoinIAUzOTkgkfxY3ODj3VmLX32LY/zjj/DNBmDSm4jBYBViJdVPrOxAXrvpADY88+ypKofVfZzyrbOMZ5r5935GvJur8dbeBh46Z2z8MxAfM0E1SolOPRmGKXS+ZTpWMAF9Y1ZXrjI0tvnG1fG42w/4W5+CofwkoJcilRCcZkbZbS4z+cI1HzMn4Zry8F5NkM626f8AK78hH6TLpX4KffQY+0V0X/ekR+llXDEfxUR2Zz4A4yFB6n3Gpm3hVFVFGFUAAeQGwrBw3hsUC6Y1xndmJLMx82Y7sffW3QKUpQKUpQKUpQKUpQK5vxLhvEby51yRBI4nITAAZtJ67yA6Ttg+NdIqucEt/SUkknd3zLKgTUVQKjsoGlSA2w3LZzQVbhis0mlLeZ3VtLEmFtG2fWIcDB6jVq36Gt/tBw66EECzXB0m4hQxxd3IZ8EM6hSwwcYCqPfV6hiVFCqoVQMAKMAD2AdKgu1C6prFPO6Dn3Ro7fLOPnQQXFbXh8dzyBbWuoIHZ5nMe5JwAdDEttk7jGRXuOyh6g2aZ6EXMj9fitXqlBzjikcMas5lspWRGbl6pNRCjUQDzmPT2eVSXaTgluvD5ZRGyNyCdKyuBqI6HvYbBPiN8VcygIwQMVCdt2HoMoP1tCf0nVfj1oMXDuJM0KRWaiXQgTmscRAgAddzIR5KMeGRWDg93fyyXCNLb5hkCbQthsoG/lduuPGrQgwAPKq72ZXM/ED53OM+6NBQeo+MSaiomsnKnDASFSD5Y72DWwvF3Jx+9j5Yud/lyq82fZ1IoI4oxEdCgFpIg5Y+JPeG5O9JODyEac2xXxBts/4uPuoJGxnkbPMj0EHbDhgw8wcA/MVtVFcB4KLbmYYHmOGwqhFXCgYVQdhtn41sR8SU3DwAHUkaSE+GHLAAeOe6aDbkcKCSQABkk7AAeJqrdsO0d3a8tre1FxGw3ZWJIJ6bKp2I6N76tTqCCCMg7EHxFc44r2W4Olyxadojgao45MLH7TgfRjfOCQPgaCnca7SQ3cvNnt5YWx3njbVsoZQMFV67rknYjbxqR7G8evPSV03TS2cOeaz7aY+8dTq2WBztkZ8BWa/7Ji2lYQXEqqCGQnvoVI1gMNg4IWTbx0r51Kdo7pVtZwsUEd0YtGpFxrUHMqge5SwG/dYeNB0HhPFoblOZBIHXOMjz8vfWt2g4qIlCKyiaTupqIwvnI2/qKNz57DxrjPZ++ms8Xtt34M/Twgn6M9MNvnB30ufbXYuGmzvY1uVjik1Ad5kUsMfVORkEZ6UGl2etRI0TJn0e3UrCT/GuRhpfdgso89THyqz18Ar7QKUpQKUpQKUpQKUpQKUpQKUpQKr3YRgbT+dmz7TzX3rZ4zx8W8kcfKlkeVgqaFGnUc7FiQBsCTjOAKpMFxfWrywNPb20SnnPI5MrKJnfAXIUM2QdsdT45oOmSSBRliAB4k4FVDifHIDf27BjJHFFMWaJTIqsxQLnQDvjVUVa200wzGtzdNn8rciOGM+1NSs4H6KisVtwa+uJJ4i1rFyiqnUjXByyhu60vTAI6KPdQWd+2trnC8xz5LGfxOAPiaf+1LE4S1lJ8j//ACGH31ocI7KtbRpE08e5IX8qNR3bYc8DzOAKlDwluha3OdhmNsn/AMXOaD6nGpz/AMPp94lP4QY++onjPE2doUm0pGJ4i+YZ8HDDSuWiCjL6epqUHAH+q0Q9yyD7xNmoDtDYTwKjsvMiE0OVF1IQTzF0krIrFcNg7P4b7UF/qvdkG1elP11Xcu/gQpC7fLHwqLl7aSi7a35MaAM4DyyMuQmnfAiOxJ2wT0PSs/Db/kR6Ijb41O570jHLsWY7R77mgt1Kp79sGSOaV/R2SNTpCSvrZ8d1dLxDGd+hPToag+F9pr5pdeuNxI/0a6lMDqd+WkgUNHMB9Vx3seFB0yoDg/fvr2T7PJhH7Klz98leZu10IhV1V2kdiiwAAScwesrDOF0+LE4A3ydq0eznF0EqqIZQ14TcZLowXuLkbNqCjAAyN80H3tBAq3Wu7MvozIojdHdVhcZzr0EY1bYc7DptXq24PcJFJDbzKYZQzpcEKzozEHDDpMGBOH67b52rPx4i5uUs8/RqvOufagPcQnyZtyPJT51tcGit1eRrVozH0ZImyA/ngNpTbwAGaCq8B4a4sBcNetDCmp0QIjRxqCfWDKST12BGM4FaEvEo7pRMQp2Op1UqAUOkuoI6MBD7gSPA1ZO0HDoItRQzIJcmWKJlCOMHJKsCAT0ymCSRVTuXVwsLIyQK2mVgpwkKk7bDvLksmrHQAk5oNDhyLYyW9xJlrW9jZZg+N8kkMwO+CCGwAMb1Odnrh+GcR9DY6re4OYAratAZjgnOOvQ9fCrf2q4JHd2LQqVA0hoyMYBUZX9nw9xqJ4LBbi2sjezRi4gAYFpF1A4I0kk5OARn2igu1Kjk49akgC4hJPTEi/51uwzo4yrKw81IP4UGSlKUClKUClKUClKUClKUClKUFR48JJOIRhHCJb27vI5wSnMOAVB216UYAnYAk4Neux3AYTBFcypzJ5F5heU62GrcAZ6YBA28qmu0s4jtLhz0WFyf6JrJwKIrbQKeqxID8FFBvVXexRLJcSn+Mu5iD5qraF+GFqxVA9h/4Eh83lI9xkfBoIzi1lw9p5A00huQ6ycuORjIpwB9Gn1Qy4BI+YrGOG2T4I4ZKwY5bVGFKMPIOwOTjdk6+Zq6aRnPjX2giOzthDErcqF4d8ESHJIXpjvN3RkgCtTtlpYW0J6S3UQI8wh1/wDlFWKq7xwFr+xTwUzSH9lAo+96D7dHPFYB5Wsp+bx/LpVhqvLvxY4+rZgH2FpTj54Pyqw0GjxfhUdwgSTOx1KykqyMOjKRuDufnXPeL9k/RpeZK2q1kIE7hcYGdjKq7aw2CJlwQRuOprqFeZYwylWAIIIIPiDQc8aGGa/aBEMUkqMJpmyzvGgUBYzgaDIneLezbOxqb4NYJHxKdYwQqW0IA1M27F9tycAKq4HtqncUSSykBVsizmBwzbtBIDpxnbZNSHBGSo2Jq98B713eSAHSxh0tg4IEedj0I38POg0Daxm54jHPkCaNH1AkEwiMKcEdNLBtvzh51Sor9bZI7m0mka2VTGW5SiRMkFFlUga4sg4YYIyRmr92jlW3uYrqTHJMbQSHrp1spVsdWBI0kAE756ZqiSmJBJHFcW6RSw8vSx5oVZC7krpOWAYEKDkrrGeooJpuJeklZ9XVcjwVcAMpO/TLRhv1TVhigluIYJFs2EmnKhVQAkggFpi+oRkEEppyax9luEm9CgI8dmqpksMGYANlF8k1M4Y+I04xXT0QAAAYAGAB4CgpnEbKCKwgsJ1luHMYGiEd/uDdxv3VHQZ9g3qgJGl4BGjRekaAzB0VG1ZKiKNWIUMgyxI3YsOnh0biUUsnFMQS8l0tASdIdWzIcB1OMjY9CDTjXDo5Bi8twAAcXEAyFz9pcFlHsIZfM0En2bnhMKQhy0kaKrrKNMmw6sp3389x7TW1LwK1Y5MEWfMIAfmBmqXe8OMaIzzF4U7yTr3lAAJ9YEPA5GwYMYz4gZxUNe3l7PHCY7maWRUVjytCLGHAZOYcjnOB1AAHXpmg6LHwqWH+DzHT/JzkyL7lYnWnzYDyr2ON6MC5jaD88nVF/THT9oLVcg/7QVcbRFMbHnEg58cBFYfMiss3bheh5O46a2O39DpQXNWBAIOQehFfa5lw/takV1GkJjWKRwrxhmKgsfWj+j7jZ+rnSfIGum0ClKUClKUClKUClKUEF27bHDbv9Q/4VIwTxxxIGdVAQDvMB0A86rvavizNN6IkaSJy9U5kGVAb1FOXUDOC2Sei48arHCkNy7yFF+jkZI1t1dQAuxJEK4Yk9CZMdMYoL1xDtRax4HM1s2QqxK0jEgeAQGoTg/aSK0toYplYFUGW2QZOSRiRlbb3VD9hbctxAyOJM6Z9AfUQFR0jwC7s2cgk/pY3q59tf/d910/ISdRn6p8/Gg8DtTFseXLgjOQFYY8+658K9HtVbjGRKMnAzE3+XtqJtLdwgBV8ADG9yANh0CgADHhWWRWI7wbPkTcbe7J/uoJmPj8BGRzcfqJf9FVq67SRScTtxBqmYRTLpUaSGJTOdenAAU1rcUiABbT4esyPjp5tbN/aHvqnT2EugsrNGqQySo4IJOWVTy2WQlcliWOcHfujrQdNsTci6uZTat3xGiZkToiknxO2pj8qk4765+van9iVW/taaWnB41VQHm9UdZ5D4e16yrwtQciSb+tY/iSKDFLxV1620/wEbfhIa8txtR1huB/Msf7Oaytwz/nTD9sf3ivB4Scfwi4/pL/ooKP244xatIG0SyMInSaEK6PpODGxyo2DjGT4OdjWrwOzeeJY4XnuGQAMxuZIraI42jXRiSQqMf3mr9BwZY5jcNNKxEZX6QrpCkgnoo8h8qiewt1qe7WJlktxOXSUHctIAzLjG4Gdm8c+yg0If+zOJ1c3M0ksjqQDqYrGT4oHZiSPNia05OxhQwW0t0AjllRIoSGIUBj3izaNge9/zGHjt0KC6RywVgxRtLAHdW2OD5HBHzqqHiaT8aijjcMILeUvpOQGdkGNvEAD50ERcdnHPEJobWZoESGKRYw8gQFi6kAJIAo7oPQ9a2jwvjEHeSfmgDJGoNn9mRM/KQVPWxzxWfbpawgn3vKaz9peM8hFWNS9xKSsMY6lsdT5Io3JoITgPF2MkNxcIv74URJNFkLnJISRG3R9WQCCwyCNtqulUa0tyXtbBG1+jMJrqQdA+7Bf0mclseAFXmghuJcIADyQHlSYJO2Y38xInQ5+0MN7fCud2tyyulxZcNdo5UDSo6Bo9X/KyMqB7O6Qegrq94cRv+ifwqF7J2qvwy2RxlWgjyN+hAPhQUS3HGJTvGIULeoIcaVPkVTJPx+VbNl2cuELMRdO7DBw7KCM56lkI6eBrqVKDm9nBLbTwH0VI9cgjVpMksWyTl/SHbVtkEqfhXSKrHbL8tw/y9MX+y9WegUpSgUpSgUpSgUpSgqHEoTHczs65WYxNG3IM3eRdJXA9V+jAnbBbyNQTJNz3VBIwlbVhpTlHIwxeK22AOB6zL0OSKsnH7IyzFWuLvRpB5MEeFPvk0b58tQqNubuBFEbqsekBRHLOztjoMxQlh86CNs7R7OUyF7aA5fDTzY/KBSw5QZjs65GHzg75qcummureSFpGKSRspcWjLkEdVJlwfZ18KiL26gA0yvy4z6/IigjBX84Ss0p9wGfZUra8OiAQwok6PjDc0aiCCVLBsDBz0APhtQYbzh5mkDtLIpCgEC1OCAPEMzZPtFYF4OqjaTPtaxK/fyyPurbntHI3sY84wNEqDp4bkf+jUfJwqXOUspwD4xXcQxjyzv8M0HmWziOVyQwyxNo0XMGOraBGkpx4gA1j43byxGRJJmnAtY8M66Ww1wuQ++5+XSsMl5cwzxMy3kQVgMTRpMpB6qHVzpyPLes/HuKx3F3PHAxmPLtlCxDXqKStI65HdXu4GpiBv1oOkKah+Kdo4o2McatPP8AyUI1Efpn1Yx7WIqj8W7U3ksxjkBs4lODpOtj7GMeW+C6f0q3eHXdii6GvpY0HVEjaBCT1JYpzGPmS5NBa14rcD17UjbfE0Z/Eiqd27423Nt1a2ulKMz6YyO8mMFlMbEhlJUjO3getb11LwaNSqJBNI4PdLhjt4u7nuDfqT7ga1YbGzGHa5ZJBnlCzDMkBbrp0o2onYEvscbAUHm84ndXVo0drMt1G+zsNK3MaEd5XTIDMemRp9x61IdnS0FxarIDGZrFFZW2+khI6g/W0vj4eyvtszc4SJPYyShdPMkjMUuDj1gG73ht3fhUGl9cXFzBazPD3zO45kJcZVnXSNUhypwSBtjAoNzi9hZ3t+8kzRRQw9wvzAjTyYBIJz6iDbzJyM7Vh4xFZtcR+hlSkNrMCLaTQA2pBGpZDjUSWwpPeIrXvrS6gcQhIS+CilYFiMinDa42DFWdMY5fdJAOxqYg4Vc3UREd1CIy4YqInBRgMFCpcFR46SMqemNqDX/7N+JWypLLNcoJnfRiWfJCJ6uNZ1YJLH416PEHeSa7QAyyyeh2YPQKpOqT2jIZtvBQKmbbsWq2yxGaQyAHMmTpZidRJjJKkE7EeRNV3ivC2gdOZbwxYccua1zGxYg7rk6Ef8x9mzgEnagkn4VLwxA1tJraZ1EpnAKGTSe+zalKam26ndgMb1K9n+0FxcISYIyQSDy51YD2EEBlb2EVFtx5zA8cxSSPAXn8otoJ8LmDZk9pHd69Kj2tuWFcHlM+AjpJmNvIRTb6PZHMCvgKC5Xc900bqtuoJUgapfEj2Ia1OD2t9FbQxD0dSkSL3tbbqoG+MD5ZrXse0siEpOjNp3Yqv0ijzaME61/Pi1D2CrHZXkcqB43V0PQqcigibTi8sTFL0IhJ7kqAiEg/VJYnS4O3exnbFTgNfJEDAggEEYIO4I9tQ8nDpYATaEFf5Bz3P5tusfu3X2DrQR3bqTS9gR19Nj+8MP76tdUXtRdm65UHo8sU6SxyIZGRUBDDVhteJO7nZcnpsKvVApSlApSlApSlArzIdjjrivVfGGRQUns9wRru2SaeeT6QFtKMcDc7AuWPyxUva9iuHp0tYyfNxrJ95bOa8dlJCnDU0AM0aSAAnGWRmGDj2isHD+1E8kSStaiJHUMHeUlcEAg5SNtI/SxQbvGOC2q2s2m3iXEUmNMajHdPTbrWfgvDoeRCeVHnlIc6Bn1R7Kr/ABPtBfFNJsQ0cmpGZJyQFO2oMqYwQeu2K+8L7T3COsMlodAUBDG+WIUfZkVeZt4qTQWp+FwHrDEdyd0Xqevh41hfgNqf4iIe5APwqJj7fcP5jRvNynU4ImUx7+XeGx9h8qmoOLW77JNE36Min8DQUDj3ZVn4gIY3CRPCZFjYyMrlSA4Pf7p3B7uNiRVj4ZZ31uoSK1sFQfycjx5+HJO/vJrY7QHTdWMoGfpXiOPKRCc/NBVhoOX3HY/iRneQsulnLBVdWxk5x3o1z8cV4vuyd4xxy3Ye6LHy54x8BXU6UHI7Lsk0WNVvesxJJYJA4Gf57UNsDGcVKJZzKDq9O88cqT/DusV0ilBzSRXIIPPYEerIl0B96ygbVgW153LaeSSKSFm5J5UjsFOkpjEEedLr0I3BIrqVKCu3XGLOdDFIskikAn6CXYjoQdGVYHpjcVXrrYrJBcSrKrbPLazF+WeiSFQBIo8CwJ9tdDpQc4/dW/HS9V//AJSRf8Bs14ueM3+CJZYSjDGmS1nIbPniAZHyrpVKDkNm85c5nWFo8tFJHDNIAp6xNrQMUPUKdWMbYwKlOLx22NVreJbTNu0UgZbeU+OqN1woO+4HzrpVeXQEYIBHkRmg5Rw/iqsxhkTluneKoxlhx9uJkJlg96ZUZORWe746lspnILczuq8UmkvuPrIDHKRj1mVZAM5Bya377grT3sklmscQtcR9wCMvI4y+HUHBVSBuCDkioDirIk0jyFIp1wZFcKgc42Z4S3LnxnOpHB9nhQWnhvHxKgZWbPiomlYj5Q1uS3c+DgzbeQkz/wDjGqovGIlSMsvD3L7ZiVWGfHIER0j2E5qRtpY2j1oIQrZ7yw6FODjqAOlBu3kty6lSs7qV3UqpB/rLUffWv2fvbpZ1hVb7SpBYSpEU07bK5KkDfpudjgVGX1mG6tZOMZCuoA399yN/hXzgvEJ7Qu8drAFI3KPIE2/RMiLnxNB1alVrst2mlumKyWzRd0sJFbmRtg4IDADDZ8CPA1ZaBSlKBSlKBUKnayyOdM6sQ5TCgklh4AAZb4Vucctnltpo420u8Tqp6YYqQN/DfxrllvDaNdJFPiFjJhh6hRFiUKmeiZkDZbqe6c4IoLt2beeGDli2kf6WVtRKxjDyMw2chuh37tbXYK4DWMS5XVGCjqD6pUkYPl8a2LOxmgQLBIJY16LMSWx5CQZJ/aB99aVx6HEC80LWpyxMgBXdjknmRkjc74J+FBtce4QhhkeJ2t5ArNriOnoM94Y0tnGMkZ8sVqcF4SZLOF2lnLtCjECXQNRUHHcAA38QPnWOx4xBcQy6b5WiKFCzKFdCR5kAHbPVa0rSKF4lW3S8ukVQocTtFH3RjYl0DDb6oIoK5wiAq9xklIHbINwpnt3fJDgyAbDPSTKnc7Nip6JVTBCoiDf6XE9sw/NmA1wn9Pb2VF9nOG3BluGs/wB7pG+j0V5ix1L6zb6lAPhkb+YqUn+jJaa3MTHq0eqJs+1kLQv+2V91BJW4sHZUmtkhkJ7mpQFY+BjkXuv7MHV7BUq3Z6E7apgPsieQDf8AbqnSxrgLFIpDdUmCqj59gzbyN+jobb1q0+EdoZormS3acQBUBSJ15qsfHSzyAp+gXI64NBd04C8f8HuZU/NkPOT/AK++PgwrILu7jH0sKyj7VucH36HP3Biarb9pZV9e5RfeYEHv/LOTWlJ2qcZPp6ADckFGGP2LVvxoLxbcbgdtGvS/2JAY3/osAT7xUjXJLrteXVleeOdcgAPHkEnpj96AE/fUh2O4jcvdovMmWIjJRo2MZwDspdAU+BA26UHS6UpQKUpQKUpQK0+M34gt5Zm6Roze/A2HxNblVbt9IzRwW6aS09wi4boVQ6znG4HdAJ8jQanYDjcIto45DolkZmJYjTI7sWOlh3dW/qEhhjpVuurWORdMiK6+TAEffVN4nbwsf33A9q7dZYyHgY/n7afjIgI8DWr6df2TrFHm7RlLRKO9qjXTqw+dSkal9bWDnYjpQeeyfYSwnsopJYMu4JLamB9Y9MHAGKt1lwCKFFjiaVEUYVVkOBvn/wBe+oLsXxllsYFNtckhcZCDHU+JYbVNLx1/+53Q96x/7tBtPwpT1km/rWH4Gqt2q7NwyT20WpyZJMuGbV9HH3n3ILDJ0rsR61WAce/+Guh/Nf8A73+FVziLvNeekL6VCY4VWI+juwLFiXDrp3UjSPA7dRigu8EIRQq9FGBkk7D2nc1kqC7N8fNwWjliaGeMAsrAgMpyA6Z30kg9QCKnaBSlKBSlKDHcFgjaBltJ0g+Jxt99czu+GwLHbLdRtGzO5upXGlpHIJCc0HBVnOAAegA2rqFYbq1SRCkiq6nqrDIPzoKp2I4JA1osoBUynXiKRkEY8EGlhuowD5kEmt7tJwKSaFkFxhQVcCVQwBjYMMkaSV23BzW1bdlbOMkxwhCepQspJ88g5z7a+3fBGaJ41uJQHVlOvEmzAjqRq6H7VBzu7uTcTGRrSM+lQmKAowzsSGlCiMuQRg6iNgAPGt+w4TeWsqwR4LLFrb0eVkGNWPycuqIsTk9F6HcVI8IsOI29w373hk1Rxxc7mYVVjBAIXGrBGCUHjneti+4JxAPPMHgleaLlMiq0WlRq0lGLNk5Y5DYB23FBoXV6Cy+kxK7k6V1r6Lc/sPq5ch/RdalrbiGhlUXEsDN6sN6udXsV85Y+5291U/ht9dRDkSRtjBBhZQ23nymA1p+rKj21K2M1tIpjjZoz4wph0+NvLvj2R599BNcT4XG2oz2hXV60tqdQb9NQAX88FXFUhuDhruGK3uY5Y5DpYkFZIxGCcMA4dcKT00DcbVY7QywZMDaQuzejoZYR+styebA3sQ4rFdX6XcqiaHh8jRoW5zXB0Bc4OV0ZB2zpbyO9BuR8F4fAfpbuIN455IPzYF/+qtqKXg6uPpI5nO4DO05+AJbT8AK1IeLac8q4tSPs2lm8xHh1SQ5HwFfJONSkEvLcqv2tMFqPlMxeg9dpLtpnthaxzBY5TIW9GYp3Rhdjp1bnwPt8KnJ+PPbDN4gVB/HRNqT3spw6fAMPbVVti07hFbnFs4Et7I2w33EEfLHjtqrDxbs/L6RHbIlmHuEfU4hdnjRR3mDvISSc6R060HSbO6SWNZI2DI4BVh0IPjWaq/Dwy+RVVLqEKqgAG2O2BgYxMNq9Lb8TB/L2rjyMDr94lP4UE9SoUvxH7Fr79cn4aNq+pLxDxitj7pXH+EaCZpUQL28HrWqH9XPn+0i/jUZxvti1rHzJ7SZV1Bc6ojknyxJk/KgtVVe8jWXi8Ixk29u7n3yNpX7g1SHZftFFfQ82JXUBtJDrjfAO3gRv1FQEM1wOI3s8KLKicqJ4+jkKuolDnGoaj3T1z1FBdmUEYO4NUXhfBH/dC5e2lECQ6Y1j5euPvqjvpXUoTcL6tW/hfFIrhNUbZwcMpGGRvFWU7qw8jUP2aP774h+vT/7S0GW9S6hieR7qMJGjMcW3goydubvWpFd3ZAJkcA9MWgPgD9WVsbHxqX7TWbzWk8UeNbxMq5ONyMdfD31E3fCIjKWaylZhpy6SKquQoXOOauSF7uSOm3Sg8vxK5TJMrkDc6rGT8VevN3xa75du8MsDi4kRUzCw7rAktvLnZQTitO/4TIsMi2lnNGzRSRoDOoReZ5JzCoAO+2KkZYgL2wgA/IwyOR5YVY1/FvlQSnB+EtE0kssnNmlI1Pp0gKvqooydKjc9dySalK0bDiHNeTSh5aHSJCdnYbNpH2VO2fMHyreoFKUoFKUoFKUoFKUoFKUoNa+sIpl0yorr5MM4PmPI+0VAcS7JBt42DDb6OcFwMfZcESqf2iPZVopQUOETWlwssyvyx3SXAlVFIxqjlReYq+ayjG/UVF8YaK54g8qSIUREVWjhMgYkktkqhBIwBnUDXTZYwylTnBBGxwd/IjcH21B2PYvh8Q7ttGdh64L9P0yd/bQVm9ChQHZh7S8S4HmFllkPw01hiMf1Q7EeKpK/X9RAi49xroNrw6GP8nFGn6CBfwFbVBzv0S6caY47gqRnWC8WD5fTXWr46anuAcNuPSefOgXTbrCmX1uSGJZiRsM7eJ6VZqUClKUClKUCoHth2Xjv4QjkqykmNh4MRjceIPlU9Sgq3BeCXttbxwxTW2EGN4X38SSRKNyd+lSfZ3hTW6ya3DvLM8rMq6RlsbAEk4AA8alqUETxLgSyPzo2MM4/jEx3gPqup2dffv5EVD8Ihvrea4eS3SXnOrZhkVR3VC5xIQRnHTJq3UoIn90rnxs3+Esf97ij8UnH/BTH3PD/ALtS1KCHPGpf+5XP/hf71QcvpRu5Z/R5Y9dssMOShw+piWfSzaFGQck+B8cVdKjuO8N58ekEZBzhs6W2Iw2PfkdcEA4NBWbIXkDMUUmJVYABg+orhIlUD1FOTIx65znAG+twLtDcpDGfRZXjGVeQtkEh21NpVWcPuS2QACMCrJ2U4I9rGVdgSQowuSO6MZyQCWOfLYBR4VIR8MjWQyKGVmOWCswVj5lc6SfbjNBmtblJFDRsrqfFTkfdWasMVqiszKqqzY1EDBOPPzNZqBSlKBSlKBSlKBSlKBSlKBSlKBSlKBSlKBSlKBSlKBSlKBSlKBSlKBSlKBSlKBSlKBSlKBSlKD//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5786" name="Picture 10" descr="http://www.philcallaway.ab.ca/images/Cartoons/privacy%20cartoon2.jpg"/>
          <p:cNvPicPr>
            <a:picLocks noChangeAspect="1" noChangeArrowheads="1"/>
          </p:cNvPicPr>
          <p:nvPr/>
        </p:nvPicPr>
        <p:blipFill>
          <a:blip r:embed="rId2" cstate="print"/>
          <a:srcRect/>
          <a:stretch>
            <a:fillRect/>
          </a:stretch>
        </p:blipFill>
        <p:spPr bwMode="auto">
          <a:xfrm>
            <a:off x="457200" y="1371600"/>
            <a:ext cx="3809999" cy="4953000"/>
          </a:xfrm>
          <a:prstGeom prst="rect">
            <a:avLst/>
          </a:prstGeom>
          <a:noFill/>
          <a:ln>
            <a:solidFill>
              <a:schemeClr val="accent1"/>
            </a:solidFill>
          </a:ln>
        </p:spPr>
      </p:pic>
      <p:pic>
        <p:nvPicPr>
          <p:cNvPr id="10" name="Picture 2" descr="http://4.bp.blogspot.com/_CwT2twn228k/TN6wvD3FeGI/AAAAAAAAAnk/TOr7sXKrkYY/s1600/statistics+cartoon.jpg"/>
          <p:cNvPicPr>
            <a:picLocks noChangeAspect="1" noChangeArrowheads="1"/>
          </p:cNvPicPr>
          <p:nvPr/>
        </p:nvPicPr>
        <p:blipFill>
          <a:blip r:embed="rId3" cstate="print"/>
          <a:srcRect/>
          <a:stretch>
            <a:fillRect/>
          </a:stretch>
        </p:blipFill>
        <p:spPr bwMode="auto">
          <a:xfrm>
            <a:off x="4495800" y="1371600"/>
            <a:ext cx="4343400" cy="4953000"/>
          </a:xfrm>
          <a:prstGeom prst="rect">
            <a:avLst/>
          </a:prstGeom>
          <a:noFill/>
          <a:ln>
            <a:solidFill>
              <a:schemeClr val="accent1"/>
            </a:solid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1401762"/>
          </a:xfrm>
        </p:spPr>
        <p:txBody>
          <a:bodyPr>
            <a:normAutofit fontScale="90000"/>
          </a:bodyPr>
          <a:lstStyle/>
          <a:p>
            <a:r>
              <a:rPr lang="en-US" dirty="0" smtClean="0"/>
              <a:t>How Do Today’s Managers Use the Quantitative Approach?</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39</a:t>
            </a:fld>
            <a:endParaRPr lang="en-US" dirty="0"/>
          </a:p>
        </p:txBody>
      </p:sp>
      <p:sp>
        <p:nvSpPr>
          <p:cNvPr id="4" name="Content Placeholder 3"/>
          <p:cNvSpPr>
            <a:spLocks noGrp="1"/>
          </p:cNvSpPr>
          <p:nvPr>
            <p:ph sz="quarter" idx="1"/>
          </p:nvPr>
        </p:nvSpPr>
        <p:spPr>
          <a:xfrm>
            <a:off x="914400" y="1905000"/>
            <a:ext cx="7772400" cy="4114800"/>
          </a:xfrm>
        </p:spPr>
        <p:txBody>
          <a:bodyPr>
            <a:normAutofit lnSpcReduction="10000"/>
          </a:bodyPr>
          <a:lstStyle/>
          <a:p>
            <a:pPr hangingPunct="0"/>
            <a:r>
              <a:rPr lang="en-US" dirty="0" smtClean="0"/>
              <a:t>The quantitative approach has contributed most directly to managerial decision making, particularly in planning and controlling. </a:t>
            </a:r>
          </a:p>
          <a:p>
            <a:pPr hangingPunct="0"/>
            <a:endParaRPr lang="en-US" dirty="0" smtClean="0"/>
          </a:p>
          <a:p>
            <a:pPr hangingPunct="0"/>
            <a:r>
              <a:rPr lang="en-US" dirty="0" smtClean="0"/>
              <a:t>The availability of sophisticated computer software programs has made the use of quantitative techniques more feasible for managers.</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153400" cy="838200"/>
          </a:xfrm>
        </p:spPr>
        <p:txBody>
          <a:bodyPr>
            <a:noAutofit/>
          </a:bodyPr>
          <a:lstStyle/>
          <a:p>
            <a:r>
              <a:rPr lang="en-IE" dirty="0" smtClean="0"/>
              <a:t>Total Quality Management (TQM)</a:t>
            </a:r>
            <a:endParaRPr lang="en-IE"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40</a:t>
            </a:fld>
            <a:endParaRPr lang="en-US" dirty="0"/>
          </a:p>
        </p:txBody>
      </p:sp>
      <p:sp>
        <p:nvSpPr>
          <p:cNvPr id="4" name="Content Placeholder 3"/>
          <p:cNvSpPr>
            <a:spLocks noGrp="1"/>
          </p:cNvSpPr>
          <p:nvPr>
            <p:ph sz="quarter" idx="1"/>
          </p:nvPr>
        </p:nvSpPr>
        <p:spPr>
          <a:xfrm>
            <a:off x="533400" y="1219200"/>
            <a:ext cx="8153400" cy="5105400"/>
          </a:xfrm>
        </p:spPr>
        <p:txBody>
          <a:bodyPr>
            <a:noAutofit/>
          </a:bodyPr>
          <a:lstStyle/>
          <a:p>
            <a:pPr marL="640080" indent="-457200">
              <a:lnSpc>
                <a:spcPct val="80000"/>
              </a:lnSpc>
              <a:spcBef>
                <a:spcPct val="25000"/>
              </a:spcBef>
            </a:pPr>
            <a:r>
              <a:rPr lang="en-US" sz="2400" b="1" dirty="0" smtClean="0"/>
              <a:t>Quality management or </a:t>
            </a:r>
            <a:r>
              <a:rPr lang="en-US" sz="2400" dirty="0" smtClean="0"/>
              <a:t> </a:t>
            </a:r>
            <a:r>
              <a:rPr lang="en-US" sz="2400" b="1" dirty="0" smtClean="0"/>
              <a:t>TQM</a:t>
            </a:r>
            <a:r>
              <a:rPr lang="en-US" sz="2400" dirty="0" smtClean="0"/>
              <a:t> </a:t>
            </a:r>
            <a:r>
              <a:rPr lang="en-US" sz="2400" dirty="0"/>
              <a:t>- a philosophy of management that is driven by continuous improvement and responsiveness to customer needs and </a:t>
            </a:r>
            <a:r>
              <a:rPr lang="en-US" sz="2400" dirty="0" smtClean="0"/>
              <a:t>expectations.</a:t>
            </a:r>
          </a:p>
          <a:p>
            <a:pPr marL="914400" lvl="1" indent="-457200">
              <a:lnSpc>
                <a:spcPct val="80000"/>
              </a:lnSpc>
              <a:spcBef>
                <a:spcPct val="25000"/>
              </a:spcBef>
            </a:pPr>
            <a:endParaRPr lang="en-US" sz="1100" dirty="0" smtClean="0"/>
          </a:p>
          <a:p>
            <a:pPr marL="640080" indent="-457200">
              <a:lnSpc>
                <a:spcPct val="80000"/>
              </a:lnSpc>
              <a:spcBef>
                <a:spcPct val="25000"/>
              </a:spcBef>
            </a:pPr>
            <a:r>
              <a:rPr lang="en-US" sz="2400" dirty="0" smtClean="0"/>
              <a:t>The </a:t>
            </a:r>
            <a:r>
              <a:rPr lang="en-US" sz="2400" dirty="0"/>
              <a:t>term </a:t>
            </a:r>
            <a:r>
              <a:rPr lang="en-US" sz="2400" dirty="0" smtClean="0"/>
              <a:t>‘customer’ </a:t>
            </a:r>
            <a:r>
              <a:rPr lang="en-US" sz="2400" dirty="0"/>
              <a:t>includes anyone who interacts with the </a:t>
            </a:r>
            <a:r>
              <a:rPr lang="en-US" sz="2400" dirty="0" err="1" smtClean="0"/>
              <a:t>organisation’s</a:t>
            </a:r>
            <a:r>
              <a:rPr lang="en-US" sz="2400" dirty="0" smtClean="0"/>
              <a:t> </a:t>
            </a:r>
            <a:r>
              <a:rPr lang="en-US" sz="2400" dirty="0"/>
              <a:t>product or services, internally or externally. </a:t>
            </a:r>
            <a:endParaRPr lang="en-US" sz="2400" dirty="0" smtClean="0"/>
          </a:p>
          <a:p>
            <a:pPr marL="914400" lvl="1" indent="-457200">
              <a:lnSpc>
                <a:spcPct val="80000"/>
              </a:lnSpc>
              <a:spcBef>
                <a:spcPct val="25000"/>
              </a:spcBef>
            </a:pPr>
            <a:r>
              <a:rPr lang="en-US" sz="2200" dirty="0" smtClean="0"/>
              <a:t>It </a:t>
            </a:r>
            <a:r>
              <a:rPr lang="en-US" sz="2200" dirty="0"/>
              <a:t>encompasses employees and suppliers as well as the people who purchase the </a:t>
            </a:r>
            <a:r>
              <a:rPr lang="en-US" sz="2200" dirty="0" err="1" smtClean="0"/>
              <a:t>organisation’s</a:t>
            </a:r>
            <a:r>
              <a:rPr lang="en-US" sz="2200" dirty="0" smtClean="0"/>
              <a:t> </a:t>
            </a:r>
            <a:r>
              <a:rPr lang="en-US" sz="2200" dirty="0"/>
              <a:t>goods or </a:t>
            </a:r>
            <a:r>
              <a:rPr lang="en-US" sz="2200" dirty="0" smtClean="0"/>
              <a:t>services</a:t>
            </a:r>
          </a:p>
          <a:p>
            <a:pPr marL="914400" lvl="1" indent="-457200">
              <a:lnSpc>
                <a:spcPct val="80000"/>
              </a:lnSpc>
              <a:spcBef>
                <a:spcPct val="25000"/>
              </a:spcBef>
            </a:pPr>
            <a:endParaRPr lang="en-US" sz="1100" dirty="0" smtClean="0"/>
          </a:p>
          <a:p>
            <a:pPr marL="640080" indent="-457200">
              <a:lnSpc>
                <a:spcPct val="80000"/>
              </a:lnSpc>
              <a:spcBef>
                <a:spcPct val="25000"/>
              </a:spcBef>
            </a:pPr>
            <a:r>
              <a:rPr lang="en-US" sz="2400" dirty="0" smtClean="0"/>
              <a:t>TQM represents a counterpoint to earlier management theorists who believed that low costs were the only road to increased productivity.</a:t>
            </a:r>
          </a:p>
          <a:p>
            <a:pPr marL="640080" indent="-457200">
              <a:lnSpc>
                <a:spcPct val="80000"/>
              </a:lnSpc>
              <a:spcBef>
                <a:spcPct val="25000"/>
              </a:spcBef>
            </a:pPr>
            <a:endParaRPr lang="en-US" sz="1100" dirty="0" smtClean="0"/>
          </a:p>
          <a:p>
            <a:pPr marL="640080" indent="-457200">
              <a:lnSpc>
                <a:spcPct val="80000"/>
              </a:lnSpc>
              <a:spcBef>
                <a:spcPct val="25000"/>
              </a:spcBef>
            </a:pPr>
            <a:r>
              <a:rPr lang="en-US" sz="2400" dirty="0" smtClean="0"/>
              <a:t>The </a:t>
            </a:r>
            <a:r>
              <a:rPr lang="en-US" sz="2400" i="1" dirty="0" smtClean="0"/>
              <a:t>objective</a:t>
            </a:r>
            <a:r>
              <a:rPr lang="en-US" sz="2400" dirty="0" smtClean="0"/>
              <a:t> of quality management is to create an </a:t>
            </a:r>
            <a:r>
              <a:rPr lang="en-US" sz="2400" dirty="0" err="1" smtClean="0"/>
              <a:t>organisation</a:t>
            </a:r>
            <a:r>
              <a:rPr lang="en-US" sz="2400" dirty="0" smtClean="0"/>
              <a:t> committed to continuous improvement in work processes.</a:t>
            </a:r>
            <a:endParaRPr lang="en-US" sz="2400" dirty="0"/>
          </a:p>
        </p:txBody>
      </p:sp>
      <p:pic>
        <p:nvPicPr>
          <p:cNvPr id="12292" name="Picture 4" descr="http://kssdeanery.org/sites/kssdeanery/files/imagecache/dept_homepage_image/quality_5_0.png"/>
          <p:cNvPicPr>
            <a:picLocks noChangeAspect="1" noChangeArrowheads="1"/>
          </p:cNvPicPr>
          <p:nvPr/>
        </p:nvPicPr>
        <p:blipFill>
          <a:blip r:embed="rId2" cstate="print"/>
          <a:srcRect/>
          <a:stretch>
            <a:fillRect/>
          </a:stretch>
        </p:blipFill>
        <p:spPr bwMode="auto">
          <a:xfrm>
            <a:off x="2133600" y="5715000"/>
            <a:ext cx="5810250" cy="990601"/>
          </a:xfrm>
          <a:prstGeom prst="rect">
            <a:avLst/>
          </a:prstGeom>
          <a:noFill/>
        </p:spPr>
      </p:pic>
    </p:spTree>
    <p:extLst>
      <p:ext uri="{BB962C8B-B14F-4D97-AF65-F5344CB8AC3E}">
        <p14:creationId xmlns:p14="http://schemas.microsoft.com/office/powerpoint/2010/main" val="41275703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4495800" cy="1401762"/>
          </a:xfrm>
        </p:spPr>
        <p:txBody>
          <a:bodyPr>
            <a:normAutofit fontScale="90000"/>
          </a:bodyPr>
          <a:lstStyle/>
          <a:p>
            <a:r>
              <a:rPr lang="en-IE" dirty="0"/>
              <a:t>Total Quality Management (TQM)</a:t>
            </a:r>
          </a:p>
        </p:txBody>
      </p:sp>
      <p:sp>
        <p:nvSpPr>
          <p:cNvPr id="3" name="Slide Number Placeholder 2"/>
          <p:cNvSpPr>
            <a:spLocks noGrp="1"/>
          </p:cNvSpPr>
          <p:nvPr>
            <p:ph type="sldNum" sz="quarter" idx="12"/>
          </p:nvPr>
        </p:nvSpPr>
        <p:spPr/>
        <p:txBody>
          <a:bodyPr/>
          <a:lstStyle/>
          <a:p>
            <a:fld id="{B6F15528-21DE-4FAA-801E-634DDDAF4B2B}" type="slidenum">
              <a:rPr lang="en-US" smtClean="0"/>
              <a:pPr/>
              <a:t>41</a:t>
            </a:fld>
            <a:endParaRPr lang="en-US" dirty="0"/>
          </a:p>
        </p:txBody>
      </p:sp>
      <p:sp>
        <p:nvSpPr>
          <p:cNvPr id="4" name="Content Placeholder 3"/>
          <p:cNvSpPr>
            <a:spLocks noGrp="1"/>
          </p:cNvSpPr>
          <p:nvPr>
            <p:ph sz="quarter" idx="1"/>
          </p:nvPr>
        </p:nvSpPr>
        <p:spPr>
          <a:xfrm>
            <a:off x="685800" y="1898072"/>
            <a:ext cx="7696200" cy="4655127"/>
          </a:xfrm>
        </p:spPr>
        <p:txBody>
          <a:bodyPr>
            <a:normAutofit lnSpcReduction="10000"/>
          </a:bodyPr>
          <a:lstStyle/>
          <a:p>
            <a:pPr marL="640080" indent="-457200">
              <a:lnSpc>
                <a:spcPct val="80000"/>
              </a:lnSpc>
              <a:spcBef>
                <a:spcPct val="25000"/>
              </a:spcBef>
            </a:pPr>
            <a:r>
              <a:rPr lang="en-US" sz="2500" dirty="0"/>
              <a:t>A quality revolution swept through </a:t>
            </a:r>
            <a:r>
              <a:rPr lang="en-US" sz="2500" dirty="0" smtClean="0"/>
              <a:t>both                                         </a:t>
            </a:r>
            <a:r>
              <a:rPr lang="en-US" sz="2500" dirty="0"/>
              <a:t>the business and public sectors in the </a:t>
            </a:r>
            <a:r>
              <a:rPr lang="en-US" sz="2500" dirty="0" smtClean="0"/>
              <a:t>1980’s </a:t>
            </a:r>
            <a:r>
              <a:rPr lang="en-US" sz="2500" dirty="0"/>
              <a:t>and </a:t>
            </a:r>
            <a:r>
              <a:rPr lang="en-US" sz="2500" dirty="0" smtClean="0"/>
              <a:t>1990’s</a:t>
            </a:r>
            <a:r>
              <a:rPr lang="en-US" sz="2500" dirty="0"/>
              <a:t>. </a:t>
            </a:r>
          </a:p>
          <a:p>
            <a:pPr marL="640080" indent="-457200">
              <a:lnSpc>
                <a:spcPct val="80000"/>
              </a:lnSpc>
              <a:spcBef>
                <a:spcPct val="25000"/>
              </a:spcBef>
            </a:pPr>
            <a:endParaRPr lang="en-US" sz="1800" dirty="0" smtClean="0"/>
          </a:p>
          <a:p>
            <a:pPr marL="640080" indent="-457200">
              <a:lnSpc>
                <a:spcPct val="80000"/>
              </a:lnSpc>
              <a:spcBef>
                <a:spcPct val="25000"/>
              </a:spcBef>
            </a:pPr>
            <a:r>
              <a:rPr lang="en-US" sz="2500" dirty="0" smtClean="0"/>
              <a:t>It </a:t>
            </a:r>
            <a:r>
              <a:rPr lang="en-US" sz="2500" dirty="0"/>
              <a:t>was inspired by a small group of quality experts; the most famous was W. Edwards Deming (pictured) and Joseph M. </a:t>
            </a:r>
            <a:r>
              <a:rPr lang="en-US" sz="2500" dirty="0" err="1"/>
              <a:t>Juran</a:t>
            </a:r>
            <a:r>
              <a:rPr lang="en-US" sz="2500" dirty="0"/>
              <a:t>.</a:t>
            </a:r>
          </a:p>
          <a:p>
            <a:pPr marL="640080" indent="-457200">
              <a:lnSpc>
                <a:spcPct val="80000"/>
              </a:lnSpc>
              <a:spcBef>
                <a:spcPct val="25000"/>
              </a:spcBef>
            </a:pPr>
            <a:endParaRPr lang="en-US" sz="1700" dirty="0" smtClean="0"/>
          </a:p>
          <a:p>
            <a:pPr marL="640080" indent="-457200">
              <a:lnSpc>
                <a:spcPct val="80000"/>
              </a:lnSpc>
              <a:spcBef>
                <a:spcPct val="25000"/>
              </a:spcBef>
            </a:pPr>
            <a:r>
              <a:rPr lang="en-US" sz="2500" dirty="0" smtClean="0"/>
              <a:t> </a:t>
            </a:r>
            <a:r>
              <a:rPr lang="en-US" sz="2500" dirty="0"/>
              <a:t>The ideas and techniques they advocated in the 1950s had few supporters in the United States but were enthusiastically embraced by Japanese </a:t>
            </a:r>
            <a:r>
              <a:rPr lang="en-US" sz="2500" dirty="0" smtClean="0"/>
              <a:t>organisations</a:t>
            </a:r>
            <a:r>
              <a:rPr lang="en-US" sz="2500" dirty="0"/>
              <a:t>.</a:t>
            </a:r>
          </a:p>
          <a:p>
            <a:pPr marL="640080" indent="-457200">
              <a:lnSpc>
                <a:spcPct val="80000"/>
              </a:lnSpc>
              <a:spcBef>
                <a:spcPct val="25000"/>
              </a:spcBef>
            </a:pPr>
            <a:endParaRPr lang="en-US" sz="1800" dirty="0" smtClean="0"/>
          </a:p>
          <a:p>
            <a:pPr marL="640080" indent="-457200">
              <a:lnSpc>
                <a:spcPct val="80000"/>
              </a:lnSpc>
              <a:spcBef>
                <a:spcPct val="25000"/>
              </a:spcBef>
            </a:pPr>
            <a:r>
              <a:rPr lang="en-US" sz="2500" dirty="0" smtClean="0"/>
              <a:t>As </a:t>
            </a:r>
            <a:r>
              <a:rPr lang="en-US" sz="2500" dirty="0"/>
              <a:t>Japanese manufacturers began beating U.S. competitors in quality comparisons, however, Western managers soon took a more serious look at Deming’s and </a:t>
            </a:r>
            <a:r>
              <a:rPr lang="en-US" sz="2500" dirty="0" err="1"/>
              <a:t>Juran’s</a:t>
            </a:r>
            <a:r>
              <a:rPr lang="en-US" sz="2500" dirty="0"/>
              <a:t> ideas, which became the basis for today’s quality management programs</a:t>
            </a:r>
            <a:r>
              <a:rPr lang="en-US" sz="2500" dirty="0" smtClean="0"/>
              <a:t>.</a:t>
            </a:r>
            <a:endParaRPr lang="en-US" sz="2500" dirty="0"/>
          </a:p>
        </p:txBody>
      </p:sp>
      <p:pic>
        <p:nvPicPr>
          <p:cNvPr id="5" name="Picture 2"/>
          <p:cNvPicPr>
            <a:picLocks noChangeAspect="1" noChangeArrowheads="1"/>
          </p:cNvPicPr>
          <p:nvPr/>
        </p:nvPicPr>
        <p:blipFill>
          <a:blip r:embed="rId2" cstate="print"/>
          <a:srcRect/>
          <a:stretch>
            <a:fillRect/>
          </a:stretch>
        </p:blipFill>
        <p:spPr bwMode="auto">
          <a:xfrm>
            <a:off x="6400800" y="0"/>
            <a:ext cx="2743200" cy="2075935"/>
          </a:xfrm>
          <a:prstGeom prst="rect">
            <a:avLst/>
          </a:prstGeom>
          <a:noFill/>
          <a:ln w="9525">
            <a:noFill/>
            <a:miter lim="800000"/>
            <a:headEnd/>
            <a:tailEnd/>
          </a:ln>
        </p:spPr>
      </p:pic>
    </p:spTree>
    <p:extLst>
      <p:ext uri="{BB962C8B-B14F-4D97-AF65-F5344CB8AC3E}">
        <p14:creationId xmlns:p14="http://schemas.microsoft.com/office/powerpoint/2010/main" val="14605811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14400" y="274638"/>
            <a:ext cx="7772400" cy="1020762"/>
          </a:xfrm>
        </p:spPr>
        <p:txBody>
          <a:bodyPr/>
          <a:lstStyle/>
          <a:p>
            <a:r>
              <a:rPr lang="en-IE" dirty="0" smtClean="0"/>
              <a:t>What is Quality Management?</a:t>
            </a:r>
            <a:endParaRPr lang="en-IE"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42</a:t>
            </a:fld>
            <a:endParaRPr lang="en-US" dirty="0"/>
          </a:p>
        </p:txBody>
      </p:sp>
      <p:pic>
        <p:nvPicPr>
          <p:cNvPr id="6" name="Picture 2"/>
          <p:cNvPicPr>
            <a:picLocks noChangeAspect="1" noChangeArrowheads="1"/>
          </p:cNvPicPr>
          <p:nvPr/>
        </p:nvPicPr>
        <p:blipFill>
          <a:blip r:embed="rId2" cstate="print"/>
          <a:srcRect/>
          <a:stretch>
            <a:fillRect/>
          </a:stretch>
        </p:blipFill>
        <p:spPr bwMode="auto">
          <a:xfrm>
            <a:off x="609600" y="1600200"/>
            <a:ext cx="8153400" cy="4800600"/>
          </a:xfrm>
          <a:prstGeom prst="rect">
            <a:avLst/>
          </a:prstGeom>
          <a:noFill/>
          <a:ln w="9525">
            <a:noFill/>
            <a:miter lim="800000"/>
            <a:headEnd/>
            <a:tailEnd/>
          </a:ln>
        </p:spPr>
      </p:pic>
    </p:spTree>
    <p:extLst>
      <p:ext uri="{BB962C8B-B14F-4D97-AF65-F5344CB8AC3E}">
        <p14:creationId xmlns:p14="http://schemas.microsoft.com/office/powerpoint/2010/main" val="27740510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4400" y="228600"/>
            <a:ext cx="7772400" cy="1066800"/>
          </a:xfrm>
        </p:spPr>
        <p:txBody>
          <a:bodyPr/>
          <a:lstStyle/>
          <a:p>
            <a:r>
              <a:rPr lang="en-IE" dirty="0" smtClean="0"/>
              <a:t>Contemporary Approaches</a:t>
            </a:r>
            <a:endParaRPr lang="en-IE"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43</a:t>
            </a:fld>
            <a:endParaRPr lang="en-US" dirty="0"/>
          </a:p>
        </p:txBody>
      </p:sp>
      <p:sp>
        <p:nvSpPr>
          <p:cNvPr id="5" name="Content Placeholder 4"/>
          <p:cNvSpPr>
            <a:spLocks noGrp="1"/>
          </p:cNvSpPr>
          <p:nvPr>
            <p:ph sz="quarter" idx="1"/>
          </p:nvPr>
        </p:nvSpPr>
        <p:spPr>
          <a:xfrm>
            <a:off x="914400" y="1447800"/>
            <a:ext cx="7772400" cy="5029200"/>
          </a:xfrm>
        </p:spPr>
        <p:txBody>
          <a:bodyPr>
            <a:normAutofit fontScale="92500" lnSpcReduction="10000"/>
          </a:bodyPr>
          <a:lstStyle/>
          <a:p>
            <a:r>
              <a:rPr lang="en-US" dirty="0" smtClean="0">
                <a:cs typeface="Arial" charset="0"/>
              </a:rPr>
              <a:t>Most </a:t>
            </a:r>
            <a:r>
              <a:rPr lang="en-US" dirty="0">
                <a:cs typeface="Arial" charset="0"/>
              </a:rPr>
              <a:t>of these earlier approaches focused on managers’ concerns </a:t>
            </a:r>
            <a:r>
              <a:rPr lang="en-US" i="1" dirty="0">
                <a:cs typeface="Arial" charset="0"/>
              </a:rPr>
              <a:t>inside </a:t>
            </a:r>
            <a:r>
              <a:rPr lang="en-US" dirty="0">
                <a:cs typeface="Arial" charset="0"/>
              </a:rPr>
              <a:t>the </a:t>
            </a:r>
            <a:r>
              <a:rPr lang="en-US" dirty="0" err="1" smtClean="0">
                <a:cs typeface="Arial" charset="0"/>
              </a:rPr>
              <a:t>organisation</a:t>
            </a:r>
            <a:r>
              <a:rPr lang="en-US" dirty="0">
                <a:cs typeface="Arial" charset="0"/>
              </a:rPr>
              <a:t>.  </a:t>
            </a:r>
            <a:endParaRPr lang="en-US" dirty="0" smtClean="0">
              <a:cs typeface="Arial" charset="0"/>
            </a:endParaRPr>
          </a:p>
          <a:p>
            <a:endParaRPr lang="en-US" dirty="0" smtClean="0">
              <a:cs typeface="Arial" charset="0"/>
            </a:endParaRPr>
          </a:p>
          <a:p>
            <a:r>
              <a:rPr lang="en-US" dirty="0" smtClean="0">
                <a:cs typeface="Arial" charset="0"/>
              </a:rPr>
              <a:t>Starting </a:t>
            </a:r>
            <a:r>
              <a:rPr lang="en-US" dirty="0">
                <a:cs typeface="Arial" charset="0"/>
              </a:rPr>
              <a:t>in the 1960s, management researchers began to look at what was happening in the </a:t>
            </a:r>
            <a:r>
              <a:rPr lang="en-US" dirty="0" smtClean="0">
                <a:cs typeface="Arial" charset="0"/>
              </a:rPr>
              <a:t>‘external’ </a:t>
            </a:r>
            <a:r>
              <a:rPr lang="en-US" dirty="0">
                <a:cs typeface="Arial" charset="0"/>
              </a:rPr>
              <a:t>environment </a:t>
            </a:r>
            <a:r>
              <a:rPr lang="en-US" i="1" dirty="0">
                <a:cs typeface="Arial" charset="0"/>
              </a:rPr>
              <a:t>outside  </a:t>
            </a:r>
            <a:r>
              <a:rPr lang="en-US" dirty="0">
                <a:cs typeface="Arial" charset="0"/>
              </a:rPr>
              <a:t>the boundaries of the </a:t>
            </a:r>
            <a:r>
              <a:rPr lang="en-US" dirty="0" err="1" smtClean="0">
                <a:cs typeface="Arial" charset="0"/>
              </a:rPr>
              <a:t>organisation</a:t>
            </a:r>
            <a:r>
              <a:rPr lang="en-US" dirty="0">
                <a:cs typeface="Arial" charset="0"/>
              </a:rPr>
              <a:t>. </a:t>
            </a:r>
            <a:endParaRPr lang="en-US" dirty="0" smtClean="0">
              <a:cs typeface="Arial" charset="0"/>
            </a:endParaRPr>
          </a:p>
          <a:p>
            <a:endParaRPr lang="en-US" dirty="0" smtClean="0">
              <a:cs typeface="Arial" charset="0"/>
            </a:endParaRPr>
          </a:p>
          <a:p>
            <a:r>
              <a:rPr lang="en-US" dirty="0" smtClean="0">
                <a:cs typeface="Arial" charset="0"/>
              </a:rPr>
              <a:t>Two </a:t>
            </a:r>
            <a:r>
              <a:rPr lang="en-US" dirty="0">
                <a:cs typeface="Arial" charset="0"/>
              </a:rPr>
              <a:t>contemporary management </a:t>
            </a:r>
            <a:r>
              <a:rPr lang="en-US" dirty="0" smtClean="0">
                <a:cs typeface="Arial" charset="0"/>
              </a:rPr>
              <a:t>perspectives – ‘Systems Theory’ and ‘Contingency Theory’ - are </a:t>
            </a:r>
            <a:r>
              <a:rPr lang="en-US" dirty="0">
                <a:cs typeface="Arial" charset="0"/>
              </a:rPr>
              <a:t>part of this approach. </a:t>
            </a:r>
            <a:endParaRPr lang="en-US" dirty="0" smtClean="0">
              <a:cs typeface="Arial" charset="0"/>
            </a:endParaRPr>
          </a:p>
          <a:p>
            <a:endParaRPr lang="en-US" dirty="0" smtClean="0">
              <a:cs typeface="Arial" charset="0"/>
            </a:endParaRPr>
          </a:p>
          <a:p>
            <a:pPr>
              <a:buNone/>
            </a:pPr>
            <a:endParaRPr lang="en-US" dirty="0">
              <a:cs typeface="Arial" charset="0"/>
            </a:endParaRPr>
          </a:p>
          <a:p>
            <a:pPr marL="342900" indent="-342900" eaLnBrk="0" hangingPunct="0">
              <a:spcBef>
                <a:spcPct val="25000"/>
              </a:spcBef>
              <a:buFont typeface="Arial" charset="0"/>
              <a:buChar char="•"/>
            </a:pPr>
            <a:endParaRPr lang="en-US" b="1" dirty="0" smtClean="0"/>
          </a:p>
        </p:txBody>
      </p:sp>
    </p:spTree>
    <p:extLst>
      <p:ext uri="{BB962C8B-B14F-4D97-AF65-F5344CB8AC3E}">
        <p14:creationId xmlns:p14="http://schemas.microsoft.com/office/powerpoint/2010/main" val="42558440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44</a:t>
            </a:fld>
            <a:endParaRPr lang="en-US" dirty="0"/>
          </a:p>
        </p:txBody>
      </p:sp>
      <p:pic>
        <p:nvPicPr>
          <p:cNvPr id="77826" name="Picture 2" descr="http://blogs.edweek.org/topschooljobs/k-12_talent_manager/Systems%20Theory%20Chalkboard%20485-368px.png"/>
          <p:cNvPicPr>
            <a:picLocks noChangeAspect="1" noChangeArrowheads="1"/>
          </p:cNvPicPr>
          <p:nvPr/>
        </p:nvPicPr>
        <p:blipFill>
          <a:blip r:embed="rId2" cstate="print"/>
          <a:srcRect/>
          <a:stretch>
            <a:fillRect/>
          </a:stretch>
        </p:blipFill>
        <p:spPr bwMode="auto">
          <a:xfrm>
            <a:off x="1143000" y="838200"/>
            <a:ext cx="6781800" cy="5145778"/>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1401762"/>
          </a:xfrm>
        </p:spPr>
        <p:txBody>
          <a:bodyPr>
            <a:normAutofit fontScale="90000"/>
          </a:bodyPr>
          <a:lstStyle/>
          <a:p>
            <a:r>
              <a:rPr lang="en-IE" dirty="0" smtClean="0"/>
              <a:t>Contemporary Approaches: </a:t>
            </a:r>
            <a:r>
              <a:rPr lang="en-US" dirty="0" smtClean="0"/>
              <a:t>Systems Theory</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45</a:t>
            </a:fld>
            <a:endParaRPr lang="en-US" dirty="0"/>
          </a:p>
        </p:txBody>
      </p:sp>
      <p:sp>
        <p:nvSpPr>
          <p:cNvPr id="4" name="Content Placeholder 3"/>
          <p:cNvSpPr>
            <a:spLocks noGrp="1"/>
          </p:cNvSpPr>
          <p:nvPr>
            <p:ph sz="quarter" idx="1"/>
          </p:nvPr>
        </p:nvSpPr>
        <p:spPr>
          <a:xfrm>
            <a:off x="914400" y="1981200"/>
            <a:ext cx="7772400" cy="4419600"/>
          </a:xfrm>
        </p:spPr>
        <p:txBody>
          <a:bodyPr>
            <a:noAutofit/>
          </a:bodyPr>
          <a:lstStyle/>
          <a:p>
            <a:pPr marL="0">
              <a:spcBef>
                <a:spcPts val="0"/>
              </a:spcBef>
            </a:pPr>
            <a:r>
              <a:rPr lang="en-US" sz="2800" dirty="0" smtClean="0"/>
              <a:t>Systems Theory -  During the 1960s researchers began to </a:t>
            </a:r>
            <a:r>
              <a:rPr lang="en-US" sz="2800" dirty="0" err="1" smtClean="0"/>
              <a:t>analyse</a:t>
            </a:r>
            <a:r>
              <a:rPr lang="en-US" sz="2800" dirty="0" smtClean="0"/>
              <a:t> organisations from a systems perspective based on the physical sciences. </a:t>
            </a:r>
          </a:p>
          <a:p>
            <a:pPr marL="0">
              <a:spcBef>
                <a:spcPts val="0"/>
              </a:spcBef>
            </a:pPr>
            <a:endParaRPr lang="en-US" sz="2400" i="1" dirty="0" smtClean="0">
              <a:cs typeface="Arial" charset="0"/>
            </a:endParaRPr>
          </a:p>
          <a:p>
            <a:pPr marL="0">
              <a:spcBef>
                <a:spcPts val="0"/>
              </a:spcBef>
            </a:pPr>
            <a:r>
              <a:rPr lang="en-US" sz="2800" dirty="0" smtClean="0"/>
              <a:t>A </a:t>
            </a:r>
            <a:r>
              <a:rPr lang="en-US" sz="2800" b="1" dirty="0" smtClean="0"/>
              <a:t>system</a:t>
            </a:r>
            <a:r>
              <a:rPr lang="en-US" sz="2800" dirty="0" smtClean="0"/>
              <a:t> is a set of interrelated and interdependent parts arranged in a manner that produces a unified whole. </a:t>
            </a:r>
          </a:p>
          <a:p>
            <a:pPr marL="0">
              <a:spcBef>
                <a:spcPts val="0"/>
              </a:spcBef>
            </a:pPr>
            <a:endParaRPr lang="en-US" dirty="0" smtClean="0"/>
          </a:p>
          <a:p>
            <a:pPr marL="0">
              <a:spcBef>
                <a:spcPts val="0"/>
              </a:spcBef>
            </a:pPr>
            <a:r>
              <a:rPr lang="en-US" sz="2800" dirty="0" smtClean="0"/>
              <a:t>The two basic types of systems are ‘Closed’ and ‘Open’.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15962"/>
          </a:xfrm>
        </p:spPr>
        <p:txBody>
          <a:bodyPr>
            <a:noAutofit/>
          </a:bodyPr>
          <a:lstStyle/>
          <a:p>
            <a:r>
              <a:rPr lang="en-IE" sz="3200" dirty="0" smtClean="0"/>
              <a:t>Contemporary Approaches: </a:t>
            </a:r>
            <a:r>
              <a:rPr lang="en-US" sz="3200" dirty="0" smtClean="0"/>
              <a:t>Systems Theory</a:t>
            </a:r>
            <a:endParaRPr lang="en-US" sz="32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46</a:t>
            </a:fld>
            <a:endParaRPr lang="en-US" dirty="0"/>
          </a:p>
        </p:txBody>
      </p:sp>
      <p:sp>
        <p:nvSpPr>
          <p:cNvPr id="4" name="Content Placeholder 3"/>
          <p:cNvSpPr>
            <a:spLocks noGrp="1"/>
          </p:cNvSpPr>
          <p:nvPr>
            <p:ph sz="quarter" idx="1"/>
          </p:nvPr>
        </p:nvSpPr>
        <p:spPr>
          <a:xfrm>
            <a:off x="762000" y="1295400"/>
            <a:ext cx="7924800" cy="5105400"/>
          </a:xfrm>
        </p:spPr>
        <p:txBody>
          <a:bodyPr>
            <a:normAutofit fontScale="85000" lnSpcReduction="20000"/>
          </a:bodyPr>
          <a:lstStyle/>
          <a:p>
            <a:pPr marL="0" lvl="1">
              <a:spcBef>
                <a:spcPts val="0"/>
              </a:spcBef>
            </a:pPr>
            <a:r>
              <a:rPr lang="en-GB" sz="2800" b="1" dirty="0" smtClean="0"/>
              <a:t>Closed systems </a:t>
            </a:r>
            <a:r>
              <a:rPr lang="en-GB" sz="2800" dirty="0" smtClean="0"/>
              <a:t>are closed off from the outside environment, and all interaction and knowledge is transmitted within the closed system only. </a:t>
            </a:r>
          </a:p>
          <a:p>
            <a:pPr marL="0" lvl="1">
              <a:spcBef>
                <a:spcPts val="0"/>
              </a:spcBef>
            </a:pPr>
            <a:endParaRPr lang="en-GB" sz="2800" dirty="0" smtClean="0"/>
          </a:p>
          <a:p>
            <a:pPr marL="0" lvl="1">
              <a:spcBef>
                <a:spcPts val="0"/>
              </a:spcBef>
            </a:pPr>
            <a:r>
              <a:rPr lang="en-GB" sz="2800" dirty="0" smtClean="0"/>
              <a:t>Closed systems can hamper growth since the flow of information stays within the system and has no chance to interact with or build on knowledge from the outer environment.</a:t>
            </a:r>
          </a:p>
          <a:p>
            <a:pPr marL="0" lvl="1">
              <a:spcBef>
                <a:spcPts val="0"/>
              </a:spcBef>
            </a:pPr>
            <a:endParaRPr lang="en-GB" sz="2800" dirty="0" smtClean="0"/>
          </a:p>
          <a:p>
            <a:pPr marL="0" lvl="1">
              <a:spcBef>
                <a:spcPts val="0"/>
              </a:spcBef>
            </a:pPr>
            <a:r>
              <a:rPr lang="en-GB" sz="2800" dirty="0" smtClean="0"/>
              <a:t>Corporate management built on a closed system is known as a "machine bureaucracy." </a:t>
            </a:r>
          </a:p>
          <a:p>
            <a:pPr marL="274320" lvl="2">
              <a:spcBef>
                <a:spcPts val="0"/>
              </a:spcBef>
            </a:pPr>
            <a:r>
              <a:rPr lang="en-GB" dirty="0" smtClean="0"/>
              <a:t>More prevalent among organisations, machine bureaucracies tend to hold efficiency and control as the highest goals, </a:t>
            </a:r>
          </a:p>
          <a:p>
            <a:pPr marL="274320" lvl="2">
              <a:spcBef>
                <a:spcPts val="0"/>
              </a:spcBef>
            </a:pPr>
            <a:r>
              <a:rPr lang="en-GB" dirty="0" smtClean="0"/>
              <a:t>They can reach these goals in various ways, including setting up a hierarchy of offices, creating rules that guide performance, separating personal and professional rights, and selecting new hires based on technical expertise alone.</a:t>
            </a:r>
          </a:p>
          <a:p>
            <a:pPr marL="0" lvl="1">
              <a:spcBef>
                <a:spcPts val="0"/>
              </a:spcBef>
            </a:pPr>
            <a:endParaRPr lang="en-GB" dirty="0" smtClean="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92162"/>
          </a:xfrm>
        </p:spPr>
        <p:txBody>
          <a:bodyPr>
            <a:noAutofit/>
          </a:bodyPr>
          <a:lstStyle/>
          <a:p>
            <a:r>
              <a:rPr lang="en-IE" sz="3200" dirty="0" smtClean="0"/>
              <a:t>Contemporary Approaches: </a:t>
            </a:r>
            <a:r>
              <a:rPr lang="en-US" sz="3200" dirty="0" smtClean="0"/>
              <a:t>Systems Theory</a:t>
            </a:r>
            <a:endParaRPr lang="en-US" sz="32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47</a:t>
            </a:fld>
            <a:endParaRPr lang="en-US" dirty="0"/>
          </a:p>
        </p:txBody>
      </p:sp>
      <p:sp>
        <p:nvSpPr>
          <p:cNvPr id="4" name="Content Placeholder 3"/>
          <p:cNvSpPr>
            <a:spLocks noGrp="1"/>
          </p:cNvSpPr>
          <p:nvPr>
            <p:ph sz="quarter" idx="1"/>
          </p:nvPr>
        </p:nvSpPr>
        <p:spPr>
          <a:xfrm>
            <a:off x="914400" y="1295400"/>
            <a:ext cx="7772400" cy="4953000"/>
          </a:xfrm>
        </p:spPr>
        <p:txBody>
          <a:bodyPr>
            <a:noAutofit/>
          </a:bodyPr>
          <a:lstStyle/>
          <a:p>
            <a:pPr marL="0" lvl="1">
              <a:spcBef>
                <a:spcPts val="0"/>
              </a:spcBef>
            </a:pPr>
            <a:r>
              <a:rPr lang="en-GB" sz="2200" b="1" dirty="0" smtClean="0"/>
              <a:t>Examples of Closed Systems:</a:t>
            </a:r>
          </a:p>
          <a:p>
            <a:pPr marL="0" lvl="1">
              <a:spcBef>
                <a:spcPts val="0"/>
              </a:spcBef>
            </a:pPr>
            <a:endParaRPr lang="en-GB" sz="400" dirty="0" smtClean="0"/>
          </a:p>
          <a:p>
            <a:pPr marL="274320" lvl="1" indent="-274320">
              <a:spcBef>
                <a:spcPts val="580"/>
              </a:spcBef>
              <a:buClr>
                <a:schemeClr val="accent1"/>
              </a:buClr>
            </a:pPr>
            <a:r>
              <a:rPr lang="en-GB" sz="2200" dirty="0" smtClean="0"/>
              <a:t>A production line is an example of a closed system within an organisation. </a:t>
            </a:r>
          </a:p>
          <a:p>
            <a:pPr marL="548640" lvl="4" indent="-274320">
              <a:spcBef>
                <a:spcPts val="0"/>
              </a:spcBef>
              <a:buClr>
                <a:schemeClr val="accent1"/>
              </a:buClr>
            </a:pPr>
            <a:r>
              <a:rPr lang="en-GB" sz="2000" dirty="0" smtClean="0"/>
              <a:t>The daily work that takes place on production or assembly lines can be insulated from outside factors such as day-to-day meetings between upper-level executives, or information from other similar, competing production lines. </a:t>
            </a:r>
          </a:p>
          <a:p>
            <a:pPr marL="548640" lvl="4" indent="-274320">
              <a:spcBef>
                <a:spcPts val="0"/>
              </a:spcBef>
              <a:buClr>
                <a:schemeClr val="accent1"/>
              </a:buClr>
            </a:pPr>
            <a:r>
              <a:rPr lang="en-GB" sz="2000" dirty="0" smtClean="0"/>
              <a:t>Instead, workers on an assembly line are generally only responsible for completing their tasks on the line, depending on what type of line it is.</a:t>
            </a:r>
          </a:p>
          <a:p>
            <a:endParaRPr lang="en-US" sz="1200" dirty="0" smtClean="0"/>
          </a:p>
          <a:p>
            <a:pPr marL="0" lvl="2" indent="-274320">
              <a:spcBef>
                <a:spcPts val="0"/>
              </a:spcBef>
              <a:buClr>
                <a:schemeClr val="accent1"/>
              </a:buClr>
            </a:pPr>
            <a:r>
              <a:rPr lang="en-GB" sz="2200" dirty="0" smtClean="0"/>
              <a:t>Certain departments within an organisation can be set up as closed systems. </a:t>
            </a:r>
          </a:p>
          <a:p>
            <a:pPr marL="548640" lvl="4" indent="-274320">
              <a:spcBef>
                <a:spcPts val="0"/>
              </a:spcBef>
              <a:buClr>
                <a:schemeClr val="accent1"/>
              </a:buClr>
            </a:pPr>
            <a:r>
              <a:rPr lang="en-GB" sz="2000" dirty="0" smtClean="0"/>
              <a:t>For example, a research-and-development (R&amp;D) department within a computer organisation may be set up as a closed system with no interaction outside of the division; the purpose is to protect trade secrets and inventions that are being produced inside.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smtClean="0"/>
              <a:t>Contemporary Approaches: </a:t>
            </a:r>
            <a:r>
              <a:rPr lang="en-US" dirty="0" smtClean="0"/>
              <a:t>Systems Theory</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48</a:t>
            </a:fld>
            <a:endParaRPr lang="en-US" dirty="0"/>
          </a:p>
        </p:txBody>
      </p:sp>
      <p:sp>
        <p:nvSpPr>
          <p:cNvPr id="4" name="Content Placeholder 3"/>
          <p:cNvSpPr>
            <a:spLocks noGrp="1"/>
          </p:cNvSpPr>
          <p:nvPr>
            <p:ph sz="quarter" idx="1"/>
          </p:nvPr>
        </p:nvSpPr>
        <p:spPr>
          <a:xfrm>
            <a:off x="914400" y="1676400"/>
            <a:ext cx="7772400" cy="4724400"/>
          </a:xfrm>
        </p:spPr>
        <p:txBody>
          <a:bodyPr>
            <a:normAutofit fontScale="92500" lnSpcReduction="20000"/>
          </a:bodyPr>
          <a:lstStyle/>
          <a:p>
            <a:pPr marL="274320" lvl="1" indent="-274320" hangingPunct="0">
              <a:spcBef>
                <a:spcPts val="580"/>
              </a:spcBef>
              <a:buClr>
                <a:schemeClr val="accent1"/>
              </a:buClr>
            </a:pPr>
            <a:r>
              <a:rPr lang="en-US" sz="3000" dirty="0" smtClean="0"/>
              <a:t>An open system dynamically interact with their environment,</a:t>
            </a:r>
            <a:r>
              <a:rPr lang="en-GB" sz="3000" dirty="0" smtClean="0"/>
              <a:t> through giving and receiving information,</a:t>
            </a:r>
          </a:p>
          <a:p>
            <a:pPr marL="548640" lvl="3" indent="-274320" hangingPunct="0">
              <a:spcBef>
                <a:spcPts val="580"/>
              </a:spcBef>
              <a:buClr>
                <a:schemeClr val="accent1"/>
              </a:buClr>
            </a:pPr>
            <a:r>
              <a:rPr lang="en-GB" sz="3000" dirty="0" smtClean="0"/>
              <a:t> </a:t>
            </a:r>
            <a:r>
              <a:rPr lang="en-GB" sz="2600" dirty="0" smtClean="0"/>
              <a:t>e.g. a public relations department, it must interact with the outside environment on a regular basis.</a:t>
            </a:r>
            <a:endParaRPr lang="en-US" sz="3000" dirty="0" smtClean="0"/>
          </a:p>
          <a:p>
            <a:pPr marL="0">
              <a:spcBef>
                <a:spcPts val="0"/>
              </a:spcBef>
            </a:pPr>
            <a:endParaRPr lang="en-US" sz="3000" dirty="0" smtClean="0"/>
          </a:p>
          <a:p>
            <a:pPr hangingPunct="0"/>
            <a:r>
              <a:rPr lang="en-US" sz="3000" dirty="0" smtClean="0"/>
              <a:t>Today, when we describe organisations as systems, we mean open systems. </a:t>
            </a:r>
          </a:p>
          <a:p>
            <a:pPr marL="0">
              <a:spcBef>
                <a:spcPts val="0"/>
              </a:spcBef>
            </a:pPr>
            <a:endParaRPr lang="en-GB" sz="3000" dirty="0" smtClean="0"/>
          </a:p>
          <a:p>
            <a:pPr hangingPunct="0"/>
            <a:r>
              <a:rPr lang="en-US" sz="3000" dirty="0" smtClean="0"/>
              <a:t>Using the systems approach, managers envision an </a:t>
            </a:r>
            <a:r>
              <a:rPr lang="en-US" sz="3000" dirty="0" err="1" smtClean="0"/>
              <a:t>organisation</a:t>
            </a:r>
            <a:r>
              <a:rPr lang="en-US" sz="3000" dirty="0" smtClean="0"/>
              <a:t> as a body with many interdependent parts, each of which is important to the well-being of the </a:t>
            </a:r>
            <a:r>
              <a:rPr lang="en-US" sz="3000" dirty="0" err="1" smtClean="0"/>
              <a:t>organisation</a:t>
            </a:r>
            <a:r>
              <a:rPr lang="en-US" sz="3000" dirty="0" smtClean="0"/>
              <a:t> as a whole. </a:t>
            </a:r>
          </a:p>
          <a:p>
            <a:pPr marL="0">
              <a:spcBef>
                <a:spcPts val="0"/>
              </a:spcBef>
              <a:buNone/>
            </a:pPr>
            <a:endParaRPr lang="en-IE" dirty="0" smtClean="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smtClean="0"/>
              <a:t>Contemporary Approaches: </a:t>
            </a:r>
            <a:r>
              <a:rPr lang="en-US" dirty="0" smtClean="0"/>
              <a:t>Systems Theory</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49</a:t>
            </a:fld>
            <a:endParaRPr lang="en-US" dirty="0"/>
          </a:p>
        </p:txBody>
      </p:sp>
      <p:sp>
        <p:nvSpPr>
          <p:cNvPr id="4" name="Content Placeholder 3"/>
          <p:cNvSpPr>
            <a:spLocks noGrp="1"/>
          </p:cNvSpPr>
          <p:nvPr>
            <p:ph sz="quarter" idx="1"/>
          </p:nvPr>
        </p:nvSpPr>
        <p:spPr>
          <a:xfrm>
            <a:off x="914400" y="1828800"/>
            <a:ext cx="7772400" cy="4572000"/>
          </a:xfrm>
        </p:spPr>
        <p:txBody>
          <a:bodyPr>
            <a:normAutofit/>
          </a:bodyPr>
          <a:lstStyle/>
          <a:p>
            <a:pPr lvl="0" hangingPunct="0"/>
            <a:r>
              <a:rPr lang="en-US" sz="2800" dirty="0" smtClean="0"/>
              <a:t>Managers coordinate the work activities of the various parts of the </a:t>
            </a:r>
            <a:r>
              <a:rPr lang="en-US" sz="2800" dirty="0" err="1" smtClean="0"/>
              <a:t>organisation</a:t>
            </a:r>
            <a:r>
              <a:rPr lang="en-US" sz="2800" dirty="0" smtClean="0"/>
              <a:t>, </a:t>
            </a:r>
            <a:r>
              <a:rPr lang="en-US" sz="2800" dirty="0" err="1" smtClean="0"/>
              <a:t>realising</a:t>
            </a:r>
            <a:r>
              <a:rPr lang="en-US" sz="2800" dirty="0" smtClean="0"/>
              <a:t> that decisions and actions taken in one </a:t>
            </a:r>
            <a:r>
              <a:rPr lang="en-US" sz="2800" dirty="0" err="1" smtClean="0"/>
              <a:t>organisational</a:t>
            </a:r>
            <a:r>
              <a:rPr lang="en-US" sz="2800" dirty="0" smtClean="0"/>
              <a:t> area will affect other areas.</a:t>
            </a:r>
          </a:p>
          <a:p>
            <a:pPr lvl="0" hangingPunct="0"/>
            <a:endParaRPr lang="en-US" sz="1800" dirty="0" smtClean="0"/>
          </a:p>
          <a:p>
            <a:pPr lvl="0" hangingPunct="0"/>
            <a:r>
              <a:rPr lang="en-US" sz="2800" dirty="0" smtClean="0"/>
              <a:t>The systems approach </a:t>
            </a:r>
            <a:r>
              <a:rPr lang="en-US" sz="2800" dirty="0" err="1" smtClean="0"/>
              <a:t>recognises</a:t>
            </a:r>
            <a:r>
              <a:rPr lang="en-US" sz="2800" dirty="0" smtClean="0"/>
              <a:t> that organisations are not self-contained; </a:t>
            </a:r>
          </a:p>
          <a:p>
            <a:pPr lvl="1" hangingPunct="0"/>
            <a:r>
              <a:rPr lang="en-US" sz="2800" dirty="0" smtClean="0"/>
              <a:t>they rely on and are affected by factors in their external environment.</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2" name="Picture 2"/>
          <p:cNvPicPr>
            <a:picLocks noGrp="1" noChangeAspect="1" noChangeArrowheads="1"/>
          </p:cNvPicPr>
          <p:nvPr>
            <p:ph idx="4294967295"/>
          </p:nvPr>
        </p:nvPicPr>
        <p:blipFill>
          <a:blip r:embed="rId3" cstate="print"/>
          <a:srcRect t="1675"/>
          <a:stretch>
            <a:fillRect/>
          </a:stretch>
        </p:blipFill>
        <p:spPr>
          <a:xfrm>
            <a:off x="304800" y="1524000"/>
            <a:ext cx="8382000" cy="4953000"/>
          </a:xfrm>
          <a:noFill/>
        </p:spPr>
      </p:pic>
      <p:sp>
        <p:nvSpPr>
          <p:cNvPr id="3" name="Title 2"/>
          <p:cNvSpPr>
            <a:spLocks noGrp="1"/>
          </p:cNvSpPr>
          <p:nvPr>
            <p:ph type="title"/>
          </p:nvPr>
        </p:nvSpPr>
        <p:spPr>
          <a:xfrm>
            <a:off x="1143000" y="274638"/>
            <a:ext cx="7543800" cy="868362"/>
          </a:xfrm>
        </p:spPr>
        <p:txBody>
          <a:bodyPr>
            <a:normAutofit fontScale="90000"/>
          </a:bodyPr>
          <a:lstStyle/>
          <a:p>
            <a:r>
              <a:rPr lang="en-IE" b="1" dirty="0" smtClean="0"/>
              <a:t>Organisation as an Open System </a:t>
            </a:r>
            <a:br>
              <a:rPr lang="en-IE" b="1" dirty="0" smtClean="0"/>
            </a:br>
            <a:r>
              <a:rPr lang="en-IE" sz="2000" b="1" dirty="0" smtClean="0"/>
              <a:t>(Source: Robbins &amp; Coulter, 2014)</a:t>
            </a:r>
            <a:endParaRPr lang="en-IE" sz="2000" b="1"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1249362"/>
          </a:xfrm>
        </p:spPr>
        <p:txBody>
          <a:bodyPr>
            <a:noAutofit/>
          </a:bodyPr>
          <a:lstStyle/>
          <a:p>
            <a:r>
              <a:rPr lang="en-IE" sz="4000" dirty="0" smtClean="0"/>
              <a:t>Contemporary Approaches: </a:t>
            </a:r>
            <a:br>
              <a:rPr lang="en-IE" sz="4000" dirty="0" smtClean="0"/>
            </a:br>
            <a:r>
              <a:rPr lang="en-US" sz="4000" dirty="0" smtClean="0"/>
              <a:t>The Contingency Approach</a:t>
            </a:r>
            <a:endParaRPr lang="en-US" sz="40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51</a:t>
            </a:fld>
            <a:endParaRPr lang="en-US" dirty="0"/>
          </a:p>
        </p:txBody>
      </p:sp>
      <p:sp>
        <p:nvSpPr>
          <p:cNvPr id="4" name="Content Placeholder 3"/>
          <p:cNvSpPr>
            <a:spLocks noGrp="1"/>
          </p:cNvSpPr>
          <p:nvPr>
            <p:ph sz="quarter" idx="1"/>
          </p:nvPr>
        </p:nvSpPr>
        <p:spPr>
          <a:xfrm>
            <a:off x="914400" y="1828800"/>
            <a:ext cx="7772400" cy="4800600"/>
          </a:xfrm>
        </p:spPr>
        <p:txBody>
          <a:bodyPr>
            <a:normAutofit fontScale="85000" lnSpcReduction="20000"/>
          </a:bodyPr>
          <a:lstStyle/>
          <a:p>
            <a:pPr marL="342900" indent="-342900">
              <a:spcBef>
                <a:spcPct val="50000"/>
              </a:spcBef>
            </a:pPr>
            <a:r>
              <a:rPr lang="en-US" b="1" dirty="0" smtClean="0"/>
              <a:t>Contingency Approach </a:t>
            </a:r>
            <a:r>
              <a:rPr lang="en-US" dirty="0" smtClean="0"/>
              <a:t>- sometimes called the </a:t>
            </a:r>
            <a:r>
              <a:rPr lang="en-US" i="1" dirty="0" smtClean="0"/>
              <a:t>Situational Approach</a:t>
            </a:r>
          </a:p>
          <a:p>
            <a:pPr marL="617220" lvl="1" indent="-342900">
              <a:spcBef>
                <a:spcPct val="50000"/>
              </a:spcBef>
            </a:pPr>
            <a:r>
              <a:rPr lang="en-US" dirty="0" smtClean="0"/>
              <a:t>The contingency approach </a:t>
            </a:r>
            <a:r>
              <a:rPr lang="en-US" dirty="0" err="1" smtClean="0"/>
              <a:t>recognises</a:t>
            </a:r>
            <a:r>
              <a:rPr lang="en-US" dirty="0" smtClean="0"/>
              <a:t> that different organisations require different ways of managing.</a:t>
            </a:r>
          </a:p>
          <a:p>
            <a:pPr marL="891540" lvl="2" indent="-342900">
              <a:spcBef>
                <a:spcPct val="50000"/>
              </a:spcBef>
            </a:pPr>
            <a:r>
              <a:rPr lang="en-US" dirty="0" smtClean="0"/>
              <a:t>	Organisations are individually different, face different situations (contingency variables), and require different ways of managing.</a:t>
            </a:r>
          </a:p>
          <a:p>
            <a:pPr marL="891540" lvl="2" indent="-342900">
              <a:spcBef>
                <a:spcPct val="50000"/>
              </a:spcBef>
            </a:pPr>
            <a:r>
              <a:rPr lang="en-US" dirty="0" smtClean="0"/>
              <a:t>There is no one universally applicable set of management principles (rules) by which to manage organisations.</a:t>
            </a:r>
          </a:p>
          <a:p>
            <a:pPr marL="342900" indent="-342900">
              <a:spcBef>
                <a:spcPct val="50000"/>
              </a:spcBef>
            </a:pPr>
            <a:endParaRPr lang="en-US" sz="1400" dirty="0" smtClean="0">
              <a:cs typeface="Arial" charset="0"/>
            </a:endParaRPr>
          </a:p>
          <a:p>
            <a:pPr marL="342900" indent="-342900">
              <a:spcBef>
                <a:spcPct val="50000"/>
              </a:spcBef>
            </a:pPr>
            <a:r>
              <a:rPr lang="en-US" dirty="0" smtClean="0">
                <a:cs typeface="Arial" charset="0"/>
              </a:rPr>
              <a:t>Different </a:t>
            </a:r>
            <a:r>
              <a:rPr lang="en-US" dirty="0">
                <a:cs typeface="Arial" charset="0"/>
              </a:rPr>
              <a:t>and changing situations require managers to use different approaches and </a:t>
            </a:r>
            <a:r>
              <a:rPr lang="en-US" dirty="0" smtClean="0">
                <a:cs typeface="Arial" charset="0"/>
              </a:rPr>
              <a:t>techniques as they are required.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52</a:t>
            </a:fld>
            <a:endParaRPr lang="en-US" dirty="0"/>
          </a:p>
        </p:txBody>
      </p:sp>
      <p:sp>
        <p:nvSpPr>
          <p:cNvPr id="4" name="Content Placeholder 3"/>
          <p:cNvSpPr>
            <a:spLocks noGrp="1"/>
          </p:cNvSpPr>
          <p:nvPr>
            <p:ph sz="quarter" idx="1"/>
          </p:nvPr>
        </p:nvSpPr>
        <p:spPr/>
        <p:txBody>
          <a:bodyPr/>
          <a:lstStyle/>
          <a:p>
            <a:endParaRPr lang="en-US"/>
          </a:p>
        </p:txBody>
      </p:sp>
      <p:pic>
        <p:nvPicPr>
          <p:cNvPr id="78850" name="Picture 2" descr="http://image.slidesharecdn.com/prinmancontingencyapproach-110924015309-phpapp01/95/prinman-contingency-approach-1-728.jpg?cb=1316847254"/>
          <p:cNvPicPr>
            <a:picLocks noChangeAspect="1" noChangeArrowheads="1"/>
          </p:cNvPicPr>
          <p:nvPr/>
        </p:nvPicPr>
        <p:blipFill>
          <a:blip r:embed="rId2" cstate="print"/>
          <a:srcRect/>
          <a:stretch>
            <a:fillRect/>
          </a:stretch>
        </p:blipFill>
        <p:spPr bwMode="auto">
          <a:xfrm>
            <a:off x="914400" y="228600"/>
            <a:ext cx="6934200" cy="5200651"/>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944562"/>
          </a:xfrm>
        </p:spPr>
        <p:txBody>
          <a:bodyPr>
            <a:normAutofit fontScale="90000"/>
          </a:bodyPr>
          <a:lstStyle/>
          <a:p>
            <a:r>
              <a:rPr lang="en-IE" dirty="0" smtClean="0"/>
              <a:t>Popular Contingency Variables  </a:t>
            </a:r>
            <a:br>
              <a:rPr lang="en-IE" dirty="0" smtClean="0"/>
            </a:br>
            <a:r>
              <a:rPr lang="en-IE" sz="1800" dirty="0" smtClean="0"/>
              <a:t>(Source: Robbins &amp; Coulter, 2014)</a:t>
            </a:r>
            <a:endParaRPr lang="en-IE" sz="18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53</a:t>
            </a:fld>
            <a:endParaRPr lang="en-US" dirty="0"/>
          </a:p>
        </p:txBody>
      </p:sp>
      <p:sp>
        <p:nvSpPr>
          <p:cNvPr id="4" name="Content Placeholder 3"/>
          <p:cNvSpPr>
            <a:spLocks noGrp="1"/>
          </p:cNvSpPr>
          <p:nvPr>
            <p:ph sz="quarter" idx="1"/>
          </p:nvPr>
        </p:nvSpPr>
        <p:spPr/>
        <p:txBody>
          <a:bodyPr/>
          <a:lstStyle/>
          <a:p>
            <a:endParaRPr lang="en-IE" dirty="0"/>
          </a:p>
        </p:txBody>
      </p:sp>
      <p:pic>
        <p:nvPicPr>
          <p:cNvPr id="5" name="Picture 2"/>
          <p:cNvPicPr>
            <a:picLocks noChangeAspect="1" noChangeArrowheads="1"/>
          </p:cNvPicPr>
          <p:nvPr/>
        </p:nvPicPr>
        <p:blipFill>
          <a:blip r:embed="rId2" cstate="print"/>
          <a:srcRect b="1656"/>
          <a:stretch>
            <a:fillRect/>
          </a:stretch>
        </p:blipFill>
        <p:spPr bwMode="auto">
          <a:xfrm>
            <a:off x="713510" y="1371600"/>
            <a:ext cx="7924800" cy="4800600"/>
          </a:xfrm>
          <a:prstGeom prst="rect">
            <a:avLst/>
          </a:prstGeom>
          <a:noFill/>
          <a:ln w="9525">
            <a:noFill/>
            <a:miter lim="800000"/>
            <a:headEnd/>
            <a:tailEnd/>
          </a:ln>
        </p:spPr>
      </p:pic>
    </p:spTree>
    <p:extLst>
      <p:ext uri="{BB962C8B-B14F-4D97-AF65-F5344CB8AC3E}">
        <p14:creationId xmlns:p14="http://schemas.microsoft.com/office/powerpoint/2010/main" val="7216352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54</a:t>
            </a:fld>
            <a:endParaRPr lang="en-US" dirty="0"/>
          </a:p>
        </p:txBody>
      </p:sp>
      <p:sp>
        <p:nvSpPr>
          <p:cNvPr id="4" name="Content Placeholder 3"/>
          <p:cNvSpPr>
            <a:spLocks noGrp="1"/>
          </p:cNvSpPr>
          <p:nvPr>
            <p:ph sz="quarter" idx="1"/>
          </p:nvPr>
        </p:nvSpPr>
        <p:spPr/>
        <p:txBody>
          <a:bodyPr/>
          <a:lstStyle/>
          <a:p>
            <a:endParaRPr lang="en-US"/>
          </a:p>
        </p:txBody>
      </p:sp>
      <p:pic>
        <p:nvPicPr>
          <p:cNvPr id="69634" name="Picture 2" descr="http://1.bp.blogspot.com/-oUbhO5cefaU/UhYkSAXAqII/AAAAAAAAAJQ/ZWJufdXjzCM/s1600/emy.jpg"/>
          <p:cNvPicPr>
            <a:picLocks noChangeAspect="1" noChangeArrowheads="1"/>
          </p:cNvPicPr>
          <p:nvPr/>
        </p:nvPicPr>
        <p:blipFill>
          <a:blip r:embed="rId2" cstate="print"/>
          <a:srcRect/>
          <a:stretch>
            <a:fillRect/>
          </a:stretch>
        </p:blipFill>
        <p:spPr bwMode="auto">
          <a:xfrm>
            <a:off x="914400" y="609600"/>
            <a:ext cx="7239000" cy="5562600"/>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363</TotalTime>
  <Words>2774</Words>
  <Application>Microsoft Office PowerPoint</Application>
  <PresentationFormat>On-screen Show (4:3)</PresentationFormat>
  <Paragraphs>306</Paragraphs>
  <Slides>54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Franklin Gothic Book</vt:lpstr>
      <vt:lpstr>Perpetua</vt:lpstr>
      <vt:lpstr>Wingdings 2</vt:lpstr>
      <vt:lpstr>Equity</vt:lpstr>
      <vt:lpstr>History of Management</vt:lpstr>
      <vt:lpstr>Areas discussed include ….</vt:lpstr>
      <vt:lpstr>Video Links</vt:lpstr>
      <vt:lpstr>Introduction</vt:lpstr>
      <vt:lpstr>Historical Background of Management</vt:lpstr>
      <vt:lpstr>Historical Background of Management</vt:lpstr>
      <vt:lpstr>Historical Background of Management</vt:lpstr>
      <vt:lpstr>Historical Background of Management</vt:lpstr>
      <vt:lpstr>Four Major Approaches to Management (Source: Robbins &amp; Coulter, 2014)</vt:lpstr>
      <vt:lpstr>Classical Approach</vt:lpstr>
      <vt:lpstr>Scientific Management</vt:lpstr>
      <vt:lpstr>Scientific Management</vt:lpstr>
      <vt:lpstr>PowerPoint Presentation</vt:lpstr>
      <vt:lpstr>Taylor’s Scientific Management Principles</vt:lpstr>
      <vt:lpstr>Frank and Lillian Gilbreth</vt:lpstr>
      <vt:lpstr>PowerPoint Presentation</vt:lpstr>
      <vt:lpstr>Time &amp; Motion Studies</vt:lpstr>
      <vt:lpstr>How Do Today’s Managers Use Scientific Management?</vt:lpstr>
      <vt:lpstr>General Administrative Theory</vt:lpstr>
      <vt:lpstr>General Administrative Theory: Henri Fayol</vt:lpstr>
      <vt:lpstr>Fayol’s 14 Principles of Management</vt:lpstr>
      <vt:lpstr>Fayol’s 14 Principles of Management</vt:lpstr>
      <vt:lpstr>PowerPoint Presentation</vt:lpstr>
      <vt:lpstr>General Administrative Theory – Max Weber</vt:lpstr>
      <vt:lpstr>Characteristics of Weber’s Bureaucracy</vt:lpstr>
      <vt:lpstr>PowerPoint Presentation</vt:lpstr>
      <vt:lpstr>How Do Today’s Managers Use General Administrative Theories? </vt:lpstr>
      <vt:lpstr>Organisational Behavior</vt:lpstr>
      <vt:lpstr>Organisational Behavior</vt:lpstr>
      <vt:lpstr>Early OB Advocates (Source: Robbins &amp; Coutler, 2014)</vt:lpstr>
      <vt:lpstr>The Hawthorne Studies</vt:lpstr>
      <vt:lpstr>The Hawthorne Studies</vt:lpstr>
      <vt:lpstr>PowerPoint Presentation</vt:lpstr>
      <vt:lpstr>PowerPoint Presentation</vt:lpstr>
      <vt:lpstr>Video Clip  - The Hawthorn Effect</vt:lpstr>
      <vt:lpstr>How Do Today’s Managers Use the Behavioral Approach?</vt:lpstr>
      <vt:lpstr>The Quantitative Approach</vt:lpstr>
      <vt:lpstr>Management Use of Data!</vt:lpstr>
      <vt:lpstr>How Do Today’s Managers Use the Quantitative Approach?</vt:lpstr>
      <vt:lpstr>Total Quality Management (TQM)</vt:lpstr>
      <vt:lpstr>Total Quality Management (TQM)</vt:lpstr>
      <vt:lpstr>What is Quality Management?</vt:lpstr>
      <vt:lpstr>Contemporary Approaches</vt:lpstr>
      <vt:lpstr>PowerPoint Presentation</vt:lpstr>
      <vt:lpstr>Contemporary Approaches: Systems Theory</vt:lpstr>
      <vt:lpstr>Contemporary Approaches: Systems Theory</vt:lpstr>
      <vt:lpstr>Contemporary Approaches: Systems Theory</vt:lpstr>
      <vt:lpstr>Contemporary Approaches: Systems Theory</vt:lpstr>
      <vt:lpstr>Contemporary Approaches: Systems Theory</vt:lpstr>
      <vt:lpstr>Organisation as an Open System  (Source: Robbins &amp; Coulter, 2014)</vt:lpstr>
      <vt:lpstr>Contemporary Approaches:  The Contingency Approach</vt:lpstr>
      <vt:lpstr>PowerPoint Presentation</vt:lpstr>
      <vt:lpstr>Popular Contingency Variables   (Source: Robbins &amp; Coulter, 2014)</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kghjfgkjs</dc:title>
  <dc:creator>Orla Gregory</dc:creator>
  <cp:lastModifiedBy>Orla Gregory</cp:lastModifiedBy>
  <cp:revision>107</cp:revision>
  <cp:lastPrinted>2013-09-18T16:50:47Z</cp:lastPrinted>
  <dcterms:created xsi:type="dcterms:W3CDTF">2006-08-16T00:00:00Z</dcterms:created>
  <dcterms:modified xsi:type="dcterms:W3CDTF">2015-09-30T10:41:10Z</dcterms:modified>
</cp:coreProperties>
</file>