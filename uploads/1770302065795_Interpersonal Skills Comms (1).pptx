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0" r:id="rId3"/>
    <p:sldId id="257" r:id="rId4"/>
    <p:sldId id="258" r:id="rId5"/>
    <p:sldId id="277" r:id="rId6"/>
    <p:sldId id="259" r:id="rId7"/>
    <p:sldId id="260" r:id="rId8"/>
    <p:sldId id="278" r:id="rId9"/>
    <p:sldId id="261" r:id="rId10"/>
    <p:sldId id="262" r:id="rId11"/>
    <p:sldId id="279" r:id="rId12"/>
    <p:sldId id="263" r:id="rId13"/>
    <p:sldId id="264" r:id="rId14"/>
    <p:sldId id="265" r:id="rId15"/>
    <p:sldId id="266" r:id="rId16"/>
    <p:sldId id="267" r:id="rId17"/>
    <p:sldId id="268" r:id="rId18"/>
    <p:sldId id="269" r:id="rId19"/>
    <p:sldId id="270" r:id="rId20"/>
    <p:sldId id="271" r:id="rId21"/>
    <p:sldId id="272" r:id="rId22"/>
    <p:sldId id="273" r:id="rId23"/>
    <p:sldId id="282" r:id="rId24"/>
    <p:sldId id="283" r:id="rId25"/>
    <p:sldId id="274" r:id="rId26"/>
    <p:sldId id="275" r:id="rId27"/>
    <p:sldId id="289" r:id="rId28"/>
    <p:sldId id="276" r:id="rId29"/>
    <p:sldId id="284" r:id="rId30"/>
    <p:sldId id="285" r:id="rId31"/>
    <p:sldId id="286" r:id="rId32"/>
    <p:sldId id="287" r:id="rId33"/>
    <p:sldId id="288" r:id="rId34"/>
    <p:sldId id="280" r:id="rId35"/>
    <p:sldId id="281" r:id="rId36"/>
  </p:sldIdLst>
  <p:sldSz cx="12192000" cy="6858000"/>
  <p:notesSz cx="6858000" cy="9144000"/>
  <p:custDataLst>
    <p:tags r:id="rId3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0578" autoAdjust="0"/>
    <p:restoredTop sz="94660"/>
  </p:normalViewPr>
  <p:slideViewPr>
    <p:cSldViewPr snapToGrid="0">
      <p:cViewPr varScale="1">
        <p:scale>
          <a:sx n="103" d="100"/>
          <a:sy n="103" d="100"/>
        </p:scale>
        <p:origin x="114" y="3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CD38C29A-C2C1-44C7-86CD-9EF46BEA5EA1}"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87EB6C9F-1405-495C-AE43-A0D0B0DDB5EC}">
      <dgm:prSet/>
      <dgm:spPr/>
      <dgm:t>
        <a:bodyPr/>
        <a:lstStyle/>
        <a:p>
          <a:r>
            <a:rPr lang="en-GB"/>
            <a:t>The physical environment: home</a:t>
          </a:r>
          <a:r>
            <a:rPr lang="ga-IE"/>
            <a:t> (the bedroom)</a:t>
          </a:r>
          <a:r>
            <a:rPr lang="en-GB"/>
            <a:t>, theatre, retail outlet, building site, </a:t>
          </a:r>
          <a:r>
            <a:rPr lang="ga-IE"/>
            <a:t>office, workshop,</a:t>
          </a:r>
          <a:r>
            <a:rPr lang="en-GB"/>
            <a:t>etc.</a:t>
          </a:r>
          <a:endParaRPr lang="en-US"/>
        </a:p>
      </dgm:t>
    </dgm:pt>
    <dgm:pt modelId="{C4C17159-F7AE-4DA7-95E5-F4D43D367EFF}" type="parTrans" cxnId="{C49B188A-6FA1-47A8-8933-7D21205F4234}">
      <dgm:prSet/>
      <dgm:spPr/>
      <dgm:t>
        <a:bodyPr/>
        <a:lstStyle/>
        <a:p>
          <a:endParaRPr lang="en-US"/>
        </a:p>
      </dgm:t>
    </dgm:pt>
    <dgm:pt modelId="{5C7C6F67-43D4-4CDE-968B-7E9E36C3A1B5}" type="sibTrans" cxnId="{C49B188A-6FA1-47A8-8933-7D21205F4234}">
      <dgm:prSet/>
      <dgm:spPr/>
      <dgm:t>
        <a:bodyPr/>
        <a:lstStyle/>
        <a:p>
          <a:endParaRPr lang="en-US"/>
        </a:p>
      </dgm:t>
    </dgm:pt>
    <dgm:pt modelId="{552166E2-40D1-41F8-8D1D-73F8F651C34C}">
      <dgm:prSet/>
      <dgm:spPr/>
      <dgm:t>
        <a:bodyPr/>
        <a:lstStyle/>
        <a:p>
          <a:r>
            <a:rPr lang="en-GB"/>
            <a:t>The ‘emotional’ environment: serious,</a:t>
          </a:r>
          <a:r>
            <a:rPr lang="ga-IE"/>
            <a:t> formal,</a:t>
          </a:r>
          <a:r>
            <a:rPr lang="en-GB"/>
            <a:t> informal, tense, relaxed, hostile, </a:t>
          </a:r>
          <a:r>
            <a:rPr lang="ga-IE"/>
            <a:t>sad, happy,</a:t>
          </a:r>
          <a:r>
            <a:rPr lang="en-GB"/>
            <a:t>etc.</a:t>
          </a:r>
          <a:endParaRPr lang="en-US"/>
        </a:p>
      </dgm:t>
    </dgm:pt>
    <dgm:pt modelId="{41CBFE44-72A5-4134-8E69-0E3F6AE9CC9A}" type="parTrans" cxnId="{BF48DEF2-E304-4028-B00B-03297664BDD2}">
      <dgm:prSet/>
      <dgm:spPr/>
      <dgm:t>
        <a:bodyPr/>
        <a:lstStyle/>
        <a:p>
          <a:endParaRPr lang="en-US"/>
        </a:p>
      </dgm:t>
    </dgm:pt>
    <dgm:pt modelId="{CB1C094E-31D1-4EB3-979B-F790F2E0498E}" type="sibTrans" cxnId="{BF48DEF2-E304-4028-B00B-03297664BDD2}">
      <dgm:prSet/>
      <dgm:spPr/>
      <dgm:t>
        <a:bodyPr/>
        <a:lstStyle/>
        <a:p>
          <a:endParaRPr lang="en-US"/>
        </a:p>
      </dgm:t>
    </dgm:pt>
    <dgm:pt modelId="{2A80DA0F-0735-4056-AB53-84407C59F191}">
      <dgm:prSet/>
      <dgm:spPr/>
      <dgm:t>
        <a:bodyPr/>
        <a:lstStyle/>
        <a:p>
          <a:r>
            <a:rPr lang="en-GB"/>
            <a:t>The task(s):cognitive, physical, training, learning, composite, etc.</a:t>
          </a:r>
          <a:endParaRPr lang="en-US"/>
        </a:p>
      </dgm:t>
    </dgm:pt>
    <dgm:pt modelId="{49133536-A5D5-42CF-B640-2EA0A0096C6F}" type="parTrans" cxnId="{6627BFF7-D361-4D17-A663-031F0FEBEFD2}">
      <dgm:prSet/>
      <dgm:spPr/>
      <dgm:t>
        <a:bodyPr/>
        <a:lstStyle/>
        <a:p>
          <a:endParaRPr lang="en-US"/>
        </a:p>
      </dgm:t>
    </dgm:pt>
    <dgm:pt modelId="{E3BC9ABC-7920-426A-A1A8-470B4407617A}" type="sibTrans" cxnId="{6627BFF7-D361-4D17-A663-031F0FEBEFD2}">
      <dgm:prSet/>
      <dgm:spPr/>
      <dgm:t>
        <a:bodyPr/>
        <a:lstStyle/>
        <a:p>
          <a:endParaRPr lang="en-US"/>
        </a:p>
      </dgm:t>
    </dgm:pt>
    <dgm:pt modelId="{E3A42A92-26E5-45B5-91E0-9547151DF0BB}" type="pres">
      <dgm:prSet presAssocID="{CD38C29A-C2C1-44C7-86CD-9EF46BEA5EA1}" presName="root" presStyleCnt="0">
        <dgm:presLayoutVars>
          <dgm:dir/>
          <dgm:resizeHandles val="exact"/>
        </dgm:presLayoutVars>
      </dgm:prSet>
      <dgm:spPr/>
    </dgm:pt>
    <dgm:pt modelId="{6CDFE2F6-FBC7-4338-8CA9-AB952F75DBAB}" type="pres">
      <dgm:prSet presAssocID="{87EB6C9F-1405-495C-AE43-A0D0B0DDB5EC}" presName="compNode" presStyleCnt="0"/>
      <dgm:spPr/>
    </dgm:pt>
    <dgm:pt modelId="{062CF6F4-36B5-4BF0-AF80-0DF52E58E923}" type="pres">
      <dgm:prSet presAssocID="{87EB6C9F-1405-495C-AE43-A0D0B0DDB5EC}" presName="bgRect" presStyleLbl="bgShp" presStyleIdx="0" presStyleCnt="3"/>
      <dgm:spPr/>
    </dgm:pt>
    <dgm:pt modelId="{31015FC9-8AFD-4A03-9985-F65A4DD35B80}" type="pres">
      <dgm:prSet presAssocID="{87EB6C9F-1405-495C-AE43-A0D0B0DDB5E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BCB7DF78-3E25-4D66-8997-623F03A816EE}" type="pres">
      <dgm:prSet presAssocID="{87EB6C9F-1405-495C-AE43-A0D0B0DDB5EC}" presName="spaceRect" presStyleCnt="0"/>
      <dgm:spPr/>
    </dgm:pt>
    <dgm:pt modelId="{4EC072BE-DBB2-4C7F-ACB8-6AE598381CCE}" type="pres">
      <dgm:prSet presAssocID="{87EB6C9F-1405-495C-AE43-A0D0B0DDB5EC}" presName="parTx" presStyleLbl="revTx" presStyleIdx="0" presStyleCnt="3">
        <dgm:presLayoutVars>
          <dgm:chMax val="0"/>
          <dgm:chPref val="0"/>
        </dgm:presLayoutVars>
      </dgm:prSet>
      <dgm:spPr/>
    </dgm:pt>
    <dgm:pt modelId="{CF775481-035B-4ED9-B35C-E1B28D39D10E}" type="pres">
      <dgm:prSet presAssocID="{5C7C6F67-43D4-4CDE-968B-7E9E36C3A1B5}" presName="sibTrans" presStyleCnt="0"/>
      <dgm:spPr/>
    </dgm:pt>
    <dgm:pt modelId="{E6D18BE1-8113-4E68-B233-A1BD29A67912}" type="pres">
      <dgm:prSet presAssocID="{552166E2-40D1-41F8-8D1D-73F8F651C34C}" presName="compNode" presStyleCnt="0"/>
      <dgm:spPr/>
    </dgm:pt>
    <dgm:pt modelId="{A566CC22-8815-45B4-AB58-9933C1E04D54}" type="pres">
      <dgm:prSet presAssocID="{552166E2-40D1-41F8-8D1D-73F8F651C34C}" presName="bgRect" presStyleLbl="bgShp" presStyleIdx="1" presStyleCnt="3"/>
      <dgm:spPr/>
    </dgm:pt>
    <dgm:pt modelId="{9EF406F0-42A0-4107-B61A-4E1C53868C55}" type="pres">
      <dgm:prSet presAssocID="{552166E2-40D1-41F8-8D1D-73F8F651C34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ongue Face with Solid Fill"/>
        </a:ext>
      </dgm:extLst>
    </dgm:pt>
    <dgm:pt modelId="{95CF6541-1006-454C-8106-C956D69F1BD5}" type="pres">
      <dgm:prSet presAssocID="{552166E2-40D1-41F8-8D1D-73F8F651C34C}" presName="spaceRect" presStyleCnt="0"/>
      <dgm:spPr/>
    </dgm:pt>
    <dgm:pt modelId="{6115952B-5FCA-4CA5-8DA9-A82A27D913AD}" type="pres">
      <dgm:prSet presAssocID="{552166E2-40D1-41F8-8D1D-73F8F651C34C}" presName="parTx" presStyleLbl="revTx" presStyleIdx="1" presStyleCnt="3">
        <dgm:presLayoutVars>
          <dgm:chMax val="0"/>
          <dgm:chPref val="0"/>
        </dgm:presLayoutVars>
      </dgm:prSet>
      <dgm:spPr/>
    </dgm:pt>
    <dgm:pt modelId="{7E80EEBC-5C7F-4C21-A772-0FBEB2F64983}" type="pres">
      <dgm:prSet presAssocID="{CB1C094E-31D1-4EB3-979B-F790F2E0498E}" presName="sibTrans" presStyleCnt="0"/>
      <dgm:spPr/>
    </dgm:pt>
    <dgm:pt modelId="{D9635E2C-9F4C-4CFC-9018-DE75CAF8575A}" type="pres">
      <dgm:prSet presAssocID="{2A80DA0F-0735-4056-AB53-84407C59F191}" presName="compNode" presStyleCnt="0"/>
      <dgm:spPr/>
    </dgm:pt>
    <dgm:pt modelId="{E9A31120-95CC-4166-A175-89622DBE9803}" type="pres">
      <dgm:prSet presAssocID="{2A80DA0F-0735-4056-AB53-84407C59F191}" presName="bgRect" presStyleLbl="bgShp" presStyleIdx="2" presStyleCnt="3"/>
      <dgm:spPr/>
    </dgm:pt>
    <dgm:pt modelId="{91BD4F2B-3301-4786-ADED-AB0C10F0EDF4}" type="pres">
      <dgm:prSet presAssocID="{2A80DA0F-0735-4056-AB53-84407C59F19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ight Bulb and Gear"/>
        </a:ext>
      </dgm:extLst>
    </dgm:pt>
    <dgm:pt modelId="{E1F61595-8657-46A9-BA6C-96463C7BF7AA}" type="pres">
      <dgm:prSet presAssocID="{2A80DA0F-0735-4056-AB53-84407C59F191}" presName="spaceRect" presStyleCnt="0"/>
      <dgm:spPr/>
    </dgm:pt>
    <dgm:pt modelId="{5B3DA862-A070-4CE8-A9F9-C38AC9BAC9FD}" type="pres">
      <dgm:prSet presAssocID="{2A80DA0F-0735-4056-AB53-84407C59F191}" presName="parTx" presStyleLbl="revTx" presStyleIdx="2" presStyleCnt="3">
        <dgm:presLayoutVars>
          <dgm:chMax val="0"/>
          <dgm:chPref val="0"/>
        </dgm:presLayoutVars>
      </dgm:prSet>
      <dgm:spPr/>
    </dgm:pt>
  </dgm:ptLst>
  <dgm:cxnLst>
    <dgm:cxn modelId="{2B1D2341-2615-4A18-981A-4E351AE062ED}" type="presOf" srcId="{87EB6C9F-1405-495C-AE43-A0D0B0DDB5EC}" destId="{4EC072BE-DBB2-4C7F-ACB8-6AE598381CCE}" srcOrd="0" destOrd="0" presId="urn:microsoft.com/office/officeart/2018/2/layout/IconVerticalSolidList"/>
    <dgm:cxn modelId="{4AB64C86-9630-4F4C-9B89-23A14C72670F}" type="presOf" srcId="{CD38C29A-C2C1-44C7-86CD-9EF46BEA5EA1}" destId="{E3A42A92-26E5-45B5-91E0-9547151DF0BB}" srcOrd="0" destOrd="0" presId="urn:microsoft.com/office/officeart/2018/2/layout/IconVerticalSolidList"/>
    <dgm:cxn modelId="{C49B188A-6FA1-47A8-8933-7D21205F4234}" srcId="{CD38C29A-C2C1-44C7-86CD-9EF46BEA5EA1}" destId="{87EB6C9F-1405-495C-AE43-A0D0B0DDB5EC}" srcOrd="0" destOrd="0" parTransId="{C4C17159-F7AE-4DA7-95E5-F4D43D367EFF}" sibTransId="{5C7C6F67-43D4-4CDE-968B-7E9E36C3A1B5}"/>
    <dgm:cxn modelId="{5F489BAD-B55A-40B3-A938-F57C7B22A97C}" type="presOf" srcId="{552166E2-40D1-41F8-8D1D-73F8F651C34C}" destId="{6115952B-5FCA-4CA5-8DA9-A82A27D913AD}" srcOrd="0" destOrd="0" presId="urn:microsoft.com/office/officeart/2018/2/layout/IconVerticalSolidList"/>
    <dgm:cxn modelId="{F189C8AF-E4F2-4E7D-A658-C4C9B74726FB}" type="presOf" srcId="{2A80DA0F-0735-4056-AB53-84407C59F191}" destId="{5B3DA862-A070-4CE8-A9F9-C38AC9BAC9FD}" srcOrd="0" destOrd="0" presId="urn:microsoft.com/office/officeart/2018/2/layout/IconVerticalSolidList"/>
    <dgm:cxn modelId="{BF48DEF2-E304-4028-B00B-03297664BDD2}" srcId="{CD38C29A-C2C1-44C7-86CD-9EF46BEA5EA1}" destId="{552166E2-40D1-41F8-8D1D-73F8F651C34C}" srcOrd="1" destOrd="0" parTransId="{41CBFE44-72A5-4134-8E69-0E3F6AE9CC9A}" sibTransId="{CB1C094E-31D1-4EB3-979B-F790F2E0498E}"/>
    <dgm:cxn modelId="{6627BFF7-D361-4D17-A663-031F0FEBEFD2}" srcId="{CD38C29A-C2C1-44C7-86CD-9EF46BEA5EA1}" destId="{2A80DA0F-0735-4056-AB53-84407C59F191}" srcOrd="2" destOrd="0" parTransId="{49133536-A5D5-42CF-B640-2EA0A0096C6F}" sibTransId="{E3BC9ABC-7920-426A-A1A8-470B4407617A}"/>
    <dgm:cxn modelId="{9BB35CB6-0BD5-473B-9434-A1455DE28C1A}" type="presParOf" srcId="{E3A42A92-26E5-45B5-91E0-9547151DF0BB}" destId="{6CDFE2F6-FBC7-4338-8CA9-AB952F75DBAB}" srcOrd="0" destOrd="0" presId="urn:microsoft.com/office/officeart/2018/2/layout/IconVerticalSolidList"/>
    <dgm:cxn modelId="{94738943-EA7D-4530-948A-6903652BBFD4}" type="presParOf" srcId="{6CDFE2F6-FBC7-4338-8CA9-AB952F75DBAB}" destId="{062CF6F4-36B5-4BF0-AF80-0DF52E58E923}" srcOrd="0" destOrd="0" presId="urn:microsoft.com/office/officeart/2018/2/layout/IconVerticalSolidList"/>
    <dgm:cxn modelId="{057FF37F-3160-4CD3-9321-7F899425835A}" type="presParOf" srcId="{6CDFE2F6-FBC7-4338-8CA9-AB952F75DBAB}" destId="{31015FC9-8AFD-4A03-9985-F65A4DD35B80}" srcOrd="1" destOrd="0" presId="urn:microsoft.com/office/officeart/2018/2/layout/IconVerticalSolidList"/>
    <dgm:cxn modelId="{86798EA7-3753-416B-849C-E1047ED531A3}" type="presParOf" srcId="{6CDFE2F6-FBC7-4338-8CA9-AB952F75DBAB}" destId="{BCB7DF78-3E25-4D66-8997-623F03A816EE}" srcOrd="2" destOrd="0" presId="urn:microsoft.com/office/officeart/2018/2/layout/IconVerticalSolidList"/>
    <dgm:cxn modelId="{2D399DB6-D334-4F6D-89D8-5F369F205074}" type="presParOf" srcId="{6CDFE2F6-FBC7-4338-8CA9-AB952F75DBAB}" destId="{4EC072BE-DBB2-4C7F-ACB8-6AE598381CCE}" srcOrd="3" destOrd="0" presId="urn:microsoft.com/office/officeart/2018/2/layout/IconVerticalSolidList"/>
    <dgm:cxn modelId="{35200E7C-1FBC-4377-A09E-E80957564F68}" type="presParOf" srcId="{E3A42A92-26E5-45B5-91E0-9547151DF0BB}" destId="{CF775481-035B-4ED9-B35C-E1B28D39D10E}" srcOrd="1" destOrd="0" presId="urn:microsoft.com/office/officeart/2018/2/layout/IconVerticalSolidList"/>
    <dgm:cxn modelId="{2E7ABC3E-BC46-436C-9106-77208B028A58}" type="presParOf" srcId="{E3A42A92-26E5-45B5-91E0-9547151DF0BB}" destId="{E6D18BE1-8113-4E68-B233-A1BD29A67912}" srcOrd="2" destOrd="0" presId="urn:microsoft.com/office/officeart/2018/2/layout/IconVerticalSolidList"/>
    <dgm:cxn modelId="{62170EEB-A63E-44BD-8377-056F07DAEB24}" type="presParOf" srcId="{E6D18BE1-8113-4E68-B233-A1BD29A67912}" destId="{A566CC22-8815-45B4-AB58-9933C1E04D54}" srcOrd="0" destOrd="0" presId="urn:microsoft.com/office/officeart/2018/2/layout/IconVerticalSolidList"/>
    <dgm:cxn modelId="{F43127CF-5168-4BD8-98ED-0CEA1B9EDE11}" type="presParOf" srcId="{E6D18BE1-8113-4E68-B233-A1BD29A67912}" destId="{9EF406F0-42A0-4107-B61A-4E1C53868C55}" srcOrd="1" destOrd="0" presId="urn:microsoft.com/office/officeart/2018/2/layout/IconVerticalSolidList"/>
    <dgm:cxn modelId="{6A1C1FEF-ABF6-44DA-994A-27ABB426D1C1}" type="presParOf" srcId="{E6D18BE1-8113-4E68-B233-A1BD29A67912}" destId="{95CF6541-1006-454C-8106-C956D69F1BD5}" srcOrd="2" destOrd="0" presId="urn:microsoft.com/office/officeart/2018/2/layout/IconVerticalSolidList"/>
    <dgm:cxn modelId="{F784B3F7-4FB0-4732-8B88-B5395A35FA3D}" type="presParOf" srcId="{E6D18BE1-8113-4E68-B233-A1BD29A67912}" destId="{6115952B-5FCA-4CA5-8DA9-A82A27D913AD}" srcOrd="3" destOrd="0" presId="urn:microsoft.com/office/officeart/2018/2/layout/IconVerticalSolidList"/>
    <dgm:cxn modelId="{A0ABD7AA-5D66-4073-AB4F-8AC0AE6466D4}" type="presParOf" srcId="{E3A42A92-26E5-45B5-91E0-9547151DF0BB}" destId="{7E80EEBC-5C7F-4C21-A772-0FBEB2F64983}" srcOrd="3" destOrd="0" presId="urn:microsoft.com/office/officeart/2018/2/layout/IconVerticalSolidList"/>
    <dgm:cxn modelId="{F441BC44-766B-4C70-A8DC-2002CC64BA1F}" type="presParOf" srcId="{E3A42A92-26E5-45B5-91E0-9547151DF0BB}" destId="{D9635E2C-9F4C-4CFC-9018-DE75CAF8575A}" srcOrd="4" destOrd="0" presId="urn:microsoft.com/office/officeart/2018/2/layout/IconVerticalSolidList"/>
    <dgm:cxn modelId="{06BDB803-2121-4D52-800D-59518AC429F0}" type="presParOf" srcId="{D9635E2C-9F4C-4CFC-9018-DE75CAF8575A}" destId="{E9A31120-95CC-4166-A175-89622DBE9803}" srcOrd="0" destOrd="0" presId="urn:microsoft.com/office/officeart/2018/2/layout/IconVerticalSolidList"/>
    <dgm:cxn modelId="{723B15E8-607E-4E9B-A43A-F4E84823305D}" type="presParOf" srcId="{D9635E2C-9F4C-4CFC-9018-DE75CAF8575A}" destId="{91BD4F2B-3301-4786-ADED-AB0C10F0EDF4}" srcOrd="1" destOrd="0" presId="urn:microsoft.com/office/officeart/2018/2/layout/IconVerticalSolidList"/>
    <dgm:cxn modelId="{6CD2C76F-368C-401E-AFD7-F3A81616D9BE}" type="presParOf" srcId="{D9635E2C-9F4C-4CFC-9018-DE75CAF8575A}" destId="{E1F61595-8657-46A9-BA6C-96463C7BF7AA}" srcOrd="2" destOrd="0" presId="urn:microsoft.com/office/officeart/2018/2/layout/IconVerticalSolidList"/>
    <dgm:cxn modelId="{628C3C09-B4B3-47DE-A200-67633A381C19}" type="presParOf" srcId="{D9635E2C-9F4C-4CFC-9018-DE75CAF8575A}" destId="{5B3DA862-A070-4CE8-A9F9-C38AC9BAC9F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2CF6F4-36B5-4BF0-AF80-0DF52E58E923}">
      <dsp:nvSpPr>
        <dsp:cNvPr id="0" name=""/>
        <dsp:cNvSpPr/>
      </dsp:nvSpPr>
      <dsp:spPr>
        <a:xfrm>
          <a:off x="0" y="690"/>
          <a:ext cx="6248400" cy="161568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015FC9-8AFD-4A03-9985-F65A4DD35B80}">
      <dsp:nvSpPr>
        <dsp:cNvPr id="0" name=""/>
        <dsp:cNvSpPr/>
      </dsp:nvSpPr>
      <dsp:spPr>
        <a:xfrm>
          <a:off x="488743" y="364218"/>
          <a:ext cx="888624" cy="8886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C072BE-DBB2-4C7F-ACB8-6AE598381CCE}">
      <dsp:nvSpPr>
        <dsp:cNvPr id="0" name=""/>
        <dsp:cNvSpPr/>
      </dsp:nvSpPr>
      <dsp:spPr>
        <a:xfrm>
          <a:off x="1866111" y="690"/>
          <a:ext cx="4382288" cy="1615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993" tIns="170993" rIns="170993" bIns="170993" numCol="1" spcCol="1270" anchor="ctr" anchorCtr="0">
          <a:noAutofit/>
        </a:bodyPr>
        <a:lstStyle/>
        <a:p>
          <a:pPr marL="0" lvl="0" indent="0" algn="l" defTabSz="977900">
            <a:lnSpc>
              <a:spcPct val="90000"/>
            </a:lnSpc>
            <a:spcBef>
              <a:spcPct val="0"/>
            </a:spcBef>
            <a:spcAft>
              <a:spcPct val="35000"/>
            </a:spcAft>
            <a:buNone/>
          </a:pPr>
          <a:r>
            <a:rPr lang="en-GB" sz="2200" kern="1200"/>
            <a:t>The physical environment: home</a:t>
          </a:r>
          <a:r>
            <a:rPr lang="ga-IE" sz="2200" kern="1200"/>
            <a:t> (the bedroom)</a:t>
          </a:r>
          <a:r>
            <a:rPr lang="en-GB" sz="2200" kern="1200"/>
            <a:t>, theatre, retail outlet, building site, </a:t>
          </a:r>
          <a:r>
            <a:rPr lang="ga-IE" sz="2200" kern="1200"/>
            <a:t>office, workshop,</a:t>
          </a:r>
          <a:r>
            <a:rPr lang="en-GB" sz="2200" kern="1200"/>
            <a:t>etc.</a:t>
          </a:r>
          <a:endParaRPr lang="en-US" sz="2200" kern="1200"/>
        </a:p>
      </dsp:txBody>
      <dsp:txXfrm>
        <a:off x="1866111" y="690"/>
        <a:ext cx="4382288" cy="1615680"/>
      </dsp:txXfrm>
    </dsp:sp>
    <dsp:sp modelId="{A566CC22-8815-45B4-AB58-9933C1E04D54}">
      <dsp:nvSpPr>
        <dsp:cNvPr id="0" name=""/>
        <dsp:cNvSpPr/>
      </dsp:nvSpPr>
      <dsp:spPr>
        <a:xfrm>
          <a:off x="0" y="2020291"/>
          <a:ext cx="6248400" cy="161568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F406F0-42A0-4107-B61A-4E1C53868C55}">
      <dsp:nvSpPr>
        <dsp:cNvPr id="0" name=""/>
        <dsp:cNvSpPr/>
      </dsp:nvSpPr>
      <dsp:spPr>
        <a:xfrm>
          <a:off x="488743" y="2383819"/>
          <a:ext cx="888624" cy="8886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15952B-5FCA-4CA5-8DA9-A82A27D913AD}">
      <dsp:nvSpPr>
        <dsp:cNvPr id="0" name=""/>
        <dsp:cNvSpPr/>
      </dsp:nvSpPr>
      <dsp:spPr>
        <a:xfrm>
          <a:off x="1866111" y="2020291"/>
          <a:ext cx="4382288" cy="1615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993" tIns="170993" rIns="170993" bIns="170993" numCol="1" spcCol="1270" anchor="ctr" anchorCtr="0">
          <a:noAutofit/>
        </a:bodyPr>
        <a:lstStyle/>
        <a:p>
          <a:pPr marL="0" lvl="0" indent="0" algn="l" defTabSz="977900">
            <a:lnSpc>
              <a:spcPct val="90000"/>
            </a:lnSpc>
            <a:spcBef>
              <a:spcPct val="0"/>
            </a:spcBef>
            <a:spcAft>
              <a:spcPct val="35000"/>
            </a:spcAft>
            <a:buNone/>
          </a:pPr>
          <a:r>
            <a:rPr lang="en-GB" sz="2200" kern="1200"/>
            <a:t>The ‘emotional’ environment: serious,</a:t>
          </a:r>
          <a:r>
            <a:rPr lang="ga-IE" sz="2200" kern="1200"/>
            <a:t> formal,</a:t>
          </a:r>
          <a:r>
            <a:rPr lang="en-GB" sz="2200" kern="1200"/>
            <a:t> informal, tense, relaxed, hostile, </a:t>
          </a:r>
          <a:r>
            <a:rPr lang="ga-IE" sz="2200" kern="1200"/>
            <a:t>sad, happy,</a:t>
          </a:r>
          <a:r>
            <a:rPr lang="en-GB" sz="2200" kern="1200"/>
            <a:t>etc.</a:t>
          </a:r>
          <a:endParaRPr lang="en-US" sz="2200" kern="1200"/>
        </a:p>
      </dsp:txBody>
      <dsp:txXfrm>
        <a:off x="1866111" y="2020291"/>
        <a:ext cx="4382288" cy="1615680"/>
      </dsp:txXfrm>
    </dsp:sp>
    <dsp:sp modelId="{E9A31120-95CC-4166-A175-89622DBE9803}">
      <dsp:nvSpPr>
        <dsp:cNvPr id="0" name=""/>
        <dsp:cNvSpPr/>
      </dsp:nvSpPr>
      <dsp:spPr>
        <a:xfrm>
          <a:off x="0" y="4039891"/>
          <a:ext cx="6248400" cy="161568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BD4F2B-3301-4786-ADED-AB0C10F0EDF4}">
      <dsp:nvSpPr>
        <dsp:cNvPr id="0" name=""/>
        <dsp:cNvSpPr/>
      </dsp:nvSpPr>
      <dsp:spPr>
        <a:xfrm>
          <a:off x="488743" y="4403420"/>
          <a:ext cx="888624" cy="88862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B3DA862-A070-4CE8-A9F9-C38AC9BAC9FD}">
      <dsp:nvSpPr>
        <dsp:cNvPr id="0" name=""/>
        <dsp:cNvSpPr/>
      </dsp:nvSpPr>
      <dsp:spPr>
        <a:xfrm>
          <a:off x="1866111" y="4039891"/>
          <a:ext cx="4382288" cy="1615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993" tIns="170993" rIns="170993" bIns="170993" numCol="1" spcCol="1270" anchor="ctr" anchorCtr="0">
          <a:noAutofit/>
        </a:bodyPr>
        <a:lstStyle/>
        <a:p>
          <a:pPr marL="0" lvl="0" indent="0" algn="l" defTabSz="977900">
            <a:lnSpc>
              <a:spcPct val="90000"/>
            </a:lnSpc>
            <a:spcBef>
              <a:spcPct val="0"/>
            </a:spcBef>
            <a:spcAft>
              <a:spcPct val="35000"/>
            </a:spcAft>
            <a:buNone/>
          </a:pPr>
          <a:r>
            <a:rPr lang="en-GB" sz="2200" kern="1200"/>
            <a:t>The task(s):cognitive, physical, training, learning, composite, etc.</a:t>
          </a:r>
          <a:endParaRPr lang="en-US" sz="2200" kern="1200"/>
        </a:p>
      </dsp:txBody>
      <dsp:txXfrm>
        <a:off x="1866111" y="4039891"/>
        <a:ext cx="4382288" cy="161568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4CBDB-FF7E-4018-BD5A-50E580DF7B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B3FEDE1-57EA-433D-A9A2-68DB677E8E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8D9FA59-15AB-48C3-AE28-3741E0E86B5C}"/>
              </a:ext>
            </a:extLst>
          </p:cNvPr>
          <p:cNvSpPr>
            <a:spLocks noGrp="1"/>
          </p:cNvSpPr>
          <p:nvPr>
            <p:ph type="dt" sz="half" idx="10"/>
          </p:nvPr>
        </p:nvSpPr>
        <p:spPr/>
        <p:txBody>
          <a:bodyPr/>
          <a:lstStyle/>
          <a:p>
            <a:fld id="{4AB8DB5B-55B0-4438-ACFD-A36C16D61512}" type="datetimeFigureOut">
              <a:rPr lang="en-GB" smtClean="0"/>
              <a:t>21/09/2022</a:t>
            </a:fld>
            <a:endParaRPr lang="en-GB"/>
          </a:p>
        </p:txBody>
      </p:sp>
      <p:sp>
        <p:nvSpPr>
          <p:cNvPr id="5" name="Footer Placeholder 4">
            <a:extLst>
              <a:ext uri="{FF2B5EF4-FFF2-40B4-BE49-F238E27FC236}">
                <a16:creationId xmlns:a16="http://schemas.microsoft.com/office/drawing/2014/main" id="{6630F326-8DEF-4B0C-BAAE-E69B902F8C7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1950B2F-FA92-4742-89F3-C4609CC68E4D}"/>
              </a:ext>
            </a:extLst>
          </p:cNvPr>
          <p:cNvSpPr>
            <a:spLocks noGrp="1"/>
          </p:cNvSpPr>
          <p:nvPr>
            <p:ph type="sldNum" sz="quarter" idx="12"/>
          </p:nvPr>
        </p:nvSpPr>
        <p:spPr/>
        <p:txBody>
          <a:bodyPr/>
          <a:lstStyle/>
          <a:p>
            <a:fld id="{57EF48BE-5BA3-4A91-9A1C-49D873992E6F}" type="slidenum">
              <a:rPr lang="en-GB" smtClean="0"/>
              <a:t>‹#›</a:t>
            </a:fld>
            <a:endParaRPr lang="en-GB"/>
          </a:p>
        </p:txBody>
      </p:sp>
    </p:spTree>
    <p:extLst>
      <p:ext uri="{BB962C8B-B14F-4D97-AF65-F5344CB8AC3E}">
        <p14:creationId xmlns:p14="http://schemas.microsoft.com/office/powerpoint/2010/main" val="1114043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763DA-80B4-4206-A4F1-EB221720596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5FB7DD3-EA20-43BF-B600-9F637D8EB0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9FAE53A-CCF7-4C84-BB47-BD12045F7AF5}"/>
              </a:ext>
            </a:extLst>
          </p:cNvPr>
          <p:cNvSpPr>
            <a:spLocks noGrp="1"/>
          </p:cNvSpPr>
          <p:nvPr>
            <p:ph type="dt" sz="half" idx="10"/>
          </p:nvPr>
        </p:nvSpPr>
        <p:spPr/>
        <p:txBody>
          <a:bodyPr/>
          <a:lstStyle/>
          <a:p>
            <a:fld id="{4AB8DB5B-55B0-4438-ACFD-A36C16D61512}" type="datetimeFigureOut">
              <a:rPr lang="en-GB" smtClean="0"/>
              <a:t>21/09/2022</a:t>
            </a:fld>
            <a:endParaRPr lang="en-GB"/>
          </a:p>
        </p:txBody>
      </p:sp>
      <p:sp>
        <p:nvSpPr>
          <p:cNvPr id="5" name="Footer Placeholder 4">
            <a:extLst>
              <a:ext uri="{FF2B5EF4-FFF2-40B4-BE49-F238E27FC236}">
                <a16:creationId xmlns:a16="http://schemas.microsoft.com/office/drawing/2014/main" id="{3C7029B0-2A66-4554-83F9-43D0FCB3CFE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5A95C37-4C6C-40D9-ADED-5C4B71623B5E}"/>
              </a:ext>
            </a:extLst>
          </p:cNvPr>
          <p:cNvSpPr>
            <a:spLocks noGrp="1"/>
          </p:cNvSpPr>
          <p:nvPr>
            <p:ph type="sldNum" sz="quarter" idx="12"/>
          </p:nvPr>
        </p:nvSpPr>
        <p:spPr/>
        <p:txBody>
          <a:bodyPr/>
          <a:lstStyle/>
          <a:p>
            <a:fld id="{57EF48BE-5BA3-4A91-9A1C-49D873992E6F}" type="slidenum">
              <a:rPr lang="en-GB" smtClean="0"/>
              <a:t>‹#›</a:t>
            </a:fld>
            <a:endParaRPr lang="en-GB"/>
          </a:p>
        </p:txBody>
      </p:sp>
    </p:spTree>
    <p:extLst>
      <p:ext uri="{BB962C8B-B14F-4D97-AF65-F5344CB8AC3E}">
        <p14:creationId xmlns:p14="http://schemas.microsoft.com/office/powerpoint/2010/main" val="2363854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D1762-D232-4AB7-BC4B-772C065EC0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1983201-D26B-4CCC-91E1-8DD3B881B3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FD7103-6B1F-4763-84E0-879BB4DFE863}"/>
              </a:ext>
            </a:extLst>
          </p:cNvPr>
          <p:cNvSpPr>
            <a:spLocks noGrp="1"/>
          </p:cNvSpPr>
          <p:nvPr>
            <p:ph type="dt" sz="half" idx="10"/>
          </p:nvPr>
        </p:nvSpPr>
        <p:spPr/>
        <p:txBody>
          <a:bodyPr/>
          <a:lstStyle/>
          <a:p>
            <a:fld id="{4AB8DB5B-55B0-4438-ACFD-A36C16D61512}" type="datetimeFigureOut">
              <a:rPr lang="en-GB" smtClean="0"/>
              <a:t>21/09/2022</a:t>
            </a:fld>
            <a:endParaRPr lang="en-GB"/>
          </a:p>
        </p:txBody>
      </p:sp>
      <p:sp>
        <p:nvSpPr>
          <p:cNvPr id="5" name="Footer Placeholder 4">
            <a:extLst>
              <a:ext uri="{FF2B5EF4-FFF2-40B4-BE49-F238E27FC236}">
                <a16:creationId xmlns:a16="http://schemas.microsoft.com/office/drawing/2014/main" id="{07A47035-EF39-4094-9F1F-5CD5213E90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2AEEA5-2D2D-4D9A-8398-E655AC8C3A5A}"/>
              </a:ext>
            </a:extLst>
          </p:cNvPr>
          <p:cNvSpPr>
            <a:spLocks noGrp="1"/>
          </p:cNvSpPr>
          <p:nvPr>
            <p:ph type="sldNum" sz="quarter" idx="12"/>
          </p:nvPr>
        </p:nvSpPr>
        <p:spPr/>
        <p:txBody>
          <a:bodyPr/>
          <a:lstStyle/>
          <a:p>
            <a:fld id="{57EF48BE-5BA3-4A91-9A1C-49D873992E6F}" type="slidenum">
              <a:rPr lang="en-GB" smtClean="0"/>
              <a:t>‹#›</a:t>
            </a:fld>
            <a:endParaRPr lang="en-GB"/>
          </a:p>
        </p:txBody>
      </p:sp>
    </p:spTree>
    <p:extLst>
      <p:ext uri="{BB962C8B-B14F-4D97-AF65-F5344CB8AC3E}">
        <p14:creationId xmlns:p14="http://schemas.microsoft.com/office/powerpoint/2010/main" val="2597949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188ED-F5E6-49EC-95A0-A7DBEC19E09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7A420A5-7B20-47AE-9A40-BBC058DB6D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B8972A2-B3DF-4676-8B9D-2AB6671550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030E076-C5E9-42CF-A2FA-1EA3D7DCD960}"/>
              </a:ext>
            </a:extLst>
          </p:cNvPr>
          <p:cNvSpPr>
            <a:spLocks noGrp="1"/>
          </p:cNvSpPr>
          <p:nvPr>
            <p:ph type="dt" sz="half" idx="10"/>
          </p:nvPr>
        </p:nvSpPr>
        <p:spPr/>
        <p:txBody>
          <a:bodyPr/>
          <a:lstStyle/>
          <a:p>
            <a:fld id="{4AB8DB5B-55B0-4438-ACFD-A36C16D61512}" type="datetimeFigureOut">
              <a:rPr lang="en-GB" smtClean="0"/>
              <a:t>21/09/2022</a:t>
            </a:fld>
            <a:endParaRPr lang="en-GB"/>
          </a:p>
        </p:txBody>
      </p:sp>
      <p:sp>
        <p:nvSpPr>
          <p:cNvPr id="6" name="Footer Placeholder 5">
            <a:extLst>
              <a:ext uri="{FF2B5EF4-FFF2-40B4-BE49-F238E27FC236}">
                <a16:creationId xmlns:a16="http://schemas.microsoft.com/office/drawing/2014/main" id="{BBAAA891-AC05-4E3A-B5D8-2B2E1319DB3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3247A76-44DC-49D6-982C-78754E6C1448}"/>
              </a:ext>
            </a:extLst>
          </p:cNvPr>
          <p:cNvSpPr>
            <a:spLocks noGrp="1"/>
          </p:cNvSpPr>
          <p:nvPr>
            <p:ph type="sldNum" sz="quarter" idx="12"/>
          </p:nvPr>
        </p:nvSpPr>
        <p:spPr/>
        <p:txBody>
          <a:bodyPr/>
          <a:lstStyle/>
          <a:p>
            <a:fld id="{57EF48BE-5BA3-4A91-9A1C-49D873992E6F}" type="slidenum">
              <a:rPr lang="en-GB" smtClean="0"/>
              <a:t>‹#›</a:t>
            </a:fld>
            <a:endParaRPr lang="en-GB"/>
          </a:p>
        </p:txBody>
      </p:sp>
    </p:spTree>
    <p:extLst>
      <p:ext uri="{BB962C8B-B14F-4D97-AF65-F5344CB8AC3E}">
        <p14:creationId xmlns:p14="http://schemas.microsoft.com/office/powerpoint/2010/main" val="2897880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81303-CBBC-4AEC-A529-D3B6C5DF24C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4BC3714-FDB6-417F-AA61-C9A5D3F8E4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CD4725-1534-4F5E-903D-1C4C6CE2B6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C7615899-B516-4B26-8AB9-BBC721DC65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F1DF6E-D0CD-4139-A63E-0B771FC6B8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89D99A9-0B0D-4816-9BC4-01FB6571BECC}"/>
              </a:ext>
            </a:extLst>
          </p:cNvPr>
          <p:cNvSpPr>
            <a:spLocks noGrp="1"/>
          </p:cNvSpPr>
          <p:nvPr>
            <p:ph type="dt" sz="half" idx="10"/>
          </p:nvPr>
        </p:nvSpPr>
        <p:spPr/>
        <p:txBody>
          <a:bodyPr/>
          <a:lstStyle/>
          <a:p>
            <a:fld id="{4AB8DB5B-55B0-4438-ACFD-A36C16D61512}" type="datetimeFigureOut">
              <a:rPr lang="en-GB" smtClean="0"/>
              <a:t>21/09/2022</a:t>
            </a:fld>
            <a:endParaRPr lang="en-GB"/>
          </a:p>
        </p:txBody>
      </p:sp>
      <p:sp>
        <p:nvSpPr>
          <p:cNvPr id="8" name="Footer Placeholder 7">
            <a:extLst>
              <a:ext uri="{FF2B5EF4-FFF2-40B4-BE49-F238E27FC236}">
                <a16:creationId xmlns:a16="http://schemas.microsoft.com/office/drawing/2014/main" id="{74C40E4D-0A09-4F04-B4CF-8B1E86D4B05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3116F34-FCBF-4AFB-9A49-1BFD5D445BFC}"/>
              </a:ext>
            </a:extLst>
          </p:cNvPr>
          <p:cNvSpPr>
            <a:spLocks noGrp="1"/>
          </p:cNvSpPr>
          <p:nvPr>
            <p:ph type="sldNum" sz="quarter" idx="12"/>
          </p:nvPr>
        </p:nvSpPr>
        <p:spPr/>
        <p:txBody>
          <a:bodyPr/>
          <a:lstStyle/>
          <a:p>
            <a:fld id="{57EF48BE-5BA3-4A91-9A1C-49D873992E6F}" type="slidenum">
              <a:rPr lang="en-GB" smtClean="0"/>
              <a:t>‹#›</a:t>
            </a:fld>
            <a:endParaRPr lang="en-GB"/>
          </a:p>
        </p:txBody>
      </p:sp>
    </p:spTree>
    <p:extLst>
      <p:ext uri="{BB962C8B-B14F-4D97-AF65-F5344CB8AC3E}">
        <p14:creationId xmlns:p14="http://schemas.microsoft.com/office/powerpoint/2010/main" val="2456799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A7610-7D72-4BE1-8188-A38A1279CF7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760D970-03F3-49EB-8C23-9EEB0503F8AA}"/>
              </a:ext>
            </a:extLst>
          </p:cNvPr>
          <p:cNvSpPr>
            <a:spLocks noGrp="1"/>
          </p:cNvSpPr>
          <p:nvPr>
            <p:ph type="dt" sz="half" idx="10"/>
          </p:nvPr>
        </p:nvSpPr>
        <p:spPr/>
        <p:txBody>
          <a:bodyPr/>
          <a:lstStyle/>
          <a:p>
            <a:fld id="{4AB8DB5B-55B0-4438-ACFD-A36C16D61512}" type="datetimeFigureOut">
              <a:rPr lang="en-GB" smtClean="0"/>
              <a:t>21/09/2022</a:t>
            </a:fld>
            <a:endParaRPr lang="en-GB"/>
          </a:p>
        </p:txBody>
      </p:sp>
      <p:sp>
        <p:nvSpPr>
          <p:cNvPr id="4" name="Footer Placeholder 3">
            <a:extLst>
              <a:ext uri="{FF2B5EF4-FFF2-40B4-BE49-F238E27FC236}">
                <a16:creationId xmlns:a16="http://schemas.microsoft.com/office/drawing/2014/main" id="{7BEF1521-F942-4BF8-9CA5-B44C337A8EB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1F30B86-85EB-46DD-9E6A-C6834439641E}"/>
              </a:ext>
            </a:extLst>
          </p:cNvPr>
          <p:cNvSpPr>
            <a:spLocks noGrp="1"/>
          </p:cNvSpPr>
          <p:nvPr>
            <p:ph type="sldNum" sz="quarter" idx="12"/>
          </p:nvPr>
        </p:nvSpPr>
        <p:spPr/>
        <p:txBody>
          <a:bodyPr/>
          <a:lstStyle/>
          <a:p>
            <a:fld id="{57EF48BE-5BA3-4A91-9A1C-49D873992E6F}" type="slidenum">
              <a:rPr lang="en-GB" smtClean="0"/>
              <a:t>‹#›</a:t>
            </a:fld>
            <a:endParaRPr lang="en-GB"/>
          </a:p>
        </p:txBody>
      </p:sp>
    </p:spTree>
    <p:extLst>
      <p:ext uri="{BB962C8B-B14F-4D97-AF65-F5344CB8AC3E}">
        <p14:creationId xmlns:p14="http://schemas.microsoft.com/office/powerpoint/2010/main" val="4282071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99BC8E-D3DE-469A-B677-0182DAF8AC82}"/>
              </a:ext>
            </a:extLst>
          </p:cNvPr>
          <p:cNvSpPr>
            <a:spLocks noGrp="1"/>
          </p:cNvSpPr>
          <p:nvPr>
            <p:ph type="dt" sz="half" idx="10"/>
          </p:nvPr>
        </p:nvSpPr>
        <p:spPr/>
        <p:txBody>
          <a:bodyPr/>
          <a:lstStyle/>
          <a:p>
            <a:fld id="{4AB8DB5B-55B0-4438-ACFD-A36C16D61512}" type="datetimeFigureOut">
              <a:rPr lang="en-GB" smtClean="0"/>
              <a:t>21/09/2022</a:t>
            </a:fld>
            <a:endParaRPr lang="en-GB"/>
          </a:p>
        </p:txBody>
      </p:sp>
      <p:sp>
        <p:nvSpPr>
          <p:cNvPr id="3" name="Footer Placeholder 2">
            <a:extLst>
              <a:ext uri="{FF2B5EF4-FFF2-40B4-BE49-F238E27FC236}">
                <a16:creationId xmlns:a16="http://schemas.microsoft.com/office/drawing/2014/main" id="{BEB2EF62-9868-4A82-A998-71BFA67260E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71D38AB-12B9-4900-BD82-BF5243594D27}"/>
              </a:ext>
            </a:extLst>
          </p:cNvPr>
          <p:cNvSpPr>
            <a:spLocks noGrp="1"/>
          </p:cNvSpPr>
          <p:nvPr>
            <p:ph type="sldNum" sz="quarter" idx="12"/>
          </p:nvPr>
        </p:nvSpPr>
        <p:spPr/>
        <p:txBody>
          <a:bodyPr/>
          <a:lstStyle/>
          <a:p>
            <a:fld id="{57EF48BE-5BA3-4A91-9A1C-49D873992E6F}" type="slidenum">
              <a:rPr lang="en-GB" smtClean="0"/>
              <a:t>‹#›</a:t>
            </a:fld>
            <a:endParaRPr lang="en-GB"/>
          </a:p>
        </p:txBody>
      </p:sp>
    </p:spTree>
    <p:extLst>
      <p:ext uri="{BB962C8B-B14F-4D97-AF65-F5344CB8AC3E}">
        <p14:creationId xmlns:p14="http://schemas.microsoft.com/office/powerpoint/2010/main" val="2778293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89876-E81D-4114-A60E-3306EBE6D8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F1DD39B-B23A-4FF0-9E4E-3CA6EFB27E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E5CC83B-FBFA-4C5B-AB21-C0C66AD151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3FF7C5-2E0A-4574-B532-AE09B174EA93}"/>
              </a:ext>
            </a:extLst>
          </p:cNvPr>
          <p:cNvSpPr>
            <a:spLocks noGrp="1"/>
          </p:cNvSpPr>
          <p:nvPr>
            <p:ph type="dt" sz="half" idx="10"/>
          </p:nvPr>
        </p:nvSpPr>
        <p:spPr/>
        <p:txBody>
          <a:bodyPr/>
          <a:lstStyle/>
          <a:p>
            <a:fld id="{4AB8DB5B-55B0-4438-ACFD-A36C16D61512}" type="datetimeFigureOut">
              <a:rPr lang="en-GB" smtClean="0"/>
              <a:t>21/09/2022</a:t>
            </a:fld>
            <a:endParaRPr lang="en-GB"/>
          </a:p>
        </p:txBody>
      </p:sp>
      <p:sp>
        <p:nvSpPr>
          <p:cNvPr id="6" name="Footer Placeholder 5">
            <a:extLst>
              <a:ext uri="{FF2B5EF4-FFF2-40B4-BE49-F238E27FC236}">
                <a16:creationId xmlns:a16="http://schemas.microsoft.com/office/drawing/2014/main" id="{E065B313-BC72-4444-A98B-4CA9C15E2ED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BA2CC9E-1B92-413F-B6B9-E92504AE510E}"/>
              </a:ext>
            </a:extLst>
          </p:cNvPr>
          <p:cNvSpPr>
            <a:spLocks noGrp="1"/>
          </p:cNvSpPr>
          <p:nvPr>
            <p:ph type="sldNum" sz="quarter" idx="12"/>
          </p:nvPr>
        </p:nvSpPr>
        <p:spPr/>
        <p:txBody>
          <a:bodyPr/>
          <a:lstStyle/>
          <a:p>
            <a:fld id="{57EF48BE-5BA3-4A91-9A1C-49D873992E6F}" type="slidenum">
              <a:rPr lang="en-GB" smtClean="0"/>
              <a:t>‹#›</a:t>
            </a:fld>
            <a:endParaRPr lang="en-GB"/>
          </a:p>
        </p:txBody>
      </p:sp>
    </p:spTree>
    <p:extLst>
      <p:ext uri="{BB962C8B-B14F-4D97-AF65-F5344CB8AC3E}">
        <p14:creationId xmlns:p14="http://schemas.microsoft.com/office/powerpoint/2010/main" val="3523599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2EF17-16EE-4BC9-ACAD-F33877A2CA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0B5BDD8-5999-4286-BF79-D239CA1C66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764E28D-C899-4477-BFF7-9AF82C628C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65AF4E-BC61-41EA-8E15-EE1D904FE6AD}"/>
              </a:ext>
            </a:extLst>
          </p:cNvPr>
          <p:cNvSpPr>
            <a:spLocks noGrp="1"/>
          </p:cNvSpPr>
          <p:nvPr>
            <p:ph type="dt" sz="half" idx="10"/>
          </p:nvPr>
        </p:nvSpPr>
        <p:spPr/>
        <p:txBody>
          <a:bodyPr/>
          <a:lstStyle/>
          <a:p>
            <a:fld id="{4AB8DB5B-55B0-4438-ACFD-A36C16D61512}" type="datetimeFigureOut">
              <a:rPr lang="en-GB" smtClean="0"/>
              <a:t>21/09/2022</a:t>
            </a:fld>
            <a:endParaRPr lang="en-GB"/>
          </a:p>
        </p:txBody>
      </p:sp>
      <p:sp>
        <p:nvSpPr>
          <p:cNvPr id="6" name="Footer Placeholder 5">
            <a:extLst>
              <a:ext uri="{FF2B5EF4-FFF2-40B4-BE49-F238E27FC236}">
                <a16:creationId xmlns:a16="http://schemas.microsoft.com/office/drawing/2014/main" id="{742711DC-2B2C-4E87-A97D-DC736F600B8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4865E32-2126-41C9-8E29-19D1AFEB1F1D}"/>
              </a:ext>
            </a:extLst>
          </p:cNvPr>
          <p:cNvSpPr>
            <a:spLocks noGrp="1"/>
          </p:cNvSpPr>
          <p:nvPr>
            <p:ph type="sldNum" sz="quarter" idx="12"/>
          </p:nvPr>
        </p:nvSpPr>
        <p:spPr/>
        <p:txBody>
          <a:bodyPr/>
          <a:lstStyle/>
          <a:p>
            <a:fld id="{57EF48BE-5BA3-4A91-9A1C-49D873992E6F}" type="slidenum">
              <a:rPr lang="en-GB" smtClean="0"/>
              <a:t>‹#›</a:t>
            </a:fld>
            <a:endParaRPr lang="en-GB"/>
          </a:p>
        </p:txBody>
      </p:sp>
    </p:spTree>
    <p:extLst>
      <p:ext uri="{BB962C8B-B14F-4D97-AF65-F5344CB8AC3E}">
        <p14:creationId xmlns:p14="http://schemas.microsoft.com/office/powerpoint/2010/main" val="175417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2462A-AFD3-47E9-AEB6-61D86CAFF33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5C60467-76BD-4626-9653-492E61EBCA3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E9524C2-2C81-4102-80F7-FDA096782817}"/>
              </a:ext>
            </a:extLst>
          </p:cNvPr>
          <p:cNvSpPr>
            <a:spLocks noGrp="1"/>
          </p:cNvSpPr>
          <p:nvPr>
            <p:ph type="dt" sz="half" idx="10"/>
          </p:nvPr>
        </p:nvSpPr>
        <p:spPr/>
        <p:txBody>
          <a:bodyPr/>
          <a:lstStyle/>
          <a:p>
            <a:fld id="{4AB8DB5B-55B0-4438-ACFD-A36C16D61512}" type="datetimeFigureOut">
              <a:rPr lang="en-GB" smtClean="0"/>
              <a:t>21/09/2022</a:t>
            </a:fld>
            <a:endParaRPr lang="en-GB"/>
          </a:p>
        </p:txBody>
      </p:sp>
      <p:sp>
        <p:nvSpPr>
          <p:cNvPr id="5" name="Footer Placeholder 4">
            <a:extLst>
              <a:ext uri="{FF2B5EF4-FFF2-40B4-BE49-F238E27FC236}">
                <a16:creationId xmlns:a16="http://schemas.microsoft.com/office/drawing/2014/main" id="{D8A787C6-136A-4EA8-9F2F-A2B0F0AB428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71CD468-A8A9-4E50-B32E-AB56925368E3}"/>
              </a:ext>
            </a:extLst>
          </p:cNvPr>
          <p:cNvSpPr>
            <a:spLocks noGrp="1"/>
          </p:cNvSpPr>
          <p:nvPr>
            <p:ph type="sldNum" sz="quarter" idx="12"/>
          </p:nvPr>
        </p:nvSpPr>
        <p:spPr/>
        <p:txBody>
          <a:bodyPr/>
          <a:lstStyle/>
          <a:p>
            <a:fld id="{57EF48BE-5BA3-4A91-9A1C-49D873992E6F}" type="slidenum">
              <a:rPr lang="en-GB" smtClean="0"/>
              <a:t>‹#›</a:t>
            </a:fld>
            <a:endParaRPr lang="en-GB"/>
          </a:p>
        </p:txBody>
      </p:sp>
    </p:spTree>
    <p:extLst>
      <p:ext uri="{BB962C8B-B14F-4D97-AF65-F5344CB8AC3E}">
        <p14:creationId xmlns:p14="http://schemas.microsoft.com/office/powerpoint/2010/main" val="3156635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DB35C9-2BAD-430E-952A-822A2479E0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753098C-709C-4F41-A0FE-83E9EE7F6D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D67C077-9E18-4554-8584-682FC8255504}"/>
              </a:ext>
            </a:extLst>
          </p:cNvPr>
          <p:cNvSpPr>
            <a:spLocks noGrp="1"/>
          </p:cNvSpPr>
          <p:nvPr>
            <p:ph type="dt" sz="half" idx="10"/>
          </p:nvPr>
        </p:nvSpPr>
        <p:spPr/>
        <p:txBody>
          <a:bodyPr/>
          <a:lstStyle/>
          <a:p>
            <a:fld id="{4AB8DB5B-55B0-4438-ACFD-A36C16D61512}" type="datetimeFigureOut">
              <a:rPr lang="en-GB" smtClean="0"/>
              <a:t>21/09/2022</a:t>
            </a:fld>
            <a:endParaRPr lang="en-GB"/>
          </a:p>
        </p:txBody>
      </p:sp>
      <p:sp>
        <p:nvSpPr>
          <p:cNvPr id="5" name="Footer Placeholder 4">
            <a:extLst>
              <a:ext uri="{FF2B5EF4-FFF2-40B4-BE49-F238E27FC236}">
                <a16:creationId xmlns:a16="http://schemas.microsoft.com/office/drawing/2014/main" id="{9BD79B7C-AF7C-43AB-8F5A-898F95F8A8E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4548FC0-CB0C-475C-9934-3657C9524E75}"/>
              </a:ext>
            </a:extLst>
          </p:cNvPr>
          <p:cNvSpPr>
            <a:spLocks noGrp="1"/>
          </p:cNvSpPr>
          <p:nvPr>
            <p:ph type="sldNum" sz="quarter" idx="12"/>
          </p:nvPr>
        </p:nvSpPr>
        <p:spPr/>
        <p:txBody>
          <a:bodyPr/>
          <a:lstStyle/>
          <a:p>
            <a:fld id="{57EF48BE-5BA3-4A91-9A1C-49D873992E6F}" type="slidenum">
              <a:rPr lang="en-GB" smtClean="0"/>
              <a:t>‹#›</a:t>
            </a:fld>
            <a:endParaRPr lang="en-GB"/>
          </a:p>
        </p:txBody>
      </p:sp>
    </p:spTree>
    <p:extLst>
      <p:ext uri="{BB962C8B-B14F-4D97-AF65-F5344CB8AC3E}">
        <p14:creationId xmlns:p14="http://schemas.microsoft.com/office/powerpoint/2010/main" val="1574516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801C17-3739-48C9-A399-B582066D8B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FE99981-EA4C-4CDE-AA34-50B40CF15D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7BE29E7-E45C-425A-B683-A4676BD95D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B8DB5B-55B0-4438-ACFD-A36C16D61512}" type="datetimeFigureOut">
              <a:rPr lang="en-GB" smtClean="0"/>
              <a:t>21/09/2022</a:t>
            </a:fld>
            <a:endParaRPr lang="en-GB"/>
          </a:p>
        </p:txBody>
      </p:sp>
      <p:sp>
        <p:nvSpPr>
          <p:cNvPr id="5" name="Footer Placeholder 4">
            <a:extLst>
              <a:ext uri="{FF2B5EF4-FFF2-40B4-BE49-F238E27FC236}">
                <a16:creationId xmlns:a16="http://schemas.microsoft.com/office/drawing/2014/main" id="{180904C7-BB02-4F60-9678-6063423728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20E418B-1785-491C-AC07-A4D90A8635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EF48BE-5BA3-4A91-9A1C-49D873992E6F}" type="slidenum">
              <a:rPr lang="en-GB" smtClean="0"/>
              <a:t>‹#›</a:t>
            </a:fld>
            <a:endParaRPr lang="en-GB"/>
          </a:p>
        </p:txBody>
      </p:sp>
    </p:spTree>
    <p:extLst>
      <p:ext uri="{BB962C8B-B14F-4D97-AF65-F5344CB8AC3E}">
        <p14:creationId xmlns:p14="http://schemas.microsoft.com/office/powerpoint/2010/main" val="364858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ictionary.apa.org/positive-affect" TargetMode="External"/><Relationship Id="rId7"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hyperlink" Target="https://dictionary.apa.org/conation" TargetMode="External"/><Relationship Id="rId5" Type="http://schemas.openxmlformats.org/officeDocument/2006/relationships/hyperlink" Target="https://dictionary.apa.org/cognition" TargetMode="External"/><Relationship Id="rId4" Type="http://schemas.openxmlformats.org/officeDocument/2006/relationships/hyperlink" Target="https://dictionary.apa.org/negative-affect"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hyperlink" Target="https://www.quora.com/Is-age-a-communication-barrier-between-teachers-and-students-If-yes-what-can-be-the-reasons-and-how-can-we-overcome-them" TargetMode="External"/><Relationship Id="rId3" Type="http://schemas.openxmlformats.org/officeDocument/2006/relationships/hyperlink" Target="https://www.quora.com/How-does-age-affect-communication" TargetMode="External"/><Relationship Id="rId7" Type="http://schemas.openxmlformats.org/officeDocument/2006/relationships/hyperlink" Target="https://www.quora.com/How-do-I-overcome-an-age-difference-communication-barrier"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www.quora.com/What-is-the-influence-of-age-to-communication" TargetMode="External"/><Relationship Id="rId5" Type="http://schemas.openxmlformats.org/officeDocument/2006/relationships/hyperlink" Target="https://www.quora.com/Why-is-age-connected-to-communication" TargetMode="External"/><Relationship Id="rId4" Type="http://schemas.openxmlformats.org/officeDocument/2006/relationships/hyperlink" Target="https://www.quora.com/How-do-age-differences-be-a-barrier-to-communication"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965C5C7-F6E9-45D0-8025-34751A3459DF}"/>
              </a:ext>
            </a:extLst>
          </p:cNvPr>
          <p:cNvSpPr>
            <a:spLocks noGrp="1"/>
          </p:cNvSpPr>
          <p:nvPr>
            <p:ph type="ctrTitle"/>
          </p:nvPr>
        </p:nvSpPr>
        <p:spPr>
          <a:xfrm>
            <a:off x="640079" y="2053641"/>
            <a:ext cx="3669161" cy="2760098"/>
          </a:xfrm>
        </p:spPr>
        <p:txBody>
          <a:bodyPr vert="horz" lIns="91440" tIns="45720" rIns="91440" bIns="45720" rtlCol="0" anchor="ctr">
            <a:normAutofit/>
          </a:bodyPr>
          <a:lstStyle/>
          <a:p>
            <a:pPr algn="l"/>
            <a:r>
              <a:rPr lang="en-US" altLang="en-US" sz="4400" kern="1200">
                <a:solidFill>
                  <a:srgbClr val="FFFFFF"/>
                </a:solidFill>
                <a:latin typeface="+mj-lt"/>
                <a:ea typeface="+mj-ea"/>
                <a:cs typeface="+mj-cs"/>
              </a:rPr>
              <a:t>Interpersonal Skills</a:t>
            </a:r>
            <a:endParaRPr lang="en-US" sz="4400" kern="1200">
              <a:solidFill>
                <a:srgbClr val="FFFFFF"/>
              </a:solidFill>
              <a:latin typeface="+mj-lt"/>
              <a:ea typeface="+mj-ea"/>
              <a:cs typeface="+mj-cs"/>
            </a:endParaRPr>
          </a:p>
        </p:txBody>
      </p:sp>
      <p:sp>
        <p:nvSpPr>
          <p:cNvPr id="3" name="Subtitle 2">
            <a:extLst>
              <a:ext uri="{FF2B5EF4-FFF2-40B4-BE49-F238E27FC236}">
                <a16:creationId xmlns:a16="http://schemas.microsoft.com/office/drawing/2014/main" id="{64CE185D-F87D-44CC-B000-10C31D8AAA3A}"/>
              </a:ext>
            </a:extLst>
          </p:cNvPr>
          <p:cNvSpPr>
            <a:spLocks noGrp="1"/>
          </p:cNvSpPr>
          <p:nvPr>
            <p:ph type="subTitle" idx="1"/>
          </p:nvPr>
        </p:nvSpPr>
        <p:spPr>
          <a:xfrm>
            <a:off x="6090574" y="801866"/>
            <a:ext cx="5306084" cy="5230634"/>
          </a:xfrm>
        </p:spPr>
        <p:txBody>
          <a:bodyPr vert="horz" lIns="91440" tIns="45720" rIns="91440" bIns="45720" rtlCol="0" anchor="ctr">
            <a:normAutofit/>
          </a:bodyPr>
          <a:lstStyle/>
          <a:p>
            <a:pPr indent="-228600" algn="l" fontAlgn="auto">
              <a:spcAft>
                <a:spcPts val="0"/>
              </a:spcAft>
              <a:buFont typeface="Arial" panose="020B0604020202020204" pitchFamily="34" charset="0"/>
              <a:buChar char="•"/>
              <a:defRPr/>
            </a:pPr>
            <a:r>
              <a:rPr lang="en-US" dirty="0">
                <a:solidFill>
                  <a:srgbClr val="000000"/>
                </a:solidFill>
              </a:rPr>
              <a:t>Personal Development</a:t>
            </a:r>
          </a:p>
          <a:p>
            <a:pPr indent="-228600" algn="l" fontAlgn="auto">
              <a:spcAft>
                <a:spcPts val="0"/>
              </a:spcAft>
              <a:buFont typeface="Arial" panose="020B0604020202020204" pitchFamily="34" charset="0"/>
              <a:buChar char="•"/>
              <a:defRPr/>
            </a:pPr>
            <a:r>
              <a:rPr lang="en-US" dirty="0">
                <a:solidFill>
                  <a:srgbClr val="000000"/>
                </a:solidFill>
              </a:rPr>
              <a:t>Communications</a:t>
            </a:r>
          </a:p>
          <a:p>
            <a:pPr indent="-228600" algn="l" fontAlgn="auto">
              <a:spcAft>
                <a:spcPts val="0"/>
              </a:spcAft>
              <a:buFont typeface="Arial" panose="020B0604020202020204" pitchFamily="34" charset="0"/>
              <a:buChar char="•"/>
              <a:defRPr/>
            </a:pPr>
            <a:r>
              <a:rPr lang="en-US" dirty="0">
                <a:solidFill>
                  <a:srgbClr val="000000"/>
                </a:solidFill>
              </a:rPr>
              <a:t>Relationship Skills</a:t>
            </a:r>
          </a:p>
          <a:p>
            <a:pPr indent="-228600" algn="l" fontAlgn="auto">
              <a:spcAft>
                <a:spcPts val="0"/>
              </a:spcAft>
              <a:buFont typeface="Arial" panose="020B0604020202020204" pitchFamily="34" charset="0"/>
              <a:buChar char="•"/>
              <a:defRPr/>
            </a:pPr>
            <a:r>
              <a:rPr lang="en-US" dirty="0">
                <a:solidFill>
                  <a:srgbClr val="000000"/>
                </a:solidFill>
              </a:rPr>
              <a:t>Soft skills</a:t>
            </a:r>
          </a:p>
          <a:p>
            <a:pPr indent="-228600" algn="l" fontAlgn="auto">
              <a:spcAft>
                <a:spcPts val="0"/>
              </a:spcAft>
              <a:buFont typeface="Arial" panose="020B0604020202020204" pitchFamily="34" charset="0"/>
              <a:buChar char="•"/>
              <a:defRPr/>
            </a:pPr>
            <a:r>
              <a:rPr lang="en-US" dirty="0">
                <a:solidFill>
                  <a:srgbClr val="000000"/>
                </a:solidFill>
              </a:rPr>
              <a:t>Skill</a:t>
            </a:r>
          </a:p>
          <a:p>
            <a:pPr indent="-228600" algn="l" fontAlgn="auto">
              <a:spcAft>
                <a:spcPts val="0"/>
              </a:spcAft>
              <a:buFont typeface="Arial" panose="020B0604020202020204" pitchFamily="34" charset="0"/>
              <a:buChar char="•"/>
              <a:defRPr/>
            </a:pPr>
            <a:r>
              <a:rPr lang="en-US" dirty="0">
                <a:solidFill>
                  <a:srgbClr val="000000"/>
                </a:solidFill>
              </a:rPr>
              <a:t>Language</a:t>
            </a:r>
          </a:p>
          <a:p>
            <a:pPr indent="-228600" algn="l" fontAlgn="auto">
              <a:spcAft>
                <a:spcPts val="0"/>
              </a:spcAft>
              <a:buFont typeface="Arial" panose="020B0604020202020204" pitchFamily="34" charset="0"/>
              <a:buChar char="•"/>
              <a:defRPr/>
            </a:pPr>
            <a:r>
              <a:rPr lang="en-US" dirty="0">
                <a:solidFill>
                  <a:srgbClr val="000000"/>
                </a:solidFill>
              </a:rPr>
              <a:t>Non-verbal </a:t>
            </a:r>
            <a:r>
              <a:rPr lang="en-US" dirty="0" err="1">
                <a:solidFill>
                  <a:srgbClr val="000000"/>
                </a:solidFill>
              </a:rPr>
              <a:t>behaviour</a:t>
            </a:r>
            <a:endParaRPr lang="en-US" dirty="0">
              <a:solidFill>
                <a:srgbClr val="000000"/>
              </a:solidFill>
            </a:endParaRPr>
          </a:p>
          <a:p>
            <a:pPr indent="-228600" algn="l">
              <a:buFont typeface="Arial" panose="020B0604020202020204" pitchFamily="34" charset="0"/>
              <a:buChar char="•"/>
            </a:pPr>
            <a:endParaRPr lang="en-US" dirty="0">
              <a:solidFill>
                <a:srgbClr val="000000"/>
              </a:solidFill>
            </a:endParaRPr>
          </a:p>
        </p:txBody>
      </p:sp>
    </p:spTree>
    <p:extLst>
      <p:ext uri="{BB962C8B-B14F-4D97-AF65-F5344CB8AC3E}">
        <p14:creationId xmlns:p14="http://schemas.microsoft.com/office/powerpoint/2010/main" val="3873861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15">
            <a:extLst>
              <a:ext uri="{FF2B5EF4-FFF2-40B4-BE49-F238E27FC236}">
                <a16:creationId xmlns:a16="http://schemas.microsoft.com/office/drawing/2014/main" id="{E45B1D5C-0827-4AF0-8186-11FC5A8B8B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CDA690-0ACF-4CB9-BBA3-8B87D5C805D7}"/>
              </a:ext>
            </a:extLst>
          </p:cNvPr>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dirty="0"/>
              <a:t>Meeting and interacting with others.</a:t>
            </a:r>
          </a:p>
        </p:txBody>
      </p:sp>
      <p:sp>
        <p:nvSpPr>
          <p:cNvPr id="23" name="Rectangle 17">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Two people standing next to a window&#10;&#10;Description automatically generated">
            <a:extLst>
              <a:ext uri="{FF2B5EF4-FFF2-40B4-BE49-F238E27FC236}">
                <a16:creationId xmlns:a16="http://schemas.microsoft.com/office/drawing/2014/main" id="{0F7AB2D9-AB55-43DA-8903-BA8DBB20E967}"/>
              </a:ext>
            </a:extLst>
          </p:cNvPr>
          <p:cNvPicPr>
            <a:picLocks noGrp="1" noChangeAspect="1"/>
          </p:cNvPicPr>
          <p:nvPr>
            <p:ph idx="1"/>
          </p:nvPr>
        </p:nvPicPr>
        <p:blipFill rotWithShape="1">
          <a:blip r:embed="rId2"/>
          <a:srcRect l="3038" r="5143" b="-1"/>
          <a:stretch/>
        </p:blipFill>
        <p:spPr>
          <a:xfrm>
            <a:off x="545238" y="858525"/>
            <a:ext cx="7608304" cy="5211906"/>
          </a:xfrm>
          <a:prstGeom prst="rect">
            <a:avLst/>
          </a:prstGeom>
        </p:spPr>
      </p:pic>
      <p:sp>
        <p:nvSpPr>
          <p:cNvPr id="22" name="Rectangle 21">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612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FA67CD3-AB4E-4A7A-BEB8-53C445D8C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26"/>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07CF545F-9C2E-4446-97CD-AD92990C2B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F510C82-7C02-4DAC-89B0-D65BC610817F}"/>
              </a:ext>
            </a:extLst>
          </p:cNvPr>
          <p:cNvSpPr>
            <a:spLocks noGrp="1"/>
          </p:cNvSpPr>
          <p:nvPr>
            <p:ph type="title"/>
          </p:nvPr>
        </p:nvSpPr>
        <p:spPr>
          <a:xfrm>
            <a:off x="6094105" y="802955"/>
            <a:ext cx="4977976" cy="1454051"/>
          </a:xfrm>
        </p:spPr>
        <p:txBody>
          <a:bodyPr>
            <a:normAutofit/>
          </a:bodyPr>
          <a:lstStyle/>
          <a:p>
            <a:r>
              <a:rPr lang="en-GB" dirty="0">
                <a:solidFill>
                  <a:srgbClr val="000000"/>
                </a:solidFill>
              </a:rPr>
              <a:t>Soft Skills</a:t>
            </a:r>
          </a:p>
        </p:txBody>
      </p:sp>
      <p:sp>
        <p:nvSpPr>
          <p:cNvPr id="14" name="Freeform 62">
            <a:extLst>
              <a:ext uri="{FF2B5EF4-FFF2-40B4-BE49-F238E27FC236}">
                <a16:creationId xmlns:a16="http://schemas.microsoft.com/office/drawing/2014/main" id="{339C8D78-A644-462F-B674-F440635E5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85000"/>
                  </a:schemeClr>
                </a:gs>
                <a:gs pos="100000">
                  <a:schemeClr val="bg2">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F1E0A853-2035-4398-AC3D-AFC48C39E299}"/>
              </a:ext>
            </a:extLst>
          </p:cNvPr>
          <p:cNvPicPr>
            <a:picLocks noChangeAspect="1"/>
          </p:cNvPicPr>
          <p:nvPr/>
        </p:nvPicPr>
        <p:blipFill>
          <a:blip r:embed="rId3"/>
          <a:stretch>
            <a:fillRect/>
          </a:stretch>
        </p:blipFill>
        <p:spPr>
          <a:xfrm>
            <a:off x="429349" y="2004642"/>
            <a:ext cx="3661831" cy="2868914"/>
          </a:xfrm>
          <a:prstGeom prst="rect">
            <a:avLst/>
          </a:prstGeom>
        </p:spPr>
      </p:pic>
      <p:sp>
        <p:nvSpPr>
          <p:cNvPr id="3" name="Content Placeholder 2">
            <a:extLst>
              <a:ext uri="{FF2B5EF4-FFF2-40B4-BE49-F238E27FC236}">
                <a16:creationId xmlns:a16="http://schemas.microsoft.com/office/drawing/2014/main" id="{1BF5EEE7-E8FD-4516-8363-A749611D5269}"/>
              </a:ext>
            </a:extLst>
          </p:cNvPr>
          <p:cNvSpPr>
            <a:spLocks noGrp="1"/>
          </p:cNvSpPr>
          <p:nvPr>
            <p:ph idx="1"/>
          </p:nvPr>
        </p:nvSpPr>
        <p:spPr>
          <a:xfrm>
            <a:off x="6090574" y="2421682"/>
            <a:ext cx="4977578" cy="3639289"/>
          </a:xfrm>
        </p:spPr>
        <p:txBody>
          <a:bodyPr anchor="ctr">
            <a:normAutofit/>
          </a:bodyPr>
          <a:lstStyle/>
          <a:p>
            <a:r>
              <a:rPr lang="en-GB" sz="2000" dirty="0">
                <a:solidFill>
                  <a:srgbClr val="000000"/>
                </a:solidFill>
              </a:rPr>
              <a:t>The importance of interpersonal skills cannot be understated.</a:t>
            </a:r>
          </a:p>
          <a:p>
            <a:r>
              <a:rPr lang="en-GB" sz="2000" dirty="0">
                <a:solidFill>
                  <a:srgbClr val="000000"/>
                </a:solidFill>
              </a:rPr>
              <a:t>Soft skills repertoire includes EI, team player attitude, growth mindset, work ethic, willingness to learn, empathy, open-mindedness</a:t>
            </a:r>
          </a:p>
        </p:txBody>
      </p:sp>
    </p:spTree>
    <p:extLst>
      <p:ext uri="{BB962C8B-B14F-4D97-AF65-F5344CB8AC3E}">
        <p14:creationId xmlns:p14="http://schemas.microsoft.com/office/powerpoint/2010/main" val="4060102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C1561D1-8DA6-4101-8D6A-2981A6DF5F47}"/>
              </a:ext>
            </a:extLst>
          </p:cNvPr>
          <p:cNvSpPr>
            <a:spLocks noGrp="1"/>
          </p:cNvSpPr>
          <p:nvPr>
            <p:ph type="title"/>
          </p:nvPr>
        </p:nvSpPr>
        <p:spPr>
          <a:xfrm>
            <a:off x="640079" y="2053641"/>
            <a:ext cx="3669161" cy="2760098"/>
          </a:xfrm>
        </p:spPr>
        <p:txBody>
          <a:bodyPr>
            <a:normAutofit/>
          </a:bodyPr>
          <a:lstStyle/>
          <a:p>
            <a:r>
              <a:rPr lang="en-GB" sz="4100">
                <a:solidFill>
                  <a:srgbClr val="FFFFFF"/>
                </a:solidFill>
              </a:rPr>
              <a:t>Communication and Interpersonal Skills</a:t>
            </a:r>
          </a:p>
        </p:txBody>
      </p:sp>
      <p:sp>
        <p:nvSpPr>
          <p:cNvPr id="3" name="Content Placeholder 2">
            <a:extLst>
              <a:ext uri="{FF2B5EF4-FFF2-40B4-BE49-F238E27FC236}">
                <a16:creationId xmlns:a16="http://schemas.microsoft.com/office/drawing/2014/main" id="{FCF4F138-E85E-4012-8C2E-48C7CE14E4D8}"/>
              </a:ext>
            </a:extLst>
          </p:cNvPr>
          <p:cNvSpPr>
            <a:spLocks noGrp="1"/>
          </p:cNvSpPr>
          <p:nvPr>
            <p:ph idx="1"/>
          </p:nvPr>
        </p:nvSpPr>
        <p:spPr>
          <a:xfrm>
            <a:off x="6090574" y="801866"/>
            <a:ext cx="5306084" cy="5230634"/>
          </a:xfrm>
        </p:spPr>
        <p:txBody>
          <a:bodyPr anchor="ctr">
            <a:normAutofit/>
          </a:bodyPr>
          <a:lstStyle/>
          <a:p>
            <a:pPr eaLnBrk="1" hangingPunct="1"/>
            <a:r>
              <a:rPr lang="en-GB" altLang="en-US" sz="2400">
                <a:solidFill>
                  <a:srgbClr val="000000"/>
                </a:solidFill>
              </a:rPr>
              <a:t>Non-mediated Interpersonal communication is an interlocking social, cognitive</a:t>
            </a:r>
            <a:r>
              <a:rPr lang="ga-IE" altLang="en-US" sz="2400">
                <a:solidFill>
                  <a:srgbClr val="000000"/>
                </a:solidFill>
              </a:rPr>
              <a:t>, affective,</a:t>
            </a:r>
            <a:r>
              <a:rPr lang="en-GB" altLang="en-US" sz="2400">
                <a:solidFill>
                  <a:srgbClr val="000000"/>
                </a:solidFill>
              </a:rPr>
              <a:t> linguistic</a:t>
            </a:r>
            <a:r>
              <a:rPr lang="ga-IE" altLang="en-US" sz="2400">
                <a:solidFill>
                  <a:srgbClr val="000000"/>
                </a:solidFill>
              </a:rPr>
              <a:t> &amp; non-verbal</a:t>
            </a:r>
            <a:r>
              <a:rPr lang="en-GB" altLang="en-US" sz="2400">
                <a:solidFill>
                  <a:srgbClr val="000000"/>
                </a:solidFill>
              </a:rPr>
              <a:t> experience</a:t>
            </a:r>
          </a:p>
          <a:p>
            <a:pPr eaLnBrk="1" hangingPunct="1"/>
            <a:r>
              <a:rPr lang="en-GB" altLang="en-US" sz="2400">
                <a:solidFill>
                  <a:srgbClr val="000000"/>
                </a:solidFill>
              </a:rPr>
              <a:t>Communication is central</a:t>
            </a:r>
            <a:r>
              <a:rPr lang="ga-IE" altLang="en-US" sz="2400">
                <a:solidFill>
                  <a:srgbClr val="000000"/>
                </a:solidFill>
              </a:rPr>
              <a:t> (crucial)</a:t>
            </a:r>
            <a:r>
              <a:rPr lang="en-GB" altLang="en-US" sz="2400">
                <a:solidFill>
                  <a:srgbClr val="000000"/>
                </a:solidFill>
              </a:rPr>
              <a:t> to the success of business</a:t>
            </a:r>
            <a:r>
              <a:rPr lang="ga-IE" altLang="en-US" sz="2400">
                <a:solidFill>
                  <a:srgbClr val="000000"/>
                </a:solidFill>
              </a:rPr>
              <a:t> and personal lives</a:t>
            </a:r>
            <a:endParaRPr lang="en-GB" altLang="en-US" sz="2400">
              <a:solidFill>
                <a:srgbClr val="000000"/>
              </a:solidFill>
            </a:endParaRPr>
          </a:p>
          <a:p>
            <a:pPr eaLnBrk="1" hangingPunct="1"/>
            <a:r>
              <a:rPr lang="en-GB" altLang="en-US" sz="2400">
                <a:solidFill>
                  <a:srgbClr val="000000"/>
                </a:solidFill>
              </a:rPr>
              <a:t>As a social skill, some people are better social inter-actors than others</a:t>
            </a:r>
          </a:p>
          <a:p>
            <a:pPr eaLnBrk="1" hangingPunct="1"/>
            <a:r>
              <a:rPr lang="en-GB" altLang="en-US" sz="2400">
                <a:solidFill>
                  <a:srgbClr val="000000"/>
                </a:solidFill>
              </a:rPr>
              <a:t>There are many models  </a:t>
            </a:r>
            <a:endParaRPr lang="en-US" altLang="en-US" sz="2400">
              <a:solidFill>
                <a:srgbClr val="000000"/>
              </a:solidFill>
            </a:endParaRPr>
          </a:p>
          <a:p>
            <a:endParaRPr lang="en-GB" sz="2400">
              <a:solidFill>
                <a:srgbClr val="000000"/>
              </a:solidFill>
            </a:endParaRPr>
          </a:p>
        </p:txBody>
      </p:sp>
    </p:spTree>
    <p:extLst>
      <p:ext uri="{BB962C8B-B14F-4D97-AF65-F5344CB8AC3E}">
        <p14:creationId xmlns:p14="http://schemas.microsoft.com/office/powerpoint/2010/main" val="3209925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3407CE-D18E-464D-9C7B-794788CCC1D1}"/>
              </a:ext>
            </a:extLst>
          </p:cNvPr>
          <p:cNvSpPr>
            <a:spLocks noGrp="1"/>
          </p:cNvSpPr>
          <p:nvPr>
            <p:ph type="title"/>
          </p:nvPr>
        </p:nvSpPr>
        <p:spPr>
          <a:xfrm>
            <a:off x="686834" y="1153572"/>
            <a:ext cx="3200400" cy="4461163"/>
          </a:xfrm>
        </p:spPr>
        <p:txBody>
          <a:bodyPr>
            <a:normAutofit/>
          </a:bodyPr>
          <a:lstStyle/>
          <a:p>
            <a:r>
              <a:rPr lang="en-GB" sz="3100" dirty="0">
                <a:solidFill>
                  <a:srgbClr val="FFFFFF"/>
                </a:solidFill>
              </a:rPr>
              <a:t>The Idea of Skill- no consensus among social scientists </a:t>
            </a:r>
            <a:r>
              <a:rPr lang="en-GB" sz="3100" dirty="0">
                <a:solidFill>
                  <a:srgbClr val="FFFFFF"/>
                </a:solidFill>
                <a:latin typeface="+mn-lt"/>
              </a:rPr>
              <a:t>- </a:t>
            </a:r>
            <a:r>
              <a:rPr lang="en-GB" sz="3100" b="0" i="0" dirty="0">
                <a:solidFill>
                  <a:srgbClr val="FFFFFF"/>
                </a:solidFill>
                <a:effectLst/>
                <a:latin typeface="+mn-lt"/>
              </a:rPr>
              <a:t>ability”, “competence”, </a:t>
            </a:r>
            <a:br>
              <a:rPr lang="en-GB" sz="3100" b="0" i="0" dirty="0">
                <a:solidFill>
                  <a:srgbClr val="FFFFFF"/>
                </a:solidFill>
                <a:effectLst/>
                <a:latin typeface="+mn-lt"/>
              </a:rPr>
            </a:br>
            <a:r>
              <a:rPr lang="en-GB" sz="3100" b="0" i="0" dirty="0">
                <a:solidFill>
                  <a:srgbClr val="FFFFFF"/>
                </a:solidFill>
                <a:effectLst/>
                <a:latin typeface="+mn-lt"/>
              </a:rPr>
              <a:t>“knack”, “aptitude” and “talent”, learnable and transferable?</a:t>
            </a:r>
            <a:br>
              <a:rPr lang="en-GB" sz="3100" b="0" i="0" dirty="0">
                <a:solidFill>
                  <a:srgbClr val="FFFFFF"/>
                </a:solidFill>
                <a:effectLst/>
                <a:latin typeface="ff8"/>
              </a:rPr>
            </a:br>
            <a:endParaRPr lang="en-GB" sz="3100"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3A78C46-2B6F-48D6-A4EB-B23FD7D76A7A}"/>
              </a:ext>
            </a:extLst>
          </p:cNvPr>
          <p:cNvSpPr>
            <a:spLocks noGrp="1"/>
          </p:cNvSpPr>
          <p:nvPr>
            <p:ph idx="1"/>
          </p:nvPr>
        </p:nvSpPr>
        <p:spPr>
          <a:xfrm>
            <a:off x="4447308" y="591344"/>
            <a:ext cx="6906491" cy="5585619"/>
          </a:xfrm>
        </p:spPr>
        <p:txBody>
          <a:bodyPr anchor="ctr">
            <a:normAutofit/>
          </a:bodyPr>
          <a:lstStyle/>
          <a:p>
            <a:r>
              <a:rPr lang="en-GB" sz="2200" i="1">
                <a:effectLst/>
              </a:rPr>
              <a:t>Analytical Skills-</a:t>
            </a:r>
          </a:p>
          <a:p>
            <a:r>
              <a:rPr lang="en-GB" sz="2200" b="0" i="0">
                <a:effectLst/>
              </a:rPr>
              <a:t>Critical thinking, Data analysis, Numeracy, Reporting, Research, Troubleshooting</a:t>
            </a:r>
          </a:p>
          <a:p>
            <a:r>
              <a:rPr lang="en-GB" sz="2200" i="1"/>
              <a:t>Student skills</a:t>
            </a:r>
          </a:p>
          <a:p>
            <a:pPr>
              <a:buFont typeface="Arial" panose="020B0604020202020204" pitchFamily="34" charset="0"/>
              <a:buChar char="•"/>
            </a:pPr>
            <a:r>
              <a:rPr lang="en-GB" sz="2200" b="0" i="0">
                <a:effectLst/>
              </a:rPr>
              <a:t>Accountability, Analysing information, Communication Critical thinking, Digital literacy,</a:t>
            </a:r>
          </a:p>
          <a:p>
            <a:pPr>
              <a:buFont typeface="Arial" panose="020B0604020202020204" pitchFamily="34" charset="0"/>
              <a:buChar char="•"/>
            </a:pPr>
            <a:r>
              <a:rPr lang="en-GB" sz="2200" b="0" i="0">
                <a:effectLst/>
              </a:rPr>
              <a:t>Follow directions, Imagination, Initiative, Organization, Problem solving, Questioning Reading,</a:t>
            </a:r>
            <a:r>
              <a:rPr lang="en-GB" sz="2200"/>
              <a:t> </a:t>
            </a:r>
            <a:r>
              <a:rPr lang="en-GB" sz="2200" b="0" i="0">
                <a:effectLst/>
              </a:rPr>
              <a:t>Time management, Writing</a:t>
            </a:r>
          </a:p>
          <a:p>
            <a:r>
              <a:rPr lang="en-GB" sz="2200" i="1">
                <a:effectLst/>
              </a:rPr>
              <a:t>Leadership and Management Skills</a:t>
            </a:r>
          </a:p>
          <a:p>
            <a:r>
              <a:rPr lang="en-GB" sz="2200">
                <a:effectLst/>
              </a:rPr>
              <a:t>Advising, Coaching, Conflict resolution, Decision-making</a:t>
            </a:r>
            <a:r>
              <a:rPr lang="en-GB" sz="2200"/>
              <a:t> </a:t>
            </a:r>
            <a:r>
              <a:rPr lang="en-GB" sz="2200">
                <a:effectLst/>
              </a:rPr>
              <a:t>Delegating, Diplomacy, Interviewing, Motivation, People management</a:t>
            </a:r>
          </a:p>
          <a:p>
            <a:pPr>
              <a:buFont typeface="Arial" panose="020B0604020202020204" pitchFamily="34" charset="0"/>
              <a:buChar char="•"/>
            </a:pPr>
            <a:r>
              <a:rPr lang="en-GB" sz="2200">
                <a:effectLst/>
              </a:rPr>
              <a:t>Problem solving, Strategic thinking</a:t>
            </a:r>
          </a:p>
          <a:p>
            <a:endParaRPr lang="en-GB" sz="2200"/>
          </a:p>
        </p:txBody>
      </p:sp>
    </p:spTree>
    <p:extLst>
      <p:ext uri="{BB962C8B-B14F-4D97-AF65-F5344CB8AC3E}">
        <p14:creationId xmlns:p14="http://schemas.microsoft.com/office/powerpoint/2010/main" val="1698505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6C5FA50-8D52-4617-AF91-5C7B1C835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439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4C6BFA-A965-4D37-AD35-709A84E18BD6}"/>
              </a:ext>
            </a:extLst>
          </p:cNvPr>
          <p:cNvSpPr>
            <a:spLocks noGrp="1"/>
          </p:cNvSpPr>
          <p:nvPr>
            <p:ph type="title"/>
          </p:nvPr>
        </p:nvSpPr>
        <p:spPr>
          <a:xfrm>
            <a:off x="9093496" y="618681"/>
            <a:ext cx="2613872" cy="4794567"/>
          </a:xfrm>
        </p:spPr>
        <p:txBody>
          <a:bodyPr vert="horz" lIns="91440" tIns="45720" rIns="91440" bIns="45720" rtlCol="0" anchor="ctr">
            <a:normAutofit/>
          </a:bodyPr>
          <a:lstStyle/>
          <a:p>
            <a:r>
              <a:rPr lang="en-US" sz="2800">
                <a:solidFill>
                  <a:srgbClr val="FFFFFF"/>
                </a:solidFill>
              </a:rPr>
              <a:t>Language and Communication</a:t>
            </a:r>
          </a:p>
        </p:txBody>
      </p:sp>
      <p:sp>
        <p:nvSpPr>
          <p:cNvPr id="12" name="Rounded Rectangle 9">
            <a:extLst>
              <a:ext uri="{FF2B5EF4-FFF2-40B4-BE49-F238E27FC236}">
                <a16:creationId xmlns:a16="http://schemas.microsoft.com/office/drawing/2014/main" id="{E223798C-12AD-4B0C-A50C-D676347D67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54"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2">
            <a:extLst>
              <a:ext uri="{FF2B5EF4-FFF2-40B4-BE49-F238E27FC236}">
                <a16:creationId xmlns:a16="http://schemas.microsoft.com/office/drawing/2014/main" id="{3C2FC6EE-2A53-4B7B-B6AB-992EB2130853}"/>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6770"/>
          <a:stretch/>
        </p:blipFill>
        <p:spPr bwMode="auto">
          <a:xfrm>
            <a:off x="976251" y="942538"/>
            <a:ext cx="7163222" cy="4808332"/>
          </a:xfrm>
          <a:prstGeom prst="rect">
            <a:avLst/>
          </a:prstGeom>
          <a:noFill/>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Tree>
    <p:extLst>
      <p:ext uri="{BB962C8B-B14F-4D97-AF65-F5344CB8AC3E}">
        <p14:creationId xmlns:p14="http://schemas.microsoft.com/office/powerpoint/2010/main" val="1931389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EEB8ED6-9142-4A11-B029-18DDE98C49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5CEC64-7E21-4735-BF4D-23C0CA0B7EBF}"/>
              </a:ext>
            </a:extLst>
          </p:cNvPr>
          <p:cNvSpPr>
            <a:spLocks noGrp="1"/>
          </p:cNvSpPr>
          <p:nvPr>
            <p:ph type="title"/>
          </p:nvPr>
        </p:nvSpPr>
        <p:spPr>
          <a:xfrm>
            <a:off x="838200" y="365126"/>
            <a:ext cx="10515600" cy="1288784"/>
          </a:xfrm>
        </p:spPr>
        <p:txBody>
          <a:bodyPr vert="horz" lIns="91440" tIns="45720" rIns="91440" bIns="45720" rtlCol="0">
            <a:normAutofit/>
          </a:bodyPr>
          <a:lstStyle/>
          <a:p>
            <a:r>
              <a:rPr lang="en-US" sz="4000"/>
              <a:t>Cognition</a:t>
            </a:r>
          </a:p>
        </p:txBody>
      </p:sp>
      <p:pic>
        <p:nvPicPr>
          <p:cNvPr id="7" name="Content Placeholder 6">
            <a:extLst>
              <a:ext uri="{FF2B5EF4-FFF2-40B4-BE49-F238E27FC236}">
                <a16:creationId xmlns:a16="http://schemas.microsoft.com/office/drawing/2014/main" id="{7166144E-B264-442B-BCB4-2930698FDE2F}"/>
              </a:ext>
            </a:extLst>
          </p:cNvPr>
          <p:cNvPicPr>
            <a:picLocks noChangeAspect="1"/>
          </p:cNvPicPr>
          <p:nvPr/>
        </p:nvPicPr>
        <p:blipFill rotWithShape="1">
          <a:blip r:embed="rId2"/>
          <a:srcRect t="6725" r="-1" b="-1"/>
          <a:stretch/>
        </p:blipFill>
        <p:spPr>
          <a:xfrm>
            <a:off x="838200" y="1825625"/>
            <a:ext cx="6151651" cy="4303465"/>
          </a:xfrm>
          <a:prstGeom prst="rect">
            <a:avLst/>
          </a:prstGeom>
        </p:spPr>
      </p:pic>
      <p:sp>
        <p:nvSpPr>
          <p:cNvPr id="18" name="Content Placeholder 17">
            <a:extLst>
              <a:ext uri="{FF2B5EF4-FFF2-40B4-BE49-F238E27FC236}">
                <a16:creationId xmlns:a16="http://schemas.microsoft.com/office/drawing/2014/main" id="{9110EA5F-5732-4829-8E02-2DB1D242C8DB}"/>
              </a:ext>
            </a:extLst>
          </p:cNvPr>
          <p:cNvSpPr>
            <a:spLocks noGrp="1"/>
          </p:cNvSpPr>
          <p:nvPr>
            <p:ph idx="1"/>
          </p:nvPr>
        </p:nvSpPr>
        <p:spPr>
          <a:xfrm>
            <a:off x="7552944" y="1825625"/>
            <a:ext cx="3800856" cy="4303464"/>
          </a:xfrm>
        </p:spPr>
        <p:txBody>
          <a:bodyPr>
            <a:normAutofit/>
          </a:bodyPr>
          <a:lstStyle/>
          <a:p>
            <a:r>
              <a:rPr lang="en-US" sz="2000" dirty="0"/>
              <a:t>Cognition:</a:t>
            </a:r>
          </a:p>
          <a:p>
            <a:r>
              <a:rPr lang="en-GB" sz="2400" dirty="0"/>
              <a:t>Cognition (n.) mid-15c., </a:t>
            </a:r>
            <a:r>
              <a:rPr lang="en-GB" sz="2400" dirty="0" err="1"/>
              <a:t>cognicioun</a:t>
            </a:r>
            <a:r>
              <a:rPr lang="en-GB" sz="2400" dirty="0"/>
              <a:t>, “ability to comprehend, mental act or process of knowing”, from Latin </a:t>
            </a:r>
            <a:r>
              <a:rPr lang="en-GB" sz="2400" dirty="0" err="1"/>
              <a:t>cognoscere</a:t>
            </a:r>
            <a:r>
              <a:rPr lang="en-GB" sz="2400" dirty="0"/>
              <a:t> “to get to know, recognize,” from assimilated form of com “together” + </a:t>
            </a:r>
            <a:r>
              <a:rPr lang="en-GB" sz="2400" dirty="0" err="1"/>
              <a:t>gnoscere</a:t>
            </a:r>
            <a:r>
              <a:rPr lang="en-GB" sz="2400" dirty="0"/>
              <a:t> “to know” … </a:t>
            </a:r>
            <a:endParaRPr lang="en-US" sz="2400" dirty="0"/>
          </a:p>
        </p:txBody>
      </p:sp>
    </p:spTree>
    <p:extLst>
      <p:ext uri="{BB962C8B-B14F-4D97-AF65-F5344CB8AC3E}">
        <p14:creationId xmlns:p14="http://schemas.microsoft.com/office/powerpoint/2010/main" val="643435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D99A6EE-AB29-41B3-A603-7263F9FA6EAE}"/>
              </a:ext>
            </a:extLst>
          </p:cNvPr>
          <p:cNvSpPr>
            <a:spLocks noGrp="1"/>
          </p:cNvSpPr>
          <p:nvPr>
            <p:ph type="title"/>
          </p:nvPr>
        </p:nvSpPr>
        <p:spPr>
          <a:xfrm>
            <a:off x="640079" y="2053641"/>
            <a:ext cx="3669161" cy="2760098"/>
          </a:xfrm>
        </p:spPr>
        <p:txBody>
          <a:bodyPr>
            <a:normAutofit/>
          </a:bodyPr>
          <a:lstStyle/>
          <a:p>
            <a:r>
              <a:rPr lang="en-GB">
                <a:solidFill>
                  <a:srgbClr val="FFFFFF"/>
                </a:solidFill>
              </a:rPr>
              <a:t>Cognition</a:t>
            </a:r>
          </a:p>
        </p:txBody>
      </p:sp>
      <p:sp>
        <p:nvSpPr>
          <p:cNvPr id="3" name="Content Placeholder 2">
            <a:extLst>
              <a:ext uri="{FF2B5EF4-FFF2-40B4-BE49-F238E27FC236}">
                <a16:creationId xmlns:a16="http://schemas.microsoft.com/office/drawing/2014/main" id="{9E5ACE55-5F6D-45B7-B64F-8EEDC497D5CF}"/>
              </a:ext>
            </a:extLst>
          </p:cNvPr>
          <p:cNvSpPr>
            <a:spLocks noGrp="1"/>
          </p:cNvSpPr>
          <p:nvPr>
            <p:ph idx="1"/>
          </p:nvPr>
        </p:nvSpPr>
        <p:spPr>
          <a:xfrm>
            <a:off x="6090574" y="801866"/>
            <a:ext cx="5306084" cy="5230634"/>
          </a:xfrm>
        </p:spPr>
        <p:txBody>
          <a:bodyPr anchor="ctr">
            <a:normAutofit/>
          </a:bodyPr>
          <a:lstStyle/>
          <a:p>
            <a:r>
              <a:rPr lang="en-GB" sz="2400" dirty="0">
                <a:solidFill>
                  <a:srgbClr val="000000"/>
                </a:solidFill>
              </a:rPr>
              <a:t>Cognition usually refers to the mental processes of knowledge acquisition encompassing  processes such as attention, the formation of knowledge, memory, working memory, judgement and evaluation, reasoning, problem-solving &amp; decision-making, comprehension, &amp; language production</a:t>
            </a:r>
          </a:p>
        </p:txBody>
      </p:sp>
    </p:spTree>
    <p:extLst>
      <p:ext uri="{BB962C8B-B14F-4D97-AF65-F5344CB8AC3E}">
        <p14:creationId xmlns:p14="http://schemas.microsoft.com/office/powerpoint/2010/main" val="2339318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C9EFE1-D8CB-4668-9980-DB108327A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6271569" cy="6858000"/>
          </a:xfrm>
          <a:prstGeom prst="rect">
            <a:avLst/>
          </a:prstGeom>
          <a:gradFill>
            <a:gsLst>
              <a:gs pos="0">
                <a:schemeClr val="accent6"/>
              </a:gs>
              <a:gs pos="25000">
                <a:schemeClr val="accent6"/>
              </a:gs>
              <a:gs pos="94000">
                <a:schemeClr val="accent1"/>
              </a:gs>
              <a:gs pos="100000">
                <a:schemeClr val="accent1"/>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7CBAE1BD-B8E4-4029-8AA2-C77E4FED98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FBF9B47-04D6-4E6A-8567-4AEF81092AD3}"/>
              </a:ext>
            </a:extLst>
          </p:cNvPr>
          <p:cNvSpPr>
            <a:spLocks noGrp="1"/>
          </p:cNvSpPr>
          <p:nvPr>
            <p:ph type="title"/>
          </p:nvPr>
        </p:nvSpPr>
        <p:spPr>
          <a:xfrm>
            <a:off x="6585882" y="1500554"/>
            <a:ext cx="4805996" cy="4168726"/>
          </a:xfrm>
        </p:spPr>
        <p:txBody>
          <a:bodyPr vert="horz" lIns="91440" tIns="45720" rIns="91440" bIns="45720" rtlCol="0" anchor="t">
            <a:noAutofit/>
          </a:bodyPr>
          <a:lstStyle/>
          <a:p>
            <a:r>
              <a:rPr lang="en-US" sz="3200" dirty="0">
                <a:solidFill>
                  <a:srgbClr val="000000"/>
                </a:solidFill>
              </a:rPr>
              <a:t>The idea of ‘affect</a:t>
            </a:r>
            <a:r>
              <a:rPr lang="en-US" sz="1400" dirty="0">
                <a:solidFill>
                  <a:srgbClr val="000000"/>
                </a:solidFill>
              </a:rPr>
              <a:t>’</a:t>
            </a:r>
            <a:br>
              <a:rPr lang="en-US" sz="1400" dirty="0">
                <a:solidFill>
                  <a:srgbClr val="000000"/>
                </a:solidFill>
              </a:rPr>
            </a:br>
            <a:r>
              <a:rPr lang="en-GB" sz="2000" dirty="0">
                <a:solidFill>
                  <a:srgbClr val="000000"/>
                </a:solidFill>
                <a:latin typeface="ProximaNova"/>
              </a:rPr>
              <a:t>A</a:t>
            </a:r>
            <a:r>
              <a:rPr lang="en-GB" sz="2000" b="0" i="0" dirty="0">
                <a:solidFill>
                  <a:srgbClr val="000000"/>
                </a:solidFill>
                <a:effectLst/>
                <a:latin typeface="ProximaNova"/>
              </a:rPr>
              <a:t>ny experience of feeling or emotion, ranging from suffering to elation, from the simplest to the most complex sensations of feeling, and from the most normal to the most pathological emotional reactions. </a:t>
            </a:r>
            <a:r>
              <a:rPr lang="en-GB" sz="2000" b="0" i="0" dirty="0">
                <a:effectLst/>
                <a:latin typeface="ProximaNova"/>
              </a:rPr>
              <a:t>Often described in terms of </a:t>
            </a:r>
            <a:r>
              <a:rPr lang="en-GB" sz="2000" b="0" i="0" u="none" strike="noStrike" dirty="0">
                <a:effectLst/>
                <a:latin typeface="ProximaNova"/>
                <a:hlinkClick r:id="rId3">
                  <a:extLst>
                    <a:ext uri="{A12FA001-AC4F-418D-AE19-62706E023703}">
                      <ahyp:hlinkClr xmlns:ahyp="http://schemas.microsoft.com/office/drawing/2018/hyperlinkcolor" val="tx"/>
                    </a:ext>
                  </a:extLst>
                </a:hlinkClick>
              </a:rPr>
              <a:t>positive affect</a:t>
            </a:r>
            <a:r>
              <a:rPr lang="en-GB" sz="2000" b="0" i="0" dirty="0">
                <a:effectLst/>
                <a:latin typeface="ProximaNova"/>
              </a:rPr>
              <a:t> or </a:t>
            </a:r>
            <a:r>
              <a:rPr lang="en-GB" sz="2000" b="0" i="0" u="none" strike="noStrike" dirty="0">
                <a:effectLst/>
                <a:latin typeface="ProximaNova"/>
                <a:hlinkClick r:id="rId4">
                  <a:extLst>
                    <a:ext uri="{A12FA001-AC4F-418D-AE19-62706E023703}">
                      <ahyp:hlinkClr xmlns:ahyp="http://schemas.microsoft.com/office/drawing/2018/hyperlinkcolor" val="tx"/>
                    </a:ext>
                  </a:extLst>
                </a:hlinkClick>
              </a:rPr>
              <a:t>negative affect</a:t>
            </a:r>
            <a:r>
              <a:rPr lang="en-GB" sz="2000" b="0" i="0" dirty="0">
                <a:effectLst/>
                <a:latin typeface="ProximaNova"/>
              </a:rPr>
              <a:t>, both mood and emotion are considered affective states. Along with </a:t>
            </a:r>
            <a:r>
              <a:rPr lang="en-GB" sz="2000" b="0" i="0" u="none" strike="noStrike" dirty="0">
                <a:effectLst/>
                <a:latin typeface="ProximaNova"/>
                <a:hlinkClick r:id="rId5">
                  <a:extLst>
                    <a:ext uri="{A12FA001-AC4F-418D-AE19-62706E023703}">
                      <ahyp:hlinkClr xmlns:ahyp="http://schemas.microsoft.com/office/drawing/2018/hyperlinkcolor" val="tx"/>
                    </a:ext>
                  </a:extLst>
                </a:hlinkClick>
              </a:rPr>
              <a:t>cognition</a:t>
            </a:r>
            <a:r>
              <a:rPr lang="en-GB" sz="2000" b="0" i="0" dirty="0">
                <a:effectLst/>
                <a:latin typeface="ProximaNova"/>
              </a:rPr>
              <a:t> and </a:t>
            </a:r>
            <a:r>
              <a:rPr lang="en-GB" sz="2000" b="0" i="0" u="none" strike="noStrike" dirty="0">
                <a:effectLst/>
                <a:latin typeface="ProximaNova"/>
                <a:hlinkClick r:id="rId6">
                  <a:extLst>
                    <a:ext uri="{A12FA001-AC4F-418D-AE19-62706E023703}">
                      <ahyp:hlinkClr xmlns:ahyp="http://schemas.microsoft.com/office/drawing/2018/hyperlinkcolor" val="tx"/>
                    </a:ext>
                  </a:extLst>
                </a:hlinkClick>
              </a:rPr>
              <a:t>conation</a:t>
            </a:r>
            <a:r>
              <a:rPr lang="en-GB" sz="2000" b="0" i="0" dirty="0">
                <a:effectLst/>
                <a:latin typeface="ProximaNova"/>
              </a:rPr>
              <a:t>, affect is one of the three traditionally identified components of the mind. </a:t>
            </a:r>
            <a:r>
              <a:rPr lang="en-GB" sz="1800" b="0" i="0" dirty="0">
                <a:effectLst/>
                <a:latin typeface="ProximaNova"/>
              </a:rPr>
              <a:t>T</a:t>
            </a:r>
            <a:r>
              <a:rPr lang="en-GB" sz="1800" b="0" i="0" dirty="0">
                <a:solidFill>
                  <a:srgbClr val="1A1A1A"/>
                </a:solidFill>
                <a:effectLst/>
                <a:latin typeface="Arial" panose="020B0604020202020204" pitchFamily="34" charset="0"/>
              </a:rPr>
              <a:t>he part of mental life having to do with striving, including desire and volition is called conation.</a:t>
            </a:r>
            <a:endParaRPr lang="en-US" sz="1800" dirty="0"/>
          </a:p>
        </p:txBody>
      </p:sp>
      <p:sp>
        <p:nvSpPr>
          <p:cNvPr id="13" name="Freeform 49">
            <a:extLst>
              <a:ext uri="{FF2B5EF4-FFF2-40B4-BE49-F238E27FC236}">
                <a16:creationId xmlns:a16="http://schemas.microsoft.com/office/drawing/2014/main" id="{77DA6D33-2D62-458C-BF5D-DBF612FD5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6"/>
                </a:gs>
                <a:gs pos="23000">
                  <a:schemeClr val="accent6"/>
                </a:gs>
                <a:gs pos="83000">
                  <a:schemeClr val="accent1"/>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2" descr="A close up of a logo&#10;&#10;Description automatically generated">
            <a:extLst>
              <a:ext uri="{FF2B5EF4-FFF2-40B4-BE49-F238E27FC236}">
                <a16:creationId xmlns:a16="http://schemas.microsoft.com/office/drawing/2014/main" id="{62F0A922-D27D-4EA3-A297-BDA2A3E1DBDB}"/>
              </a:ext>
            </a:extLst>
          </p:cNvPr>
          <p:cNvPicPr>
            <a:picLocks noGrp="1" noChangeAspect="1" noChangeArrowheads="1"/>
          </p:cNvPicPr>
          <p:nvPr>
            <p:ph idx="1"/>
          </p:nvPr>
        </p:nvPicPr>
        <p:blipFill rotWithShape="1">
          <a:blip r:embed="rId7">
            <a:alphaModFix/>
            <a:extLst>
              <a:ext uri="{28A0092B-C50C-407E-A947-70E740481C1C}">
                <a14:useLocalDpi xmlns:a14="http://schemas.microsoft.com/office/drawing/2010/main" val="0"/>
              </a:ext>
            </a:extLst>
          </a:blip>
          <a:srcRect r="1" b="7654"/>
          <a:stretch/>
        </p:blipFill>
        <p:spPr>
          <a:xfrm>
            <a:off x="1" y="770037"/>
            <a:ext cx="5298683" cy="6097438"/>
          </a:xfrm>
          <a:custGeom>
            <a:avLst/>
            <a:gdLst/>
            <a:ahLst/>
            <a:cxnLst/>
            <a:rect l="l" t="t" r="r" b="b"/>
            <a:pathLst>
              <a:path w="5298683" h="6097438">
                <a:moveTo>
                  <a:pt x="2178155" y="0"/>
                </a:moveTo>
                <a:cubicBezTo>
                  <a:pt x="3901575" y="0"/>
                  <a:pt x="5298683" y="1397108"/>
                  <a:pt x="5298683" y="3120527"/>
                </a:cubicBezTo>
                <a:cubicBezTo>
                  <a:pt x="5298683" y="4413092"/>
                  <a:pt x="4512810" y="5522106"/>
                  <a:pt x="3392805" y="5995828"/>
                </a:cubicBezTo>
                <a:lnTo>
                  <a:pt x="3115184" y="6097438"/>
                </a:lnTo>
                <a:lnTo>
                  <a:pt x="1241127" y="6097438"/>
                </a:lnTo>
                <a:lnTo>
                  <a:pt x="963506" y="5995828"/>
                </a:lnTo>
                <a:cubicBezTo>
                  <a:pt x="683504" y="5877397"/>
                  <a:pt x="424387" y="5719261"/>
                  <a:pt x="193210" y="5528477"/>
                </a:cubicBezTo>
                <a:lnTo>
                  <a:pt x="0" y="5352876"/>
                </a:lnTo>
                <a:lnTo>
                  <a:pt x="0" y="888178"/>
                </a:lnTo>
                <a:lnTo>
                  <a:pt x="193210" y="712577"/>
                </a:lnTo>
                <a:cubicBezTo>
                  <a:pt x="732621" y="267415"/>
                  <a:pt x="1424159" y="0"/>
                  <a:pt x="2178155" y="0"/>
                </a:cubicBezTo>
                <a:close/>
              </a:path>
            </a:pathLst>
          </a:custGeom>
          <a:noFill/>
          <a:effectLst>
            <a:softEdge rad="0"/>
          </a:effectLst>
        </p:spPr>
      </p:pic>
    </p:spTree>
    <p:extLst>
      <p:ext uri="{BB962C8B-B14F-4D97-AF65-F5344CB8AC3E}">
        <p14:creationId xmlns:p14="http://schemas.microsoft.com/office/powerpoint/2010/main" val="562334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BD97E-9F93-4EED-98D8-23198B26D8DE}"/>
              </a:ext>
            </a:extLst>
          </p:cNvPr>
          <p:cNvSpPr>
            <a:spLocks noGrp="1"/>
          </p:cNvSpPr>
          <p:nvPr>
            <p:ph type="title"/>
          </p:nvPr>
        </p:nvSpPr>
        <p:spPr/>
        <p:txBody>
          <a:bodyPr/>
          <a:lstStyle/>
          <a:p>
            <a:pPr algn="ctr"/>
            <a:r>
              <a:rPr lang="en-GB" dirty="0"/>
              <a:t>Non-verbal Communication</a:t>
            </a:r>
          </a:p>
        </p:txBody>
      </p:sp>
      <p:pic>
        <p:nvPicPr>
          <p:cNvPr id="4" name="Picture 2">
            <a:extLst>
              <a:ext uri="{FF2B5EF4-FFF2-40B4-BE49-F238E27FC236}">
                <a16:creationId xmlns:a16="http://schemas.microsoft.com/office/drawing/2014/main" id="{AF2F09AC-B0CA-4833-9575-B675B55850E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51709" y="2189017"/>
            <a:ext cx="8977746" cy="3879273"/>
          </a:xfrm>
          <a:noFill/>
        </p:spPr>
      </p:pic>
    </p:spTree>
    <p:extLst>
      <p:ext uri="{BB962C8B-B14F-4D97-AF65-F5344CB8AC3E}">
        <p14:creationId xmlns:p14="http://schemas.microsoft.com/office/powerpoint/2010/main" val="1961912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040157A-4039-44F0-8454-F2A8AD7BA37D}"/>
              </a:ext>
            </a:extLst>
          </p:cNvPr>
          <p:cNvSpPr>
            <a:spLocks noGrp="1"/>
          </p:cNvSpPr>
          <p:nvPr>
            <p:ph type="title"/>
          </p:nvPr>
        </p:nvSpPr>
        <p:spPr>
          <a:xfrm>
            <a:off x="640079" y="2053641"/>
            <a:ext cx="3669161" cy="2760098"/>
          </a:xfrm>
        </p:spPr>
        <p:txBody>
          <a:bodyPr>
            <a:normAutofit/>
          </a:bodyPr>
          <a:lstStyle/>
          <a:p>
            <a:r>
              <a:rPr lang="en-GB">
                <a:solidFill>
                  <a:srgbClr val="FFFFFF"/>
                </a:solidFill>
              </a:rPr>
              <a:t>NVC</a:t>
            </a:r>
          </a:p>
        </p:txBody>
      </p:sp>
      <p:sp>
        <p:nvSpPr>
          <p:cNvPr id="3" name="Content Placeholder 2">
            <a:extLst>
              <a:ext uri="{FF2B5EF4-FFF2-40B4-BE49-F238E27FC236}">
                <a16:creationId xmlns:a16="http://schemas.microsoft.com/office/drawing/2014/main" id="{FFC90BD9-8A6C-42E9-8520-66CF9D1CCA0A}"/>
              </a:ext>
            </a:extLst>
          </p:cNvPr>
          <p:cNvSpPr>
            <a:spLocks noGrp="1"/>
          </p:cNvSpPr>
          <p:nvPr>
            <p:ph idx="1"/>
          </p:nvPr>
        </p:nvSpPr>
        <p:spPr>
          <a:xfrm>
            <a:off x="6090574" y="644577"/>
            <a:ext cx="5306084" cy="5387923"/>
          </a:xfrm>
        </p:spPr>
        <p:txBody>
          <a:bodyPr anchor="ctr">
            <a:normAutofit/>
          </a:bodyPr>
          <a:lstStyle/>
          <a:p>
            <a:r>
              <a:rPr lang="en-GB" sz="2000" dirty="0">
                <a:solidFill>
                  <a:srgbClr val="000000"/>
                </a:solidFill>
              </a:rPr>
              <a:t>Non-verbal behaviour and non-verbal communication</a:t>
            </a:r>
          </a:p>
          <a:p>
            <a:r>
              <a:rPr lang="en-GB" sz="2000" dirty="0">
                <a:solidFill>
                  <a:srgbClr val="000000"/>
                </a:solidFill>
              </a:rPr>
              <a:t>Kinesics – body movements/body language - gestures</a:t>
            </a:r>
          </a:p>
          <a:p>
            <a:r>
              <a:rPr lang="en-GB" sz="2000" dirty="0">
                <a:solidFill>
                  <a:srgbClr val="000000"/>
                </a:solidFill>
              </a:rPr>
              <a:t>Facial expression – eye behaviour/eye contact</a:t>
            </a:r>
          </a:p>
          <a:p>
            <a:r>
              <a:rPr lang="en-GB" sz="2000" dirty="0">
                <a:solidFill>
                  <a:srgbClr val="000000"/>
                </a:solidFill>
              </a:rPr>
              <a:t>Haptics – touching behaviour</a:t>
            </a:r>
          </a:p>
          <a:p>
            <a:r>
              <a:rPr lang="en-GB" sz="2000" dirty="0" err="1">
                <a:solidFill>
                  <a:srgbClr val="000000"/>
                </a:solidFill>
              </a:rPr>
              <a:t>Occulesics</a:t>
            </a:r>
            <a:endParaRPr lang="en-GB" sz="2000" dirty="0">
              <a:solidFill>
                <a:srgbClr val="000000"/>
              </a:solidFill>
            </a:endParaRPr>
          </a:p>
          <a:p>
            <a:r>
              <a:rPr lang="en-GB" sz="2000" dirty="0">
                <a:solidFill>
                  <a:srgbClr val="000000"/>
                </a:solidFill>
              </a:rPr>
              <a:t>Proxemics - distance</a:t>
            </a:r>
          </a:p>
          <a:p>
            <a:r>
              <a:rPr lang="en-GB" sz="2000" dirty="0">
                <a:solidFill>
                  <a:srgbClr val="000000"/>
                </a:solidFill>
              </a:rPr>
              <a:t>Paralanguage and prosody – aspects of the voice-voice quality of voice, rate, pitch, loudness &amp; rhythm, intonation and stress</a:t>
            </a:r>
          </a:p>
          <a:p>
            <a:r>
              <a:rPr lang="en-GB" sz="2000" dirty="0">
                <a:solidFill>
                  <a:srgbClr val="000000"/>
                </a:solidFill>
              </a:rPr>
              <a:t>Chronemics</a:t>
            </a:r>
          </a:p>
          <a:p>
            <a:r>
              <a:rPr lang="en-GB" sz="2000" dirty="0">
                <a:solidFill>
                  <a:srgbClr val="000000"/>
                </a:solidFill>
              </a:rPr>
              <a:t>Posture</a:t>
            </a:r>
          </a:p>
          <a:p>
            <a:endParaRPr lang="en-GB" sz="2000" dirty="0">
              <a:solidFill>
                <a:srgbClr val="000000"/>
              </a:solidFill>
            </a:endParaRPr>
          </a:p>
          <a:p>
            <a:endParaRPr lang="en-GB" sz="2000" dirty="0">
              <a:solidFill>
                <a:srgbClr val="000000"/>
              </a:solidFill>
            </a:endParaRPr>
          </a:p>
        </p:txBody>
      </p:sp>
    </p:spTree>
    <p:extLst>
      <p:ext uri="{BB962C8B-B14F-4D97-AF65-F5344CB8AC3E}">
        <p14:creationId xmlns:p14="http://schemas.microsoft.com/office/powerpoint/2010/main" val="3150627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8575C10-8187-4AC4-AD72-C754EAFD28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65429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3B48595-D975-4051-840A-F11C55B0B946}"/>
              </a:ext>
            </a:extLst>
          </p:cNvPr>
          <p:cNvSpPr>
            <a:spLocks noGrp="1"/>
          </p:cNvSpPr>
          <p:nvPr>
            <p:ph type="title"/>
          </p:nvPr>
        </p:nvSpPr>
        <p:spPr>
          <a:xfrm>
            <a:off x="762000" y="559678"/>
            <a:ext cx="3567915" cy="4952492"/>
          </a:xfrm>
        </p:spPr>
        <p:txBody>
          <a:bodyPr>
            <a:normAutofit/>
          </a:bodyPr>
          <a:lstStyle/>
          <a:p>
            <a:r>
              <a:rPr lang="en-GB" dirty="0">
                <a:solidFill>
                  <a:schemeClr val="bg1"/>
                </a:solidFill>
              </a:rPr>
              <a:t>Actors and Context</a:t>
            </a:r>
          </a:p>
        </p:txBody>
      </p:sp>
      <p:cxnSp>
        <p:nvCxnSpPr>
          <p:cNvPr id="11" name="Straight Connector 10">
            <a:extLst>
              <a:ext uri="{FF2B5EF4-FFF2-40B4-BE49-F238E27FC236}">
                <a16:creationId xmlns:a16="http://schemas.microsoft.com/office/drawing/2014/main" id="{74E776C9-ED67-41B7-B3A3-4DF76EF3ACE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99730"/>
            <a:ext cx="429768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1937378F-89D2-49F6-9FBB-F62369030D15}"/>
              </a:ext>
            </a:extLst>
          </p:cNvPr>
          <p:cNvGraphicFramePr>
            <a:graphicFrameLocks noGrp="1"/>
          </p:cNvGraphicFramePr>
          <p:nvPr>
            <p:ph idx="1"/>
            <p:extLst>
              <p:ext uri="{D42A27DB-BD31-4B8C-83A1-F6EECF244321}">
                <p14:modId xmlns:p14="http://schemas.microsoft.com/office/powerpoint/2010/main" val="2172827817"/>
              </p:ext>
            </p:extLst>
          </p:nvPr>
        </p:nvGraphicFramePr>
        <p:xfrm>
          <a:off x="5181600" y="568325"/>
          <a:ext cx="6248400" cy="56562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975128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7F6D437-DB12-4BC3-87C9-BD3F1B029168}"/>
              </a:ext>
            </a:extLst>
          </p:cNvPr>
          <p:cNvSpPr>
            <a:spLocks noGrp="1"/>
          </p:cNvSpPr>
          <p:nvPr>
            <p:ph type="title"/>
          </p:nvPr>
        </p:nvSpPr>
        <p:spPr>
          <a:xfrm>
            <a:off x="640079" y="2053641"/>
            <a:ext cx="3669161" cy="2760098"/>
          </a:xfrm>
        </p:spPr>
        <p:txBody>
          <a:bodyPr>
            <a:normAutofit/>
          </a:bodyPr>
          <a:lstStyle/>
          <a:p>
            <a:r>
              <a:rPr lang="en-GB" sz="4100" dirty="0">
                <a:solidFill>
                  <a:srgbClr val="FFFFFF"/>
                </a:solidFill>
              </a:rPr>
              <a:t>Actors and interpersonal communication</a:t>
            </a:r>
          </a:p>
        </p:txBody>
      </p:sp>
      <p:sp>
        <p:nvSpPr>
          <p:cNvPr id="3" name="Content Placeholder 2">
            <a:extLst>
              <a:ext uri="{FF2B5EF4-FFF2-40B4-BE49-F238E27FC236}">
                <a16:creationId xmlns:a16="http://schemas.microsoft.com/office/drawing/2014/main" id="{5215D0D3-E9A3-4898-B9F7-5E53355AE0C9}"/>
              </a:ext>
            </a:extLst>
          </p:cNvPr>
          <p:cNvSpPr>
            <a:spLocks noGrp="1"/>
          </p:cNvSpPr>
          <p:nvPr>
            <p:ph idx="1"/>
          </p:nvPr>
        </p:nvSpPr>
        <p:spPr>
          <a:xfrm>
            <a:off x="6090574" y="801866"/>
            <a:ext cx="5306084" cy="5230634"/>
          </a:xfrm>
        </p:spPr>
        <p:txBody>
          <a:bodyPr anchor="ctr">
            <a:normAutofit/>
          </a:bodyPr>
          <a:lstStyle/>
          <a:p>
            <a:pPr eaLnBrk="1" hangingPunct="1"/>
            <a:r>
              <a:rPr lang="en-GB" altLang="en-US" sz="2400">
                <a:solidFill>
                  <a:srgbClr val="000000"/>
                </a:solidFill>
              </a:rPr>
              <a:t>Physique</a:t>
            </a:r>
            <a:r>
              <a:rPr lang="ga-IE" altLang="en-US" sz="2400">
                <a:solidFill>
                  <a:srgbClr val="000000"/>
                </a:solidFill>
              </a:rPr>
              <a:t>- physical size, shape, attractiveness, etc. </a:t>
            </a:r>
            <a:endParaRPr lang="en-GB" altLang="en-US" sz="2400">
              <a:solidFill>
                <a:srgbClr val="000000"/>
              </a:solidFill>
            </a:endParaRPr>
          </a:p>
          <a:p>
            <a:pPr eaLnBrk="1" hangingPunct="1"/>
            <a:r>
              <a:rPr lang="en-GB" altLang="en-US" sz="2400">
                <a:solidFill>
                  <a:srgbClr val="000000"/>
                </a:solidFill>
              </a:rPr>
              <a:t>Age</a:t>
            </a:r>
            <a:r>
              <a:rPr lang="ga-IE" altLang="en-US" sz="2400">
                <a:solidFill>
                  <a:srgbClr val="000000"/>
                </a:solidFill>
              </a:rPr>
              <a:t> – young, adolescent, adult, OAP</a:t>
            </a:r>
            <a:endParaRPr lang="en-GB" altLang="en-US" sz="2400">
              <a:solidFill>
                <a:srgbClr val="000000"/>
              </a:solidFill>
            </a:endParaRPr>
          </a:p>
          <a:p>
            <a:pPr eaLnBrk="1" hangingPunct="1"/>
            <a:r>
              <a:rPr lang="en-GB" altLang="en-US" sz="2400">
                <a:solidFill>
                  <a:srgbClr val="000000"/>
                </a:solidFill>
              </a:rPr>
              <a:t>Gender</a:t>
            </a:r>
          </a:p>
          <a:p>
            <a:pPr eaLnBrk="1" hangingPunct="1"/>
            <a:r>
              <a:rPr lang="en-GB" altLang="en-US" sz="2400">
                <a:solidFill>
                  <a:srgbClr val="000000"/>
                </a:solidFill>
              </a:rPr>
              <a:t>Social Class; socio-economic status </a:t>
            </a:r>
          </a:p>
          <a:p>
            <a:pPr eaLnBrk="1" hangingPunct="1"/>
            <a:r>
              <a:rPr lang="en-GB" altLang="en-US" sz="2400">
                <a:solidFill>
                  <a:srgbClr val="000000"/>
                </a:solidFill>
              </a:rPr>
              <a:t>Life Role (profession, etc.)</a:t>
            </a:r>
          </a:p>
          <a:p>
            <a:pPr eaLnBrk="1" hangingPunct="1"/>
            <a:r>
              <a:rPr lang="en-GB" altLang="en-US" sz="2400">
                <a:solidFill>
                  <a:srgbClr val="000000"/>
                </a:solidFill>
              </a:rPr>
              <a:t>Culture</a:t>
            </a:r>
            <a:r>
              <a:rPr lang="ga-IE" altLang="en-US" sz="2400">
                <a:solidFill>
                  <a:srgbClr val="000000"/>
                </a:solidFill>
              </a:rPr>
              <a:t> – norms, traditions, expectations</a:t>
            </a:r>
            <a:endParaRPr lang="en-GB" altLang="en-US" sz="2400">
              <a:solidFill>
                <a:srgbClr val="000000"/>
              </a:solidFill>
            </a:endParaRPr>
          </a:p>
          <a:p>
            <a:pPr eaLnBrk="1" hangingPunct="1"/>
            <a:r>
              <a:rPr lang="en-GB" altLang="en-US" sz="2400">
                <a:solidFill>
                  <a:srgbClr val="000000"/>
                </a:solidFill>
              </a:rPr>
              <a:t>Ethnicity</a:t>
            </a:r>
            <a:endParaRPr lang="en-US" altLang="en-US" sz="2400">
              <a:solidFill>
                <a:srgbClr val="000000"/>
              </a:solidFill>
            </a:endParaRPr>
          </a:p>
          <a:p>
            <a:endParaRPr lang="en-GB" sz="2400">
              <a:solidFill>
                <a:srgbClr val="000000"/>
              </a:solidFill>
            </a:endParaRPr>
          </a:p>
        </p:txBody>
      </p:sp>
    </p:spTree>
    <p:extLst>
      <p:ext uri="{BB962C8B-B14F-4D97-AF65-F5344CB8AC3E}">
        <p14:creationId xmlns:p14="http://schemas.microsoft.com/office/powerpoint/2010/main" val="1007768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A480690-030A-4791-990D-0426007DBAF2}"/>
              </a:ext>
            </a:extLst>
          </p:cNvPr>
          <p:cNvSpPr>
            <a:spLocks noGrp="1"/>
          </p:cNvSpPr>
          <p:nvPr>
            <p:ph type="title"/>
          </p:nvPr>
        </p:nvSpPr>
        <p:spPr>
          <a:xfrm>
            <a:off x="640079" y="2053641"/>
            <a:ext cx="3669161" cy="2760098"/>
          </a:xfrm>
        </p:spPr>
        <p:txBody>
          <a:bodyPr>
            <a:normAutofit/>
          </a:bodyPr>
          <a:lstStyle/>
          <a:p>
            <a:r>
              <a:rPr lang="en-GB" sz="4100">
                <a:solidFill>
                  <a:srgbClr val="FFFFFF"/>
                </a:solidFill>
              </a:rPr>
              <a:t>Actors and interpersonal communication</a:t>
            </a:r>
          </a:p>
        </p:txBody>
      </p:sp>
      <p:sp>
        <p:nvSpPr>
          <p:cNvPr id="3" name="Content Placeholder 2">
            <a:extLst>
              <a:ext uri="{FF2B5EF4-FFF2-40B4-BE49-F238E27FC236}">
                <a16:creationId xmlns:a16="http://schemas.microsoft.com/office/drawing/2014/main" id="{7F8D463B-D994-40E7-86C8-B302384EC696}"/>
              </a:ext>
            </a:extLst>
          </p:cNvPr>
          <p:cNvSpPr>
            <a:spLocks noGrp="1"/>
          </p:cNvSpPr>
          <p:nvPr>
            <p:ph idx="1"/>
          </p:nvPr>
        </p:nvSpPr>
        <p:spPr>
          <a:xfrm>
            <a:off x="6090574" y="801866"/>
            <a:ext cx="5306084" cy="5230634"/>
          </a:xfrm>
        </p:spPr>
        <p:txBody>
          <a:bodyPr anchor="ctr">
            <a:normAutofit/>
          </a:bodyPr>
          <a:lstStyle/>
          <a:p>
            <a:pPr eaLnBrk="1" hangingPunct="1"/>
            <a:r>
              <a:rPr lang="en-GB" altLang="en-US" sz="2400">
                <a:solidFill>
                  <a:srgbClr val="000000"/>
                </a:solidFill>
              </a:rPr>
              <a:t>Social identity</a:t>
            </a:r>
            <a:r>
              <a:rPr lang="ga-IE" altLang="en-US" sz="2400">
                <a:solidFill>
                  <a:srgbClr val="000000"/>
                </a:solidFill>
              </a:rPr>
              <a:t> – perceived social group</a:t>
            </a:r>
            <a:endParaRPr lang="en-GB" altLang="en-US" sz="2400">
              <a:solidFill>
                <a:srgbClr val="000000"/>
              </a:solidFill>
            </a:endParaRPr>
          </a:p>
          <a:p>
            <a:pPr eaLnBrk="1" hangingPunct="1"/>
            <a:r>
              <a:rPr lang="en-GB" altLang="en-US" sz="2400">
                <a:solidFill>
                  <a:srgbClr val="000000"/>
                </a:solidFill>
              </a:rPr>
              <a:t>Personality</a:t>
            </a:r>
            <a:r>
              <a:rPr lang="ga-IE" altLang="en-US" sz="2400">
                <a:solidFill>
                  <a:srgbClr val="000000"/>
                </a:solidFill>
              </a:rPr>
              <a:t> - OCEAN</a:t>
            </a:r>
            <a:endParaRPr lang="en-GB" altLang="en-US" sz="2400">
              <a:solidFill>
                <a:srgbClr val="000000"/>
              </a:solidFill>
            </a:endParaRPr>
          </a:p>
          <a:p>
            <a:pPr eaLnBrk="1" hangingPunct="1"/>
            <a:r>
              <a:rPr lang="en-GB" altLang="en-US" sz="2400">
                <a:solidFill>
                  <a:srgbClr val="000000"/>
                </a:solidFill>
              </a:rPr>
              <a:t>Self-concept</a:t>
            </a:r>
          </a:p>
          <a:p>
            <a:pPr eaLnBrk="1" hangingPunct="1"/>
            <a:r>
              <a:rPr lang="en-GB" altLang="en-US" sz="2400">
                <a:solidFill>
                  <a:srgbClr val="000000"/>
                </a:solidFill>
              </a:rPr>
              <a:t>Experience</a:t>
            </a:r>
          </a:p>
          <a:p>
            <a:pPr eaLnBrk="1" hangingPunct="1"/>
            <a:r>
              <a:rPr lang="en-GB" altLang="en-US" sz="2400">
                <a:solidFill>
                  <a:srgbClr val="000000"/>
                </a:solidFill>
              </a:rPr>
              <a:t>Skills</a:t>
            </a:r>
          </a:p>
          <a:p>
            <a:pPr eaLnBrk="1" hangingPunct="1"/>
            <a:r>
              <a:rPr lang="en-GB" altLang="en-US" sz="2400">
                <a:solidFill>
                  <a:srgbClr val="000000"/>
                </a:solidFill>
              </a:rPr>
              <a:t>Knowledge</a:t>
            </a:r>
            <a:r>
              <a:rPr lang="ga-IE" altLang="en-US" sz="2400">
                <a:solidFill>
                  <a:srgbClr val="000000"/>
                </a:solidFill>
              </a:rPr>
              <a:t> (declarative &amp; procedural)</a:t>
            </a:r>
            <a:endParaRPr lang="en-GB" altLang="en-US" sz="2400">
              <a:solidFill>
                <a:srgbClr val="000000"/>
              </a:solidFill>
            </a:endParaRPr>
          </a:p>
          <a:p>
            <a:pPr eaLnBrk="1" hangingPunct="1"/>
            <a:r>
              <a:rPr lang="en-GB" altLang="en-US" sz="2400">
                <a:solidFill>
                  <a:srgbClr val="000000"/>
                </a:solidFill>
              </a:rPr>
              <a:t>Communicative competence</a:t>
            </a:r>
            <a:endParaRPr lang="en-US" altLang="en-US" sz="2400">
              <a:solidFill>
                <a:srgbClr val="000000"/>
              </a:solidFill>
            </a:endParaRPr>
          </a:p>
          <a:p>
            <a:endParaRPr lang="en-GB" sz="2400">
              <a:solidFill>
                <a:srgbClr val="000000"/>
              </a:solidFill>
            </a:endParaRPr>
          </a:p>
        </p:txBody>
      </p:sp>
    </p:spTree>
    <p:extLst>
      <p:ext uri="{BB962C8B-B14F-4D97-AF65-F5344CB8AC3E}">
        <p14:creationId xmlns:p14="http://schemas.microsoft.com/office/powerpoint/2010/main" val="1004032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1EE4B25-AA5E-4923-95B2-9416DD6E4B84}"/>
              </a:ext>
            </a:extLst>
          </p:cNvPr>
          <p:cNvSpPr>
            <a:spLocks noGrp="1"/>
          </p:cNvSpPr>
          <p:nvPr>
            <p:ph type="title"/>
          </p:nvPr>
        </p:nvSpPr>
        <p:spPr>
          <a:xfrm>
            <a:off x="640079" y="2053641"/>
            <a:ext cx="3669161" cy="2760098"/>
          </a:xfrm>
        </p:spPr>
        <p:txBody>
          <a:bodyPr>
            <a:normAutofit/>
          </a:bodyPr>
          <a:lstStyle/>
          <a:p>
            <a:r>
              <a:rPr lang="en-GB" sz="4100">
                <a:solidFill>
                  <a:srgbClr val="FFFFFF"/>
                </a:solidFill>
              </a:rPr>
              <a:t>Actors and interpersonal communication</a:t>
            </a:r>
          </a:p>
        </p:txBody>
      </p:sp>
      <p:sp>
        <p:nvSpPr>
          <p:cNvPr id="3" name="Content Placeholder 2">
            <a:extLst>
              <a:ext uri="{FF2B5EF4-FFF2-40B4-BE49-F238E27FC236}">
                <a16:creationId xmlns:a16="http://schemas.microsoft.com/office/drawing/2014/main" id="{395179BD-1500-466B-8980-A2A6353BE7B3}"/>
              </a:ext>
            </a:extLst>
          </p:cNvPr>
          <p:cNvSpPr>
            <a:spLocks noGrp="1"/>
          </p:cNvSpPr>
          <p:nvPr>
            <p:ph idx="1"/>
          </p:nvPr>
        </p:nvSpPr>
        <p:spPr>
          <a:xfrm>
            <a:off x="6090574" y="801866"/>
            <a:ext cx="5306084" cy="5230634"/>
          </a:xfrm>
        </p:spPr>
        <p:txBody>
          <a:bodyPr anchor="ctr">
            <a:normAutofit/>
          </a:bodyPr>
          <a:lstStyle/>
          <a:p>
            <a:pPr eaLnBrk="1" hangingPunct="1"/>
            <a:r>
              <a:rPr lang="en-GB" altLang="en-US" sz="2400">
                <a:solidFill>
                  <a:srgbClr val="000000"/>
                </a:solidFill>
              </a:rPr>
              <a:t>Opinions</a:t>
            </a:r>
          </a:p>
          <a:p>
            <a:pPr eaLnBrk="1" hangingPunct="1"/>
            <a:r>
              <a:rPr lang="en-GB" altLang="en-US" sz="2400">
                <a:solidFill>
                  <a:srgbClr val="000000"/>
                </a:solidFill>
              </a:rPr>
              <a:t>Beliefs</a:t>
            </a:r>
          </a:p>
          <a:p>
            <a:pPr eaLnBrk="1" hangingPunct="1"/>
            <a:r>
              <a:rPr lang="en-GB" altLang="en-US" sz="2400">
                <a:solidFill>
                  <a:srgbClr val="000000"/>
                </a:solidFill>
              </a:rPr>
              <a:t>Attitudes</a:t>
            </a:r>
          </a:p>
          <a:p>
            <a:pPr eaLnBrk="1" hangingPunct="1"/>
            <a:r>
              <a:rPr lang="en-GB" altLang="en-US" sz="2400">
                <a:solidFill>
                  <a:srgbClr val="000000"/>
                </a:solidFill>
              </a:rPr>
              <a:t>Values</a:t>
            </a:r>
          </a:p>
          <a:p>
            <a:pPr eaLnBrk="1" hangingPunct="1"/>
            <a:r>
              <a:rPr lang="en-GB" altLang="en-US" sz="2400">
                <a:solidFill>
                  <a:srgbClr val="000000"/>
                </a:solidFill>
              </a:rPr>
              <a:t>Personal myths</a:t>
            </a:r>
          </a:p>
          <a:p>
            <a:pPr eaLnBrk="1" hangingPunct="1"/>
            <a:r>
              <a:rPr lang="en-GB" altLang="en-US" sz="2400">
                <a:solidFill>
                  <a:srgbClr val="000000"/>
                </a:solidFill>
              </a:rPr>
              <a:t>Motivation</a:t>
            </a:r>
          </a:p>
          <a:p>
            <a:pPr eaLnBrk="1" hangingPunct="1"/>
            <a:r>
              <a:rPr lang="en-GB" altLang="en-US" sz="2400">
                <a:solidFill>
                  <a:srgbClr val="000000"/>
                </a:solidFill>
              </a:rPr>
              <a:t>Disposition</a:t>
            </a:r>
            <a:endParaRPr lang="en-US" altLang="en-US" sz="2400">
              <a:solidFill>
                <a:srgbClr val="000000"/>
              </a:solidFill>
            </a:endParaRPr>
          </a:p>
          <a:p>
            <a:endParaRPr lang="en-GB" sz="2400">
              <a:solidFill>
                <a:srgbClr val="000000"/>
              </a:solidFill>
            </a:endParaRPr>
          </a:p>
        </p:txBody>
      </p:sp>
    </p:spTree>
    <p:extLst>
      <p:ext uri="{BB962C8B-B14F-4D97-AF65-F5344CB8AC3E}">
        <p14:creationId xmlns:p14="http://schemas.microsoft.com/office/powerpoint/2010/main" val="11549488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F749217-F1F5-4ABE-B536-614DF25E2C32}"/>
              </a:ext>
            </a:extLst>
          </p:cNvPr>
          <p:cNvSpPr>
            <a:spLocks noGrp="1"/>
          </p:cNvSpPr>
          <p:nvPr>
            <p:ph type="title"/>
          </p:nvPr>
        </p:nvSpPr>
        <p:spPr>
          <a:xfrm>
            <a:off x="640079" y="2053641"/>
            <a:ext cx="3669161" cy="2760098"/>
          </a:xfrm>
        </p:spPr>
        <p:txBody>
          <a:bodyPr>
            <a:normAutofit/>
          </a:bodyPr>
          <a:lstStyle/>
          <a:p>
            <a:r>
              <a:rPr lang="en-GB" sz="4100">
                <a:solidFill>
                  <a:srgbClr val="FFFFFF"/>
                </a:solidFill>
              </a:rPr>
              <a:t>Actors and interpersonal communication</a:t>
            </a:r>
          </a:p>
        </p:txBody>
      </p:sp>
      <p:sp>
        <p:nvSpPr>
          <p:cNvPr id="3" name="Content Placeholder 2">
            <a:extLst>
              <a:ext uri="{FF2B5EF4-FFF2-40B4-BE49-F238E27FC236}">
                <a16:creationId xmlns:a16="http://schemas.microsoft.com/office/drawing/2014/main" id="{035CD5FE-E578-4A75-8354-30419545592F}"/>
              </a:ext>
            </a:extLst>
          </p:cNvPr>
          <p:cNvSpPr>
            <a:spLocks noGrp="1"/>
          </p:cNvSpPr>
          <p:nvPr>
            <p:ph idx="1"/>
          </p:nvPr>
        </p:nvSpPr>
        <p:spPr>
          <a:xfrm>
            <a:off x="6090574" y="801866"/>
            <a:ext cx="5306084" cy="5230634"/>
          </a:xfrm>
        </p:spPr>
        <p:txBody>
          <a:bodyPr anchor="ctr">
            <a:normAutofit/>
          </a:bodyPr>
          <a:lstStyle/>
          <a:p>
            <a:pPr eaLnBrk="1" hangingPunct="1"/>
            <a:r>
              <a:rPr lang="ga-IE" altLang="en-US" sz="2400">
                <a:solidFill>
                  <a:srgbClr val="000000"/>
                </a:solidFill>
              </a:rPr>
              <a:t>Intelligence (g, Gcr, etc.)</a:t>
            </a:r>
          </a:p>
          <a:p>
            <a:pPr eaLnBrk="1" hangingPunct="1"/>
            <a:r>
              <a:rPr lang="en-GB" altLang="en-US" sz="2400">
                <a:solidFill>
                  <a:srgbClr val="000000"/>
                </a:solidFill>
              </a:rPr>
              <a:t>Cognitive style</a:t>
            </a:r>
          </a:p>
          <a:p>
            <a:pPr eaLnBrk="1" hangingPunct="1"/>
            <a:r>
              <a:rPr lang="en-GB" altLang="en-US" sz="2400">
                <a:solidFill>
                  <a:srgbClr val="000000"/>
                </a:solidFill>
              </a:rPr>
              <a:t>Learning style</a:t>
            </a:r>
            <a:r>
              <a:rPr lang="ga-IE" altLang="en-US" sz="2400">
                <a:solidFill>
                  <a:srgbClr val="000000"/>
                </a:solidFill>
              </a:rPr>
              <a:t> – VAK, etc</a:t>
            </a:r>
            <a:endParaRPr lang="en-GB" altLang="en-US" sz="2400">
              <a:solidFill>
                <a:srgbClr val="000000"/>
              </a:solidFill>
            </a:endParaRPr>
          </a:p>
          <a:p>
            <a:pPr eaLnBrk="1" hangingPunct="1"/>
            <a:r>
              <a:rPr lang="en-GB" altLang="en-US" sz="2400">
                <a:solidFill>
                  <a:srgbClr val="000000"/>
                </a:solidFill>
              </a:rPr>
              <a:t>Decision-making skills</a:t>
            </a:r>
          </a:p>
          <a:p>
            <a:pPr eaLnBrk="1" hangingPunct="1"/>
            <a:r>
              <a:rPr lang="en-GB" altLang="en-US" sz="2400">
                <a:solidFill>
                  <a:srgbClr val="000000"/>
                </a:solidFill>
              </a:rPr>
              <a:t>Problem-solving skills</a:t>
            </a:r>
          </a:p>
          <a:p>
            <a:pPr eaLnBrk="1" hangingPunct="1"/>
            <a:r>
              <a:rPr lang="en-GB" altLang="en-US" sz="2400">
                <a:solidFill>
                  <a:srgbClr val="000000"/>
                </a:solidFill>
              </a:rPr>
              <a:t>Socialisation</a:t>
            </a:r>
          </a:p>
          <a:p>
            <a:pPr eaLnBrk="1" hangingPunct="1"/>
            <a:r>
              <a:rPr lang="en-GB" altLang="en-US" sz="2400">
                <a:solidFill>
                  <a:srgbClr val="000000"/>
                </a:solidFill>
              </a:rPr>
              <a:t>Behaviour (aggressive, passive, assertive)</a:t>
            </a:r>
          </a:p>
          <a:p>
            <a:endParaRPr lang="en-GB" sz="2400">
              <a:solidFill>
                <a:srgbClr val="000000"/>
              </a:solidFill>
            </a:endParaRPr>
          </a:p>
        </p:txBody>
      </p:sp>
    </p:spTree>
    <p:extLst>
      <p:ext uri="{BB962C8B-B14F-4D97-AF65-F5344CB8AC3E}">
        <p14:creationId xmlns:p14="http://schemas.microsoft.com/office/powerpoint/2010/main" val="15967030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91DC64C-88DE-4204-8BC8-E1B86FEBB2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6EB5F5B7-2B0B-4DA2-B243-4C57957EF565}"/>
              </a:ext>
            </a:extLst>
          </p:cNvPr>
          <p:cNvPicPr>
            <a:picLocks noGrp="1" noChangeAspect="1"/>
          </p:cNvPicPr>
          <p:nvPr>
            <p:ph idx="1"/>
          </p:nvPr>
        </p:nvPicPr>
        <p:blipFill rotWithShape="1">
          <a:blip r:embed="rId2">
            <a:alphaModFix amt="30000"/>
          </a:blip>
          <a:srcRect t="18301" b="8950"/>
          <a:stretch/>
        </p:blipFill>
        <p:spPr>
          <a:xfrm>
            <a:off x="13373" y="10"/>
            <a:ext cx="12165257" cy="6195062"/>
          </a:xfrm>
          <a:prstGeom prst="rect">
            <a:avLst/>
          </a:prstGeom>
        </p:spPr>
      </p:pic>
      <p:sp>
        <p:nvSpPr>
          <p:cNvPr id="11" name="Graphic 14">
            <a:extLst>
              <a:ext uri="{FF2B5EF4-FFF2-40B4-BE49-F238E27FC236}">
                <a16:creationId xmlns:a16="http://schemas.microsoft.com/office/drawing/2014/main" id="{2CF7CF5F-D747-47B3-80B1-8392750446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flipV="1">
            <a:off x="0" y="-2"/>
            <a:ext cx="2743200" cy="2746621"/>
          </a:xfrm>
          <a:custGeom>
            <a:avLst/>
            <a:gdLst>
              <a:gd name="connsiteX0" fmla="*/ 2616327 w 2616326"/>
              <a:gd name="connsiteY0" fmla="*/ 634841 h 2618803"/>
              <a:gd name="connsiteX1" fmla="*/ 2616327 w 2616326"/>
              <a:gd name="connsiteY1" fmla="*/ 0 h 2618803"/>
              <a:gd name="connsiteX2" fmla="*/ 0 w 2616326"/>
              <a:gd name="connsiteY2" fmla="*/ 0 h 2618803"/>
              <a:gd name="connsiteX3" fmla="*/ 0 w 2616326"/>
              <a:gd name="connsiteY3" fmla="*/ 2618804 h 2618803"/>
              <a:gd name="connsiteX4" fmla="*/ 634270 w 2616326"/>
              <a:gd name="connsiteY4" fmla="*/ 2618804 h 2618803"/>
              <a:gd name="connsiteX5" fmla="*/ 2616327 w 2616326"/>
              <a:gd name="connsiteY5" fmla="*/ 634841 h 2618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6326" h="2618803">
                <a:moveTo>
                  <a:pt x="2616327" y="634841"/>
                </a:moveTo>
                <a:lnTo>
                  <a:pt x="2616327" y="0"/>
                </a:lnTo>
                <a:lnTo>
                  <a:pt x="0" y="0"/>
                </a:lnTo>
                <a:lnTo>
                  <a:pt x="0" y="2618804"/>
                </a:lnTo>
                <a:lnTo>
                  <a:pt x="634270" y="2618804"/>
                </a:lnTo>
                <a:cubicBezTo>
                  <a:pt x="634270" y="1523143"/>
                  <a:pt x="1521619" y="634841"/>
                  <a:pt x="2616327" y="634841"/>
                </a:cubicBezTo>
                <a:close/>
              </a:path>
            </a:pathLst>
          </a:custGeom>
          <a:solidFill>
            <a:schemeClr val="bg1">
              <a:alpha val="70000"/>
            </a:schemeClr>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C5CA21C2-800A-46F0-9AB1-E4C3A5BAD983}"/>
              </a:ext>
            </a:extLst>
          </p:cNvPr>
          <p:cNvSpPr>
            <a:spLocks noGrp="1"/>
          </p:cNvSpPr>
          <p:nvPr>
            <p:ph type="title"/>
          </p:nvPr>
        </p:nvSpPr>
        <p:spPr>
          <a:xfrm>
            <a:off x="1403632" y="914399"/>
            <a:ext cx="9283781" cy="2595563"/>
          </a:xfrm>
        </p:spPr>
        <p:txBody>
          <a:bodyPr vert="horz" lIns="91440" tIns="45720" rIns="91440" bIns="45720" rtlCol="0" anchor="b">
            <a:normAutofit/>
          </a:bodyPr>
          <a:lstStyle/>
          <a:p>
            <a:pPr algn="ctr"/>
            <a:r>
              <a:rPr lang="en-US" sz="5000"/>
              <a:t>Blah blah blah blah</a:t>
            </a:r>
          </a:p>
        </p:txBody>
      </p:sp>
      <p:sp>
        <p:nvSpPr>
          <p:cNvPr id="13" name="Graphic 14">
            <a:extLst>
              <a:ext uri="{FF2B5EF4-FFF2-40B4-BE49-F238E27FC236}">
                <a16:creationId xmlns:a16="http://schemas.microsoft.com/office/drawing/2014/main" id="{820B6604-1FF9-43F5-AC47-3D41CB2F56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448800" y="4111379"/>
            <a:ext cx="2743200" cy="2746621"/>
          </a:xfrm>
          <a:custGeom>
            <a:avLst/>
            <a:gdLst>
              <a:gd name="connsiteX0" fmla="*/ 2616327 w 2616326"/>
              <a:gd name="connsiteY0" fmla="*/ 634841 h 2618803"/>
              <a:gd name="connsiteX1" fmla="*/ 2616327 w 2616326"/>
              <a:gd name="connsiteY1" fmla="*/ 0 h 2618803"/>
              <a:gd name="connsiteX2" fmla="*/ 0 w 2616326"/>
              <a:gd name="connsiteY2" fmla="*/ 0 h 2618803"/>
              <a:gd name="connsiteX3" fmla="*/ 0 w 2616326"/>
              <a:gd name="connsiteY3" fmla="*/ 2618804 h 2618803"/>
              <a:gd name="connsiteX4" fmla="*/ 634270 w 2616326"/>
              <a:gd name="connsiteY4" fmla="*/ 2618804 h 2618803"/>
              <a:gd name="connsiteX5" fmla="*/ 2616327 w 2616326"/>
              <a:gd name="connsiteY5" fmla="*/ 634841 h 2618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6326" h="2618803">
                <a:moveTo>
                  <a:pt x="2616327" y="634841"/>
                </a:moveTo>
                <a:lnTo>
                  <a:pt x="2616327" y="0"/>
                </a:lnTo>
                <a:lnTo>
                  <a:pt x="0" y="0"/>
                </a:lnTo>
                <a:lnTo>
                  <a:pt x="0" y="2618804"/>
                </a:lnTo>
                <a:lnTo>
                  <a:pt x="634270" y="2618804"/>
                </a:lnTo>
                <a:cubicBezTo>
                  <a:pt x="634270" y="1523143"/>
                  <a:pt x="1521619" y="634841"/>
                  <a:pt x="2616327" y="634841"/>
                </a:cubicBezTo>
                <a:close/>
              </a:path>
            </a:pathLst>
          </a:custGeom>
          <a:solidFill>
            <a:schemeClr val="bg1"/>
          </a:solidFill>
          <a:ln w="9525" cap="flat">
            <a:noFill/>
            <a:prstDash val="solid"/>
            <a:miter/>
          </a:ln>
        </p:spPr>
        <p:txBody>
          <a:bodyPr rtlCol="0" anchor="ctr"/>
          <a:lstStyle/>
          <a:p>
            <a:endParaRPr lang="en-US"/>
          </a:p>
        </p:txBody>
      </p:sp>
      <p:sp>
        <p:nvSpPr>
          <p:cNvPr id="15" name="Rectangle 14">
            <a:extLst>
              <a:ext uri="{FF2B5EF4-FFF2-40B4-BE49-F238E27FC236}">
                <a16:creationId xmlns:a16="http://schemas.microsoft.com/office/drawing/2014/main" id="{5912B5B1-BC40-4CD1-8541-549C583431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785" y="685797"/>
            <a:ext cx="118872" cy="15504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Graphic 14">
            <a:extLst>
              <a:ext uri="{FF2B5EF4-FFF2-40B4-BE49-F238E27FC236}">
                <a16:creationId xmlns:a16="http://schemas.microsoft.com/office/drawing/2014/main" id="{CE1108CD-786E-4304-9504-9C5AD64829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9448800" y="-1"/>
            <a:ext cx="2743200" cy="2746621"/>
          </a:xfrm>
          <a:custGeom>
            <a:avLst/>
            <a:gdLst>
              <a:gd name="connsiteX0" fmla="*/ 2616327 w 2616326"/>
              <a:gd name="connsiteY0" fmla="*/ 634841 h 2618803"/>
              <a:gd name="connsiteX1" fmla="*/ 2616327 w 2616326"/>
              <a:gd name="connsiteY1" fmla="*/ 0 h 2618803"/>
              <a:gd name="connsiteX2" fmla="*/ 0 w 2616326"/>
              <a:gd name="connsiteY2" fmla="*/ 0 h 2618803"/>
              <a:gd name="connsiteX3" fmla="*/ 0 w 2616326"/>
              <a:gd name="connsiteY3" fmla="*/ 2618804 h 2618803"/>
              <a:gd name="connsiteX4" fmla="*/ 634270 w 2616326"/>
              <a:gd name="connsiteY4" fmla="*/ 2618804 h 2618803"/>
              <a:gd name="connsiteX5" fmla="*/ 2616327 w 2616326"/>
              <a:gd name="connsiteY5" fmla="*/ 634841 h 2618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6326" h="2618803">
                <a:moveTo>
                  <a:pt x="2616327" y="634841"/>
                </a:moveTo>
                <a:lnTo>
                  <a:pt x="2616327" y="0"/>
                </a:lnTo>
                <a:lnTo>
                  <a:pt x="0" y="0"/>
                </a:lnTo>
                <a:lnTo>
                  <a:pt x="0" y="2618804"/>
                </a:lnTo>
                <a:lnTo>
                  <a:pt x="634270" y="2618804"/>
                </a:lnTo>
                <a:cubicBezTo>
                  <a:pt x="634270" y="1523143"/>
                  <a:pt x="1521619" y="634841"/>
                  <a:pt x="2616327" y="634841"/>
                </a:cubicBezTo>
                <a:close/>
              </a:path>
            </a:pathLst>
          </a:custGeom>
          <a:solidFill>
            <a:schemeClr val="bg1">
              <a:alpha val="70000"/>
            </a:schemeClr>
          </a:solidFill>
          <a:ln w="9525" cap="flat">
            <a:noFill/>
            <a:prstDash val="solid"/>
            <a:miter/>
          </a:ln>
        </p:spPr>
        <p:txBody>
          <a:bodyPr rtlCol="0" anchor="ctr"/>
          <a:lstStyle/>
          <a:p>
            <a:endParaRPr lang="en-US"/>
          </a:p>
        </p:txBody>
      </p:sp>
      <p:sp>
        <p:nvSpPr>
          <p:cNvPr id="19" name="Rectangle 18">
            <a:extLst>
              <a:ext uri="{FF2B5EF4-FFF2-40B4-BE49-F238E27FC236}">
                <a16:creationId xmlns:a16="http://schemas.microsoft.com/office/drawing/2014/main" id="{E252BF65-A104-4DD3-8D54-285294DCC0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73128" y="6172201"/>
            <a:ext cx="118872"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84051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09B9FE7-D9AE-4C39-9FBB-8745E8DC5839}"/>
              </a:ext>
            </a:extLst>
          </p:cNvPr>
          <p:cNvSpPr>
            <a:spLocks noGrp="1"/>
          </p:cNvSpPr>
          <p:nvPr>
            <p:ph type="title"/>
          </p:nvPr>
        </p:nvSpPr>
        <p:spPr>
          <a:xfrm>
            <a:off x="640079" y="2053641"/>
            <a:ext cx="3669161" cy="2760098"/>
          </a:xfrm>
        </p:spPr>
        <p:txBody>
          <a:bodyPr>
            <a:normAutofit/>
          </a:bodyPr>
          <a:lstStyle/>
          <a:p>
            <a:r>
              <a:rPr lang="en-GB" sz="3100">
                <a:solidFill>
                  <a:srgbClr val="FFFFFF"/>
                </a:solidFill>
              </a:rPr>
              <a:t>Physical Appearance- the body as NVC</a:t>
            </a:r>
            <a:br>
              <a:rPr lang="en-GB" sz="3100">
                <a:solidFill>
                  <a:srgbClr val="FFFFFF"/>
                </a:solidFill>
              </a:rPr>
            </a:br>
            <a:r>
              <a:rPr lang="en-GB" sz="3100">
                <a:solidFill>
                  <a:srgbClr val="FFFFFF"/>
                </a:solidFill>
              </a:rPr>
              <a:t>How can physical appearance affect interactions with others?</a:t>
            </a:r>
          </a:p>
        </p:txBody>
      </p:sp>
      <p:sp>
        <p:nvSpPr>
          <p:cNvPr id="3" name="Content Placeholder 2">
            <a:extLst>
              <a:ext uri="{FF2B5EF4-FFF2-40B4-BE49-F238E27FC236}">
                <a16:creationId xmlns:a16="http://schemas.microsoft.com/office/drawing/2014/main" id="{2693414C-FC56-44DF-832F-7AF09A388D8A}"/>
              </a:ext>
            </a:extLst>
          </p:cNvPr>
          <p:cNvSpPr>
            <a:spLocks noGrp="1"/>
          </p:cNvSpPr>
          <p:nvPr>
            <p:ph idx="1"/>
          </p:nvPr>
        </p:nvSpPr>
        <p:spPr>
          <a:xfrm>
            <a:off x="6090574" y="801866"/>
            <a:ext cx="5306084" cy="5230634"/>
          </a:xfrm>
        </p:spPr>
        <p:txBody>
          <a:bodyPr anchor="ctr">
            <a:normAutofit/>
          </a:bodyPr>
          <a:lstStyle/>
          <a:p>
            <a:r>
              <a:rPr lang="en-GB" sz="2400">
                <a:solidFill>
                  <a:srgbClr val="000000"/>
                </a:solidFill>
              </a:rPr>
              <a:t>Physical appearance as NVC code</a:t>
            </a:r>
          </a:p>
          <a:p>
            <a:r>
              <a:rPr lang="en-GB" sz="2400">
                <a:solidFill>
                  <a:srgbClr val="000000"/>
                </a:solidFill>
              </a:rPr>
              <a:t>Physical attractiveness- impact on culture and interpersonal comms</a:t>
            </a:r>
          </a:p>
          <a:p>
            <a:r>
              <a:rPr lang="en-GB" sz="2400">
                <a:solidFill>
                  <a:srgbClr val="000000"/>
                </a:solidFill>
              </a:rPr>
              <a:t>The Body</a:t>
            </a:r>
          </a:p>
          <a:p>
            <a:r>
              <a:rPr lang="en-GB" sz="2400">
                <a:solidFill>
                  <a:srgbClr val="000000"/>
                </a:solidFill>
              </a:rPr>
              <a:t>Body type and shape, weight, height and status, the disabled (differently-abled) body, skin colour, body smell/odour, hirsuteness</a:t>
            </a:r>
          </a:p>
          <a:p>
            <a:r>
              <a:rPr lang="en-GB" sz="2400">
                <a:solidFill>
                  <a:srgbClr val="000000"/>
                </a:solidFill>
              </a:rPr>
              <a:t>Clothing – personality and culture</a:t>
            </a:r>
          </a:p>
          <a:p>
            <a:r>
              <a:rPr lang="en-GB" sz="2400">
                <a:solidFill>
                  <a:srgbClr val="000000"/>
                </a:solidFill>
              </a:rPr>
              <a:t>Artifacts-Jewelry, eyeglasses makeup (cosmetics)</a:t>
            </a:r>
          </a:p>
          <a:p>
            <a:r>
              <a:rPr lang="en-GB" sz="2400">
                <a:solidFill>
                  <a:srgbClr val="000000"/>
                </a:solidFill>
              </a:rPr>
              <a:t>Body modification – piercings, tattoos, cosmetic procedures</a:t>
            </a:r>
          </a:p>
        </p:txBody>
      </p:sp>
    </p:spTree>
    <p:extLst>
      <p:ext uri="{BB962C8B-B14F-4D97-AF65-F5344CB8AC3E}">
        <p14:creationId xmlns:p14="http://schemas.microsoft.com/office/powerpoint/2010/main" val="28136957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4426AB7-D619-4515-962A-BC83909EC0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F4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0">
            <a:extLst>
              <a:ext uri="{FF2B5EF4-FFF2-40B4-BE49-F238E27FC236}">
                <a16:creationId xmlns:a16="http://schemas.microsoft.com/office/drawing/2014/main" id="{DE47DF98-723F-4AAC-ABCF-CACBC438F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3840" y="256540"/>
            <a:ext cx="11704320" cy="6365239"/>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sp>
      <p:cxnSp>
        <p:nvCxnSpPr>
          <p:cNvPr id="13" name="Straight Connector 12">
            <a:extLst>
              <a:ext uri="{FF2B5EF4-FFF2-40B4-BE49-F238E27FC236}">
                <a16:creationId xmlns:a16="http://schemas.microsoft.com/office/drawing/2014/main" id="{EA29FC7C-9308-4FDE-8DCA-405668055B0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895600" y="5768204"/>
            <a:ext cx="6400800" cy="0"/>
          </a:xfrm>
          <a:prstGeom prst="line">
            <a:avLst/>
          </a:prstGeom>
          <a:ln>
            <a:solidFill>
              <a:srgbClr val="4F4E39"/>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30DBB67-8B5A-4D05-A965-3CB252894A0A}"/>
              </a:ext>
            </a:extLst>
          </p:cNvPr>
          <p:cNvSpPr>
            <a:spLocks noGrp="1"/>
          </p:cNvSpPr>
          <p:nvPr>
            <p:ph type="title"/>
          </p:nvPr>
        </p:nvSpPr>
        <p:spPr>
          <a:xfrm>
            <a:off x="1109980" y="4277356"/>
            <a:ext cx="9966960" cy="1560320"/>
          </a:xfrm>
        </p:spPr>
        <p:txBody>
          <a:bodyPr vert="horz" lIns="91440" tIns="45720" rIns="91440" bIns="45720" rtlCol="0" anchor="b">
            <a:normAutofit/>
          </a:bodyPr>
          <a:lstStyle/>
          <a:p>
            <a:pPr algn="ctr"/>
            <a:r>
              <a:rPr lang="en-US" sz="5800" dirty="0">
                <a:solidFill>
                  <a:srgbClr val="4F4E39"/>
                </a:solidFill>
              </a:rPr>
              <a:t>Physical Appearance</a:t>
            </a:r>
          </a:p>
        </p:txBody>
      </p:sp>
      <p:pic>
        <p:nvPicPr>
          <p:cNvPr id="4" name="Content Placeholder 3">
            <a:extLst>
              <a:ext uri="{FF2B5EF4-FFF2-40B4-BE49-F238E27FC236}">
                <a16:creationId xmlns:a16="http://schemas.microsoft.com/office/drawing/2014/main" id="{7466C90D-36DE-4D21-A02D-475EBBEEC1D5}"/>
              </a:ext>
            </a:extLst>
          </p:cNvPr>
          <p:cNvPicPr>
            <a:picLocks noGrp="1" noChangeAspect="1"/>
          </p:cNvPicPr>
          <p:nvPr>
            <p:ph idx="1"/>
          </p:nvPr>
        </p:nvPicPr>
        <p:blipFill rotWithShape="1">
          <a:blip r:embed="rId2"/>
          <a:srcRect r="1" b="11279"/>
          <a:stretch/>
        </p:blipFill>
        <p:spPr>
          <a:xfrm>
            <a:off x="243840" y="256540"/>
            <a:ext cx="11704320" cy="3764276"/>
          </a:xfrm>
          <a:prstGeom prst="rect">
            <a:avLst/>
          </a:prstGeom>
        </p:spPr>
      </p:pic>
    </p:spTree>
    <p:extLst>
      <p:ext uri="{BB962C8B-B14F-4D97-AF65-F5344CB8AC3E}">
        <p14:creationId xmlns:p14="http://schemas.microsoft.com/office/powerpoint/2010/main" val="20184078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a:extLst>
              <a:ext uri="{FF2B5EF4-FFF2-40B4-BE49-F238E27FC236}">
                <a16:creationId xmlns:a16="http://schemas.microsoft.com/office/drawing/2014/main" id="{54FF2872-1702-4237-A769-F9C5E6832528}"/>
              </a:ext>
            </a:extLst>
          </p:cNvPr>
          <p:cNvPicPr>
            <a:picLocks noGrp="1" noChangeAspect="1"/>
          </p:cNvPicPr>
          <p:nvPr>
            <p:ph idx="1"/>
          </p:nvPr>
        </p:nvPicPr>
        <p:blipFill rotWithShape="1">
          <a:blip r:embed="rId2"/>
          <a:srcRect l="1760"/>
          <a:stretch/>
        </p:blipFill>
        <p:spPr>
          <a:xfrm>
            <a:off x="20" y="1282"/>
            <a:ext cx="12191980" cy="6856718"/>
          </a:xfrm>
          <a:prstGeom prst="rect">
            <a:avLst/>
          </a:prstGeom>
        </p:spPr>
      </p:pic>
    </p:spTree>
    <p:extLst>
      <p:ext uri="{BB962C8B-B14F-4D97-AF65-F5344CB8AC3E}">
        <p14:creationId xmlns:p14="http://schemas.microsoft.com/office/powerpoint/2010/main" val="647000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2705008-2547-4AC5-A878-A846CAF3C060}"/>
              </a:ext>
            </a:extLst>
          </p:cNvPr>
          <p:cNvSpPr>
            <a:spLocks noGrp="1"/>
          </p:cNvSpPr>
          <p:nvPr>
            <p:ph type="title"/>
          </p:nvPr>
        </p:nvSpPr>
        <p:spPr>
          <a:xfrm>
            <a:off x="640079" y="2053641"/>
            <a:ext cx="3669161" cy="2760098"/>
          </a:xfrm>
        </p:spPr>
        <p:txBody>
          <a:bodyPr>
            <a:normAutofit/>
          </a:bodyPr>
          <a:lstStyle/>
          <a:p>
            <a:r>
              <a:rPr lang="en-GB">
                <a:solidFill>
                  <a:srgbClr val="FFFFFF"/>
                </a:solidFill>
              </a:rPr>
              <a:t>Age- ageing</a:t>
            </a:r>
            <a:br>
              <a:rPr lang="en-GB">
                <a:solidFill>
                  <a:srgbClr val="FFFFFF"/>
                </a:solidFill>
              </a:rPr>
            </a:br>
            <a:r>
              <a:rPr lang="en-GB">
                <a:solidFill>
                  <a:srgbClr val="FFFFFF"/>
                </a:solidFill>
              </a:rPr>
              <a:t>From youth to old age </a:t>
            </a:r>
          </a:p>
        </p:txBody>
      </p:sp>
      <p:sp>
        <p:nvSpPr>
          <p:cNvPr id="13" name="Content Placeholder 2">
            <a:extLst>
              <a:ext uri="{FF2B5EF4-FFF2-40B4-BE49-F238E27FC236}">
                <a16:creationId xmlns:a16="http://schemas.microsoft.com/office/drawing/2014/main" id="{A460B90C-484E-4AF0-BC3D-B678AD5D3733}"/>
              </a:ext>
            </a:extLst>
          </p:cNvPr>
          <p:cNvSpPr>
            <a:spLocks noGrp="1"/>
          </p:cNvSpPr>
          <p:nvPr>
            <p:ph idx="1"/>
          </p:nvPr>
        </p:nvSpPr>
        <p:spPr>
          <a:xfrm>
            <a:off x="6090574" y="801866"/>
            <a:ext cx="5306084" cy="5230634"/>
          </a:xfrm>
        </p:spPr>
        <p:txBody>
          <a:bodyPr anchor="ctr">
            <a:normAutofit/>
          </a:bodyPr>
          <a:lstStyle/>
          <a:p>
            <a:r>
              <a:rPr lang="en-GB" sz="2000" i="1">
                <a:solidFill>
                  <a:srgbClr val="000000"/>
                </a:solidFill>
              </a:rPr>
              <a:t>Age</a:t>
            </a:r>
          </a:p>
          <a:p>
            <a:r>
              <a:rPr lang="en-GB" sz="2000" i="1">
                <a:solidFill>
                  <a:srgbClr val="000000"/>
                </a:solidFill>
              </a:rPr>
              <a:t>Childhood, adolescence, young adulthood, middle age and old age</a:t>
            </a:r>
          </a:p>
          <a:p>
            <a:pPr rtl="0"/>
            <a:r>
              <a:rPr lang="en-GB" sz="2000" b="0" i="1" strike="noStrike">
                <a:solidFill>
                  <a:srgbClr val="000000"/>
                </a:solidFill>
                <a:effectLst/>
                <a:hlinkClick r:id="rId3">
                  <a:extLst>
                    <a:ext uri="{A12FA001-AC4F-418D-AE19-62706E023703}">
                      <ahyp:hlinkClr xmlns:ahyp="http://schemas.microsoft.com/office/drawing/2018/hyperlinkcolor" val="tx"/>
                    </a:ext>
                  </a:extLst>
                </a:hlinkClick>
              </a:rPr>
              <a:t>How does age affect communication? What are needs of people as they grow older?</a:t>
            </a:r>
          </a:p>
          <a:p>
            <a:pPr rtl="0"/>
            <a:r>
              <a:rPr lang="en-GB" sz="2000" b="0" i="1" strike="noStrike">
                <a:solidFill>
                  <a:srgbClr val="000000"/>
                </a:solidFill>
                <a:effectLst/>
                <a:hlinkClick r:id="rId4">
                  <a:extLst>
                    <a:ext uri="{A12FA001-AC4F-418D-AE19-62706E023703}">
                      <ahyp:hlinkClr xmlns:ahyp="http://schemas.microsoft.com/office/drawing/2018/hyperlinkcolor" val="tx"/>
                    </a:ext>
                  </a:extLst>
                </a:hlinkClick>
              </a:rPr>
              <a:t>How do age differences be a barrier to communication?</a:t>
            </a:r>
          </a:p>
          <a:p>
            <a:pPr rtl="0"/>
            <a:r>
              <a:rPr lang="en-GB" sz="2000" b="0" i="1" strike="noStrike">
                <a:solidFill>
                  <a:srgbClr val="000000"/>
                </a:solidFill>
                <a:effectLst/>
                <a:hlinkClick r:id="rId5">
                  <a:extLst>
                    <a:ext uri="{A12FA001-AC4F-418D-AE19-62706E023703}">
                      <ahyp:hlinkClr xmlns:ahyp="http://schemas.microsoft.com/office/drawing/2018/hyperlinkcolor" val="tx"/>
                    </a:ext>
                  </a:extLst>
                </a:hlinkClick>
              </a:rPr>
              <a:t>Why is age connected to communication?</a:t>
            </a:r>
          </a:p>
          <a:p>
            <a:pPr rtl="0"/>
            <a:r>
              <a:rPr lang="en-GB" sz="2000" b="0" i="1" strike="noStrike">
                <a:solidFill>
                  <a:srgbClr val="000000"/>
                </a:solidFill>
                <a:effectLst/>
                <a:hlinkClick r:id="rId6">
                  <a:extLst>
                    <a:ext uri="{A12FA001-AC4F-418D-AE19-62706E023703}">
                      <ahyp:hlinkClr xmlns:ahyp="http://schemas.microsoft.com/office/drawing/2018/hyperlinkcolor" val="tx"/>
                    </a:ext>
                  </a:extLst>
                </a:hlinkClick>
              </a:rPr>
              <a:t>What is the influence of age to communication?</a:t>
            </a:r>
          </a:p>
          <a:p>
            <a:pPr rtl="0"/>
            <a:r>
              <a:rPr lang="en-GB" sz="2000" b="0" i="1" strike="noStrike">
                <a:solidFill>
                  <a:srgbClr val="000000"/>
                </a:solidFill>
                <a:effectLst/>
                <a:hlinkClick r:id="rId7">
                  <a:extLst>
                    <a:ext uri="{A12FA001-AC4F-418D-AE19-62706E023703}">
                      <ahyp:hlinkClr xmlns:ahyp="http://schemas.microsoft.com/office/drawing/2018/hyperlinkcolor" val="tx"/>
                    </a:ext>
                  </a:extLst>
                </a:hlinkClick>
              </a:rPr>
              <a:t>How do I overcome an age difference communication barrier?</a:t>
            </a:r>
          </a:p>
          <a:p>
            <a:pPr rtl="0"/>
            <a:r>
              <a:rPr lang="en-GB" sz="2000" b="0" i="1" strike="noStrike">
                <a:solidFill>
                  <a:srgbClr val="000000"/>
                </a:solidFill>
                <a:effectLst/>
                <a:hlinkClick r:id="rId8">
                  <a:extLst>
                    <a:ext uri="{A12FA001-AC4F-418D-AE19-62706E023703}">
                      <ahyp:hlinkClr xmlns:ahyp="http://schemas.microsoft.com/office/drawing/2018/hyperlinkcolor" val="tx"/>
                    </a:ext>
                  </a:extLst>
                </a:hlinkClick>
              </a:rPr>
              <a:t>Is age a communication barrier between teachers and students? If yes, what can be the reasons, and how can we overcome them?</a:t>
            </a:r>
          </a:p>
          <a:p>
            <a:endParaRPr lang="en-GB" sz="2000">
              <a:solidFill>
                <a:srgbClr val="000000"/>
              </a:solidFill>
            </a:endParaRPr>
          </a:p>
        </p:txBody>
      </p:sp>
    </p:spTree>
    <p:extLst>
      <p:ext uri="{BB962C8B-B14F-4D97-AF65-F5344CB8AC3E}">
        <p14:creationId xmlns:p14="http://schemas.microsoft.com/office/powerpoint/2010/main" val="11383756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C1C5D47-C571-4614-A4CB-76C12633B95A}"/>
              </a:ext>
            </a:extLst>
          </p:cNvPr>
          <p:cNvSpPr>
            <a:spLocks noGrp="1"/>
          </p:cNvSpPr>
          <p:nvPr>
            <p:ph type="title"/>
          </p:nvPr>
        </p:nvSpPr>
        <p:spPr>
          <a:xfrm>
            <a:off x="640079" y="2053641"/>
            <a:ext cx="3669161" cy="2760098"/>
          </a:xfrm>
        </p:spPr>
        <p:txBody>
          <a:bodyPr>
            <a:normAutofit/>
          </a:bodyPr>
          <a:lstStyle/>
          <a:p>
            <a:r>
              <a:rPr lang="en-GB">
                <a:solidFill>
                  <a:srgbClr val="FFFFFF"/>
                </a:solidFill>
              </a:rPr>
              <a:t>Gender</a:t>
            </a:r>
          </a:p>
        </p:txBody>
      </p:sp>
      <p:sp>
        <p:nvSpPr>
          <p:cNvPr id="3" name="Content Placeholder 2">
            <a:extLst>
              <a:ext uri="{FF2B5EF4-FFF2-40B4-BE49-F238E27FC236}">
                <a16:creationId xmlns:a16="http://schemas.microsoft.com/office/drawing/2014/main" id="{FC8855E8-65A9-4BFB-B277-9F33A77E87A6}"/>
              </a:ext>
            </a:extLst>
          </p:cNvPr>
          <p:cNvSpPr>
            <a:spLocks noGrp="1"/>
          </p:cNvSpPr>
          <p:nvPr>
            <p:ph idx="1"/>
          </p:nvPr>
        </p:nvSpPr>
        <p:spPr>
          <a:xfrm>
            <a:off x="6090574" y="801866"/>
            <a:ext cx="5306084" cy="5230634"/>
          </a:xfrm>
        </p:spPr>
        <p:txBody>
          <a:bodyPr anchor="ctr">
            <a:normAutofit/>
          </a:bodyPr>
          <a:lstStyle/>
          <a:p>
            <a:r>
              <a:rPr lang="en-GB" sz="2000" b="0" i="0">
                <a:solidFill>
                  <a:srgbClr val="000000"/>
                </a:solidFill>
                <a:effectLst/>
                <a:latin typeface="Calibri" panose="020F0502020204030204" pitchFamily="34" charset="0"/>
                <a:cs typeface="Calibri" panose="020F0502020204030204" pitchFamily="34" charset="0"/>
              </a:rPr>
              <a:t>Gender typically refers to the characteristics of women, men, girls and boys that are socially constructed.  This includes norms, behaviours and roles associated with being a woman, man, girl or boy, as well as relationships with each other. As a social construct, gender varies from society to society and can change over time</a:t>
            </a:r>
            <a:r>
              <a:rPr lang="en-GB" sz="2000" b="0" i="0">
                <a:solidFill>
                  <a:srgbClr val="000000"/>
                </a:solidFill>
                <a:effectLst/>
                <a:latin typeface="Arial" panose="020B0604020202020204" pitchFamily="34" charset="0"/>
              </a:rPr>
              <a:t>.</a:t>
            </a:r>
          </a:p>
          <a:p>
            <a:r>
              <a:rPr lang="en-GB" sz="2000" b="0" i="0">
                <a:solidFill>
                  <a:srgbClr val="000000"/>
                </a:solidFill>
                <a:effectLst/>
              </a:rPr>
              <a:t>Gender is prototypically hierarchical and engenders inequalities that intersect with other social and economic inequalities.  Gender-based discrimination intersects with other factors of discrimination, such as ethnicity, socioeconomic status, disability, age, geographic location, gender identity and sexual orientation, among others</a:t>
            </a:r>
            <a:r>
              <a:rPr lang="en-GB" sz="2000" b="0" i="0">
                <a:solidFill>
                  <a:srgbClr val="000000"/>
                </a:solidFill>
                <a:effectLst/>
                <a:latin typeface="Arial" panose="020B0604020202020204" pitchFamily="34" charset="0"/>
              </a:rPr>
              <a:t>. </a:t>
            </a:r>
          </a:p>
          <a:p>
            <a:endParaRPr lang="en-GB" sz="2000">
              <a:solidFill>
                <a:srgbClr val="000000"/>
              </a:solidFill>
            </a:endParaRPr>
          </a:p>
        </p:txBody>
      </p:sp>
    </p:spTree>
    <p:extLst>
      <p:ext uri="{BB962C8B-B14F-4D97-AF65-F5344CB8AC3E}">
        <p14:creationId xmlns:p14="http://schemas.microsoft.com/office/powerpoint/2010/main" val="1258049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4DEB9C2-4404-4134-AC3C-E536891FFD10}"/>
              </a:ext>
            </a:extLst>
          </p:cNvPr>
          <p:cNvSpPr>
            <a:spLocks noGrp="1"/>
          </p:cNvSpPr>
          <p:nvPr>
            <p:ph type="title"/>
          </p:nvPr>
        </p:nvSpPr>
        <p:spPr>
          <a:xfrm>
            <a:off x="640079" y="2053641"/>
            <a:ext cx="3669161" cy="2760098"/>
          </a:xfrm>
        </p:spPr>
        <p:txBody>
          <a:bodyPr>
            <a:normAutofit/>
          </a:bodyPr>
          <a:lstStyle/>
          <a:p>
            <a:r>
              <a:rPr lang="en-GB">
                <a:solidFill>
                  <a:srgbClr val="FFFFFF"/>
                </a:solidFill>
              </a:rPr>
              <a:t>Gender</a:t>
            </a:r>
          </a:p>
        </p:txBody>
      </p:sp>
      <p:sp>
        <p:nvSpPr>
          <p:cNvPr id="3" name="Content Placeholder 2">
            <a:extLst>
              <a:ext uri="{FF2B5EF4-FFF2-40B4-BE49-F238E27FC236}">
                <a16:creationId xmlns:a16="http://schemas.microsoft.com/office/drawing/2014/main" id="{D17DBB3E-C5BA-4138-B8F8-8C4439B8F79A}"/>
              </a:ext>
            </a:extLst>
          </p:cNvPr>
          <p:cNvSpPr>
            <a:spLocks noGrp="1"/>
          </p:cNvSpPr>
          <p:nvPr>
            <p:ph idx="1"/>
          </p:nvPr>
        </p:nvSpPr>
        <p:spPr>
          <a:xfrm>
            <a:off x="6090574" y="801866"/>
            <a:ext cx="5306084" cy="5230634"/>
          </a:xfrm>
        </p:spPr>
        <p:txBody>
          <a:bodyPr anchor="ctr">
            <a:normAutofit/>
          </a:bodyPr>
          <a:lstStyle/>
          <a:p>
            <a:r>
              <a:rPr lang="en-GB" sz="1700" b="0" i="0">
                <a:solidFill>
                  <a:srgbClr val="000000"/>
                </a:solidFill>
                <a:effectLst/>
              </a:rPr>
              <a:t>Gender interacts with but is different from sex, which refers to the different biological and physiological characteristics of females, males and intersex persons, such as chromosomes, hormones and reproductive organs. </a:t>
            </a:r>
          </a:p>
          <a:p>
            <a:r>
              <a:rPr lang="en-GB" sz="1700" b="0" i="0">
                <a:solidFill>
                  <a:srgbClr val="000000"/>
                </a:solidFill>
                <a:effectLst/>
              </a:rPr>
              <a:t>Gender and sex are related to but different from gender identity. Gender identity refers to a person’s deeply felt, internal and individual experience of gender, which may or may not correspond to the person’s physiology or designated sex at birth.</a:t>
            </a:r>
            <a:br>
              <a:rPr lang="en-GB" sz="1700" b="0" i="0">
                <a:solidFill>
                  <a:srgbClr val="000000"/>
                </a:solidFill>
                <a:effectLst/>
              </a:rPr>
            </a:br>
            <a:endParaRPr lang="en-GB" sz="1700" b="0" i="0">
              <a:solidFill>
                <a:srgbClr val="000000"/>
              </a:solidFill>
              <a:effectLst/>
            </a:endParaRPr>
          </a:p>
          <a:p>
            <a:r>
              <a:rPr lang="en-GB" sz="1700" b="0" i="0">
                <a:solidFill>
                  <a:srgbClr val="000000"/>
                </a:solidFill>
                <a:effectLst/>
              </a:rPr>
              <a:t>Gender influences people’s experience of and access to many domains including for example healthcare. The way that health services are organized and provided can either limit or enable a person’s access to healthcare information, support and services, and the outcome of those encounters. Health services should be affordable, accessible and acceptable to all, and they should be provided with quality, equity and dignity.</a:t>
            </a:r>
            <a:br>
              <a:rPr lang="en-GB" sz="1700" b="0" i="0">
                <a:solidFill>
                  <a:srgbClr val="000000"/>
                </a:solidFill>
                <a:effectLst/>
              </a:rPr>
            </a:br>
            <a:endParaRPr lang="en-GB" sz="1700" b="0" i="0">
              <a:solidFill>
                <a:srgbClr val="000000"/>
              </a:solidFill>
              <a:effectLst/>
            </a:endParaRPr>
          </a:p>
          <a:p>
            <a:endParaRPr lang="en-GB" sz="1700">
              <a:solidFill>
                <a:srgbClr val="000000"/>
              </a:solidFill>
            </a:endParaRPr>
          </a:p>
        </p:txBody>
      </p:sp>
    </p:spTree>
    <p:extLst>
      <p:ext uri="{BB962C8B-B14F-4D97-AF65-F5344CB8AC3E}">
        <p14:creationId xmlns:p14="http://schemas.microsoft.com/office/powerpoint/2010/main" val="9867670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829783-912D-44DF-A08F-085CC81A7A34}"/>
              </a:ext>
            </a:extLst>
          </p:cNvPr>
          <p:cNvSpPr>
            <a:spLocks noGrp="1"/>
          </p:cNvSpPr>
          <p:nvPr>
            <p:ph type="title"/>
          </p:nvPr>
        </p:nvSpPr>
        <p:spPr>
          <a:xfrm>
            <a:off x="640079" y="2053641"/>
            <a:ext cx="3669161" cy="2760098"/>
          </a:xfrm>
        </p:spPr>
        <p:txBody>
          <a:bodyPr>
            <a:normAutofit/>
          </a:bodyPr>
          <a:lstStyle/>
          <a:p>
            <a:r>
              <a:rPr lang="en-GB">
                <a:solidFill>
                  <a:srgbClr val="FFFFFF"/>
                </a:solidFill>
              </a:rPr>
              <a:t>Gender</a:t>
            </a:r>
          </a:p>
        </p:txBody>
      </p:sp>
      <p:sp>
        <p:nvSpPr>
          <p:cNvPr id="3" name="Content Placeholder 2">
            <a:extLst>
              <a:ext uri="{FF2B5EF4-FFF2-40B4-BE49-F238E27FC236}">
                <a16:creationId xmlns:a16="http://schemas.microsoft.com/office/drawing/2014/main" id="{C58C16E0-ED4F-4B19-A205-8B3E5CCDDFE2}"/>
              </a:ext>
            </a:extLst>
          </p:cNvPr>
          <p:cNvSpPr>
            <a:spLocks noGrp="1"/>
          </p:cNvSpPr>
          <p:nvPr>
            <p:ph idx="1"/>
          </p:nvPr>
        </p:nvSpPr>
        <p:spPr>
          <a:xfrm>
            <a:off x="6090574" y="801866"/>
            <a:ext cx="5306084" cy="5230634"/>
          </a:xfrm>
        </p:spPr>
        <p:txBody>
          <a:bodyPr anchor="ctr">
            <a:normAutofit/>
          </a:bodyPr>
          <a:lstStyle/>
          <a:p>
            <a:r>
              <a:rPr lang="en-GB" sz="2000" b="0" i="0">
                <a:solidFill>
                  <a:srgbClr val="000000"/>
                </a:solidFill>
                <a:effectLst/>
              </a:rPr>
              <a:t>Gender inequality and discrimination faced by women and girls puts their health and well-being at risk.  Women and girls often face greater barriers than men and boys to accessing health information and services. These barriers include restrictions on mobility; lack of access to decision-making power; lower literacy rates; discriminatory attitudes of communities and healthcare providers; and lack of training and awareness amongst healthcare providers and health systems of the specific health needs and challenges of women and girls.</a:t>
            </a:r>
          </a:p>
          <a:p>
            <a:r>
              <a:rPr lang="en-GB" sz="2000" b="0" i="0">
                <a:solidFill>
                  <a:srgbClr val="000000"/>
                </a:solidFill>
                <a:effectLst/>
              </a:rPr>
              <a:t>Harmful gender norms – especially those related to rigid notions of masculinity – can also affect boys and men’s health and wellbeing negatively</a:t>
            </a:r>
          </a:p>
          <a:p>
            <a:endParaRPr lang="en-GB" sz="2000">
              <a:solidFill>
                <a:srgbClr val="000000"/>
              </a:solidFill>
            </a:endParaRPr>
          </a:p>
        </p:txBody>
      </p:sp>
    </p:spTree>
    <p:extLst>
      <p:ext uri="{BB962C8B-B14F-4D97-AF65-F5344CB8AC3E}">
        <p14:creationId xmlns:p14="http://schemas.microsoft.com/office/powerpoint/2010/main" val="32435811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A20DF-946B-4EC3-B89D-9D4AA89BEEA3}"/>
              </a:ext>
            </a:extLst>
          </p:cNvPr>
          <p:cNvSpPr>
            <a:spLocks noGrp="1"/>
          </p:cNvSpPr>
          <p:nvPr>
            <p:ph type="title"/>
          </p:nvPr>
        </p:nvSpPr>
        <p:spPr/>
        <p:txBody>
          <a:bodyPr/>
          <a:lstStyle/>
          <a:p>
            <a:pPr algn="ctr"/>
            <a:r>
              <a:rPr lang="en-GB" dirty="0"/>
              <a:t>Social Class – Socio-economic status</a:t>
            </a:r>
          </a:p>
        </p:txBody>
      </p:sp>
      <p:sp>
        <p:nvSpPr>
          <p:cNvPr id="3" name="Content Placeholder 2">
            <a:extLst>
              <a:ext uri="{FF2B5EF4-FFF2-40B4-BE49-F238E27FC236}">
                <a16:creationId xmlns:a16="http://schemas.microsoft.com/office/drawing/2014/main" id="{8C3D87B5-2240-42D4-BF30-6AE422C1A0A4}"/>
              </a:ext>
            </a:extLst>
          </p:cNvPr>
          <p:cNvSpPr>
            <a:spLocks noGrp="1"/>
          </p:cNvSpPr>
          <p:nvPr>
            <p:ph idx="1"/>
          </p:nvPr>
        </p:nvSpPr>
        <p:spPr/>
        <p:txBody>
          <a:bodyPr/>
          <a:lstStyle/>
          <a:p>
            <a:r>
              <a:rPr lang="en-GB" b="0" i="0" dirty="0">
                <a:solidFill>
                  <a:srgbClr val="000000"/>
                </a:solidFill>
                <a:effectLst/>
                <a:latin typeface="Calibri" panose="020F0502020204030204" pitchFamily="34" charset="0"/>
                <a:cs typeface="Calibri" panose="020F0502020204030204" pitchFamily="34" charset="0"/>
              </a:rPr>
              <a:t>Socioeconomic status (SES) encompasses not just income but also educational attainment, financial security, and subjective perceptions of social status and social class. Socioeconomic status can encompass quality of life attributes as well as the opportunities and privileges afforded to people within society. Poverty, specifically, is not a single factor but rather is characterized by multiple physical and psychosocial stressors. (APA – 2020)</a:t>
            </a:r>
          </a:p>
          <a:p>
            <a:r>
              <a:rPr lang="en-GB" dirty="0">
                <a:solidFill>
                  <a:srgbClr val="000000"/>
                </a:solidFill>
                <a:latin typeface="Calibri" panose="020F0502020204030204" pitchFamily="34" charset="0"/>
                <a:cs typeface="Calibri" panose="020F0502020204030204" pitchFamily="34" charset="0"/>
              </a:rPr>
              <a:t>Perception by others, physical and mental health, exclusion, discrimination, educational attainment, wealth, living conditions, gender &amp; SES, etc</a:t>
            </a:r>
            <a:endParaRPr lang="en-GB"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466700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A6EBA-36E5-421F-A3A1-1AE4E9166ED0}"/>
              </a:ext>
            </a:extLst>
          </p:cNvPr>
          <p:cNvSpPr>
            <a:spLocks noGrp="1"/>
          </p:cNvSpPr>
          <p:nvPr>
            <p:ph type="title"/>
          </p:nvPr>
        </p:nvSpPr>
        <p:spPr/>
        <p:txBody>
          <a:bodyPr/>
          <a:lstStyle/>
          <a:p>
            <a:pPr algn="ctr"/>
            <a:r>
              <a:rPr lang="en-GB" dirty="0"/>
              <a:t>Life Role – profession, occupation, job, career</a:t>
            </a:r>
          </a:p>
        </p:txBody>
      </p:sp>
      <p:sp>
        <p:nvSpPr>
          <p:cNvPr id="3" name="Content Placeholder 2">
            <a:extLst>
              <a:ext uri="{FF2B5EF4-FFF2-40B4-BE49-F238E27FC236}">
                <a16:creationId xmlns:a16="http://schemas.microsoft.com/office/drawing/2014/main" id="{699E225F-1961-4134-909B-F0D8ACEA4E53}"/>
              </a:ext>
            </a:extLst>
          </p:cNvPr>
          <p:cNvSpPr>
            <a:spLocks noGrp="1"/>
          </p:cNvSpPr>
          <p:nvPr>
            <p:ph idx="1"/>
          </p:nvPr>
        </p:nvSpPr>
        <p:spPr/>
        <p:txBody>
          <a:bodyPr>
            <a:normAutofit fontScale="92500" lnSpcReduction="20000"/>
          </a:bodyPr>
          <a:lstStyle/>
          <a:p>
            <a:r>
              <a:rPr lang="en-GB" dirty="0"/>
              <a:t>Medical doctor</a:t>
            </a:r>
          </a:p>
          <a:p>
            <a:r>
              <a:rPr lang="en-GB" dirty="0"/>
              <a:t>Architect</a:t>
            </a:r>
          </a:p>
          <a:p>
            <a:r>
              <a:rPr lang="en-GB" dirty="0"/>
              <a:t>Dentist</a:t>
            </a:r>
          </a:p>
          <a:p>
            <a:r>
              <a:rPr lang="en-GB" dirty="0"/>
              <a:t>Engineer (civil, electronics, electrical)</a:t>
            </a:r>
          </a:p>
          <a:p>
            <a:r>
              <a:rPr lang="en-GB" dirty="0"/>
              <a:t>Artist, actor, poet, musician</a:t>
            </a:r>
          </a:p>
          <a:p>
            <a:r>
              <a:rPr lang="en-GB" dirty="0"/>
              <a:t>Journalist</a:t>
            </a:r>
          </a:p>
          <a:p>
            <a:r>
              <a:rPr lang="en-GB" dirty="0"/>
              <a:t>Business  person/ manager</a:t>
            </a:r>
          </a:p>
          <a:p>
            <a:r>
              <a:rPr lang="en-GB" dirty="0"/>
              <a:t>Carpenter, electrician, bricklayer</a:t>
            </a:r>
          </a:p>
          <a:p>
            <a:r>
              <a:rPr lang="en-GB" dirty="0"/>
              <a:t>Semi-skilled worker, unskilled worker</a:t>
            </a:r>
          </a:p>
          <a:p>
            <a:r>
              <a:rPr lang="en-GB"/>
              <a:t>Unemployed</a:t>
            </a:r>
            <a:endParaRPr lang="en-GB" dirty="0"/>
          </a:p>
        </p:txBody>
      </p:sp>
    </p:spTree>
    <p:extLst>
      <p:ext uri="{BB962C8B-B14F-4D97-AF65-F5344CB8AC3E}">
        <p14:creationId xmlns:p14="http://schemas.microsoft.com/office/powerpoint/2010/main" val="5522392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A6CC9E-AF16-4F62-B2B4-B224747AE34B}"/>
              </a:ext>
            </a:extLst>
          </p:cNvPr>
          <p:cNvSpPr>
            <a:spLocks noGrp="1"/>
          </p:cNvSpPr>
          <p:nvPr>
            <p:ph type="title"/>
          </p:nvPr>
        </p:nvSpPr>
        <p:spPr>
          <a:xfrm>
            <a:off x="686834" y="1153572"/>
            <a:ext cx="3200400" cy="4461163"/>
          </a:xfrm>
        </p:spPr>
        <p:txBody>
          <a:bodyPr>
            <a:normAutofit/>
          </a:bodyPr>
          <a:lstStyle/>
          <a:p>
            <a:r>
              <a:rPr lang="en-GB">
                <a:solidFill>
                  <a:srgbClr val="FFFFFF"/>
                </a:solidFill>
              </a:rPr>
              <a:t>Culture and socialisation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6F2983D-44A8-49A5-A05F-F65CC108AE8A}"/>
              </a:ext>
            </a:extLst>
          </p:cNvPr>
          <p:cNvSpPr>
            <a:spLocks noGrp="1"/>
          </p:cNvSpPr>
          <p:nvPr>
            <p:ph idx="1"/>
          </p:nvPr>
        </p:nvSpPr>
        <p:spPr>
          <a:xfrm>
            <a:off x="4447308" y="591344"/>
            <a:ext cx="6906491" cy="5585619"/>
          </a:xfrm>
        </p:spPr>
        <p:txBody>
          <a:bodyPr anchor="ctr">
            <a:normAutofit/>
          </a:bodyPr>
          <a:lstStyle/>
          <a:p>
            <a:r>
              <a:rPr lang="en-US" dirty="0"/>
              <a:t>Socialization: the process by which individuals are made aware of the expectations, others have of their behavior, by which they acquire the norms, mores, values and beliefs of a social group or society and by which the culture of a social group or society is transmitted/exchanged.</a:t>
            </a:r>
          </a:p>
          <a:p>
            <a:r>
              <a:rPr lang="en-US" dirty="0"/>
              <a:t>Norms: shared expectations or standards of behavior within a particular group or society</a:t>
            </a:r>
          </a:p>
          <a:p>
            <a:r>
              <a:rPr lang="en-US" dirty="0"/>
              <a:t>Values: shared attitudes of approval and disapproval/judgements</a:t>
            </a:r>
          </a:p>
          <a:p>
            <a:r>
              <a:rPr lang="en-US" dirty="0"/>
              <a:t>Mores: social rules, conventions</a:t>
            </a:r>
          </a:p>
          <a:p>
            <a:endParaRPr lang="en-GB" dirty="0"/>
          </a:p>
        </p:txBody>
      </p:sp>
    </p:spTree>
    <p:extLst>
      <p:ext uri="{BB962C8B-B14F-4D97-AF65-F5344CB8AC3E}">
        <p14:creationId xmlns:p14="http://schemas.microsoft.com/office/powerpoint/2010/main" val="25350752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2FAA0A-E4B7-4C3B-8F5F-FF51D217B533}"/>
              </a:ext>
            </a:extLst>
          </p:cNvPr>
          <p:cNvSpPr>
            <a:spLocks noGrp="1"/>
          </p:cNvSpPr>
          <p:nvPr>
            <p:ph type="title"/>
          </p:nvPr>
        </p:nvSpPr>
        <p:spPr>
          <a:xfrm>
            <a:off x="686834" y="1153572"/>
            <a:ext cx="3200400" cy="4461163"/>
          </a:xfrm>
        </p:spPr>
        <p:txBody>
          <a:bodyPr>
            <a:normAutofit/>
          </a:bodyPr>
          <a:lstStyle/>
          <a:p>
            <a:r>
              <a:rPr lang="en-GB">
                <a:solidFill>
                  <a:srgbClr val="FFFFFF"/>
                </a:solidFill>
              </a:rPr>
              <a:t>Culture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D960B0F-9CC4-4C23-8AE8-1A5079DFE832}"/>
              </a:ext>
            </a:extLst>
          </p:cNvPr>
          <p:cNvSpPr>
            <a:spLocks noGrp="1"/>
          </p:cNvSpPr>
          <p:nvPr>
            <p:ph idx="1"/>
          </p:nvPr>
        </p:nvSpPr>
        <p:spPr>
          <a:xfrm>
            <a:off x="4447308" y="591344"/>
            <a:ext cx="6906491" cy="5585619"/>
          </a:xfrm>
        </p:spPr>
        <p:txBody>
          <a:bodyPr anchor="ctr">
            <a:normAutofit/>
          </a:bodyPr>
          <a:lstStyle/>
          <a:p>
            <a:r>
              <a:rPr lang="en-US" dirty="0"/>
              <a:t>Culture is ‘constructed’</a:t>
            </a:r>
          </a:p>
          <a:p>
            <a:r>
              <a:rPr lang="en-US" dirty="0"/>
              <a:t>Symbols, Traditions, rituals, rites, heroes, festivals, history, achievements, failures, ‘the other’, national identity, ‘national persona’, schemas and scripts, ‘the way we do things around here’, real vs. perceived, espoused vs. in-action, what we say we do/are vs. what we really/actually do/are,  ideology, preferences, philosophy, values, norms, </a:t>
            </a:r>
          </a:p>
          <a:p>
            <a:r>
              <a:rPr lang="en-US" dirty="0"/>
              <a:t>What do you believe? Why do you believe this?, etc.</a:t>
            </a:r>
          </a:p>
          <a:p>
            <a:endParaRPr lang="en-GB" dirty="0"/>
          </a:p>
        </p:txBody>
      </p:sp>
    </p:spTree>
    <p:extLst>
      <p:ext uri="{BB962C8B-B14F-4D97-AF65-F5344CB8AC3E}">
        <p14:creationId xmlns:p14="http://schemas.microsoft.com/office/powerpoint/2010/main" val="30348555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57906F-9C1A-4C44-BD0D-0C1CC6976EE2}"/>
              </a:ext>
            </a:extLst>
          </p:cNvPr>
          <p:cNvSpPr>
            <a:spLocks noGrp="1"/>
          </p:cNvSpPr>
          <p:nvPr>
            <p:ph type="title"/>
          </p:nvPr>
        </p:nvSpPr>
        <p:spPr>
          <a:xfrm>
            <a:off x="686834" y="1153572"/>
            <a:ext cx="3200400" cy="4461163"/>
          </a:xfrm>
        </p:spPr>
        <p:txBody>
          <a:bodyPr>
            <a:normAutofit/>
          </a:bodyPr>
          <a:lstStyle/>
          <a:p>
            <a:r>
              <a:rPr lang="en-GB">
                <a:solidFill>
                  <a:srgbClr val="FFFFFF"/>
                </a:solidFill>
              </a:rPr>
              <a:t>Culture</a:t>
            </a:r>
          </a:p>
        </p:txBody>
      </p:sp>
      <p:sp>
        <p:nvSpPr>
          <p:cNvPr id="32" name="Arc 3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A768E6C-65DA-4349-A465-6A297C4FEFCE}"/>
              </a:ext>
            </a:extLst>
          </p:cNvPr>
          <p:cNvSpPr>
            <a:spLocks noGrp="1"/>
          </p:cNvSpPr>
          <p:nvPr>
            <p:ph idx="1"/>
          </p:nvPr>
        </p:nvSpPr>
        <p:spPr>
          <a:xfrm>
            <a:off x="4447308" y="591344"/>
            <a:ext cx="6906491" cy="5585619"/>
          </a:xfrm>
        </p:spPr>
        <p:txBody>
          <a:bodyPr anchor="ctr">
            <a:normAutofit/>
          </a:bodyPr>
          <a:lstStyle/>
          <a:p>
            <a:r>
              <a:rPr lang="en-US"/>
              <a:t>Culture is not innate but learned</a:t>
            </a:r>
          </a:p>
          <a:p>
            <a:r>
              <a:rPr lang="en-US"/>
              <a:t>Experience, observation, replication, duplication, socialization (primary, secondary, tertiary, etc.,), education, practice, indoctrination, play, enculturation, nurture, acquisition, tolerances, acceptance and assumption,</a:t>
            </a:r>
          </a:p>
          <a:p>
            <a:r>
              <a:rPr lang="en-US"/>
              <a:t>Ontology- </a:t>
            </a:r>
          </a:p>
          <a:p>
            <a:endParaRPr lang="en-GB"/>
          </a:p>
        </p:txBody>
      </p:sp>
    </p:spTree>
    <p:extLst>
      <p:ext uri="{BB962C8B-B14F-4D97-AF65-F5344CB8AC3E}">
        <p14:creationId xmlns:p14="http://schemas.microsoft.com/office/powerpoint/2010/main" val="21710715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4CF6CC-D140-452C-B99C-437615350E40}"/>
              </a:ext>
            </a:extLst>
          </p:cNvPr>
          <p:cNvSpPr>
            <a:spLocks noGrp="1"/>
          </p:cNvSpPr>
          <p:nvPr>
            <p:ph type="title"/>
          </p:nvPr>
        </p:nvSpPr>
        <p:spPr>
          <a:xfrm>
            <a:off x="686834" y="1153572"/>
            <a:ext cx="3200400" cy="4461163"/>
          </a:xfrm>
        </p:spPr>
        <p:txBody>
          <a:bodyPr>
            <a:normAutofit/>
          </a:bodyPr>
          <a:lstStyle/>
          <a:p>
            <a:r>
              <a:rPr lang="en-GB">
                <a:solidFill>
                  <a:srgbClr val="FFFFFF"/>
                </a:solidFill>
              </a:rPr>
              <a:t>Culture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0998DA9-A1A0-43A6-B810-88205C667E80}"/>
              </a:ext>
            </a:extLst>
          </p:cNvPr>
          <p:cNvSpPr>
            <a:spLocks noGrp="1"/>
          </p:cNvSpPr>
          <p:nvPr>
            <p:ph idx="1"/>
          </p:nvPr>
        </p:nvSpPr>
        <p:spPr>
          <a:xfrm>
            <a:off x="4447308" y="319088"/>
            <a:ext cx="6906491" cy="5857875"/>
          </a:xfrm>
        </p:spPr>
        <p:txBody>
          <a:bodyPr anchor="ctr">
            <a:normAutofit/>
          </a:bodyPr>
          <a:lstStyle/>
          <a:p>
            <a:r>
              <a:rPr lang="en-US" sz="2400" dirty="0"/>
              <a:t>Culture is cumulative</a:t>
            </a:r>
          </a:p>
          <a:p>
            <a:r>
              <a:rPr lang="en-US" sz="2400" dirty="0"/>
              <a:t>Year-on-year accumulation of novel traits, ideas, technologies, practices, fashions, adaptations,</a:t>
            </a:r>
          </a:p>
          <a:p>
            <a:r>
              <a:rPr lang="en-US" sz="2400" dirty="0"/>
              <a:t>Culture can also forget!!! Loss of language</a:t>
            </a:r>
          </a:p>
          <a:p>
            <a:r>
              <a:rPr lang="en-US" sz="2400" dirty="0"/>
              <a:t>Major social and cultural upheavals</a:t>
            </a:r>
          </a:p>
          <a:p>
            <a:r>
              <a:rPr lang="en-US" sz="2400" dirty="0"/>
              <a:t>Maya civilization , Indus Valley Civilization, Khmer Civilization, etc.</a:t>
            </a:r>
          </a:p>
          <a:p>
            <a:r>
              <a:rPr lang="en-US" sz="2400" dirty="0"/>
              <a:t>Culture is prescriptive and proscriptive</a:t>
            </a:r>
          </a:p>
          <a:p>
            <a:r>
              <a:rPr lang="en-US" sz="2400" dirty="0"/>
              <a:t>What we must and mustn’t do!!!</a:t>
            </a:r>
          </a:p>
          <a:p>
            <a:r>
              <a:rPr lang="en-US" sz="2400" dirty="0"/>
              <a:t>Rewards and punishments including promotion, celebration, hero-worship vs. ostracism, stigmatism, expulsion, incarceration, excommunication, death</a:t>
            </a:r>
          </a:p>
          <a:p>
            <a:r>
              <a:rPr lang="en-US" sz="2400" dirty="0"/>
              <a:t>Heresy – apostasy, </a:t>
            </a:r>
          </a:p>
          <a:p>
            <a:endParaRPr lang="en-GB" sz="2400" dirty="0"/>
          </a:p>
        </p:txBody>
      </p:sp>
    </p:spTree>
    <p:extLst>
      <p:ext uri="{BB962C8B-B14F-4D97-AF65-F5344CB8AC3E}">
        <p14:creationId xmlns:p14="http://schemas.microsoft.com/office/powerpoint/2010/main" val="41244431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4B88A2-20D8-45BF-89D7-64EDA476E60A}"/>
              </a:ext>
            </a:extLst>
          </p:cNvPr>
          <p:cNvSpPr>
            <a:spLocks noGrp="1"/>
          </p:cNvSpPr>
          <p:nvPr>
            <p:ph type="title"/>
          </p:nvPr>
        </p:nvSpPr>
        <p:spPr>
          <a:xfrm>
            <a:off x="686834" y="1153572"/>
            <a:ext cx="3200400" cy="4461163"/>
          </a:xfrm>
        </p:spPr>
        <p:txBody>
          <a:bodyPr>
            <a:normAutofit/>
          </a:bodyPr>
          <a:lstStyle/>
          <a:p>
            <a:endParaRPr lang="en-GB"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A8F2BF5-2931-482F-9919-0625ADDE24AF}"/>
              </a:ext>
            </a:extLst>
          </p:cNvPr>
          <p:cNvSpPr>
            <a:spLocks noGrp="1"/>
          </p:cNvSpPr>
          <p:nvPr>
            <p:ph idx="1"/>
          </p:nvPr>
        </p:nvSpPr>
        <p:spPr>
          <a:xfrm>
            <a:off x="4447308" y="591344"/>
            <a:ext cx="6906491" cy="5585619"/>
          </a:xfrm>
        </p:spPr>
        <p:txBody>
          <a:bodyPr anchor="ctr">
            <a:normAutofit/>
          </a:bodyPr>
          <a:lstStyle/>
          <a:p>
            <a:r>
              <a:rPr lang="en-US" dirty="0"/>
              <a:t>Culture is shared socially, communicated and reinforced by members</a:t>
            </a:r>
          </a:p>
          <a:p>
            <a:r>
              <a:rPr lang="en-US" dirty="0"/>
              <a:t>Intergenerational socialization of values, norms, mores, beliefs, preferences, hopes and dreams, hatreds, assumptions, history, ‘the other’ folk devils, religion and ideology, practices,- family, social groups, work groups and teams, clubs, church, synagogue, mosque, play, games,</a:t>
            </a:r>
          </a:p>
          <a:p>
            <a:r>
              <a:rPr lang="en-US" dirty="0"/>
              <a:t>Rewards and punishments for successes and failures and compliance and flouting </a:t>
            </a:r>
          </a:p>
          <a:p>
            <a:endParaRPr lang="en-GB" dirty="0"/>
          </a:p>
        </p:txBody>
      </p:sp>
    </p:spTree>
    <p:extLst>
      <p:ext uri="{BB962C8B-B14F-4D97-AF65-F5344CB8AC3E}">
        <p14:creationId xmlns:p14="http://schemas.microsoft.com/office/powerpoint/2010/main" val="39858695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1A9B27-A7BB-41D8-8BAF-D8418DC3E5EF}"/>
              </a:ext>
            </a:extLst>
          </p:cNvPr>
          <p:cNvSpPr>
            <a:spLocks noGrp="1"/>
          </p:cNvSpPr>
          <p:nvPr>
            <p:ph type="title"/>
          </p:nvPr>
        </p:nvSpPr>
        <p:spPr>
          <a:xfrm>
            <a:off x="686834" y="1153572"/>
            <a:ext cx="3200400" cy="4461163"/>
          </a:xfrm>
        </p:spPr>
        <p:txBody>
          <a:bodyPr>
            <a:normAutofit/>
          </a:bodyPr>
          <a:lstStyle/>
          <a:p>
            <a:endParaRPr lang="en-GB">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6F155CF-AA8F-4E8E-A67E-E69173000328}"/>
              </a:ext>
            </a:extLst>
          </p:cNvPr>
          <p:cNvSpPr>
            <a:spLocks noGrp="1"/>
          </p:cNvSpPr>
          <p:nvPr>
            <p:ph idx="1"/>
          </p:nvPr>
        </p:nvSpPr>
        <p:spPr>
          <a:xfrm>
            <a:off x="4447308" y="591344"/>
            <a:ext cx="6906491" cy="5585619"/>
          </a:xfrm>
        </p:spPr>
        <p:txBody>
          <a:bodyPr anchor="ctr">
            <a:normAutofit/>
          </a:bodyPr>
          <a:lstStyle/>
          <a:p>
            <a:r>
              <a:rPr lang="en-US" dirty="0"/>
              <a:t>Culture is multifaceted – has many faces, facets, layers, sides, etc.</a:t>
            </a:r>
          </a:p>
          <a:p>
            <a:r>
              <a:rPr lang="en-US" dirty="0"/>
              <a:t>Multilayered</a:t>
            </a:r>
          </a:p>
          <a:p>
            <a:r>
              <a:rPr lang="en-US" dirty="0"/>
              <a:t>The iceberg of culture (see image)</a:t>
            </a:r>
          </a:p>
          <a:p>
            <a:r>
              <a:rPr lang="en-US" dirty="0"/>
              <a:t>Universals, particulars</a:t>
            </a:r>
          </a:p>
          <a:p>
            <a:r>
              <a:rPr lang="en-US" dirty="0"/>
              <a:t>Practices, beliefs, ‘things’, sports, </a:t>
            </a:r>
            <a:r>
              <a:rPr lang="en-US" dirty="0" err="1"/>
              <a:t>favoured</a:t>
            </a:r>
            <a:r>
              <a:rPr lang="en-US" dirty="0"/>
              <a:t> </a:t>
            </a:r>
            <a:r>
              <a:rPr lang="en-US" dirty="0" err="1"/>
              <a:t>colours</a:t>
            </a:r>
            <a:r>
              <a:rPr lang="en-US" dirty="0"/>
              <a:t>, music</a:t>
            </a:r>
          </a:p>
          <a:p>
            <a:r>
              <a:rPr lang="en-US" dirty="0"/>
              <a:t>The visible and the invisible</a:t>
            </a:r>
          </a:p>
          <a:p>
            <a:r>
              <a:rPr lang="en-US" dirty="0"/>
              <a:t>The audible and inaudible</a:t>
            </a:r>
          </a:p>
          <a:p>
            <a:r>
              <a:rPr lang="en-US" dirty="0"/>
              <a:t>The intelligible and the unintelligible</a:t>
            </a:r>
          </a:p>
          <a:p>
            <a:endParaRPr lang="en-GB" dirty="0"/>
          </a:p>
        </p:txBody>
      </p:sp>
    </p:spTree>
    <p:extLst>
      <p:ext uri="{BB962C8B-B14F-4D97-AF65-F5344CB8AC3E}">
        <p14:creationId xmlns:p14="http://schemas.microsoft.com/office/powerpoint/2010/main" val="42487942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8F46AB-6602-4E86-BE2B-334F170A673E}"/>
              </a:ext>
            </a:extLst>
          </p:cNvPr>
          <p:cNvSpPr>
            <a:spLocks noGrp="1"/>
          </p:cNvSpPr>
          <p:nvPr>
            <p:ph type="title"/>
          </p:nvPr>
        </p:nvSpPr>
        <p:spPr>
          <a:xfrm>
            <a:off x="686834" y="1153572"/>
            <a:ext cx="3200400" cy="4461163"/>
          </a:xfrm>
        </p:spPr>
        <p:txBody>
          <a:bodyPr>
            <a:normAutofit/>
          </a:bodyPr>
          <a:lstStyle/>
          <a:p>
            <a:endParaRPr lang="en-GB">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DB6F5DA-A95E-42F7-8215-2B4AF0CEC8B8}"/>
              </a:ext>
            </a:extLst>
          </p:cNvPr>
          <p:cNvSpPr>
            <a:spLocks noGrp="1"/>
          </p:cNvSpPr>
          <p:nvPr>
            <p:ph idx="1"/>
          </p:nvPr>
        </p:nvSpPr>
        <p:spPr>
          <a:xfrm>
            <a:off x="4447308" y="591344"/>
            <a:ext cx="6906491" cy="5585619"/>
          </a:xfrm>
        </p:spPr>
        <p:txBody>
          <a:bodyPr anchor="ctr">
            <a:normAutofit/>
          </a:bodyPr>
          <a:lstStyle/>
          <a:p>
            <a:r>
              <a:rPr lang="en-US" dirty="0"/>
              <a:t>Culture ‘is’ gratifying and resistant to change</a:t>
            </a:r>
          </a:p>
          <a:p>
            <a:r>
              <a:rPr lang="en-US" dirty="0"/>
              <a:t>Culture can change, changes, has changed and probably will change</a:t>
            </a:r>
          </a:p>
          <a:p>
            <a:r>
              <a:rPr lang="en-US" dirty="0"/>
              <a:t>Circumstance for change????</a:t>
            </a:r>
          </a:p>
          <a:p>
            <a:r>
              <a:rPr lang="en-US" dirty="0"/>
              <a:t>Technology, globalization, war, famine, trends, invasion, annihilation, </a:t>
            </a:r>
          </a:p>
          <a:p>
            <a:r>
              <a:rPr lang="en-US" dirty="0"/>
              <a:t>The idea from biology of ‘osmosis’ fast or slow-the baseball cap</a:t>
            </a:r>
          </a:p>
          <a:p>
            <a:endParaRPr lang="en-GB" dirty="0"/>
          </a:p>
        </p:txBody>
      </p:sp>
    </p:spTree>
    <p:extLst>
      <p:ext uri="{BB962C8B-B14F-4D97-AF65-F5344CB8AC3E}">
        <p14:creationId xmlns:p14="http://schemas.microsoft.com/office/powerpoint/2010/main" val="28608223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7003AF7-D422-499C-BD11-870FE093DD9A}"/>
              </a:ext>
            </a:extLst>
          </p:cNvPr>
          <p:cNvSpPr>
            <a:spLocks noGrp="1"/>
          </p:cNvSpPr>
          <p:nvPr>
            <p:ph type="title"/>
          </p:nvPr>
        </p:nvSpPr>
        <p:spPr>
          <a:xfrm>
            <a:off x="640079" y="2053641"/>
            <a:ext cx="3669161" cy="2760098"/>
          </a:xfrm>
        </p:spPr>
        <p:txBody>
          <a:bodyPr>
            <a:normAutofit/>
          </a:bodyPr>
          <a:lstStyle/>
          <a:p>
            <a:r>
              <a:rPr lang="en-GB">
                <a:solidFill>
                  <a:srgbClr val="FFFFFF"/>
                </a:solidFill>
              </a:rPr>
              <a:t>Ethnicity</a:t>
            </a:r>
          </a:p>
        </p:txBody>
      </p:sp>
      <p:sp>
        <p:nvSpPr>
          <p:cNvPr id="3" name="Content Placeholder 2">
            <a:extLst>
              <a:ext uri="{FF2B5EF4-FFF2-40B4-BE49-F238E27FC236}">
                <a16:creationId xmlns:a16="http://schemas.microsoft.com/office/drawing/2014/main" id="{F64C9D3F-C710-48EE-9AB1-3B23A70E5782}"/>
              </a:ext>
            </a:extLst>
          </p:cNvPr>
          <p:cNvSpPr>
            <a:spLocks noGrp="1"/>
          </p:cNvSpPr>
          <p:nvPr>
            <p:ph idx="1"/>
          </p:nvPr>
        </p:nvSpPr>
        <p:spPr>
          <a:xfrm>
            <a:off x="6090574" y="801866"/>
            <a:ext cx="5306084" cy="5230634"/>
          </a:xfrm>
        </p:spPr>
        <p:txBody>
          <a:bodyPr anchor="ctr">
            <a:normAutofit/>
          </a:bodyPr>
          <a:lstStyle/>
          <a:p>
            <a:r>
              <a:rPr lang="en-GB" sz="2200">
                <a:solidFill>
                  <a:srgbClr val="000000"/>
                </a:solidFill>
              </a:rPr>
              <a:t>A named social category of people who identify with each other on the basis of shared attributes that would appear to distinguish them from other groups</a:t>
            </a:r>
          </a:p>
          <a:p>
            <a:r>
              <a:rPr lang="en-GB" sz="2200">
                <a:solidFill>
                  <a:srgbClr val="000000"/>
                </a:solidFill>
              </a:rPr>
              <a:t>Here we are talking about a common set of traditions, ancestry, history, nation, culture, religion </a:t>
            </a:r>
          </a:p>
          <a:p>
            <a:r>
              <a:rPr lang="en-GB" sz="2200">
                <a:solidFill>
                  <a:srgbClr val="000000"/>
                </a:solidFill>
              </a:rPr>
              <a:t>Ethnicity can be inherited…</a:t>
            </a:r>
          </a:p>
          <a:p>
            <a:r>
              <a:rPr lang="en-GB" sz="2200">
                <a:solidFill>
                  <a:srgbClr val="000000"/>
                </a:solidFill>
              </a:rPr>
              <a:t>Member ship of an ethnic group is often defined in terms of cultural heritage, ancestry, origin myth, history, homeland, language and dialect and religion, mythology, rituals, cuisine, clothing styles art, &amp; physical appearance</a:t>
            </a:r>
          </a:p>
        </p:txBody>
      </p:sp>
    </p:spTree>
    <p:extLst>
      <p:ext uri="{BB962C8B-B14F-4D97-AF65-F5344CB8AC3E}">
        <p14:creationId xmlns:p14="http://schemas.microsoft.com/office/powerpoint/2010/main" val="34151466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7296810-DDDE-44A4-A3F9-AFC2C7416ABC}"/>
              </a:ext>
            </a:extLst>
          </p:cNvPr>
          <p:cNvSpPr>
            <a:spLocks noGrp="1"/>
          </p:cNvSpPr>
          <p:nvPr>
            <p:ph type="title"/>
          </p:nvPr>
        </p:nvSpPr>
        <p:spPr>
          <a:xfrm>
            <a:off x="640079" y="2053641"/>
            <a:ext cx="3669161" cy="2760098"/>
          </a:xfrm>
        </p:spPr>
        <p:txBody>
          <a:bodyPr>
            <a:normAutofit/>
          </a:bodyPr>
          <a:lstStyle/>
          <a:p>
            <a:r>
              <a:rPr lang="en-GB">
                <a:solidFill>
                  <a:srgbClr val="FFFFFF"/>
                </a:solidFill>
              </a:rPr>
              <a:t>Race</a:t>
            </a:r>
          </a:p>
        </p:txBody>
      </p:sp>
      <p:sp>
        <p:nvSpPr>
          <p:cNvPr id="3" name="Content Placeholder 2">
            <a:extLst>
              <a:ext uri="{FF2B5EF4-FFF2-40B4-BE49-F238E27FC236}">
                <a16:creationId xmlns:a16="http://schemas.microsoft.com/office/drawing/2014/main" id="{FD33188A-F49A-4A21-8CC1-9F5B8618519B}"/>
              </a:ext>
            </a:extLst>
          </p:cNvPr>
          <p:cNvSpPr>
            <a:spLocks noGrp="1"/>
          </p:cNvSpPr>
          <p:nvPr>
            <p:ph idx="1"/>
          </p:nvPr>
        </p:nvSpPr>
        <p:spPr>
          <a:xfrm>
            <a:off x="6090574" y="801866"/>
            <a:ext cx="5306084" cy="5230634"/>
          </a:xfrm>
        </p:spPr>
        <p:txBody>
          <a:bodyPr anchor="ctr">
            <a:normAutofit/>
          </a:bodyPr>
          <a:lstStyle/>
          <a:p>
            <a:r>
              <a:rPr lang="en-GB" sz="2400" dirty="0">
                <a:solidFill>
                  <a:srgbClr val="000000"/>
                </a:solidFill>
              </a:rPr>
              <a:t>Race is a social construct and is typically essentialist in nature</a:t>
            </a:r>
          </a:p>
          <a:p>
            <a:r>
              <a:rPr lang="en-GB" sz="2400" dirty="0">
                <a:solidFill>
                  <a:srgbClr val="000000"/>
                </a:solidFill>
              </a:rPr>
              <a:t>Race has NO inherent physical or biological meaning</a:t>
            </a:r>
          </a:p>
          <a:p>
            <a:r>
              <a:rPr lang="en-GB" sz="2400" dirty="0">
                <a:solidFill>
                  <a:srgbClr val="000000"/>
                </a:solidFill>
              </a:rPr>
              <a:t>There is only ONE human race</a:t>
            </a:r>
          </a:p>
        </p:txBody>
      </p:sp>
    </p:spTree>
    <p:extLst>
      <p:ext uri="{BB962C8B-B14F-4D97-AF65-F5344CB8AC3E}">
        <p14:creationId xmlns:p14="http://schemas.microsoft.com/office/powerpoint/2010/main" val="34218771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3d490dab-260c-45ab-ac29-8cd2bdbc9b6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315</TotalTime>
  <Words>1985</Words>
  <Application>Microsoft Office PowerPoint</Application>
  <PresentationFormat>Widescreen</PresentationFormat>
  <Paragraphs>171</Paragraphs>
  <Slides>35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Calibri Light</vt:lpstr>
      <vt:lpstr>ff8</vt:lpstr>
      <vt:lpstr>ProximaNova</vt:lpstr>
      <vt:lpstr>Office Theme</vt:lpstr>
      <vt:lpstr>Interpersonal Skills</vt:lpstr>
      <vt:lpstr>Meeting and interacting with others.</vt:lpstr>
      <vt:lpstr>Soft Skills</vt:lpstr>
      <vt:lpstr>Communication and Interpersonal Skills</vt:lpstr>
      <vt:lpstr>The Idea of Skill- no consensus among social scientists - ability”, “competence”,  “knack”, “aptitude” and “talent”, learnable and transferable? </vt:lpstr>
      <vt:lpstr>Language and Communication</vt:lpstr>
      <vt:lpstr>Cognition</vt:lpstr>
      <vt:lpstr>Cognition</vt:lpstr>
      <vt:lpstr>The idea of ‘affect’ Any experience of feeling or emotion, ranging from suffering to elation, from the simplest to the most complex sensations of feeling, and from the most normal to the most pathological emotional reactions. Often described in terms of positive affect or negative affect, both mood and emotion are considered affective states. Along with cognition and conation, affect is one of the three traditionally identified components of the mind. The part of mental life having to do with striving, including desire and volition is called conation.</vt:lpstr>
      <vt:lpstr>Non-verbal Communication</vt:lpstr>
      <vt:lpstr>NVC</vt:lpstr>
      <vt:lpstr>Actors and Context</vt:lpstr>
      <vt:lpstr>Actors and interpersonal communication</vt:lpstr>
      <vt:lpstr>Actors and interpersonal communication</vt:lpstr>
      <vt:lpstr>Actors and interpersonal communication</vt:lpstr>
      <vt:lpstr>Actors and interpersonal communication</vt:lpstr>
      <vt:lpstr>Blah blah blah blah</vt:lpstr>
      <vt:lpstr>Physical Appearance- the body as NVC How can physical appearance affect interactions with others?</vt:lpstr>
      <vt:lpstr>Physical Appearance</vt:lpstr>
      <vt:lpstr>PowerPoint Presentation</vt:lpstr>
      <vt:lpstr>Age- ageing From youth to old age </vt:lpstr>
      <vt:lpstr>Gender</vt:lpstr>
      <vt:lpstr>Gender</vt:lpstr>
      <vt:lpstr>Gender</vt:lpstr>
      <vt:lpstr>Social Class – Socio-economic status</vt:lpstr>
      <vt:lpstr>Life Role – profession, occupation, job, career</vt:lpstr>
      <vt:lpstr>Culture and socialisation</vt:lpstr>
      <vt:lpstr>Culture</vt:lpstr>
      <vt:lpstr>Culture</vt:lpstr>
      <vt:lpstr>Culture</vt:lpstr>
      <vt:lpstr>PowerPoint Presentation</vt:lpstr>
      <vt:lpstr>PowerPoint Presentation</vt:lpstr>
      <vt:lpstr>PowerPoint Presentation</vt:lpstr>
      <vt:lpstr>Ethnicity</vt:lpstr>
      <vt:lpstr>Race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Interpersonal Skills</dc:title>
  <dc:creator>Marc</dc:creator>
  <cp:lastModifiedBy>Marc Gallagher</cp:lastModifiedBy>
  <cp:revision>4</cp:revision>
  <dcterms:created xsi:type="dcterms:W3CDTF">2020-10-13T18:51:57Z</dcterms:created>
  <dcterms:modified xsi:type="dcterms:W3CDTF">2022-09-21T11:34:56Z</dcterms:modified>
</cp:coreProperties>
</file>