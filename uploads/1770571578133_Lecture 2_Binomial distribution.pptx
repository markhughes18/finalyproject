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564" r:id="rId2"/>
    <p:sldId id="449" r:id="rId3"/>
    <p:sldId id="538" r:id="rId4"/>
    <p:sldId id="539" r:id="rId5"/>
    <p:sldId id="540" r:id="rId6"/>
    <p:sldId id="410" r:id="rId7"/>
    <p:sldId id="541" r:id="rId8"/>
    <p:sldId id="542" r:id="rId9"/>
    <p:sldId id="530" r:id="rId10"/>
    <p:sldId id="543" r:id="rId11"/>
    <p:sldId id="544" r:id="rId12"/>
    <p:sldId id="545" r:id="rId13"/>
    <p:sldId id="546" r:id="rId14"/>
    <p:sldId id="547" r:id="rId15"/>
    <p:sldId id="548" r:id="rId16"/>
    <p:sldId id="549" r:id="rId17"/>
    <p:sldId id="550" r:id="rId18"/>
    <p:sldId id="551" r:id="rId19"/>
    <p:sldId id="552" r:id="rId20"/>
    <p:sldId id="553" r:id="rId21"/>
    <p:sldId id="534" r:id="rId22"/>
    <p:sldId id="554" r:id="rId23"/>
    <p:sldId id="555" r:id="rId24"/>
    <p:sldId id="556" r:id="rId25"/>
    <p:sldId id="557" r:id="rId26"/>
    <p:sldId id="558" r:id="rId27"/>
    <p:sldId id="559" r:id="rId28"/>
    <p:sldId id="560" r:id="rId29"/>
    <p:sldId id="561" r:id="rId30"/>
    <p:sldId id="562" r:id="rId31"/>
    <p:sldId id="563" r:id="rId32"/>
    <p:sldId id="524" r:id="rId33"/>
    <p:sldId id="525" r:id="rId34"/>
    <p:sldId id="526" r:id="rId35"/>
    <p:sldId id="527"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3" d="100"/>
          <a:sy n="113" d="100"/>
        </p:scale>
        <p:origin x="45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 Id="rId5" Type="http://schemas.openxmlformats.org/officeDocument/2006/relationships/image" Target="../media/image18.wmf"/><Relationship Id="rId4" Type="http://schemas.openxmlformats.org/officeDocument/2006/relationships/image" Target="../media/image17.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22.wmf"/><Relationship Id="rId7" Type="http://schemas.openxmlformats.org/officeDocument/2006/relationships/image" Target="../media/image26.wmf"/><Relationship Id="rId2" Type="http://schemas.openxmlformats.org/officeDocument/2006/relationships/image" Target="../media/image21.wmf"/><Relationship Id="rId1" Type="http://schemas.openxmlformats.org/officeDocument/2006/relationships/image" Target="../media/image20.wmf"/><Relationship Id="rId6" Type="http://schemas.openxmlformats.org/officeDocument/2006/relationships/image" Target="../media/image25.wmf"/><Relationship Id="rId5" Type="http://schemas.openxmlformats.org/officeDocument/2006/relationships/image" Target="../media/image24.wmf"/><Relationship Id="rId4" Type="http://schemas.openxmlformats.org/officeDocument/2006/relationships/image" Target="../media/image23.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image" Target="../media/image27.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 Id="rId4" Type="http://schemas.openxmlformats.org/officeDocument/2006/relationships/image" Target="../media/image35.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image" Target="../media/image36.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image" Target="../media/image40.wmf"/><Relationship Id="rId1" Type="http://schemas.openxmlformats.org/officeDocument/2006/relationships/image" Target="../media/image39.wmf"/><Relationship Id="rId5" Type="http://schemas.openxmlformats.org/officeDocument/2006/relationships/image" Target="../media/image43.wmf"/><Relationship Id="rId4" Type="http://schemas.openxmlformats.org/officeDocument/2006/relationships/image" Target="../media/image42.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46.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image" Target="../media/image49.wmf"/><Relationship Id="rId1" Type="http://schemas.openxmlformats.org/officeDocument/2006/relationships/image" Target="../media/image48.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image" Target="../media/image52.wmf"/><Relationship Id="rId1" Type="http://schemas.openxmlformats.org/officeDocument/2006/relationships/image" Target="../media/image51.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image" Target="../media/image56.wmf"/><Relationship Id="rId1" Type="http://schemas.openxmlformats.org/officeDocument/2006/relationships/image" Target="../media/image55.wmf"/><Relationship Id="rId5" Type="http://schemas.openxmlformats.org/officeDocument/2006/relationships/image" Target="../media/image59.wmf"/><Relationship Id="rId4" Type="http://schemas.openxmlformats.org/officeDocument/2006/relationships/image" Target="../media/image5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D7883C-7B0B-4F32-AC40-DA3BA02FBFD1}" type="datetimeFigureOut">
              <a:rPr lang="en-GB" smtClean="0"/>
              <a:t>07/02/2024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BE0635-8230-438A-9EC6-5CD3AF564F3B}" type="slidenum">
              <a:rPr lang="en-GB" smtClean="0"/>
              <a:t>‹#›</a:t>
            </a:fld>
            <a:endParaRPr lang="en-GB"/>
          </a:p>
        </p:txBody>
      </p:sp>
    </p:spTree>
    <p:extLst>
      <p:ext uri="{BB962C8B-B14F-4D97-AF65-F5344CB8AC3E}">
        <p14:creationId xmlns:p14="http://schemas.microsoft.com/office/powerpoint/2010/main" val="2269704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962181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tree diagram has the following sections, first surgery, second surgery, third surgery, outcome, number of successes, and probability. The root node branches into S and F at the first surgery. The S branches into S and F at the second surgery, where the S branches into S and F at the third surgery. The F at second surgery branches into S and F at the thirds surgery. The F at first surgery branches into S and F at the second surgery, where the S branches into S and F at the third surgery. The F at second surgery branches into S and F at the thirds surgery. The outcomes, number of successes, and probability, are as follows. Outcome, S </a:t>
            </a:r>
            <a:r>
              <a:rPr lang="en-US" dirty="0" err="1"/>
              <a:t>S</a:t>
            </a:r>
            <a:r>
              <a:rPr lang="en-US" dirty="0"/>
              <a:t> </a:t>
            </a:r>
            <a:r>
              <a:rPr lang="en-US" dirty="0" err="1"/>
              <a:t>S</a:t>
            </a:r>
            <a:r>
              <a:rPr lang="en-US" dirty="0"/>
              <a:t>, number of successes, 3, Probability 9 tenths times 9 tenths times 9 tenths = start fraction 729 over 1000 end fraction. Outcome, S </a:t>
            </a:r>
            <a:r>
              <a:rPr lang="en-US" dirty="0" err="1"/>
              <a:t>S</a:t>
            </a:r>
            <a:r>
              <a:rPr lang="en-US" dirty="0"/>
              <a:t> F, number of successes 2, Probability 9 tenths times 9 tenths times 1 tenth = start fraction 81 over 1000 end fraction. Outcome, S F S, number of successes 2, Probability 9 tenths times 1 tenth times 9 tenths = start fraction 81 over 1000 end fraction. Outcome, S F </a:t>
            </a:r>
            <a:r>
              <a:rPr lang="en-US" dirty="0" err="1"/>
              <a:t>F</a:t>
            </a:r>
            <a:r>
              <a:rPr lang="en-US" dirty="0"/>
              <a:t>, number of successes 1, Probability 9 tenths times 1 tenth times 1 tenth = start fraction 9 over 1000 end fraction. Outcome, F S </a:t>
            </a:r>
            <a:r>
              <a:rPr lang="en-US" dirty="0" err="1"/>
              <a:t>S</a:t>
            </a:r>
            <a:r>
              <a:rPr lang="en-US" dirty="0"/>
              <a:t>, number of successes 2, Probability 1 tenth times 9 tenths times 9 tenths = start fraction 81 over 1000 end fraction. Outcome, F S F, number of successes 1, Probability 1 tenth times 9 tenths times 1 tenth = start fraction 9 over 1000 end fraction. Outcome, F </a:t>
            </a:r>
            <a:r>
              <a:rPr lang="en-US" dirty="0" err="1"/>
              <a:t>F</a:t>
            </a:r>
            <a:r>
              <a:rPr lang="en-US" dirty="0"/>
              <a:t> S, number of successes 1, Probability 1 tenth times 1 tenth times 9 tenths = start fraction 9 over 1000 end fraction. Outcome, F </a:t>
            </a:r>
            <a:r>
              <a:rPr lang="en-US" dirty="0" err="1"/>
              <a:t>F</a:t>
            </a:r>
            <a:r>
              <a:rPr lang="en-US" dirty="0"/>
              <a:t> </a:t>
            </a:r>
            <a:r>
              <a:rPr lang="en-US" dirty="0" err="1"/>
              <a:t>F</a:t>
            </a:r>
            <a:r>
              <a:rPr lang="en-US" dirty="0"/>
              <a:t>, number of successes 0, Probability 1 tenth times 1 tenth times 1 tenth = start fraction 1 over 1000 end fraction.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966657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column headings, from left to right, are as follows. N, x, 0.01, 0.05, 0.10, 0.15, 0.20, 0.25, 0.30, 0.35, 0.40, 0.45, 0.50, 0.55, 0.60. The p values in the column for p = 0.05 are highlighted. The row entries for n = 8 and x = 3 are highlighted until p = 0.005. The following values are highlighted. 0.902, 0.095, 0.02, 0.857, 0.007, 0.000, 0.663, 0.279, 0.051, 0.005. The row entries highlighted are as follows. n = 8, x = 3, 0.000, 0.005. The values 0.005 is encircled.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5398892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horizontal axis ranges from 0 to 6 in increments of 1. The vertical axis ranges from 0.05 to 0.35 in increments of 0.05. The data plotted are as follows. (0, 0.01), (1, 0.025), (2, 0.10), (3, 0.24), (4, 0.33), (5, 0.23), and (6, 0.06). All values are estimated.</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9520803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48634-3A3C-4FA6-A157-FCC8C93E2A4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47A5EC3-B097-49A3-A617-742EB79838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9C1FDE3-532C-4ADC-AB1D-72AA63D67D89}"/>
              </a:ext>
            </a:extLst>
          </p:cNvPr>
          <p:cNvSpPr>
            <a:spLocks noGrp="1"/>
          </p:cNvSpPr>
          <p:nvPr>
            <p:ph type="dt" sz="half" idx="10"/>
          </p:nvPr>
        </p:nvSpPr>
        <p:spPr/>
        <p:txBody>
          <a:bodyPr/>
          <a:lstStyle/>
          <a:p>
            <a:fld id="{2B8988D6-C852-4D05-977F-9A7C7B68DC01}" type="datetimeFigureOut">
              <a:rPr lang="en-GB" smtClean="0"/>
              <a:t>07/02/2024</a:t>
            </a:fld>
            <a:endParaRPr lang="en-GB"/>
          </a:p>
        </p:txBody>
      </p:sp>
      <p:sp>
        <p:nvSpPr>
          <p:cNvPr id="5" name="Footer Placeholder 4">
            <a:extLst>
              <a:ext uri="{FF2B5EF4-FFF2-40B4-BE49-F238E27FC236}">
                <a16:creationId xmlns:a16="http://schemas.microsoft.com/office/drawing/2014/main" id="{994C47BD-0468-4FBE-99C7-F89D2CEF81A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2968577-13A7-42D6-A113-E01A2D72F912}"/>
              </a:ext>
            </a:extLst>
          </p:cNvPr>
          <p:cNvSpPr>
            <a:spLocks noGrp="1"/>
          </p:cNvSpPr>
          <p:nvPr>
            <p:ph type="sldNum" sz="quarter" idx="12"/>
          </p:nvPr>
        </p:nvSpPr>
        <p:spPr/>
        <p:txBody>
          <a:bodyPr/>
          <a:lstStyle/>
          <a:p>
            <a:fld id="{B83AAB81-27A9-449C-A87B-8BF8655382AC}" type="slidenum">
              <a:rPr lang="en-GB" smtClean="0"/>
              <a:t>‹#›</a:t>
            </a:fld>
            <a:endParaRPr lang="en-GB"/>
          </a:p>
        </p:txBody>
      </p:sp>
    </p:spTree>
    <p:extLst>
      <p:ext uri="{BB962C8B-B14F-4D97-AF65-F5344CB8AC3E}">
        <p14:creationId xmlns:p14="http://schemas.microsoft.com/office/powerpoint/2010/main" val="3457053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2DF7B-9D48-4F88-AC6D-92B7F938F3A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36FB9DE-B659-4C40-BB88-421AD019ECF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05D003C-A992-4D5C-9377-BD3E2A8107CE}"/>
              </a:ext>
            </a:extLst>
          </p:cNvPr>
          <p:cNvSpPr>
            <a:spLocks noGrp="1"/>
          </p:cNvSpPr>
          <p:nvPr>
            <p:ph type="dt" sz="half" idx="10"/>
          </p:nvPr>
        </p:nvSpPr>
        <p:spPr/>
        <p:txBody>
          <a:bodyPr/>
          <a:lstStyle/>
          <a:p>
            <a:fld id="{2B8988D6-C852-4D05-977F-9A7C7B68DC01}" type="datetimeFigureOut">
              <a:rPr lang="en-GB" smtClean="0"/>
              <a:t>07/02/2024</a:t>
            </a:fld>
            <a:endParaRPr lang="en-GB"/>
          </a:p>
        </p:txBody>
      </p:sp>
      <p:sp>
        <p:nvSpPr>
          <p:cNvPr id="5" name="Footer Placeholder 4">
            <a:extLst>
              <a:ext uri="{FF2B5EF4-FFF2-40B4-BE49-F238E27FC236}">
                <a16:creationId xmlns:a16="http://schemas.microsoft.com/office/drawing/2014/main" id="{49F97696-6341-4C74-8164-25C844BFCE6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6609447-9CDD-49BA-9BB4-EC2D79105C53}"/>
              </a:ext>
            </a:extLst>
          </p:cNvPr>
          <p:cNvSpPr>
            <a:spLocks noGrp="1"/>
          </p:cNvSpPr>
          <p:nvPr>
            <p:ph type="sldNum" sz="quarter" idx="12"/>
          </p:nvPr>
        </p:nvSpPr>
        <p:spPr/>
        <p:txBody>
          <a:bodyPr/>
          <a:lstStyle/>
          <a:p>
            <a:fld id="{B83AAB81-27A9-449C-A87B-8BF8655382AC}" type="slidenum">
              <a:rPr lang="en-GB" smtClean="0"/>
              <a:t>‹#›</a:t>
            </a:fld>
            <a:endParaRPr lang="en-GB"/>
          </a:p>
        </p:txBody>
      </p:sp>
    </p:spTree>
    <p:extLst>
      <p:ext uri="{BB962C8B-B14F-4D97-AF65-F5344CB8AC3E}">
        <p14:creationId xmlns:p14="http://schemas.microsoft.com/office/powerpoint/2010/main" val="10801198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0C0D8-A978-460B-9CB7-FA0DCDA0691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EBFE4A38-5669-486B-AE6A-3CCA71099D0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0B59B279-C834-469C-87BA-717DF4653DC8}"/>
              </a:ext>
            </a:extLst>
          </p:cNvPr>
          <p:cNvSpPr>
            <a:spLocks noGrp="1"/>
          </p:cNvSpPr>
          <p:nvPr>
            <p:ph type="dt" sz="half" idx="10"/>
          </p:nvPr>
        </p:nvSpPr>
        <p:spPr/>
        <p:txBody>
          <a:bodyPr/>
          <a:lstStyle/>
          <a:p>
            <a:fld id="{2B8988D6-C852-4D05-977F-9A7C7B68DC01}" type="datetimeFigureOut">
              <a:rPr lang="en-GB" smtClean="0"/>
              <a:t>07/02/2024</a:t>
            </a:fld>
            <a:endParaRPr lang="en-GB"/>
          </a:p>
        </p:txBody>
      </p:sp>
      <p:sp>
        <p:nvSpPr>
          <p:cNvPr id="5" name="Footer Placeholder 4">
            <a:extLst>
              <a:ext uri="{FF2B5EF4-FFF2-40B4-BE49-F238E27FC236}">
                <a16:creationId xmlns:a16="http://schemas.microsoft.com/office/drawing/2014/main" id="{C2A679FF-168A-4184-AEA5-6C9870B5D54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117E68E-16F0-475D-BAE0-AB8BDD93193B}"/>
              </a:ext>
            </a:extLst>
          </p:cNvPr>
          <p:cNvSpPr>
            <a:spLocks noGrp="1"/>
          </p:cNvSpPr>
          <p:nvPr>
            <p:ph type="sldNum" sz="quarter" idx="12"/>
          </p:nvPr>
        </p:nvSpPr>
        <p:spPr/>
        <p:txBody>
          <a:bodyPr/>
          <a:lstStyle/>
          <a:p>
            <a:fld id="{B83AAB81-27A9-449C-A87B-8BF8655382AC}" type="slidenum">
              <a:rPr lang="en-GB" smtClean="0"/>
              <a:t>‹#›</a:t>
            </a:fld>
            <a:endParaRPr lang="en-GB"/>
          </a:p>
        </p:txBody>
      </p:sp>
    </p:spTree>
    <p:extLst>
      <p:ext uri="{BB962C8B-B14F-4D97-AF65-F5344CB8AC3E}">
        <p14:creationId xmlns:p14="http://schemas.microsoft.com/office/powerpoint/2010/main" val="18475977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8FAD2-2886-4870-B0B2-CFA3236B461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F692541-524A-4782-880E-1BD3517491B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034E6450-25AB-4D4C-9F05-306AB12EFB52}"/>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29AD4515-6D49-4E09-9B50-7EAE89DDFBFC}"/>
              </a:ext>
            </a:extLst>
          </p:cNvPr>
          <p:cNvSpPr>
            <a:spLocks noGrp="1"/>
          </p:cNvSpPr>
          <p:nvPr>
            <p:ph type="dt" sz="half" idx="10"/>
          </p:nvPr>
        </p:nvSpPr>
        <p:spPr/>
        <p:txBody>
          <a:bodyPr/>
          <a:lstStyle/>
          <a:p>
            <a:fld id="{2B8988D6-C852-4D05-977F-9A7C7B68DC01}" type="datetimeFigureOut">
              <a:rPr lang="en-GB" smtClean="0"/>
              <a:t>07/02/2024</a:t>
            </a:fld>
            <a:endParaRPr lang="en-GB"/>
          </a:p>
        </p:txBody>
      </p:sp>
      <p:sp>
        <p:nvSpPr>
          <p:cNvPr id="6" name="Footer Placeholder 5">
            <a:extLst>
              <a:ext uri="{FF2B5EF4-FFF2-40B4-BE49-F238E27FC236}">
                <a16:creationId xmlns:a16="http://schemas.microsoft.com/office/drawing/2014/main" id="{5AED0A17-2630-460D-A37F-367B28CC8EA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6DB2C6F-46E6-4986-882C-F650BF2E1B90}"/>
              </a:ext>
            </a:extLst>
          </p:cNvPr>
          <p:cNvSpPr>
            <a:spLocks noGrp="1"/>
          </p:cNvSpPr>
          <p:nvPr>
            <p:ph type="sldNum" sz="quarter" idx="12"/>
          </p:nvPr>
        </p:nvSpPr>
        <p:spPr/>
        <p:txBody>
          <a:bodyPr/>
          <a:lstStyle/>
          <a:p>
            <a:fld id="{B83AAB81-27A9-449C-A87B-8BF8655382AC}" type="slidenum">
              <a:rPr lang="en-GB" smtClean="0"/>
              <a:t>‹#›</a:t>
            </a:fld>
            <a:endParaRPr lang="en-GB"/>
          </a:p>
        </p:txBody>
      </p:sp>
    </p:spTree>
    <p:extLst>
      <p:ext uri="{BB962C8B-B14F-4D97-AF65-F5344CB8AC3E}">
        <p14:creationId xmlns:p14="http://schemas.microsoft.com/office/powerpoint/2010/main" val="9802864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01F1E-380E-417E-9AF0-7C253B96C947}"/>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56548AB-E927-4D07-91D4-7D56269479C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E10AF3BF-8A76-4E2D-BD05-5E17EBAACBB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78D90E3-7910-490F-980C-BB8AD624FD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1A9FE962-9DC4-4FCC-AF8A-803BD31836A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FF0E8722-D04C-4FE6-896F-7AC22389B437}"/>
              </a:ext>
            </a:extLst>
          </p:cNvPr>
          <p:cNvSpPr>
            <a:spLocks noGrp="1"/>
          </p:cNvSpPr>
          <p:nvPr>
            <p:ph type="dt" sz="half" idx="10"/>
          </p:nvPr>
        </p:nvSpPr>
        <p:spPr/>
        <p:txBody>
          <a:bodyPr/>
          <a:lstStyle/>
          <a:p>
            <a:fld id="{2B8988D6-C852-4D05-977F-9A7C7B68DC01}" type="datetimeFigureOut">
              <a:rPr lang="en-GB" smtClean="0"/>
              <a:t>07/02/2024</a:t>
            </a:fld>
            <a:endParaRPr lang="en-GB"/>
          </a:p>
        </p:txBody>
      </p:sp>
      <p:sp>
        <p:nvSpPr>
          <p:cNvPr id="8" name="Footer Placeholder 7">
            <a:extLst>
              <a:ext uri="{FF2B5EF4-FFF2-40B4-BE49-F238E27FC236}">
                <a16:creationId xmlns:a16="http://schemas.microsoft.com/office/drawing/2014/main" id="{7A8E6B31-9542-47E2-B8E4-7477EB72460D}"/>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E5B8177C-6CEC-4C95-ACC4-CB9E46D9B440}"/>
              </a:ext>
            </a:extLst>
          </p:cNvPr>
          <p:cNvSpPr>
            <a:spLocks noGrp="1"/>
          </p:cNvSpPr>
          <p:nvPr>
            <p:ph type="sldNum" sz="quarter" idx="12"/>
          </p:nvPr>
        </p:nvSpPr>
        <p:spPr/>
        <p:txBody>
          <a:bodyPr/>
          <a:lstStyle/>
          <a:p>
            <a:fld id="{B83AAB81-27A9-449C-A87B-8BF8655382AC}" type="slidenum">
              <a:rPr lang="en-GB" smtClean="0"/>
              <a:t>‹#›</a:t>
            </a:fld>
            <a:endParaRPr lang="en-GB"/>
          </a:p>
        </p:txBody>
      </p:sp>
    </p:spTree>
    <p:extLst>
      <p:ext uri="{BB962C8B-B14F-4D97-AF65-F5344CB8AC3E}">
        <p14:creationId xmlns:p14="http://schemas.microsoft.com/office/powerpoint/2010/main" val="772411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55FC0-1387-4FB3-A0B7-60A316BB9B07}"/>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E4C22C1D-7A61-42F4-B231-23EF5B911AB3}"/>
              </a:ext>
            </a:extLst>
          </p:cNvPr>
          <p:cNvSpPr>
            <a:spLocks noGrp="1"/>
          </p:cNvSpPr>
          <p:nvPr>
            <p:ph type="dt" sz="half" idx="10"/>
          </p:nvPr>
        </p:nvSpPr>
        <p:spPr/>
        <p:txBody>
          <a:bodyPr/>
          <a:lstStyle/>
          <a:p>
            <a:fld id="{2B8988D6-C852-4D05-977F-9A7C7B68DC01}" type="datetimeFigureOut">
              <a:rPr lang="en-GB" smtClean="0"/>
              <a:t>07/02/2024</a:t>
            </a:fld>
            <a:endParaRPr lang="en-GB"/>
          </a:p>
        </p:txBody>
      </p:sp>
      <p:sp>
        <p:nvSpPr>
          <p:cNvPr id="4" name="Footer Placeholder 3">
            <a:extLst>
              <a:ext uri="{FF2B5EF4-FFF2-40B4-BE49-F238E27FC236}">
                <a16:creationId xmlns:a16="http://schemas.microsoft.com/office/drawing/2014/main" id="{11CA4A1C-227C-4B34-876D-5A0C4B118702}"/>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93E5CC6F-C650-4C2D-BD47-75AE20BA6F8A}"/>
              </a:ext>
            </a:extLst>
          </p:cNvPr>
          <p:cNvSpPr>
            <a:spLocks noGrp="1"/>
          </p:cNvSpPr>
          <p:nvPr>
            <p:ph type="sldNum" sz="quarter" idx="12"/>
          </p:nvPr>
        </p:nvSpPr>
        <p:spPr/>
        <p:txBody>
          <a:bodyPr/>
          <a:lstStyle/>
          <a:p>
            <a:fld id="{B83AAB81-27A9-449C-A87B-8BF8655382AC}" type="slidenum">
              <a:rPr lang="en-GB" smtClean="0"/>
              <a:t>‹#›</a:t>
            </a:fld>
            <a:endParaRPr lang="en-GB"/>
          </a:p>
        </p:txBody>
      </p:sp>
    </p:spTree>
    <p:extLst>
      <p:ext uri="{BB962C8B-B14F-4D97-AF65-F5344CB8AC3E}">
        <p14:creationId xmlns:p14="http://schemas.microsoft.com/office/powerpoint/2010/main" val="33137000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4E9ADCA-AD08-4EAF-ACA4-23503497AC18}"/>
              </a:ext>
            </a:extLst>
          </p:cNvPr>
          <p:cNvSpPr>
            <a:spLocks noGrp="1"/>
          </p:cNvSpPr>
          <p:nvPr>
            <p:ph type="dt" sz="half" idx="10"/>
          </p:nvPr>
        </p:nvSpPr>
        <p:spPr/>
        <p:txBody>
          <a:bodyPr/>
          <a:lstStyle/>
          <a:p>
            <a:fld id="{2B8988D6-C852-4D05-977F-9A7C7B68DC01}" type="datetimeFigureOut">
              <a:rPr lang="en-GB" smtClean="0"/>
              <a:t>07/02/2024</a:t>
            </a:fld>
            <a:endParaRPr lang="en-GB"/>
          </a:p>
        </p:txBody>
      </p:sp>
      <p:sp>
        <p:nvSpPr>
          <p:cNvPr id="3" name="Footer Placeholder 2">
            <a:extLst>
              <a:ext uri="{FF2B5EF4-FFF2-40B4-BE49-F238E27FC236}">
                <a16:creationId xmlns:a16="http://schemas.microsoft.com/office/drawing/2014/main" id="{8819053E-FBF1-4903-B6AF-763B09D7DA37}"/>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E7B1F295-7295-43A1-BB66-1877E44DED1D}"/>
              </a:ext>
            </a:extLst>
          </p:cNvPr>
          <p:cNvSpPr>
            <a:spLocks noGrp="1"/>
          </p:cNvSpPr>
          <p:nvPr>
            <p:ph type="sldNum" sz="quarter" idx="12"/>
          </p:nvPr>
        </p:nvSpPr>
        <p:spPr/>
        <p:txBody>
          <a:bodyPr/>
          <a:lstStyle/>
          <a:p>
            <a:fld id="{B83AAB81-27A9-449C-A87B-8BF8655382AC}" type="slidenum">
              <a:rPr lang="en-GB" smtClean="0"/>
              <a:t>‹#›</a:t>
            </a:fld>
            <a:endParaRPr lang="en-GB"/>
          </a:p>
        </p:txBody>
      </p:sp>
    </p:spTree>
    <p:extLst>
      <p:ext uri="{BB962C8B-B14F-4D97-AF65-F5344CB8AC3E}">
        <p14:creationId xmlns:p14="http://schemas.microsoft.com/office/powerpoint/2010/main" val="5077337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189A3-6520-47E4-81E9-E0DC2068B3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1BDA8E9-4143-42E2-8476-C347054299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778B6C75-6521-40BC-9DA0-D01279F34F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E7B91E8-FFA9-4854-87D8-4E0D53AAE465}"/>
              </a:ext>
            </a:extLst>
          </p:cNvPr>
          <p:cNvSpPr>
            <a:spLocks noGrp="1"/>
          </p:cNvSpPr>
          <p:nvPr>
            <p:ph type="dt" sz="half" idx="10"/>
          </p:nvPr>
        </p:nvSpPr>
        <p:spPr/>
        <p:txBody>
          <a:bodyPr/>
          <a:lstStyle/>
          <a:p>
            <a:fld id="{2B8988D6-C852-4D05-977F-9A7C7B68DC01}" type="datetimeFigureOut">
              <a:rPr lang="en-GB" smtClean="0"/>
              <a:t>07/02/2024</a:t>
            </a:fld>
            <a:endParaRPr lang="en-GB"/>
          </a:p>
        </p:txBody>
      </p:sp>
      <p:sp>
        <p:nvSpPr>
          <p:cNvPr id="6" name="Footer Placeholder 5">
            <a:extLst>
              <a:ext uri="{FF2B5EF4-FFF2-40B4-BE49-F238E27FC236}">
                <a16:creationId xmlns:a16="http://schemas.microsoft.com/office/drawing/2014/main" id="{621F050B-91A0-40A2-BF4E-5BD0E8F482F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AADF5A5-1140-4E9C-AD71-03E80CE3073D}"/>
              </a:ext>
            </a:extLst>
          </p:cNvPr>
          <p:cNvSpPr>
            <a:spLocks noGrp="1"/>
          </p:cNvSpPr>
          <p:nvPr>
            <p:ph type="sldNum" sz="quarter" idx="12"/>
          </p:nvPr>
        </p:nvSpPr>
        <p:spPr/>
        <p:txBody>
          <a:bodyPr/>
          <a:lstStyle/>
          <a:p>
            <a:fld id="{B83AAB81-27A9-449C-A87B-8BF8655382AC}" type="slidenum">
              <a:rPr lang="en-GB" smtClean="0"/>
              <a:t>‹#›</a:t>
            </a:fld>
            <a:endParaRPr lang="en-GB"/>
          </a:p>
        </p:txBody>
      </p:sp>
    </p:spTree>
    <p:extLst>
      <p:ext uri="{BB962C8B-B14F-4D97-AF65-F5344CB8AC3E}">
        <p14:creationId xmlns:p14="http://schemas.microsoft.com/office/powerpoint/2010/main" val="12807600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152A6-0F69-4C7A-B8E7-6534515B81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4F0C24F5-126E-4290-A830-97A46A5E6C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F08ABE5-8D3A-4DEB-95D8-0D21EF3995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5701606-6A36-4FE8-BC3E-A6BCAF5BC6B2}"/>
              </a:ext>
            </a:extLst>
          </p:cNvPr>
          <p:cNvSpPr>
            <a:spLocks noGrp="1"/>
          </p:cNvSpPr>
          <p:nvPr>
            <p:ph type="dt" sz="half" idx="10"/>
          </p:nvPr>
        </p:nvSpPr>
        <p:spPr/>
        <p:txBody>
          <a:bodyPr/>
          <a:lstStyle/>
          <a:p>
            <a:fld id="{2B8988D6-C852-4D05-977F-9A7C7B68DC01}" type="datetimeFigureOut">
              <a:rPr lang="en-GB" smtClean="0"/>
              <a:t>07/02/2024</a:t>
            </a:fld>
            <a:endParaRPr lang="en-GB"/>
          </a:p>
        </p:txBody>
      </p:sp>
      <p:sp>
        <p:nvSpPr>
          <p:cNvPr id="6" name="Footer Placeholder 5">
            <a:extLst>
              <a:ext uri="{FF2B5EF4-FFF2-40B4-BE49-F238E27FC236}">
                <a16:creationId xmlns:a16="http://schemas.microsoft.com/office/drawing/2014/main" id="{62DB8631-84CE-481A-82C8-5A7DDF5D9F6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CE63662-3ECD-4003-B286-F8BFA0960013}"/>
              </a:ext>
            </a:extLst>
          </p:cNvPr>
          <p:cNvSpPr>
            <a:spLocks noGrp="1"/>
          </p:cNvSpPr>
          <p:nvPr>
            <p:ph type="sldNum" sz="quarter" idx="12"/>
          </p:nvPr>
        </p:nvSpPr>
        <p:spPr/>
        <p:txBody>
          <a:bodyPr/>
          <a:lstStyle/>
          <a:p>
            <a:fld id="{B83AAB81-27A9-449C-A87B-8BF8655382AC}" type="slidenum">
              <a:rPr lang="en-GB" smtClean="0"/>
              <a:t>‹#›</a:t>
            </a:fld>
            <a:endParaRPr lang="en-GB"/>
          </a:p>
        </p:txBody>
      </p:sp>
    </p:spTree>
    <p:extLst>
      <p:ext uri="{BB962C8B-B14F-4D97-AF65-F5344CB8AC3E}">
        <p14:creationId xmlns:p14="http://schemas.microsoft.com/office/powerpoint/2010/main" val="10543497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0A4E0-CA7E-4A07-82EB-78BB04EF95F5}"/>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10E1EBA-8C58-42B5-8352-1BB73D9BCFE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9FFFA64-DDD6-4126-8C92-EFDAC0664D45}"/>
              </a:ext>
            </a:extLst>
          </p:cNvPr>
          <p:cNvSpPr>
            <a:spLocks noGrp="1"/>
          </p:cNvSpPr>
          <p:nvPr>
            <p:ph type="dt" sz="half" idx="10"/>
          </p:nvPr>
        </p:nvSpPr>
        <p:spPr/>
        <p:txBody>
          <a:bodyPr/>
          <a:lstStyle/>
          <a:p>
            <a:fld id="{2B8988D6-C852-4D05-977F-9A7C7B68DC01}" type="datetimeFigureOut">
              <a:rPr lang="en-GB" smtClean="0"/>
              <a:t>07/02/2024</a:t>
            </a:fld>
            <a:endParaRPr lang="en-GB"/>
          </a:p>
        </p:txBody>
      </p:sp>
      <p:sp>
        <p:nvSpPr>
          <p:cNvPr id="5" name="Footer Placeholder 4">
            <a:extLst>
              <a:ext uri="{FF2B5EF4-FFF2-40B4-BE49-F238E27FC236}">
                <a16:creationId xmlns:a16="http://schemas.microsoft.com/office/drawing/2014/main" id="{E2D60CB2-977D-4861-B16F-671EDCAB347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E54E9DD-D5B7-4794-BEF1-6DC63011362F}"/>
              </a:ext>
            </a:extLst>
          </p:cNvPr>
          <p:cNvSpPr>
            <a:spLocks noGrp="1"/>
          </p:cNvSpPr>
          <p:nvPr>
            <p:ph type="sldNum" sz="quarter" idx="12"/>
          </p:nvPr>
        </p:nvSpPr>
        <p:spPr/>
        <p:txBody>
          <a:bodyPr/>
          <a:lstStyle/>
          <a:p>
            <a:fld id="{B83AAB81-27A9-449C-A87B-8BF8655382AC}" type="slidenum">
              <a:rPr lang="en-GB" smtClean="0"/>
              <a:t>‹#›</a:t>
            </a:fld>
            <a:endParaRPr lang="en-GB"/>
          </a:p>
        </p:txBody>
      </p:sp>
    </p:spTree>
    <p:extLst>
      <p:ext uri="{BB962C8B-B14F-4D97-AF65-F5344CB8AC3E}">
        <p14:creationId xmlns:p14="http://schemas.microsoft.com/office/powerpoint/2010/main" val="11448072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809F57A-81CA-4D6E-8889-3579659317D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1549444-35B6-470C-9793-B1B5693A3130}"/>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592F179-F0CD-4048-8AAC-3230E2AF0A9C}"/>
              </a:ext>
            </a:extLst>
          </p:cNvPr>
          <p:cNvSpPr>
            <a:spLocks noGrp="1"/>
          </p:cNvSpPr>
          <p:nvPr>
            <p:ph type="dt" sz="half" idx="10"/>
          </p:nvPr>
        </p:nvSpPr>
        <p:spPr/>
        <p:txBody>
          <a:bodyPr/>
          <a:lstStyle/>
          <a:p>
            <a:fld id="{2B8988D6-C852-4D05-977F-9A7C7B68DC01}" type="datetimeFigureOut">
              <a:rPr lang="en-GB" smtClean="0"/>
              <a:t>07/02/2024</a:t>
            </a:fld>
            <a:endParaRPr lang="en-GB"/>
          </a:p>
        </p:txBody>
      </p:sp>
      <p:sp>
        <p:nvSpPr>
          <p:cNvPr id="5" name="Footer Placeholder 4">
            <a:extLst>
              <a:ext uri="{FF2B5EF4-FFF2-40B4-BE49-F238E27FC236}">
                <a16:creationId xmlns:a16="http://schemas.microsoft.com/office/drawing/2014/main" id="{4786FA12-E0BA-4BB9-8F0C-93A6245B0D9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2B5DFB-38C5-40A9-A491-5B971344A1D8}"/>
              </a:ext>
            </a:extLst>
          </p:cNvPr>
          <p:cNvSpPr>
            <a:spLocks noGrp="1"/>
          </p:cNvSpPr>
          <p:nvPr>
            <p:ph type="sldNum" sz="quarter" idx="12"/>
          </p:nvPr>
        </p:nvSpPr>
        <p:spPr/>
        <p:txBody>
          <a:bodyPr/>
          <a:lstStyle/>
          <a:p>
            <a:fld id="{B83AAB81-27A9-449C-A87B-8BF8655382AC}" type="slidenum">
              <a:rPr lang="en-GB" smtClean="0"/>
              <a:t>‹#›</a:t>
            </a:fld>
            <a:endParaRPr lang="en-GB"/>
          </a:p>
        </p:txBody>
      </p:sp>
    </p:spTree>
    <p:extLst>
      <p:ext uri="{BB962C8B-B14F-4D97-AF65-F5344CB8AC3E}">
        <p14:creationId xmlns:p14="http://schemas.microsoft.com/office/powerpoint/2010/main" val="42243312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12192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914400" y="762001"/>
            <a:ext cx="103632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899584" y="3962400"/>
            <a:ext cx="10392833"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IE" kern="0" dirty="0">
              <a:solidFill>
                <a:srgbClr val="FFFFFF"/>
              </a:solidFill>
            </a:endParaRPr>
          </a:p>
        </p:txBody>
      </p:sp>
      <p:sp>
        <p:nvSpPr>
          <p:cNvPr id="23" name="Shape 23"/>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buSzPct val="25000"/>
              <a:defRPr/>
            </a:pPr>
            <a:fld id="{00000000-1234-1234-1234-123412341234}" type="slidenum">
              <a:rPr lang="en-US" sz="900" kern="0" smtClean="0">
                <a:solidFill>
                  <a:srgbClr val="FFFFFF"/>
                </a:solidFill>
                <a:latin typeface="Arial"/>
                <a:ea typeface="Arial"/>
                <a:cs typeface="Arial"/>
                <a:sym typeface="Arial"/>
              </a:rPr>
              <a:pPr>
                <a:buSzPct val="25000"/>
                <a:defRPr/>
              </a:pPr>
              <a:t>‹#›</a:t>
            </a:fld>
            <a:endParaRPr lang="en-US" sz="900" kern="0" dirty="0">
              <a:solidFill>
                <a:srgbClr val="FFFFFF"/>
              </a:solidFill>
              <a:latin typeface="Arial"/>
              <a:ea typeface="Arial"/>
              <a:cs typeface="Arial"/>
              <a:sym typeface="Arial"/>
            </a:endParaRPr>
          </a:p>
        </p:txBody>
      </p:sp>
    </p:spTree>
    <p:extLst>
      <p:ext uri="{BB962C8B-B14F-4D97-AF65-F5344CB8AC3E}">
        <p14:creationId xmlns:p14="http://schemas.microsoft.com/office/powerpoint/2010/main" val="32560972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609600" y="215372"/>
            <a:ext cx="109728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609600" y="1556327"/>
            <a:ext cx="10972800" cy="4586896"/>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buSzPct val="25000"/>
            </a:pPr>
            <a:fld id="{00000000-1234-1234-1234-123412341234}" type="slidenum">
              <a:rPr lang="en-US" sz="900" smtClean="0">
                <a:solidFill>
                  <a:schemeClr val="lt1"/>
                </a:solidFill>
                <a:latin typeface="Arial"/>
                <a:ea typeface="Arial"/>
                <a:cs typeface="Arial"/>
                <a:sym typeface="Arial"/>
              </a:rPr>
              <a:pPr>
                <a:buSzPct val="25000"/>
              </a:pPr>
              <a:t>‹#›</a:t>
            </a:fld>
            <a:endParaRPr lang="en-US" sz="900"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879753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609600" y="215372"/>
            <a:ext cx="109728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609601" y="1552575"/>
            <a:ext cx="5349025" cy="469408"/>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609601" y="2216772"/>
            <a:ext cx="5349025" cy="552186"/>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601" y="2953477"/>
            <a:ext cx="5349025" cy="525368"/>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09601" y="3640944"/>
            <a:ext cx="5349025" cy="525368"/>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buSzPct val="25000"/>
            </a:pPr>
            <a:fld id="{00000000-1234-1234-1234-123412341234}" type="slidenum">
              <a:rPr lang="en-US" sz="900" smtClean="0">
                <a:solidFill>
                  <a:schemeClr val="lt1"/>
                </a:solidFill>
                <a:latin typeface="Arial"/>
                <a:ea typeface="Arial"/>
                <a:cs typeface="Arial"/>
                <a:sym typeface="Arial"/>
              </a:rPr>
              <a:pPr>
                <a:buSzPct val="25000"/>
              </a:pPr>
              <a:t>‹#›</a:t>
            </a:fld>
            <a:endParaRPr lang="en-US" sz="900"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609601" y="4352925"/>
            <a:ext cx="5349025" cy="476250"/>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609601" y="5010150"/>
            <a:ext cx="5349025" cy="514350"/>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609601" y="5692775"/>
            <a:ext cx="5349025" cy="566738"/>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6163735" y="1557339"/>
            <a:ext cx="5418667" cy="465137"/>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6163733" y="2216150"/>
            <a:ext cx="5418667" cy="552450"/>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6163733" y="2952751"/>
            <a:ext cx="5418667" cy="525463"/>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6163733" y="3641726"/>
            <a:ext cx="5418667" cy="523875"/>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6163733" y="4352925"/>
            <a:ext cx="5418667" cy="476250"/>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6284384" y="5010150"/>
            <a:ext cx="5298016" cy="514350"/>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6284384" y="5692775"/>
            <a:ext cx="5298016" cy="566738"/>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088612299"/>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609600" y="215372"/>
            <a:ext cx="109728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609600" y="1556327"/>
            <a:ext cx="10972800" cy="2267528"/>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609600" y="3971926"/>
            <a:ext cx="10972800" cy="2105025"/>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buSzPct val="25000"/>
            </a:pPr>
            <a:fld id="{00000000-1234-1234-1234-123412341234}" type="slidenum">
              <a:rPr lang="en-US" sz="900" smtClean="0">
                <a:solidFill>
                  <a:schemeClr val="lt1"/>
                </a:solidFill>
                <a:latin typeface="Arial"/>
                <a:ea typeface="Arial"/>
                <a:cs typeface="Arial"/>
                <a:sym typeface="Arial"/>
              </a:rPr>
              <a:pPr>
                <a:buSzPct val="25000"/>
              </a:pPr>
              <a:t>‹#›</a:t>
            </a:fld>
            <a:endParaRPr lang="en-US" sz="900"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3663949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74B6B5-1C8E-463E-804C-08CA314D0C0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7AB9769-BC9A-4B28-8DFB-224A50BC84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5B18FC2-A755-44DA-AFAF-3D03341714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B8988D6-C852-4D05-977F-9A7C7B68DC01}" type="datetimeFigureOut">
              <a:rPr lang="en-GB" smtClean="0"/>
              <a:t>07/02/2024</a:t>
            </a:fld>
            <a:endParaRPr lang="en-GB"/>
          </a:p>
        </p:txBody>
      </p:sp>
      <p:sp>
        <p:nvSpPr>
          <p:cNvPr id="5" name="Footer Placeholder 4">
            <a:extLst>
              <a:ext uri="{FF2B5EF4-FFF2-40B4-BE49-F238E27FC236}">
                <a16:creationId xmlns:a16="http://schemas.microsoft.com/office/drawing/2014/main" id="{4E5A0B63-87C5-4AB8-BB55-7E915461D5D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AF7343A7-5C72-4864-99A8-13EE338D26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3AAB81-27A9-449C-A87B-8BF8655382AC}" type="slidenum">
              <a:rPr lang="en-GB" smtClean="0"/>
              <a:t>‹#›</a:t>
            </a:fld>
            <a:endParaRPr lang="en-GB"/>
          </a:p>
        </p:txBody>
      </p:sp>
    </p:spTree>
    <p:extLst>
      <p:ext uri="{BB962C8B-B14F-4D97-AF65-F5344CB8AC3E}">
        <p14:creationId xmlns:p14="http://schemas.microsoft.com/office/powerpoint/2010/main" val="37625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pokerfuse.com/features/special-feature/27115-statistics-2015-wsop-highlight-successes-and-opportunities/" TargetMode="External"/><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hyperlink" Target="https://creativecommons.org/licenses/by/3.0/"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4.xml"/><Relationship Id="rId1" Type="http://schemas.openxmlformats.org/officeDocument/2006/relationships/vmlDrawing" Target="../drawings/vmlDrawing1.vml"/><Relationship Id="rId4" Type="http://schemas.openxmlformats.org/officeDocument/2006/relationships/image" Target="../media/image2.w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3.xml"/><Relationship Id="rId1" Type="http://schemas.openxmlformats.org/officeDocument/2006/relationships/vmlDrawing" Target="../drawings/vmlDrawing2.vml"/><Relationship Id="rId6" Type="http://schemas.openxmlformats.org/officeDocument/2006/relationships/image" Target="../media/image4.wmf"/><Relationship Id="rId5" Type="http://schemas.openxmlformats.org/officeDocument/2006/relationships/oleObject" Target="../embeddings/oleObject3.bin"/><Relationship Id="rId4" Type="http://schemas.openxmlformats.org/officeDocument/2006/relationships/image" Target="../media/image3.w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4.xml"/><Relationship Id="rId1" Type="http://schemas.openxmlformats.org/officeDocument/2006/relationships/vmlDrawing" Target="../drawings/vmlDrawing3.vml"/><Relationship Id="rId4" Type="http://schemas.openxmlformats.org/officeDocument/2006/relationships/image" Target="../media/image2.w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4.xml"/><Relationship Id="rId1" Type="http://schemas.openxmlformats.org/officeDocument/2006/relationships/vmlDrawing" Target="../drawings/vmlDrawing4.vml"/><Relationship Id="rId4" Type="http://schemas.openxmlformats.org/officeDocument/2006/relationships/image" Target="../media/image5.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14.xml"/><Relationship Id="rId1" Type="http://schemas.openxmlformats.org/officeDocument/2006/relationships/vmlDrawing" Target="../drawings/vmlDrawing5.vml"/><Relationship Id="rId5" Type="http://schemas.openxmlformats.org/officeDocument/2006/relationships/oleObject" Target="../embeddings/oleObject7.bin"/><Relationship Id="rId4" Type="http://schemas.openxmlformats.org/officeDocument/2006/relationships/image" Target="../media/image6.wmf"/></Relationships>
</file>

<file path=ppt/slides/_rels/slide12.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slideLayout" Target="../slideLayouts/slideLayout14.xml"/><Relationship Id="rId1" Type="http://schemas.openxmlformats.org/officeDocument/2006/relationships/vmlDrawing" Target="../drawings/vmlDrawing6.vml"/><Relationship Id="rId6" Type="http://schemas.openxmlformats.org/officeDocument/2006/relationships/image" Target="../media/image8.wmf"/><Relationship Id="rId5" Type="http://schemas.openxmlformats.org/officeDocument/2006/relationships/oleObject" Target="../embeddings/oleObject9.bin"/><Relationship Id="rId4" Type="http://schemas.openxmlformats.org/officeDocument/2006/relationships/image" Target="../media/image7.wmf"/></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notesSlide" Target="../notesSlides/notesSlide2.xml"/><Relationship Id="rId7" Type="http://schemas.openxmlformats.org/officeDocument/2006/relationships/oleObject" Target="../embeddings/oleObject12.bin"/><Relationship Id="rId2" Type="http://schemas.openxmlformats.org/officeDocument/2006/relationships/slideLayout" Target="../slideLayouts/slideLayout15.xml"/><Relationship Id="rId1" Type="http://schemas.openxmlformats.org/officeDocument/2006/relationships/vmlDrawing" Target="../drawings/vmlDrawing7.vml"/><Relationship Id="rId6" Type="http://schemas.openxmlformats.org/officeDocument/2006/relationships/image" Target="../media/image11.wmf"/><Relationship Id="rId5" Type="http://schemas.openxmlformats.org/officeDocument/2006/relationships/oleObject" Target="../embeddings/oleObject11.bin"/><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oleObject" Target="../embeddings/oleObject13.bin"/><Relationship Id="rId7" Type="http://schemas.openxmlformats.org/officeDocument/2006/relationships/oleObject" Target="../embeddings/oleObject15.bin"/><Relationship Id="rId12" Type="http://schemas.openxmlformats.org/officeDocument/2006/relationships/image" Target="../media/image18.wmf"/><Relationship Id="rId2" Type="http://schemas.openxmlformats.org/officeDocument/2006/relationships/slideLayout" Target="../slideLayouts/slideLayout13.xml"/><Relationship Id="rId1" Type="http://schemas.openxmlformats.org/officeDocument/2006/relationships/vmlDrawing" Target="../drawings/vmlDrawing8.vml"/><Relationship Id="rId6" Type="http://schemas.openxmlformats.org/officeDocument/2006/relationships/image" Target="../media/image15.wmf"/><Relationship Id="rId11" Type="http://schemas.openxmlformats.org/officeDocument/2006/relationships/oleObject" Target="../embeddings/oleObject17.bin"/><Relationship Id="rId5" Type="http://schemas.openxmlformats.org/officeDocument/2006/relationships/oleObject" Target="../embeddings/oleObject14.bin"/><Relationship Id="rId10" Type="http://schemas.openxmlformats.org/officeDocument/2006/relationships/image" Target="../media/image17.wmf"/><Relationship Id="rId4" Type="http://schemas.openxmlformats.org/officeDocument/2006/relationships/image" Target="../media/image14.wmf"/><Relationship Id="rId9" Type="http://schemas.openxmlformats.org/officeDocument/2006/relationships/oleObject" Target="../embeddings/oleObject16.bin"/></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8" Type="http://schemas.openxmlformats.org/officeDocument/2006/relationships/image" Target="../media/image22.wmf"/><Relationship Id="rId13" Type="http://schemas.openxmlformats.org/officeDocument/2006/relationships/oleObject" Target="../embeddings/oleObject23.bin"/><Relationship Id="rId3" Type="http://schemas.openxmlformats.org/officeDocument/2006/relationships/oleObject" Target="../embeddings/oleObject18.bin"/><Relationship Id="rId7" Type="http://schemas.openxmlformats.org/officeDocument/2006/relationships/oleObject" Target="../embeddings/oleObject20.bin"/><Relationship Id="rId12" Type="http://schemas.openxmlformats.org/officeDocument/2006/relationships/image" Target="../media/image24.wmf"/><Relationship Id="rId2" Type="http://schemas.openxmlformats.org/officeDocument/2006/relationships/slideLayout" Target="../slideLayouts/slideLayout13.xml"/><Relationship Id="rId16" Type="http://schemas.openxmlformats.org/officeDocument/2006/relationships/image" Target="../media/image26.wmf"/><Relationship Id="rId1" Type="http://schemas.openxmlformats.org/officeDocument/2006/relationships/vmlDrawing" Target="../drawings/vmlDrawing9.vml"/><Relationship Id="rId6" Type="http://schemas.openxmlformats.org/officeDocument/2006/relationships/image" Target="../media/image21.wmf"/><Relationship Id="rId11" Type="http://schemas.openxmlformats.org/officeDocument/2006/relationships/oleObject" Target="../embeddings/oleObject22.bin"/><Relationship Id="rId5" Type="http://schemas.openxmlformats.org/officeDocument/2006/relationships/oleObject" Target="../embeddings/oleObject19.bin"/><Relationship Id="rId15" Type="http://schemas.openxmlformats.org/officeDocument/2006/relationships/oleObject" Target="../embeddings/oleObject24.bin"/><Relationship Id="rId10" Type="http://schemas.openxmlformats.org/officeDocument/2006/relationships/image" Target="../media/image23.wmf"/><Relationship Id="rId4" Type="http://schemas.openxmlformats.org/officeDocument/2006/relationships/image" Target="../media/image20.wmf"/><Relationship Id="rId9" Type="http://schemas.openxmlformats.org/officeDocument/2006/relationships/oleObject" Target="../embeddings/oleObject21.bin"/><Relationship Id="rId14" Type="http://schemas.openxmlformats.org/officeDocument/2006/relationships/image" Target="../media/image25.w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15.xml"/><Relationship Id="rId1" Type="http://schemas.openxmlformats.org/officeDocument/2006/relationships/vmlDrawing" Target="../drawings/vmlDrawing10.vml"/><Relationship Id="rId6" Type="http://schemas.openxmlformats.org/officeDocument/2006/relationships/image" Target="../media/image28.wmf"/><Relationship Id="rId5" Type="http://schemas.openxmlformats.org/officeDocument/2006/relationships/oleObject" Target="../embeddings/oleObject26.bin"/><Relationship Id="rId4" Type="http://schemas.openxmlformats.org/officeDocument/2006/relationships/image" Target="../media/image27.w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image" Target="../media/image29.png"/><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13.xml"/><Relationship Id="rId1" Type="http://schemas.openxmlformats.org/officeDocument/2006/relationships/vmlDrawing" Target="../drawings/vmlDrawing11.vml"/><Relationship Id="rId4" Type="http://schemas.openxmlformats.org/officeDocument/2006/relationships/image" Target="../media/image31.wmf"/></Relationships>
</file>

<file path=ppt/slides/_rels/slide24.xml.rels><?xml version="1.0" encoding="UTF-8" standalone="yes"?>
<Relationships xmlns="http://schemas.openxmlformats.org/package/2006/relationships"><Relationship Id="rId8" Type="http://schemas.openxmlformats.org/officeDocument/2006/relationships/image" Target="../media/image34.wmf"/><Relationship Id="rId3" Type="http://schemas.openxmlformats.org/officeDocument/2006/relationships/oleObject" Target="../embeddings/oleObject28.bin"/><Relationship Id="rId7" Type="http://schemas.openxmlformats.org/officeDocument/2006/relationships/oleObject" Target="../embeddings/oleObject30.bin"/><Relationship Id="rId2" Type="http://schemas.openxmlformats.org/officeDocument/2006/relationships/slideLayout" Target="../slideLayouts/slideLayout14.xml"/><Relationship Id="rId1" Type="http://schemas.openxmlformats.org/officeDocument/2006/relationships/vmlDrawing" Target="../drawings/vmlDrawing12.vml"/><Relationship Id="rId6" Type="http://schemas.openxmlformats.org/officeDocument/2006/relationships/image" Target="../media/image33.wmf"/><Relationship Id="rId5" Type="http://schemas.openxmlformats.org/officeDocument/2006/relationships/oleObject" Target="../embeddings/oleObject29.bin"/><Relationship Id="rId10" Type="http://schemas.openxmlformats.org/officeDocument/2006/relationships/image" Target="../media/image35.wmf"/><Relationship Id="rId4" Type="http://schemas.openxmlformats.org/officeDocument/2006/relationships/image" Target="../media/image32.wmf"/><Relationship Id="rId9" Type="http://schemas.openxmlformats.org/officeDocument/2006/relationships/oleObject" Target="../embeddings/oleObject31.bin"/></Relationships>
</file>

<file path=ppt/slides/_rels/slide25.xml.rels><?xml version="1.0" encoding="UTF-8" standalone="yes"?>
<Relationships xmlns="http://schemas.openxmlformats.org/package/2006/relationships"><Relationship Id="rId8" Type="http://schemas.openxmlformats.org/officeDocument/2006/relationships/image" Target="../media/image38.wmf"/><Relationship Id="rId3" Type="http://schemas.openxmlformats.org/officeDocument/2006/relationships/oleObject" Target="../embeddings/oleObject32.bin"/><Relationship Id="rId7" Type="http://schemas.openxmlformats.org/officeDocument/2006/relationships/oleObject" Target="../embeddings/oleObject34.bin"/><Relationship Id="rId2" Type="http://schemas.openxmlformats.org/officeDocument/2006/relationships/slideLayout" Target="../slideLayouts/slideLayout13.xml"/><Relationship Id="rId1" Type="http://schemas.openxmlformats.org/officeDocument/2006/relationships/vmlDrawing" Target="../drawings/vmlDrawing13.vml"/><Relationship Id="rId6" Type="http://schemas.openxmlformats.org/officeDocument/2006/relationships/image" Target="../media/image37.wmf"/><Relationship Id="rId5" Type="http://schemas.openxmlformats.org/officeDocument/2006/relationships/oleObject" Target="../embeddings/oleObject33.bin"/><Relationship Id="rId4" Type="http://schemas.openxmlformats.org/officeDocument/2006/relationships/image" Target="../media/image36.wmf"/></Relationships>
</file>

<file path=ppt/slides/_rels/slide26.xml.rels><?xml version="1.0" encoding="UTF-8" standalone="yes"?>
<Relationships xmlns="http://schemas.openxmlformats.org/package/2006/relationships"><Relationship Id="rId8" Type="http://schemas.openxmlformats.org/officeDocument/2006/relationships/image" Target="../media/image41.wmf"/><Relationship Id="rId3" Type="http://schemas.openxmlformats.org/officeDocument/2006/relationships/oleObject" Target="../embeddings/oleObject35.bin"/><Relationship Id="rId7" Type="http://schemas.openxmlformats.org/officeDocument/2006/relationships/oleObject" Target="../embeddings/oleObject37.bin"/><Relationship Id="rId12" Type="http://schemas.openxmlformats.org/officeDocument/2006/relationships/image" Target="../media/image43.wmf"/><Relationship Id="rId2" Type="http://schemas.openxmlformats.org/officeDocument/2006/relationships/slideLayout" Target="../slideLayouts/slideLayout14.xml"/><Relationship Id="rId1" Type="http://schemas.openxmlformats.org/officeDocument/2006/relationships/vmlDrawing" Target="../drawings/vmlDrawing14.vml"/><Relationship Id="rId6" Type="http://schemas.openxmlformats.org/officeDocument/2006/relationships/image" Target="../media/image40.wmf"/><Relationship Id="rId11" Type="http://schemas.openxmlformats.org/officeDocument/2006/relationships/oleObject" Target="../embeddings/oleObject39.bin"/><Relationship Id="rId5" Type="http://schemas.openxmlformats.org/officeDocument/2006/relationships/oleObject" Target="../embeddings/oleObject36.bin"/><Relationship Id="rId10" Type="http://schemas.openxmlformats.org/officeDocument/2006/relationships/image" Target="../media/image42.wmf"/><Relationship Id="rId4" Type="http://schemas.openxmlformats.org/officeDocument/2006/relationships/image" Target="../media/image39.wmf"/><Relationship Id="rId9" Type="http://schemas.openxmlformats.org/officeDocument/2006/relationships/oleObject" Target="../embeddings/oleObject38.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Layout" Target="../slideLayouts/slideLayout15.xml"/><Relationship Id="rId1" Type="http://schemas.openxmlformats.org/officeDocument/2006/relationships/vmlDrawing" Target="../drawings/vmlDrawing15.vml"/><Relationship Id="rId4" Type="http://schemas.openxmlformats.org/officeDocument/2006/relationships/image" Target="../media/image46.wmf"/></Relationships>
</file>

<file path=ppt/slides/_rels/slide3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8" Type="http://schemas.openxmlformats.org/officeDocument/2006/relationships/image" Target="../media/image50.wmf"/><Relationship Id="rId3" Type="http://schemas.openxmlformats.org/officeDocument/2006/relationships/oleObject" Target="../embeddings/oleObject41.bin"/><Relationship Id="rId7" Type="http://schemas.openxmlformats.org/officeDocument/2006/relationships/oleObject" Target="../embeddings/oleObject43.bin"/><Relationship Id="rId2" Type="http://schemas.openxmlformats.org/officeDocument/2006/relationships/slideLayout" Target="../slideLayouts/slideLayout14.xml"/><Relationship Id="rId1" Type="http://schemas.openxmlformats.org/officeDocument/2006/relationships/vmlDrawing" Target="../drawings/vmlDrawing16.vml"/><Relationship Id="rId6" Type="http://schemas.openxmlformats.org/officeDocument/2006/relationships/image" Target="../media/image49.wmf"/><Relationship Id="rId5" Type="http://schemas.openxmlformats.org/officeDocument/2006/relationships/oleObject" Target="../embeddings/oleObject42.bin"/><Relationship Id="rId4" Type="http://schemas.openxmlformats.org/officeDocument/2006/relationships/image" Target="../media/image48.wmf"/></Relationships>
</file>

<file path=ppt/slides/_rels/slide34.xml.rels><?xml version="1.0" encoding="UTF-8" standalone="yes"?>
<Relationships xmlns="http://schemas.openxmlformats.org/package/2006/relationships"><Relationship Id="rId8" Type="http://schemas.openxmlformats.org/officeDocument/2006/relationships/image" Target="../media/image53.wmf"/><Relationship Id="rId3" Type="http://schemas.openxmlformats.org/officeDocument/2006/relationships/oleObject" Target="../embeddings/oleObject44.bin"/><Relationship Id="rId7" Type="http://schemas.openxmlformats.org/officeDocument/2006/relationships/oleObject" Target="../embeddings/oleObject46.bin"/><Relationship Id="rId2" Type="http://schemas.openxmlformats.org/officeDocument/2006/relationships/slideLayout" Target="../slideLayouts/slideLayout14.xml"/><Relationship Id="rId1" Type="http://schemas.openxmlformats.org/officeDocument/2006/relationships/vmlDrawing" Target="../drawings/vmlDrawing17.vml"/><Relationship Id="rId6" Type="http://schemas.openxmlformats.org/officeDocument/2006/relationships/image" Target="../media/image52.wmf"/><Relationship Id="rId5" Type="http://schemas.openxmlformats.org/officeDocument/2006/relationships/oleObject" Target="../embeddings/oleObject45.bin"/><Relationship Id="rId4" Type="http://schemas.openxmlformats.org/officeDocument/2006/relationships/image" Target="../media/image51.wmf"/><Relationship Id="rId9" Type="http://schemas.openxmlformats.org/officeDocument/2006/relationships/image" Target="../media/image54.png"/></Relationships>
</file>

<file path=ppt/slides/_rels/slide35.xml.rels><?xml version="1.0" encoding="UTF-8" standalone="yes"?>
<Relationships xmlns="http://schemas.openxmlformats.org/package/2006/relationships"><Relationship Id="rId8" Type="http://schemas.openxmlformats.org/officeDocument/2006/relationships/image" Target="../media/image57.wmf"/><Relationship Id="rId13" Type="http://schemas.openxmlformats.org/officeDocument/2006/relationships/image" Target="../media/image59.wmf"/><Relationship Id="rId3" Type="http://schemas.openxmlformats.org/officeDocument/2006/relationships/oleObject" Target="../embeddings/oleObject47.bin"/><Relationship Id="rId7" Type="http://schemas.openxmlformats.org/officeDocument/2006/relationships/oleObject" Target="../embeddings/oleObject49.bin"/><Relationship Id="rId12" Type="http://schemas.openxmlformats.org/officeDocument/2006/relationships/oleObject" Target="../embeddings/oleObject51.bin"/><Relationship Id="rId2" Type="http://schemas.openxmlformats.org/officeDocument/2006/relationships/slideLayout" Target="../slideLayouts/slideLayout14.xml"/><Relationship Id="rId1" Type="http://schemas.openxmlformats.org/officeDocument/2006/relationships/vmlDrawing" Target="../drawings/vmlDrawing18.vml"/><Relationship Id="rId6" Type="http://schemas.openxmlformats.org/officeDocument/2006/relationships/image" Target="../media/image56.wmf"/><Relationship Id="rId11" Type="http://schemas.openxmlformats.org/officeDocument/2006/relationships/image" Target="../media/image58.wmf"/><Relationship Id="rId5" Type="http://schemas.openxmlformats.org/officeDocument/2006/relationships/oleObject" Target="../embeddings/oleObject48.bin"/><Relationship Id="rId10" Type="http://schemas.openxmlformats.org/officeDocument/2006/relationships/oleObject" Target="../embeddings/oleObject50.bin"/><Relationship Id="rId4" Type="http://schemas.openxmlformats.org/officeDocument/2006/relationships/image" Target="../media/image55.wmf"/><Relationship Id="rId9" Type="http://schemas.openxmlformats.org/officeDocument/2006/relationships/image" Target="../media/image6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FEEDD-F495-3916-AB1D-1FB4334ACD1A}"/>
              </a:ext>
            </a:extLst>
          </p:cNvPr>
          <p:cNvSpPr>
            <a:spLocks noGrp="1"/>
          </p:cNvSpPr>
          <p:nvPr>
            <p:ph type="ctrTitle"/>
          </p:nvPr>
        </p:nvSpPr>
        <p:spPr/>
        <p:txBody>
          <a:bodyPr/>
          <a:lstStyle/>
          <a:p>
            <a:r>
              <a:rPr lang="en-GB" dirty="0"/>
              <a:t>Inferential statistics</a:t>
            </a:r>
            <a:endParaRPr lang="en-IE" dirty="0"/>
          </a:p>
        </p:txBody>
      </p:sp>
      <p:pic>
        <p:nvPicPr>
          <p:cNvPr id="5" name="Picture 4" descr="Text">
            <a:extLst>
              <a:ext uri="{FF2B5EF4-FFF2-40B4-BE49-F238E27FC236}">
                <a16:creationId xmlns:a16="http://schemas.microsoft.com/office/drawing/2014/main" id="{B0864D45-8E2E-EC8B-66B1-C2E8206CF497}"/>
              </a:ext>
            </a:extLst>
          </p:cNvPr>
          <p:cNvPicPr>
            <a:picLocks noChangeAspect="1"/>
          </p:cNvPicPr>
          <p:nvPr/>
        </p:nvPicPr>
        <p:blipFill>
          <a:blip r:embed="rId2">
            <a:alphaModFix amt="25000"/>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0" y="1"/>
            <a:ext cx="12192000" cy="6786562"/>
          </a:xfrm>
          <a:prstGeom prst="rect">
            <a:avLst/>
          </a:prstGeom>
        </p:spPr>
      </p:pic>
      <p:sp>
        <p:nvSpPr>
          <p:cNvPr id="6" name="TextBox 5">
            <a:extLst>
              <a:ext uri="{FF2B5EF4-FFF2-40B4-BE49-F238E27FC236}">
                <a16:creationId xmlns:a16="http://schemas.microsoft.com/office/drawing/2014/main" id="{AAF39423-F041-23A9-67C3-C7210C1C4C1A}"/>
              </a:ext>
            </a:extLst>
          </p:cNvPr>
          <p:cNvSpPr txBox="1"/>
          <p:nvPr/>
        </p:nvSpPr>
        <p:spPr>
          <a:xfrm>
            <a:off x="0" y="6786562"/>
            <a:ext cx="12192000" cy="230832"/>
          </a:xfrm>
          <a:prstGeom prst="rect">
            <a:avLst/>
          </a:prstGeom>
          <a:noFill/>
        </p:spPr>
        <p:txBody>
          <a:bodyPr wrap="square" rtlCol="0">
            <a:spAutoFit/>
          </a:bodyPr>
          <a:lstStyle/>
          <a:p>
            <a:r>
              <a:rPr lang="en-IE" sz="900">
                <a:hlinkClick r:id="rId3" tooltip="https://pokerfuse.com/features/special-feature/27115-statistics-2015-wsop-highlight-successes-and-opportunities/"/>
              </a:rPr>
              <a:t>This Photo</a:t>
            </a:r>
            <a:r>
              <a:rPr lang="en-IE" sz="900"/>
              <a:t> by Unknown Author is licensed under </a:t>
            </a:r>
            <a:r>
              <a:rPr lang="en-IE" sz="900">
                <a:hlinkClick r:id="rId4" tooltip="https://creativecommons.org/licenses/by/3.0/"/>
              </a:rPr>
              <a:t>CC BY</a:t>
            </a:r>
            <a:endParaRPr lang="en-IE" sz="900"/>
          </a:p>
        </p:txBody>
      </p:sp>
      <p:sp>
        <p:nvSpPr>
          <p:cNvPr id="3" name="Subtitle 2">
            <a:extLst>
              <a:ext uri="{FF2B5EF4-FFF2-40B4-BE49-F238E27FC236}">
                <a16:creationId xmlns:a16="http://schemas.microsoft.com/office/drawing/2014/main" id="{4C2F8325-514E-463E-73B8-E5BD3A4335B8}"/>
              </a:ext>
            </a:extLst>
          </p:cNvPr>
          <p:cNvSpPr>
            <a:spLocks noGrp="1"/>
          </p:cNvSpPr>
          <p:nvPr>
            <p:ph type="subTitle" idx="1"/>
          </p:nvPr>
        </p:nvSpPr>
        <p:spPr/>
        <p:txBody>
          <a:bodyPr>
            <a:normAutofit/>
          </a:bodyPr>
          <a:lstStyle/>
          <a:p>
            <a:r>
              <a:rPr lang="en-GB" sz="4400" b="1" dirty="0">
                <a:solidFill>
                  <a:srgbClr val="0070C0"/>
                </a:solidFill>
              </a:rPr>
              <a:t>Binomial probability distributions</a:t>
            </a:r>
            <a:endParaRPr lang="en-IE" sz="4400" b="1" dirty="0">
              <a:solidFill>
                <a:srgbClr val="0070C0"/>
              </a:solidFill>
            </a:endParaRPr>
          </a:p>
        </p:txBody>
      </p:sp>
    </p:spTree>
    <p:extLst>
      <p:ext uri="{BB962C8B-B14F-4D97-AF65-F5344CB8AC3E}">
        <p14:creationId xmlns:p14="http://schemas.microsoft.com/office/powerpoint/2010/main" val="37741025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vert="horz" lIns="0" tIns="0" rIns="0" bIns="0" rtlCol="0" anchor="b" anchorCtr="0">
            <a:normAutofit/>
          </a:bodyPr>
          <a:lstStyle/>
          <a:p>
            <a:r>
              <a:rPr lang="en-US" dirty="0"/>
              <a:t>Section 2. Binomial Distributions</a:t>
            </a:r>
          </a:p>
        </p:txBody>
      </p:sp>
    </p:spTree>
    <p:extLst>
      <p:ext uri="{BB962C8B-B14F-4D97-AF65-F5344CB8AC3E}">
        <p14:creationId xmlns:p14="http://schemas.microsoft.com/office/powerpoint/2010/main" val="38147338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Section 2. Objectives</a:t>
            </a:r>
            <a:endParaRPr lang="en-US" dirty="0"/>
          </a:p>
        </p:txBody>
      </p:sp>
      <p:sp>
        <p:nvSpPr>
          <p:cNvPr id="3" name="Content Placeholder 2"/>
          <p:cNvSpPr>
            <a:spLocks noGrp="1"/>
          </p:cNvSpPr>
          <p:nvPr>
            <p:ph sz="quarter" idx="13"/>
          </p:nvPr>
        </p:nvSpPr>
        <p:spPr>
          <a:xfrm>
            <a:off x="1981200" y="1556327"/>
            <a:ext cx="8116785" cy="4581002"/>
          </a:xfrm>
        </p:spPr>
        <p:txBody>
          <a:bodyPr/>
          <a:lstStyle/>
          <a:p>
            <a:pPr marL="432000" indent="-432000">
              <a:buFont typeface="+mj-lt"/>
              <a:buAutoNum type="arabicPeriod"/>
            </a:pPr>
            <a:r>
              <a:rPr lang="en-US" altLang="en-US" dirty="0"/>
              <a:t>How to determine whether a probability experiment is a binomial experiment</a:t>
            </a:r>
          </a:p>
          <a:p>
            <a:pPr marL="432000" indent="-432000">
              <a:buFont typeface="+mj-lt"/>
              <a:buAutoNum type="arabicPeriod"/>
            </a:pPr>
            <a:r>
              <a:rPr lang="en-US" altLang="en-US" dirty="0"/>
              <a:t>How to find binomial probabilities using the binomial probability formula</a:t>
            </a:r>
          </a:p>
          <a:p>
            <a:pPr marL="432000" indent="-432000">
              <a:buFont typeface="+mj-lt"/>
              <a:buAutoNum type="arabicPeriod"/>
            </a:pPr>
            <a:r>
              <a:rPr lang="en-US" altLang="en-US" dirty="0"/>
              <a:t>How to find binomial probabilities using technology, formulas, and a binomial probability table</a:t>
            </a:r>
          </a:p>
          <a:p>
            <a:pPr marL="432000" indent="-432000">
              <a:buFont typeface="+mj-lt"/>
              <a:buAutoNum type="arabicPeriod"/>
            </a:pPr>
            <a:r>
              <a:rPr lang="en-US" altLang="en-US" dirty="0"/>
              <a:t>How to construct and graph a binomial distribution</a:t>
            </a:r>
          </a:p>
          <a:p>
            <a:pPr marL="432000" indent="-432000">
              <a:buFont typeface="+mj-lt"/>
              <a:buAutoNum type="arabicPeriod"/>
            </a:pPr>
            <a:r>
              <a:rPr lang="en-US" altLang="en-US" dirty="0"/>
              <a:t>How to find the mean, variance, and standard deviation of a binomial probability distribution</a:t>
            </a:r>
          </a:p>
        </p:txBody>
      </p:sp>
    </p:spTree>
    <p:extLst>
      <p:ext uri="{BB962C8B-B14F-4D97-AF65-F5344CB8AC3E}">
        <p14:creationId xmlns:p14="http://schemas.microsoft.com/office/powerpoint/2010/main" val="10160363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Binomial Experiments</a:t>
            </a:r>
            <a:endParaRPr lang="en-US" sz="2000" b="0" dirty="0"/>
          </a:p>
        </p:txBody>
      </p:sp>
      <p:sp>
        <p:nvSpPr>
          <p:cNvPr id="4" name="Content Placeholder 3"/>
          <p:cNvSpPr>
            <a:spLocks noGrp="1"/>
          </p:cNvSpPr>
          <p:nvPr>
            <p:ph sz="quarter" idx="13"/>
          </p:nvPr>
        </p:nvSpPr>
        <p:spPr>
          <a:xfrm>
            <a:off x="1981200" y="1552576"/>
            <a:ext cx="8138160" cy="2054921"/>
          </a:xfrm>
        </p:spPr>
        <p:txBody>
          <a:bodyPr/>
          <a:lstStyle/>
          <a:p>
            <a:pPr marL="432000" indent="-432000">
              <a:spcBef>
                <a:spcPct val="40000"/>
              </a:spcBef>
              <a:buFont typeface="+mj-lt"/>
              <a:buAutoNum type="arabicPeriod"/>
            </a:pPr>
            <a:r>
              <a:rPr lang="en-US" altLang="en-US" dirty="0"/>
              <a:t>The experiment is repeated for a fixed number of trials, where each trial is independent of other trials.</a:t>
            </a:r>
          </a:p>
          <a:p>
            <a:pPr marL="432000" indent="-432000">
              <a:spcBef>
                <a:spcPct val="40000"/>
              </a:spcBef>
              <a:buFont typeface="+mj-lt"/>
              <a:buAutoNum type="arabicPeriod"/>
            </a:pPr>
            <a:r>
              <a:rPr lang="en-US" altLang="en-US" dirty="0"/>
              <a:t>There are only two possible outcomes of interest for each trial. The outcomes can be classified as a success (</a:t>
            </a:r>
            <a:r>
              <a:rPr lang="en-US" altLang="en-US" i="1" dirty="0"/>
              <a:t>S</a:t>
            </a:r>
            <a:r>
              <a:rPr lang="en-US" altLang="en-US" dirty="0"/>
              <a:t>) or as a failure (</a:t>
            </a:r>
            <a:r>
              <a:rPr lang="en-US" altLang="en-US" i="1" dirty="0"/>
              <a:t>F</a:t>
            </a:r>
            <a:r>
              <a:rPr lang="en-US" altLang="en-US" dirty="0"/>
              <a:t>).</a:t>
            </a:r>
          </a:p>
        </p:txBody>
      </p:sp>
      <p:sp>
        <p:nvSpPr>
          <p:cNvPr id="5" name="Content Placeholder 4"/>
          <p:cNvSpPr>
            <a:spLocks noGrp="1"/>
          </p:cNvSpPr>
          <p:nvPr>
            <p:ph sz="quarter" idx="14"/>
          </p:nvPr>
        </p:nvSpPr>
        <p:spPr>
          <a:xfrm>
            <a:off x="1981201" y="3670126"/>
            <a:ext cx="4453003" cy="421030"/>
          </a:xfrm>
        </p:spPr>
        <p:txBody>
          <a:bodyPr/>
          <a:lstStyle/>
          <a:p>
            <a:pPr marL="432000" indent="-432000">
              <a:buFont typeface="+mj-lt"/>
              <a:buAutoNum type="arabicPeriod" startAt="3"/>
            </a:pPr>
            <a:r>
              <a:rPr lang="en-US" altLang="en-US" dirty="0"/>
              <a:t>The probability of a success,</a:t>
            </a:r>
            <a:endParaRPr lang="en-IN" dirty="0"/>
          </a:p>
        </p:txBody>
      </p:sp>
      <p:graphicFrame>
        <p:nvGraphicFramePr>
          <p:cNvPr id="19" name="Object 18" descr="P of S,"/>
          <p:cNvGraphicFramePr>
            <a:graphicFrameLocks noChangeAspect="1"/>
          </p:cNvGraphicFramePr>
          <p:nvPr/>
        </p:nvGraphicFramePr>
        <p:xfrm>
          <a:off x="6487564" y="3687904"/>
          <a:ext cx="816706" cy="435578"/>
        </p:xfrm>
        <a:graphic>
          <a:graphicData uri="http://schemas.openxmlformats.org/presentationml/2006/ole">
            <mc:AlternateContent xmlns:mc="http://schemas.openxmlformats.org/markup-compatibility/2006">
              <mc:Choice xmlns:v="urn:schemas-microsoft-com:vml" Requires="v">
                <p:oleObj spid="_x0000_s1026" name="Equation" r:id="rId3" imgW="380880" imgH="203040" progId="Equation.DSMT4">
                  <p:embed/>
                </p:oleObj>
              </mc:Choice>
              <mc:Fallback>
                <p:oleObj name="Equation" r:id="rId3" imgW="380880" imgH="203040" progId="Equation.DSMT4">
                  <p:embed/>
                  <p:pic>
                    <p:nvPicPr>
                      <p:cNvPr id="19" name="Object 18" descr="P of S,"/>
                      <p:cNvPicPr/>
                      <p:nvPr/>
                    </p:nvPicPr>
                    <p:blipFill>
                      <a:blip r:embed="rId4"/>
                      <a:stretch>
                        <a:fillRect/>
                      </a:stretch>
                    </p:blipFill>
                    <p:spPr>
                      <a:xfrm>
                        <a:off x="6487564" y="3687904"/>
                        <a:ext cx="816706" cy="435578"/>
                      </a:xfrm>
                      <a:prstGeom prst="rect">
                        <a:avLst/>
                      </a:prstGeom>
                    </p:spPr>
                  </p:pic>
                </p:oleObj>
              </mc:Fallback>
            </mc:AlternateContent>
          </a:graphicData>
        </a:graphic>
      </p:graphicFrame>
      <p:sp>
        <p:nvSpPr>
          <p:cNvPr id="6" name="Content Placeholder 5"/>
          <p:cNvSpPr>
            <a:spLocks noGrp="1"/>
          </p:cNvSpPr>
          <p:nvPr>
            <p:ph sz="quarter" idx="15"/>
          </p:nvPr>
        </p:nvSpPr>
        <p:spPr>
          <a:xfrm>
            <a:off x="7361131" y="3670127"/>
            <a:ext cx="2154476" cy="421030"/>
          </a:xfrm>
        </p:spPr>
        <p:txBody>
          <a:bodyPr/>
          <a:lstStyle/>
          <a:p>
            <a:pPr marL="432" indent="0">
              <a:buNone/>
            </a:pPr>
            <a:r>
              <a:rPr lang="en-US" altLang="en-US" dirty="0"/>
              <a:t>is the same for</a:t>
            </a:r>
            <a:endParaRPr lang="en-IN" dirty="0"/>
          </a:p>
        </p:txBody>
      </p:sp>
      <p:sp>
        <p:nvSpPr>
          <p:cNvPr id="7" name="Content Placeholder 6"/>
          <p:cNvSpPr>
            <a:spLocks noGrp="1"/>
          </p:cNvSpPr>
          <p:nvPr>
            <p:ph sz="quarter" idx="16"/>
          </p:nvPr>
        </p:nvSpPr>
        <p:spPr>
          <a:xfrm>
            <a:off x="1981201" y="4153786"/>
            <a:ext cx="2010427" cy="430740"/>
          </a:xfrm>
        </p:spPr>
        <p:txBody>
          <a:bodyPr/>
          <a:lstStyle/>
          <a:p>
            <a:pPr marL="432000" indent="0">
              <a:spcBef>
                <a:spcPct val="40000"/>
              </a:spcBef>
              <a:buNone/>
            </a:pPr>
            <a:r>
              <a:rPr lang="en-US" altLang="en-US" dirty="0"/>
              <a:t>each trial.</a:t>
            </a:r>
          </a:p>
        </p:txBody>
      </p:sp>
      <p:sp>
        <p:nvSpPr>
          <p:cNvPr id="8" name="Content Placeholder 7"/>
          <p:cNvSpPr>
            <a:spLocks noGrp="1"/>
          </p:cNvSpPr>
          <p:nvPr>
            <p:ph sz="quarter" idx="17"/>
          </p:nvPr>
        </p:nvSpPr>
        <p:spPr>
          <a:xfrm>
            <a:off x="1981200" y="4672210"/>
            <a:ext cx="8229600" cy="801665"/>
          </a:xfrm>
        </p:spPr>
        <p:txBody>
          <a:bodyPr/>
          <a:lstStyle/>
          <a:p>
            <a:pPr marL="432000" indent="-432000">
              <a:spcBef>
                <a:spcPct val="40000"/>
              </a:spcBef>
              <a:buFont typeface="+mj-lt"/>
              <a:buAutoNum type="arabicPeriod" startAt="4"/>
            </a:pPr>
            <a:r>
              <a:rPr lang="en-US" altLang="en-US" dirty="0"/>
              <a:t>The random variable </a:t>
            </a:r>
            <a:r>
              <a:rPr lang="en-US" altLang="en-US" i="1" dirty="0"/>
              <a:t>x</a:t>
            </a:r>
            <a:r>
              <a:rPr lang="en-US" altLang="en-US" dirty="0"/>
              <a:t> counts the number of successful trials.</a:t>
            </a:r>
          </a:p>
        </p:txBody>
      </p:sp>
    </p:spTree>
    <p:extLst>
      <p:ext uri="{BB962C8B-B14F-4D97-AF65-F5344CB8AC3E}">
        <p14:creationId xmlns:p14="http://schemas.microsoft.com/office/powerpoint/2010/main" val="16866600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Notation for Binomial Experiments</a:t>
            </a:r>
          </a:p>
        </p:txBody>
      </p:sp>
      <p:graphicFrame>
        <p:nvGraphicFramePr>
          <p:cNvPr id="4" name="Content Placeholder 3"/>
          <p:cNvGraphicFramePr>
            <a:graphicFrameLocks noGrp="1"/>
          </p:cNvGraphicFramePr>
          <p:nvPr>
            <p:ph sz="quarter" idx="13"/>
          </p:nvPr>
        </p:nvGraphicFramePr>
        <p:xfrm>
          <a:off x="1981200" y="1555748"/>
          <a:ext cx="8229600" cy="3617500"/>
        </p:xfrm>
        <a:graphic>
          <a:graphicData uri="http://schemas.openxmlformats.org/drawingml/2006/table">
            <a:tbl>
              <a:tblPr firstRow="1" bandRow="1">
                <a:tableStyleId>{2D5ABB26-0587-4C30-8999-92F81FD0307C}</a:tableStyleId>
              </a:tblPr>
              <a:tblGrid>
                <a:gridCol w="1759907">
                  <a:extLst>
                    <a:ext uri="{9D8B030D-6E8A-4147-A177-3AD203B41FA5}">
                      <a16:colId xmlns:a16="http://schemas.microsoft.com/office/drawing/2014/main" val="748202546"/>
                    </a:ext>
                  </a:extLst>
                </a:gridCol>
                <a:gridCol w="6469693">
                  <a:extLst>
                    <a:ext uri="{9D8B030D-6E8A-4147-A177-3AD203B41FA5}">
                      <a16:colId xmlns:a16="http://schemas.microsoft.com/office/drawing/2014/main" val="1879076884"/>
                    </a:ext>
                  </a:extLst>
                </a:gridCol>
              </a:tblGrid>
              <a:tr h="491680">
                <a:tc>
                  <a:txBody>
                    <a:bodyPr/>
                    <a:lstStyle>
                      <a:lvl1pPr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2200" b="1" i="0" u="none" strike="noStrike" cap="none" normalizeH="0" baseline="0" noProof="0">
                          <a:ln>
                            <a:noFill/>
                          </a:ln>
                          <a:solidFill>
                            <a:schemeClr val="tx1"/>
                          </a:solidFill>
                          <a:effectLst/>
                          <a:latin typeface="+mn-lt"/>
                          <a:ea typeface="MS PGothic" panose="020B0600070205080204" pitchFamily="34" charset="-128"/>
                        </a:rPr>
                        <a:t>Symbol</a:t>
                      </a:r>
                    </a:p>
                  </a:txBody>
                  <a:tcPr marL="91449" marR="91449" marT="45694" marB="4569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2200" b="1" i="0" u="none" strike="noStrike" cap="none" normalizeH="0" baseline="0" noProof="0" dirty="0">
                          <a:ln>
                            <a:noFill/>
                          </a:ln>
                          <a:solidFill>
                            <a:schemeClr val="tx1"/>
                          </a:solidFill>
                          <a:effectLst/>
                          <a:latin typeface="+mn-lt"/>
                          <a:ea typeface="MS PGothic" panose="020B0600070205080204" pitchFamily="34" charset="-128"/>
                        </a:rPr>
                        <a:t>Description</a:t>
                      </a:r>
                    </a:p>
                  </a:txBody>
                  <a:tcPr marL="274347" marR="91449" marT="45694" marB="4569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5885046"/>
                  </a:ext>
                </a:extLst>
              </a:tr>
              <a:tr h="491680">
                <a:tc>
                  <a:txBody>
                    <a:bodyPr/>
                    <a:lstStyle>
                      <a:lvl1pPr marL="457200" indent="-4572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9pPr>
                    </a:lstStyle>
                    <a:p>
                      <a:pPr marL="457200" marR="0" lvl="0" indent="-457200" algn="l" defTabSz="914400" rtl="0" eaLnBrk="1" fontAlgn="base" latinLnBrk="0" hangingPunct="1">
                        <a:lnSpc>
                          <a:spcPct val="100000"/>
                        </a:lnSpc>
                        <a:spcBef>
                          <a:spcPct val="0"/>
                        </a:spcBef>
                        <a:spcAft>
                          <a:spcPct val="0"/>
                        </a:spcAft>
                        <a:buClrTx/>
                        <a:buSzTx/>
                        <a:buFont typeface="+mj-lt" charset="0"/>
                        <a:buNone/>
                        <a:tabLst/>
                      </a:pPr>
                      <a:r>
                        <a:rPr kumimoji="0" lang="en-US" altLang="en-US" sz="2200" b="0" i="1" u="none" strike="noStrike" cap="none" normalizeH="0" baseline="0" noProof="0">
                          <a:ln>
                            <a:noFill/>
                          </a:ln>
                          <a:solidFill>
                            <a:schemeClr val="tx1"/>
                          </a:solidFill>
                          <a:effectLst/>
                          <a:latin typeface="+mn-lt"/>
                          <a:ea typeface="MS PGothic" panose="020B0600070205080204" pitchFamily="34" charset="-128"/>
                        </a:rPr>
                        <a:t>n</a:t>
                      </a:r>
                    </a:p>
                  </a:txBody>
                  <a:tcPr marL="91449" marR="91449" marT="45694" marB="4569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2200" b="0" i="0" u="none" strike="noStrike" cap="none" normalizeH="0" baseline="0" noProof="0">
                          <a:ln>
                            <a:noFill/>
                          </a:ln>
                          <a:solidFill>
                            <a:schemeClr val="tx1"/>
                          </a:solidFill>
                          <a:effectLst/>
                          <a:latin typeface="+mn-lt"/>
                          <a:ea typeface="MS PGothic" panose="020B0600070205080204" pitchFamily="34" charset="-128"/>
                        </a:rPr>
                        <a:t>The number of times a trial is repeated</a:t>
                      </a:r>
                      <a:endParaRPr kumimoji="0" lang="en-US" altLang="en-US" sz="2200" b="0" i="0" u="none" strike="noStrike" cap="none" normalizeH="0" baseline="0" noProof="0">
                        <a:ln>
                          <a:noFill/>
                        </a:ln>
                        <a:solidFill>
                          <a:schemeClr val="tx1"/>
                        </a:solidFill>
                        <a:effectLst/>
                        <a:latin typeface="+mn-lt"/>
                        <a:ea typeface="MS PGothic" panose="020B0600070205080204" pitchFamily="34" charset="-128"/>
                        <a:sym typeface="Symbol" panose="05050102010706020507" pitchFamily="18" charset="2"/>
                      </a:endParaRPr>
                    </a:p>
                  </a:txBody>
                  <a:tcPr marL="274347" marR="91449" marT="45694" marB="4569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4372452"/>
                  </a:ext>
                </a:extLst>
              </a:tr>
              <a:tr h="491680">
                <a:tc>
                  <a:txBody>
                    <a:bodyPr/>
                    <a:lstStyle>
                      <a:lvl1pPr marL="457200" indent="-4572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9pPr>
                    </a:lstStyle>
                    <a:p>
                      <a:pPr marL="457200" marR="0" lvl="0" indent="-457200" algn="l" defTabSz="914400" rtl="0" eaLnBrk="1" fontAlgn="base" latinLnBrk="0" hangingPunct="1">
                        <a:lnSpc>
                          <a:spcPct val="100000"/>
                        </a:lnSpc>
                        <a:spcBef>
                          <a:spcPct val="0"/>
                        </a:spcBef>
                        <a:spcAft>
                          <a:spcPct val="0"/>
                        </a:spcAft>
                        <a:buClrTx/>
                        <a:buSzTx/>
                        <a:buFont typeface="+mj-lt" charset="0"/>
                        <a:buNone/>
                        <a:tabLst/>
                      </a:pPr>
                      <a:r>
                        <a:rPr kumimoji="0" lang="en-US" altLang="en-US" sz="2200" b="0" i="1" u="none" strike="noStrike" cap="none" normalizeH="0" baseline="0" noProof="0">
                          <a:ln>
                            <a:noFill/>
                          </a:ln>
                          <a:solidFill>
                            <a:schemeClr val="tx1"/>
                          </a:solidFill>
                          <a:effectLst/>
                          <a:latin typeface="+mn-lt"/>
                          <a:ea typeface="MS PGothic" panose="020B0600070205080204" pitchFamily="34" charset="-128"/>
                        </a:rPr>
                        <a:t>p</a:t>
                      </a:r>
                    </a:p>
                  </a:txBody>
                  <a:tcPr marL="91449" marR="91449" marT="45694" marB="4569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2200" b="0" i="0" u="none" strike="noStrike" cap="none" normalizeH="0" baseline="0" noProof="0">
                          <a:ln>
                            <a:noFill/>
                          </a:ln>
                          <a:solidFill>
                            <a:schemeClr val="tx1"/>
                          </a:solidFill>
                          <a:effectLst/>
                          <a:latin typeface="+mn-lt"/>
                          <a:ea typeface="MS PGothic" panose="020B0600070205080204" pitchFamily="34" charset="-128"/>
                        </a:rPr>
                        <a:t>The probability of success in a single trial</a:t>
                      </a:r>
                    </a:p>
                  </a:txBody>
                  <a:tcPr marL="274347" marR="91449" marT="45694" marB="4569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85812630"/>
                  </a:ext>
                </a:extLst>
              </a:tr>
              <a:tr h="878047">
                <a:tc>
                  <a:txBody>
                    <a:bodyPr/>
                    <a:lstStyle>
                      <a:lvl1pPr marL="457200" indent="-4572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9pPr>
                    </a:lstStyle>
                    <a:p>
                      <a:pPr marL="457200" marR="0" lvl="0" indent="-457200" algn="l" defTabSz="914400" rtl="0" eaLnBrk="1" fontAlgn="base" latinLnBrk="0" hangingPunct="1">
                        <a:lnSpc>
                          <a:spcPct val="100000"/>
                        </a:lnSpc>
                        <a:spcBef>
                          <a:spcPct val="0"/>
                        </a:spcBef>
                        <a:spcAft>
                          <a:spcPct val="0"/>
                        </a:spcAft>
                        <a:buClrTx/>
                        <a:buSzTx/>
                        <a:buFont typeface="+mj-lt" charset="0"/>
                        <a:buNone/>
                        <a:tabLst/>
                      </a:pPr>
                      <a:r>
                        <a:rPr kumimoji="0" lang="en-US" altLang="en-US" sz="2200" b="0" i="1" u="none" strike="noStrike" cap="none" normalizeH="0" baseline="0" noProof="0">
                          <a:ln>
                            <a:noFill/>
                          </a:ln>
                          <a:solidFill>
                            <a:schemeClr val="tx1"/>
                          </a:solidFill>
                          <a:effectLst/>
                          <a:latin typeface="+mn-lt"/>
                          <a:ea typeface="MS PGothic" panose="020B0600070205080204" pitchFamily="34" charset="-128"/>
                        </a:rPr>
                        <a:t>q</a:t>
                      </a:r>
                    </a:p>
                  </a:txBody>
                  <a:tcPr marL="91449" marR="91449" marT="45694" marB="4569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2200" b="0" i="0" u="none" strike="noStrike" cap="none" normalizeH="0" baseline="0" noProof="0">
                          <a:ln>
                            <a:noFill/>
                          </a:ln>
                          <a:solidFill>
                            <a:schemeClr val="tx1"/>
                          </a:solidFill>
                          <a:effectLst/>
                          <a:latin typeface="+mn-lt"/>
                          <a:ea typeface="MS PGothic" panose="020B0600070205080204" pitchFamily="34" charset="-128"/>
                        </a:rPr>
                        <a:t>The probability of failure in a single trial </a:t>
                      </a:r>
                      <a:br>
                        <a:rPr kumimoji="0" lang="en-US" altLang="en-US" sz="2200" b="0" i="0" u="none" strike="noStrike" cap="none" normalizeH="0" baseline="0" noProof="0">
                          <a:ln>
                            <a:noFill/>
                          </a:ln>
                          <a:solidFill>
                            <a:schemeClr val="tx1"/>
                          </a:solidFill>
                          <a:effectLst/>
                          <a:latin typeface="+mn-lt"/>
                          <a:ea typeface="MS PGothic" panose="020B0600070205080204" pitchFamily="34" charset="-128"/>
                        </a:rPr>
                      </a:br>
                      <a:r>
                        <a:rPr kumimoji="0" lang="en-US" altLang="en-US" sz="100" b="0" i="0" u="none" strike="noStrike" cap="none" normalizeH="0" baseline="0" noProof="0">
                          <a:ln>
                            <a:noFill/>
                          </a:ln>
                          <a:solidFill>
                            <a:schemeClr val="tx1"/>
                          </a:solidFill>
                          <a:effectLst/>
                          <a:latin typeface="+mn-lt"/>
                          <a:ea typeface="MS PGothic" panose="020B0600070205080204" pitchFamily="34" charset="-128"/>
                        </a:rPr>
                        <a:t>left parenthesis q = 1 minus p right parenthesis</a:t>
                      </a:r>
                    </a:p>
                  </a:txBody>
                  <a:tcPr marL="274347" marR="91449" marT="45694" marB="4569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0756486"/>
                  </a:ext>
                </a:extLst>
              </a:tr>
              <a:tr h="1264413">
                <a:tc>
                  <a:txBody>
                    <a:bodyPr/>
                    <a:lstStyle>
                      <a:lvl1pPr marL="457200" indent="-4572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9pPr>
                    </a:lstStyle>
                    <a:p>
                      <a:pPr marL="457200" marR="0" lvl="0" indent="-457200" algn="l" defTabSz="914400" rtl="0" eaLnBrk="1" fontAlgn="base" latinLnBrk="0" hangingPunct="1">
                        <a:lnSpc>
                          <a:spcPct val="100000"/>
                        </a:lnSpc>
                        <a:spcBef>
                          <a:spcPct val="0"/>
                        </a:spcBef>
                        <a:spcAft>
                          <a:spcPct val="0"/>
                        </a:spcAft>
                        <a:buClrTx/>
                        <a:buSzTx/>
                        <a:buFont typeface="+mj-lt" charset="0"/>
                        <a:buNone/>
                        <a:tabLst/>
                      </a:pPr>
                      <a:r>
                        <a:rPr kumimoji="0" lang="en-US" altLang="en-US" sz="2200" b="0" i="1" u="none" strike="noStrike" cap="none" normalizeH="0" baseline="0" noProof="0">
                          <a:ln>
                            <a:noFill/>
                          </a:ln>
                          <a:solidFill>
                            <a:schemeClr val="tx1"/>
                          </a:solidFill>
                          <a:effectLst/>
                          <a:latin typeface="+mn-lt"/>
                          <a:ea typeface="MS PGothic" panose="020B0600070205080204" pitchFamily="34" charset="-128"/>
                        </a:rPr>
                        <a:t>x</a:t>
                      </a:r>
                    </a:p>
                  </a:txBody>
                  <a:tcPr marL="91449" marR="91449" marT="45694" marB="4569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2200" b="0" i="0" u="none" strike="noStrike" cap="none" normalizeH="0" baseline="0" noProof="0" dirty="0">
                          <a:ln>
                            <a:noFill/>
                          </a:ln>
                          <a:solidFill>
                            <a:schemeClr val="tx1"/>
                          </a:solidFill>
                          <a:effectLst/>
                          <a:latin typeface="+mn-lt"/>
                          <a:ea typeface="MS PGothic" panose="020B0600070205080204" pitchFamily="34" charset="-128"/>
                        </a:rPr>
                        <a:t>The random variable represents a count of the number of successes in </a:t>
                      </a:r>
                      <a:r>
                        <a:rPr kumimoji="0" lang="en-US" altLang="en-US" sz="2200" b="0" i="1" u="none" strike="noStrike" cap="none" normalizeH="0" baseline="0" noProof="0" dirty="0">
                          <a:ln>
                            <a:noFill/>
                          </a:ln>
                          <a:solidFill>
                            <a:schemeClr val="tx1"/>
                          </a:solidFill>
                          <a:effectLst/>
                          <a:latin typeface="+mn-lt"/>
                          <a:ea typeface="MS PGothic" panose="020B0600070205080204" pitchFamily="34" charset="-128"/>
                        </a:rPr>
                        <a:t>n</a:t>
                      </a:r>
                      <a:r>
                        <a:rPr kumimoji="0" lang="en-US" altLang="en-US" sz="2200" b="0" i="0" u="none" strike="noStrike" cap="none" normalizeH="0" baseline="0" noProof="0" dirty="0">
                          <a:ln>
                            <a:noFill/>
                          </a:ln>
                          <a:solidFill>
                            <a:schemeClr val="tx1"/>
                          </a:solidFill>
                          <a:effectLst/>
                          <a:latin typeface="+mn-lt"/>
                          <a:ea typeface="MS PGothic" panose="020B0600070205080204" pitchFamily="34" charset="-128"/>
                        </a:rPr>
                        <a:t> trials:</a:t>
                      </a:r>
                      <a:br>
                        <a:rPr kumimoji="0" lang="en-US" altLang="en-US" sz="2200" b="0" i="0" u="none" strike="noStrike" cap="none" normalizeH="0" baseline="0" noProof="0" dirty="0">
                          <a:ln>
                            <a:noFill/>
                          </a:ln>
                          <a:solidFill>
                            <a:schemeClr val="tx1"/>
                          </a:solidFill>
                          <a:effectLst/>
                          <a:latin typeface="+mn-lt"/>
                          <a:ea typeface="MS PGothic" panose="020B0600070205080204" pitchFamily="34" charset="-128"/>
                        </a:rPr>
                      </a:br>
                      <a:r>
                        <a:rPr kumimoji="0" lang="en-US" altLang="en-US" sz="1400" b="0" i="0" u="none" strike="noStrike" cap="none" normalizeH="0" baseline="0" noProof="0" dirty="0">
                          <a:ln>
                            <a:noFill/>
                          </a:ln>
                          <a:solidFill>
                            <a:schemeClr val="tx1"/>
                          </a:solidFill>
                          <a:effectLst/>
                          <a:latin typeface="+mn-lt"/>
                          <a:ea typeface="MS PGothic" panose="020B0600070205080204" pitchFamily="34" charset="-128"/>
                        </a:rPr>
                        <a:t>x = 0, 1, 2, 3, ellipsis, n.</a:t>
                      </a:r>
                      <a:endParaRPr kumimoji="0" lang="en-US" altLang="en-US" sz="1400" b="0" i="0" u="none" strike="noStrike" cap="none" normalizeH="0" baseline="0" noProof="0" dirty="0">
                        <a:ln>
                          <a:noFill/>
                        </a:ln>
                        <a:solidFill>
                          <a:schemeClr val="tx1"/>
                        </a:solidFill>
                        <a:effectLst/>
                        <a:latin typeface="+mn-lt"/>
                        <a:ea typeface="MS PGothic" panose="020B0600070205080204" pitchFamily="34" charset="-128"/>
                        <a:sym typeface="Symbol" panose="05050102010706020507" pitchFamily="18" charset="2"/>
                      </a:endParaRPr>
                    </a:p>
                  </a:txBody>
                  <a:tcPr marL="274347" marR="91449" marT="45694" marB="4569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7407733"/>
                  </a:ext>
                </a:extLst>
              </a:tr>
            </a:tbl>
          </a:graphicData>
        </a:graphic>
      </p:graphicFrame>
      <p:graphicFrame>
        <p:nvGraphicFramePr>
          <p:cNvPr id="5" name="Object 4">
            <a:extLst>
              <a:ext uri="{C183D7F6-B498-43B3-948B-1728B52AA6E4}">
                <adec:decorative xmlns:adec="http://schemas.microsoft.com/office/drawing/2017/decorative" val="1"/>
              </a:ext>
            </a:extLst>
          </p:cNvPr>
          <p:cNvGraphicFramePr>
            <a:graphicFrameLocks noChangeAspect="1"/>
          </p:cNvGraphicFramePr>
          <p:nvPr/>
        </p:nvGraphicFramePr>
        <p:xfrm>
          <a:off x="3947112" y="3412473"/>
          <a:ext cx="1414462" cy="436562"/>
        </p:xfrm>
        <a:graphic>
          <a:graphicData uri="http://schemas.openxmlformats.org/presentationml/2006/ole">
            <mc:AlternateContent xmlns:mc="http://schemas.openxmlformats.org/markup-compatibility/2006">
              <mc:Choice xmlns:v="urn:schemas-microsoft-com:vml" Requires="v">
                <p:oleObj spid="_x0000_s2050" name="Equation" r:id="rId3" imgW="660240" imgH="203040" progId="Equation.DSMT4">
                  <p:embed/>
                </p:oleObj>
              </mc:Choice>
              <mc:Fallback>
                <p:oleObj name="Equation" r:id="rId3" imgW="660240" imgH="203040" progId="Equation.DSMT4">
                  <p:embed/>
                  <p:pic>
                    <p:nvPicPr>
                      <p:cNvPr id="5" name="Object 4">
                        <a:extLst>
                          <a:ext uri="{C183D7F6-B498-43B3-948B-1728B52AA6E4}">
                            <adec:decorative xmlns:adec="http://schemas.microsoft.com/office/drawing/2017/decorative" val="1"/>
                          </a:ext>
                        </a:extLst>
                      </p:cNvPr>
                      <p:cNvPicPr/>
                      <p:nvPr/>
                    </p:nvPicPr>
                    <p:blipFill>
                      <a:blip r:embed="rId4"/>
                      <a:stretch>
                        <a:fillRect/>
                      </a:stretch>
                    </p:blipFill>
                    <p:spPr>
                      <a:xfrm>
                        <a:off x="3947112" y="3412473"/>
                        <a:ext cx="1414462" cy="436562"/>
                      </a:xfrm>
                      <a:prstGeom prst="rect">
                        <a:avLst/>
                      </a:prstGeom>
                      <a:solidFill>
                        <a:schemeClr val="bg1"/>
                      </a:solidFill>
                    </p:spPr>
                  </p:pic>
                </p:oleObj>
              </mc:Fallback>
            </mc:AlternateContent>
          </a:graphicData>
        </a:graphic>
      </p:graphicFrame>
      <p:graphicFrame>
        <p:nvGraphicFramePr>
          <p:cNvPr id="6" name="Object 5">
            <a:extLst>
              <a:ext uri="{C183D7F6-B498-43B3-948B-1728B52AA6E4}">
                <adec:decorative xmlns:adec="http://schemas.microsoft.com/office/drawing/2017/decorative" val="1"/>
              </a:ext>
            </a:extLst>
          </p:cNvPr>
          <p:cNvGraphicFramePr>
            <a:graphicFrameLocks noChangeAspect="1"/>
          </p:cNvGraphicFramePr>
          <p:nvPr/>
        </p:nvGraphicFramePr>
        <p:xfrm>
          <a:off x="3999364" y="4647934"/>
          <a:ext cx="2965450" cy="436562"/>
        </p:xfrm>
        <a:graphic>
          <a:graphicData uri="http://schemas.openxmlformats.org/presentationml/2006/ole">
            <mc:AlternateContent xmlns:mc="http://schemas.openxmlformats.org/markup-compatibility/2006">
              <mc:Choice xmlns:v="urn:schemas-microsoft-com:vml" Requires="v">
                <p:oleObj spid="_x0000_s2051" name="Equation" r:id="rId5" imgW="1384200" imgH="203040" progId="Equation.DSMT4">
                  <p:embed/>
                </p:oleObj>
              </mc:Choice>
              <mc:Fallback>
                <p:oleObj name="Equation" r:id="rId5" imgW="1384200" imgH="203040" progId="Equation.DSMT4">
                  <p:embed/>
                  <p:pic>
                    <p:nvPicPr>
                      <p:cNvPr id="6" name="Object 5">
                        <a:extLst>
                          <a:ext uri="{C183D7F6-B498-43B3-948B-1728B52AA6E4}">
                            <adec:decorative xmlns:adec="http://schemas.microsoft.com/office/drawing/2017/decorative" val="1"/>
                          </a:ext>
                        </a:extLst>
                      </p:cNvPr>
                      <p:cNvPicPr/>
                      <p:nvPr/>
                    </p:nvPicPr>
                    <p:blipFill>
                      <a:blip r:embed="rId6"/>
                      <a:stretch>
                        <a:fillRect/>
                      </a:stretch>
                    </p:blipFill>
                    <p:spPr>
                      <a:xfrm>
                        <a:off x="3999364" y="4647934"/>
                        <a:ext cx="2965450" cy="436562"/>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15843596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Possible Applications for the Binomial Distribution</a:t>
            </a:r>
            <a:endParaRPr lang="en-US" dirty="0"/>
          </a:p>
        </p:txBody>
      </p:sp>
      <p:sp>
        <p:nvSpPr>
          <p:cNvPr id="3" name="Content Placeholder 2"/>
          <p:cNvSpPr>
            <a:spLocks noGrp="1"/>
          </p:cNvSpPr>
          <p:nvPr>
            <p:ph idx="1"/>
          </p:nvPr>
        </p:nvSpPr>
        <p:spPr>
          <a:xfrm>
            <a:off x="1981200" y="1600201"/>
            <a:ext cx="8229600" cy="4038600"/>
          </a:xfrm>
        </p:spPr>
        <p:txBody>
          <a:bodyPr/>
          <a:lstStyle/>
          <a:p>
            <a:pPr marL="255600" indent="-255600"/>
            <a:r>
              <a:rPr lang="en-US" altLang="en-US" dirty="0"/>
              <a:t>A manufacturing plant labels items as either defective or acceptable.</a:t>
            </a:r>
          </a:p>
          <a:p>
            <a:pPr marL="255600" indent="-255600"/>
            <a:r>
              <a:rPr lang="en-US" altLang="en-US" dirty="0"/>
              <a:t>A firm bidding for contracts will either get a contract or not.</a:t>
            </a:r>
          </a:p>
          <a:p>
            <a:pPr marL="255600" indent="-255600"/>
            <a:r>
              <a:rPr lang="en-US" altLang="en-US" dirty="0"/>
              <a:t>A marketing research firm receives survey responses of “yes I will buy” or “no I will not.”</a:t>
            </a:r>
          </a:p>
          <a:p>
            <a:pPr marL="255600" indent="-255600"/>
            <a:r>
              <a:rPr lang="en-US" altLang="en-US" dirty="0"/>
              <a:t>New job applicants either accept the offer or reject it.</a:t>
            </a:r>
          </a:p>
        </p:txBody>
      </p:sp>
    </p:spTree>
    <p:extLst>
      <p:ext uri="{BB962C8B-B14F-4D97-AF65-F5344CB8AC3E}">
        <p14:creationId xmlns:p14="http://schemas.microsoft.com/office/powerpoint/2010/main" val="23618306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Example: Identifying and Understanding Binomial Experiments </a:t>
            </a:r>
            <a:r>
              <a:rPr lang="en-US" sz="2000" b="0" dirty="0"/>
              <a:t>(1 of 2)</a:t>
            </a:r>
          </a:p>
        </p:txBody>
      </p:sp>
      <p:sp>
        <p:nvSpPr>
          <p:cNvPr id="4" name="Content Placeholder 3"/>
          <p:cNvSpPr>
            <a:spLocks noGrp="1"/>
          </p:cNvSpPr>
          <p:nvPr>
            <p:ph sz="quarter" idx="13"/>
          </p:nvPr>
        </p:nvSpPr>
        <p:spPr>
          <a:xfrm>
            <a:off x="1981200" y="1556327"/>
            <a:ext cx="7872608" cy="1550128"/>
          </a:xfrm>
        </p:spPr>
        <p:txBody>
          <a:bodyPr/>
          <a:lstStyle/>
          <a:p>
            <a:pPr marL="0" indent="0">
              <a:buNone/>
            </a:pPr>
            <a:r>
              <a:rPr lang="en-US" altLang="en-US" dirty="0">
                <a:solidFill>
                  <a:schemeClr val="tx1"/>
                </a:solidFill>
              </a:rPr>
              <a:t>Decide whether each experiment is a binomial experiment. If it is, specify the values of </a:t>
            </a:r>
            <a:r>
              <a:rPr lang="en-US" altLang="en-US" i="1" dirty="0">
                <a:solidFill>
                  <a:schemeClr val="tx1"/>
                </a:solidFill>
              </a:rPr>
              <a:t>n</a:t>
            </a:r>
            <a:r>
              <a:rPr lang="en-US" altLang="en-US" dirty="0">
                <a:solidFill>
                  <a:schemeClr val="tx1"/>
                </a:solidFill>
              </a:rPr>
              <a:t>, </a:t>
            </a:r>
            <a:r>
              <a:rPr lang="en-US" altLang="en-US" i="1" dirty="0">
                <a:solidFill>
                  <a:schemeClr val="tx1"/>
                </a:solidFill>
              </a:rPr>
              <a:t>p</a:t>
            </a:r>
            <a:r>
              <a:rPr lang="en-US" altLang="en-US" dirty="0">
                <a:solidFill>
                  <a:schemeClr val="tx1"/>
                </a:solidFill>
              </a:rPr>
              <a:t>, and </a:t>
            </a:r>
            <a:r>
              <a:rPr lang="en-US" altLang="en-US" i="1" dirty="0">
                <a:solidFill>
                  <a:schemeClr val="tx1"/>
                </a:solidFill>
              </a:rPr>
              <a:t>q</a:t>
            </a:r>
            <a:r>
              <a:rPr lang="en-US" altLang="en-US" dirty="0">
                <a:solidFill>
                  <a:schemeClr val="tx1"/>
                </a:solidFill>
              </a:rPr>
              <a:t>, and list the possible values of the random variable </a:t>
            </a:r>
            <a:r>
              <a:rPr lang="en-US" altLang="en-US" i="1" dirty="0">
                <a:solidFill>
                  <a:schemeClr val="tx1"/>
                </a:solidFill>
              </a:rPr>
              <a:t>x</a:t>
            </a:r>
            <a:r>
              <a:rPr lang="en-US" altLang="en-US" dirty="0">
                <a:solidFill>
                  <a:schemeClr val="tx1"/>
                </a:solidFill>
              </a:rPr>
              <a:t>. If it is not, explain why.</a:t>
            </a:r>
          </a:p>
        </p:txBody>
      </p:sp>
      <p:sp>
        <p:nvSpPr>
          <p:cNvPr id="5" name="Content Placeholder 4"/>
          <p:cNvSpPr>
            <a:spLocks noGrp="1"/>
          </p:cNvSpPr>
          <p:nvPr>
            <p:ph sz="quarter" idx="14"/>
          </p:nvPr>
        </p:nvSpPr>
        <p:spPr>
          <a:xfrm>
            <a:off x="1981200" y="3256768"/>
            <a:ext cx="8229600" cy="1640910"/>
          </a:xfrm>
        </p:spPr>
        <p:txBody>
          <a:bodyPr/>
          <a:lstStyle/>
          <a:p>
            <a:pPr marL="432000" indent="-432000">
              <a:buFont typeface="+mj-lt"/>
              <a:buAutoNum type="arabicPeriod"/>
            </a:pPr>
            <a:r>
              <a:rPr lang="en-US" altLang="en-US" dirty="0"/>
              <a:t>A certain surgical procedure has an 85% chance of success. A doctor performs the procedure on eight patients. The random variable represents the number of successful surgeries.</a:t>
            </a:r>
            <a:endParaRPr lang="en-US" altLang="en-US" dirty="0">
              <a:latin typeface="Arial" panose="020B0604020202020204" pitchFamily="34" charset="0"/>
            </a:endParaRPr>
          </a:p>
        </p:txBody>
      </p:sp>
    </p:spTree>
    <p:extLst>
      <p:ext uri="{BB962C8B-B14F-4D97-AF65-F5344CB8AC3E}">
        <p14:creationId xmlns:p14="http://schemas.microsoft.com/office/powerpoint/2010/main" val="26291238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Solution: Identifying and Understanding Binomial Experiments </a:t>
            </a:r>
            <a:r>
              <a:rPr lang="en-US" sz="2000" b="0" dirty="0"/>
              <a:t>(1 of 3)</a:t>
            </a:r>
          </a:p>
        </p:txBody>
      </p:sp>
      <p:sp>
        <p:nvSpPr>
          <p:cNvPr id="4" name="Content Placeholder 3"/>
          <p:cNvSpPr>
            <a:spLocks noGrp="1"/>
          </p:cNvSpPr>
          <p:nvPr>
            <p:ph sz="quarter" idx="13"/>
          </p:nvPr>
        </p:nvSpPr>
        <p:spPr>
          <a:xfrm>
            <a:off x="1981201" y="1552576"/>
            <a:ext cx="8035447" cy="2054921"/>
          </a:xfrm>
        </p:spPr>
        <p:txBody>
          <a:bodyPr/>
          <a:lstStyle/>
          <a:p>
            <a:pPr marL="457200" indent="-457200">
              <a:buNone/>
            </a:pPr>
            <a:r>
              <a:rPr lang="en-US" altLang="en-US" b="1" dirty="0">
                <a:solidFill>
                  <a:schemeClr val="tx1"/>
                </a:solidFill>
              </a:rPr>
              <a:t>Binomial Experiment</a:t>
            </a:r>
          </a:p>
          <a:p>
            <a:pPr marL="432000" indent="-432000">
              <a:spcBef>
                <a:spcPts val="600"/>
              </a:spcBef>
              <a:buFont typeface="+mj-lt"/>
              <a:buAutoNum type="arabicPeriod"/>
            </a:pPr>
            <a:r>
              <a:rPr lang="en-US" altLang="en-US" dirty="0">
                <a:solidFill>
                  <a:schemeClr val="tx1"/>
                </a:solidFill>
              </a:rPr>
              <a:t>Each surgery represents a trial. There are eight surgeries, and each one is independent of the others.</a:t>
            </a:r>
          </a:p>
          <a:p>
            <a:pPr marL="432000" indent="-432000">
              <a:spcBef>
                <a:spcPts val="600"/>
              </a:spcBef>
              <a:buFont typeface="+mj-lt"/>
              <a:buAutoNum type="arabicPeriod"/>
            </a:pPr>
            <a:r>
              <a:rPr lang="en-US" altLang="en-US" dirty="0">
                <a:solidFill>
                  <a:schemeClr val="tx1"/>
                </a:solidFill>
              </a:rPr>
              <a:t>There are only two possible outcomes of interest for each surgery: a success (S) or a failure (F).</a:t>
            </a:r>
          </a:p>
        </p:txBody>
      </p:sp>
      <p:sp>
        <p:nvSpPr>
          <p:cNvPr id="5" name="Content Placeholder 4"/>
          <p:cNvSpPr>
            <a:spLocks noGrp="1"/>
          </p:cNvSpPr>
          <p:nvPr>
            <p:ph sz="quarter" idx="14"/>
          </p:nvPr>
        </p:nvSpPr>
        <p:spPr>
          <a:xfrm>
            <a:off x="1981201" y="3670126"/>
            <a:ext cx="4453003" cy="421030"/>
          </a:xfrm>
        </p:spPr>
        <p:txBody>
          <a:bodyPr/>
          <a:lstStyle/>
          <a:p>
            <a:pPr marL="432000" indent="-432000">
              <a:buFont typeface="+mj-lt"/>
              <a:buAutoNum type="arabicPeriod" startAt="3"/>
            </a:pPr>
            <a:r>
              <a:rPr lang="en-US" altLang="en-US" dirty="0"/>
              <a:t>The probability of a success,</a:t>
            </a:r>
            <a:endParaRPr lang="en-US" dirty="0"/>
          </a:p>
        </p:txBody>
      </p:sp>
      <p:graphicFrame>
        <p:nvGraphicFramePr>
          <p:cNvPr id="19" name="Object 18" descr="P of S,"/>
          <p:cNvGraphicFramePr>
            <a:graphicFrameLocks noChangeAspect="1"/>
          </p:cNvGraphicFramePr>
          <p:nvPr/>
        </p:nvGraphicFramePr>
        <p:xfrm>
          <a:off x="6487564" y="3687904"/>
          <a:ext cx="816706" cy="435578"/>
        </p:xfrm>
        <a:graphic>
          <a:graphicData uri="http://schemas.openxmlformats.org/presentationml/2006/ole">
            <mc:AlternateContent xmlns:mc="http://schemas.openxmlformats.org/markup-compatibility/2006">
              <mc:Choice xmlns:v="urn:schemas-microsoft-com:vml" Requires="v">
                <p:oleObj spid="_x0000_s3074" name="Equation" r:id="rId3" imgW="380880" imgH="203040" progId="Equation.DSMT4">
                  <p:embed/>
                </p:oleObj>
              </mc:Choice>
              <mc:Fallback>
                <p:oleObj name="Equation" r:id="rId3" imgW="380880" imgH="203040" progId="Equation.DSMT4">
                  <p:embed/>
                  <p:pic>
                    <p:nvPicPr>
                      <p:cNvPr id="19" name="Object 18" descr="P of S,"/>
                      <p:cNvPicPr/>
                      <p:nvPr/>
                    </p:nvPicPr>
                    <p:blipFill>
                      <a:blip r:embed="rId4"/>
                      <a:stretch>
                        <a:fillRect/>
                      </a:stretch>
                    </p:blipFill>
                    <p:spPr>
                      <a:xfrm>
                        <a:off x="6487564" y="3687904"/>
                        <a:ext cx="816706" cy="435578"/>
                      </a:xfrm>
                      <a:prstGeom prst="rect">
                        <a:avLst/>
                      </a:prstGeom>
                    </p:spPr>
                  </p:pic>
                </p:oleObj>
              </mc:Fallback>
            </mc:AlternateContent>
          </a:graphicData>
        </a:graphic>
      </p:graphicFrame>
      <p:sp>
        <p:nvSpPr>
          <p:cNvPr id="6" name="Content Placeholder 5"/>
          <p:cNvSpPr>
            <a:spLocks noGrp="1"/>
          </p:cNvSpPr>
          <p:nvPr>
            <p:ph sz="quarter" idx="15"/>
          </p:nvPr>
        </p:nvSpPr>
        <p:spPr>
          <a:xfrm>
            <a:off x="7361131" y="3670127"/>
            <a:ext cx="2292261" cy="421030"/>
          </a:xfrm>
        </p:spPr>
        <p:txBody>
          <a:bodyPr/>
          <a:lstStyle/>
          <a:p>
            <a:pPr marL="432" indent="0">
              <a:buNone/>
            </a:pPr>
            <a:r>
              <a:rPr lang="en-US" altLang="en-US" dirty="0"/>
              <a:t>is 0.85 for each</a:t>
            </a:r>
            <a:endParaRPr lang="en-US" dirty="0"/>
          </a:p>
        </p:txBody>
      </p:sp>
      <p:sp>
        <p:nvSpPr>
          <p:cNvPr id="7" name="Content Placeholder 6"/>
          <p:cNvSpPr>
            <a:spLocks noGrp="1"/>
          </p:cNvSpPr>
          <p:nvPr>
            <p:ph sz="quarter" idx="16"/>
          </p:nvPr>
        </p:nvSpPr>
        <p:spPr>
          <a:xfrm>
            <a:off x="1981201" y="4153786"/>
            <a:ext cx="2010427" cy="430740"/>
          </a:xfrm>
        </p:spPr>
        <p:txBody>
          <a:bodyPr/>
          <a:lstStyle/>
          <a:p>
            <a:pPr marL="432000" indent="0">
              <a:spcBef>
                <a:spcPct val="40000"/>
              </a:spcBef>
              <a:buNone/>
            </a:pPr>
            <a:r>
              <a:rPr lang="en-US" altLang="en-US" dirty="0"/>
              <a:t>surgery.</a:t>
            </a:r>
          </a:p>
        </p:txBody>
      </p:sp>
      <p:sp>
        <p:nvSpPr>
          <p:cNvPr id="8" name="Content Placeholder 7"/>
          <p:cNvSpPr>
            <a:spLocks noGrp="1"/>
          </p:cNvSpPr>
          <p:nvPr>
            <p:ph sz="quarter" idx="17"/>
          </p:nvPr>
        </p:nvSpPr>
        <p:spPr>
          <a:xfrm>
            <a:off x="1981200" y="4672210"/>
            <a:ext cx="8229600" cy="801665"/>
          </a:xfrm>
        </p:spPr>
        <p:txBody>
          <a:bodyPr/>
          <a:lstStyle/>
          <a:p>
            <a:pPr marL="432000" indent="-432000">
              <a:spcBef>
                <a:spcPts val="600"/>
              </a:spcBef>
              <a:buFont typeface="+mj-lt"/>
              <a:buAutoNum type="arabicPeriod" startAt="4"/>
            </a:pPr>
            <a:r>
              <a:rPr lang="en-US" altLang="en-US" dirty="0"/>
              <a:t>The random variable </a:t>
            </a:r>
            <a:r>
              <a:rPr lang="en-US" altLang="en-US" i="1" dirty="0"/>
              <a:t>x</a:t>
            </a:r>
            <a:r>
              <a:rPr lang="en-US" altLang="en-US" dirty="0"/>
              <a:t> counts the number of successful surgeries.</a:t>
            </a:r>
          </a:p>
        </p:txBody>
      </p:sp>
    </p:spTree>
    <p:extLst>
      <p:ext uri="{BB962C8B-B14F-4D97-AF65-F5344CB8AC3E}">
        <p14:creationId xmlns:p14="http://schemas.microsoft.com/office/powerpoint/2010/main" val="31864315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Solution: Identifying and Understanding Binomial Experiments </a:t>
            </a:r>
            <a:r>
              <a:rPr lang="en-US" sz="2000" b="0" dirty="0"/>
              <a:t>(2 of 3)</a:t>
            </a:r>
          </a:p>
        </p:txBody>
      </p:sp>
      <p:sp>
        <p:nvSpPr>
          <p:cNvPr id="4" name="Content Placeholder 3"/>
          <p:cNvSpPr>
            <a:spLocks noGrp="1"/>
          </p:cNvSpPr>
          <p:nvPr>
            <p:ph sz="quarter" idx="13"/>
          </p:nvPr>
        </p:nvSpPr>
        <p:spPr>
          <a:xfrm>
            <a:off x="1981201" y="1552575"/>
            <a:ext cx="4946073" cy="1558761"/>
          </a:xfrm>
        </p:spPr>
        <p:txBody>
          <a:bodyPr/>
          <a:lstStyle/>
          <a:p>
            <a:pPr marL="407988" indent="-407988">
              <a:buNone/>
            </a:pPr>
            <a:r>
              <a:rPr lang="en-US" altLang="en-US" b="1" dirty="0">
                <a:solidFill>
                  <a:schemeClr val="tx1"/>
                </a:solidFill>
              </a:rPr>
              <a:t>Binomial Experiment</a:t>
            </a:r>
          </a:p>
          <a:p>
            <a:pPr marL="255600"/>
            <a:r>
              <a:rPr lang="en-US" altLang="en-US" i="1" dirty="0">
                <a:solidFill>
                  <a:schemeClr val="tx1"/>
                </a:solidFill>
              </a:rPr>
              <a:t>n</a:t>
            </a:r>
            <a:r>
              <a:rPr lang="en-US" altLang="en-US" dirty="0">
                <a:solidFill>
                  <a:schemeClr val="tx1"/>
                </a:solidFill>
              </a:rPr>
              <a:t> = 8 (number of trials)</a:t>
            </a:r>
          </a:p>
          <a:p>
            <a:pPr marL="255600"/>
            <a:r>
              <a:rPr lang="en-US" altLang="en-US" i="1" dirty="0">
                <a:solidFill>
                  <a:schemeClr val="tx1"/>
                </a:solidFill>
              </a:rPr>
              <a:t>p</a:t>
            </a:r>
            <a:r>
              <a:rPr lang="en-US" altLang="en-US" dirty="0">
                <a:solidFill>
                  <a:schemeClr val="tx1"/>
                </a:solidFill>
              </a:rPr>
              <a:t> = 0.85 (probability of success)</a:t>
            </a:r>
          </a:p>
        </p:txBody>
      </p:sp>
      <p:sp>
        <p:nvSpPr>
          <p:cNvPr id="5" name="Content Placeholder 4"/>
          <p:cNvSpPr>
            <a:spLocks noGrp="1"/>
          </p:cNvSpPr>
          <p:nvPr>
            <p:ph sz="quarter" idx="14"/>
          </p:nvPr>
        </p:nvSpPr>
        <p:spPr>
          <a:xfrm>
            <a:off x="1981201" y="3206339"/>
            <a:ext cx="302821" cy="435387"/>
          </a:xfrm>
        </p:spPr>
        <p:txBody>
          <a:bodyPr/>
          <a:lstStyle/>
          <a:p>
            <a:pPr marL="0" indent="0"/>
            <a:r>
              <a:rPr lang="en-US" dirty="0"/>
              <a:t> </a:t>
            </a:r>
            <a:r>
              <a:rPr lang="en-US" sz="100" dirty="0"/>
              <a:t> </a:t>
            </a:r>
          </a:p>
        </p:txBody>
      </p:sp>
      <p:graphicFrame>
        <p:nvGraphicFramePr>
          <p:cNvPr id="18" name="Object 17" descr="q equals 1 minus p equals 1 minus 0.85 equals 0.15">
            <a:extLst>
              <a:ext uri="{FF2B5EF4-FFF2-40B4-BE49-F238E27FC236}">
                <a16:creationId xmlns:a16="http://schemas.microsoft.com/office/drawing/2014/main" id="{5FFB9083-89AF-4823-8B57-61647B6FBE82}"/>
              </a:ext>
            </a:extLst>
          </p:cNvPr>
          <p:cNvGraphicFramePr>
            <a:graphicFrameLocks noChangeAspect="1"/>
          </p:cNvGraphicFramePr>
          <p:nvPr/>
        </p:nvGraphicFramePr>
        <p:xfrm>
          <a:off x="2343682" y="3210218"/>
          <a:ext cx="3573081" cy="385943"/>
        </p:xfrm>
        <a:graphic>
          <a:graphicData uri="http://schemas.openxmlformats.org/presentationml/2006/ole">
            <mc:AlternateContent xmlns:mc="http://schemas.openxmlformats.org/markup-compatibility/2006">
              <mc:Choice xmlns:v="urn:schemas-microsoft-com:vml" Requires="v">
                <p:oleObj spid="_x0000_s4098" name="Equation" r:id="rId3" imgW="3644640" imgH="393480" progId="Equation.DSMT4">
                  <p:embed/>
                </p:oleObj>
              </mc:Choice>
              <mc:Fallback>
                <p:oleObj name="Equation" r:id="rId3" imgW="3644640" imgH="393480" progId="Equation.DSMT4">
                  <p:embed/>
                  <p:pic>
                    <p:nvPicPr>
                      <p:cNvPr id="18" name="Object 17" descr="q equals 1 minus p equals 1 minus 0.85 equals 0.15">
                        <a:extLst>
                          <a:ext uri="{FF2B5EF4-FFF2-40B4-BE49-F238E27FC236}">
                            <a16:creationId xmlns:a16="http://schemas.microsoft.com/office/drawing/2014/main" id="{5FFB9083-89AF-4823-8B57-61647B6FBE82}"/>
                          </a:ext>
                        </a:extLst>
                      </p:cNvPr>
                      <p:cNvPicPr/>
                      <p:nvPr/>
                    </p:nvPicPr>
                    <p:blipFill>
                      <a:blip r:embed="rId4"/>
                      <a:stretch>
                        <a:fillRect/>
                      </a:stretch>
                    </p:blipFill>
                    <p:spPr>
                      <a:xfrm>
                        <a:off x="2343682" y="3210218"/>
                        <a:ext cx="3573081" cy="385943"/>
                      </a:xfrm>
                      <a:prstGeom prst="rect">
                        <a:avLst/>
                      </a:prstGeom>
                    </p:spPr>
                  </p:pic>
                </p:oleObj>
              </mc:Fallback>
            </mc:AlternateContent>
          </a:graphicData>
        </a:graphic>
      </p:graphicFrame>
      <p:sp>
        <p:nvSpPr>
          <p:cNvPr id="6" name="Content Placeholder 5"/>
          <p:cNvSpPr>
            <a:spLocks noGrp="1"/>
          </p:cNvSpPr>
          <p:nvPr>
            <p:ph sz="quarter" idx="15"/>
          </p:nvPr>
        </p:nvSpPr>
        <p:spPr>
          <a:xfrm>
            <a:off x="6099301" y="3170713"/>
            <a:ext cx="3108036" cy="435388"/>
          </a:xfrm>
        </p:spPr>
        <p:txBody>
          <a:bodyPr/>
          <a:lstStyle/>
          <a:p>
            <a:pPr marL="0" indent="0">
              <a:buNone/>
            </a:pPr>
            <a:r>
              <a:rPr lang="en-US" altLang="en-US" dirty="0"/>
              <a:t>(probability of failure)</a:t>
            </a:r>
          </a:p>
        </p:txBody>
      </p:sp>
      <p:sp>
        <p:nvSpPr>
          <p:cNvPr id="7" name="Content Placeholder 6"/>
          <p:cNvSpPr>
            <a:spLocks noGrp="1"/>
          </p:cNvSpPr>
          <p:nvPr>
            <p:ph sz="quarter" idx="16"/>
          </p:nvPr>
        </p:nvSpPr>
        <p:spPr>
          <a:xfrm>
            <a:off x="1981201" y="3736728"/>
            <a:ext cx="6905501" cy="799646"/>
          </a:xfrm>
        </p:spPr>
        <p:txBody>
          <a:bodyPr/>
          <a:lstStyle/>
          <a:p>
            <a:pPr marL="255600"/>
            <a:r>
              <a:rPr lang="en-US" altLang="en-US" i="1" dirty="0"/>
              <a:t>x</a:t>
            </a:r>
            <a:r>
              <a:rPr lang="en-US" altLang="en-US" dirty="0"/>
              <a:t> = 0, 1, 2, 3, 4, 5, 6, 7, 8 (number of successful surgeries)</a:t>
            </a:r>
          </a:p>
        </p:txBody>
      </p:sp>
    </p:spTree>
    <p:extLst>
      <p:ext uri="{BB962C8B-B14F-4D97-AF65-F5344CB8AC3E}">
        <p14:creationId xmlns:p14="http://schemas.microsoft.com/office/powerpoint/2010/main" val="6031477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Example: Identifying and Understanding Binomial Experiments </a:t>
            </a:r>
            <a:r>
              <a:rPr lang="en-US" sz="2000" b="0" dirty="0"/>
              <a:t>(2 of 2)</a:t>
            </a:r>
          </a:p>
        </p:txBody>
      </p:sp>
      <p:sp>
        <p:nvSpPr>
          <p:cNvPr id="4" name="Content Placeholder 3"/>
          <p:cNvSpPr>
            <a:spLocks noGrp="1"/>
          </p:cNvSpPr>
          <p:nvPr>
            <p:ph sz="quarter" idx="13"/>
          </p:nvPr>
        </p:nvSpPr>
        <p:spPr>
          <a:xfrm>
            <a:off x="1981201" y="1556328"/>
            <a:ext cx="7260956" cy="1531257"/>
          </a:xfrm>
        </p:spPr>
        <p:txBody>
          <a:bodyPr/>
          <a:lstStyle/>
          <a:p>
            <a:pPr marL="0" indent="0">
              <a:buNone/>
            </a:pPr>
            <a:r>
              <a:rPr lang="en-US" altLang="en-US" dirty="0"/>
              <a:t>Decide whether each experiment is a binomial experiment. If it is, specify the values of </a:t>
            </a:r>
            <a:r>
              <a:rPr lang="en-US" altLang="en-US" i="1" dirty="0"/>
              <a:t>n</a:t>
            </a:r>
            <a:r>
              <a:rPr lang="en-US" altLang="en-US" dirty="0"/>
              <a:t>, </a:t>
            </a:r>
            <a:r>
              <a:rPr lang="en-US" altLang="en-US" i="1" dirty="0"/>
              <a:t>p</a:t>
            </a:r>
            <a:r>
              <a:rPr lang="en-US" altLang="en-US" dirty="0"/>
              <a:t>, and </a:t>
            </a:r>
            <a:r>
              <a:rPr lang="en-US" altLang="en-US" i="1" dirty="0"/>
              <a:t>q</a:t>
            </a:r>
            <a:r>
              <a:rPr lang="en-US" altLang="en-US" dirty="0"/>
              <a:t>, and list the possible values of the random variable </a:t>
            </a:r>
            <a:r>
              <a:rPr lang="en-US" altLang="en-US" i="1" dirty="0"/>
              <a:t>x</a:t>
            </a:r>
            <a:r>
              <a:rPr lang="en-US" altLang="en-US" dirty="0"/>
              <a:t>. If it is not, explain why.</a:t>
            </a:r>
          </a:p>
        </p:txBody>
      </p:sp>
      <p:sp>
        <p:nvSpPr>
          <p:cNvPr id="5" name="Content Placeholder 4"/>
          <p:cNvSpPr>
            <a:spLocks noGrp="1"/>
          </p:cNvSpPr>
          <p:nvPr>
            <p:ph sz="quarter" idx="14"/>
          </p:nvPr>
        </p:nvSpPr>
        <p:spPr>
          <a:xfrm>
            <a:off x="1981200" y="3331262"/>
            <a:ext cx="8229600" cy="1608874"/>
          </a:xfrm>
        </p:spPr>
        <p:txBody>
          <a:bodyPr/>
          <a:lstStyle/>
          <a:p>
            <a:pPr marL="432000" indent="-432000">
              <a:buFont typeface="+mj-lt"/>
              <a:buAutoNum type="arabicPeriod" startAt="2"/>
            </a:pPr>
            <a:r>
              <a:rPr lang="en-US" altLang="en-US" dirty="0"/>
              <a:t>A jar contains five red marbles, nine blue marbles, and six green marbles. You randomly select three marbles from the jar, without replacement. The random variable represents the number of red marbles.</a:t>
            </a:r>
            <a:endParaRPr lang="en-US" altLang="en-US" dirty="0">
              <a:latin typeface="Arial" panose="020B0604020202020204" pitchFamily="34" charset="0"/>
            </a:endParaRPr>
          </a:p>
        </p:txBody>
      </p:sp>
    </p:spTree>
    <p:extLst>
      <p:ext uri="{BB962C8B-B14F-4D97-AF65-F5344CB8AC3E}">
        <p14:creationId xmlns:p14="http://schemas.microsoft.com/office/powerpoint/2010/main" val="5461884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Solution: Identifying and Understanding Binomial Experiments </a:t>
            </a:r>
            <a:r>
              <a:rPr lang="en-US" sz="2000" b="0" dirty="0"/>
              <a:t>(3 of 3)</a:t>
            </a:r>
          </a:p>
        </p:txBody>
      </p:sp>
      <p:sp>
        <p:nvSpPr>
          <p:cNvPr id="4" name="Content Placeholder 3"/>
          <p:cNvSpPr>
            <a:spLocks noGrp="1"/>
          </p:cNvSpPr>
          <p:nvPr>
            <p:ph sz="quarter" idx="13"/>
          </p:nvPr>
        </p:nvSpPr>
        <p:spPr>
          <a:xfrm>
            <a:off x="1981201" y="1552576"/>
            <a:ext cx="8318664" cy="953119"/>
          </a:xfrm>
        </p:spPr>
        <p:txBody>
          <a:bodyPr/>
          <a:lstStyle/>
          <a:p>
            <a:pPr marL="407988" indent="-407988">
              <a:buNone/>
            </a:pPr>
            <a:r>
              <a:rPr lang="en-US" altLang="en-US" b="1" dirty="0">
                <a:solidFill>
                  <a:schemeClr val="tx1"/>
                </a:solidFill>
              </a:rPr>
              <a:t>Not a Binomial Experiment</a:t>
            </a:r>
          </a:p>
          <a:p>
            <a:pPr marL="342900" indent="-342900">
              <a:spcBef>
                <a:spcPct val="40000"/>
              </a:spcBef>
            </a:pPr>
            <a:r>
              <a:rPr lang="en-US" altLang="en-US" dirty="0">
                <a:solidFill>
                  <a:schemeClr val="tx1"/>
                </a:solidFill>
              </a:rPr>
              <a:t>The probability of selecting a red marble on the first trial is</a:t>
            </a:r>
            <a:endParaRPr lang="en-US" dirty="0">
              <a:solidFill>
                <a:schemeClr val="tx1"/>
              </a:solidFill>
            </a:endParaRPr>
          </a:p>
        </p:txBody>
      </p:sp>
      <p:graphicFrame>
        <p:nvGraphicFramePr>
          <p:cNvPr id="18" name="Object 17" descr="5 Twentieths."/>
          <p:cNvGraphicFramePr>
            <a:graphicFrameLocks noChangeAspect="1"/>
          </p:cNvGraphicFramePr>
          <p:nvPr/>
        </p:nvGraphicFramePr>
        <p:xfrm>
          <a:off x="2272292" y="2594886"/>
          <a:ext cx="519545" cy="766329"/>
        </p:xfrm>
        <a:graphic>
          <a:graphicData uri="http://schemas.openxmlformats.org/presentationml/2006/ole">
            <mc:AlternateContent xmlns:mc="http://schemas.openxmlformats.org/markup-compatibility/2006">
              <mc:Choice xmlns:v="urn:schemas-microsoft-com:vml" Requires="v">
                <p:oleObj spid="_x0000_s5122" name="Equation" r:id="rId3" imgW="266400" imgH="393480" progId="Equation.DSMT4">
                  <p:embed/>
                </p:oleObj>
              </mc:Choice>
              <mc:Fallback>
                <p:oleObj name="Equation" r:id="rId3" imgW="266400" imgH="393480" progId="Equation.DSMT4">
                  <p:embed/>
                  <p:pic>
                    <p:nvPicPr>
                      <p:cNvPr id="18" name="Object 17" descr="5 Twentieths."/>
                      <p:cNvPicPr/>
                      <p:nvPr/>
                    </p:nvPicPr>
                    <p:blipFill>
                      <a:blip r:embed="rId4"/>
                      <a:stretch>
                        <a:fillRect/>
                      </a:stretch>
                    </p:blipFill>
                    <p:spPr>
                      <a:xfrm>
                        <a:off x="2272292" y="2594886"/>
                        <a:ext cx="519545" cy="766329"/>
                      </a:xfrm>
                      <a:prstGeom prst="rect">
                        <a:avLst/>
                      </a:prstGeom>
                    </p:spPr>
                  </p:pic>
                </p:oleObj>
              </mc:Fallback>
            </mc:AlternateContent>
          </a:graphicData>
        </a:graphic>
      </p:graphicFrame>
      <p:sp>
        <p:nvSpPr>
          <p:cNvPr id="5" name="Content Placeholder 4"/>
          <p:cNvSpPr>
            <a:spLocks noGrp="1"/>
          </p:cNvSpPr>
          <p:nvPr>
            <p:ph sz="quarter" idx="14"/>
          </p:nvPr>
        </p:nvSpPr>
        <p:spPr>
          <a:xfrm>
            <a:off x="1981201" y="3467587"/>
            <a:ext cx="7582395" cy="415637"/>
          </a:xfrm>
        </p:spPr>
        <p:txBody>
          <a:bodyPr/>
          <a:lstStyle/>
          <a:p>
            <a:r>
              <a:rPr lang="en-US" altLang="en-US" dirty="0"/>
              <a:t>Because the marble is not replaced, the probability of</a:t>
            </a:r>
            <a:endParaRPr lang="en-US" dirty="0"/>
          </a:p>
        </p:txBody>
      </p:sp>
      <p:sp>
        <p:nvSpPr>
          <p:cNvPr id="6" name="Content Placeholder 5"/>
          <p:cNvSpPr>
            <a:spLocks noGrp="1"/>
          </p:cNvSpPr>
          <p:nvPr>
            <p:ph sz="quarter" idx="15"/>
          </p:nvPr>
        </p:nvSpPr>
        <p:spPr>
          <a:xfrm>
            <a:off x="1981200" y="4144479"/>
            <a:ext cx="6751122" cy="415637"/>
          </a:xfrm>
        </p:spPr>
        <p:txBody>
          <a:bodyPr/>
          <a:lstStyle/>
          <a:p>
            <a:pPr marL="255600" indent="0">
              <a:buNone/>
            </a:pPr>
            <a:r>
              <a:rPr lang="en-US" altLang="en-US" dirty="0"/>
              <a:t>success (red) for subsequent trials is no longer</a:t>
            </a:r>
            <a:endParaRPr lang="en-US" dirty="0"/>
          </a:p>
        </p:txBody>
      </p:sp>
      <p:graphicFrame>
        <p:nvGraphicFramePr>
          <p:cNvPr id="19" name="Object 18" descr="5 Twentieths."/>
          <p:cNvGraphicFramePr>
            <a:graphicFrameLocks noChangeAspect="1"/>
          </p:cNvGraphicFramePr>
          <p:nvPr/>
        </p:nvGraphicFramePr>
        <p:xfrm>
          <a:off x="8803573" y="3948686"/>
          <a:ext cx="519545" cy="766329"/>
        </p:xfrm>
        <a:graphic>
          <a:graphicData uri="http://schemas.openxmlformats.org/presentationml/2006/ole">
            <mc:AlternateContent xmlns:mc="http://schemas.openxmlformats.org/markup-compatibility/2006">
              <mc:Choice xmlns:v="urn:schemas-microsoft-com:vml" Requires="v">
                <p:oleObj spid="_x0000_s5123" name="Equation" r:id="rId5" imgW="266400" imgH="393480" progId="Equation.DSMT4">
                  <p:embed/>
                </p:oleObj>
              </mc:Choice>
              <mc:Fallback>
                <p:oleObj name="Equation" r:id="rId5" imgW="266400" imgH="393480" progId="Equation.DSMT4">
                  <p:embed/>
                  <p:pic>
                    <p:nvPicPr>
                      <p:cNvPr id="19" name="Object 18" descr="5 Twentieths."/>
                      <p:cNvPicPr/>
                      <p:nvPr/>
                    </p:nvPicPr>
                    <p:blipFill>
                      <a:blip r:embed="rId4"/>
                      <a:stretch>
                        <a:fillRect/>
                      </a:stretch>
                    </p:blipFill>
                    <p:spPr>
                      <a:xfrm>
                        <a:off x="8803573" y="3948686"/>
                        <a:ext cx="519545" cy="766329"/>
                      </a:xfrm>
                      <a:prstGeom prst="rect">
                        <a:avLst/>
                      </a:prstGeom>
                    </p:spPr>
                  </p:pic>
                </p:oleObj>
              </mc:Fallback>
            </mc:AlternateContent>
          </a:graphicData>
        </a:graphic>
      </p:graphicFrame>
      <p:sp>
        <p:nvSpPr>
          <p:cNvPr id="7" name="Content Placeholder 6"/>
          <p:cNvSpPr>
            <a:spLocks noGrp="1"/>
          </p:cNvSpPr>
          <p:nvPr>
            <p:ph sz="quarter" idx="16"/>
          </p:nvPr>
        </p:nvSpPr>
        <p:spPr>
          <a:xfrm>
            <a:off x="1981200" y="4804176"/>
            <a:ext cx="8229600" cy="824717"/>
          </a:xfrm>
        </p:spPr>
        <p:txBody>
          <a:bodyPr/>
          <a:lstStyle/>
          <a:p>
            <a:pPr marL="255600">
              <a:spcBef>
                <a:spcPct val="40000"/>
              </a:spcBef>
            </a:pPr>
            <a:r>
              <a:rPr lang="en-US" altLang="en-US" dirty="0"/>
              <a:t>The trials are not independent and the probability of a success is not the same for each trial.</a:t>
            </a:r>
          </a:p>
        </p:txBody>
      </p:sp>
    </p:spTree>
    <p:extLst>
      <p:ext uri="{BB962C8B-B14F-4D97-AF65-F5344CB8AC3E}">
        <p14:creationId xmlns:p14="http://schemas.microsoft.com/office/powerpoint/2010/main" val="10693059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Binomial Probability Formula</a:t>
            </a:r>
          </a:p>
        </p:txBody>
      </p:sp>
      <p:sp>
        <p:nvSpPr>
          <p:cNvPr id="4" name="Content Placeholder 3"/>
          <p:cNvSpPr>
            <a:spLocks noGrp="1"/>
          </p:cNvSpPr>
          <p:nvPr>
            <p:ph sz="quarter" idx="13"/>
          </p:nvPr>
        </p:nvSpPr>
        <p:spPr>
          <a:xfrm>
            <a:off x="1981200" y="1552575"/>
            <a:ext cx="7143008" cy="1012495"/>
          </a:xfrm>
        </p:spPr>
        <p:txBody>
          <a:bodyPr/>
          <a:lstStyle/>
          <a:p>
            <a:pPr eaLnBrk="1" hangingPunct="1">
              <a:buFont typeface="Arial" panose="020B0604020202020204" pitchFamily="34" charset="0"/>
              <a:buNone/>
            </a:pPr>
            <a:r>
              <a:rPr lang="en-US" altLang="en-US" b="1" dirty="0">
                <a:solidFill>
                  <a:schemeClr val="tx1"/>
                </a:solidFill>
              </a:rPr>
              <a:t>Binomial Probability Formula</a:t>
            </a:r>
          </a:p>
          <a:p>
            <a:pPr eaLnBrk="1" hangingPunct="1"/>
            <a:r>
              <a:rPr lang="en-US" altLang="en-US" dirty="0">
                <a:solidFill>
                  <a:schemeClr val="tx1"/>
                </a:solidFill>
              </a:rPr>
              <a:t>The probability of exactly </a:t>
            </a:r>
            <a:r>
              <a:rPr lang="en-US" altLang="en-US" i="1" dirty="0">
                <a:solidFill>
                  <a:schemeClr val="tx1"/>
                </a:solidFill>
              </a:rPr>
              <a:t>x</a:t>
            </a:r>
            <a:r>
              <a:rPr lang="en-US" altLang="en-US" dirty="0">
                <a:solidFill>
                  <a:schemeClr val="tx1"/>
                </a:solidFill>
              </a:rPr>
              <a:t> successes in </a:t>
            </a:r>
            <a:r>
              <a:rPr lang="en-US" altLang="en-US" i="1" dirty="0">
                <a:solidFill>
                  <a:schemeClr val="tx1"/>
                </a:solidFill>
              </a:rPr>
              <a:t>n</a:t>
            </a:r>
            <a:r>
              <a:rPr lang="en-US" altLang="en-US" dirty="0">
                <a:solidFill>
                  <a:schemeClr val="tx1"/>
                </a:solidFill>
              </a:rPr>
              <a:t> trials is</a:t>
            </a:r>
          </a:p>
        </p:txBody>
      </p:sp>
      <p:graphicFrame>
        <p:nvGraphicFramePr>
          <p:cNvPr id="19" name="Object 18" descr="P open parenthesis x close parenthesis equals presubscript n C subscript x end subscript p to the power of x end exponent q to the power of n minus x end exponent equals fraction numerator n factorial divided by denominator open parenthesis n minus x close parenthesis factorial x factorial end fraction p to the power of x end exponent q to the power of n minus x end exponent">
            <a:extLst>
              <a:ext uri="{FF2B5EF4-FFF2-40B4-BE49-F238E27FC236}">
                <a16:creationId xmlns:a16="http://schemas.microsoft.com/office/drawing/2014/main" id="{8FE49B67-5F38-4D05-ACB0-1607B0CD79D0}"/>
              </a:ext>
            </a:extLst>
          </p:cNvPr>
          <p:cNvGraphicFramePr>
            <a:graphicFrameLocks noChangeAspect="1"/>
          </p:cNvGraphicFramePr>
          <p:nvPr/>
        </p:nvGraphicFramePr>
        <p:xfrm>
          <a:off x="2239758" y="2612937"/>
          <a:ext cx="4768273" cy="865909"/>
        </p:xfrm>
        <a:graphic>
          <a:graphicData uri="http://schemas.openxmlformats.org/presentationml/2006/ole">
            <mc:AlternateContent xmlns:mc="http://schemas.openxmlformats.org/markup-compatibility/2006">
              <mc:Choice xmlns:v="urn:schemas-microsoft-com:vml" Requires="v">
                <p:oleObj spid="_x0000_s6146" name="Equation" r:id="rId3" imgW="5244840" imgH="952200" progId="Equation.DSMT4">
                  <p:embed/>
                </p:oleObj>
              </mc:Choice>
              <mc:Fallback>
                <p:oleObj name="Equation" r:id="rId3" imgW="5244840" imgH="952200" progId="Equation.DSMT4">
                  <p:embed/>
                  <p:pic>
                    <p:nvPicPr>
                      <p:cNvPr id="19" name="Object 18" descr="P open parenthesis x close parenthesis equals presubscript n C subscript x end subscript p to the power of x end exponent q to the power of n minus x end exponent equals fraction numerator n factorial divided by denominator open parenthesis n minus x close parenthesis factorial x factorial end fraction p to the power of x end exponent q to the power of n minus x end exponent">
                        <a:extLst>
                          <a:ext uri="{FF2B5EF4-FFF2-40B4-BE49-F238E27FC236}">
                            <a16:creationId xmlns:a16="http://schemas.microsoft.com/office/drawing/2014/main" id="{8FE49B67-5F38-4D05-ACB0-1607B0CD79D0}"/>
                          </a:ext>
                        </a:extLst>
                      </p:cNvPr>
                      <p:cNvPicPr/>
                      <p:nvPr/>
                    </p:nvPicPr>
                    <p:blipFill>
                      <a:blip r:embed="rId4"/>
                      <a:stretch>
                        <a:fillRect/>
                      </a:stretch>
                    </p:blipFill>
                    <p:spPr>
                      <a:xfrm>
                        <a:off x="2239758" y="2612937"/>
                        <a:ext cx="4768273" cy="865909"/>
                      </a:xfrm>
                      <a:prstGeom prst="rect">
                        <a:avLst/>
                      </a:prstGeom>
                    </p:spPr>
                  </p:pic>
                </p:oleObj>
              </mc:Fallback>
            </mc:AlternateContent>
          </a:graphicData>
        </a:graphic>
      </p:graphicFrame>
      <p:sp>
        <p:nvSpPr>
          <p:cNvPr id="5" name="Content Placeholder 4"/>
          <p:cNvSpPr>
            <a:spLocks noGrp="1"/>
          </p:cNvSpPr>
          <p:nvPr>
            <p:ph sz="quarter" idx="14"/>
          </p:nvPr>
        </p:nvSpPr>
        <p:spPr>
          <a:xfrm>
            <a:off x="1981200" y="3583863"/>
            <a:ext cx="4256088" cy="997787"/>
          </a:xfrm>
        </p:spPr>
        <p:txBody>
          <a:bodyPr/>
          <a:lstStyle/>
          <a:p>
            <a:r>
              <a:rPr lang="en-US" i="1" dirty="0"/>
              <a:t>n</a:t>
            </a:r>
            <a:r>
              <a:rPr lang="en-US" dirty="0"/>
              <a:t> = number of trials</a:t>
            </a:r>
          </a:p>
          <a:p>
            <a:r>
              <a:rPr lang="en-US" i="1" dirty="0"/>
              <a:t>p</a:t>
            </a:r>
            <a:r>
              <a:rPr lang="en-US" dirty="0"/>
              <a:t> = probability of success</a:t>
            </a:r>
          </a:p>
        </p:txBody>
      </p:sp>
      <p:sp>
        <p:nvSpPr>
          <p:cNvPr id="6" name="Content Placeholder 5"/>
          <p:cNvSpPr>
            <a:spLocks noGrp="1"/>
          </p:cNvSpPr>
          <p:nvPr>
            <p:ph sz="quarter" idx="15"/>
          </p:nvPr>
        </p:nvSpPr>
        <p:spPr>
          <a:xfrm>
            <a:off x="1981202" y="4648566"/>
            <a:ext cx="279069" cy="437785"/>
          </a:xfrm>
        </p:spPr>
        <p:txBody>
          <a:bodyPr/>
          <a:lstStyle/>
          <a:p>
            <a:pPr marL="0" indent="0"/>
            <a:r>
              <a:rPr lang="en-US" dirty="0"/>
              <a:t> </a:t>
            </a:r>
            <a:r>
              <a:rPr lang="en-US" sz="100" dirty="0"/>
              <a:t> </a:t>
            </a:r>
          </a:p>
        </p:txBody>
      </p:sp>
      <p:graphicFrame>
        <p:nvGraphicFramePr>
          <p:cNvPr id="20" name="Object 19" descr="q equals 1 minus p probability of failure">
            <a:extLst>
              <a:ext uri="{FF2B5EF4-FFF2-40B4-BE49-F238E27FC236}">
                <a16:creationId xmlns:a16="http://schemas.microsoft.com/office/drawing/2014/main" id="{3AEC78F6-2A7E-4060-84BF-87F9E384FFAC}"/>
              </a:ext>
            </a:extLst>
          </p:cNvPr>
          <p:cNvGraphicFramePr>
            <a:graphicFrameLocks noChangeAspect="1"/>
          </p:cNvGraphicFramePr>
          <p:nvPr/>
        </p:nvGraphicFramePr>
        <p:xfrm>
          <a:off x="2325164" y="4661605"/>
          <a:ext cx="3896775" cy="385943"/>
        </p:xfrm>
        <a:graphic>
          <a:graphicData uri="http://schemas.openxmlformats.org/presentationml/2006/ole">
            <mc:AlternateContent xmlns:mc="http://schemas.openxmlformats.org/markup-compatibility/2006">
              <mc:Choice xmlns:v="urn:schemas-microsoft-com:vml" Requires="v">
                <p:oleObj spid="_x0000_s6147" name="Equation" r:id="rId5" imgW="3974760" imgH="393480" progId="Equation.DSMT4">
                  <p:embed/>
                </p:oleObj>
              </mc:Choice>
              <mc:Fallback>
                <p:oleObj name="Equation" r:id="rId5" imgW="3974760" imgH="393480" progId="Equation.DSMT4">
                  <p:embed/>
                  <p:pic>
                    <p:nvPicPr>
                      <p:cNvPr id="20" name="Object 19" descr="q equals 1 minus p probability of failure">
                        <a:extLst>
                          <a:ext uri="{FF2B5EF4-FFF2-40B4-BE49-F238E27FC236}">
                            <a16:creationId xmlns:a16="http://schemas.microsoft.com/office/drawing/2014/main" id="{3AEC78F6-2A7E-4060-84BF-87F9E384FFAC}"/>
                          </a:ext>
                        </a:extLst>
                      </p:cNvPr>
                      <p:cNvPicPr/>
                      <p:nvPr/>
                    </p:nvPicPr>
                    <p:blipFill>
                      <a:blip r:embed="rId6"/>
                      <a:stretch>
                        <a:fillRect/>
                      </a:stretch>
                    </p:blipFill>
                    <p:spPr>
                      <a:xfrm>
                        <a:off x="2325164" y="4661605"/>
                        <a:ext cx="3896775" cy="385943"/>
                      </a:xfrm>
                      <a:prstGeom prst="rect">
                        <a:avLst/>
                      </a:prstGeom>
                    </p:spPr>
                  </p:pic>
                </p:oleObj>
              </mc:Fallback>
            </mc:AlternateContent>
          </a:graphicData>
        </a:graphic>
      </p:graphicFrame>
      <p:sp>
        <p:nvSpPr>
          <p:cNvPr id="7" name="Content Placeholder 6"/>
          <p:cNvSpPr>
            <a:spLocks noGrp="1"/>
          </p:cNvSpPr>
          <p:nvPr>
            <p:ph sz="quarter" idx="16"/>
          </p:nvPr>
        </p:nvSpPr>
        <p:spPr>
          <a:xfrm>
            <a:off x="1981201" y="5153266"/>
            <a:ext cx="5093505" cy="428384"/>
          </a:xfrm>
        </p:spPr>
        <p:txBody>
          <a:bodyPr/>
          <a:lstStyle/>
          <a:p>
            <a:r>
              <a:rPr lang="en-US" i="1" dirty="0"/>
              <a:t>x</a:t>
            </a:r>
            <a:r>
              <a:rPr lang="en-US" dirty="0"/>
              <a:t> = number of successes in n trials</a:t>
            </a:r>
          </a:p>
        </p:txBody>
      </p:sp>
      <p:sp>
        <p:nvSpPr>
          <p:cNvPr id="8" name="Content Placeholder 7"/>
          <p:cNvSpPr>
            <a:spLocks noGrp="1"/>
          </p:cNvSpPr>
          <p:nvPr>
            <p:ph sz="quarter" idx="17"/>
          </p:nvPr>
        </p:nvSpPr>
        <p:spPr>
          <a:xfrm>
            <a:off x="1981201" y="5673601"/>
            <a:ext cx="3960421" cy="441566"/>
          </a:xfrm>
        </p:spPr>
        <p:txBody>
          <a:bodyPr/>
          <a:lstStyle/>
          <a:p>
            <a:r>
              <a:rPr lang="en-US" dirty="0"/>
              <a:t>Note: number of failures is</a:t>
            </a:r>
          </a:p>
        </p:txBody>
      </p:sp>
      <p:graphicFrame>
        <p:nvGraphicFramePr>
          <p:cNvPr id="21" name="Object 20" descr="n minus x">
            <a:extLst>
              <a:ext uri="{FF2B5EF4-FFF2-40B4-BE49-F238E27FC236}">
                <a16:creationId xmlns:a16="http://schemas.microsoft.com/office/drawing/2014/main" id="{ACE8DAE7-B2FA-4E9B-8EEE-0469991B6C89}"/>
              </a:ext>
            </a:extLst>
          </p:cNvPr>
          <p:cNvGraphicFramePr>
            <a:graphicFrameLocks noChangeAspect="1"/>
          </p:cNvGraphicFramePr>
          <p:nvPr/>
        </p:nvGraphicFramePr>
        <p:xfrm>
          <a:off x="6036622" y="5763524"/>
          <a:ext cx="757643" cy="239255"/>
        </p:xfrm>
        <a:graphic>
          <a:graphicData uri="http://schemas.openxmlformats.org/presentationml/2006/ole">
            <mc:AlternateContent xmlns:mc="http://schemas.openxmlformats.org/markup-compatibility/2006">
              <mc:Choice xmlns:v="urn:schemas-microsoft-com:vml" Requires="v">
                <p:oleObj spid="_x0000_s6148" name="Equation" r:id="rId7" imgW="723600" imgH="228600" progId="Equation.DSMT4">
                  <p:embed/>
                </p:oleObj>
              </mc:Choice>
              <mc:Fallback>
                <p:oleObj name="Equation" r:id="rId7" imgW="723600" imgH="228600" progId="Equation.DSMT4">
                  <p:embed/>
                  <p:pic>
                    <p:nvPicPr>
                      <p:cNvPr id="21" name="Object 20" descr="n minus x">
                        <a:extLst>
                          <a:ext uri="{FF2B5EF4-FFF2-40B4-BE49-F238E27FC236}">
                            <a16:creationId xmlns:a16="http://schemas.microsoft.com/office/drawing/2014/main" id="{ACE8DAE7-B2FA-4E9B-8EEE-0469991B6C89}"/>
                          </a:ext>
                        </a:extLst>
                      </p:cNvPr>
                      <p:cNvPicPr/>
                      <p:nvPr/>
                    </p:nvPicPr>
                    <p:blipFill>
                      <a:blip r:embed="rId8"/>
                      <a:stretch>
                        <a:fillRect/>
                      </a:stretch>
                    </p:blipFill>
                    <p:spPr>
                      <a:xfrm>
                        <a:off x="6036622" y="5763524"/>
                        <a:ext cx="757643" cy="239255"/>
                      </a:xfrm>
                      <a:prstGeom prst="rect">
                        <a:avLst/>
                      </a:prstGeom>
                    </p:spPr>
                  </p:pic>
                </p:oleObj>
              </mc:Fallback>
            </mc:AlternateContent>
          </a:graphicData>
        </a:graphic>
      </p:graphicFrame>
    </p:spTree>
    <p:extLst>
      <p:ext uri="{BB962C8B-B14F-4D97-AF65-F5344CB8AC3E}">
        <p14:creationId xmlns:p14="http://schemas.microsoft.com/office/powerpoint/2010/main" val="9291472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15372"/>
            <a:ext cx="8229601" cy="1097279"/>
          </a:xfrm>
        </p:spPr>
        <p:txBody>
          <a:bodyPr/>
          <a:lstStyle/>
          <a:p>
            <a:r>
              <a:rPr lang="en-US" sz="3400" dirty="0"/>
              <a:t>Example: Finding a Binomial Probability</a:t>
            </a:r>
          </a:p>
        </p:txBody>
      </p:sp>
      <p:sp>
        <p:nvSpPr>
          <p:cNvPr id="4" name="Content Placeholder 3"/>
          <p:cNvSpPr>
            <a:spLocks noGrp="1"/>
          </p:cNvSpPr>
          <p:nvPr>
            <p:ph sz="quarter" idx="13"/>
          </p:nvPr>
        </p:nvSpPr>
        <p:spPr>
          <a:xfrm>
            <a:off x="1981200" y="1556327"/>
            <a:ext cx="8229600" cy="1555008"/>
          </a:xfrm>
        </p:spPr>
        <p:txBody>
          <a:bodyPr/>
          <a:lstStyle/>
          <a:p>
            <a:pPr marL="0" indent="0">
              <a:buNone/>
            </a:pPr>
            <a:r>
              <a:rPr lang="en-US" dirty="0">
                <a:solidFill>
                  <a:schemeClr val="tx1"/>
                </a:solidFill>
              </a:rPr>
              <a:t>Rotator cuff surgery has a 90% chance of success. The surgery is performed on three patients. Find the probability of the surgery being successful on exactly two patients. (Source: The Orthopedic Center of St. Louis)</a:t>
            </a:r>
            <a:endParaRPr lang="en-US" altLang="en-US" dirty="0">
              <a:solidFill>
                <a:schemeClr val="tx1"/>
              </a:solidFill>
            </a:endParaRPr>
          </a:p>
        </p:txBody>
      </p:sp>
      <p:pic>
        <p:nvPicPr>
          <p:cNvPr id="6" name="Content Placeholder 5" descr="An illustration depicts a group of doctors performing a surgery."/>
          <p:cNvPicPr>
            <a:picLocks noGrp="1" noChangeAspect="1"/>
          </p:cNvPicPr>
          <p:nvPr>
            <p:ph sz="quarter" idx="14"/>
          </p:nvPr>
        </p:nvPicPr>
        <p:blipFill>
          <a:blip r:embed="rId2"/>
          <a:stretch>
            <a:fillRect/>
          </a:stretch>
        </p:blipFill>
        <p:spPr>
          <a:xfrm>
            <a:off x="8991465" y="3295924"/>
            <a:ext cx="1335201" cy="1195042"/>
          </a:xfrm>
          <a:prstGeom prst="rect">
            <a:avLst/>
          </a:prstGeom>
        </p:spPr>
      </p:pic>
    </p:spTree>
    <p:extLst>
      <p:ext uri="{BB962C8B-B14F-4D97-AF65-F5344CB8AC3E}">
        <p14:creationId xmlns:p14="http://schemas.microsoft.com/office/powerpoint/2010/main" val="8999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15372"/>
            <a:ext cx="7499268" cy="1097279"/>
          </a:xfrm>
        </p:spPr>
        <p:txBody>
          <a:bodyPr/>
          <a:lstStyle/>
          <a:p>
            <a:r>
              <a:rPr lang="en-US" sz="3400" dirty="0"/>
              <a:t>Solution: Finding a Binomial Probability </a:t>
            </a:r>
            <a:r>
              <a:rPr lang="en-US" sz="2000" b="0" dirty="0"/>
              <a:t>(1 of 2)</a:t>
            </a:r>
          </a:p>
        </p:txBody>
      </p:sp>
      <p:sp>
        <p:nvSpPr>
          <p:cNvPr id="4" name="Content Placeholder 3"/>
          <p:cNvSpPr>
            <a:spLocks noGrp="1"/>
          </p:cNvSpPr>
          <p:nvPr>
            <p:ph sz="quarter" idx="13"/>
          </p:nvPr>
        </p:nvSpPr>
        <p:spPr>
          <a:xfrm>
            <a:off x="1981200" y="1556328"/>
            <a:ext cx="8045532" cy="830613"/>
          </a:xfrm>
        </p:spPr>
        <p:txBody>
          <a:bodyPr/>
          <a:lstStyle/>
          <a:p>
            <a:pPr marL="0" indent="0">
              <a:buNone/>
            </a:pPr>
            <a:r>
              <a:rPr lang="en-US" altLang="en-US" b="1" dirty="0"/>
              <a:t>Method 1: </a:t>
            </a:r>
            <a:r>
              <a:rPr lang="en-US" altLang="en-US" dirty="0"/>
              <a:t>Draw a tree diagram and use the Multiplication Rule.</a:t>
            </a:r>
          </a:p>
        </p:txBody>
      </p:sp>
      <p:pic>
        <p:nvPicPr>
          <p:cNvPr id="6" name="Content Placeholder 5" descr="A tree diagram for finding a binomial probability. For long description in Notes pane, press F6."/>
          <p:cNvPicPr>
            <a:picLocks noGrp="1" noChangeAspect="1"/>
          </p:cNvPicPr>
          <p:nvPr>
            <p:ph sz="quarter" idx="14"/>
          </p:nvPr>
        </p:nvPicPr>
        <p:blipFill>
          <a:blip r:embed="rId4"/>
          <a:stretch>
            <a:fillRect/>
          </a:stretch>
        </p:blipFill>
        <p:spPr>
          <a:xfrm>
            <a:off x="1981200" y="2630617"/>
            <a:ext cx="6925656" cy="3420152"/>
          </a:xfrm>
          <a:prstGeom prst="rect">
            <a:avLst/>
          </a:prstGeom>
        </p:spPr>
      </p:pic>
      <p:graphicFrame>
        <p:nvGraphicFramePr>
          <p:cNvPr id="7" name="Object 6" descr="3 open parenthesis 81 divided by 1000 close parenthesis">
            <a:extLst>
              <a:ext uri="{FF2B5EF4-FFF2-40B4-BE49-F238E27FC236}">
                <a16:creationId xmlns:a16="http://schemas.microsoft.com/office/drawing/2014/main" id="{A1B1A3FE-BE34-4B41-AC29-7100A27B3390}"/>
              </a:ext>
            </a:extLst>
          </p:cNvPr>
          <p:cNvGraphicFramePr>
            <a:graphicFrameLocks noChangeAspect="1"/>
          </p:cNvGraphicFramePr>
          <p:nvPr/>
        </p:nvGraphicFramePr>
        <p:xfrm>
          <a:off x="9109114" y="3437855"/>
          <a:ext cx="1189182" cy="854364"/>
        </p:xfrm>
        <a:graphic>
          <a:graphicData uri="http://schemas.openxmlformats.org/presentationml/2006/ole">
            <mc:AlternateContent xmlns:mc="http://schemas.openxmlformats.org/markup-compatibility/2006">
              <mc:Choice xmlns:v="urn:schemas-microsoft-com:vml" Requires="v">
                <p:oleObj spid="_x0000_s7170" name="Equation" r:id="rId5" imgW="1307880" imgH="939600" progId="Equation.DSMT4">
                  <p:embed/>
                </p:oleObj>
              </mc:Choice>
              <mc:Fallback>
                <p:oleObj name="Equation" r:id="rId5" imgW="1307880" imgH="939600" progId="Equation.DSMT4">
                  <p:embed/>
                  <p:pic>
                    <p:nvPicPr>
                      <p:cNvPr id="7" name="Object 6" descr="3 open parenthesis 81 divided by 1000 close parenthesis">
                        <a:extLst>
                          <a:ext uri="{FF2B5EF4-FFF2-40B4-BE49-F238E27FC236}">
                            <a16:creationId xmlns:a16="http://schemas.microsoft.com/office/drawing/2014/main" id="{A1B1A3FE-BE34-4B41-AC29-7100A27B3390}"/>
                          </a:ext>
                        </a:extLst>
                      </p:cNvPr>
                      <p:cNvPicPr/>
                      <p:nvPr/>
                    </p:nvPicPr>
                    <p:blipFill>
                      <a:blip r:embed="rId6"/>
                      <a:stretch>
                        <a:fillRect/>
                      </a:stretch>
                    </p:blipFill>
                    <p:spPr>
                      <a:xfrm>
                        <a:off x="9109114" y="3437855"/>
                        <a:ext cx="1189182" cy="854364"/>
                      </a:xfrm>
                      <a:prstGeom prst="rect">
                        <a:avLst/>
                      </a:prstGeom>
                    </p:spPr>
                  </p:pic>
                </p:oleObj>
              </mc:Fallback>
            </mc:AlternateContent>
          </a:graphicData>
        </a:graphic>
      </p:graphicFrame>
      <p:graphicFrame>
        <p:nvGraphicFramePr>
          <p:cNvPr id="8" name="Object 7" descr="equals 0.243">
            <a:extLst>
              <a:ext uri="{FF2B5EF4-FFF2-40B4-BE49-F238E27FC236}">
                <a16:creationId xmlns:a16="http://schemas.microsoft.com/office/drawing/2014/main" id="{0D836065-7E84-40AA-9CA9-647A25946FAA}"/>
              </a:ext>
            </a:extLst>
          </p:cNvPr>
          <p:cNvGraphicFramePr>
            <a:graphicFrameLocks noChangeAspect="1"/>
          </p:cNvGraphicFramePr>
          <p:nvPr/>
        </p:nvGraphicFramePr>
        <p:xfrm>
          <a:off x="9342439" y="4438651"/>
          <a:ext cx="993775" cy="288925"/>
        </p:xfrm>
        <a:graphic>
          <a:graphicData uri="http://schemas.openxmlformats.org/presentationml/2006/ole">
            <mc:AlternateContent xmlns:mc="http://schemas.openxmlformats.org/markup-compatibility/2006">
              <mc:Choice xmlns:v="urn:schemas-microsoft-com:vml" Requires="v">
                <p:oleObj spid="_x0000_s7171" name="Equation" r:id="rId7" imgW="1091880" imgH="317160" progId="Equation.DSMT4">
                  <p:embed/>
                </p:oleObj>
              </mc:Choice>
              <mc:Fallback>
                <p:oleObj name="Equation" r:id="rId7" imgW="1091880" imgH="317160" progId="Equation.DSMT4">
                  <p:embed/>
                  <p:pic>
                    <p:nvPicPr>
                      <p:cNvPr id="8" name="Object 7" descr="equals 0.243">
                        <a:extLst>
                          <a:ext uri="{FF2B5EF4-FFF2-40B4-BE49-F238E27FC236}">
                            <a16:creationId xmlns:a16="http://schemas.microsoft.com/office/drawing/2014/main" id="{0D836065-7E84-40AA-9CA9-647A25946FAA}"/>
                          </a:ext>
                        </a:extLst>
                      </p:cNvPr>
                      <p:cNvPicPr/>
                      <p:nvPr/>
                    </p:nvPicPr>
                    <p:blipFill>
                      <a:blip r:embed="rId8"/>
                      <a:stretch>
                        <a:fillRect/>
                      </a:stretch>
                    </p:blipFill>
                    <p:spPr>
                      <a:xfrm>
                        <a:off x="9342439" y="4438651"/>
                        <a:ext cx="993775" cy="288925"/>
                      </a:xfrm>
                      <a:prstGeom prst="rect">
                        <a:avLst/>
                      </a:prstGeom>
                    </p:spPr>
                  </p:pic>
                </p:oleObj>
              </mc:Fallback>
            </mc:AlternateContent>
          </a:graphicData>
        </a:graphic>
      </p:graphicFrame>
    </p:spTree>
    <p:extLst>
      <p:ext uri="{BB962C8B-B14F-4D97-AF65-F5344CB8AC3E}">
        <p14:creationId xmlns:p14="http://schemas.microsoft.com/office/powerpoint/2010/main" val="31413977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1" y="215372"/>
            <a:ext cx="7582395" cy="1097279"/>
          </a:xfrm>
        </p:spPr>
        <p:txBody>
          <a:bodyPr/>
          <a:lstStyle/>
          <a:p>
            <a:r>
              <a:rPr lang="en-US" sz="3400" dirty="0"/>
              <a:t>Solution: Finding a Binomial Probability </a:t>
            </a:r>
            <a:r>
              <a:rPr lang="en-US" sz="2000" b="0" dirty="0"/>
              <a:t>(2 of 2)</a:t>
            </a:r>
            <a:endParaRPr lang="en-US" sz="2000" dirty="0"/>
          </a:p>
        </p:txBody>
      </p:sp>
      <p:sp>
        <p:nvSpPr>
          <p:cNvPr id="3" name="Content Placeholder 2"/>
          <p:cNvSpPr>
            <a:spLocks noGrp="1"/>
          </p:cNvSpPr>
          <p:nvPr>
            <p:ph sz="quarter" idx="13"/>
          </p:nvPr>
        </p:nvSpPr>
        <p:spPr>
          <a:xfrm>
            <a:off x="1981201" y="1556327"/>
            <a:ext cx="6798623" cy="426852"/>
          </a:xfrm>
        </p:spPr>
        <p:txBody>
          <a:bodyPr/>
          <a:lstStyle/>
          <a:p>
            <a:pPr marL="0" indent="0">
              <a:buNone/>
            </a:pPr>
            <a:r>
              <a:rPr lang="en-US" altLang="en-US" b="1" dirty="0"/>
              <a:t>Method 2: </a:t>
            </a:r>
            <a:r>
              <a:rPr lang="en-US" altLang="en-US" dirty="0"/>
              <a:t>Use the binomial probability formula.</a:t>
            </a:r>
          </a:p>
        </p:txBody>
      </p:sp>
      <p:graphicFrame>
        <p:nvGraphicFramePr>
          <p:cNvPr id="4" name="Object 3" descr="n = 3, p = 9 tenths, q = 1 tenths, and x = 2">
            <a:extLst>
              <a:ext uri="{FF2B5EF4-FFF2-40B4-BE49-F238E27FC236}">
                <a16:creationId xmlns:a16="http://schemas.microsoft.com/office/drawing/2014/main" id="{62441E5D-3FF0-4851-8524-E0BC3CCF503B}"/>
              </a:ext>
            </a:extLst>
          </p:cNvPr>
          <p:cNvGraphicFramePr>
            <a:graphicFrameLocks noChangeAspect="1"/>
          </p:cNvGraphicFramePr>
          <p:nvPr/>
        </p:nvGraphicFramePr>
        <p:xfrm>
          <a:off x="4096027" y="2071782"/>
          <a:ext cx="3999949" cy="739589"/>
        </p:xfrm>
        <a:graphic>
          <a:graphicData uri="http://schemas.openxmlformats.org/presentationml/2006/ole">
            <mc:AlternateContent xmlns:mc="http://schemas.openxmlformats.org/markup-compatibility/2006">
              <mc:Choice xmlns:v="urn:schemas-microsoft-com:vml" Requires="v">
                <p:oleObj spid="_x0000_s8194" name="Equation" r:id="rId3" imgW="4533840" imgH="838080" progId="Equation.DSMT4">
                  <p:embed/>
                </p:oleObj>
              </mc:Choice>
              <mc:Fallback>
                <p:oleObj name="Equation" r:id="rId3" imgW="4533840" imgH="838080" progId="Equation.DSMT4">
                  <p:embed/>
                  <p:pic>
                    <p:nvPicPr>
                      <p:cNvPr id="4" name="Object 3" descr="n = 3, p = 9 tenths, q = 1 tenths, and x = 2">
                        <a:extLst>
                          <a:ext uri="{FF2B5EF4-FFF2-40B4-BE49-F238E27FC236}">
                            <a16:creationId xmlns:a16="http://schemas.microsoft.com/office/drawing/2014/main" id="{62441E5D-3FF0-4851-8524-E0BC3CCF503B}"/>
                          </a:ext>
                        </a:extLst>
                      </p:cNvPr>
                      <p:cNvPicPr/>
                      <p:nvPr/>
                    </p:nvPicPr>
                    <p:blipFill>
                      <a:blip r:embed="rId4"/>
                      <a:stretch>
                        <a:fillRect/>
                      </a:stretch>
                    </p:blipFill>
                    <p:spPr>
                      <a:xfrm>
                        <a:off x="4096027" y="2071782"/>
                        <a:ext cx="3999949" cy="739589"/>
                      </a:xfrm>
                      <a:prstGeom prst="rect">
                        <a:avLst/>
                      </a:prstGeom>
                    </p:spPr>
                  </p:pic>
                </p:oleObj>
              </mc:Fallback>
            </mc:AlternateContent>
          </a:graphicData>
        </a:graphic>
      </p:graphicFrame>
      <p:graphicFrame>
        <p:nvGraphicFramePr>
          <p:cNvPr id="5" name="Object 4" descr="p open parenthesis 2 close parenthesis equals fraction numerator 3 factorial divided by denominator open parenthesis 3 minus 2 close parenthesis factorial 2 factorial end fraction open parenthesis 9 divided by 10 close parenthesis squared open parenthesis 1 divided by 10 close parenthesis to the power of 1">
            <a:extLst>
              <a:ext uri="{FF2B5EF4-FFF2-40B4-BE49-F238E27FC236}">
                <a16:creationId xmlns:a16="http://schemas.microsoft.com/office/drawing/2014/main" id="{CE1A5725-68A6-4F9B-87CD-A271EB931441}"/>
              </a:ext>
            </a:extLst>
          </p:cNvPr>
          <p:cNvGraphicFramePr>
            <a:graphicFrameLocks noChangeAspect="1"/>
          </p:cNvGraphicFramePr>
          <p:nvPr/>
        </p:nvGraphicFramePr>
        <p:xfrm>
          <a:off x="3831194" y="2915019"/>
          <a:ext cx="3932712" cy="983178"/>
        </p:xfrm>
        <a:graphic>
          <a:graphicData uri="http://schemas.openxmlformats.org/presentationml/2006/ole">
            <mc:AlternateContent xmlns:mc="http://schemas.openxmlformats.org/markup-compatibility/2006">
              <mc:Choice xmlns:v="urn:schemas-microsoft-com:vml" Requires="v">
                <p:oleObj spid="_x0000_s8195" name="Equation" r:id="rId5" imgW="4216320" imgH="1054080" progId="Equation.DSMT4">
                  <p:embed/>
                </p:oleObj>
              </mc:Choice>
              <mc:Fallback>
                <p:oleObj name="Equation" r:id="rId5" imgW="4216320" imgH="1054080" progId="Equation.DSMT4">
                  <p:embed/>
                  <p:pic>
                    <p:nvPicPr>
                      <p:cNvPr id="5" name="Object 4" descr="p open parenthesis 2 close parenthesis equals fraction numerator 3 factorial divided by denominator open parenthesis 3 minus 2 close parenthesis factorial 2 factorial end fraction open parenthesis 9 divided by 10 close parenthesis squared open parenthesis 1 divided by 10 close parenthesis to the power of 1">
                        <a:extLst>
                          <a:ext uri="{FF2B5EF4-FFF2-40B4-BE49-F238E27FC236}">
                            <a16:creationId xmlns:a16="http://schemas.microsoft.com/office/drawing/2014/main" id="{CE1A5725-68A6-4F9B-87CD-A271EB931441}"/>
                          </a:ext>
                        </a:extLst>
                      </p:cNvPr>
                      <p:cNvPicPr/>
                      <p:nvPr/>
                    </p:nvPicPr>
                    <p:blipFill>
                      <a:blip r:embed="rId6"/>
                      <a:stretch>
                        <a:fillRect/>
                      </a:stretch>
                    </p:blipFill>
                    <p:spPr>
                      <a:xfrm>
                        <a:off x="3831194" y="2915019"/>
                        <a:ext cx="3932712" cy="983178"/>
                      </a:xfrm>
                      <a:prstGeom prst="rect">
                        <a:avLst/>
                      </a:prstGeom>
                    </p:spPr>
                  </p:pic>
                </p:oleObj>
              </mc:Fallback>
            </mc:AlternateContent>
          </a:graphicData>
        </a:graphic>
      </p:graphicFrame>
      <p:graphicFrame>
        <p:nvGraphicFramePr>
          <p:cNvPr id="6" name="Object 5" descr="equals 3 open parenthesis 81 divided by 100 close parenthesis open parenthesis 1 divided by 10 close parenthesis">
            <a:extLst>
              <a:ext uri="{FF2B5EF4-FFF2-40B4-BE49-F238E27FC236}">
                <a16:creationId xmlns:a16="http://schemas.microsoft.com/office/drawing/2014/main" id="{74A012C4-A28D-4FF5-9825-FAB17DA4BD9E}"/>
              </a:ext>
            </a:extLst>
          </p:cNvPr>
          <p:cNvGraphicFramePr>
            <a:graphicFrameLocks noChangeAspect="1"/>
          </p:cNvGraphicFramePr>
          <p:nvPr/>
        </p:nvGraphicFramePr>
        <p:xfrm>
          <a:off x="4556199" y="3985598"/>
          <a:ext cx="2013738" cy="876568"/>
        </p:xfrm>
        <a:graphic>
          <a:graphicData uri="http://schemas.openxmlformats.org/presentationml/2006/ole">
            <mc:AlternateContent xmlns:mc="http://schemas.openxmlformats.org/markup-compatibility/2006">
              <mc:Choice xmlns:v="urn:schemas-microsoft-com:vml" Requires="v">
                <p:oleObj spid="_x0000_s8196" name="Equation" r:id="rId7" imgW="2158920" imgH="939600" progId="Equation.DSMT4">
                  <p:embed/>
                </p:oleObj>
              </mc:Choice>
              <mc:Fallback>
                <p:oleObj name="Equation" r:id="rId7" imgW="2158920" imgH="939600" progId="Equation.DSMT4">
                  <p:embed/>
                  <p:pic>
                    <p:nvPicPr>
                      <p:cNvPr id="6" name="Object 5" descr="equals 3 open parenthesis 81 divided by 100 close parenthesis open parenthesis 1 divided by 10 close parenthesis">
                        <a:extLst>
                          <a:ext uri="{FF2B5EF4-FFF2-40B4-BE49-F238E27FC236}">
                            <a16:creationId xmlns:a16="http://schemas.microsoft.com/office/drawing/2014/main" id="{74A012C4-A28D-4FF5-9825-FAB17DA4BD9E}"/>
                          </a:ext>
                        </a:extLst>
                      </p:cNvPr>
                      <p:cNvPicPr/>
                      <p:nvPr/>
                    </p:nvPicPr>
                    <p:blipFill>
                      <a:blip r:embed="rId8"/>
                      <a:stretch>
                        <a:fillRect/>
                      </a:stretch>
                    </p:blipFill>
                    <p:spPr>
                      <a:xfrm>
                        <a:off x="4556199" y="3985598"/>
                        <a:ext cx="2013738" cy="876568"/>
                      </a:xfrm>
                      <a:prstGeom prst="rect">
                        <a:avLst/>
                      </a:prstGeom>
                    </p:spPr>
                  </p:pic>
                </p:oleObj>
              </mc:Fallback>
            </mc:AlternateContent>
          </a:graphicData>
        </a:graphic>
      </p:graphicFrame>
      <p:graphicFrame>
        <p:nvGraphicFramePr>
          <p:cNvPr id="7" name="Object 6" descr="equals 3 open parenthesis 81 divided by 1000 close parenthesis">
            <a:extLst>
              <a:ext uri="{FF2B5EF4-FFF2-40B4-BE49-F238E27FC236}">
                <a16:creationId xmlns:a16="http://schemas.microsoft.com/office/drawing/2014/main" id="{98C14D75-174D-4CE3-BCF5-79A35C448CA2}"/>
              </a:ext>
            </a:extLst>
          </p:cNvPr>
          <p:cNvGraphicFramePr>
            <a:graphicFrameLocks noChangeAspect="1"/>
          </p:cNvGraphicFramePr>
          <p:nvPr/>
        </p:nvGraphicFramePr>
        <p:xfrm>
          <a:off x="4554561" y="4961520"/>
          <a:ext cx="1468393" cy="876722"/>
        </p:xfrm>
        <a:graphic>
          <a:graphicData uri="http://schemas.openxmlformats.org/presentationml/2006/ole">
            <mc:AlternateContent xmlns:mc="http://schemas.openxmlformats.org/markup-compatibility/2006">
              <mc:Choice xmlns:v="urn:schemas-microsoft-com:vml" Requires="v">
                <p:oleObj spid="_x0000_s8197" name="Equation" r:id="rId9" imgW="1574640" imgH="939600" progId="Equation.DSMT4">
                  <p:embed/>
                </p:oleObj>
              </mc:Choice>
              <mc:Fallback>
                <p:oleObj name="Equation" r:id="rId9" imgW="1574640" imgH="939600" progId="Equation.DSMT4">
                  <p:embed/>
                  <p:pic>
                    <p:nvPicPr>
                      <p:cNvPr id="7" name="Object 6" descr="equals 3 open parenthesis 81 divided by 1000 close parenthesis">
                        <a:extLst>
                          <a:ext uri="{FF2B5EF4-FFF2-40B4-BE49-F238E27FC236}">
                            <a16:creationId xmlns:a16="http://schemas.microsoft.com/office/drawing/2014/main" id="{98C14D75-174D-4CE3-BCF5-79A35C448CA2}"/>
                          </a:ext>
                        </a:extLst>
                      </p:cNvPr>
                      <p:cNvPicPr/>
                      <p:nvPr/>
                    </p:nvPicPr>
                    <p:blipFill>
                      <a:blip r:embed="rId10"/>
                      <a:stretch>
                        <a:fillRect/>
                      </a:stretch>
                    </p:blipFill>
                    <p:spPr>
                      <a:xfrm>
                        <a:off x="4554561" y="4961520"/>
                        <a:ext cx="1468393" cy="876722"/>
                      </a:xfrm>
                      <a:prstGeom prst="rect">
                        <a:avLst/>
                      </a:prstGeom>
                    </p:spPr>
                  </p:pic>
                </p:oleObj>
              </mc:Fallback>
            </mc:AlternateContent>
          </a:graphicData>
        </a:graphic>
      </p:graphicFrame>
      <p:graphicFrame>
        <p:nvGraphicFramePr>
          <p:cNvPr id="8" name="Object 7" descr="equals 0.243">
            <a:extLst>
              <a:ext uri="{FF2B5EF4-FFF2-40B4-BE49-F238E27FC236}">
                <a16:creationId xmlns:a16="http://schemas.microsoft.com/office/drawing/2014/main" id="{C495FC5A-2484-4AEC-803C-380AB0539CFC}"/>
              </a:ext>
            </a:extLst>
          </p:cNvPr>
          <p:cNvGraphicFramePr>
            <a:graphicFrameLocks noChangeAspect="1"/>
          </p:cNvGraphicFramePr>
          <p:nvPr/>
        </p:nvGraphicFramePr>
        <p:xfrm>
          <a:off x="4546178" y="5935382"/>
          <a:ext cx="1020018" cy="295836"/>
        </p:xfrm>
        <a:graphic>
          <a:graphicData uri="http://schemas.openxmlformats.org/presentationml/2006/ole">
            <mc:AlternateContent xmlns:mc="http://schemas.openxmlformats.org/markup-compatibility/2006">
              <mc:Choice xmlns:v="urn:schemas-microsoft-com:vml" Requires="v">
                <p:oleObj spid="_x0000_s8198" name="Equation" r:id="rId11" imgW="1091880" imgH="317160" progId="Equation.DSMT4">
                  <p:embed/>
                </p:oleObj>
              </mc:Choice>
              <mc:Fallback>
                <p:oleObj name="Equation" r:id="rId11" imgW="1091880" imgH="317160" progId="Equation.DSMT4">
                  <p:embed/>
                  <p:pic>
                    <p:nvPicPr>
                      <p:cNvPr id="8" name="Object 7" descr="equals 0.243">
                        <a:extLst>
                          <a:ext uri="{FF2B5EF4-FFF2-40B4-BE49-F238E27FC236}">
                            <a16:creationId xmlns:a16="http://schemas.microsoft.com/office/drawing/2014/main" id="{C495FC5A-2484-4AEC-803C-380AB0539CFC}"/>
                          </a:ext>
                        </a:extLst>
                      </p:cNvPr>
                      <p:cNvPicPr/>
                      <p:nvPr/>
                    </p:nvPicPr>
                    <p:blipFill>
                      <a:blip r:embed="rId12"/>
                      <a:stretch>
                        <a:fillRect/>
                      </a:stretch>
                    </p:blipFill>
                    <p:spPr>
                      <a:xfrm>
                        <a:off x="4546178" y="5935382"/>
                        <a:ext cx="1020018" cy="295836"/>
                      </a:xfrm>
                      <a:prstGeom prst="rect">
                        <a:avLst/>
                      </a:prstGeom>
                    </p:spPr>
                  </p:pic>
                </p:oleObj>
              </mc:Fallback>
            </mc:AlternateContent>
          </a:graphicData>
        </a:graphic>
      </p:graphicFrame>
    </p:spTree>
    <p:extLst>
      <p:ext uri="{BB962C8B-B14F-4D97-AF65-F5344CB8AC3E}">
        <p14:creationId xmlns:p14="http://schemas.microsoft.com/office/powerpoint/2010/main" val="41646651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Example: Constructing a Binomial Distribution</a:t>
            </a:r>
          </a:p>
        </p:txBody>
      </p:sp>
      <p:sp>
        <p:nvSpPr>
          <p:cNvPr id="4" name="Content Placeholder 3"/>
          <p:cNvSpPr>
            <a:spLocks noGrp="1"/>
          </p:cNvSpPr>
          <p:nvPr>
            <p:ph sz="quarter" idx="13"/>
          </p:nvPr>
        </p:nvSpPr>
        <p:spPr>
          <a:xfrm>
            <a:off x="1981200" y="1556328"/>
            <a:ext cx="3924301" cy="4596499"/>
          </a:xfrm>
        </p:spPr>
        <p:txBody>
          <a:bodyPr/>
          <a:lstStyle/>
          <a:p>
            <a:pPr marL="0" indent="0">
              <a:buNone/>
            </a:pPr>
            <a:r>
              <a:rPr lang="en-US" sz="2200" dirty="0">
                <a:solidFill>
                  <a:schemeClr val="tx1"/>
                </a:solidFill>
              </a:rPr>
              <a:t>In a survey, U.S. adults were asked how often they go online. The results are shown in the figure. Six adults who participated in the survey are randomly selected and asked whether they go online several times a day. Construct a binomial probability distribution for the number who respond that they go online several times a day. (Source: Pew Research)</a:t>
            </a:r>
            <a:endParaRPr lang="en-US" altLang="en-US" sz="2200" dirty="0">
              <a:solidFill>
                <a:schemeClr val="tx1"/>
              </a:solidFill>
            </a:endParaRPr>
          </a:p>
        </p:txBody>
      </p:sp>
      <p:pic>
        <p:nvPicPr>
          <p:cNvPr id="6" name="Content Placeholder 5" descr="A bar graph titled, how often do you go online. The data plotted are as follows. Almost constantly, 31%. Several times a day, 48%. About once a day, 6%. Less than daily, 8%. Never, 7%."/>
          <p:cNvPicPr>
            <a:picLocks noGrp="1" noChangeAspect="1"/>
          </p:cNvPicPr>
          <p:nvPr>
            <p:ph sz="quarter" idx="14"/>
          </p:nvPr>
        </p:nvPicPr>
        <p:blipFill>
          <a:blip r:embed="rId2"/>
          <a:stretch>
            <a:fillRect/>
          </a:stretch>
        </p:blipFill>
        <p:spPr>
          <a:xfrm>
            <a:off x="6231032" y="1557339"/>
            <a:ext cx="4123648" cy="2820229"/>
          </a:xfrm>
          <a:prstGeom prst="rect">
            <a:avLst/>
          </a:prstGeom>
        </p:spPr>
      </p:pic>
    </p:spTree>
    <p:extLst>
      <p:ext uri="{BB962C8B-B14F-4D97-AF65-F5344CB8AC3E}">
        <p14:creationId xmlns:p14="http://schemas.microsoft.com/office/powerpoint/2010/main" val="38690408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Solution: Constructing a Binomial Distribution </a:t>
            </a:r>
            <a:r>
              <a:rPr lang="en-US" sz="2000" b="0" dirty="0"/>
              <a:t>(1 of 2)</a:t>
            </a:r>
          </a:p>
        </p:txBody>
      </p:sp>
      <p:sp>
        <p:nvSpPr>
          <p:cNvPr id="3" name="Content Placeholder 2"/>
          <p:cNvSpPr>
            <a:spLocks noGrp="1"/>
          </p:cNvSpPr>
          <p:nvPr>
            <p:ph sz="quarter" idx="13"/>
          </p:nvPr>
        </p:nvSpPr>
        <p:spPr>
          <a:xfrm>
            <a:off x="1981200" y="1556328"/>
            <a:ext cx="7679410" cy="985395"/>
          </a:xfrm>
        </p:spPr>
        <p:txBody>
          <a:bodyPr/>
          <a:lstStyle/>
          <a:p>
            <a:pPr marL="0" indent="0">
              <a:buNone/>
            </a:pPr>
            <a:r>
              <a:rPr lang="en-US" altLang="en-US" i="1" dirty="0"/>
              <a:t>p </a:t>
            </a:r>
            <a:r>
              <a:rPr lang="en-US" altLang="en-US" dirty="0"/>
              <a:t>= 0.48 and</a:t>
            </a:r>
            <a:r>
              <a:rPr lang="en-US" altLang="en-US" i="1" dirty="0"/>
              <a:t> q </a:t>
            </a:r>
            <a:r>
              <a:rPr lang="en-US" altLang="en-US" dirty="0"/>
              <a:t>= 0.52</a:t>
            </a:r>
          </a:p>
          <a:p>
            <a:pPr marL="0" indent="0">
              <a:buNone/>
            </a:pPr>
            <a:r>
              <a:rPr lang="en-US" altLang="en-US" i="1" dirty="0"/>
              <a:t>n</a:t>
            </a:r>
            <a:r>
              <a:rPr lang="en-US" altLang="en-US" dirty="0"/>
              <a:t> = 6, possible values for </a:t>
            </a:r>
            <a:r>
              <a:rPr lang="en-US" altLang="en-US" i="1" dirty="0"/>
              <a:t>x</a:t>
            </a:r>
            <a:r>
              <a:rPr lang="en-US" altLang="en-US" dirty="0"/>
              <a:t> are 0, 1, 2, 3, 4, 5 and 6</a:t>
            </a:r>
          </a:p>
        </p:txBody>
      </p:sp>
      <p:graphicFrame>
        <p:nvGraphicFramePr>
          <p:cNvPr id="4" name="Object 3" descr="P of 0 = sub 6, C sub 0, left parenthesis 0.48 right parenthesis to the 0 power, left parenthesis 0.52 right parenthesis to the sixth power = 1 left parenthesis 0.48 right parenthesis to the 0 power, left parenthesis 0.52 right parenthesis to the sixth power approximately equals 0.020">
            <a:extLst>
              <a:ext uri="{FF2B5EF4-FFF2-40B4-BE49-F238E27FC236}">
                <a16:creationId xmlns:a16="http://schemas.microsoft.com/office/drawing/2014/main" id="{21608E40-8D29-4B6A-A6A3-B5455366DB44}"/>
              </a:ext>
            </a:extLst>
          </p:cNvPr>
          <p:cNvGraphicFramePr>
            <a:graphicFrameLocks noChangeAspect="1"/>
          </p:cNvGraphicFramePr>
          <p:nvPr/>
        </p:nvGraphicFramePr>
        <p:xfrm>
          <a:off x="2749550" y="2652714"/>
          <a:ext cx="6053138" cy="403225"/>
        </p:xfrm>
        <a:graphic>
          <a:graphicData uri="http://schemas.openxmlformats.org/presentationml/2006/ole">
            <mc:AlternateContent xmlns:mc="http://schemas.openxmlformats.org/markup-compatibility/2006">
              <mc:Choice xmlns:v="urn:schemas-microsoft-com:vml" Requires="v">
                <p:oleObj spid="_x0000_s9218" name="Equation" r:id="rId3" imgW="7429320" imgH="495000" progId="Equation.DSMT4">
                  <p:embed/>
                </p:oleObj>
              </mc:Choice>
              <mc:Fallback>
                <p:oleObj name="Equation" r:id="rId3" imgW="7429320" imgH="495000" progId="Equation.DSMT4">
                  <p:embed/>
                  <p:pic>
                    <p:nvPicPr>
                      <p:cNvPr id="4" name="Object 3" descr="P of 0 = sub 6, C sub 0, left parenthesis 0.48 right parenthesis to the 0 power, left parenthesis 0.52 right parenthesis to the sixth power = 1 left parenthesis 0.48 right parenthesis to the 0 power, left parenthesis 0.52 right parenthesis to the sixth power approximately equals 0.020">
                        <a:extLst>
                          <a:ext uri="{FF2B5EF4-FFF2-40B4-BE49-F238E27FC236}">
                            <a16:creationId xmlns:a16="http://schemas.microsoft.com/office/drawing/2014/main" id="{21608E40-8D29-4B6A-A6A3-B5455366DB44}"/>
                          </a:ext>
                        </a:extLst>
                      </p:cNvPr>
                      <p:cNvPicPr/>
                      <p:nvPr/>
                    </p:nvPicPr>
                    <p:blipFill>
                      <a:blip r:embed="rId4"/>
                      <a:stretch>
                        <a:fillRect/>
                      </a:stretch>
                    </p:blipFill>
                    <p:spPr>
                      <a:xfrm>
                        <a:off x="2749550" y="2652714"/>
                        <a:ext cx="6053138" cy="403225"/>
                      </a:xfrm>
                      <a:prstGeom prst="rect">
                        <a:avLst/>
                      </a:prstGeom>
                    </p:spPr>
                  </p:pic>
                </p:oleObj>
              </mc:Fallback>
            </mc:AlternateContent>
          </a:graphicData>
        </a:graphic>
      </p:graphicFrame>
      <p:graphicFrame>
        <p:nvGraphicFramePr>
          <p:cNvPr id="5" name="Object 4" descr="P of 1 = sub 6, C sub 1, left parenthesis 0.48 right parenthesis to the first power, left parenthesis 0.52 right parenthesis to the fifth power = 6 left parenthesis 0.48 right parenthesis to the first power, left parenthesis 0.52 right parenthesis to the fifth power approximately equals 0.109">
            <a:extLst>
              <a:ext uri="{FF2B5EF4-FFF2-40B4-BE49-F238E27FC236}">
                <a16:creationId xmlns:a16="http://schemas.microsoft.com/office/drawing/2014/main" id="{D4BC4BA5-6999-4814-BCBB-59AFC933E7D4}"/>
              </a:ext>
            </a:extLst>
          </p:cNvPr>
          <p:cNvGraphicFramePr>
            <a:graphicFrameLocks noChangeAspect="1"/>
          </p:cNvGraphicFramePr>
          <p:nvPr/>
        </p:nvGraphicFramePr>
        <p:xfrm>
          <a:off x="2735264" y="3159125"/>
          <a:ext cx="6118225" cy="419100"/>
        </p:xfrm>
        <a:graphic>
          <a:graphicData uri="http://schemas.openxmlformats.org/presentationml/2006/ole">
            <mc:AlternateContent xmlns:mc="http://schemas.openxmlformats.org/markup-compatibility/2006">
              <mc:Choice xmlns:v="urn:schemas-microsoft-com:vml" Requires="v">
                <p:oleObj spid="_x0000_s9219" name="Equation" r:id="rId5" imgW="7213320" imgH="495000" progId="Equation.DSMT4">
                  <p:embed/>
                </p:oleObj>
              </mc:Choice>
              <mc:Fallback>
                <p:oleObj name="Equation" r:id="rId5" imgW="7213320" imgH="495000" progId="Equation.DSMT4">
                  <p:embed/>
                  <p:pic>
                    <p:nvPicPr>
                      <p:cNvPr id="5" name="Object 4" descr="P of 1 = sub 6, C sub 1, left parenthesis 0.48 right parenthesis to the first power, left parenthesis 0.52 right parenthesis to the fifth power = 6 left parenthesis 0.48 right parenthesis to the first power, left parenthesis 0.52 right parenthesis to the fifth power approximately equals 0.109">
                        <a:extLst>
                          <a:ext uri="{FF2B5EF4-FFF2-40B4-BE49-F238E27FC236}">
                            <a16:creationId xmlns:a16="http://schemas.microsoft.com/office/drawing/2014/main" id="{D4BC4BA5-6999-4814-BCBB-59AFC933E7D4}"/>
                          </a:ext>
                        </a:extLst>
                      </p:cNvPr>
                      <p:cNvPicPr/>
                      <p:nvPr/>
                    </p:nvPicPr>
                    <p:blipFill>
                      <a:blip r:embed="rId6"/>
                      <a:stretch>
                        <a:fillRect/>
                      </a:stretch>
                    </p:blipFill>
                    <p:spPr>
                      <a:xfrm>
                        <a:off x="2735264" y="3159125"/>
                        <a:ext cx="6118225" cy="419100"/>
                      </a:xfrm>
                      <a:prstGeom prst="rect">
                        <a:avLst/>
                      </a:prstGeom>
                    </p:spPr>
                  </p:pic>
                </p:oleObj>
              </mc:Fallback>
            </mc:AlternateContent>
          </a:graphicData>
        </a:graphic>
      </p:graphicFrame>
      <p:graphicFrame>
        <p:nvGraphicFramePr>
          <p:cNvPr id="6" name="Object 5" descr="P of 2 = sub 6, C sub 2, left parenthesis 0.48 right parenthesis squared, left parenthesis 0.52 right parenthesis to the fourth power = 15 left parenthesis 0.48 right parenthesis squared, left parenthesis 0.52 right parenthesis to the fourth power approximately equals 0.253">
            <a:extLst>
              <a:ext uri="{FF2B5EF4-FFF2-40B4-BE49-F238E27FC236}">
                <a16:creationId xmlns:a16="http://schemas.microsoft.com/office/drawing/2014/main" id="{B29C6FF8-5235-4803-9350-ADA886A59F27}"/>
              </a:ext>
            </a:extLst>
          </p:cNvPr>
          <p:cNvGraphicFramePr>
            <a:graphicFrameLocks noChangeAspect="1"/>
          </p:cNvGraphicFramePr>
          <p:nvPr/>
        </p:nvGraphicFramePr>
        <p:xfrm>
          <a:off x="2697163" y="3770314"/>
          <a:ext cx="6189662" cy="403225"/>
        </p:xfrm>
        <a:graphic>
          <a:graphicData uri="http://schemas.openxmlformats.org/presentationml/2006/ole">
            <mc:AlternateContent xmlns:mc="http://schemas.openxmlformats.org/markup-compatibility/2006">
              <mc:Choice xmlns:v="urn:schemas-microsoft-com:vml" Requires="v">
                <p:oleObj spid="_x0000_s9220" name="Equation" r:id="rId7" imgW="7594560" imgH="495000" progId="Equation.DSMT4">
                  <p:embed/>
                </p:oleObj>
              </mc:Choice>
              <mc:Fallback>
                <p:oleObj name="Equation" r:id="rId7" imgW="7594560" imgH="495000" progId="Equation.DSMT4">
                  <p:embed/>
                  <p:pic>
                    <p:nvPicPr>
                      <p:cNvPr id="6" name="Object 5" descr="P of 2 = sub 6, C sub 2, left parenthesis 0.48 right parenthesis squared, left parenthesis 0.52 right parenthesis to the fourth power = 15 left parenthesis 0.48 right parenthesis squared, left parenthesis 0.52 right parenthesis to the fourth power approximately equals 0.253">
                        <a:extLst>
                          <a:ext uri="{FF2B5EF4-FFF2-40B4-BE49-F238E27FC236}">
                            <a16:creationId xmlns:a16="http://schemas.microsoft.com/office/drawing/2014/main" id="{B29C6FF8-5235-4803-9350-ADA886A59F27}"/>
                          </a:ext>
                        </a:extLst>
                      </p:cNvPr>
                      <p:cNvPicPr/>
                      <p:nvPr/>
                    </p:nvPicPr>
                    <p:blipFill>
                      <a:blip r:embed="rId8"/>
                      <a:stretch>
                        <a:fillRect/>
                      </a:stretch>
                    </p:blipFill>
                    <p:spPr>
                      <a:xfrm>
                        <a:off x="2697163" y="3770314"/>
                        <a:ext cx="6189662" cy="403225"/>
                      </a:xfrm>
                      <a:prstGeom prst="rect">
                        <a:avLst/>
                      </a:prstGeom>
                    </p:spPr>
                  </p:pic>
                </p:oleObj>
              </mc:Fallback>
            </mc:AlternateContent>
          </a:graphicData>
        </a:graphic>
      </p:graphicFrame>
      <p:graphicFrame>
        <p:nvGraphicFramePr>
          <p:cNvPr id="7" name="Object 6" descr="P of 3 = sub 6, C sub 3, left parenthesis 0.48 right parenthesis cubed, left parenthesis 0.52 right parenthesis cubed = 20 left parenthesis 0.48 right parenthesis cubed, left parenthesis 0.52 right parenthesis cubed approximately equals 0.311">
            <a:extLst>
              <a:ext uri="{FF2B5EF4-FFF2-40B4-BE49-F238E27FC236}">
                <a16:creationId xmlns:a16="http://schemas.microsoft.com/office/drawing/2014/main" id="{09433D59-31E3-400A-90A8-1C9445598422}"/>
              </a:ext>
            </a:extLst>
          </p:cNvPr>
          <p:cNvGraphicFramePr>
            <a:graphicFrameLocks noChangeAspect="1"/>
          </p:cNvGraphicFramePr>
          <p:nvPr/>
        </p:nvGraphicFramePr>
        <p:xfrm>
          <a:off x="2729182" y="4321176"/>
          <a:ext cx="6134100" cy="403225"/>
        </p:xfrm>
        <a:graphic>
          <a:graphicData uri="http://schemas.openxmlformats.org/presentationml/2006/ole">
            <mc:AlternateContent xmlns:mc="http://schemas.openxmlformats.org/markup-compatibility/2006">
              <mc:Choice xmlns:v="urn:schemas-microsoft-com:vml" Requires="v">
                <p:oleObj spid="_x0000_s9221" name="Equation" r:id="rId9" imgW="7530840" imgH="495000" progId="Equation.DSMT4">
                  <p:embed/>
                </p:oleObj>
              </mc:Choice>
              <mc:Fallback>
                <p:oleObj name="Equation" r:id="rId9" imgW="7530840" imgH="495000" progId="Equation.DSMT4">
                  <p:embed/>
                  <p:pic>
                    <p:nvPicPr>
                      <p:cNvPr id="7" name="Object 6" descr="P of 3 = sub 6, C sub 3, left parenthesis 0.48 right parenthesis cubed, left parenthesis 0.52 right parenthesis cubed = 20 left parenthesis 0.48 right parenthesis cubed, left parenthesis 0.52 right parenthesis cubed approximately equals 0.311">
                        <a:extLst>
                          <a:ext uri="{FF2B5EF4-FFF2-40B4-BE49-F238E27FC236}">
                            <a16:creationId xmlns:a16="http://schemas.microsoft.com/office/drawing/2014/main" id="{09433D59-31E3-400A-90A8-1C9445598422}"/>
                          </a:ext>
                        </a:extLst>
                      </p:cNvPr>
                      <p:cNvPicPr/>
                      <p:nvPr/>
                    </p:nvPicPr>
                    <p:blipFill>
                      <a:blip r:embed="rId10"/>
                      <a:stretch>
                        <a:fillRect/>
                      </a:stretch>
                    </p:blipFill>
                    <p:spPr>
                      <a:xfrm>
                        <a:off x="2729182" y="4321176"/>
                        <a:ext cx="6134100" cy="403225"/>
                      </a:xfrm>
                      <a:prstGeom prst="rect">
                        <a:avLst/>
                      </a:prstGeom>
                    </p:spPr>
                  </p:pic>
                </p:oleObj>
              </mc:Fallback>
            </mc:AlternateContent>
          </a:graphicData>
        </a:graphic>
      </p:graphicFrame>
      <p:graphicFrame>
        <p:nvGraphicFramePr>
          <p:cNvPr id="8" name="Object 7" descr="P of 4 = sub 6, C sub 4, left parenthesis 0.48 right parenthesis to the fourth power, left parenthesis 0.52 right parenthesis squared = 15 left parenthesis 0.48 right parenthesis to the fourth power, left parenthesis 0.52 right parenthesis squared approximately equals 0.215">
            <a:extLst>
              <a:ext uri="{FF2B5EF4-FFF2-40B4-BE49-F238E27FC236}">
                <a16:creationId xmlns:a16="http://schemas.microsoft.com/office/drawing/2014/main" id="{6C1CE0AB-CF46-4351-9DA6-ACC30546CE58}"/>
              </a:ext>
            </a:extLst>
          </p:cNvPr>
          <p:cNvGraphicFramePr>
            <a:graphicFrameLocks noChangeAspect="1"/>
          </p:cNvGraphicFramePr>
          <p:nvPr/>
        </p:nvGraphicFramePr>
        <p:xfrm>
          <a:off x="2744106" y="4854576"/>
          <a:ext cx="6238875" cy="404813"/>
        </p:xfrm>
        <a:graphic>
          <a:graphicData uri="http://schemas.openxmlformats.org/presentationml/2006/ole">
            <mc:AlternateContent xmlns:mc="http://schemas.openxmlformats.org/markup-compatibility/2006">
              <mc:Choice xmlns:v="urn:schemas-microsoft-com:vml" Requires="v">
                <p:oleObj spid="_x0000_s9222" name="Equation" r:id="rId11" imgW="7657920" imgH="495000" progId="Equation.DSMT4">
                  <p:embed/>
                </p:oleObj>
              </mc:Choice>
              <mc:Fallback>
                <p:oleObj name="Equation" r:id="rId11" imgW="7657920" imgH="495000" progId="Equation.DSMT4">
                  <p:embed/>
                  <p:pic>
                    <p:nvPicPr>
                      <p:cNvPr id="8" name="Object 7" descr="P of 4 = sub 6, C sub 4, left parenthesis 0.48 right parenthesis to the fourth power, left parenthesis 0.52 right parenthesis squared = 15 left parenthesis 0.48 right parenthesis to the fourth power, left parenthesis 0.52 right parenthesis squared approximately equals 0.215">
                        <a:extLst>
                          <a:ext uri="{FF2B5EF4-FFF2-40B4-BE49-F238E27FC236}">
                            <a16:creationId xmlns:a16="http://schemas.microsoft.com/office/drawing/2014/main" id="{6C1CE0AB-CF46-4351-9DA6-ACC30546CE58}"/>
                          </a:ext>
                        </a:extLst>
                      </p:cNvPr>
                      <p:cNvPicPr/>
                      <p:nvPr/>
                    </p:nvPicPr>
                    <p:blipFill>
                      <a:blip r:embed="rId12"/>
                      <a:stretch>
                        <a:fillRect/>
                      </a:stretch>
                    </p:blipFill>
                    <p:spPr>
                      <a:xfrm>
                        <a:off x="2744106" y="4854576"/>
                        <a:ext cx="6238875" cy="404813"/>
                      </a:xfrm>
                      <a:prstGeom prst="rect">
                        <a:avLst/>
                      </a:prstGeom>
                    </p:spPr>
                  </p:pic>
                </p:oleObj>
              </mc:Fallback>
            </mc:AlternateContent>
          </a:graphicData>
        </a:graphic>
      </p:graphicFrame>
      <p:graphicFrame>
        <p:nvGraphicFramePr>
          <p:cNvPr id="9" name="Object 8" descr="P of 5 = sub 6, C sub 5, left parenthesis 0.48 right parenthesis to the fifth power, left parenthesis 0.52 right parenthesis to the first power = 6 left parenthesis 0.48 right parenthesis to the fifth power, left parenthesis 0.52 right parenthesis to the first power approximately equals 0.079">
            <a:extLst>
              <a:ext uri="{FF2B5EF4-FFF2-40B4-BE49-F238E27FC236}">
                <a16:creationId xmlns:a16="http://schemas.microsoft.com/office/drawing/2014/main" id="{AA01A643-DCEF-45B6-A165-C9C6B4250327}"/>
              </a:ext>
            </a:extLst>
          </p:cNvPr>
          <p:cNvGraphicFramePr>
            <a:graphicFrameLocks noChangeAspect="1"/>
          </p:cNvGraphicFramePr>
          <p:nvPr/>
        </p:nvGraphicFramePr>
        <p:xfrm>
          <a:off x="2726700" y="5352656"/>
          <a:ext cx="6277817" cy="426241"/>
        </p:xfrm>
        <a:graphic>
          <a:graphicData uri="http://schemas.openxmlformats.org/presentationml/2006/ole">
            <mc:AlternateContent xmlns:mc="http://schemas.openxmlformats.org/markup-compatibility/2006">
              <mc:Choice xmlns:v="urn:schemas-microsoft-com:vml" Requires="v">
                <p:oleObj spid="_x0000_s9223" name="Equation" r:id="rId13" imgW="7289640" imgH="495000" progId="Equation.DSMT4">
                  <p:embed/>
                </p:oleObj>
              </mc:Choice>
              <mc:Fallback>
                <p:oleObj name="Equation" r:id="rId13" imgW="7289640" imgH="495000" progId="Equation.DSMT4">
                  <p:embed/>
                  <p:pic>
                    <p:nvPicPr>
                      <p:cNvPr id="9" name="Object 8" descr="P of 5 = sub 6, C sub 5, left parenthesis 0.48 right parenthesis to the fifth power, left parenthesis 0.52 right parenthesis to the first power = 6 left parenthesis 0.48 right parenthesis to the fifth power, left parenthesis 0.52 right parenthesis to the first power approximately equals 0.079">
                        <a:extLst>
                          <a:ext uri="{FF2B5EF4-FFF2-40B4-BE49-F238E27FC236}">
                            <a16:creationId xmlns:a16="http://schemas.microsoft.com/office/drawing/2014/main" id="{AA01A643-DCEF-45B6-A165-C9C6B4250327}"/>
                          </a:ext>
                        </a:extLst>
                      </p:cNvPr>
                      <p:cNvPicPr/>
                      <p:nvPr/>
                    </p:nvPicPr>
                    <p:blipFill>
                      <a:blip r:embed="rId14"/>
                      <a:stretch>
                        <a:fillRect/>
                      </a:stretch>
                    </p:blipFill>
                    <p:spPr>
                      <a:xfrm>
                        <a:off x="2726700" y="5352656"/>
                        <a:ext cx="6277817" cy="426241"/>
                      </a:xfrm>
                      <a:prstGeom prst="rect">
                        <a:avLst/>
                      </a:prstGeom>
                    </p:spPr>
                  </p:pic>
                </p:oleObj>
              </mc:Fallback>
            </mc:AlternateContent>
          </a:graphicData>
        </a:graphic>
      </p:graphicFrame>
      <p:graphicFrame>
        <p:nvGraphicFramePr>
          <p:cNvPr id="10" name="Object 9" descr="P of 6 = sub 6, C sub 6, left parenthesis 0.48 right parenthesis to the sixth power, left parenthesis 0.52 right parenthesis to the 0 power = 1 left parenthesis 0.48 right parenthesis to the sixth power, left parenthesis 0.52 right parenthesis to the power approximately equals 0.012">
            <a:extLst>
              <a:ext uri="{FF2B5EF4-FFF2-40B4-BE49-F238E27FC236}">
                <a16:creationId xmlns:a16="http://schemas.microsoft.com/office/drawing/2014/main" id="{6A402CC6-2CE9-4A58-8441-73256CE9CF32}"/>
              </a:ext>
            </a:extLst>
          </p:cNvPr>
          <p:cNvGraphicFramePr>
            <a:graphicFrameLocks noChangeAspect="1"/>
          </p:cNvGraphicFramePr>
          <p:nvPr/>
        </p:nvGraphicFramePr>
        <p:xfrm>
          <a:off x="2647951" y="5880100"/>
          <a:ext cx="6289675" cy="420688"/>
        </p:xfrm>
        <a:graphic>
          <a:graphicData uri="http://schemas.openxmlformats.org/presentationml/2006/ole">
            <mc:AlternateContent xmlns:mc="http://schemas.openxmlformats.org/markup-compatibility/2006">
              <mc:Choice xmlns:v="urn:schemas-microsoft-com:vml" Requires="v">
                <p:oleObj spid="_x0000_s9224" name="Equation" r:id="rId15" imgW="7416720" imgH="495000" progId="Equation.DSMT4">
                  <p:embed/>
                </p:oleObj>
              </mc:Choice>
              <mc:Fallback>
                <p:oleObj name="Equation" r:id="rId15" imgW="7416720" imgH="495000" progId="Equation.DSMT4">
                  <p:embed/>
                  <p:pic>
                    <p:nvPicPr>
                      <p:cNvPr id="10" name="Object 9" descr="P of 6 = sub 6, C sub 6, left parenthesis 0.48 right parenthesis to the sixth power, left parenthesis 0.52 right parenthesis to the 0 power = 1 left parenthesis 0.48 right parenthesis to the sixth power, left parenthesis 0.52 right parenthesis to the power approximately equals 0.012">
                        <a:extLst>
                          <a:ext uri="{FF2B5EF4-FFF2-40B4-BE49-F238E27FC236}">
                            <a16:creationId xmlns:a16="http://schemas.microsoft.com/office/drawing/2014/main" id="{6A402CC6-2CE9-4A58-8441-73256CE9CF32}"/>
                          </a:ext>
                        </a:extLst>
                      </p:cNvPr>
                      <p:cNvPicPr/>
                      <p:nvPr/>
                    </p:nvPicPr>
                    <p:blipFill>
                      <a:blip r:embed="rId16"/>
                      <a:stretch>
                        <a:fillRect/>
                      </a:stretch>
                    </p:blipFill>
                    <p:spPr>
                      <a:xfrm>
                        <a:off x="2647951" y="5880100"/>
                        <a:ext cx="6289675" cy="420688"/>
                      </a:xfrm>
                      <a:prstGeom prst="rect">
                        <a:avLst/>
                      </a:prstGeom>
                    </p:spPr>
                  </p:pic>
                </p:oleObj>
              </mc:Fallback>
            </mc:AlternateContent>
          </a:graphicData>
        </a:graphic>
      </p:graphicFrame>
    </p:spTree>
    <p:extLst>
      <p:ext uri="{BB962C8B-B14F-4D97-AF65-F5344CB8AC3E}">
        <p14:creationId xmlns:p14="http://schemas.microsoft.com/office/powerpoint/2010/main" val="19127342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Solution: Constructing a Binomial Distribution </a:t>
            </a:r>
            <a:r>
              <a:rPr lang="en-US" sz="2000" b="0" dirty="0"/>
              <a:t>(2 of 2)</a:t>
            </a:r>
          </a:p>
        </p:txBody>
      </p:sp>
      <p:sp>
        <p:nvSpPr>
          <p:cNvPr id="4" name="Content Placeholder 3"/>
          <p:cNvSpPr>
            <a:spLocks noGrp="1"/>
          </p:cNvSpPr>
          <p:nvPr>
            <p:ph sz="quarter" idx="13"/>
          </p:nvPr>
        </p:nvSpPr>
        <p:spPr>
          <a:xfrm>
            <a:off x="1981200" y="1556328"/>
            <a:ext cx="8229600" cy="830613"/>
          </a:xfrm>
        </p:spPr>
        <p:txBody>
          <a:bodyPr/>
          <a:lstStyle/>
          <a:p>
            <a:pPr marL="0" indent="0">
              <a:buNone/>
            </a:pPr>
            <a:r>
              <a:rPr lang="en-US" dirty="0"/>
              <a:t>Notice in the table that all the probabilities are between 0 and 1 and that the sum of the probabilities is about 1.</a:t>
            </a:r>
            <a:endParaRPr lang="en-US" altLang="en-US" dirty="0"/>
          </a:p>
        </p:txBody>
      </p:sp>
      <p:graphicFrame>
        <p:nvGraphicFramePr>
          <p:cNvPr id="6" name="Content Placeholder 5"/>
          <p:cNvGraphicFramePr>
            <a:graphicFrameLocks noGrp="1"/>
          </p:cNvGraphicFramePr>
          <p:nvPr>
            <p:ph sz="quarter" idx="14"/>
          </p:nvPr>
        </p:nvGraphicFramePr>
        <p:xfrm>
          <a:off x="1981201" y="2535482"/>
          <a:ext cx="2202873" cy="3647604"/>
        </p:xfrm>
        <a:graphic>
          <a:graphicData uri="http://schemas.openxmlformats.org/drawingml/2006/table">
            <a:tbl>
              <a:tblPr firstRow="1" bandRow="1">
                <a:tableStyleId>{2D5ABB26-0587-4C30-8999-92F81FD0307C}</a:tableStyleId>
              </a:tblPr>
              <a:tblGrid>
                <a:gridCol w="558425">
                  <a:extLst>
                    <a:ext uri="{9D8B030D-6E8A-4147-A177-3AD203B41FA5}">
                      <a16:colId xmlns:a16="http://schemas.microsoft.com/office/drawing/2014/main" val="1816285288"/>
                    </a:ext>
                  </a:extLst>
                </a:gridCol>
                <a:gridCol w="1644448">
                  <a:extLst>
                    <a:ext uri="{9D8B030D-6E8A-4147-A177-3AD203B41FA5}">
                      <a16:colId xmlns:a16="http://schemas.microsoft.com/office/drawing/2014/main" val="3043547488"/>
                    </a:ext>
                  </a:extLst>
                </a:gridCol>
              </a:tblGrid>
              <a:tr h="395039">
                <a:tc>
                  <a:txBody>
                    <a:bodyPr/>
                    <a:lstStyle/>
                    <a:p>
                      <a:pPr algn="ctr"/>
                      <a:r>
                        <a:rPr lang="en-US" sz="1800" b="1" i="1" noProof="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00" b="0" i="0" u="none" strike="noStrike" noProof="0" dirty="0">
                          <a:solidFill>
                            <a:srgbClr val="000000"/>
                          </a:solidFill>
                          <a:effectLst/>
                          <a:latin typeface="+mn-lt"/>
                        </a:rPr>
                        <a:t>P of x</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9425216"/>
                  </a:ext>
                </a:extLst>
              </a:tr>
              <a:tr h="395039">
                <a:tc>
                  <a:txBody>
                    <a:bodyPr/>
                    <a:lstStyle/>
                    <a:p>
                      <a:pPr algn="ctr"/>
                      <a:r>
                        <a:rPr lang="en-US" sz="1800" noProof="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noProof="0"/>
                        <a:t>0.020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4113636"/>
                  </a:ext>
                </a:extLst>
              </a:tr>
              <a:tr h="395039">
                <a:tc>
                  <a:txBody>
                    <a:bodyPr/>
                    <a:lstStyle/>
                    <a:p>
                      <a:pPr algn="ctr"/>
                      <a:r>
                        <a:rPr lang="en-US" sz="1800" noProof="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noProof="0"/>
                        <a:t>0.109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1852600"/>
                  </a:ext>
                </a:extLst>
              </a:tr>
              <a:tr h="395039">
                <a:tc>
                  <a:txBody>
                    <a:bodyPr/>
                    <a:lstStyle/>
                    <a:p>
                      <a:pPr algn="ctr"/>
                      <a:r>
                        <a:rPr lang="en-US" sz="1800" noProof="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noProof="0"/>
                        <a:t>0.253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14329548"/>
                  </a:ext>
                </a:extLst>
              </a:tr>
              <a:tr h="395039">
                <a:tc>
                  <a:txBody>
                    <a:bodyPr/>
                    <a:lstStyle/>
                    <a:p>
                      <a:pPr algn="ctr"/>
                      <a:r>
                        <a:rPr lang="en-US" sz="1800" noProof="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noProof="0"/>
                        <a:t>0.311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13287900"/>
                  </a:ext>
                </a:extLst>
              </a:tr>
              <a:tr h="395039">
                <a:tc>
                  <a:txBody>
                    <a:bodyPr/>
                    <a:lstStyle/>
                    <a:p>
                      <a:pPr algn="ctr"/>
                      <a:r>
                        <a:rPr lang="en-US" sz="1800" noProof="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noProof="0"/>
                        <a:t>0.215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6987306"/>
                  </a:ext>
                </a:extLst>
              </a:tr>
              <a:tr h="395039">
                <a:tc>
                  <a:txBody>
                    <a:bodyPr/>
                    <a:lstStyle/>
                    <a:p>
                      <a:pPr algn="ctr"/>
                      <a:r>
                        <a:rPr lang="en-US" sz="1800" noProof="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noProof="0"/>
                        <a:t>0.079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5905438"/>
                  </a:ext>
                </a:extLst>
              </a:tr>
              <a:tr h="395039">
                <a:tc>
                  <a:txBody>
                    <a:bodyPr/>
                    <a:lstStyle/>
                    <a:p>
                      <a:pPr algn="ctr"/>
                      <a:r>
                        <a:rPr lang="en-US" sz="1800" noProof="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noProof="0"/>
                        <a:t>0.012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2008557"/>
                  </a:ext>
                </a:extLst>
              </a:tr>
              <a:tr h="487292">
                <a:tc>
                  <a:txBody>
                    <a:bodyPr/>
                    <a:lstStyle/>
                    <a:p>
                      <a:pPr algn="ctr"/>
                      <a:r>
                        <a:rPr lang="en-US" sz="100" noProof="0"/>
                        <a:t>Blank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 noProof="0" dirty="0"/>
                        <a:t>sum of P of x = 0.999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85327335"/>
                  </a:ext>
                </a:extLst>
              </a:tr>
            </a:tbl>
          </a:graphicData>
        </a:graphic>
      </p:graphicFrame>
      <p:graphicFrame>
        <p:nvGraphicFramePr>
          <p:cNvPr id="7" name="Object 6">
            <a:extLst>
              <a:ext uri="{FF2B5EF4-FFF2-40B4-BE49-F238E27FC236}">
                <a16:creationId xmlns:a16="http://schemas.microsoft.com/office/drawing/2014/main" id="{62441E5D-3FF0-4851-8524-E0BC3CCF503B}"/>
              </a:ext>
              <a:ext uri="{C183D7F6-B498-43B3-948B-1728B52AA6E4}">
                <adec:decorative xmlns:adec="http://schemas.microsoft.com/office/drawing/2017/decorative" val="1"/>
              </a:ext>
            </a:extLst>
          </p:cNvPr>
          <p:cNvGraphicFramePr>
            <a:graphicFrameLocks noChangeAspect="1"/>
          </p:cNvGraphicFramePr>
          <p:nvPr/>
        </p:nvGraphicFramePr>
        <p:xfrm>
          <a:off x="3077035" y="2576005"/>
          <a:ext cx="581209" cy="295196"/>
        </p:xfrm>
        <a:graphic>
          <a:graphicData uri="http://schemas.openxmlformats.org/presentationml/2006/ole">
            <mc:AlternateContent xmlns:mc="http://schemas.openxmlformats.org/markup-compatibility/2006">
              <mc:Choice xmlns:v="urn:schemas-microsoft-com:vml" Requires="v">
                <p:oleObj spid="_x0000_s10242" name="Equation" r:id="rId3" imgW="774360" imgH="393480" progId="Equation.DSMT4">
                  <p:embed/>
                </p:oleObj>
              </mc:Choice>
              <mc:Fallback>
                <p:oleObj name="Equation" r:id="rId3" imgW="774360" imgH="393480" progId="Equation.DSMT4">
                  <p:embed/>
                  <p:pic>
                    <p:nvPicPr>
                      <p:cNvPr id="7" name="Object 6">
                        <a:extLst>
                          <a:ext uri="{FF2B5EF4-FFF2-40B4-BE49-F238E27FC236}">
                            <a16:creationId xmlns:a16="http://schemas.microsoft.com/office/drawing/2014/main" id="{62441E5D-3FF0-4851-8524-E0BC3CCF503B}"/>
                          </a:ext>
                          <a:ext uri="{C183D7F6-B498-43B3-948B-1728B52AA6E4}">
                            <adec:decorative xmlns:adec="http://schemas.microsoft.com/office/drawing/2017/decorative" val="1"/>
                          </a:ext>
                        </a:extLst>
                      </p:cNvPr>
                      <p:cNvPicPr/>
                      <p:nvPr/>
                    </p:nvPicPr>
                    <p:blipFill>
                      <a:blip r:embed="rId4"/>
                      <a:stretch>
                        <a:fillRect/>
                      </a:stretch>
                    </p:blipFill>
                    <p:spPr>
                      <a:xfrm>
                        <a:off x="3077035" y="2576005"/>
                        <a:ext cx="581209" cy="295196"/>
                      </a:xfrm>
                      <a:prstGeom prst="rect">
                        <a:avLst/>
                      </a:prstGeom>
                      <a:solidFill>
                        <a:schemeClr val="bg1"/>
                      </a:solidFill>
                    </p:spPr>
                  </p:pic>
                </p:oleObj>
              </mc:Fallback>
            </mc:AlternateContent>
          </a:graphicData>
        </a:graphic>
      </p:graphicFrame>
      <p:graphicFrame>
        <p:nvGraphicFramePr>
          <p:cNvPr id="8" name="Object 7">
            <a:extLst>
              <a:ext uri="{FF2B5EF4-FFF2-40B4-BE49-F238E27FC236}">
                <a16:creationId xmlns:a16="http://schemas.microsoft.com/office/drawing/2014/main" id="{62441E5D-3FF0-4851-8524-E0BC3CCF503B}"/>
              </a:ext>
              <a:ext uri="{C183D7F6-B498-43B3-948B-1728B52AA6E4}">
                <adec:decorative xmlns:adec="http://schemas.microsoft.com/office/drawing/2017/decorative" val="1"/>
              </a:ext>
            </a:extLst>
          </p:cNvPr>
          <p:cNvGraphicFramePr>
            <a:graphicFrameLocks noChangeAspect="1"/>
          </p:cNvGraphicFramePr>
          <p:nvPr/>
        </p:nvGraphicFramePr>
        <p:xfrm>
          <a:off x="2643360" y="5768486"/>
          <a:ext cx="1446456" cy="322424"/>
        </p:xfrm>
        <a:graphic>
          <a:graphicData uri="http://schemas.openxmlformats.org/presentationml/2006/ole">
            <mc:AlternateContent xmlns:mc="http://schemas.openxmlformats.org/markup-compatibility/2006">
              <mc:Choice xmlns:v="urn:schemas-microsoft-com:vml" Requires="v">
                <p:oleObj spid="_x0000_s10243" name="Equation" r:id="rId5" imgW="2286000" imgH="507960" progId="Equation.DSMT4">
                  <p:embed/>
                </p:oleObj>
              </mc:Choice>
              <mc:Fallback>
                <p:oleObj name="Equation" r:id="rId5" imgW="2286000" imgH="507960" progId="Equation.DSMT4">
                  <p:embed/>
                  <p:pic>
                    <p:nvPicPr>
                      <p:cNvPr id="8" name="Object 7">
                        <a:extLst>
                          <a:ext uri="{FF2B5EF4-FFF2-40B4-BE49-F238E27FC236}">
                            <a16:creationId xmlns:a16="http://schemas.microsoft.com/office/drawing/2014/main" id="{62441E5D-3FF0-4851-8524-E0BC3CCF503B}"/>
                          </a:ext>
                          <a:ext uri="{C183D7F6-B498-43B3-948B-1728B52AA6E4}">
                            <adec:decorative xmlns:adec="http://schemas.microsoft.com/office/drawing/2017/decorative" val="1"/>
                          </a:ext>
                        </a:extLst>
                      </p:cNvPr>
                      <p:cNvPicPr/>
                      <p:nvPr/>
                    </p:nvPicPr>
                    <p:blipFill>
                      <a:blip r:embed="rId6"/>
                      <a:stretch>
                        <a:fillRect/>
                      </a:stretch>
                    </p:blipFill>
                    <p:spPr>
                      <a:xfrm>
                        <a:off x="2643360" y="5768486"/>
                        <a:ext cx="1446456" cy="322424"/>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38242009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Example: Finding a Binomial Probabilities Using Technology</a:t>
            </a:r>
          </a:p>
        </p:txBody>
      </p:sp>
      <p:sp>
        <p:nvSpPr>
          <p:cNvPr id="3" name="Content Placeholder 2"/>
          <p:cNvSpPr>
            <a:spLocks noGrp="1"/>
          </p:cNvSpPr>
          <p:nvPr>
            <p:ph sz="quarter" idx="13"/>
          </p:nvPr>
        </p:nvSpPr>
        <p:spPr>
          <a:xfrm>
            <a:off x="1981201" y="1556328"/>
            <a:ext cx="7867403" cy="3443185"/>
          </a:xfrm>
        </p:spPr>
        <p:txBody>
          <a:bodyPr/>
          <a:lstStyle/>
          <a:p>
            <a:pPr marL="0" indent="0">
              <a:buNone/>
            </a:pPr>
            <a:r>
              <a:rPr lang="en-US" dirty="0">
                <a:solidFill>
                  <a:schemeClr val="tx1"/>
                </a:solidFill>
              </a:rPr>
              <a:t>A survey found that 75% of U.S. adults are experiencing digital device fatigue. (This is the state of mental exhaustion caused by concurrent and excessive use of digital devices such as smartphones and tablet computers.) You randomly select 100 adults. What is the probability that exactly 66 are experiencing digital device fatigue? Use technology to find the probability. (Source: The Harris Poll)</a:t>
            </a:r>
            <a:endParaRPr lang="en-US" altLang="en-US" dirty="0">
              <a:solidFill>
                <a:schemeClr val="tx1"/>
              </a:solidFill>
            </a:endParaRPr>
          </a:p>
        </p:txBody>
      </p:sp>
    </p:spTree>
    <p:extLst>
      <p:ext uri="{BB962C8B-B14F-4D97-AF65-F5344CB8AC3E}">
        <p14:creationId xmlns:p14="http://schemas.microsoft.com/office/powerpoint/2010/main" val="31925537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Solution: Finding a Binomial Probabilities Using Technology </a:t>
            </a:r>
            <a:r>
              <a:rPr lang="en-US" sz="2000" b="0" dirty="0"/>
              <a:t>(1 of 2)</a:t>
            </a:r>
          </a:p>
        </p:txBody>
      </p:sp>
      <p:sp>
        <p:nvSpPr>
          <p:cNvPr id="4" name="Content Placeholder 3"/>
          <p:cNvSpPr>
            <a:spLocks noGrp="1"/>
          </p:cNvSpPr>
          <p:nvPr>
            <p:ph sz="quarter" idx="13"/>
          </p:nvPr>
        </p:nvSpPr>
        <p:spPr>
          <a:xfrm>
            <a:off x="1981201" y="1552575"/>
            <a:ext cx="3675412" cy="3767571"/>
          </a:xfrm>
        </p:spPr>
        <p:txBody>
          <a:bodyPr/>
          <a:lstStyle/>
          <a:p>
            <a:pPr marL="0" indent="0">
              <a:buNone/>
            </a:pPr>
            <a:r>
              <a:rPr lang="en-US" b="1" dirty="0">
                <a:solidFill>
                  <a:schemeClr val="tx1"/>
                </a:solidFill>
              </a:rPr>
              <a:t>Solution</a:t>
            </a:r>
          </a:p>
          <a:p>
            <a:pPr marL="0" indent="0">
              <a:buNone/>
            </a:pPr>
            <a:r>
              <a:rPr lang="en-US" dirty="0">
                <a:solidFill>
                  <a:schemeClr val="tx1"/>
                </a:solidFill>
              </a:rPr>
              <a:t>Minitab, Excel, have features that allow you to find binomial probabilities. Try using these technologies. You should obtain results similar to these displays.</a:t>
            </a:r>
          </a:p>
        </p:txBody>
      </p:sp>
      <p:pic>
        <p:nvPicPr>
          <p:cNvPr id="18" name="Content Placeholder 17" descr="A Minitab screen displays the probability density function. The data displayed are as follows. Binomial with n = 100 and p = 0.75. x, P left parenthesis X = lower x right parenthesis. 66, 0.0111678."/>
          <p:cNvPicPr>
            <a:picLocks noGrp="1" noChangeAspect="1"/>
          </p:cNvPicPr>
          <p:nvPr>
            <p:ph sz="quarter" idx="14"/>
          </p:nvPr>
        </p:nvPicPr>
        <p:blipFill>
          <a:blip r:embed="rId2"/>
          <a:stretch>
            <a:fillRect/>
          </a:stretch>
        </p:blipFill>
        <p:spPr>
          <a:xfrm>
            <a:off x="5842167" y="1557339"/>
            <a:ext cx="2840982" cy="1627773"/>
          </a:xfrm>
          <a:prstGeom prst="rect">
            <a:avLst/>
          </a:prstGeom>
        </p:spPr>
      </p:pic>
      <p:pic>
        <p:nvPicPr>
          <p:cNvPr id="6" name="Content Placeholder 5" descr="An excel screenshot displays the following data. Row 1. 0.011167823. Formula applied, = B I N O M dot D I S T left parenthesis 66, 100, 0.75, FALSE right parenthesis."/>
          <p:cNvPicPr>
            <a:picLocks noGrp="1" noChangeAspect="1"/>
          </p:cNvPicPr>
          <p:nvPr>
            <p:ph sz="quarter" idx="17"/>
          </p:nvPr>
        </p:nvPicPr>
        <p:blipFill>
          <a:blip r:embed="rId3">
            <a:extLst>
              <a:ext uri="{28A0092B-C50C-407E-A947-70E740481C1C}">
                <a14:useLocalDpi xmlns:a14="http://schemas.microsoft.com/office/drawing/2010/main" val="0"/>
              </a:ext>
            </a:extLst>
          </a:blip>
          <a:stretch>
            <a:fillRect/>
          </a:stretch>
        </p:blipFill>
        <p:spPr>
          <a:xfrm>
            <a:off x="6096000" y="3672889"/>
            <a:ext cx="4591951" cy="1142331"/>
          </a:xfrm>
        </p:spPr>
      </p:pic>
    </p:spTree>
    <p:extLst>
      <p:ext uri="{BB962C8B-B14F-4D97-AF65-F5344CB8AC3E}">
        <p14:creationId xmlns:p14="http://schemas.microsoft.com/office/powerpoint/2010/main" val="8685645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Solution: Finding a Binomial Probabilities Using Technology </a:t>
            </a:r>
            <a:r>
              <a:rPr lang="en-US" sz="2000" b="0" dirty="0"/>
              <a:t>(2 of 2)</a:t>
            </a:r>
          </a:p>
        </p:txBody>
      </p:sp>
      <p:sp>
        <p:nvSpPr>
          <p:cNvPr id="3" name="Content Placeholder 2"/>
          <p:cNvSpPr>
            <a:spLocks noGrp="1"/>
          </p:cNvSpPr>
          <p:nvPr>
            <p:ph sz="quarter" idx="13"/>
          </p:nvPr>
        </p:nvSpPr>
        <p:spPr>
          <a:xfrm>
            <a:off x="1981200" y="1556328"/>
            <a:ext cx="8229600" cy="2801917"/>
          </a:xfrm>
        </p:spPr>
        <p:txBody>
          <a:bodyPr/>
          <a:lstStyle/>
          <a:p>
            <a:pPr marL="0" indent="0">
              <a:buNone/>
            </a:pPr>
            <a:r>
              <a:rPr lang="en-US" b="1" dirty="0">
                <a:solidFill>
                  <a:schemeClr val="tx1"/>
                </a:solidFill>
              </a:rPr>
              <a:t>Solution</a:t>
            </a:r>
          </a:p>
          <a:p>
            <a:pPr marL="0" indent="0">
              <a:buNone/>
            </a:pPr>
            <a:r>
              <a:rPr lang="en-US" dirty="0">
                <a:solidFill>
                  <a:schemeClr val="tx1"/>
                </a:solidFill>
              </a:rPr>
              <a:t>From these displays, you can see that the probability that exactly 66 adults are experiencing digital device fatigue is about 0.011. Because 0.011 is less than 0.05, this can be considered an unusual event.</a:t>
            </a:r>
          </a:p>
        </p:txBody>
      </p:sp>
    </p:spTree>
    <p:extLst>
      <p:ext uri="{BB962C8B-B14F-4D97-AF65-F5344CB8AC3E}">
        <p14:creationId xmlns:p14="http://schemas.microsoft.com/office/powerpoint/2010/main" val="28678697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Example: Finding Binomial Probabilities Using Formulas</a:t>
            </a:r>
          </a:p>
        </p:txBody>
      </p:sp>
      <p:sp>
        <p:nvSpPr>
          <p:cNvPr id="3" name="Content Placeholder 2"/>
          <p:cNvSpPr>
            <a:spLocks noGrp="1"/>
          </p:cNvSpPr>
          <p:nvPr>
            <p:ph sz="quarter" idx="13"/>
          </p:nvPr>
        </p:nvSpPr>
        <p:spPr>
          <a:xfrm>
            <a:off x="1981200" y="1556327"/>
            <a:ext cx="8229600" cy="3870696"/>
          </a:xfrm>
        </p:spPr>
        <p:txBody>
          <a:bodyPr/>
          <a:lstStyle/>
          <a:p>
            <a:pPr marL="0" indent="0">
              <a:buNone/>
            </a:pPr>
            <a:r>
              <a:rPr lang="en-US" dirty="0">
                <a:solidFill>
                  <a:schemeClr val="tx1"/>
                </a:solidFill>
              </a:rPr>
              <a:t>A survey found that 22% of U.S. adults say that the economy, unemployment, and jobs are the most important problems facing the U.S. today. You randomly select four adults and ask them whether the economy, unemployment, and jobs are the most important problems facing the U.S. today. Find the probability that (1) exactly two of them respond yes, (2) at least two of them respond yes, and (3) fewer than two of them respond yes. (Source: Ipsos)</a:t>
            </a:r>
            <a:endParaRPr lang="en-US" altLang="en-US" dirty="0">
              <a:solidFill>
                <a:schemeClr val="tx1"/>
              </a:solidFill>
            </a:endParaRPr>
          </a:p>
        </p:txBody>
      </p:sp>
    </p:spTree>
    <p:extLst>
      <p:ext uri="{BB962C8B-B14F-4D97-AF65-F5344CB8AC3E}">
        <p14:creationId xmlns:p14="http://schemas.microsoft.com/office/powerpoint/2010/main" val="42467124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Solution: Finding Binomial Probabilities Using Formulas </a:t>
            </a:r>
            <a:r>
              <a:rPr lang="en-US" sz="2000" b="0" dirty="0"/>
              <a:t>(1 of 4)</a:t>
            </a:r>
          </a:p>
        </p:txBody>
      </p:sp>
      <p:sp>
        <p:nvSpPr>
          <p:cNvPr id="3" name="Content Placeholder 2"/>
          <p:cNvSpPr>
            <a:spLocks noGrp="1"/>
          </p:cNvSpPr>
          <p:nvPr>
            <p:ph sz="quarter" idx="13"/>
          </p:nvPr>
        </p:nvSpPr>
        <p:spPr>
          <a:xfrm>
            <a:off x="1981200" y="1556328"/>
            <a:ext cx="8229600" cy="1400629"/>
          </a:xfrm>
        </p:spPr>
        <p:txBody>
          <a:bodyPr/>
          <a:lstStyle/>
          <a:p>
            <a:pPr marL="0" indent="0">
              <a:buNone/>
            </a:pPr>
            <a:r>
              <a:rPr lang="en-US" b="1" dirty="0">
                <a:solidFill>
                  <a:schemeClr val="tx1"/>
                </a:solidFill>
              </a:rPr>
              <a:t>Solution</a:t>
            </a:r>
          </a:p>
          <a:p>
            <a:pPr marL="432000" indent="-432000">
              <a:buFont typeface="+mj-lt"/>
              <a:buAutoNum type="arabicPeriod"/>
            </a:pPr>
            <a:r>
              <a:rPr lang="en-US" dirty="0">
                <a:solidFill>
                  <a:schemeClr val="tx1"/>
                </a:solidFill>
              </a:rPr>
              <a:t>Using </a:t>
            </a:r>
            <a:r>
              <a:rPr lang="en-US" i="1" dirty="0">
                <a:solidFill>
                  <a:schemeClr val="tx1"/>
                </a:solidFill>
              </a:rPr>
              <a:t>n </a:t>
            </a:r>
            <a:r>
              <a:rPr lang="en-US" dirty="0">
                <a:solidFill>
                  <a:schemeClr val="tx1"/>
                </a:solidFill>
              </a:rPr>
              <a:t>= 4, </a:t>
            </a:r>
            <a:r>
              <a:rPr lang="en-US" i="1" dirty="0">
                <a:solidFill>
                  <a:schemeClr val="tx1"/>
                </a:solidFill>
              </a:rPr>
              <a:t>p </a:t>
            </a:r>
            <a:r>
              <a:rPr lang="en-US" dirty="0">
                <a:solidFill>
                  <a:schemeClr val="tx1"/>
                </a:solidFill>
              </a:rPr>
              <a:t>= 0.22, </a:t>
            </a:r>
            <a:r>
              <a:rPr lang="en-US" i="1" dirty="0">
                <a:solidFill>
                  <a:schemeClr val="tx1"/>
                </a:solidFill>
              </a:rPr>
              <a:t>q </a:t>
            </a:r>
            <a:r>
              <a:rPr lang="en-US" dirty="0">
                <a:solidFill>
                  <a:schemeClr val="tx1"/>
                </a:solidFill>
              </a:rPr>
              <a:t>= 0.78, and </a:t>
            </a:r>
            <a:r>
              <a:rPr lang="en-US" i="1" dirty="0">
                <a:solidFill>
                  <a:schemeClr val="tx1"/>
                </a:solidFill>
              </a:rPr>
              <a:t>x </a:t>
            </a:r>
            <a:r>
              <a:rPr lang="en-US" dirty="0">
                <a:solidFill>
                  <a:schemeClr val="tx1"/>
                </a:solidFill>
              </a:rPr>
              <a:t>= 2, the probability that exactly two adults will respond yes is</a:t>
            </a:r>
            <a:endParaRPr lang="en-US" altLang="en-US" dirty="0">
              <a:solidFill>
                <a:schemeClr val="tx1"/>
              </a:solidFill>
            </a:endParaRPr>
          </a:p>
        </p:txBody>
      </p:sp>
      <p:graphicFrame>
        <p:nvGraphicFramePr>
          <p:cNvPr id="4" name="Object 3" descr="P of 2 = sub 4, C sub 2, left parenthesis 0.22 right parenthesis squared, left parenthesis 0.78 right parenthesis squared = 6 left parenthesis 0.22 right parenthesis squared, left parenthesis 0.78 right parenthesis squared approximately equals 0.177.">
            <a:extLst>
              <a:ext uri="{FF2B5EF4-FFF2-40B4-BE49-F238E27FC236}">
                <a16:creationId xmlns:a16="http://schemas.microsoft.com/office/drawing/2014/main" id="{E3542E3A-EF79-4C58-A346-ACCC2EBFFBD5}"/>
              </a:ext>
            </a:extLst>
          </p:cNvPr>
          <p:cNvGraphicFramePr>
            <a:graphicFrameLocks noChangeAspect="1"/>
          </p:cNvGraphicFramePr>
          <p:nvPr/>
        </p:nvGraphicFramePr>
        <p:xfrm>
          <a:off x="2392220" y="3200633"/>
          <a:ext cx="6996545" cy="508000"/>
        </p:xfrm>
        <a:graphic>
          <a:graphicData uri="http://schemas.openxmlformats.org/presentationml/2006/ole">
            <mc:AlternateContent xmlns:mc="http://schemas.openxmlformats.org/markup-compatibility/2006">
              <mc:Choice xmlns:v="urn:schemas-microsoft-com:vml" Requires="v">
                <p:oleObj spid="_x0000_s11266" name="Equation" r:id="rId3" imgW="7696080" imgH="558720" progId="Equation.DSMT4">
                  <p:embed/>
                </p:oleObj>
              </mc:Choice>
              <mc:Fallback>
                <p:oleObj name="Equation" r:id="rId3" imgW="7696080" imgH="558720" progId="Equation.DSMT4">
                  <p:embed/>
                  <p:pic>
                    <p:nvPicPr>
                      <p:cNvPr id="4" name="Object 3" descr="P of 2 = sub 4, C sub 2, left parenthesis 0.22 right parenthesis squared, left parenthesis 0.78 right parenthesis squared = 6 left parenthesis 0.22 right parenthesis squared, left parenthesis 0.78 right parenthesis squared approximately equals 0.177.">
                        <a:extLst>
                          <a:ext uri="{FF2B5EF4-FFF2-40B4-BE49-F238E27FC236}">
                            <a16:creationId xmlns:a16="http://schemas.microsoft.com/office/drawing/2014/main" id="{E3542E3A-EF79-4C58-A346-ACCC2EBFFBD5}"/>
                          </a:ext>
                        </a:extLst>
                      </p:cNvPr>
                      <p:cNvPicPr/>
                      <p:nvPr/>
                    </p:nvPicPr>
                    <p:blipFill>
                      <a:blip r:embed="rId4"/>
                      <a:stretch>
                        <a:fillRect/>
                      </a:stretch>
                    </p:blipFill>
                    <p:spPr>
                      <a:xfrm>
                        <a:off x="2392220" y="3200633"/>
                        <a:ext cx="6996545" cy="508000"/>
                      </a:xfrm>
                      <a:prstGeom prst="rect">
                        <a:avLst/>
                      </a:prstGeom>
                    </p:spPr>
                  </p:pic>
                </p:oleObj>
              </mc:Fallback>
            </mc:AlternateContent>
          </a:graphicData>
        </a:graphic>
      </p:graphicFrame>
    </p:spTree>
    <p:extLst>
      <p:ext uri="{BB962C8B-B14F-4D97-AF65-F5344CB8AC3E}">
        <p14:creationId xmlns:p14="http://schemas.microsoft.com/office/powerpoint/2010/main" val="6682829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Solution: Finding Binomial Probabilities Using Formulas </a:t>
            </a:r>
            <a:r>
              <a:rPr lang="en-US" sz="2000" b="0" dirty="0"/>
              <a:t>(2 of 4)</a:t>
            </a:r>
          </a:p>
        </p:txBody>
      </p:sp>
      <p:sp>
        <p:nvSpPr>
          <p:cNvPr id="5" name="Content Placeholder 4"/>
          <p:cNvSpPr>
            <a:spLocks noGrp="1"/>
          </p:cNvSpPr>
          <p:nvPr>
            <p:ph sz="quarter" idx="13"/>
          </p:nvPr>
        </p:nvSpPr>
        <p:spPr>
          <a:xfrm>
            <a:off x="1981200" y="1552575"/>
            <a:ext cx="8354291" cy="964994"/>
          </a:xfrm>
        </p:spPr>
        <p:txBody>
          <a:bodyPr/>
          <a:lstStyle/>
          <a:p>
            <a:pPr marL="0" indent="0">
              <a:buNone/>
            </a:pPr>
            <a:r>
              <a:rPr lang="en-US" b="1" dirty="0">
                <a:solidFill>
                  <a:schemeClr val="tx1"/>
                </a:solidFill>
              </a:rPr>
              <a:t>Solution</a:t>
            </a:r>
          </a:p>
          <a:p>
            <a:pPr marL="432000" indent="-432000">
              <a:buFont typeface="+mj-lt"/>
              <a:buAutoNum type="arabicPeriod" startAt="2"/>
            </a:pPr>
            <a:r>
              <a:rPr lang="en-US" dirty="0">
                <a:solidFill>
                  <a:schemeClr val="tx1"/>
                </a:solidFill>
              </a:rPr>
              <a:t>To find the probability that at least two adults will respond</a:t>
            </a:r>
          </a:p>
        </p:txBody>
      </p:sp>
      <p:sp>
        <p:nvSpPr>
          <p:cNvPr id="6" name="Content Placeholder 5"/>
          <p:cNvSpPr>
            <a:spLocks noGrp="1"/>
          </p:cNvSpPr>
          <p:nvPr>
            <p:ph sz="quarter" idx="14"/>
          </p:nvPr>
        </p:nvSpPr>
        <p:spPr>
          <a:xfrm>
            <a:off x="1981200" y="2612572"/>
            <a:ext cx="3200400" cy="415636"/>
          </a:xfrm>
        </p:spPr>
        <p:txBody>
          <a:bodyPr/>
          <a:lstStyle/>
          <a:p>
            <a:pPr marL="432000" indent="0">
              <a:buNone/>
            </a:pPr>
            <a:r>
              <a:rPr lang="en-US" dirty="0">
                <a:solidFill>
                  <a:schemeClr val="tx1"/>
                </a:solidFill>
              </a:rPr>
              <a:t>yes, find the sum of</a:t>
            </a:r>
          </a:p>
        </p:txBody>
      </p:sp>
      <p:graphicFrame>
        <p:nvGraphicFramePr>
          <p:cNvPr id="19" name="Object 18" descr="P of 2, P of 3, and P of 4.">
            <a:extLst>
              <a:ext uri="{FF2B5EF4-FFF2-40B4-BE49-F238E27FC236}">
                <a16:creationId xmlns:a16="http://schemas.microsoft.com/office/drawing/2014/main" id="{E3542E3A-EF79-4C58-A346-ACCC2EBFFBD5}"/>
              </a:ext>
            </a:extLst>
          </p:cNvPr>
          <p:cNvGraphicFramePr>
            <a:graphicFrameLocks noChangeAspect="1"/>
          </p:cNvGraphicFramePr>
          <p:nvPr/>
        </p:nvGraphicFramePr>
        <p:xfrm>
          <a:off x="5294770" y="2628901"/>
          <a:ext cx="2735263" cy="358775"/>
        </p:xfrm>
        <a:graphic>
          <a:graphicData uri="http://schemas.openxmlformats.org/presentationml/2006/ole">
            <mc:AlternateContent xmlns:mc="http://schemas.openxmlformats.org/markup-compatibility/2006">
              <mc:Choice xmlns:v="urn:schemas-microsoft-com:vml" Requires="v">
                <p:oleObj spid="_x0000_s12290" name="Equation" r:id="rId3" imgW="3098520" imgH="406080" progId="Equation.DSMT4">
                  <p:embed/>
                </p:oleObj>
              </mc:Choice>
              <mc:Fallback>
                <p:oleObj name="Equation" r:id="rId3" imgW="3098520" imgH="406080" progId="Equation.DSMT4">
                  <p:embed/>
                  <p:pic>
                    <p:nvPicPr>
                      <p:cNvPr id="19" name="Object 18" descr="P of 2, P of 3, and P of 4.">
                        <a:extLst>
                          <a:ext uri="{FF2B5EF4-FFF2-40B4-BE49-F238E27FC236}">
                            <a16:creationId xmlns:a16="http://schemas.microsoft.com/office/drawing/2014/main" id="{E3542E3A-EF79-4C58-A346-ACCC2EBFFBD5}"/>
                          </a:ext>
                        </a:extLst>
                      </p:cNvPr>
                      <p:cNvPicPr/>
                      <p:nvPr/>
                    </p:nvPicPr>
                    <p:blipFill>
                      <a:blip r:embed="rId4"/>
                      <a:stretch>
                        <a:fillRect/>
                      </a:stretch>
                    </p:blipFill>
                    <p:spPr>
                      <a:xfrm>
                        <a:off x="5294770" y="2628901"/>
                        <a:ext cx="2735263" cy="358775"/>
                      </a:xfrm>
                      <a:prstGeom prst="rect">
                        <a:avLst/>
                      </a:prstGeom>
                    </p:spPr>
                  </p:pic>
                </p:oleObj>
              </mc:Fallback>
            </mc:AlternateContent>
          </a:graphicData>
        </a:graphic>
      </p:graphicFrame>
      <p:sp>
        <p:nvSpPr>
          <p:cNvPr id="7" name="Content Placeholder 6"/>
          <p:cNvSpPr>
            <a:spLocks noGrp="1"/>
          </p:cNvSpPr>
          <p:nvPr>
            <p:ph sz="quarter" idx="15"/>
          </p:nvPr>
        </p:nvSpPr>
        <p:spPr>
          <a:xfrm>
            <a:off x="1981200" y="3099461"/>
            <a:ext cx="8045532" cy="807522"/>
          </a:xfrm>
        </p:spPr>
        <p:txBody>
          <a:bodyPr/>
          <a:lstStyle/>
          <a:p>
            <a:pPr marL="432000" indent="0">
              <a:buNone/>
            </a:pPr>
            <a:r>
              <a:rPr lang="en-US" dirty="0"/>
              <a:t>Begin by using the binomial probability formula to write an expression for each probability.</a:t>
            </a:r>
          </a:p>
        </p:txBody>
      </p:sp>
      <p:graphicFrame>
        <p:nvGraphicFramePr>
          <p:cNvPr id="23" name="Object 22" descr="P of 2 = sub 4, C sub 2, left parenthesis 0.22 right parenthesis squared, left parenthesis 0.78 right parenthesis squared = 6 left parenthesis 0.22 right parenthesis squared, left parenthesis 0.78 right parenthesis squared">
            <a:extLst>
              <a:ext uri="{FF2B5EF4-FFF2-40B4-BE49-F238E27FC236}">
                <a16:creationId xmlns:a16="http://schemas.microsoft.com/office/drawing/2014/main" id="{F94369DF-26B8-4D39-9991-E6BFA0F17723}"/>
              </a:ext>
            </a:extLst>
          </p:cNvPr>
          <p:cNvGraphicFramePr>
            <a:graphicFrameLocks noChangeAspect="1"/>
          </p:cNvGraphicFramePr>
          <p:nvPr/>
        </p:nvGraphicFramePr>
        <p:xfrm>
          <a:off x="2344738" y="4060825"/>
          <a:ext cx="5853112" cy="508000"/>
        </p:xfrm>
        <a:graphic>
          <a:graphicData uri="http://schemas.openxmlformats.org/presentationml/2006/ole">
            <mc:AlternateContent xmlns:mc="http://schemas.openxmlformats.org/markup-compatibility/2006">
              <mc:Choice xmlns:v="urn:schemas-microsoft-com:vml" Requires="v">
                <p:oleObj spid="_x0000_s12291" name="Equation" r:id="rId5" imgW="6438600" imgH="558720" progId="Equation.DSMT4">
                  <p:embed/>
                </p:oleObj>
              </mc:Choice>
              <mc:Fallback>
                <p:oleObj name="Equation" r:id="rId5" imgW="6438600" imgH="558720" progId="Equation.DSMT4">
                  <p:embed/>
                  <p:pic>
                    <p:nvPicPr>
                      <p:cNvPr id="23" name="Object 22" descr="P of 2 = sub 4, C sub 2, left parenthesis 0.22 right parenthesis squared, left parenthesis 0.78 right parenthesis squared = 6 left parenthesis 0.22 right parenthesis squared, left parenthesis 0.78 right parenthesis squared">
                        <a:extLst>
                          <a:ext uri="{FF2B5EF4-FFF2-40B4-BE49-F238E27FC236}">
                            <a16:creationId xmlns:a16="http://schemas.microsoft.com/office/drawing/2014/main" id="{F94369DF-26B8-4D39-9991-E6BFA0F17723}"/>
                          </a:ext>
                        </a:extLst>
                      </p:cNvPr>
                      <p:cNvPicPr/>
                      <p:nvPr/>
                    </p:nvPicPr>
                    <p:blipFill>
                      <a:blip r:embed="rId6"/>
                      <a:stretch>
                        <a:fillRect/>
                      </a:stretch>
                    </p:blipFill>
                    <p:spPr>
                      <a:xfrm>
                        <a:off x="2344738" y="4060825"/>
                        <a:ext cx="5853112" cy="508000"/>
                      </a:xfrm>
                      <a:prstGeom prst="rect">
                        <a:avLst/>
                      </a:prstGeom>
                    </p:spPr>
                  </p:pic>
                </p:oleObj>
              </mc:Fallback>
            </mc:AlternateContent>
          </a:graphicData>
        </a:graphic>
      </p:graphicFrame>
      <p:graphicFrame>
        <p:nvGraphicFramePr>
          <p:cNvPr id="24" name="Object 23" descr="P of 3 = sub 4, C sub 3, left parenthesis 0.22 right parenthesis cubed, left parenthesis 0.78 right parenthesis to the first power = 4 left parenthesis 0.22 right parenthesis cubed, left parenthesis 0.78 right parenthesis to the first power">
            <a:extLst>
              <a:ext uri="{FF2B5EF4-FFF2-40B4-BE49-F238E27FC236}">
                <a16:creationId xmlns:a16="http://schemas.microsoft.com/office/drawing/2014/main" id="{F5FF98C6-42E1-4047-8104-BB9B631941E2}"/>
              </a:ext>
            </a:extLst>
          </p:cNvPr>
          <p:cNvGraphicFramePr>
            <a:graphicFrameLocks noChangeAspect="1"/>
          </p:cNvGraphicFramePr>
          <p:nvPr/>
        </p:nvGraphicFramePr>
        <p:xfrm>
          <a:off x="2365376" y="4670425"/>
          <a:ext cx="5738813" cy="508000"/>
        </p:xfrm>
        <a:graphic>
          <a:graphicData uri="http://schemas.openxmlformats.org/presentationml/2006/ole">
            <mc:AlternateContent xmlns:mc="http://schemas.openxmlformats.org/markup-compatibility/2006">
              <mc:Choice xmlns:v="urn:schemas-microsoft-com:vml" Requires="v">
                <p:oleObj spid="_x0000_s12292" name="Equation" r:id="rId7" imgW="6311880" imgH="558720" progId="Equation.DSMT4">
                  <p:embed/>
                </p:oleObj>
              </mc:Choice>
              <mc:Fallback>
                <p:oleObj name="Equation" r:id="rId7" imgW="6311880" imgH="558720" progId="Equation.DSMT4">
                  <p:embed/>
                  <p:pic>
                    <p:nvPicPr>
                      <p:cNvPr id="24" name="Object 23" descr="P of 3 = sub 4, C sub 3, left parenthesis 0.22 right parenthesis cubed, left parenthesis 0.78 right parenthesis to the first power = 4 left parenthesis 0.22 right parenthesis cubed, left parenthesis 0.78 right parenthesis to the first power">
                        <a:extLst>
                          <a:ext uri="{FF2B5EF4-FFF2-40B4-BE49-F238E27FC236}">
                            <a16:creationId xmlns:a16="http://schemas.microsoft.com/office/drawing/2014/main" id="{F5FF98C6-42E1-4047-8104-BB9B631941E2}"/>
                          </a:ext>
                        </a:extLst>
                      </p:cNvPr>
                      <p:cNvPicPr/>
                      <p:nvPr/>
                    </p:nvPicPr>
                    <p:blipFill>
                      <a:blip r:embed="rId8"/>
                      <a:stretch>
                        <a:fillRect/>
                      </a:stretch>
                    </p:blipFill>
                    <p:spPr>
                      <a:xfrm>
                        <a:off x="2365376" y="4670425"/>
                        <a:ext cx="5738813" cy="508000"/>
                      </a:xfrm>
                      <a:prstGeom prst="rect">
                        <a:avLst/>
                      </a:prstGeom>
                    </p:spPr>
                  </p:pic>
                </p:oleObj>
              </mc:Fallback>
            </mc:AlternateContent>
          </a:graphicData>
        </a:graphic>
      </p:graphicFrame>
      <p:graphicFrame>
        <p:nvGraphicFramePr>
          <p:cNvPr id="25" name="Object 24" descr="P of 4 = sub 4, C sub 4, left parenthesis 0.22 right parenthesis to the fourth power, left parenthesis 0.78 right parenthesis to the 0 power = 1 left parenthesis 0.22 right parenthesis to the fourth power, left parenthesis 0.78 right parenthesis to the 0 power">
            <a:extLst>
              <a:ext uri="{FF2B5EF4-FFF2-40B4-BE49-F238E27FC236}">
                <a16:creationId xmlns:a16="http://schemas.microsoft.com/office/drawing/2014/main" id="{C70A04FA-4F26-484C-9F73-039ADF2C2C6E}"/>
              </a:ext>
            </a:extLst>
          </p:cNvPr>
          <p:cNvGraphicFramePr>
            <a:graphicFrameLocks noChangeAspect="1"/>
          </p:cNvGraphicFramePr>
          <p:nvPr/>
        </p:nvGraphicFramePr>
        <p:xfrm>
          <a:off x="2347913" y="5259388"/>
          <a:ext cx="5795962" cy="508000"/>
        </p:xfrm>
        <a:graphic>
          <a:graphicData uri="http://schemas.openxmlformats.org/presentationml/2006/ole">
            <mc:AlternateContent xmlns:mc="http://schemas.openxmlformats.org/markup-compatibility/2006">
              <mc:Choice xmlns:v="urn:schemas-microsoft-com:vml" Requires="v">
                <p:oleObj spid="_x0000_s12293" name="Equation" r:id="rId9" imgW="6375240" imgH="558720" progId="Equation.DSMT4">
                  <p:embed/>
                </p:oleObj>
              </mc:Choice>
              <mc:Fallback>
                <p:oleObj name="Equation" r:id="rId9" imgW="6375240" imgH="558720" progId="Equation.DSMT4">
                  <p:embed/>
                  <p:pic>
                    <p:nvPicPr>
                      <p:cNvPr id="25" name="Object 24" descr="P of 4 = sub 4, C sub 4, left parenthesis 0.22 right parenthesis to the fourth power, left parenthesis 0.78 right parenthesis to the 0 power = 1 left parenthesis 0.22 right parenthesis to the fourth power, left parenthesis 0.78 right parenthesis to the 0 power">
                        <a:extLst>
                          <a:ext uri="{FF2B5EF4-FFF2-40B4-BE49-F238E27FC236}">
                            <a16:creationId xmlns:a16="http://schemas.microsoft.com/office/drawing/2014/main" id="{C70A04FA-4F26-484C-9F73-039ADF2C2C6E}"/>
                          </a:ext>
                        </a:extLst>
                      </p:cNvPr>
                      <p:cNvPicPr/>
                      <p:nvPr/>
                    </p:nvPicPr>
                    <p:blipFill>
                      <a:blip r:embed="rId10"/>
                      <a:stretch>
                        <a:fillRect/>
                      </a:stretch>
                    </p:blipFill>
                    <p:spPr>
                      <a:xfrm>
                        <a:off x="2347913" y="5259388"/>
                        <a:ext cx="5795962" cy="508000"/>
                      </a:xfrm>
                      <a:prstGeom prst="rect">
                        <a:avLst/>
                      </a:prstGeom>
                    </p:spPr>
                  </p:pic>
                </p:oleObj>
              </mc:Fallback>
            </mc:AlternateContent>
          </a:graphicData>
        </a:graphic>
      </p:graphicFrame>
    </p:spTree>
    <p:extLst>
      <p:ext uri="{BB962C8B-B14F-4D97-AF65-F5344CB8AC3E}">
        <p14:creationId xmlns:p14="http://schemas.microsoft.com/office/powerpoint/2010/main" val="30283499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Solution: Finding Binomial Probabilities Using Formulas </a:t>
            </a:r>
            <a:r>
              <a:rPr lang="en-US" sz="2000" b="0" dirty="0"/>
              <a:t>(3 of 4)</a:t>
            </a:r>
          </a:p>
        </p:txBody>
      </p:sp>
      <p:sp>
        <p:nvSpPr>
          <p:cNvPr id="3" name="Content Placeholder 2"/>
          <p:cNvSpPr>
            <a:spLocks noGrp="1"/>
          </p:cNvSpPr>
          <p:nvPr>
            <p:ph sz="quarter" idx="13"/>
          </p:nvPr>
        </p:nvSpPr>
        <p:spPr>
          <a:xfrm>
            <a:off x="1981200" y="1556327"/>
            <a:ext cx="7843652" cy="996868"/>
          </a:xfrm>
        </p:spPr>
        <p:txBody>
          <a:bodyPr/>
          <a:lstStyle/>
          <a:p>
            <a:pPr marL="0" indent="0">
              <a:buNone/>
            </a:pPr>
            <a:r>
              <a:rPr lang="en-US" b="1" dirty="0">
                <a:solidFill>
                  <a:schemeClr val="tx1"/>
                </a:solidFill>
              </a:rPr>
              <a:t>Solution</a:t>
            </a:r>
          </a:p>
          <a:p>
            <a:pPr marL="432000" indent="-432000">
              <a:buFont typeface="+mj-lt"/>
              <a:buAutoNum type="arabicPeriod" startAt="2"/>
            </a:pPr>
            <a:r>
              <a:rPr lang="en-US" dirty="0">
                <a:solidFill>
                  <a:schemeClr val="tx1"/>
                </a:solidFill>
              </a:rPr>
              <a:t>So, the probability that at least two will respond yes is</a:t>
            </a:r>
          </a:p>
        </p:txBody>
      </p:sp>
      <p:graphicFrame>
        <p:nvGraphicFramePr>
          <p:cNvPr id="4" name="Object 3" descr="P of x is greater than or equal to 2 = P of 2 + P of 3 + P of 4 = 6 left parenthesis 0.22 right parenthesis squared, left parenthesis 0.78 right parenthesis squared">
            <a:extLst>
              <a:ext uri="{FF2B5EF4-FFF2-40B4-BE49-F238E27FC236}">
                <a16:creationId xmlns:a16="http://schemas.microsoft.com/office/drawing/2014/main" id="{79875E7B-81D2-4FA2-AED9-B3A34BDF2CB1}"/>
              </a:ext>
            </a:extLst>
          </p:cNvPr>
          <p:cNvGraphicFramePr>
            <a:graphicFrameLocks noChangeAspect="1"/>
          </p:cNvGraphicFramePr>
          <p:nvPr/>
        </p:nvGraphicFramePr>
        <p:xfrm>
          <a:off x="2371725" y="2895600"/>
          <a:ext cx="6465888" cy="508000"/>
        </p:xfrm>
        <a:graphic>
          <a:graphicData uri="http://schemas.openxmlformats.org/presentationml/2006/ole">
            <mc:AlternateContent xmlns:mc="http://schemas.openxmlformats.org/markup-compatibility/2006">
              <mc:Choice xmlns:v="urn:schemas-microsoft-com:vml" Requires="v">
                <p:oleObj spid="_x0000_s13314" name="Equation" r:id="rId3" imgW="7111800" imgH="558720" progId="Equation.DSMT4">
                  <p:embed/>
                </p:oleObj>
              </mc:Choice>
              <mc:Fallback>
                <p:oleObj name="Equation" r:id="rId3" imgW="7111800" imgH="558720" progId="Equation.DSMT4">
                  <p:embed/>
                  <p:pic>
                    <p:nvPicPr>
                      <p:cNvPr id="4" name="Object 3" descr="P of x is greater than or equal to 2 = P of 2 + P of 3 + P of 4 = 6 left parenthesis 0.22 right parenthesis squared, left parenthesis 0.78 right parenthesis squared">
                        <a:extLst>
                          <a:ext uri="{FF2B5EF4-FFF2-40B4-BE49-F238E27FC236}">
                            <a16:creationId xmlns:a16="http://schemas.microsoft.com/office/drawing/2014/main" id="{79875E7B-81D2-4FA2-AED9-B3A34BDF2CB1}"/>
                          </a:ext>
                        </a:extLst>
                      </p:cNvPr>
                      <p:cNvPicPr/>
                      <p:nvPr/>
                    </p:nvPicPr>
                    <p:blipFill>
                      <a:blip r:embed="rId4"/>
                      <a:stretch>
                        <a:fillRect/>
                      </a:stretch>
                    </p:blipFill>
                    <p:spPr>
                      <a:xfrm>
                        <a:off x="2371725" y="2895600"/>
                        <a:ext cx="6465888" cy="508000"/>
                      </a:xfrm>
                      <a:prstGeom prst="rect">
                        <a:avLst/>
                      </a:prstGeom>
                    </p:spPr>
                  </p:pic>
                </p:oleObj>
              </mc:Fallback>
            </mc:AlternateContent>
          </a:graphicData>
        </a:graphic>
      </p:graphicFrame>
      <p:graphicFrame>
        <p:nvGraphicFramePr>
          <p:cNvPr id="5" name="Object 4" descr="+ 4 left parenthesis 0.22 right parenthesis cubed, left parenthesis 0.78 right parenthesis to the first power + 1 left parenthesis 0.22 right parenthesis to the fourth power, left parenthesis 0.78 right parenthesis to the 0 power">
            <a:extLst>
              <a:ext uri="{FF2B5EF4-FFF2-40B4-BE49-F238E27FC236}">
                <a16:creationId xmlns:a16="http://schemas.microsoft.com/office/drawing/2014/main" id="{C329AF9B-A671-47C0-8214-CE3890287EA9}"/>
              </a:ext>
            </a:extLst>
          </p:cNvPr>
          <p:cNvGraphicFramePr>
            <a:graphicFrameLocks noChangeAspect="1"/>
          </p:cNvGraphicFramePr>
          <p:nvPr/>
        </p:nvGraphicFramePr>
        <p:xfrm>
          <a:off x="3617026" y="3507503"/>
          <a:ext cx="4572000" cy="508000"/>
        </p:xfrm>
        <a:graphic>
          <a:graphicData uri="http://schemas.openxmlformats.org/presentationml/2006/ole">
            <mc:AlternateContent xmlns:mc="http://schemas.openxmlformats.org/markup-compatibility/2006">
              <mc:Choice xmlns:v="urn:schemas-microsoft-com:vml" Requires="v">
                <p:oleObj spid="_x0000_s13315" name="Equation" r:id="rId5" imgW="5029200" imgH="558720" progId="Equation.DSMT4">
                  <p:embed/>
                </p:oleObj>
              </mc:Choice>
              <mc:Fallback>
                <p:oleObj name="Equation" r:id="rId5" imgW="5029200" imgH="558720" progId="Equation.DSMT4">
                  <p:embed/>
                  <p:pic>
                    <p:nvPicPr>
                      <p:cNvPr id="5" name="Object 4" descr="+ 4 left parenthesis 0.22 right parenthesis cubed, left parenthesis 0.78 right parenthesis to the first power + 1 left parenthesis 0.22 right parenthesis to the fourth power, left parenthesis 0.78 right parenthesis to the 0 power">
                        <a:extLst>
                          <a:ext uri="{FF2B5EF4-FFF2-40B4-BE49-F238E27FC236}">
                            <a16:creationId xmlns:a16="http://schemas.microsoft.com/office/drawing/2014/main" id="{C329AF9B-A671-47C0-8214-CE3890287EA9}"/>
                          </a:ext>
                        </a:extLst>
                      </p:cNvPr>
                      <p:cNvPicPr/>
                      <p:nvPr/>
                    </p:nvPicPr>
                    <p:blipFill>
                      <a:blip r:embed="rId6"/>
                      <a:stretch>
                        <a:fillRect/>
                      </a:stretch>
                    </p:blipFill>
                    <p:spPr>
                      <a:xfrm>
                        <a:off x="3617026" y="3507503"/>
                        <a:ext cx="4572000" cy="508000"/>
                      </a:xfrm>
                      <a:prstGeom prst="rect">
                        <a:avLst/>
                      </a:prstGeom>
                    </p:spPr>
                  </p:pic>
                </p:oleObj>
              </mc:Fallback>
            </mc:AlternateContent>
          </a:graphicData>
        </a:graphic>
      </p:graphicFrame>
      <p:graphicFrame>
        <p:nvGraphicFramePr>
          <p:cNvPr id="6" name="Object 5" descr="approximately equals 0.212.">
            <a:extLst>
              <a:ext uri="{FF2B5EF4-FFF2-40B4-BE49-F238E27FC236}">
                <a16:creationId xmlns:a16="http://schemas.microsoft.com/office/drawing/2014/main" id="{AD4840DC-C260-46B7-9D97-F20CC5DA520A}"/>
              </a:ext>
            </a:extLst>
          </p:cNvPr>
          <p:cNvGraphicFramePr>
            <a:graphicFrameLocks noChangeAspect="1"/>
          </p:cNvGraphicFramePr>
          <p:nvPr/>
        </p:nvGraphicFramePr>
        <p:xfrm>
          <a:off x="3617026" y="4150403"/>
          <a:ext cx="1074738" cy="288925"/>
        </p:xfrm>
        <a:graphic>
          <a:graphicData uri="http://schemas.openxmlformats.org/presentationml/2006/ole">
            <mc:AlternateContent xmlns:mc="http://schemas.openxmlformats.org/markup-compatibility/2006">
              <mc:Choice xmlns:v="urn:schemas-microsoft-com:vml" Requires="v">
                <p:oleObj spid="_x0000_s13316" name="Equation" r:id="rId7" imgW="1180800" imgH="317160" progId="Equation.DSMT4">
                  <p:embed/>
                </p:oleObj>
              </mc:Choice>
              <mc:Fallback>
                <p:oleObj name="Equation" r:id="rId7" imgW="1180800" imgH="317160" progId="Equation.DSMT4">
                  <p:embed/>
                  <p:pic>
                    <p:nvPicPr>
                      <p:cNvPr id="6" name="Object 5" descr="approximately equals 0.212.">
                        <a:extLst>
                          <a:ext uri="{FF2B5EF4-FFF2-40B4-BE49-F238E27FC236}">
                            <a16:creationId xmlns:a16="http://schemas.microsoft.com/office/drawing/2014/main" id="{AD4840DC-C260-46B7-9D97-F20CC5DA520A}"/>
                          </a:ext>
                        </a:extLst>
                      </p:cNvPr>
                      <p:cNvPicPr/>
                      <p:nvPr/>
                    </p:nvPicPr>
                    <p:blipFill>
                      <a:blip r:embed="rId8"/>
                      <a:stretch>
                        <a:fillRect/>
                      </a:stretch>
                    </p:blipFill>
                    <p:spPr>
                      <a:xfrm>
                        <a:off x="3617026" y="4150403"/>
                        <a:ext cx="1074738" cy="288925"/>
                      </a:xfrm>
                      <a:prstGeom prst="rect">
                        <a:avLst/>
                      </a:prstGeom>
                    </p:spPr>
                  </p:pic>
                </p:oleObj>
              </mc:Fallback>
            </mc:AlternateContent>
          </a:graphicData>
        </a:graphic>
      </p:graphicFrame>
    </p:spTree>
    <p:extLst>
      <p:ext uri="{BB962C8B-B14F-4D97-AF65-F5344CB8AC3E}">
        <p14:creationId xmlns:p14="http://schemas.microsoft.com/office/powerpoint/2010/main" val="13801380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Solution: Finding Binomial Probabilities Using Formulas </a:t>
            </a:r>
            <a:r>
              <a:rPr lang="en-US" sz="2000" b="0" dirty="0"/>
              <a:t>(4 of 4)</a:t>
            </a:r>
          </a:p>
        </p:txBody>
      </p:sp>
      <p:sp>
        <p:nvSpPr>
          <p:cNvPr id="4" name="Content Placeholder 3"/>
          <p:cNvSpPr>
            <a:spLocks noGrp="1"/>
          </p:cNvSpPr>
          <p:nvPr>
            <p:ph sz="quarter" idx="13"/>
          </p:nvPr>
        </p:nvSpPr>
        <p:spPr>
          <a:xfrm>
            <a:off x="1981200" y="1552575"/>
            <a:ext cx="8229600" cy="988745"/>
          </a:xfrm>
        </p:spPr>
        <p:txBody>
          <a:bodyPr/>
          <a:lstStyle/>
          <a:p>
            <a:pPr marL="0" indent="0">
              <a:buNone/>
            </a:pPr>
            <a:r>
              <a:rPr lang="en-US" b="1" dirty="0">
                <a:solidFill>
                  <a:schemeClr val="tx1"/>
                </a:solidFill>
              </a:rPr>
              <a:t>Solution</a:t>
            </a:r>
          </a:p>
          <a:p>
            <a:pPr marL="432000" indent="-432000">
              <a:buFont typeface="+mj-lt"/>
              <a:buAutoNum type="arabicPeriod" startAt="3"/>
            </a:pPr>
            <a:r>
              <a:rPr lang="en-US" dirty="0">
                <a:solidFill>
                  <a:schemeClr val="tx1"/>
                </a:solidFill>
              </a:rPr>
              <a:t>To find the probability that fewer than two adults will</a:t>
            </a:r>
          </a:p>
        </p:txBody>
      </p:sp>
      <p:sp>
        <p:nvSpPr>
          <p:cNvPr id="6" name="Content Placeholder 5"/>
          <p:cNvSpPr>
            <a:spLocks noGrp="1"/>
          </p:cNvSpPr>
          <p:nvPr>
            <p:ph sz="quarter" idx="14"/>
          </p:nvPr>
        </p:nvSpPr>
        <p:spPr>
          <a:xfrm>
            <a:off x="1981201" y="2600693"/>
            <a:ext cx="4411683" cy="439388"/>
          </a:xfrm>
        </p:spPr>
        <p:txBody>
          <a:bodyPr/>
          <a:lstStyle/>
          <a:p>
            <a:pPr marL="432000" indent="0">
              <a:buNone/>
            </a:pPr>
            <a:r>
              <a:rPr lang="en-US" dirty="0">
                <a:solidFill>
                  <a:schemeClr val="tx1"/>
                </a:solidFill>
              </a:rPr>
              <a:t>respond yes, find the sum of</a:t>
            </a:r>
            <a:endParaRPr lang="en-US" dirty="0"/>
          </a:p>
        </p:txBody>
      </p:sp>
      <p:graphicFrame>
        <p:nvGraphicFramePr>
          <p:cNvPr id="19" name="Object 18" descr="P of 0 and P of 1.">
            <a:extLst>
              <a:ext uri="{FF2B5EF4-FFF2-40B4-BE49-F238E27FC236}">
                <a16:creationId xmlns:a16="http://schemas.microsoft.com/office/drawing/2014/main" id="{AD4840DC-C260-46B7-9D97-F20CC5DA520A}"/>
              </a:ext>
            </a:extLst>
          </p:cNvPr>
          <p:cNvGraphicFramePr>
            <a:graphicFrameLocks noChangeAspect="1"/>
          </p:cNvGraphicFramePr>
          <p:nvPr/>
        </p:nvGraphicFramePr>
        <p:xfrm>
          <a:off x="6490628" y="2632640"/>
          <a:ext cx="1928812" cy="369888"/>
        </p:xfrm>
        <a:graphic>
          <a:graphicData uri="http://schemas.openxmlformats.org/presentationml/2006/ole">
            <mc:AlternateContent xmlns:mc="http://schemas.openxmlformats.org/markup-compatibility/2006">
              <mc:Choice xmlns:v="urn:schemas-microsoft-com:vml" Requires="v">
                <p:oleObj spid="_x0000_s14338" name="Equation" r:id="rId3" imgW="2120760" imgH="406080" progId="Equation.DSMT4">
                  <p:embed/>
                </p:oleObj>
              </mc:Choice>
              <mc:Fallback>
                <p:oleObj name="Equation" r:id="rId3" imgW="2120760" imgH="406080" progId="Equation.DSMT4">
                  <p:embed/>
                  <p:pic>
                    <p:nvPicPr>
                      <p:cNvPr id="19" name="Object 18" descr="P of 0 and P of 1.">
                        <a:extLst>
                          <a:ext uri="{FF2B5EF4-FFF2-40B4-BE49-F238E27FC236}">
                            <a16:creationId xmlns:a16="http://schemas.microsoft.com/office/drawing/2014/main" id="{AD4840DC-C260-46B7-9D97-F20CC5DA520A}"/>
                          </a:ext>
                        </a:extLst>
                      </p:cNvPr>
                      <p:cNvPicPr/>
                      <p:nvPr/>
                    </p:nvPicPr>
                    <p:blipFill>
                      <a:blip r:embed="rId4"/>
                      <a:stretch>
                        <a:fillRect/>
                      </a:stretch>
                    </p:blipFill>
                    <p:spPr>
                      <a:xfrm>
                        <a:off x="6490628" y="2632640"/>
                        <a:ext cx="1928812" cy="369888"/>
                      </a:xfrm>
                      <a:prstGeom prst="rect">
                        <a:avLst/>
                      </a:prstGeom>
                    </p:spPr>
                  </p:pic>
                </p:oleObj>
              </mc:Fallback>
            </mc:AlternateContent>
          </a:graphicData>
        </a:graphic>
      </p:graphicFrame>
      <p:graphicFrame>
        <p:nvGraphicFramePr>
          <p:cNvPr id="20" name="Object 19" descr="P of 0 = sub 4, C sub 0, left parenthesis 0.22 right parenthesis to the 0 power, left parenthesis 0.78 right parenthesis to the fourth power = 1 left parenthesis 0.22 right parenthesis to the 0 power, left parenthesis 0.78 right parenthesis to the fourth power">
            <a:extLst>
              <a:ext uri="{FF2B5EF4-FFF2-40B4-BE49-F238E27FC236}">
                <a16:creationId xmlns:a16="http://schemas.microsoft.com/office/drawing/2014/main" id="{FAB0A2E5-16FE-4DB1-ACD8-A7631C5B4C27}"/>
              </a:ext>
            </a:extLst>
          </p:cNvPr>
          <p:cNvGraphicFramePr>
            <a:graphicFrameLocks noChangeAspect="1"/>
          </p:cNvGraphicFramePr>
          <p:nvPr/>
        </p:nvGraphicFramePr>
        <p:xfrm>
          <a:off x="2390775" y="3094039"/>
          <a:ext cx="5670550" cy="498475"/>
        </p:xfrm>
        <a:graphic>
          <a:graphicData uri="http://schemas.openxmlformats.org/presentationml/2006/ole">
            <mc:AlternateContent xmlns:mc="http://schemas.openxmlformats.org/markup-compatibility/2006">
              <mc:Choice xmlns:v="urn:schemas-microsoft-com:vml" Requires="v">
                <p:oleObj spid="_x0000_s14339" name="Equation" r:id="rId5" imgW="6362640" imgH="558720" progId="Equation.DSMT4">
                  <p:embed/>
                </p:oleObj>
              </mc:Choice>
              <mc:Fallback>
                <p:oleObj name="Equation" r:id="rId5" imgW="6362640" imgH="558720" progId="Equation.DSMT4">
                  <p:embed/>
                  <p:pic>
                    <p:nvPicPr>
                      <p:cNvPr id="20" name="Object 19" descr="P of 0 = sub 4, C sub 0, left parenthesis 0.22 right parenthesis to the 0 power, left parenthesis 0.78 right parenthesis to the fourth power = 1 left parenthesis 0.22 right parenthesis to the 0 power, left parenthesis 0.78 right parenthesis to the fourth power">
                        <a:extLst>
                          <a:ext uri="{FF2B5EF4-FFF2-40B4-BE49-F238E27FC236}">
                            <a16:creationId xmlns:a16="http://schemas.microsoft.com/office/drawing/2014/main" id="{FAB0A2E5-16FE-4DB1-ACD8-A7631C5B4C27}"/>
                          </a:ext>
                        </a:extLst>
                      </p:cNvPr>
                      <p:cNvPicPr/>
                      <p:nvPr/>
                    </p:nvPicPr>
                    <p:blipFill>
                      <a:blip r:embed="rId6"/>
                      <a:stretch>
                        <a:fillRect/>
                      </a:stretch>
                    </p:blipFill>
                    <p:spPr>
                      <a:xfrm>
                        <a:off x="2390775" y="3094039"/>
                        <a:ext cx="5670550" cy="498475"/>
                      </a:xfrm>
                      <a:prstGeom prst="rect">
                        <a:avLst/>
                      </a:prstGeom>
                    </p:spPr>
                  </p:pic>
                </p:oleObj>
              </mc:Fallback>
            </mc:AlternateContent>
          </a:graphicData>
        </a:graphic>
      </p:graphicFrame>
      <p:graphicFrame>
        <p:nvGraphicFramePr>
          <p:cNvPr id="21" name="Object 20" descr="P of 1 = sub 4, C sub 1, left parenthesis 0.22 right parenthesis to the first power, left parenthesis 0.78 right parenthesis cubed = 4 left parenthesis 0.22 right parenthesis to the first power, left parenthesis 0.78 right parenthesis cubed">
            <a:extLst>
              <a:ext uri="{FF2B5EF4-FFF2-40B4-BE49-F238E27FC236}">
                <a16:creationId xmlns:a16="http://schemas.microsoft.com/office/drawing/2014/main" id="{E2869571-8263-44DE-B1E3-6C7DBC5EFE82}"/>
              </a:ext>
            </a:extLst>
          </p:cNvPr>
          <p:cNvGraphicFramePr>
            <a:graphicFrameLocks noChangeAspect="1"/>
          </p:cNvGraphicFramePr>
          <p:nvPr/>
        </p:nvGraphicFramePr>
        <p:xfrm>
          <a:off x="2397125" y="3695700"/>
          <a:ext cx="5557838" cy="496888"/>
        </p:xfrm>
        <a:graphic>
          <a:graphicData uri="http://schemas.openxmlformats.org/presentationml/2006/ole">
            <mc:AlternateContent xmlns:mc="http://schemas.openxmlformats.org/markup-compatibility/2006">
              <mc:Choice xmlns:v="urn:schemas-microsoft-com:vml" Requires="v">
                <p:oleObj spid="_x0000_s14340" name="Equation" r:id="rId7" imgW="6235560" imgH="558720" progId="Equation.DSMT4">
                  <p:embed/>
                </p:oleObj>
              </mc:Choice>
              <mc:Fallback>
                <p:oleObj name="Equation" r:id="rId7" imgW="6235560" imgH="558720" progId="Equation.DSMT4">
                  <p:embed/>
                  <p:pic>
                    <p:nvPicPr>
                      <p:cNvPr id="21" name="Object 20" descr="P of 1 = sub 4, C sub 1, left parenthesis 0.22 right parenthesis to the first power, left parenthesis 0.78 right parenthesis cubed = 4 left parenthesis 0.22 right parenthesis to the first power, left parenthesis 0.78 right parenthesis cubed">
                        <a:extLst>
                          <a:ext uri="{FF2B5EF4-FFF2-40B4-BE49-F238E27FC236}">
                            <a16:creationId xmlns:a16="http://schemas.microsoft.com/office/drawing/2014/main" id="{E2869571-8263-44DE-B1E3-6C7DBC5EFE82}"/>
                          </a:ext>
                        </a:extLst>
                      </p:cNvPr>
                      <p:cNvPicPr/>
                      <p:nvPr/>
                    </p:nvPicPr>
                    <p:blipFill>
                      <a:blip r:embed="rId8"/>
                      <a:stretch>
                        <a:fillRect/>
                      </a:stretch>
                    </p:blipFill>
                    <p:spPr>
                      <a:xfrm>
                        <a:off x="2397125" y="3695700"/>
                        <a:ext cx="5557838" cy="496888"/>
                      </a:xfrm>
                      <a:prstGeom prst="rect">
                        <a:avLst/>
                      </a:prstGeom>
                    </p:spPr>
                  </p:pic>
                </p:oleObj>
              </mc:Fallback>
            </mc:AlternateContent>
          </a:graphicData>
        </a:graphic>
      </p:graphicFrame>
      <p:sp>
        <p:nvSpPr>
          <p:cNvPr id="7" name="Content Placeholder 6"/>
          <p:cNvSpPr>
            <a:spLocks noGrp="1"/>
          </p:cNvSpPr>
          <p:nvPr>
            <p:ph sz="quarter" idx="15"/>
          </p:nvPr>
        </p:nvSpPr>
        <p:spPr>
          <a:xfrm>
            <a:off x="1981200" y="4295775"/>
            <a:ext cx="8229600" cy="430604"/>
          </a:xfrm>
        </p:spPr>
        <p:txBody>
          <a:bodyPr/>
          <a:lstStyle/>
          <a:p>
            <a:pPr marL="432000" indent="0">
              <a:buNone/>
            </a:pPr>
            <a:r>
              <a:rPr lang="en-US" dirty="0"/>
              <a:t>So, the probability that fewer than two will respond yes is</a:t>
            </a:r>
          </a:p>
        </p:txBody>
      </p:sp>
      <p:graphicFrame>
        <p:nvGraphicFramePr>
          <p:cNvPr id="22" name="Object 21" descr="P open parenthesis x less than 2 close parenthesis equals P open parenthesis 0 close parenthesis plus P open parenthesis 1 close parenthesis">
            <a:extLst>
              <a:ext uri="{FF2B5EF4-FFF2-40B4-BE49-F238E27FC236}">
                <a16:creationId xmlns:a16="http://schemas.microsoft.com/office/drawing/2014/main" id="{250CB0CA-C10E-4FB2-A0A9-99A6B0895EFF}"/>
              </a:ext>
            </a:extLst>
          </p:cNvPr>
          <p:cNvGraphicFramePr>
            <a:graphicFrameLocks noChangeAspect="1"/>
          </p:cNvGraphicFramePr>
          <p:nvPr/>
        </p:nvGraphicFramePr>
        <p:xfrm>
          <a:off x="2386013" y="4908550"/>
          <a:ext cx="3060700" cy="438150"/>
        </p:xfrm>
        <a:graphic>
          <a:graphicData uri="http://schemas.openxmlformats.org/presentationml/2006/ole">
            <mc:AlternateContent xmlns:mc="http://schemas.openxmlformats.org/markup-compatibility/2006">
              <mc:Choice xmlns:v="urn:schemas-microsoft-com:vml" Requires="v">
                <p:oleObj spid="_x0000_s14341" name="Equation" r:id="rId9" imgW="3365280" imgH="482400" progId="Equation.DSMT4">
                  <p:embed/>
                </p:oleObj>
              </mc:Choice>
              <mc:Fallback>
                <p:oleObj name="Equation" r:id="rId9" imgW="3365280" imgH="482400" progId="Equation.DSMT4">
                  <p:embed/>
                  <p:pic>
                    <p:nvPicPr>
                      <p:cNvPr id="22" name="Object 21" descr="P open parenthesis x less than 2 close parenthesis equals P open parenthesis 0 close parenthesis plus P open parenthesis 1 close parenthesis">
                        <a:extLst>
                          <a:ext uri="{FF2B5EF4-FFF2-40B4-BE49-F238E27FC236}">
                            <a16:creationId xmlns:a16="http://schemas.microsoft.com/office/drawing/2014/main" id="{250CB0CA-C10E-4FB2-A0A9-99A6B0895EFF}"/>
                          </a:ext>
                        </a:extLst>
                      </p:cNvPr>
                      <p:cNvPicPr/>
                      <p:nvPr/>
                    </p:nvPicPr>
                    <p:blipFill>
                      <a:blip r:embed="rId10"/>
                      <a:stretch>
                        <a:fillRect/>
                      </a:stretch>
                    </p:blipFill>
                    <p:spPr>
                      <a:xfrm>
                        <a:off x="2386013" y="4908550"/>
                        <a:ext cx="3060700" cy="438150"/>
                      </a:xfrm>
                      <a:prstGeom prst="rect">
                        <a:avLst/>
                      </a:prstGeom>
                    </p:spPr>
                  </p:pic>
                </p:oleObj>
              </mc:Fallback>
            </mc:AlternateContent>
          </a:graphicData>
        </a:graphic>
      </p:graphicFrame>
      <p:graphicFrame>
        <p:nvGraphicFramePr>
          <p:cNvPr id="23" name="Object 22" descr="equals 1 left parenthesis 0.22 right parenthesis to the 0 power, left parenthesis 0.78 right parenthesis to the fourth power + 4 left parenthesis 0.22 right parenthesis to the first power, left parenthesis 0.78 right parenthesis cubed approximately equals 0.788.">
            <a:extLst>
              <a:ext uri="{FF2B5EF4-FFF2-40B4-BE49-F238E27FC236}">
                <a16:creationId xmlns:a16="http://schemas.microsoft.com/office/drawing/2014/main" id="{77CD9A6D-E4B1-408C-A4FD-6EB88A6B090F}"/>
              </a:ext>
            </a:extLst>
          </p:cNvPr>
          <p:cNvGraphicFramePr>
            <a:graphicFrameLocks noChangeAspect="1"/>
          </p:cNvGraphicFramePr>
          <p:nvPr/>
        </p:nvGraphicFramePr>
        <p:xfrm>
          <a:off x="3592513" y="5503863"/>
          <a:ext cx="5795962" cy="508000"/>
        </p:xfrm>
        <a:graphic>
          <a:graphicData uri="http://schemas.openxmlformats.org/presentationml/2006/ole">
            <mc:AlternateContent xmlns:mc="http://schemas.openxmlformats.org/markup-compatibility/2006">
              <mc:Choice xmlns:v="urn:schemas-microsoft-com:vml" Requires="v">
                <p:oleObj spid="_x0000_s14342" name="Equation" r:id="rId11" imgW="6375240" imgH="558720" progId="Equation.DSMT4">
                  <p:embed/>
                </p:oleObj>
              </mc:Choice>
              <mc:Fallback>
                <p:oleObj name="Equation" r:id="rId11" imgW="6375240" imgH="558720" progId="Equation.DSMT4">
                  <p:embed/>
                  <p:pic>
                    <p:nvPicPr>
                      <p:cNvPr id="23" name="Object 22" descr="equals 1 left parenthesis 0.22 right parenthesis to the 0 power, left parenthesis 0.78 right parenthesis to the fourth power + 4 left parenthesis 0.22 right parenthesis to the first power, left parenthesis 0.78 right parenthesis cubed approximately equals 0.788.">
                        <a:extLst>
                          <a:ext uri="{FF2B5EF4-FFF2-40B4-BE49-F238E27FC236}">
                            <a16:creationId xmlns:a16="http://schemas.microsoft.com/office/drawing/2014/main" id="{77CD9A6D-E4B1-408C-A4FD-6EB88A6B090F}"/>
                          </a:ext>
                        </a:extLst>
                      </p:cNvPr>
                      <p:cNvPicPr/>
                      <p:nvPr/>
                    </p:nvPicPr>
                    <p:blipFill>
                      <a:blip r:embed="rId12"/>
                      <a:stretch>
                        <a:fillRect/>
                      </a:stretch>
                    </p:blipFill>
                    <p:spPr>
                      <a:xfrm>
                        <a:off x="3592513" y="5503863"/>
                        <a:ext cx="5795962" cy="508000"/>
                      </a:xfrm>
                      <a:prstGeom prst="rect">
                        <a:avLst/>
                      </a:prstGeom>
                    </p:spPr>
                  </p:pic>
                </p:oleObj>
              </mc:Fallback>
            </mc:AlternateContent>
          </a:graphicData>
        </a:graphic>
      </p:graphicFrame>
    </p:spTree>
    <p:extLst>
      <p:ext uri="{BB962C8B-B14F-4D97-AF65-F5344CB8AC3E}">
        <p14:creationId xmlns:p14="http://schemas.microsoft.com/office/powerpoint/2010/main" val="32379086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Example: Finding a Binomial Probability Using a Table</a:t>
            </a:r>
          </a:p>
        </p:txBody>
      </p:sp>
      <p:sp>
        <p:nvSpPr>
          <p:cNvPr id="4" name="Content Placeholder 3"/>
          <p:cNvSpPr>
            <a:spLocks noGrp="1"/>
          </p:cNvSpPr>
          <p:nvPr>
            <p:ph sz="quarter" idx="13"/>
          </p:nvPr>
        </p:nvSpPr>
        <p:spPr>
          <a:xfrm>
            <a:off x="1981200" y="1556327"/>
            <a:ext cx="8389917" cy="2267528"/>
          </a:xfrm>
        </p:spPr>
        <p:txBody>
          <a:bodyPr/>
          <a:lstStyle/>
          <a:p>
            <a:pPr marL="0" indent="0">
              <a:buNone/>
            </a:pPr>
            <a:r>
              <a:rPr lang="en-US" altLang="en-US" dirty="0">
                <a:solidFill>
                  <a:schemeClr val="tx1"/>
                </a:solidFill>
              </a:rPr>
              <a:t>About 5% of workers (ages 16 years and older) in the United States commute to their jobs by using public transportation (excluding taxicabs). You randomly select eight workers. What is the probability that exactly three of them use public transportation to get to work? Use a table to find the probability. (Source: American Community Survey)</a:t>
            </a:r>
          </a:p>
        </p:txBody>
      </p:sp>
      <p:sp>
        <p:nvSpPr>
          <p:cNvPr id="5" name="Content Placeholder 4"/>
          <p:cNvSpPr>
            <a:spLocks noGrp="1"/>
          </p:cNvSpPr>
          <p:nvPr>
            <p:ph sz="quarter" idx="14"/>
          </p:nvPr>
        </p:nvSpPr>
        <p:spPr>
          <a:xfrm>
            <a:off x="1981200" y="3971926"/>
            <a:ext cx="8229600" cy="1051337"/>
          </a:xfrm>
        </p:spPr>
        <p:txBody>
          <a:bodyPr/>
          <a:lstStyle/>
          <a:p>
            <a:pPr eaLnBrk="1" hangingPunct="1">
              <a:buClrTx/>
              <a:buFontTx/>
              <a:buNone/>
            </a:pPr>
            <a:r>
              <a:rPr lang="en-US" altLang="en-US" b="1" dirty="0">
                <a:solidFill>
                  <a:schemeClr val="tx1"/>
                </a:solidFill>
              </a:rPr>
              <a:t>Solution:</a:t>
            </a:r>
          </a:p>
          <a:p>
            <a:pPr eaLnBrk="1" hangingPunct="1"/>
            <a:r>
              <a:rPr lang="en-US" altLang="en-US" dirty="0">
                <a:solidFill>
                  <a:schemeClr val="tx1"/>
                </a:solidFill>
              </a:rPr>
              <a:t>Binomial with </a:t>
            </a:r>
            <a:r>
              <a:rPr lang="en-US" altLang="en-US" i="1" dirty="0">
                <a:solidFill>
                  <a:schemeClr val="tx1"/>
                </a:solidFill>
              </a:rPr>
              <a:t>n</a:t>
            </a:r>
            <a:r>
              <a:rPr lang="en-US" altLang="en-US" dirty="0">
                <a:solidFill>
                  <a:schemeClr val="tx1"/>
                </a:solidFill>
              </a:rPr>
              <a:t> = 8, </a:t>
            </a:r>
            <a:r>
              <a:rPr lang="en-US" altLang="en-US" i="1" dirty="0">
                <a:solidFill>
                  <a:schemeClr val="tx1"/>
                </a:solidFill>
              </a:rPr>
              <a:t>p</a:t>
            </a:r>
            <a:r>
              <a:rPr lang="en-US" altLang="en-US" dirty="0">
                <a:solidFill>
                  <a:schemeClr val="tx1"/>
                </a:solidFill>
              </a:rPr>
              <a:t> = 0.05, </a:t>
            </a:r>
            <a:r>
              <a:rPr lang="en-US" altLang="en-US" i="1" dirty="0">
                <a:solidFill>
                  <a:schemeClr val="tx1"/>
                </a:solidFill>
              </a:rPr>
              <a:t>x</a:t>
            </a:r>
            <a:r>
              <a:rPr lang="en-US" altLang="en-US" dirty="0">
                <a:solidFill>
                  <a:schemeClr val="tx1"/>
                </a:solidFill>
              </a:rPr>
              <a:t> = 3</a:t>
            </a:r>
          </a:p>
        </p:txBody>
      </p:sp>
    </p:spTree>
    <p:extLst>
      <p:ext uri="{BB962C8B-B14F-4D97-AF65-F5344CB8AC3E}">
        <p14:creationId xmlns:p14="http://schemas.microsoft.com/office/powerpoint/2010/main" val="66405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75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75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75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75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Solution: Finding Binomial Probabilities Using a Table </a:t>
            </a:r>
            <a:r>
              <a:rPr lang="en-US" sz="2000" b="0" dirty="0"/>
              <a:t>(1 of 2)</a:t>
            </a:r>
          </a:p>
        </p:txBody>
      </p:sp>
      <p:sp>
        <p:nvSpPr>
          <p:cNvPr id="4" name="Content Placeholder 3"/>
          <p:cNvSpPr>
            <a:spLocks noGrp="1"/>
          </p:cNvSpPr>
          <p:nvPr>
            <p:ph sz="quarter" idx="13"/>
          </p:nvPr>
        </p:nvSpPr>
        <p:spPr>
          <a:xfrm>
            <a:off x="1981200" y="1552575"/>
            <a:ext cx="4435434" cy="442481"/>
          </a:xfrm>
        </p:spPr>
        <p:txBody>
          <a:bodyPr/>
          <a:lstStyle/>
          <a:p>
            <a:pPr eaLnBrk="1" hangingPunct="1"/>
            <a:r>
              <a:rPr lang="en-US" altLang="en-US" dirty="0"/>
              <a:t>A portion of Table 2 is shown</a:t>
            </a:r>
          </a:p>
        </p:txBody>
      </p:sp>
      <p:pic>
        <p:nvPicPr>
          <p:cNvPr id="18" name="Content Placeholder 17" descr="A table lists the p values for each x value.  For long description in Notes pane, press F6."/>
          <p:cNvPicPr>
            <a:picLocks noGrp="1" noChangeAspect="1"/>
          </p:cNvPicPr>
          <p:nvPr>
            <p:ph sz="quarter" idx="14"/>
          </p:nvPr>
        </p:nvPicPr>
        <p:blipFill>
          <a:blip r:embed="rId3"/>
          <a:stretch>
            <a:fillRect/>
          </a:stretch>
        </p:blipFill>
        <p:spPr>
          <a:xfrm>
            <a:off x="3840851" y="2176515"/>
            <a:ext cx="5151566" cy="3334801"/>
          </a:xfrm>
          <a:prstGeom prst="rect">
            <a:avLst/>
          </a:prstGeom>
        </p:spPr>
      </p:pic>
      <p:sp>
        <p:nvSpPr>
          <p:cNvPr id="6" name="Content Placeholder 5"/>
          <p:cNvSpPr>
            <a:spLocks noGrp="1"/>
          </p:cNvSpPr>
          <p:nvPr>
            <p:ph sz="quarter" idx="15"/>
          </p:nvPr>
        </p:nvSpPr>
        <p:spPr>
          <a:xfrm>
            <a:off x="1981200" y="5692776"/>
            <a:ext cx="6620494" cy="458643"/>
          </a:xfrm>
        </p:spPr>
        <p:txBody>
          <a:bodyPr/>
          <a:lstStyle/>
          <a:p>
            <a:pPr>
              <a:buNone/>
            </a:pPr>
            <a:r>
              <a:rPr lang="en-US" dirty="0"/>
              <a:t>According to the table, the probability is 0.005.</a:t>
            </a:r>
            <a:endParaRPr lang="en-US" altLang="en-US" dirty="0"/>
          </a:p>
        </p:txBody>
      </p:sp>
    </p:spTree>
    <p:extLst>
      <p:ext uri="{BB962C8B-B14F-4D97-AF65-F5344CB8AC3E}">
        <p14:creationId xmlns:p14="http://schemas.microsoft.com/office/powerpoint/2010/main" val="5331434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Solution: Finding Binomial Probabilities Using a Table </a:t>
            </a:r>
            <a:r>
              <a:rPr lang="en-US" sz="2000" b="0" dirty="0"/>
              <a:t>(2 of 2)</a:t>
            </a:r>
            <a:endParaRPr lang="en-US" sz="2000" dirty="0"/>
          </a:p>
        </p:txBody>
      </p:sp>
      <p:sp>
        <p:nvSpPr>
          <p:cNvPr id="4" name="Content Placeholder 3"/>
          <p:cNvSpPr>
            <a:spLocks noGrp="1"/>
          </p:cNvSpPr>
          <p:nvPr>
            <p:ph sz="quarter" idx="13"/>
          </p:nvPr>
        </p:nvSpPr>
        <p:spPr>
          <a:xfrm>
            <a:off x="1981201" y="1552575"/>
            <a:ext cx="6347361" cy="469408"/>
          </a:xfrm>
        </p:spPr>
        <p:txBody>
          <a:bodyPr/>
          <a:lstStyle/>
          <a:p>
            <a:pPr eaLnBrk="1" hangingPunct="1"/>
            <a:r>
              <a:rPr lang="en-US" altLang="en-US" dirty="0"/>
              <a:t>You can check the result using technology.</a:t>
            </a:r>
          </a:p>
        </p:txBody>
      </p:sp>
      <p:pic>
        <p:nvPicPr>
          <p:cNvPr id="18" name="Content Placeholder 17" descr="A Minitab screen displays the probability density function. The data displayed are as follows. Binomial with n = 8 and p = 0.05. x, P left parenthesis X = lower x right parenthesis. 3, 0.0054165."/>
          <p:cNvPicPr>
            <a:picLocks noGrp="1" noChangeAspect="1"/>
          </p:cNvPicPr>
          <p:nvPr>
            <p:ph sz="quarter" idx="14"/>
          </p:nvPr>
        </p:nvPicPr>
        <p:blipFill>
          <a:blip r:embed="rId2"/>
          <a:stretch>
            <a:fillRect/>
          </a:stretch>
        </p:blipFill>
        <p:spPr>
          <a:xfrm>
            <a:off x="4276188" y="2210195"/>
            <a:ext cx="3639627" cy="2225233"/>
          </a:xfrm>
          <a:prstGeom prst="rect">
            <a:avLst/>
          </a:prstGeom>
        </p:spPr>
      </p:pic>
      <p:sp>
        <p:nvSpPr>
          <p:cNvPr id="6" name="Content Placeholder 5"/>
          <p:cNvSpPr>
            <a:spLocks noGrp="1"/>
          </p:cNvSpPr>
          <p:nvPr>
            <p:ph sz="quarter" idx="15"/>
          </p:nvPr>
        </p:nvSpPr>
        <p:spPr>
          <a:xfrm>
            <a:off x="1981200" y="4623639"/>
            <a:ext cx="8229600" cy="1242772"/>
          </a:xfrm>
        </p:spPr>
        <p:txBody>
          <a:bodyPr/>
          <a:lstStyle/>
          <a:p>
            <a:pPr marL="432" indent="0">
              <a:buNone/>
            </a:pPr>
            <a:r>
              <a:rPr lang="en-US" dirty="0"/>
              <a:t>So, the probability that exactly four of the eight workers carpool to work is 0.005. Because 0.005 is less than 0.05, this can be considered an unusual event.</a:t>
            </a:r>
            <a:endParaRPr lang="en-US" altLang="en-US" dirty="0"/>
          </a:p>
        </p:txBody>
      </p:sp>
    </p:spTree>
    <p:extLst>
      <p:ext uri="{BB962C8B-B14F-4D97-AF65-F5344CB8AC3E}">
        <p14:creationId xmlns:p14="http://schemas.microsoft.com/office/powerpoint/2010/main" val="26027742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Example: Graphing a Binomial Distribution</a:t>
            </a:r>
          </a:p>
        </p:txBody>
      </p:sp>
      <p:sp>
        <p:nvSpPr>
          <p:cNvPr id="4" name="Content Placeholder 3"/>
          <p:cNvSpPr>
            <a:spLocks noGrp="1"/>
          </p:cNvSpPr>
          <p:nvPr>
            <p:ph sz="quarter" idx="13"/>
          </p:nvPr>
        </p:nvSpPr>
        <p:spPr/>
        <p:txBody>
          <a:bodyPr/>
          <a:lstStyle/>
          <a:p>
            <a:pPr marL="0" indent="0">
              <a:buNone/>
            </a:pPr>
            <a:r>
              <a:rPr lang="en-US" dirty="0">
                <a:solidFill>
                  <a:schemeClr val="tx1"/>
                </a:solidFill>
              </a:rPr>
              <a:t>Sixty-four percent of people who have survived cancer are ages 65 years or older. You randomly select six people who have survived cancer and ask them whether they are 65 years of age or older. Construct a probability distribution for the random variable </a:t>
            </a:r>
            <a:r>
              <a:rPr lang="en-US" i="1" dirty="0">
                <a:solidFill>
                  <a:schemeClr val="tx1"/>
                </a:solidFill>
              </a:rPr>
              <a:t>x</a:t>
            </a:r>
            <a:r>
              <a:rPr lang="en-US" dirty="0">
                <a:solidFill>
                  <a:schemeClr val="tx1"/>
                </a:solidFill>
              </a:rPr>
              <a:t>. Then graph the distribution. (Source: American Cancer Society)</a:t>
            </a:r>
            <a:endParaRPr lang="en-US" altLang="en-US" sz="2000" dirty="0">
              <a:solidFill>
                <a:schemeClr val="tx1"/>
              </a:solidFill>
            </a:endParaRPr>
          </a:p>
        </p:txBody>
      </p:sp>
      <p:sp>
        <p:nvSpPr>
          <p:cNvPr id="5" name="Content Placeholder 4"/>
          <p:cNvSpPr>
            <a:spLocks noGrp="1"/>
          </p:cNvSpPr>
          <p:nvPr>
            <p:ph sz="quarter" idx="14"/>
          </p:nvPr>
        </p:nvSpPr>
        <p:spPr>
          <a:xfrm>
            <a:off x="1981200" y="4007551"/>
            <a:ext cx="8229600" cy="1742321"/>
          </a:xfrm>
        </p:spPr>
        <p:txBody>
          <a:bodyPr/>
          <a:lstStyle/>
          <a:p>
            <a:pPr eaLnBrk="1" hangingPunct="1">
              <a:spcBef>
                <a:spcPct val="0"/>
              </a:spcBef>
              <a:buClrTx/>
              <a:buFontTx/>
              <a:buNone/>
            </a:pPr>
            <a:r>
              <a:rPr lang="en-US" altLang="en-US" b="1" dirty="0">
                <a:solidFill>
                  <a:schemeClr val="tx1"/>
                </a:solidFill>
              </a:rPr>
              <a:t>Solution:</a:t>
            </a:r>
          </a:p>
          <a:p>
            <a:r>
              <a:rPr lang="en-US" altLang="en-US" i="1" dirty="0">
                <a:solidFill>
                  <a:schemeClr val="tx1"/>
                </a:solidFill>
              </a:rPr>
              <a:t>n</a:t>
            </a:r>
            <a:r>
              <a:rPr lang="en-US" altLang="en-US" dirty="0">
                <a:solidFill>
                  <a:schemeClr val="tx1"/>
                </a:solidFill>
              </a:rPr>
              <a:t> = 6, </a:t>
            </a:r>
            <a:r>
              <a:rPr lang="en-US" altLang="en-US" i="1" dirty="0">
                <a:solidFill>
                  <a:schemeClr val="tx1"/>
                </a:solidFill>
              </a:rPr>
              <a:t>p</a:t>
            </a:r>
            <a:r>
              <a:rPr lang="en-US" altLang="en-US" dirty="0">
                <a:solidFill>
                  <a:schemeClr val="tx1"/>
                </a:solidFill>
              </a:rPr>
              <a:t> = 0.64, </a:t>
            </a:r>
            <a:r>
              <a:rPr lang="en-US" altLang="en-US" i="1" dirty="0">
                <a:solidFill>
                  <a:schemeClr val="tx1"/>
                </a:solidFill>
              </a:rPr>
              <a:t>q</a:t>
            </a:r>
            <a:r>
              <a:rPr lang="en-US" altLang="en-US" dirty="0">
                <a:solidFill>
                  <a:schemeClr val="tx1"/>
                </a:solidFill>
              </a:rPr>
              <a:t> = 0.36</a:t>
            </a:r>
          </a:p>
          <a:p>
            <a:r>
              <a:rPr lang="en-US" altLang="en-US" dirty="0">
                <a:solidFill>
                  <a:schemeClr val="tx1"/>
                </a:solidFill>
              </a:rPr>
              <a:t>Find the probability for each value of </a:t>
            </a:r>
            <a:r>
              <a:rPr lang="en-US" altLang="en-US" i="1" dirty="0">
                <a:solidFill>
                  <a:schemeClr val="tx1"/>
                </a:solidFill>
              </a:rPr>
              <a:t>x</a:t>
            </a:r>
          </a:p>
        </p:txBody>
      </p:sp>
    </p:spTree>
    <p:extLst>
      <p:ext uri="{BB962C8B-B14F-4D97-AF65-F5344CB8AC3E}">
        <p14:creationId xmlns:p14="http://schemas.microsoft.com/office/powerpoint/2010/main" val="22848501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Solution: Graphing a Binomial Distribution </a:t>
            </a:r>
            <a:r>
              <a:rPr lang="en-US" sz="2000" b="0" dirty="0"/>
              <a:t>(1 of 2)</a:t>
            </a:r>
          </a:p>
        </p:txBody>
      </p:sp>
      <p:graphicFrame>
        <p:nvGraphicFramePr>
          <p:cNvPr id="6" name="Content Placeholder 5"/>
          <p:cNvGraphicFramePr>
            <a:graphicFrameLocks noGrp="1"/>
          </p:cNvGraphicFramePr>
          <p:nvPr>
            <p:ph sz="quarter" idx="13"/>
          </p:nvPr>
        </p:nvGraphicFramePr>
        <p:xfrm>
          <a:off x="1981200" y="1555750"/>
          <a:ext cx="8229600" cy="1187450"/>
        </p:xfrm>
        <a:graphic>
          <a:graphicData uri="http://schemas.openxmlformats.org/drawingml/2006/table">
            <a:tbl>
              <a:tblPr firstCol="1" bandRow="1">
                <a:tableStyleId>{2D5ABB26-0587-4C30-8999-92F81FD0307C}</a:tableStyleId>
              </a:tblPr>
              <a:tblGrid>
                <a:gridCol w="1028700">
                  <a:extLst>
                    <a:ext uri="{9D8B030D-6E8A-4147-A177-3AD203B41FA5}">
                      <a16:colId xmlns:a16="http://schemas.microsoft.com/office/drawing/2014/main" val="2231599172"/>
                    </a:ext>
                  </a:extLst>
                </a:gridCol>
                <a:gridCol w="1028700">
                  <a:extLst>
                    <a:ext uri="{9D8B030D-6E8A-4147-A177-3AD203B41FA5}">
                      <a16:colId xmlns:a16="http://schemas.microsoft.com/office/drawing/2014/main" val="1023479980"/>
                    </a:ext>
                  </a:extLst>
                </a:gridCol>
                <a:gridCol w="1028700">
                  <a:extLst>
                    <a:ext uri="{9D8B030D-6E8A-4147-A177-3AD203B41FA5}">
                      <a16:colId xmlns:a16="http://schemas.microsoft.com/office/drawing/2014/main" val="871392303"/>
                    </a:ext>
                  </a:extLst>
                </a:gridCol>
                <a:gridCol w="1028700">
                  <a:extLst>
                    <a:ext uri="{9D8B030D-6E8A-4147-A177-3AD203B41FA5}">
                      <a16:colId xmlns:a16="http://schemas.microsoft.com/office/drawing/2014/main" val="3209240045"/>
                    </a:ext>
                  </a:extLst>
                </a:gridCol>
                <a:gridCol w="1028700">
                  <a:extLst>
                    <a:ext uri="{9D8B030D-6E8A-4147-A177-3AD203B41FA5}">
                      <a16:colId xmlns:a16="http://schemas.microsoft.com/office/drawing/2014/main" val="4147191897"/>
                    </a:ext>
                  </a:extLst>
                </a:gridCol>
                <a:gridCol w="1028700">
                  <a:extLst>
                    <a:ext uri="{9D8B030D-6E8A-4147-A177-3AD203B41FA5}">
                      <a16:colId xmlns:a16="http://schemas.microsoft.com/office/drawing/2014/main" val="787329102"/>
                    </a:ext>
                  </a:extLst>
                </a:gridCol>
                <a:gridCol w="1028700">
                  <a:extLst>
                    <a:ext uri="{9D8B030D-6E8A-4147-A177-3AD203B41FA5}">
                      <a16:colId xmlns:a16="http://schemas.microsoft.com/office/drawing/2014/main" val="2739923525"/>
                    </a:ext>
                  </a:extLst>
                </a:gridCol>
                <a:gridCol w="1028700">
                  <a:extLst>
                    <a:ext uri="{9D8B030D-6E8A-4147-A177-3AD203B41FA5}">
                      <a16:colId xmlns:a16="http://schemas.microsoft.com/office/drawing/2014/main" val="441576722"/>
                    </a:ext>
                  </a:extLst>
                </a:gridCol>
              </a:tblGrid>
              <a:tr h="593725">
                <a:tc>
                  <a:txBody>
                    <a:bodyPr/>
                    <a:lstStyle/>
                    <a:p>
                      <a:r>
                        <a:rPr lang="en-US" sz="2000" b="1" i="1" noProof="0" dirty="0"/>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noProof="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noProof="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noProof="0"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noProof="0"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noProof="0"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noProof="0"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noProof="0" dirty="0"/>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38028066"/>
                  </a:ext>
                </a:extLst>
              </a:tr>
              <a:tr h="593725">
                <a:tc>
                  <a:txBody>
                    <a:bodyPr/>
                    <a:lstStyle/>
                    <a:p>
                      <a:pPr algn="ctr" fontAlgn="b"/>
                      <a:r>
                        <a:rPr lang="en-IN" sz="100" b="0" i="0" u="none" strike="noStrike" dirty="0">
                          <a:solidFill>
                            <a:srgbClr val="000000"/>
                          </a:solidFill>
                          <a:effectLst/>
                          <a:latin typeface="+mn-lt"/>
                        </a:rPr>
                        <a:t>P of x</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noProof="0" dirty="0"/>
                        <a:t>0.002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noProof="0" dirty="0"/>
                        <a:t>0.023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noProof="0" dirty="0"/>
                        <a:t>0.103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noProof="0" dirty="0"/>
                        <a:t>0.245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noProof="0" dirty="0"/>
                        <a:t>0.326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noProof="0" dirty="0"/>
                        <a:t>0.232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noProof="0" dirty="0"/>
                        <a:t>0.069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06316199"/>
                  </a:ext>
                </a:extLst>
              </a:tr>
            </a:tbl>
          </a:graphicData>
        </a:graphic>
      </p:graphicFrame>
      <p:graphicFrame>
        <p:nvGraphicFramePr>
          <p:cNvPr id="7" name="Object 6">
            <a:extLst>
              <a:ext uri="{FF2B5EF4-FFF2-40B4-BE49-F238E27FC236}">
                <a16:creationId xmlns:a16="http://schemas.microsoft.com/office/drawing/2014/main" id="{250CB0CA-C10E-4FB2-A0A9-99A6B0895EFF}"/>
              </a:ext>
              <a:ext uri="{C183D7F6-B498-43B3-948B-1728B52AA6E4}">
                <adec:decorative xmlns:adec="http://schemas.microsoft.com/office/drawing/2017/decorative" val="1"/>
              </a:ext>
            </a:extLst>
          </p:cNvPr>
          <p:cNvGraphicFramePr>
            <a:graphicFrameLocks noChangeAspect="1"/>
          </p:cNvGraphicFramePr>
          <p:nvPr/>
        </p:nvGraphicFramePr>
        <p:xfrm>
          <a:off x="2046366" y="2298310"/>
          <a:ext cx="582521" cy="295195"/>
        </p:xfrm>
        <a:graphic>
          <a:graphicData uri="http://schemas.openxmlformats.org/presentationml/2006/ole">
            <mc:AlternateContent xmlns:mc="http://schemas.openxmlformats.org/markup-compatibility/2006">
              <mc:Choice xmlns:v="urn:schemas-microsoft-com:vml" Requires="v">
                <p:oleObj spid="_x0000_s15362" name="Equation" r:id="rId3" imgW="774360" imgH="393480" progId="Equation.DSMT4">
                  <p:embed/>
                </p:oleObj>
              </mc:Choice>
              <mc:Fallback>
                <p:oleObj name="Equation" r:id="rId3" imgW="774360" imgH="393480" progId="Equation.DSMT4">
                  <p:embed/>
                  <p:pic>
                    <p:nvPicPr>
                      <p:cNvPr id="7" name="Object 6">
                        <a:extLst>
                          <a:ext uri="{FF2B5EF4-FFF2-40B4-BE49-F238E27FC236}">
                            <a16:creationId xmlns:a16="http://schemas.microsoft.com/office/drawing/2014/main" id="{250CB0CA-C10E-4FB2-A0A9-99A6B0895EFF}"/>
                          </a:ext>
                          <a:ext uri="{C183D7F6-B498-43B3-948B-1728B52AA6E4}">
                            <adec:decorative xmlns:adec="http://schemas.microsoft.com/office/drawing/2017/decorative" val="1"/>
                          </a:ext>
                        </a:extLst>
                      </p:cNvPr>
                      <p:cNvPicPr/>
                      <p:nvPr/>
                    </p:nvPicPr>
                    <p:blipFill>
                      <a:blip r:embed="rId4"/>
                      <a:stretch>
                        <a:fillRect/>
                      </a:stretch>
                    </p:blipFill>
                    <p:spPr>
                      <a:xfrm>
                        <a:off x="2046366" y="2298310"/>
                        <a:ext cx="582521" cy="295195"/>
                      </a:xfrm>
                      <a:prstGeom prst="rect">
                        <a:avLst/>
                      </a:prstGeom>
                      <a:solidFill>
                        <a:schemeClr val="bg1"/>
                      </a:solidFill>
                    </p:spPr>
                  </p:pic>
                </p:oleObj>
              </mc:Fallback>
            </mc:AlternateContent>
          </a:graphicData>
        </a:graphic>
      </p:graphicFrame>
      <p:sp>
        <p:nvSpPr>
          <p:cNvPr id="5" name="Content Placeholder 4"/>
          <p:cNvSpPr>
            <a:spLocks noGrp="1"/>
          </p:cNvSpPr>
          <p:nvPr>
            <p:ph sz="quarter" idx="14"/>
          </p:nvPr>
        </p:nvSpPr>
        <p:spPr>
          <a:xfrm>
            <a:off x="1981200" y="3123212"/>
            <a:ext cx="8229600" cy="926275"/>
          </a:xfrm>
        </p:spPr>
        <p:txBody>
          <a:bodyPr/>
          <a:lstStyle/>
          <a:p>
            <a:pPr marL="432" indent="0">
              <a:buNone/>
            </a:pPr>
            <a:r>
              <a:rPr lang="en-US" dirty="0">
                <a:cs typeface="Times New Roman" panose="02020603050405020304" pitchFamily="18" charset="0"/>
              </a:rPr>
              <a:t>Notice in the table that all the probabilities are between 0 and 1 and that the sum of the probabilities is 1.</a:t>
            </a:r>
          </a:p>
        </p:txBody>
      </p:sp>
    </p:spTree>
    <p:extLst>
      <p:ext uri="{BB962C8B-B14F-4D97-AF65-F5344CB8AC3E}">
        <p14:creationId xmlns:p14="http://schemas.microsoft.com/office/powerpoint/2010/main" val="29312601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Solution: Graphing a Binomial Distribution </a:t>
            </a:r>
            <a:r>
              <a:rPr lang="en-US" sz="2000" b="0" dirty="0"/>
              <a:t>(2 of 2)</a:t>
            </a:r>
            <a:endParaRPr lang="en-US" sz="2000" dirty="0"/>
          </a:p>
        </p:txBody>
      </p:sp>
      <p:sp>
        <p:nvSpPr>
          <p:cNvPr id="4" name="Content Placeholder 3"/>
          <p:cNvSpPr>
            <a:spLocks noGrp="1"/>
          </p:cNvSpPr>
          <p:nvPr>
            <p:ph sz="quarter" idx="13"/>
          </p:nvPr>
        </p:nvSpPr>
        <p:spPr>
          <a:xfrm>
            <a:off x="1981201" y="1552575"/>
            <a:ext cx="1692234" cy="469408"/>
          </a:xfrm>
        </p:spPr>
        <p:txBody>
          <a:bodyPr/>
          <a:lstStyle/>
          <a:p>
            <a:pPr eaLnBrk="1" hangingPunct="1">
              <a:spcBef>
                <a:spcPct val="0"/>
              </a:spcBef>
              <a:buClrTx/>
              <a:buFontTx/>
              <a:buNone/>
            </a:pPr>
            <a:r>
              <a:rPr lang="en-US" altLang="en-US" dirty="0"/>
              <a:t>Histogram:</a:t>
            </a:r>
          </a:p>
        </p:txBody>
      </p:sp>
      <p:sp>
        <p:nvSpPr>
          <p:cNvPr id="6" name="Content Placeholder 5"/>
          <p:cNvSpPr>
            <a:spLocks noGrp="1"/>
          </p:cNvSpPr>
          <p:nvPr>
            <p:ph sz="quarter" idx="15"/>
          </p:nvPr>
        </p:nvSpPr>
        <p:spPr>
          <a:xfrm>
            <a:off x="4374078" y="1557339"/>
            <a:ext cx="4120738" cy="663348"/>
          </a:xfrm>
        </p:spPr>
        <p:txBody>
          <a:bodyPr/>
          <a:lstStyle/>
          <a:p>
            <a:pPr marL="432" indent="0">
              <a:buNone/>
            </a:pPr>
            <a:r>
              <a:rPr lang="en-US" sz="2000" b="1" dirty="0"/>
              <a:t>People Who Have Survived Cancer, 65 Years of Age or Older</a:t>
            </a:r>
          </a:p>
        </p:txBody>
      </p:sp>
      <p:pic>
        <p:nvPicPr>
          <p:cNvPr id="18" name="Content Placeholder 17" descr="A histogram plots the probability versus survivors. For long description in Notes pane, press F6."/>
          <p:cNvPicPr>
            <a:picLocks noGrp="1" noChangeAspect="1"/>
          </p:cNvPicPr>
          <p:nvPr>
            <p:ph sz="quarter" idx="14"/>
          </p:nvPr>
        </p:nvPicPr>
        <p:blipFill rotWithShape="1">
          <a:blip r:embed="rId3"/>
          <a:srcRect t="14341"/>
          <a:stretch/>
        </p:blipFill>
        <p:spPr>
          <a:xfrm>
            <a:off x="4128192" y="2324890"/>
            <a:ext cx="4678564" cy="2715165"/>
          </a:xfrm>
          <a:prstGeom prst="rect">
            <a:avLst/>
          </a:prstGeom>
        </p:spPr>
      </p:pic>
      <p:sp>
        <p:nvSpPr>
          <p:cNvPr id="7" name="Content Placeholder 6"/>
          <p:cNvSpPr>
            <a:spLocks noGrp="1"/>
          </p:cNvSpPr>
          <p:nvPr>
            <p:ph sz="quarter" idx="16"/>
          </p:nvPr>
        </p:nvSpPr>
        <p:spPr>
          <a:xfrm>
            <a:off x="1981200" y="5165766"/>
            <a:ext cx="8366166" cy="1179472"/>
          </a:xfrm>
        </p:spPr>
        <p:txBody>
          <a:bodyPr/>
          <a:lstStyle/>
          <a:p>
            <a:pPr marL="432" indent="0">
              <a:buNone/>
            </a:pPr>
            <a:r>
              <a:rPr lang="en-US" dirty="0">
                <a:cs typeface="Times New Roman" panose="02020603050405020304" pitchFamily="18" charset="0"/>
              </a:rPr>
              <a:t>From the histogram, you can see that it would be unusual for none or only one of the survivors to be age 65 years or older because both probabilities are less than 0.05.</a:t>
            </a:r>
          </a:p>
        </p:txBody>
      </p:sp>
    </p:spTree>
    <p:extLst>
      <p:ext uri="{BB962C8B-B14F-4D97-AF65-F5344CB8AC3E}">
        <p14:creationId xmlns:p14="http://schemas.microsoft.com/office/powerpoint/2010/main" val="22567003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Mean, Variance, and Standard Deviation</a:t>
            </a:r>
          </a:p>
        </p:txBody>
      </p:sp>
      <p:sp>
        <p:nvSpPr>
          <p:cNvPr id="4" name="Content Placeholder 3"/>
          <p:cNvSpPr>
            <a:spLocks noGrp="1"/>
          </p:cNvSpPr>
          <p:nvPr>
            <p:ph sz="quarter" idx="13"/>
          </p:nvPr>
        </p:nvSpPr>
        <p:spPr>
          <a:xfrm>
            <a:off x="1981201" y="1552575"/>
            <a:ext cx="1276597" cy="430604"/>
          </a:xfrm>
        </p:spPr>
        <p:txBody>
          <a:bodyPr/>
          <a:lstStyle/>
          <a:p>
            <a:r>
              <a:rPr lang="en-US" altLang="en-US" b="1" dirty="0">
                <a:solidFill>
                  <a:schemeClr val="tx1"/>
                </a:solidFill>
              </a:rPr>
              <a:t>Mean:</a:t>
            </a:r>
            <a:endParaRPr lang="en-US" dirty="0">
              <a:solidFill>
                <a:schemeClr val="tx1"/>
              </a:solidFill>
            </a:endParaRPr>
          </a:p>
        </p:txBody>
      </p:sp>
      <p:graphicFrame>
        <p:nvGraphicFramePr>
          <p:cNvPr id="18" name="Object 17" descr="mu equals np">
            <a:extLst>
              <a:ext uri="{FF2B5EF4-FFF2-40B4-BE49-F238E27FC236}">
                <a16:creationId xmlns:a16="http://schemas.microsoft.com/office/drawing/2014/main" id="{374277C9-5A56-4943-8806-D8A3044F3A10}"/>
              </a:ext>
            </a:extLst>
          </p:cNvPr>
          <p:cNvGraphicFramePr>
            <a:graphicFrameLocks noChangeAspect="1"/>
          </p:cNvGraphicFramePr>
          <p:nvPr/>
        </p:nvGraphicFramePr>
        <p:xfrm>
          <a:off x="3350245" y="1629805"/>
          <a:ext cx="1003300" cy="304800"/>
        </p:xfrm>
        <a:graphic>
          <a:graphicData uri="http://schemas.openxmlformats.org/presentationml/2006/ole">
            <mc:AlternateContent xmlns:mc="http://schemas.openxmlformats.org/markup-compatibility/2006">
              <mc:Choice xmlns:v="urn:schemas-microsoft-com:vml" Requires="v">
                <p:oleObj spid="_x0000_s16386" name="Equation" r:id="rId3" imgW="1002960" imgH="304560" progId="Equation.DSMT4">
                  <p:embed/>
                </p:oleObj>
              </mc:Choice>
              <mc:Fallback>
                <p:oleObj name="Equation" r:id="rId3" imgW="1002960" imgH="304560" progId="Equation.DSMT4">
                  <p:embed/>
                  <p:pic>
                    <p:nvPicPr>
                      <p:cNvPr id="18" name="Object 17" descr="mu equals np">
                        <a:extLst>
                          <a:ext uri="{FF2B5EF4-FFF2-40B4-BE49-F238E27FC236}">
                            <a16:creationId xmlns:a16="http://schemas.microsoft.com/office/drawing/2014/main" id="{374277C9-5A56-4943-8806-D8A3044F3A10}"/>
                          </a:ext>
                        </a:extLst>
                      </p:cNvPr>
                      <p:cNvPicPr/>
                      <p:nvPr/>
                    </p:nvPicPr>
                    <p:blipFill>
                      <a:blip r:embed="rId4"/>
                      <a:stretch>
                        <a:fillRect/>
                      </a:stretch>
                    </p:blipFill>
                    <p:spPr>
                      <a:xfrm>
                        <a:off x="3350245" y="1629805"/>
                        <a:ext cx="1003300" cy="304800"/>
                      </a:xfrm>
                      <a:prstGeom prst="rect">
                        <a:avLst/>
                      </a:prstGeom>
                    </p:spPr>
                  </p:pic>
                </p:oleObj>
              </mc:Fallback>
            </mc:AlternateContent>
          </a:graphicData>
        </a:graphic>
      </p:graphicFrame>
      <p:sp>
        <p:nvSpPr>
          <p:cNvPr id="5" name="Content Placeholder 4"/>
          <p:cNvSpPr>
            <a:spLocks noGrp="1"/>
          </p:cNvSpPr>
          <p:nvPr>
            <p:ph sz="quarter" idx="14"/>
          </p:nvPr>
        </p:nvSpPr>
        <p:spPr>
          <a:xfrm>
            <a:off x="1981201" y="2216772"/>
            <a:ext cx="1763486" cy="419550"/>
          </a:xfrm>
        </p:spPr>
        <p:txBody>
          <a:bodyPr/>
          <a:lstStyle/>
          <a:p>
            <a:pPr marL="255600"/>
            <a:r>
              <a:rPr lang="en-US" altLang="en-US" b="1" dirty="0">
                <a:solidFill>
                  <a:schemeClr val="tx1"/>
                </a:solidFill>
                <a:cs typeface="Times New Roman" pitchFamily="18" charset="0"/>
              </a:rPr>
              <a:t>Variance:</a:t>
            </a:r>
            <a:endParaRPr lang="en-US" altLang="en-US" dirty="0">
              <a:solidFill>
                <a:schemeClr val="tx1"/>
              </a:solidFill>
            </a:endParaRPr>
          </a:p>
        </p:txBody>
      </p:sp>
      <p:graphicFrame>
        <p:nvGraphicFramePr>
          <p:cNvPr id="19" name="Object 18" descr="sigma squared equals npq">
            <a:extLst>
              <a:ext uri="{FF2B5EF4-FFF2-40B4-BE49-F238E27FC236}">
                <a16:creationId xmlns:a16="http://schemas.microsoft.com/office/drawing/2014/main" id="{C5D64ABF-29C1-4B61-8B8B-0AEF4DC58FB2}"/>
              </a:ext>
            </a:extLst>
          </p:cNvPr>
          <p:cNvGraphicFramePr>
            <a:graphicFrameLocks noChangeAspect="1"/>
          </p:cNvGraphicFramePr>
          <p:nvPr/>
        </p:nvGraphicFramePr>
        <p:xfrm>
          <a:off x="3851895" y="2197947"/>
          <a:ext cx="1333500" cy="457200"/>
        </p:xfrm>
        <a:graphic>
          <a:graphicData uri="http://schemas.openxmlformats.org/presentationml/2006/ole">
            <mc:AlternateContent xmlns:mc="http://schemas.openxmlformats.org/markup-compatibility/2006">
              <mc:Choice xmlns:v="urn:schemas-microsoft-com:vml" Requires="v">
                <p:oleObj spid="_x0000_s16387" name="Equation" r:id="rId5" imgW="1333440" imgH="457200" progId="Equation.DSMT4">
                  <p:embed/>
                </p:oleObj>
              </mc:Choice>
              <mc:Fallback>
                <p:oleObj name="Equation" r:id="rId5" imgW="1333440" imgH="457200" progId="Equation.DSMT4">
                  <p:embed/>
                  <p:pic>
                    <p:nvPicPr>
                      <p:cNvPr id="19" name="Object 18" descr="sigma squared equals npq">
                        <a:extLst>
                          <a:ext uri="{FF2B5EF4-FFF2-40B4-BE49-F238E27FC236}">
                            <a16:creationId xmlns:a16="http://schemas.microsoft.com/office/drawing/2014/main" id="{C5D64ABF-29C1-4B61-8B8B-0AEF4DC58FB2}"/>
                          </a:ext>
                        </a:extLst>
                      </p:cNvPr>
                      <p:cNvPicPr/>
                      <p:nvPr/>
                    </p:nvPicPr>
                    <p:blipFill>
                      <a:blip r:embed="rId6"/>
                      <a:stretch>
                        <a:fillRect/>
                      </a:stretch>
                    </p:blipFill>
                    <p:spPr>
                      <a:xfrm>
                        <a:off x="3851895" y="2197947"/>
                        <a:ext cx="1333500" cy="457200"/>
                      </a:xfrm>
                      <a:prstGeom prst="rect">
                        <a:avLst/>
                      </a:prstGeom>
                    </p:spPr>
                  </p:pic>
                </p:oleObj>
              </mc:Fallback>
            </mc:AlternateContent>
          </a:graphicData>
        </a:graphic>
      </p:graphicFrame>
      <p:sp>
        <p:nvSpPr>
          <p:cNvPr id="6" name="Content Placeholder 5"/>
          <p:cNvSpPr>
            <a:spLocks noGrp="1"/>
          </p:cNvSpPr>
          <p:nvPr>
            <p:ph sz="quarter" idx="15"/>
          </p:nvPr>
        </p:nvSpPr>
        <p:spPr>
          <a:xfrm>
            <a:off x="1981201" y="2953477"/>
            <a:ext cx="3259777" cy="442866"/>
          </a:xfrm>
        </p:spPr>
        <p:txBody>
          <a:bodyPr/>
          <a:lstStyle/>
          <a:p>
            <a:pPr eaLnBrk="1" hangingPunct="1"/>
            <a:r>
              <a:rPr lang="en-US" altLang="en-US" b="1" dirty="0">
                <a:solidFill>
                  <a:schemeClr val="tx1"/>
                </a:solidFill>
              </a:rPr>
              <a:t>Standard Deviation:</a:t>
            </a:r>
          </a:p>
        </p:txBody>
      </p:sp>
      <p:graphicFrame>
        <p:nvGraphicFramePr>
          <p:cNvPr id="20" name="Object 19" descr="sigma equals square root of npq">
            <a:extLst>
              <a:ext uri="{FF2B5EF4-FFF2-40B4-BE49-F238E27FC236}">
                <a16:creationId xmlns:a16="http://schemas.microsoft.com/office/drawing/2014/main" id="{BBE9E2F7-04DA-4122-A90E-BC8C70E1879A}"/>
              </a:ext>
            </a:extLst>
          </p:cNvPr>
          <p:cNvGraphicFramePr>
            <a:graphicFrameLocks noChangeAspect="1"/>
          </p:cNvGraphicFramePr>
          <p:nvPr/>
        </p:nvGraphicFramePr>
        <p:xfrm>
          <a:off x="5318250" y="2902685"/>
          <a:ext cx="1460500" cy="520700"/>
        </p:xfrm>
        <a:graphic>
          <a:graphicData uri="http://schemas.openxmlformats.org/presentationml/2006/ole">
            <mc:AlternateContent xmlns:mc="http://schemas.openxmlformats.org/markup-compatibility/2006">
              <mc:Choice xmlns:v="urn:schemas-microsoft-com:vml" Requires="v">
                <p:oleObj spid="_x0000_s16388" name="Equation" r:id="rId7" imgW="1460160" imgH="520560" progId="Equation.DSMT4">
                  <p:embed/>
                </p:oleObj>
              </mc:Choice>
              <mc:Fallback>
                <p:oleObj name="Equation" r:id="rId7" imgW="1460160" imgH="520560" progId="Equation.DSMT4">
                  <p:embed/>
                  <p:pic>
                    <p:nvPicPr>
                      <p:cNvPr id="20" name="Object 19" descr="sigma equals square root of npq">
                        <a:extLst>
                          <a:ext uri="{FF2B5EF4-FFF2-40B4-BE49-F238E27FC236}">
                            <a16:creationId xmlns:a16="http://schemas.microsoft.com/office/drawing/2014/main" id="{BBE9E2F7-04DA-4122-A90E-BC8C70E1879A}"/>
                          </a:ext>
                        </a:extLst>
                      </p:cNvPr>
                      <p:cNvPicPr/>
                      <p:nvPr/>
                    </p:nvPicPr>
                    <p:blipFill>
                      <a:blip r:embed="rId8"/>
                      <a:stretch>
                        <a:fillRect/>
                      </a:stretch>
                    </p:blipFill>
                    <p:spPr>
                      <a:xfrm>
                        <a:off x="5318250" y="2902685"/>
                        <a:ext cx="1460500" cy="520700"/>
                      </a:xfrm>
                      <a:prstGeom prst="rect">
                        <a:avLst/>
                      </a:prstGeom>
                    </p:spPr>
                  </p:pic>
                </p:oleObj>
              </mc:Fallback>
            </mc:AlternateContent>
          </a:graphicData>
        </a:graphic>
      </p:graphicFrame>
    </p:spTree>
    <p:extLst>
      <p:ext uri="{BB962C8B-B14F-4D97-AF65-F5344CB8AC3E}">
        <p14:creationId xmlns:p14="http://schemas.microsoft.com/office/powerpoint/2010/main" val="40202880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Example: Mean, Variance, and Standard Deviation</a:t>
            </a:r>
          </a:p>
        </p:txBody>
      </p:sp>
      <p:sp>
        <p:nvSpPr>
          <p:cNvPr id="4" name="Content Placeholder 3"/>
          <p:cNvSpPr>
            <a:spLocks noGrp="1"/>
          </p:cNvSpPr>
          <p:nvPr>
            <p:ph sz="quarter" idx="13"/>
          </p:nvPr>
        </p:nvSpPr>
        <p:spPr>
          <a:xfrm>
            <a:off x="1981200" y="1552575"/>
            <a:ext cx="8330540" cy="1879395"/>
          </a:xfrm>
        </p:spPr>
        <p:txBody>
          <a:bodyPr/>
          <a:lstStyle/>
          <a:p>
            <a:pPr marL="0" indent="0">
              <a:buNone/>
            </a:pPr>
            <a:r>
              <a:rPr lang="en-US" altLang="en-US" dirty="0">
                <a:solidFill>
                  <a:schemeClr val="tx1"/>
                </a:solidFill>
              </a:rPr>
              <a:t>In Pittsburgh, Pennsylvania, about 56% of the days in a year are cloudy. Find the mean, variance, and standard deviation for the number of cloudy days during the month of June. Interpret the results and determine any unusual values.</a:t>
            </a:r>
            <a:r>
              <a:rPr lang="en-US" altLang="en-US" i="1" dirty="0">
                <a:solidFill>
                  <a:schemeClr val="tx1"/>
                </a:solidFill>
              </a:rPr>
              <a:t> </a:t>
            </a:r>
            <a:r>
              <a:rPr lang="en-US" altLang="en-US" dirty="0">
                <a:solidFill>
                  <a:schemeClr val="tx1"/>
                </a:solidFill>
              </a:rPr>
              <a:t>(Source: National Oceanic and Atmospheric Administration)</a:t>
            </a:r>
          </a:p>
        </p:txBody>
      </p:sp>
      <p:sp>
        <p:nvSpPr>
          <p:cNvPr id="6" name="Content Placeholder 5"/>
          <p:cNvSpPr>
            <a:spLocks noGrp="1"/>
          </p:cNvSpPr>
          <p:nvPr>
            <p:ph sz="quarter" idx="15"/>
          </p:nvPr>
        </p:nvSpPr>
        <p:spPr>
          <a:xfrm>
            <a:off x="1981201" y="3656414"/>
            <a:ext cx="5314208" cy="431511"/>
          </a:xfrm>
        </p:spPr>
        <p:txBody>
          <a:bodyPr/>
          <a:lstStyle/>
          <a:p>
            <a:pPr marL="432" indent="0">
              <a:spcBef>
                <a:spcPts val="0"/>
              </a:spcBef>
              <a:buNone/>
              <a:defRPr/>
            </a:pPr>
            <a:r>
              <a:rPr lang="en-US" b="1" dirty="0">
                <a:solidFill>
                  <a:schemeClr val="tx1"/>
                </a:solidFill>
              </a:rPr>
              <a:t>Solution:</a:t>
            </a:r>
            <a:r>
              <a:rPr lang="en-US" dirty="0">
                <a:solidFill>
                  <a:schemeClr val="tx1"/>
                </a:solidFill>
              </a:rPr>
              <a:t> </a:t>
            </a:r>
            <a:r>
              <a:rPr lang="en-US" i="1" dirty="0">
                <a:solidFill>
                  <a:schemeClr val="tx1"/>
                </a:solidFill>
              </a:rPr>
              <a:t>n</a:t>
            </a:r>
            <a:r>
              <a:rPr lang="en-US" dirty="0">
                <a:solidFill>
                  <a:schemeClr val="tx1"/>
                </a:solidFill>
              </a:rPr>
              <a:t> = 30, </a:t>
            </a:r>
            <a:r>
              <a:rPr lang="en-US" i="1" dirty="0">
                <a:solidFill>
                  <a:schemeClr val="tx1"/>
                </a:solidFill>
              </a:rPr>
              <a:t>p</a:t>
            </a:r>
            <a:r>
              <a:rPr lang="en-US" dirty="0">
                <a:solidFill>
                  <a:schemeClr val="tx1"/>
                </a:solidFill>
              </a:rPr>
              <a:t> = 0.56, </a:t>
            </a:r>
            <a:r>
              <a:rPr lang="en-US" i="1" dirty="0">
                <a:solidFill>
                  <a:schemeClr val="tx1"/>
                </a:solidFill>
              </a:rPr>
              <a:t>q</a:t>
            </a:r>
            <a:r>
              <a:rPr lang="en-US" dirty="0">
                <a:solidFill>
                  <a:schemeClr val="tx1"/>
                </a:solidFill>
              </a:rPr>
              <a:t> = 0.44</a:t>
            </a:r>
          </a:p>
        </p:txBody>
      </p:sp>
      <p:sp>
        <p:nvSpPr>
          <p:cNvPr id="7" name="Content Placeholder 6"/>
          <p:cNvSpPr>
            <a:spLocks noGrp="1"/>
          </p:cNvSpPr>
          <p:nvPr>
            <p:ph sz="quarter" idx="16"/>
          </p:nvPr>
        </p:nvSpPr>
        <p:spPr>
          <a:xfrm>
            <a:off x="1981201" y="4180289"/>
            <a:ext cx="979714" cy="430151"/>
          </a:xfrm>
        </p:spPr>
        <p:txBody>
          <a:bodyPr/>
          <a:lstStyle/>
          <a:p>
            <a:pPr marL="432" indent="0">
              <a:buNone/>
            </a:pPr>
            <a:r>
              <a:rPr lang="en-US" altLang="en-US" dirty="0">
                <a:solidFill>
                  <a:schemeClr val="tx1"/>
                </a:solidFill>
              </a:rPr>
              <a:t>Mean:</a:t>
            </a:r>
            <a:endParaRPr lang="en-US" dirty="0">
              <a:solidFill>
                <a:schemeClr val="tx1"/>
              </a:solidFill>
            </a:endParaRPr>
          </a:p>
        </p:txBody>
      </p:sp>
      <p:graphicFrame>
        <p:nvGraphicFramePr>
          <p:cNvPr id="19" name="Object 18" descr="mu equals n p equals 30 times 0.56 equals 16.8">
            <a:extLst>
              <a:ext uri="{FF2B5EF4-FFF2-40B4-BE49-F238E27FC236}">
                <a16:creationId xmlns:a16="http://schemas.microsoft.com/office/drawing/2014/main" id="{620E4B31-551D-45C6-80A7-C5C930D1B59E}"/>
              </a:ext>
            </a:extLst>
          </p:cNvPr>
          <p:cNvGraphicFramePr>
            <a:graphicFrameLocks noChangeAspect="1"/>
          </p:cNvGraphicFramePr>
          <p:nvPr/>
        </p:nvGraphicFramePr>
        <p:xfrm>
          <a:off x="3034547" y="4210452"/>
          <a:ext cx="3267075" cy="369887"/>
        </p:xfrm>
        <a:graphic>
          <a:graphicData uri="http://schemas.openxmlformats.org/presentationml/2006/ole">
            <mc:AlternateContent xmlns:mc="http://schemas.openxmlformats.org/markup-compatibility/2006">
              <mc:Choice xmlns:v="urn:schemas-microsoft-com:vml" Requires="v">
                <p:oleObj spid="_x0000_s17410" name="Equation" r:id="rId3" imgW="3466800" imgH="393480" progId="Equation.DSMT4">
                  <p:embed/>
                </p:oleObj>
              </mc:Choice>
              <mc:Fallback>
                <p:oleObj name="Equation" r:id="rId3" imgW="3466800" imgH="393480" progId="Equation.DSMT4">
                  <p:embed/>
                  <p:pic>
                    <p:nvPicPr>
                      <p:cNvPr id="19" name="Object 18" descr="mu equals n p equals 30 times 0.56 equals 16.8">
                        <a:extLst>
                          <a:ext uri="{FF2B5EF4-FFF2-40B4-BE49-F238E27FC236}">
                            <a16:creationId xmlns:a16="http://schemas.microsoft.com/office/drawing/2014/main" id="{620E4B31-551D-45C6-80A7-C5C930D1B59E}"/>
                          </a:ext>
                        </a:extLst>
                      </p:cNvPr>
                      <p:cNvPicPr/>
                      <p:nvPr/>
                    </p:nvPicPr>
                    <p:blipFill>
                      <a:blip r:embed="rId4"/>
                      <a:stretch>
                        <a:fillRect/>
                      </a:stretch>
                    </p:blipFill>
                    <p:spPr>
                      <a:xfrm>
                        <a:off x="3034547" y="4210452"/>
                        <a:ext cx="3267075" cy="369887"/>
                      </a:xfrm>
                      <a:prstGeom prst="rect">
                        <a:avLst/>
                      </a:prstGeom>
                    </p:spPr>
                  </p:pic>
                </p:oleObj>
              </mc:Fallback>
            </mc:AlternateContent>
          </a:graphicData>
        </a:graphic>
      </p:graphicFrame>
      <p:sp>
        <p:nvSpPr>
          <p:cNvPr id="8" name="Content Placeholder 7"/>
          <p:cNvSpPr>
            <a:spLocks noGrp="1"/>
          </p:cNvSpPr>
          <p:nvPr>
            <p:ph sz="quarter" idx="17"/>
          </p:nvPr>
        </p:nvSpPr>
        <p:spPr>
          <a:xfrm>
            <a:off x="1981201" y="4843864"/>
            <a:ext cx="1454727" cy="407843"/>
          </a:xfrm>
        </p:spPr>
        <p:txBody>
          <a:bodyPr/>
          <a:lstStyle/>
          <a:p>
            <a:pPr marL="432" indent="0">
              <a:buNone/>
            </a:pPr>
            <a:r>
              <a:rPr lang="en-US" altLang="en-US" dirty="0">
                <a:solidFill>
                  <a:schemeClr val="tx1"/>
                </a:solidFill>
              </a:rPr>
              <a:t>Variance:</a:t>
            </a:r>
            <a:endParaRPr lang="en-US" dirty="0">
              <a:solidFill>
                <a:schemeClr val="tx1"/>
              </a:solidFill>
            </a:endParaRPr>
          </a:p>
        </p:txBody>
      </p:sp>
      <p:graphicFrame>
        <p:nvGraphicFramePr>
          <p:cNvPr id="20" name="Object 19" descr="sigma squared equals n p q equals 30 times 0.56 times 0.44 approximately equals to 7.4">
            <a:extLst>
              <a:ext uri="{FF2B5EF4-FFF2-40B4-BE49-F238E27FC236}">
                <a16:creationId xmlns:a16="http://schemas.microsoft.com/office/drawing/2014/main" id="{D838C822-5D69-4542-9D1C-0DC0EDEDCC08}"/>
              </a:ext>
            </a:extLst>
          </p:cNvPr>
          <p:cNvGraphicFramePr>
            <a:graphicFrameLocks noChangeAspect="1"/>
          </p:cNvGraphicFramePr>
          <p:nvPr/>
        </p:nvGraphicFramePr>
        <p:xfrm>
          <a:off x="3508375" y="4807351"/>
          <a:ext cx="4198938" cy="430212"/>
        </p:xfrm>
        <a:graphic>
          <a:graphicData uri="http://schemas.openxmlformats.org/presentationml/2006/ole">
            <mc:AlternateContent xmlns:mc="http://schemas.openxmlformats.org/markup-compatibility/2006">
              <mc:Choice xmlns:v="urn:schemas-microsoft-com:vml" Requires="v">
                <p:oleObj spid="_x0000_s17411" name="Equation" r:id="rId5" imgW="4457520" imgH="457200" progId="Equation.DSMT4">
                  <p:embed/>
                </p:oleObj>
              </mc:Choice>
              <mc:Fallback>
                <p:oleObj name="Equation" r:id="rId5" imgW="4457520" imgH="457200" progId="Equation.DSMT4">
                  <p:embed/>
                  <p:pic>
                    <p:nvPicPr>
                      <p:cNvPr id="20" name="Object 19" descr="sigma squared equals n p q equals 30 times 0.56 times 0.44 approximately equals to 7.4">
                        <a:extLst>
                          <a:ext uri="{FF2B5EF4-FFF2-40B4-BE49-F238E27FC236}">
                            <a16:creationId xmlns:a16="http://schemas.microsoft.com/office/drawing/2014/main" id="{D838C822-5D69-4542-9D1C-0DC0EDEDCC08}"/>
                          </a:ext>
                        </a:extLst>
                      </p:cNvPr>
                      <p:cNvPicPr/>
                      <p:nvPr/>
                    </p:nvPicPr>
                    <p:blipFill>
                      <a:blip r:embed="rId6"/>
                      <a:stretch>
                        <a:fillRect/>
                      </a:stretch>
                    </p:blipFill>
                    <p:spPr>
                      <a:xfrm>
                        <a:off x="3508375" y="4807351"/>
                        <a:ext cx="4198938" cy="430212"/>
                      </a:xfrm>
                      <a:prstGeom prst="rect">
                        <a:avLst/>
                      </a:prstGeom>
                    </p:spPr>
                  </p:pic>
                </p:oleObj>
              </mc:Fallback>
            </mc:AlternateContent>
          </a:graphicData>
        </a:graphic>
      </p:graphicFrame>
      <p:sp>
        <p:nvSpPr>
          <p:cNvPr id="9" name="Content Placeholder 8"/>
          <p:cNvSpPr>
            <a:spLocks noGrp="1"/>
          </p:cNvSpPr>
          <p:nvPr>
            <p:ph sz="quarter" idx="18"/>
          </p:nvPr>
        </p:nvSpPr>
        <p:spPr>
          <a:xfrm>
            <a:off x="1981200" y="5485131"/>
            <a:ext cx="2820390" cy="419719"/>
          </a:xfrm>
        </p:spPr>
        <p:txBody>
          <a:bodyPr/>
          <a:lstStyle/>
          <a:p>
            <a:pPr eaLnBrk="1" hangingPunct="1">
              <a:spcBef>
                <a:spcPct val="0"/>
              </a:spcBef>
              <a:buClrTx/>
              <a:buFontTx/>
              <a:buNone/>
            </a:pPr>
            <a:r>
              <a:rPr lang="en-US" altLang="en-US" dirty="0">
                <a:solidFill>
                  <a:schemeClr val="tx1"/>
                </a:solidFill>
              </a:rPr>
              <a:t>Standard Deviation:</a:t>
            </a:r>
          </a:p>
        </p:txBody>
      </p:sp>
      <p:graphicFrame>
        <p:nvGraphicFramePr>
          <p:cNvPr id="21" name="Object 20" descr="sigma equals square root of n p q end root equals square root of 30 times 0.56 times 0.44 end root approximately equals to 2.7">
            <a:extLst>
              <a:ext uri="{FF2B5EF4-FFF2-40B4-BE49-F238E27FC236}">
                <a16:creationId xmlns:a16="http://schemas.microsoft.com/office/drawing/2014/main" id="{82D28089-DE07-46AB-9472-4C3C9BA1500C}"/>
              </a:ext>
            </a:extLst>
          </p:cNvPr>
          <p:cNvGraphicFramePr>
            <a:graphicFrameLocks noChangeAspect="1"/>
          </p:cNvGraphicFramePr>
          <p:nvPr/>
        </p:nvGraphicFramePr>
        <p:xfrm>
          <a:off x="4860926" y="5450288"/>
          <a:ext cx="4581525" cy="490538"/>
        </p:xfrm>
        <a:graphic>
          <a:graphicData uri="http://schemas.openxmlformats.org/presentationml/2006/ole">
            <mc:AlternateContent xmlns:mc="http://schemas.openxmlformats.org/markup-compatibility/2006">
              <mc:Choice xmlns:v="urn:schemas-microsoft-com:vml" Requires="v">
                <p:oleObj spid="_x0000_s17412" name="Equation" r:id="rId7" imgW="4863960" imgH="520560" progId="Equation.DSMT4">
                  <p:embed/>
                </p:oleObj>
              </mc:Choice>
              <mc:Fallback>
                <p:oleObj name="Equation" r:id="rId7" imgW="4863960" imgH="520560" progId="Equation.DSMT4">
                  <p:embed/>
                  <p:pic>
                    <p:nvPicPr>
                      <p:cNvPr id="21" name="Object 20" descr="sigma equals square root of n p q end root equals square root of 30 times 0.56 times 0.44 end root approximately equals to 2.7">
                        <a:extLst>
                          <a:ext uri="{FF2B5EF4-FFF2-40B4-BE49-F238E27FC236}">
                            <a16:creationId xmlns:a16="http://schemas.microsoft.com/office/drawing/2014/main" id="{82D28089-DE07-46AB-9472-4C3C9BA1500C}"/>
                          </a:ext>
                        </a:extLst>
                      </p:cNvPr>
                      <p:cNvPicPr/>
                      <p:nvPr/>
                    </p:nvPicPr>
                    <p:blipFill>
                      <a:blip r:embed="rId8"/>
                      <a:stretch>
                        <a:fillRect/>
                      </a:stretch>
                    </p:blipFill>
                    <p:spPr>
                      <a:xfrm>
                        <a:off x="4860926" y="5450288"/>
                        <a:ext cx="4581525" cy="490538"/>
                      </a:xfrm>
                      <a:prstGeom prst="rect">
                        <a:avLst/>
                      </a:prstGeom>
                    </p:spPr>
                  </p:pic>
                </p:oleObj>
              </mc:Fallback>
            </mc:AlternateContent>
          </a:graphicData>
        </a:graphic>
      </p:graphicFrame>
      <p:pic>
        <p:nvPicPr>
          <p:cNvPr id="18" name="Content Placeholder 17" descr="A cloudy sky."/>
          <p:cNvPicPr>
            <a:picLocks noGrp="1" noChangeAspect="1"/>
          </p:cNvPicPr>
          <p:nvPr>
            <p:ph sz="quarter" idx="14"/>
          </p:nvPr>
        </p:nvPicPr>
        <p:blipFill>
          <a:blip r:embed="rId9"/>
          <a:stretch>
            <a:fillRect/>
          </a:stretch>
        </p:blipFill>
        <p:spPr>
          <a:xfrm>
            <a:off x="8970504" y="3547459"/>
            <a:ext cx="1341236" cy="1024217"/>
          </a:xfrm>
          <a:prstGeom prst="rect">
            <a:avLst/>
          </a:prstGeom>
        </p:spPr>
      </p:pic>
    </p:spTree>
    <p:extLst>
      <p:ext uri="{BB962C8B-B14F-4D97-AF65-F5344CB8AC3E}">
        <p14:creationId xmlns:p14="http://schemas.microsoft.com/office/powerpoint/2010/main" val="2914961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 calcmode="lin" valueType="num">
                                      <p:cBhvr additive="base">
                                        <p:cTn id="11"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anim calcmode="lin" valueType="num">
                                      <p:cBhvr additive="base">
                                        <p:cTn id="15" dur="500" fill="hold"/>
                                        <p:tgtEl>
                                          <p:spTgt spid="19"/>
                                        </p:tgtEl>
                                        <p:attrNameLst>
                                          <p:attrName>ppt_x</p:attrName>
                                        </p:attrNameLst>
                                      </p:cBhvr>
                                      <p:tavLst>
                                        <p:tav tm="0">
                                          <p:val>
                                            <p:strVal val="#ppt_x"/>
                                          </p:val>
                                        </p:tav>
                                        <p:tav tm="100000">
                                          <p:val>
                                            <p:strVal val="#ppt_x"/>
                                          </p:val>
                                        </p:tav>
                                      </p:tavLst>
                                    </p:anim>
                                    <p:anim calcmode="lin" valueType="num">
                                      <p:cBhvr additive="base">
                                        <p:cTn id="16" dur="500" fill="hold"/>
                                        <p:tgtEl>
                                          <p:spTgt spid="19"/>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8">
                                            <p:txEl>
                                              <p:pRg st="0" end="0"/>
                                            </p:txEl>
                                          </p:spTgt>
                                        </p:tgtEl>
                                        <p:attrNameLst>
                                          <p:attrName>style.visibility</p:attrName>
                                        </p:attrNameLst>
                                      </p:cBhvr>
                                      <p:to>
                                        <p:strVal val="visible"/>
                                      </p:to>
                                    </p:set>
                                    <p:anim calcmode="lin" valueType="num">
                                      <p:cBhvr additive="base">
                                        <p:cTn id="19"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0" end="0"/>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anim calcmode="lin" valueType="num">
                                      <p:cBhvr additive="base">
                                        <p:cTn id="23" dur="500" fill="hold"/>
                                        <p:tgtEl>
                                          <p:spTgt spid="20"/>
                                        </p:tgtEl>
                                        <p:attrNameLst>
                                          <p:attrName>ppt_x</p:attrName>
                                        </p:attrNameLst>
                                      </p:cBhvr>
                                      <p:tavLst>
                                        <p:tav tm="0">
                                          <p:val>
                                            <p:strVal val="#ppt_x"/>
                                          </p:val>
                                        </p:tav>
                                        <p:tav tm="100000">
                                          <p:val>
                                            <p:strVal val="#ppt_x"/>
                                          </p:val>
                                        </p:tav>
                                      </p:tavLst>
                                    </p:anim>
                                    <p:anim calcmode="lin" valueType="num">
                                      <p:cBhvr additive="base">
                                        <p:cTn id="24" dur="500" fill="hold"/>
                                        <p:tgtEl>
                                          <p:spTgt spid="20"/>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9">
                                            <p:txEl>
                                              <p:pRg st="0" end="0"/>
                                            </p:txEl>
                                          </p:spTgt>
                                        </p:tgtEl>
                                        <p:attrNameLst>
                                          <p:attrName>style.visibility</p:attrName>
                                        </p:attrNameLst>
                                      </p:cBhvr>
                                      <p:to>
                                        <p:strVal val="visible"/>
                                      </p:to>
                                    </p:set>
                                    <p:anim calcmode="lin" valueType="num">
                                      <p:cBhvr additive="base">
                                        <p:cTn id="2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9">
                                            <p:txEl>
                                              <p:pRg st="0" end="0"/>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21"/>
                                        </p:tgtEl>
                                        <p:attrNameLst>
                                          <p:attrName>style.visibility</p:attrName>
                                        </p:attrNameLst>
                                      </p:cBhvr>
                                      <p:to>
                                        <p:strVal val="visible"/>
                                      </p:to>
                                    </p:set>
                                    <p:anim calcmode="lin" valueType="num">
                                      <p:cBhvr additive="base">
                                        <p:cTn id="31" dur="500" fill="hold"/>
                                        <p:tgtEl>
                                          <p:spTgt spid="21"/>
                                        </p:tgtEl>
                                        <p:attrNameLst>
                                          <p:attrName>ppt_x</p:attrName>
                                        </p:attrNameLst>
                                      </p:cBhvr>
                                      <p:tavLst>
                                        <p:tav tm="0">
                                          <p:val>
                                            <p:strVal val="#ppt_x"/>
                                          </p:val>
                                        </p:tav>
                                        <p:tav tm="100000">
                                          <p:val>
                                            <p:strVal val="#ppt_x"/>
                                          </p:val>
                                        </p:tav>
                                      </p:tavLst>
                                    </p:anim>
                                    <p:anim calcmode="lin" valueType="num">
                                      <p:cBhvr additive="base">
                                        <p:cTn id="32"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7" grpId="0" build="p"/>
      <p:bldP spid="8" grpId="0" build="p"/>
      <p:bldP spid="9"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Solution: Mean, Variance, and Standard Deviation</a:t>
            </a:r>
          </a:p>
        </p:txBody>
      </p:sp>
      <p:graphicFrame>
        <p:nvGraphicFramePr>
          <p:cNvPr id="4" name="Object 3" descr="mu equals 16.8">
            <a:extLst>
              <a:ext uri="{FF2B5EF4-FFF2-40B4-BE49-F238E27FC236}">
                <a16:creationId xmlns:a16="http://schemas.microsoft.com/office/drawing/2014/main" id="{B36C0ABE-939A-4F52-9529-AE9E91C944AD}"/>
              </a:ext>
            </a:extLst>
          </p:cNvPr>
          <p:cNvGraphicFramePr>
            <a:graphicFrameLocks noChangeAspect="1"/>
          </p:cNvGraphicFramePr>
          <p:nvPr/>
        </p:nvGraphicFramePr>
        <p:xfrm>
          <a:off x="1960563" y="1566988"/>
          <a:ext cx="1206500" cy="381000"/>
        </p:xfrm>
        <a:graphic>
          <a:graphicData uri="http://schemas.openxmlformats.org/presentationml/2006/ole">
            <mc:AlternateContent xmlns:mc="http://schemas.openxmlformats.org/markup-compatibility/2006">
              <mc:Choice xmlns:v="urn:schemas-microsoft-com:vml" Requires="v">
                <p:oleObj spid="_x0000_s18434" name="Equation" r:id="rId3" imgW="1206360" imgH="380880" progId="Equation.DSMT4">
                  <p:embed/>
                </p:oleObj>
              </mc:Choice>
              <mc:Fallback>
                <p:oleObj name="Equation" r:id="rId3" imgW="1206360" imgH="380880" progId="Equation.DSMT4">
                  <p:embed/>
                  <p:pic>
                    <p:nvPicPr>
                      <p:cNvPr id="4" name="Object 3" descr="mu equals 16.8">
                        <a:extLst>
                          <a:ext uri="{FF2B5EF4-FFF2-40B4-BE49-F238E27FC236}">
                            <a16:creationId xmlns:a16="http://schemas.microsoft.com/office/drawing/2014/main" id="{B36C0ABE-939A-4F52-9529-AE9E91C944AD}"/>
                          </a:ext>
                        </a:extLst>
                      </p:cNvPr>
                      <p:cNvPicPr/>
                      <p:nvPr/>
                    </p:nvPicPr>
                    <p:blipFill>
                      <a:blip r:embed="rId4"/>
                      <a:stretch>
                        <a:fillRect/>
                      </a:stretch>
                    </p:blipFill>
                    <p:spPr>
                      <a:xfrm>
                        <a:off x="1960563" y="1566988"/>
                        <a:ext cx="1206500" cy="381000"/>
                      </a:xfrm>
                      <a:prstGeom prst="rect">
                        <a:avLst/>
                      </a:prstGeom>
                    </p:spPr>
                  </p:pic>
                </p:oleObj>
              </mc:Fallback>
            </mc:AlternateContent>
          </a:graphicData>
        </a:graphic>
      </p:graphicFrame>
      <p:graphicFrame>
        <p:nvGraphicFramePr>
          <p:cNvPr id="5" name="Object 4" descr="sigma squared approximately equals to 7.4">
            <a:extLst>
              <a:ext uri="{FF2B5EF4-FFF2-40B4-BE49-F238E27FC236}">
                <a16:creationId xmlns:a16="http://schemas.microsoft.com/office/drawing/2014/main" id="{891564D3-65DE-429D-BBE5-543FD46ED86D}"/>
              </a:ext>
            </a:extLst>
          </p:cNvPr>
          <p:cNvGraphicFramePr>
            <a:graphicFrameLocks noChangeAspect="1"/>
          </p:cNvGraphicFramePr>
          <p:nvPr/>
        </p:nvGraphicFramePr>
        <p:xfrm>
          <a:off x="3395663" y="1509256"/>
          <a:ext cx="1219200" cy="381000"/>
        </p:xfrm>
        <a:graphic>
          <a:graphicData uri="http://schemas.openxmlformats.org/presentationml/2006/ole">
            <mc:AlternateContent xmlns:mc="http://schemas.openxmlformats.org/markup-compatibility/2006">
              <mc:Choice xmlns:v="urn:schemas-microsoft-com:vml" Requires="v">
                <p:oleObj spid="_x0000_s18435" name="Equation" r:id="rId5" imgW="1218960" imgH="380880" progId="Equation.DSMT4">
                  <p:embed/>
                </p:oleObj>
              </mc:Choice>
              <mc:Fallback>
                <p:oleObj name="Equation" r:id="rId5" imgW="1218960" imgH="380880" progId="Equation.DSMT4">
                  <p:embed/>
                  <p:pic>
                    <p:nvPicPr>
                      <p:cNvPr id="5" name="Object 4" descr="sigma squared approximately equals to 7.4">
                        <a:extLst>
                          <a:ext uri="{FF2B5EF4-FFF2-40B4-BE49-F238E27FC236}">
                            <a16:creationId xmlns:a16="http://schemas.microsoft.com/office/drawing/2014/main" id="{891564D3-65DE-429D-BBE5-543FD46ED86D}"/>
                          </a:ext>
                        </a:extLst>
                      </p:cNvPr>
                      <p:cNvPicPr/>
                      <p:nvPr/>
                    </p:nvPicPr>
                    <p:blipFill>
                      <a:blip r:embed="rId6"/>
                      <a:stretch>
                        <a:fillRect/>
                      </a:stretch>
                    </p:blipFill>
                    <p:spPr>
                      <a:xfrm>
                        <a:off x="3395663" y="1509256"/>
                        <a:ext cx="1219200" cy="381000"/>
                      </a:xfrm>
                      <a:prstGeom prst="rect">
                        <a:avLst/>
                      </a:prstGeom>
                    </p:spPr>
                  </p:pic>
                </p:oleObj>
              </mc:Fallback>
            </mc:AlternateContent>
          </a:graphicData>
        </a:graphic>
      </p:graphicFrame>
      <p:graphicFrame>
        <p:nvGraphicFramePr>
          <p:cNvPr id="6" name="Object 5" descr="sigma approximately equals to 2.7">
            <a:extLst>
              <a:ext uri="{FF2B5EF4-FFF2-40B4-BE49-F238E27FC236}">
                <a16:creationId xmlns:a16="http://schemas.microsoft.com/office/drawing/2014/main" id="{4F82147A-B21E-44B7-BD70-ABB0D07BDBB1}"/>
              </a:ext>
            </a:extLst>
          </p:cNvPr>
          <p:cNvGraphicFramePr>
            <a:graphicFrameLocks noChangeAspect="1"/>
          </p:cNvGraphicFramePr>
          <p:nvPr/>
        </p:nvGraphicFramePr>
        <p:xfrm>
          <a:off x="4856163" y="1576450"/>
          <a:ext cx="1079500" cy="317500"/>
        </p:xfrm>
        <a:graphic>
          <a:graphicData uri="http://schemas.openxmlformats.org/presentationml/2006/ole">
            <mc:AlternateContent xmlns:mc="http://schemas.openxmlformats.org/markup-compatibility/2006">
              <mc:Choice xmlns:v="urn:schemas-microsoft-com:vml" Requires="v">
                <p:oleObj spid="_x0000_s18436" name="Equation" r:id="rId7" imgW="1079280" imgH="317160" progId="Equation.DSMT4">
                  <p:embed/>
                </p:oleObj>
              </mc:Choice>
              <mc:Fallback>
                <p:oleObj name="Equation" r:id="rId7" imgW="1079280" imgH="317160" progId="Equation.DSMT4">
                  <p:embed/>
                  <p:pic>
                    <p:nvPicPr>
                      <p:cNvPr id="6" name="Object 5" descr="sigma approximately equals to 2.7">
                        <a:extLst>
                          <a:ext uri="{FF2B5EF4-FFF2-40B4-BE49-F238E27FC236}">
                            <a16:creationId xmlns:a16="http://schemas.microsoft.com/office/drawing/2014/main" id="{4F82147A-B21E-44B7-BD70-ABB0D07BDBB1}"/>
                          </a:ext>
                        </a:extLst>
                      </p:cNvPr>
                      <p:cNvPicPr/>
                      <p:nvPr/>
                    </p:nvPicPr>
                    <p:blipFill>
                      <a:blip r:embed="rId8"/>
                      <a:stretch>
                        <a:fillRect/>
                      </a:stretch>
                    </p:blipFill>
                    <p:spPr>
                      <a:xfrm>
                        <a:off x="4856163" y="1576450"/>
                        <a:ext cx="1079500" cy="317500"/>
                      </a:xfrm>
                      <a:prstGeom prst="rect">
                        <a:avLst/>
                      </a:prstGeom>
                    </p:spPr>
                  </p:pic>
                </p:oleObj>
              </mc:Fallback>
            </mc:AlternateContent>
          </a:graphicData>
        </a:graphic>
      </p:graphicFrame>
      <p:sp>
        <p:nvSpPr>
          <p:cNvPr id="7" name="Content Placeholder 6"/>
          <p:cNvSpPr>
            <a:spLocks noGrp="1"/>
          </p:cNvSpPr>
          <p:nvPr>
            <p:ph sz="quarter" idx="13"/>
          </p:nvPr>
        </p:nvSpPr>
        <p:spPr>
          <a:xfrm>
            <a:off x="1981201" y="2039450"/>
            <a:ext cx="6691745" cy="2247529"/>
          </a:xfrm>
        </p:spPr>
        <p:txBody>
          <a:bodyPr/>
          <a:lstStyle/>
          <a:p>
            <a:pPr eaLnBrk="1" hangingPunct="1">
              <a:spcBef>
                <a:spcPct val="0"/>
              </a:spcBef>
            </a:pPr>
            <a:r>
              <a:rPr lang="en-US" altLang="en-US" dirty="0"/>
              <a:t>On average, there are 16.8 cloudy days during the month of June.</a:t>
            </a:r>
          </a:p>
          <a:p>
            <a:pPr eaLnBrk="1" hangingPunct="1">
              <a:spcBef>
                <a:spcPct val="0"/>
              </a:spcBef>
            </a:pPr>
            <a:r>
              <a:rPr lang="en-US" altLang="en-US" dirty="0"/>
              <a:t>The standard deviation is about 2.7 days.</a:t>
            </a:r>
          </a:p>
          <a:p>
            <a:pPr eaLnBrk="1" hangingPunct="1">
              <a:spcBef>
                <a:spcPct val="0"/>
              </a:spcBef>
            </a:pPr>
            <a:r>
              <a:rPr lang="en-US" altLang="en-US" dirty="0"/>
              <a:t>Values that are more than two standard deviations from the mean are considered unusual.</a:t>
            </a:r>
          </a:p>
        </p:txBody>
      </p:sp>
      <p:pic>
        <p:nvPicPr>
          <p:cNvPr id="21" name="Content Placeholder 20" descr="A cloudy sky."/>
          <p:cNvPicPr>
            <a:picLocks noGrp="1" noChangeAspect="1"/>
          </p:cNvPicPr>
          <p:nvPr>
            <p:ph sz="quarter" idx="14"/>
          </p:nvPr>
        </p:nvPicPr>
        <p:blipFill>
          <a:blip r:embed="rId9"/>
          <a:stretch>
            <a:fillRect/>
          </a:stretch>
        </p:blipFill>
        <p:spPr>
          <a:xfrm>
            <a:off x="8962552" y="1545455"/>
            <a:ext cx="1341236" cy="1030313"/>
          </a:xfrm>
          <a:prstGeom prst="rect">
            <a:avLst/>
          </a:prstGeom>
        </p:spPr>
      </p:pic>
      <p:sp>
        <p:nvSpPr>
          <p:cNvPr id="9" name="Content Placeholder 8"/>
          <p:cNvSpPr>
            <a:spLocks noGrp="1"/>
          </p:cNvSpPr>
          <p:nvPr>
            <p:ph sz="quarter" idx="15"/>
          </p:nvPr>
        </p:nvSpPr>
        <p:spPr>
          <a:xfrm>
            <a:off x="1981201" y="4376676"/>
            <a:ext cx="801583" cy="397205"/>
          </a:xfrm>
        </p:spPr>
        <p:txBody>
          <a:bodyPr/>
          <a:lstStyle/>
          <a:p>
            <a:pPr marL="486918" lvl="1" indent="0"/>
            <a:r>
              <a:rPr lang="en-US" dirty="0"/>
              <a:t> </a:t>
            </a:r>
            <a:r>
              <a:rPr lang="en-US" sz="100" dirty="0"/>
              <a:t> </a:t>
            </a:r>
          </a:p>
        </p:txBody>
      </p:sp>
      <p:graphicFrame>
        <p:nvGraphicFramePr>
          <p:cNvPr id="22" name="Object 21" descr="16.8 minus 2 open parenthesis 2.7 close parenthesis equals 11.4">
            <a:extLst>
              <a:ext uri="{FF2B5EF4-FFF2-40B4-BE49-F238E27FC236}">
                <a16:creationId xmlns:a16="http://schemas.microsoft.com/office/drawing/2014/main" id="{9DB21F61-2A22-4EB7-9C3F-B1A5B1212774}"/>
              </a:ext>
            </a:extLst>
          </p:cNvPr>
          <p:cNvGraphicFramePr>
            <a:graphicFrameLocks noChangeAspect="1"/>
          </p:cNvGraphicFramePr>
          <p:nvPr/>
        </p:nvGraphicFramePr>
        <p:xfrm>
          <a:off x="2870014" y="4364038"/>
          <a:ext cx="2643187" cy="438150"/>
        </p:xfrm>
        <a:graphic>
          <a:graphicData uri="http://schemas.openxmlformats.org/presentationml/2006/ole">
            <mc:AlternateContent xmlns:mc="http://schemas.openxmlformats.org/markup-compatibility/2006">
              <mc:Choice xmlns:v="urn:schemas-microsoft-com:vml" Requires="v">
                <p:oleObj spid="_x0000_s18437" name="Equation" r:id="rId10" imgW="2908080" imgH="482400" progId="Equation.DSMT4">
                  <p:embed/>
                </p:oleObj>
              </mc:Choice>
              <mc:Fallback>
                <p:oleObj name="Equation" r:id="rId10" imgW="2908080" imgH="482400" progId="Equation.DSMT4">
                  <p:embed/>
                  <p:pic>
                    <p:nvPicPr>
                      <p:cNvPr id="22" name="Object 21" descr="16.8 minus 2 open parenthesis 2.7 close parenthesis equals 11.4">
                        <a:extLst>
                          <a:ext uri="{FF2B5EF4-FFF2-40B4-BE49-F238E27FC236}">
                            <a16:creationId xmlns:a16="http://schemas.microsoft.com/office/drawing/2014/main" id="{9DB21F61-2A22-4EB7-9C3F-B1A5B1212774}"/>
                          </a:ext>
                        </a:extLst>
                      </p:cNvPr>
                      <p:cNvPicPr/>
                      <p:nvPr/>
                    </p:nvPicPr>
                    <p:blipFill>
                      <a:blip r:embed="rId11"/>
                      <a:stretch>
                        <a:fillRect/>
                      </a:stretch>
                    </p:blipFill>
                    <p:spPr>
                      <a:xfrm>
                        <a:off x="2870014" y="4364038"/>
                        <a:ext cx="2643187" cy="438150"/>
                      </a:xfrm>
                      <a:prstGeom prst="rect">
                        <a:avLst/>
                      </a:prstGeom>
                    </p:spPr>
                  </p:pic>
                </p:oleObj>
              </mc:Fallback>
            </mc:AlternateContent>
          </a:graphicData>
        </a:graphic>
      </p:graphicFrame>
      <p:sp>
        <p:nvSpPr>
          <p:cNvPr id="10" name="Content Placeholder 9"/>
          <p:cNvSpPr>
            <a:spLocks noGrp="1"/>
          </p:cNvSpPr>
          <p:nvPr>
            <p:ph sz="quarter" idx="16"/>
          </p:nvPr>
        </p:nvSpPr>
        <p:spPr>
          <a:xfrm>
            <a:off x="5620989" y="4363751"/>
            <a:ext cx="4263241" cy="438727"/>
          </a:xfrm>
        </p:spPr>
        <p:txBody>
          <a:bodyPr/>
          <a:lstStyle/>
          <a:p>
            <a:pPr marL="0" lvl="1" indent="0">
              <a:buNone/>
            </a:pPr>
            <a:r>
              <a:rPr lang="en-US" altLang="en-US" dirty="0">
                <a:ea typeface="MS PGothic" panose="020B0600070205080204" pitchFamily="34" charset="-128"/>
              </a:rPr>
              <a:t>A June with 11 cloudy days or</a:t>
            </a:r>
            <a:endParaRPr lang="en-US" dirty="0"/>
          </a:p>
        </p:txBody>
      </p:sp>
      <p:sp>
        <p:nvSpPr>
          <p:cNvPr id="11" name="Content Placeholder 10"/>
          <p:cNvSpPr>
            <a:spLocks noGrp="1"/>
          </p:cNvSpPr>
          <p:nvPr>
            <p:ph sz="quarter" idx="17"/>
          </p:nvPr>
        </p:nvSpPr>
        <p:spPr>
          <a:xfrm>
            <a:off x="1981201" y="4863578"/>
            <a:ext cx="4011769" cy="409067"/>
          </a:xfrm>
        </p:spPr>
        <p:txBody>
          <a:bodyPr/>
          <a:lstStyle/>
          <a:p>
            <a:pPr marL="741600" lvl="1" indent="0">
              <a:buNone/>
            </a:pPr>
            <a:r>
              <a:rPr lang="en-US" altLang="en-US" dirty="0">
                <a:ea typeface="MS PGothic" panose="020B0600070205080204" pitchFamily="34" charset="-128"/>
              </a:rPr>
              <a:t>less would be unusual.</a:t>
            </a:r>
            <a:endParaRPr lang="en-US" dirty="0"/>
          </a:p>
        </p:txBody>
      </p:sp>
      <p:sp>
        <p:nvSpPr>
          <p:cNvPr id="12" name="Content Placeholder 11"/>
          <p:cNvSpPr>
            <a:spLocks noGrp="1"/>
          </p:cNvSpPr>
          <p:nvPr>
            <p:ph sz="quarter" idx="18"/>
          </p:nvPr>
        </p:nvSpPr>
        <p:spPr>
          <a:xfrm>
            <a:off x="1981201" y="5350481"/>
            <a:ext cx="801583" cy="432803"/>
          </a:xfrm>
        </p:spPr>
        <p:txBody>
          <a:bodyPr/>
          <a:lstStyle/>
          <a:p>
            <a:pPr marL="486918" lvl="1" indent="0"/>
            <a:r>
              <a:rPr lang="en-US" dirty="0"/>
              <a:t> </a:t>
            </a:r>
            <a:r>
              <a:rPr lang="en-US" sz="100" dirty="0"/>
              <a:t> </a:t>
            </a:r>
          </a:p>
        </p:txBody>
      </p:sp>
      <p:graphicFrame>
        <p:nvGraphicFramePr>
          <p:cNvPr id="23" name="Object 22" descr="16.8 plus 2 open parenthesis 2.7 close parenthesis equals 22.2;">
            <a:extLst>
              <a:ext uri="{FF2B5EF4-FFF2-40B4-BE49-F238E27FC236}">
                <a16:creationId xmlns:a16="http://schemas.microsoft.com/office/drawing/2014/main" id="{E7EBBD7E-C8E6-4EF6-8D2A-33164E2B99D9}"/>
              </a:ext>
            </a:extLst>
          </p:cNvPr>
          <p:cNvGraphicFramePr>
            <a:graphicFrameLocks noChangeAspect="1"/>
          </p:cNvGraphicFramePr>
          <p:nvPr/>
        </p:nvGraphicFramePr>
        <p:xfrm>
          <a:off x="2847025" y="5345114"/>
          <a:ext cx="2679700" cy="439737"/>
        </p:xfrm>
        <a:graphic>
          <a:graphicData uri="http://schemas.openxmlformats.org/presentationml/2006/ole">
            <mc:AlternateContent xmlns:mc="http://schemas.openxmlformats.org/markup-compatibility/2006">
              <mc:Choice xmlns:v="urn:schemas-microsoft-com:vml" Requires="v">
                <p:oleObj spid="_x0000_s18438" name="Equation" r:id="rId12" imgW="2946240" imgH="482400" progId="Equation.DSMT4">
                  <p:embed/>
                </p:oleObj>
              </mc:Choice>
              <mc:Fallback>
                <p:oleObj name="Equation" r:id="rId12" imgW="2946240" imgH="482400" progId="Equation.DSMT4">
                  <p:embed/>
                  <p:pic>
                    <p:nvPicPr>
                      <p:cNvPr id="23" name="Object 22" descr="16.8 plus 2 open parenthesis 2.7 close parenthesis equals 22.2;">
                        <a:extLst>
                          <a:ext uri="{FF2B5EF4-FFF2-40B4-BE49-F238E27FC236}">
                            <a16:creationId xmlns:a16="http://schemas.microsoft.com/office/drawing/2014/main" id="{E7EBBD7E-C8E6-4EF6-8D2A-33164E2B99D9}"/>
                          </a:ext>
                        </a:extLst>
                      </p:cNvPr>
                      <p:cNvPicPr/>
                      <p:nvPr/>
                    </p:nvPicPr>
                    <p:blipFill>
                      <a:blip r:embed="rId13"/>
                      <a:stretch>
                        <a:fillRect/>
                      </a:stretch>
                    </p:blipFill>
                    <p:spPr>
                      <a:xfrm>
                        <a:off x="2847025" y="5345114"/>
                        <a:ext cx="2679700" cy="439737"/>
                      </a:xfrm>
                      <a:prstGeom prst="rect">
                        <a:avLst/>
                      </a:prstGeom>
                    </p:spPr>
                  </p:pic>
                </p:oleObj>
              </mc:Fallback>
            </mc:AlternateContent>
          </a:graphicData>
        </a:graphic>
      </p:graphicFrame>
      <p:sp>
        <p:nvSpPr>
          <p:cNvPr id="13" name="Content Placeholder 12"/>
          <p:cNvSpPr>
            <a:spLocks noGrp="1"/>
          </p:cNvSpPr>
          <p:nvPr>
            <p:ph sz="quarter" idx="19"/>
          </p:nvPr>
        </p:nvSpPr>
        <p:spPr>
          <a:xfrm>
            <a:off x="5704114" y="5345114"/>
            <a:ext cx="4215741" cy="439737"/>
          </a:xfrm>
        </p:spPr>
        <p:txBody>
          <a:bodyPr/>
          <a:lstStyle/>
          <a:p>
            <a:pPr marL="0" lvl="1" indent="0">
              <a:buNone/>
            </a:pPr>
            <a:r>
              <a:rPr lang="en-US" altLang="en-US" dirty="0">
                <a:ea typeface="MS PGothic" panose="020B0600070205080204" pitchFamily="34" charset="-128"/>
              </a:rPr>
              <a:t>A June with 23 cloudy days or</a:t>
            </a:r>
            <a:endParaRPr lang="en-US" dirty="0"/>
          </a:p>
        </p:txBody>
      </p:sp>
      <p:sp>
        <p:nvSpPr>
          <p:cNvPr id="25" name="Content Placeholder 24"/>
          <p:cNvSpPr>
            <a:spLocks noGrp="1"/>
          </p:cNvSpPr>
          <p:nvPr>
            <p:ph sz="quarter" idx="19"/>
          </p:nvPr>
        </p:nvSpPr>
        <p:spPr>
          <a:xfrm>
            <a:off x="1981201" y="5857319"/>
            <a:ext cx="4910447" cy="402194"/>
          </a:xfrm>
        </p:spPr>
        <p:txBody>
          <a:bodyPr/>
          <a:lstStyle/>
          <a:p>
            <a:pPr marL="741600" lvl="1" indent="0">
              <a:spcBef>
                <a:spcPct val="0"/>
              </a:spcBef>
              <a:buNone/>
            </a:pPr>
            <a:r>
              <a:rPr lang="en-US" altLang="en-US" dirty="0">
                <a:ea typeface="MS PGothic" panose="020B0600070205080204" pitchFamily="34" charset="-128"/>
              </a:rPr>
              <a:t>more would also be unusual.</a:t>
            </a:r>
          </a:p>
        </p:txBody>
      </p:sp>
    </p:spTree>
    <p:extLst>
      <p:ext uri="{BB962C8B-B14F-4D97-AF65-F5344CB8AC3E}">
        <p14:creationId xmlns:p14="http://schemas.microsoft.com/office/powerpoint/2010/main" val="27671828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2553</Words>
  <Application>Microsoft Office PowerPoint</Application>
  <PresentationFormat>Widescreen</PresentationFormat>
  <Paragraphs>189</Paragraphs>
  <Slides>35</Slides>
  <Notes>4</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35</vt:i4>
      </vt:variant>
    </vt:vector>
  </HeadingPairs>
  <TitlesOfParts>
    <vt:vector size="44" baseType="lpstr">
      <vt:lpstr>MS PGothic</vt:lpstr>
      <vt:lpstr>Arial</vt:lpstr>
      <vt:lpstr>Calibri</vt:lpstr>
      <vt:lpstr>Calibri Light</vt:lpstr>
      <vt:lpstr>Noto Sans Symbols</vt:lpstr>
      <vt:lpstr>Symbol</vt:lpstr>
      <vt:lpstr>Times New Roman</vt:lpstr>
      <vt:lpstr>Office Theme</vt:lpstr>
      <vt:lpstr>Equation</vt:lpstr>
      <vt:lpstr>Inferential statistics</vt:lpstr>
      <vt:lpstr>Section 2. Binomial Distributions</vt:lpstr>
      <vt:lpstr>Section 2. Objectives</vt:lpstr>
      <vt:lpstr>Binomial Experiments</vt:lpstr>
      <vt:lpstr>Notation for Binomial Experiments</vt:lpstr>
      <vt:lpstr>Possible Applications for the Binomial Distribution</vt:lpstr>
      <vt:lpstr>Example: Identifying and Understanding Binomial Experiments (1 of 2)</vt:lpstr>
      <vt:lpstr>Solution: Identifying and Understanding Binomial Experiments (1 of 3)</vt:lpstr>
      <vt:lpstr>Solution: Identifying and Understanding Binomial Experiments (2 of 3)</vt:lpstr>
      <vt:lpstr>Example: Identifying and Understanding Binomial Experiments (2 of 2)</vt:lpstr>
      <vt:lpstr>Solution: Identifying and Understanding Binomial Experiments (3 of 3)</vt:lpstr>
      <vt:lpstr>Binomial Probability Formula</vt:lpstr>
      <vt:lpstr>Example: Finding a Binomial Probability</vt:lpstr>
      <vt:lpstr>Solution: Finding a Binomial Probability (1 of 2)</vt:lpstr>
      <vt:lpstr>Solution: Finding a Binomial Probability (2 of 2)</vt:lpstr>
      <vt:lpstr>Example: Constructing a Binomial Distribution</vt:lpstr>
      <vt:lpstr>Solution: Constructing a Binomial Distribution (1 of 2)</vt:lpstr>
      <vt:lpstr>Solution: Constructing a Binomial Distribution (2 of 2)</vt:lpstr>
      <vt:lpstr>Example: Finding a Binomial Probabilities Using Technology</vt:lpstr>
      <vt:lpstr>Solution: Finding a Binomial Probabilities Using Technology (1 of 2)</vt:lpstr>
      <vt:lpstr>Solution: Finding a Binomial Probabilities Using Technology (2 of 2)</vt:lpstr>
      <vt:lpstr>Example: Finding Binomial Probabilities Using Formulas</vt:lpstr>
      <vt:lpstr>Solution: Finding Binomial Probabilities Using Formulas (1 of 4)</vt:lpstr>
      <vt:lpstr>Solution: Finding Binomial Probabilities Using Formulas (2 of 4)</vt:lpstr>
      <vt:lpstr>Solution: Finding Binomial Probabilities Using Formulas (3 of 4)</vt:lpstr>
      <vt:lpstr>Solution: Finding Binomial Probabilities Using Formulas (4 of 4)</vt:lpstr>
      <vt:lpstr>Example: Finding a Binomial Probability Using a Table</vt:lpstr>
      <vt:lpstr>Solution: Finding Binomial Probabilities Using a Table (1 of 2)</vt:lpstr>
      <vt:lpstr>Solution: Finding Binomial Probabilities Using a Table (2 of 2)</vt:lpstr>
      <vt:lpstr>Example: Graphing a Binomial Distribution</vt:lpstr>
      <vt:lpstr>Solution: Graphing a Binomial Distribution (1 of 2)</vt:lpstr>
      <vt:lpstr>Solution: Graphing a Binomial Distribution (2 of 2)</vt:lpstr>
      <vt:lpstr>Mean, Variance, and Standard Deviation</vt:lpstr>
      <vt:lpstr>Example: Mean, Variance, and Standard Deviation</vt:lpstr>
      <vt:lpstr>Solution: Mean, Variance, and Standard Deviation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Inferential statistics</dc:title>
  <dc:creator>Siham Rahoui</dc:creator>
  <cp:lastModifiedBy>Siham Rahoui</cp:lastModifiedBy>
  <cp:revision>1</cp:revision>
  <dcterms:created xsi:type="dcterms:W3CDTF">2024-02-07T12:14:36Z</dcterms:created>
  <dcterms:modified xsi:type="dcterms:W3CDTF">2024-02-07T12:15:01Z</dcterms:modified>
</cp:coreProperties>
</file>