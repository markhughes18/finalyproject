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44"/>
  </p:notesMasterIdLst>
  <p:handoutMasterIdLst>
    <p:handoutMasterId r:id="rId45"/>
  </p:handoutMasterIdLst>
  <p:sldIdLst>
    <p:sldId id="257" r:id="rId3"/>
    <p:sldId id="418" r:id="rId4"/>
    <p:sldId id="306" r:id="rId5"/>
    <p:sldId id="307" r:id="rId6"/>
    <p:sldId id="308" r:id="rId7"/>
    <p:sldId id="309" r:id="rId8"/>
    <p:sldId id="310" r:id="rId9"/>
    <p:sldId id="311" r:id="rId10"/>
    <p:sldId id="312" r:id="rId11"/>
    <p:sldId id="313" r:id="rId12"/>
    <p:sldId id="314" r:id="rId13"/>
    <p:sldId id="315" r:id="rId14"/>
    <p:sldId id="316" r:id="rId15"/>
    <p:sldId id="318" r:id="rId16"/>
    <p:sldId id="319" r:id="rId17"/>
    <p:sldId id="320" r:id="rId18"/>
    <p:sldId id="341" r:id="rId19"/>
    <p:sldId id="342" r:id="rId20"/>
    <p:sldId id="343" r:id="rId21"/>
    <p:sldId id="344" r:id="rId22"/>
    <p:sldId id="321" r:id="rId23"/>
    <p:sldId id="322" r:id="rId24"/>
    <p:sldId id="323" r:id="rId25"/>
    <p:sldId id="324" r:id="rId26"/>
    <p:sldId id="325" r:id="rId27"/>
    <p:sldId id="326" r:id="rId28"/>
    <p:sldId id="328" r:id="rId29"/>
    <p:sldId id="329" r:id="rId30"/>
    <p:sldId id="330" r:id="rId31"/>
    <p:sldId id="331" r:id="rId32"/>
    <p:sldId id="332" r:id="rId33"/>
    <p:sldId id="345" r:id="rId34"/>
    <p:sldId id="346" r:id="rId35"/>
    <p:sldId id="333" r:id="rId36"/>
    <p:sldId id="334" r:id="rId37"/>
    <p:sldId id="335" r:id="rId38"/>
    <p:sldId id="336" r:id="rId39"/>
    <p:sldId id="337" r:id="rId40"/>
    <p:sldId id="338" r:id="rId41"/>
    <p:sldId id="339" r:id="rId42"/>
    <p:sldId id="305" r:id="rId4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Elcano, Tierra Ross" initials="ETR" lastIdx="2" clrIdx="7"/>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laser" initials="laser" lastIdx="2"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616"/>
    <a:srgbClr val="010F09"/>
    <a:srgbClr val="46CD93"/>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EABD6-F63C-4E64-80D8-6B7837A5C953}" v="3" dt="2024-10-17T09:46:06.245"/>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89133" autoAdjust="0"/>
  </p:normalViewPr>
  <p:slideViewPr>
    <p:cSldViewPr snapToGrid="0" snapToObjects="1">
      <p:cViewPr varScale="1">
        <p:scale>
          <a:sx n="71" d="100"/>
          <a:sy n="71" d="100"/>
        </p:scale>
        <p:origin x="1138" y="62"/>
      </p:cViewPr>
      <p:guideLst>
        <p:guide orient="horz" pos="2160"/>
        <p:guide pos="2880"/>
      </p:guideLst>
    </p:cSldViewPr>
  </p:slideViewPr>
  <p:outlineViewPr>
    <p:cViewPr>
      <p:scale>
        <a:sx n="33" d="100"/>
        <a:sy n="33" d="100"/>
      </p:scale>
      <p:origin x="0" y="-1972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ham Rahoui" userId="12f6e3ec-d62c-484d-abcf-636c0b4f5525" providerId="ADAL" clId="{7F3EABD6-F63C-4E64-80D8-6B7837A5C953}"/>
    <pc:docChg chg="custSel addSld delSld modSld">
      <pc:chgData name="Siham Rahoui" userId="12f6e3ec-d62c-484d-abcf-636c0b4f5525" providerId="ADAL" clId="{7F3EABD6-F63C-4E64-80D8-6B7837A5C953}" dt="2024-10-17T09:46:28.437" v="355" actId="1076"/>
      <pc:docMkLst>
        <pc:docMk/>
      </pc:docMkLst>
      <pc:sldChg chg="delSp modSp add mod setBg delDesignElem modNotes">
        <pc:chgData name="Siham Rahoui" userId="12f6e3ec-d62c-484d-abcf-636c0b4f5525" providerId="ADAL" clId="{7F3EABD6-F63C-4E64-80D8-6B7837A5C953}" dt="2024-10-17T09:46:28.437" v="355" actId="1076"/>
        <pc:sldMkLst>
          <pc:docMk/>
          <pc:sldMk cId="2293288057" sldId="257"/>
        </pc:sldMkLst>
        <pc:spChg chg="del">
          <ac:chgData name="Siham Rahoui" userId="12f6e3ec-d62c-484d-abcf-636c0b4f5525" providerId="ADAL" clId="{7F3EABD6-F63C-4E64-80D8-6B7837A5C953}" dt="2024-10-17T09:46:19.383" v="353" actId="478"/>
          <ac:spMkLst>
            <pc:docMk/>
            <pc:sldMk cId="2293288057" sldId="257"/>
            <ac:spMk id="12" creationId="{E56ABF34-C8D9-BBD7-9B74-7436E724C3AF}"/>
          </ac:spMkLst>
        </pc:spChg>
        <pc:spChg chg="del">
          <ac:chgData name="Siham Rahoui" userId="12f6e3ec-d62c-484d-abcf-636c0b4f5525" providerId="ADAL" clId="{7F3EABD6-F63C-4E64-80D8-6B7837A5C953}" dt="2024-10-17T09:46:06.245" v="351"/>
          <ac:spMkLst>
            <pc:docMk/>
            <pc:sldMk cId="2293288057" sldId="257"/>
            <ac:spMk id="17" creationId="{E91DC736-0EF8-4F87-9146-EBF1D2EE4D3D}"/>
          </ac:spMkLst>
        </pc:spChg>
        <pc:spChg chg="del">
          <ac:chgData name="Siham Rahoui" userId="12f6e3ec-d62c-484d-abcf-636c0b4f5525" providerId="ADAL" clId="{7F3EABD6-F63C-4E64-80D8-6B7837A5C953}" dt="2024-10-17T09:46:06.245" v="351"/>
          <ac:spMkLst>
            <pc:docMk/>
            <pc:sldMk cId="2293288057" sldId="257"/>
            <ac:spMk id="19" creationId="{097CD68E-23E3-4007-8847-CD0944C4F7BE}"/>
          </ac:spMkLst>
        </pc:spChg>
        <pc:spChg chg="del">
          <ac:chgData name="Siham Rahoui" userId="12f6e3ec-d62c-484d-abcf-636c0b4f5525" providerId="ADAL" clId="{7F3EABD6-F63C-4E64-80D8-6B7837A5C953}" dt="2024-10-17T09:46:06.245" v="351"/>
          <ac:spMkLst>
            <pc:docMk/>
            <pc:sldMk cId="2293288057" sldId="257"/>
            <ac:spMk id="21" creationId="{AF2F604E-43BE-4DC3-B983-E071523364F8}"/>
          </ac:spMkLst>
        </pc:spChg>
        <pc:spChg chg="del">
          <ac:chgData name="Siham Rahoui" userId="12f6e3ec-d62c-484d-abcf-636c0b4f5525" providerId="ADAL" clId="{7F3EABD6-F63C-4E64-80D8-6B7837A5C953}" dt="2024-10-17T09:46:06.245" v="351"/>
          <ac:spMkLst>
            <pc:docMk/>
            <pc:sldMk cId="2293288057" sldId="257"/>
            <ac:spMk id="23" creationId="{08C9B587-E65E-4B52-B37C-ABEBB6E87928}"/>
          </ac:spMkLst>
        </pc:spChg>
        <pc:picChg chg="mod">
          <ac:chgData name="Siham Rahoui" userId="12f6e3ec-d62c-484d-abcf-636c0b4f5525" providerId="ADAL" clId="{7F3EABD6-F63C-4E64-80D8-6B7837A5C953}" dt="2024-10-17T09:46:28.437" v="355" actId="1076"/>
          <ac:picMkLst>
            <pc:docMk/>
            <pc:sldMk cId="2293288057" sldId="257"/>
            <ac:picMk id="11" creationId="{C4CD72C5-67EE-7689-98BA-8A3CD116452D}"/>
          </ac:picMkLst>
        </pc:picChg>
      </pc:sldChg>
      <pc:sldChg chg="modSp mod">
        <pc:chgData name="Siham Rahoui" userId="12f6e3ec-d62c-484d-abcf-636c0b4f5525" providerId="ADAL" clId="{7F3EABD6-F63C-4E64-80D8-6B7837A5C953}" dt="2024-10-09T21:26:09.611" v="19" actId="1076"/>
        <pc:sldMkLst>
          <pc:docMk/>
          <pc:sldMk cId="1981064093" sldId="310"/>
        </pc:sldMkLst>
        <pc:spChg chg="mod">
          <ac:chgData name="Siham Rahoui" userId="12f6e3ec-d62c-484d-abcf-636c0b4f5525" providerId="ADAL" clId="{7F3EABD6-F63C-4E64-80D8-6B7837A5C953}" dt="2024-10-09T21:26:09.611" v="19" actId="1076"/>
          <ac:spMkLst>
            <pc:docMk/>
            <pc:sldMk cId="1981064093" sldId="310"/>
            <ac:spMk id="3" creationId="{00000000-0000-0000-0000-000000000000}"/>
          </ac:spMkLst>
        </pc:spChg>
      </pc:sldChg>
      <pc:sldChg chg="modSp mod">
        <pc:chgData name="Siham Rahoui" userId="12f6e3ec-d62c-484d-abcf-636c0b4f5525" providerId="ADAL" clId="{7F3EABD6-F63C-4E64-80D8-6B7837A5C953}" dt="2024-10-17T09:18:23.825" v="42" actId="20577"/>
        <pc:sldMkLst>
          <pc:docMk/>
          <pc:sldMk cId="1663305526" sldId="321"/>
        </pc:sldMkLst>
        <pc:spChg chg="mod">
          <ac:chgData name="Siham Rahoui" userId="12f6e3ec-d62c-484d-abcf-636c0b4f5525" providerId="ADAL" clId="{7F3EABD6-F63C-4E64-80D8-6B7837A5C953}" dt="2024-10-17T09:18:23.825" v="42" actId="20577"/>
          <ac:spMkLst>
            <pc:docMk/>
            <pc:sldMk cId="1663305526" sldId="321"/>
            <ac:spMk id="13" creationId="{00000000-0000-0000-0000-000000000000}"/>
          </ac:spMkLst>
        </pc:spChg>
        <pc:picChg chg="mod">
          <ac:chgData name="Siham Rahoui" userId="12f6e3ec-d62c-484d-abcf-636c0b4f5525" providerId="ADAL" clId="{7F3EABD6-F63C-4E64-80D8-6B7837A5C953}" dt="2024-10-16T15:51:36.250" v="38" actId="1036"/>
          <ac:picMkLst>
            <pc:docMk/>
            <pc:sldMk cId="1663305526" sldId="321"/>
            <ac:picMk id="15" creationId="{00000000-0000-0000-0000-000000000000}"/>
          </ac:picMkLst>
        </pc:picChg>
      </pc:sldChg>
      <pc:sldChg chg="modSp mod">
        <pc:chgData name="Siham Rahoui" userId="12f6e3ec-d62c-484d-abcf-636c0b4f5525" providerId="ADAL" clId="{7F3EABD6-F63C-4E64-80D8-6B7837A5C953}" dt="2024-10-17T09:44:25.242" v="346" actId="2711"/>
        <pc:sldMkLst>
          <pc:docMk/>
          <pc:sldMk cId="3401880681" sldId="332"/>
        </pc:sldMkLst>
        <pc:spChg chg="mod">
          <ac:chgData name="Siham Rahoui" userId="12f6e3ec-d62c-484d-abcf-636c0b4f5525" providerId="ADAL" clId="{7F3EABD6-F63C-4E64-80D8-6B7837A5C953}" dt="2024-10-17T09:43:24.080" v="316" actId="20577"/>
          <ac:spMkLst>
            <pc:docMk/>
            <pc:sldMk cId="3401880681" sldId="332"/>
            <ac:spMk id="2" creationId="{00000000-0000-0000-0000-000000000000}"/>
          </ac:spMkLst>
        </pc:spChg>
        <pc:spChg chg="mod">
          <ac:chgData name="Siham Rahoui" userId="12f6e3ec-d62c-484d-abcf-636c0b4f5525" providerId="ADAL" clId="{7F3EABD6-F63C-4E64-80D8-6B7837A5C953}" dt="2024-10-17T09:44:25.242" v="346" actId="2711"/>
          <ac:spMkLst>
            <pc:docMk/>
            <pc:sldMk cId="3401880681" sldId="332"/>
            <ac:spMk id="3" creationId="{00000000-0000-0000-0000-000000000000}"/>
          </ac:spMkLst>
        </pc:spChg>
      </pc:sldChg>
      <pc:sldChg chg="modSp del mod">
        <pc:chgData name="Siham Rahoui" userId="12f6e3ec-d62c-484d-abcf-636c0b4f5525" providerId="ADAL" clId="{7F3EABD6-F63C-4E64-80D8-6B7837A5C953}" dt="2024-10-17T09:46:03.433" v="349" actId="47"/>
        <pc:sldMkLst>
          <pc:docMk/>
          <pc:sldMk cId="2255137505" sldId="340"/>
        </pc:sldMkLst>
        <pc:spChg chg="mod">
          <ac:chgData name="Siham Rahoui" userId="12f6e3ec-d62c-484d-abcf-636c0b4f5525" providerId="ADAL" clId="{7F3EABD6-F63C-4E64-80D8-6B7837A5C953}" dt="2024-10-16T15:51:04.962" v="35" actId="20577"/>
          <ac:spMkLst>
            <pc:docMk/>
            <pc:sldMk cId="2255137505" sldId="340"/>
            <ac:spMk id="2" creationId="{00000000-0000-0000-0000-000000000000}"/>
          </ac:spMkLst>
        </pc:spChg>
      </pc:sldChg>
      <pc:sldChg chg="addSp modSp new mod">
        <pc:chgData name="Siham Rahoui" userId="12f6e3ec-d62c-484d-abcf-636c0b4f5525" providerId="ADAL" clId="{7F3EABD6-F63C-4E64-80D8-6B7837A5C953}" dt="2024-10-17T09:23:17.904" v="112" actId="20577"/>
        <pc:sldMkLst>
          <pc:docMk/>
          <pc:sldMk cId="1276249138" sldId="341"/>
        </pc:sldMkLst>
        <pc:spChg chg="mod">
          <ac:chgData name="Siham Rahoui" userId="12f6e3ec-d62c-484d-abcf-636c0b4f5525" providerId="ADAL" clId="{7F3EABD6-F63C-4E64-80D8-6B7837A5C953}" dt="2024-10-17T09:22:43.996" v="75" actId="20577"/>
          <ac:spMkLst>
            <pc:docMk/>
            <pc:sldMk cId="1276249138" sldId="341"/>
            <ac:spMk id="2" creationId="{5F6B1DA6-F445-15AA-0242-3C730D614C48}"/>
          </ac:spMkLst>
        </pc:spChg>
        <pc:spChg chg="add mod">
          <ac:chgData name="Siham Rahoui" userId="12f6e3ec-d62c-484d-abcf-636c0b4f5525" providerId="ADAL" clId="{7F3EABD6-F63C-4E64-80D8-6B7837A5C953}" dt="2024-10-17T09:23:17.904" v="112" actId="20577"/>
          <ac:spMkLst>
            <pc:docMk/>
            <pc:sldMk cId="1276249138" sldId="341"/>
            <ac:spMk id="5" creationId="{E0DD291C-F447-F224-F25D-0202BFA856ED}"/>
          </ac:spMkLst>
        </pc:spChg>
      </pc:sldChg>
      <pc:sldChg chg="addSp delSp modSp new mod modClrScheme chgLayout">
        <pc:chgData name="Siham Rahoui" userId="12f6e3ec-d62c-484d-abcf-636c0b4f5525" providerId="ADAL" clId="{7F3EABD6-F63C-4E64-80D8-6B7837A5C953}" dt="2024-10-17T09:26:33.304" v="184" actId="20577"/>
        <pc:sldMkLst>
          <pc:docMk/>
          <pc:sldMk cId="784538997" sldId="342"/>
        </pc:sldMkLst>
        <pc:spChg chg="mod ord">
          <ac:chgData name="Siham Rahoui" userId="12f6e3ec-d62c-484d-abcf-636c0b4f5525" providerId="ADAL" clId="{7F3EABD6-F63C-4E64-80D8-6B7837A5C953}" dt="2024-10-17T09:23:53.798" v="133" actId="700"/>
          <ac:spMkLst>
            <pc:docMk/>
            <pc:sldMk cId="784538997" sldId="342"/>
            <ac:spMk id="2" creationId="{FECF5F02-17EE-9446-2A7D-95A4297A2A04}"/>
          </ac:spMkLst>
        </pc:spChg>
        <pc:spChg chg="del mod ord">
          <ac:chgData name="Siham Rahoui" userId="12f6e3ec-d62c-484d-abcf-636c0b4f5525" providerId="ADAL" clId="{7F3EABD6-F63C-4E64-80D8-6B7837A5C953}" dt="2024-10-17T09:23:53.798" v="133" actId="700"/>
          <ac:spMkLst>
            <pc:docMk/>
            <pc:sldMk cId="784538997" sldId="342"/>
            <ac:spMk id="3" creationId="{CC103723-1C5C-37E6-2414-A0969476E9A4}"/>
          </ac:spMkLst>
        </pc:spChg>
        <pc:spChg chg="add mod ord">
          <ac:chgData name="Siham Rahoui" userId="12f6e3ec-d62c-484d-abcf-636c0b4f5525" providerId="ADAL" clId="{7F3EABD6-F63C-4E64-80D8-6B7837A5C953}" dt="2024-10-17T09:26:33.304" v="184" actId="20577"/>
          <ac:spMkLst>
            <pc:docMk/>
            <pc:sldMk cId="784538997" sldId="342"/>
            <ac:spMk id="4" creationId="{BFD5ADB2-66B2-7E6A-C269-A6DECBD2B234}"/>
          </ac:spMkLst>
        </pc:spChg>
      </pc:sldChg>
      <pc:sldChg chg="modSp new mod">
        <pc:chgData name="Siham Rahoui" userId="12f6e3ec-d62c-484d-abcf-636c0b4f5525" providerId="ADAL" clId="{7F3EABD6-F63C-4E64-80D8-6B7837A5C953}" dt="2024-10-17T09:25:27.756" v="181" actId="20577"/>
        <pc:sldMkLst>
          <pc:docMk/>
          <pc:sldMk cId="146009234" sldId="343"/>
        </pc:sldMkLst>
        <pc:spChg chg="mod">
          <ac:chgData name="Siham Rahoui" userId="12f6e3ec-d62c-484d-abcf-636c0b4f5525" providerId="ADAL" clId="{7F3EABD6-F63C-4E64-80D8-6B7837A5C953}" dt="2024-10-17T09:25:27.756" v="181" actId="20577"/>
          <ac:spMkLst>
            <pc:docMk/>
            <pc:sldMk cId="146009234" sldId="343"/>
            <ac:spMk id="2" creationId="{9698F7D3-E872-8882-51F1-EF24E2BBC796}"/>
          </ac:spMkLst>
        </pc:spChg>
        <pc:spChg chg="mod">
          <ac:chgData name="Siham Rahoui" userId="12f6e3ec-d62c-484d-abcf-636c0b4f5525" providerId="ADAL" clId="{7F3EABD6-F63C-4E64-80D8-6B7837A5C953}" dt="2024-10-17T09:25:19.419" v="165" actId="113"/>
          <ac:spMkLst>
            <pc:docMk/>
            <pc:sldMk cId="146009234" sldId="343"/>
            <ac:spMk id="3" creationId="{69FDB346-7955-6237-A5D8-7FB1B40BFC13}"/>
          </ac:spMkLst>
        </pc:spChg>
      </pc:sldChg>
      <pc:sldChg chg="addSp delSp modSp new mod">
        <pc:chgData name="Siham Rahoui" userId="12f6e3ec-d62c-484d-abcf-636c0b4f5525" providerId="ADAL" clId="{7F3EABD6-F63C-4E64-80D8-6B7837A5C953}" dt="2024-10-17T09:27:37.940" v="214" actId="14100"/>
        <pc:sldMkLst>
          <pc:docMk/>
          <pc:sldMk cId="1763921837" sldId="344"/>
        </pc:sldMkLst>
        <pc:spChg chg="mod">
          <ac:chgData name="Siham Rahoui" userId="12f6e3ec-d62c-484d-abcf-636c0b4f5525" providerId="ADAL" clId="{7F3EABD6-F63C-4E64-80D8-6B7837A5C953}" dt="2024-10-17T09:27:29.646" v="211" actId="20577"/>
          <ac:spMkLst>
            <pc:docMk/>
            <pc:sldMk cId="1763921837" sldId="344"/>
            <ac:spMk id="2" creationId="{4A8D6FFA-D278-1E8F-661E-1D6D0C01DDDD}"/>
          </ac:spMkLst>
        </pc:spChg>
        <pc:spChg chg="del">
          <ac:chgData name="Siham Rahoui" userId="12f6e3ec-d62c-484d-abcf-636c0b4f5525" providerId="ADAL" clId="{7F3EABD6-F63C-4E64-80D8-6B7837A5C953}" dt="2024-10-17T09:27:13.122" v="186" actId="22"/>
          <ac:spMkLst>
            <pc:docMk/>
            <pc:sldMk cId="1763921837" sldId="344"/>
            <ac:spMk id="3" creationId="{40066539-6811-E192-6F19-C55A819D91FA}"/>
          </ac:spMkLst>
        </pc:spChg>
        <pc:picChg chg="add mod ord">
          <ac:chgData name="Siham Rahoui" userId="12f6e3ec-d62c-484d-abcf-636c0b4f5525" providerId="ADAL" clId="{7F3EABD6-F63C-4E64-80D8-6B7837A5C953}" dt="2024-10-17T09:27:37.940" v="214" actId="14100"/>
          <ac:picMkLst>
            <pc:docMk/>
            <pc:sldMk cId="1763921837" sldId="344"/>
            <ac:picMk id="5" creationId="{D132469B-6B88-0727-82AA-4D189B621542}"/>
          </ac:picMkLst>
        </pc:picChg>
      </pc:sldChg>
      <pc:sldChg chg="modSp new mod">
        <pc:chgData name="Siham Rahoui" userId="12f6e3ec-d62c-484d-abcf-636c0b4f5525" providerId="ADAL" clId="{7F3EABD6-F63C-4E64-80D8-6B7837A5C953}" dt="2024-10-17T09:44:12.072" v="345" actId="114"/>
        <pc:sldMkLst>
          <pc:docMk/>
          <pc:sldMk cId="2520222389" sldId="345"/>
        </pc:sldMkLst>
        <pc:spChg chg="mod">
          <ac:chgData name="Siham Rahoui" userId="12f6e3ec-d62c-484d-abcf-636c0b4f5525" providerId="ADAL" clId="{7F3EABD6-F63C-4E64-80D8-6B7837A5C953}" dt="2024-10-17T09:43:37.267" v="338" actId="20577"/>
          <ac:spMkLst>
            <pc:docMk/>
            <pc:sldMk cId="2520222389" sldId="345"/>
            <ac:spMk id="2" creationId="{8BB557FE-18C2-2516-2A5F-EF54BE8D8784}"/>
          </ac:spMkLst>
        </pc:spChg>
        <pc:spChg chg="mod">
          <ac:chgData name="Siham Rahoui" userId="12f6e3ec-d62c-484d-abcf-636c0b4f5525" providerId="ADAL" clId="{7F3EABD6-F63C-4E64-80D8-6B7837A5C953}" dt="2024-10-17T09:44:12.072" v="345" actId="114"/>
          <ac:spMkLst>
            <pc:docMk/>
            <pc:sldMk cId="2520222389" sldId="345"/>
            <ac:spMk id="3" creationId="{ABE4D14D-C342-A67E-7274-66744B011E75}"/>
          </ac:spMkLst>
        </pc:spChg>
      </pc:sldChg>
      <pc:sldChg chg="addSp delSp modSp new mod">
        <pc:chgData name="Siham Rahoui" userId="12f6e3ec-d62c-484d-abcf-636c0b4f5525" providerId="ADAL" clId="{7F3EABD6-F63C-4E64-80D8-6B7837A5C953}" dt="2024-10-17T09:44:43.275" v="347"/>
        <pc:sldMkLst>
          <pc:docMk/>
          <pc:sldMk cId="1000278578" sldId="346"/>
        </pc:sldMkLst>
        <pc:spChg chg="del">
          <ac:chgData name="Siham Rahoui" userId="12f6e3ec-d62c-484d-abcf-636c0b4f5525" providerId="ADAL" clId="{7F3EABD6-F63C-4E64-80D8-6B7837A5C953}" dt="2024-10-17T09:44:43.275" v="347"/>
          <ac:spMkLst>
            <pc:docMk/>
            <pc:sldMk cId="1000278578" sldId="346"/>
            <ac:spMk id="2" creationId="{B88D4724-93C3-90BD-7CDC-AB08C06B3C6B}"/>
          </ac:spMkLst>
        </pc:spChg>
        <pc:spChg chg="mod">
          <ac:chgData name="Siham Rahoui" userId="12f6e3ec-d62c-484d-abcf-636c0b4f5525" providerId="ADAL" clId="{7F3EABD6-F63C-4E64-80D8-6B7837A5C953}" dt="2024-10-17T09:41:38.510" v="265" actId="20577"/>
          <ac:spMkLst>
            <pc:docMk/>
            <pc:sldMk cId="1000278578" sldId="346"/>
            <ac:spMk id="3" creationId="{A1F30477-56EE-0D5F-83F2-C18CF3677706}"/>
          </ac:spMkLst>
        </pc:spChg>
        <pc:spChg chg="add mod">
          <ac:chgData name="Siham Rahoui" userId="12f6e3ec-d62c-484d-abcf-636c0b4f5525" providerId="ADAL" clId="{7F3EABD6-F63C-4E64-80D8-6B7837A5C953}" dt="2024-10-17T09:44:43.275" v="347"/>
          <ac:spMkLst>
            <pc:docMk/>
            <pc:sldMk cId="1000278578" sldId="346"/>
            <ac:spMk id="4" creationId="{7E69C648-D406-266F-E348-8BBAB65019AF}"/>
          </ac:spMkLst>
        </pc:spChg>
      </pc:sldChg>
      <pc:sldChg chg="add">
        <pc:chgData name="Siham Rahoui" userId="12f6e3ec-d62c-484d-abcf-636c0b4f5525" providerId="ADAL" clId="{7F3EABD6-F63C-4E64-80D8-6B7837A5C953}" dt="2024-10-17T09:45:53.579" v="348"/>
        <pc:sldMkLst>
          <pc:docMk/>
          <pc:sldMk cId="3410150303" sldId="41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10/16/2024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7288" y="630238"/>
            <a:ext cx="2835275" cy="2125662"/>
          </a:xfrm>
        </p:spPr>
      </p:sp>
      <p:sp>
        <p:nvSpPr>
          <p:cNvPr id="3" name="Notes Placeholder 2"/>
          <p:cNvSpPr>
            <a:spLocks noGrp="1"/>
          </p:cNvSpPr>
          <p:nvPr>
            <p:ph type="body" idx="1"/>
          </p:nvPr>
        </p:nvSpPr>
        <p:spPr/>
        <p:txBody>
          <a:bodyPr/>
          <a:lstStyle/>
          <a:p>
            <a:pPr>
              <a:spcBef>
                <a:spcPct val="0"/>
              </a:spcBef>
            </a:pPr>
            <a:r>
              <a:rPr lang="en-US" altLang="en-US" b="1" dirty="0"/>
              <a:t>Key Learnings </a:t>
            </a:r>
            <a:r>
              <a:rPr lang="en-US" altLang="en-US" i="1" dirty="0"/>
              <a:t>(Purpose of this slide)</a:t>
            </a:r>
          </a:p>
          <a:p>
            <a:r>
              <a:rPr lang="en-US" dirty="0"/>
              <a:t>To introduce the deck.</a:t>
            </a:r>
          </a:p>
          <a:p>
            <a:endParaRPr lang="en-US" altLang="en-US" dirty="0"/>
          </a:p>
          <a:p>
            <a:pPr>
              <a:spcBef>
                <a:spcPct val="0"/>
              </a:spcBef>
            </a:pPr>
            <a:r>
              <a:rPr lang="en-US" altLang="en-US" b="1" dirty="0"/>
              <a:t>Presenter Notes</a:t>
            </a:r>
          </a:p>
          <a:p>
            <a:pPr marL="0" indent="0">
              <a:buFont typeface="+mj-lt"/>
              <a:buNone/>
            </a:pPr>
            <a:endParaRPr lang="en-US" dirty="0"/>
          </a:p>
          <a:p>
            <a:endParaRPr lang="en-US" altLang="en-US" b="1" dirty="0"/>
          </a:p>
          <a:p>
            <a:pPr defTabSz="931774" fontAlgn="base">
              <a:spcBef>
                <a:spcPct val="0"/>
              </a:spcBef>
              <a:spcAft>
                <a:spcPct val="0"/>
              </a:spcAft>
              <a:defRPr/>
            </a:pPr>
            <a:r>
              <a:rPr lang="en-US" altLang="en-US" b="1" dirty="0"/>
              <a:t>References</a:t>
            </a:r>
            <a:endParaRPr lang="en-US" altLang="en-US" dirty="0"/>
          </a:p>
          <a:p>
            <a:pPr defTabSz="931774" fontAlgn="base">
              <a:spcBef>
                <a:spcPct val="0"/>
              </a:spcBef>
              <a:spcAft>
                <a:spcPct val="0"/>
              </a:spcAft>
              <a:defRPr/>
            </a:pPr>
            <a:r>
              <a:rPr lang="en-US" altLang="en-US" dirty="0"/>
              <a:t>n/a</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pPr>
              <a:spcBef>
                <a:spcPct val="0"/>
              </a:spcBef>
            </a:pPr>
            <a:r>
              <a:rPr lang="en-US" altLang="en-US" b="1" dirty="0"/>
              <a:t>Key Learnings </a:t>
            </a:r>
            <a:r>
              <a:rPr lang="en-US" altLang="en-US" i="1" dirty="0"/>
              <a:t>(Purpose of this slide)</a:t>
            </a:r>
          </a:p>
          <a:p>
            <a:r>
              <a:rPr lang="en-US" dirty="0"/>
              <a:t>To engage participants in the content of this chapter.</a:t>
            </a:r>
          </a:p>
          <a:p>
            <a:endParaRPr lang="en-US" altLang="en-US" dirty="0"/>
          </a:p>
          <a:p>
            <a:pPr>
              <a:spcBef>
                <a:spcPct val="0"/>
              </a:spcBef>
            </a:pPr>
            <a:r>
              <a:rPr lang="en-US" altLang="en-US" b="1" dirty="0"/>
              <a:t>Presenter Notes</a:t>
            </a:r>
          </a:p>
          <a:p>
            <a:pPr marL="0" indent="0">
              <a:buFont typeface="+mj-lt"/>
              <a:buNone/>
            </a:pPr>
            <a:endParaRPr lang="en-US" dirty="0"/>
          </a:p>
          <a:p>
            <a:endParaRPr lang="en-US" altLang="en-US" b="1" dirty="0"/>
          </a:p>
          <a:p>
            <a:pPr defTabSz="931774" fontAlgn="base">
              <a:spcBef>
                <a:spcPct val="0"/>
              </a:spcBef>
              <a:spcAft>
                <a:spcPct val="0"/>
              </a:spcAft>
              <a:defRPr/>
            </a:pPr>
            <a:r>
              <a:rPr lang="en-US" altLang="en-US" b="1" dirty="0"/>
              <a:t>References</a:t>
            </a:r>
            <a:endParaRPr lang="en-US" altLang="en-US" dirty="0"/>
          </a:p>
          <a:p>
            <a:pPr defTabSz="931774" fontAlgn="base">
              <a:spcBef>
                <a:spcPct val="0"/>
              </a:spcBef>
              <a:spcAft>
                <a:spcPct val="0"/>
              </a:spcAft>
              <a:defRPr/>
            </a:pPr>
            <a:r>
              <a:rPr lang="en-US" dirty="0"/>
              <a:t>Arpan Bhatia/Shutterstock.com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1CAE60C-72A0-D14D-8733-C13212F694AD}" type="slidenum">
              <a:rPr kumimoji="0" lang="en-US" sz="1000" b="0" i="0" u="none" strike="noStrike" kern="1200" cap="none" spc="0" normalizeH="0" baseline="0" noProof="0" smtClean="0">
                <a:ln>
                  <a:noFill/>
                </a:ln>
                <a:solidFill>
                  <a:prstClr val="white">
                    <a:lumMod val="50000"/>
                  </a:prstClr>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066313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dirty="0">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10/16/2024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92143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Content and image caption">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57633" y="473246"/>
            <a:ext cx="8431436" cy="710096"/>
          </a:xfrm>
        </p:spPr>
        <p:txBody>
          <a:bodyPr/>
          <a:lstStyle>
            <a:lvl1pPr>
              <a:defRPr/>
            </a:lvl1pPr>
          </a:lstStyle>
          <a:p>
            <a:r>
              <a:rPr lang="en-US" dirty="0"/>
              <a:t>Slide Title</a:t>
            </a:r>
          </a:p>
        </p:txBody>
      </p:sp>
      <p:sp>
        <p:nvSpPr>
          <p:cNvPr id="3" name="Content Placeholder"/>
          <p:cNvSpPr>
            <a:spLocks noGrp="1"/>
          </p:cNvSpPr>
          <p:nvPr>
            <p:ph idx="1" hasCustomPrompt="1"/>
          </p:nvPr>
        </p:nvSpPr>
        <p:spPr>
          <a:xfrm>
            <a:off x="357633" y="1280161"/>
            <a:ext cx="8431436" cy="1775012"/>
          </a:xfrm>
        </p:spPr>
        <p:txBody>
          <a:bodyPr/>
          <a:lstStyle>
            <a:lvl1pPr marL="267891" indent="-267891">
              <a:lnSpc>
                <a:spcPct val="100000"/>
              </a:lnSpc>
              <a:spcBef>
                <a:spcPts val="468"/>
              </a:spcBef>
              <a:spcAft>
                <a:spcPts val="0"/>
              </a:spcAft>
              <a:defRPr sz="1800"/>
            </a:lvl1pPr>
            <a:lvl2pPr marL="603647" indent="-260747">
              <a:lnSpc>
                <a:spcPct val="100000"/>
              </a:lnSpc>
              <a:spcBef>
                <a:spcPts val="468"/>
              </a:spcBef>
              <a:spcAft>
                <a:spcPts val="0"/>
              </a:spcAft>
              <a:defRPr sz="1650" b="0"/>
            </a:lvl2pPr>
            <a:lvl3pPr marL="939404" indent="-253604">
              <a:lnSpc>
                <a:spcPct val="100000"/>
              </a:lnSpc>
              <a:spcBef>
                <a:spcPts val="468"/>
              </a:spcBef>
              <a:spcAft>
                <a:spcPts val="0"/>
              </a:spcAft>
              <a:defRPr sz="1500" b="0"/>
            </a:lvl3pPr>
            <a:lvl4pPr marL="1028700" marR="0" indent="0" algn="l" defTabSz="685800" rtl="0" eaLnBrk="1" fontAlgn="auto" latinLnBrk="0" hangingPunct="1">
              <a:lnSpc>
                <a:spcPct val="100000"/>
              </a:lnSpc>
              <a:spcBef>
                <a:spcPts val="468"/>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4">
            <a:extLst>
              <a:ext uri="{FF2B5EF4-FFF2-40B4-BE49-F238E27FC236}">
                <a16:creationId xmlns:a16="http://schemas.microsoft.com/office/drawing/2014/main" id="{1AC100CB-6DA0-4C44-8AA9-EF1047C778AB}"/>
              </a:ext>
            </a:extLst>
          </p:cNvPr>
          <p:cNvSpPr>
            <a:spLocks noGrp="1"/>
          </p:cNvSpPr>
          <p:nvPr>
            <p:ph sz="quarter" idx="10"/>
          </p:nvPr>
        </p:nvSpPr>
        <p:spPr>
          <a:xfrm>
            <a:off x="357188" y="3184525"/>
            <a:ext cx="3394472"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Content Placeholder 6">
            <a:extLst>
              <a:ext uri="{FF2B5EF4-FFF2-40B4-BE49-F238E27FC236}">
                <a16:creationId xmlns:a16="http://schemas.microsoft.com/office/drawing/2014/main" id="{1F7CD4DC-2798-4D91-B8F0-39A1E2678118}"/>
              </a:ext>
            </a:extLst>
          </p:cNvPr>
          <p:cNvSpPr>
            <a:spLocks noGrp="1"/>
          </p:cNvSpPr>
          <p:nvPr>
            <p:ph sz="quarter" idx="11"/>
          </p:nvPr>
        </p:nvSpPr>
        <p:spPr>
          <a:xfrm>
            <a:off x="357188" y="3925889"/>
            <a:ext cx="3394472" cy="61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Picture Placeholder 8">
            <a:extLst>
              <a:ext uri="{FF2B5EF4-FFF2-40B4-BE49-F238E27FC236}">
                <a16:creationId xmlns:a16="http://schemas.microsoft.com/office/drawing/2014/main" id="{CECB35C0-7E7B-4B64-AB45-C70040E7FA29}"/>
              </a:ext>
            </a:extLst>
          </p:cNvPr>
          <p:cNvSpPr>
            <a:spLocks noGrp="1"/>
          </p:cNvSpPr>
          <p:nvPr>
            <p:ph type="pic" sz="quarter" idx="12"/>
          </p:nvPr>
        </p:nvSpPr>
        <p:spPr>
          <a:xfrm>
            <a:off x="4308873" y="3313113"/>
            <a:ext cx="1863328" cy="1054100"/>
          </a:xfrm>
        </p:spPr>
        <p:txBody>
          <a:bodyPr/>
          <a:lstStyle/>
          <a:p>
            <a:endParaRPr lang="en-IN"/>
          </a:p>
        </p:txBody>
      </p:sp>
      <p:sp>
        <p:nvSpPr>
          <p:cNvPr id="11" name="Table Placeholder 10">
            <a:extLst>
              <a:ext uri="{FF2B5EF4-FFF2-40B4-BE49-F238E27FC236}">
                <a16:creationId xmlns:a16="http://schemas.microsoft.com/office/drawing/2014/main" id="{2B7EAAD5-547E-45DC-AFA3-8EB40988EED3}"/>
              </a:ext>
            </a:extLst>
          </p:cNvPr>
          <p:cNvSpPr>
            <a:spLocks noGrp="1"/>
          </p:cNvSpPr>
          <p:nvPr>
            <p:ph type="tbl" sz="quarter" idx="13"/>
          </p:nvPr>
        </p:nvSpPr>
        <p:spPr>
          <a:xfrm>
            <a:off x="6567488" y="3313114"/>
            <a:ext cx="1799035" cy="903287"/>
          </a:xfrm>
        </p:spPr>
        <p:txBody>
          <a:bodyPr/>
          <a:lstStyle/>
          <a:p>
            <a:endParaRPr lang="en-IN"/>
          </a:p>
        </p:txBody>
      </p:sp>
      <p:sp>
        <p:nvSpPr>
          <p:cNvPr id="13" name="Picture Placeholder 12">
            <a:extLst>
              <a:ext uri="{FF2B5EF4-FFF2-40B4-BE49-F238E27FC236}">
                <a16:creationId xmlns:a16="http://schemas.microsoft.com/office/drawing/2014/main" id="{A7F819D0-A76F-44C0-AE24-4C6C01B1D4A3}"/>
              </a:ext>
            </a:extLst>
          </p:cNvPr>
          <p:cNvSpPr>
            <a:spLocks noGrp="1"/>
          </p:cNvSpPr>
          <p:nvPr>
            <p:ph type="pic" sz="quarter" idx="14"/>
          </p:nvPr>
        </p:nvSpPr>
        <p:spPr>
          <a:xfrm>
            <a:off x="4461273" y="4538663"/>
            <a:ext cx="1525190" cy="754062"/>
          </a:xfrm>
        </p:spPr>
        <p:txBody>
          <a:bodyPr/>
          <a:lstStyle/>
          <a:p>
            <a:endParaRPr lang="en-IN"/>
          </a:p>
        </p:txBody>
      </p:sp>
      <p:sp>
        <p:nvSpPr>
          <p:cNvPr id="6" name="Content Placeholder 5">
            <a:extLst>
              <a:ext uri="{FF2B5EF4-FFF2-40B4-BE49-F238E27FC236}">
                <a16:creationId xmlns:a16="http://schemas.microsoft.com/office/drawing/2014/main" id="{77F058B2-AA00-4DCC-A738-987720C61850}"/>
              </a:ext>
            </a:extLst>
          </p:cNvPr>
          <p:cNvSpPr>
            <a:spLocks noGrp="1"/>
          </p:cNvSpPr>
          <p:nvPr>
            <p:ph sz="quarter" idx="15"/>
          </p:nvPr>
        </p:nvSpPr>
        <p:spPr>
          <a:xfrm>
            <a:off x="7523560" y="5292725"/>
            <a:ext cx="1315640" cy="350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Content Placeholder 9">
            <a:extLst>
              <a:ext uri="{FF2B5EF4-FFF2-40B4-BE49-F238E27FC236}">
                <a16:creationId xmlns:a16="http://schemas.microsoft.com/office/drawing/2014/main" id="{DD9E3010-6945-4801-84CD-C1291C9A1014}"/>
              </a:ext>
            </a:extLst>
          </p:cNvPr>
          <p:cNvSpPr>
            <a:spLocks noGrp="1"/>
          </p:cNvSpPr>
          <p:nvPr>
            <p:ph sz="quarter" idx="16"/>
          </p:nvPr>
        </p:nvSpPr>
        <p:spPr>
          <a:xfrm>
            <a:off x="7523560" y="5846764"/>
            <a:ext cx="1315640" cy="350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4293737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61626-B8F5-75A2-F714-2F4F27F9976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43A659DF-72A0-B69B-5349-573CD32AEFA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E2E0134A-1502-746A-1D2D-ECD4824219A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F1F219B-C805-968C-034C-3354A41C1E32}"/>
              </a:ext>
            </a:extLst>
          </p:cNvPr>
          <p:cNvSpPr>
            <a:spLocks noGrp="1"/>
          </p:cNvSpPr>
          <p:nvPr>
            <p:ph type="dt" sz="half" idx="10"/>
          </p:nvPr>
        </p:nvSpPr>
        <p:spPr/>
        <p:txBody>
          <a:bodyPr/>
          <a:lstStyle/>
          <a:p>
            <a:fld id="{F30E2DB5-78D4-485F-AE48-14B8F55A26B5}" type="datetimeFigureOut">
              <a:rPr lang="en-IE" smtClean="0"/>
              <a:t>17/10/2024</a:t>
            </a:fld>
            <a:endParaRPr lang="en-IE"/>
          </a:p>
        </p:txBody>
      </p:sp>
      <p:sp>
        <p:nvSpPr>
          <p:cNvPr id="6" name="Footer Placeholder 5">
            <a:extLst>
              <a:ext uri="{FF2B5EF4-FFF2-40B4-BE49-F238E27FC236}">
                <a16:creationId xmlns:a16="http://schemas.microsoft.com/office/drawing/2014/main" id="{A98B59DD-8B83-DC41-E29A-B47FFBB6582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71856EFB-C3CD-3F17-5BEC-FA285708C81E}"/>
              </a:ext>
            </a:extLst>
          </p:cNvPr>
          <p:cNvSpPr>
            <a:spLocks noGrp="1"/>
          </p:cNvSpPr>
          <p:nvPr>
            <p:ph type="sldNum" sz="quarter" idx="12"/>
          </p:nvPr>
        </p:nvSpPr>
        <p:spPr/>
        <p:txBody>
          <a:bodyPr/>
          <a:lstStyle/>
          <a:p>
            <a:fld id="{0902FEE9-C555-4DF6-BD2E-82BF2FCC0608}" type="slidenum">
              <a:rPr lang="en-IE" smtClean="0"/>
              <a:t>‹#›</a:t>
            </a:fld>
            <a:endParaRPr lang="en-IE"/>
          </a:p>
        </p:txBody>
      </p:sp>
    </p:spTree>
    <p:extLst>
      <p:ext uri="{BB962C8B-B14F-4D97-AF65-F5344CB8AC3E}">
        <p14:creationId xmlns:p14="http://schemas.microsoft.com/office/powerpoint/2010/main" val="3973310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802194" y="6474315"/>
            <a:ext cx="6018669" cy="171990"/>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2016, 2013 Pearson Education, Inc.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70" r:id="rId3"/>
    <p:sldLayoutId id="2147483649"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5">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71" r:id="rId2"/>
    <p:sldLayoutId id="214748367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5" Type="http://schemas.openxmlformats.org/officeDocument/2006/relationships/hyperlink" Target="https://ecampusontario.pressbooks.pub/hrstrategicprojectmanagement/part/chapter-5-project-life-cycle-scope-charters-proposals/"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close-up of hands holding up a sign&#10;&#10;Description automatically generated">
            <a:extLst>
              <a:ext uri="{FF2B5EF4-FFF2-40B4-BE49-F238E27FC236}">
                <a16:creationId xmlns:a16="http://schemas.microsoft.com/office/drawing/2014/main" id="{C4CD72C5-67EE-7689-98BA-8A3CD116452D}"/>
              </a:ext>
            </a:extLst>
          </p:cNvPr>
          <p:cNvPicPr>
            <a:picLocks noGrp="1" noChangeAspect="1"/>
          </p:cNvPicPr>
          <p:nvPr>
            <p:ph idx="1"/>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7697" r="9797" b="1395"/>
          <a:stretch/>
        </p:blipFill>
        <p:spPr>
          <a:xfrm>
            <a:off x="3055753" y="0"/>
            <a:ext cx="6028014" cy="4768992"/>
          </a:xfrm>
          <a:prstGeom prst="rect">
            <a:avLst/>
          </a:prstGeom>
          <a:noFill/>
        </p:spPr>
      </p:pic>
      <p:sp>
        <p:nvSpPr>
          <p:cNvPr id="8" name="Title 7">
            <a:extLst>
              <a:ext uri="{FF2B5EF4-FFF2-40B4-BE49-F238E27FC236}">
                <a16:creationId xmlns:a16="http://schemas.microsoft.com/office/drawing/2014/main" id="{CF5FCE66-4DFC-4C59-A36E-7A4DE8D188A2}"/>
              </a:ext>
            </a:extLst>
          </p:cNvPr>
          <p:cNvSpPr>
            <a:spLocks noGrp="1"/>
          </p:cNvSpPr>
          <p:nvPr>
            <p:ph type="title"/>
          </p:nvPr>
        </p:nvSpPr>
        <p:spPr>
          <a:xfrm>
            <a:off x="358486" y="1699022"/>
            <a:ext cx="3017520" cy="2403101"/>
          </a:xfrm>
        </p:spPr>
        <p:txBody>
          <a:bodyPr vert="horz" lIns="68580" tIns="34290" rIns="68580" bIns="34290" rtlCol="0" anchor="b" anchorCtr="0">
            <a:normAutofit/>
          </a:bodyPr>
          <a:lstStyle/>
          <a:p>
            <a:r>
              <a:rPr lang="en-US" sz="3600"/>
              <a:t>Lecture 3</a:t>
            </a:r>
          </a:p>
        </p:txBody>
      </p:sp>
      <p:sp>
        <p:nvSpPr>
          <p:cNvPr id="9" name="Subtitle 8">
            <a:extLst>
              <a:ext uri="{FF2B5EF4-FFF2-40B4-BE49-F238E27FC236}">
                <a16:creationId xmlns:a16="http://schemas.microsoft.com/office/drawing/2014/main" id="{750BCB8A-256D-4B8C-A91A-98C6C9437858}"/>
              </a:ext>
            </a:extLst>
          </p:cNvPr>
          <p:cNvSpPr>
            <a:spLocks noGrp="1"/>
          </p:cNvSpPr>
          <p:nvPr>
            <p:ph type="body" sz="half" idx="2"/>
          </p:nvPr>
        </p:nvSpPr>
        <p:spPr>
          <a:xfrm>
            <a:off x="358485" y="4511942"/>
            <a:ext cx="3364430" cy="895102"/>
          </a:xfrm>
        </p:spPr>
        <p:txBody>
          <a:bodyPr vert="horz" lIns="68580" tIns="34290" rIns="68580" bIns="34290" rtlCol="0" anchor="t" anchorCtr="0">
            <a:noAutofit/>
          </a:bodyPr>
          <a:lstStyle/>
          <a:p>
            <a:r>
              <a:rPr lang="en-US" sz="2400" dirty="0"/>
              <a:t>Chartering Projects &amp; scope</a:t>
            </a:r>
          </a:p>
        </p:txBody>
      </p:sp>
    </p:spTree>
    <p:custDataLst>
      <p:tags r:id="rId1"/>
    </p:custDataLst>
    <p:extLst>
      <p:ext uri="{BB962C8B-B14F-4D97-AF65-F5344CB8AC3E}">
        <p14:creationId xmlns:p14="http://schemas.microsoft.com/office/powerpoint/2010/main" val="229328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FE5A9-BE4D-46F8-A74F-EAE787FEAA9C}"/>
              </a:ext>
            </a:extLst>
          </p:cNvPr>
          <p:cNvSpPr>
            <a:spLocks noGrp="1"/>
          </p:cNvSpPr>
          <p:nvPr>
            <p:ph type="title"/>
          </p:nvPr>
        </p:nvSpPr>
        <p:spPr/>
        <p:txBody>
          <a:bodyPr/>
          <a:lstStyle/>
          <a:p>
            <a:r>
              <a:rPr lang="en-IN" dirty="0"/>
              <a:t>Question for you!</a:t>
            </a:r>
          </a:p>
        </p:txBody>
      </p:sp>
      <p:sp>
        <p:nvSpPr>
          <p:cNvPr id="4" name="Content Placeholder 3">
            <a:extLst>
              <a:ext uri="{FF2B5EF4-FFF2-40B4-BE49-F238E27FC236}">
                <a16:creationId xmlns:a16="http://schemas.microsoft.com/office/drawing/2014/main" id="{76AC0917-E327-CD65-BB3E-DB43820516FF}"/>
              </a:ext>
            </a:extLst>
          </p:cNvPr>
          <p:cNvSpPr>
            <a:spLocks noGrp="1"/>
          </p:cNvSpPr>
          <p:nvPr>
            <p:ph idx="1"/>
          </p:nvPr>
        </p:nvSpPr>
        <p:spPr>
          <a:xfrm>
            <a:off x="357632" y="2846072"/>
            <a:ext cx="4073691" cy="1158826"/>
          </a:xfrm>
        </p:spPr>
        <p:txBody>
          <a:bodyPr/>
          <a:lstStyle/>
          <a:p>
            <a:pPr marL="0" indent="0">
              <a:buNone/>
            </a:pPr>
            <a:r>
              <a:rPr lang="en-US" dirty="0">
                <a:latin typeface="+mj-lt"/>
              </a:rPr>
              <a:t>What are two things you learned from Project Selection and Prioritization?</a:t>
            </a:r>
          </a:p>
        </p:txBody>
      </p:sp>
      <p:pic>
        <p:nvPicPr>
          <p:cNvPr id="13" name="Picture Placeholder 12" descr="A close-up of a woman's hand piecing a jigsaw puzzle, while another hand gives out a puzzle piece. Unused puzzle pieces are scattered across the table.">
            <a:extLst>
              <a:ext uri="{FF2B5EF4-FFF2-40B4-BE49-F238E27FC236}">
                <a16:creationId xmlns:a16="http://schemas.microsoft.com/office/drawing/2014/main" id="{9C8FB415-3C0B-D4CF-1B2B-73D322C1236F}"/>
              </a:ext>
            </a:extLst>
          </p:cNvPr>
          <p:cNvPicPr>
            <a:picLocks noGrp="1" noChangeAspect="1"/>
          </p:cNvPicPr>
          <p:nvPr>
            <p:ph type="pic" sz="quarter" idx="12"/>
          </p:nvPr>
        </p:nvPicPr>
        <p:blipFill>
          <a:blip r:embed="rId3"/>
          <a:stretch/>
        </p:blipFill>
        <p:spPr>
          <a:xfrm>
            <a:off x="4479837" y="2123678"/>
            <a:ext cx="4455000" cy="28364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10150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Learning Objectives </a:t>
            </a:r>
            <a:r>
              <a:rPr lang="en-US" sz="2000" b="0" dirty="0">
                <a:solidFill>
                  <a:schemeClr val="tx2"/>
                </a:solidFill>
              </a:rPr>
              <a:t>(1 of 2)</a:t>
            </a:r>
          </a:p>
        </p:txBody>
      </p:sp>
      <p:sp>
        <p:nvSpPr>
          <p:cNvPr id="3" name="Content Placeholder 2"/>
          <p:cNvSpPr>
            <a:spLocks noGrp="1"/>
          </p:cNvSpPr>
          <p:nvPr>
            <p:ph idx="1"/>
          </p:nvPr>
        </p:nvSpPr>
        <p:spPr/>
        <p:txBody>
          <a:bodyPr/>
          <a:lstStyle/>
          <a:p>
            <a:pPr marL="0" indent="0">
              <a:buClr>
                <a:schemeClr val="tx2"/>
              </a:buClr>
              <a:buSzPct val="100000"/>
              <a:buNone/>
              <a:defRPr/>
            </a:pPr>
            <a:r>
              <a:rPr lang="en-US" sz="2400" b="1" dirty="0">
                <a:solidFill>
                  <a:schemeClr val="tx2"/>
                </a:solidFill>
                <a:latin typeface="+mn-lt"/>
              </a:rPr>
              <a:t>5.1</a:t>
            </a:r>
            <a:r>
              <a:rPr lang="en-US" sz="2400" dirty="0">
                <a:latin typeface="+mn-lt"/>
              </a:rPr>
              <a:t> Understand the importance of scope management for project success.</a:t>
            </a:r>
          </a:p>
          <a:p>
            <a:pPr marL="0" indent="0">
              <a:buClr>
                <a:schemeClr val="tx2"/>
              </a:buClr>
              <a:buSzPct val="100000"/>
              <a:buNone/>
              <a:defRPr/>
            </a:pPr>
            <a:r>
              <a:rPr lang="en-US" sz="2400" b="1" dirty="0">
                <a:solidFill>
                  <a:schemeClr val="tx2"/>
                </a:solidFill>
                <a:latin typeface="+mn-lt"/>
              </a:rPr>
              <a:t>5.2</a:t>
            </a:r>
            <a:r>
              <a:rPr lang="en-US" sz="2400" dirty="0">
                <a:latin typeface="+mn-lt"/>
              </a:rPr>
              <a:t> Understand how conceptual development serves as a critical first stage in scope management.</a:t>
            </a:r>
          </a:p>
          <a:p>
            <a:pPr marL="0" indent="0">
              <a:buClr>
                <a:schemeClr val="tx2"/>
              </a:buClr>
              <a:buSzPct val="100000"/>
              <a:buNone/>
              <a:defRPr/>
            </a:pPr>
            <a:r>
              <a:rPr lang="en-US" sz="2400" b="1" dirty="0">
                <a:solidFill>
                  <a:schemeClr val="tx2"/>
                </a:solidFill>
                <a:latin typeface="+mn-lt"/>
              </a:rPr>
              <a:t>5.3</a:t>
            </a:r>
            <a:r>
              <a:rPr lang="en-US" sz="2400" dirty="0">
                <a:latin typeface="+mn-lt"/>
              </a:rPr>
              <a:t> Identify the steps in developing the scope statement.</a:t>
            </a:r>
          </a:p>
          <a:p>
            <a:pPr marL="0" indent="0">
              <a:buClr>
                <a:schemeClr val="tx2"/>
              </a:buClr>
              <a:buSzPct val="100000"/>
              <a:buNone/>
              <a:defRPr/>
            </a:pPr>
            <a:r>
              <a:rPr lang="en-US" sz="2400" b="1" dirty="0">
                <a:solidFill>
                  <a:schemeClr val="tx2"/>
                </a:solidFill>
                <a:latin typeface="+mn-lt"/>
              </a:rPr>
              <a:t>5.4</a:t>
            </a:r>
            <a:r>
              <a:rPr lang="en-US" sz="2400" dirty="0">
                <a:latin typeface="+mn-lt"/>
              </a:rPr>
              <a:t> Identify the elements in the work authorization phase of scope development.</a:t>
            </a:r>
          </a:p>
        </p:txBody>
      </p:sp>
    </p:spTree>
    <p:extLst>
      <p:ext uri="{BB962C8B-B14F-4D97-AF65-F5344CB8AC3E}">
        <p14:creationId xmlns:p14="http://schemas.microsoft.com/office/powerpoint/2010/main" val="3391741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Learning Objectives </a:t>
            </a:r>
            <a:r>
              <a:rPr lang="en-US" sz="2000" b="0" dirty="0">
                <a:solidFill>
                  <a:schemeClr val="tx2"/>
                </a:solidFill>
              </a:rPr>
              <a:t>(2 of 2)</a:t>
            </a:r>
            <a:endParaRPr lang="en-US" dirty="0">
              <a:solidFill>
                <a:schemeClr val="tx2"/>
              </a:solidFill>
            </a:endParaRPr>
          </a:p>
        </p:txBody>
      </p:sp>
      <p:sp>
        <p:nvSpPr>
          <p:cNvPr id="3" name="Content Placeholder 2"/>
          <p:cNvSpPr>
            <a:spLocks noGrp="1"/>
          </p:cNvSpPr>
          <p:nvPr>
            <p:ph idx="1"/>
          </p:nvPr>
        </p:nvSpPr>
        <p:spPr/>
        <p:txBody>
          <a:bodyPr/>
          <a:lstStyle/>
          <a:p>
            <a:pPr marL="0" indent="0">
              <a:buClr>
                <a:schemeClr val="tx2"/>
              </a:buClr>
              <a:buSzPct val="100000"/>
              <a:buNone/>
              <a:defRPr/>
            </a:pPr>
            <a:r>
              <a:rPr lang="en-US" sz="2400" b="1" dirty="0">
                <a:solidFill>
                  <a:schemeClr val="tx2"/>
                </a:solidFill>
                <a:latin typeface="+mn-lt"/>
              </a:rPr>
              <a:t>5.5</a:t>
            </a:r>
            <a:r>
              <a:rPr lang="en-US" sz="2400" dirty="0">
                <a:latin typeface="+mn-lt"/>
              </a:rPr>
              <a:t> Identify the various types of information available for scope reporting.</a:t>
            </a:r>
          </a:p>
          <a:p>
            <a:pPr marL="0" indent="0">
              <a:buClr>
                <a:schemeClr val="tx2"/>
              </a:buClr>
              <a:buSzPct val="100000"/>
              <a:buNone/>
              <a:defRPr/>
            </a:pPr>
            <a:r>
              <a:rPr lang="en-US" sz="2400" b="1" dirty="0">
                <a:solidFill>
                  <a:schemeClr val="tx2"/>
                </a:solidFill>
                <a:latin typeface="+mn-lt"/>
              </a:rPr>
              <a:t>5.6</a:t>
            </a:r>
            <a:r>
              <a:rPr lang="en-US" sz="2400" dirty="0">
                <a:latin typeface="+mn-lt"/>
              </a:rPr>
              <a:t> Demonstrate how control systems and configuration management relate to scope development.</a:t>
            </a:r>
          </a:p>
          <a:p>
            <a:pPr marL="0" indent="0">
              <a:buClr>
                <a:schemeClr val="tx2"/>
              </a:buClr>
              <a:buSzPct val="100000"/>
              <a:buNone/>
              <a:defRPr/>
            </a:pPr>
            <a:r>
              <a:rPr lang="en-US" sz="2400" b="1" dirty="0">
                <a:solidFill>
                  <a:schemeClr val="tx2"/>
                </a:solidFill>
                <a:latin typeface="+mn-lt"/>
              </a:rPr>
              <a:t>5.7</a:t>
            </a:r>
            <a:r>
              <a:rPr lang="en-US" sz="2400" dirty="0">
                <a:latin typeface="+mn-lt"/>
              </a:rPr>
              <a:t> Discuss why effective scope management includes a project closeout stage.</a:t>
            </a:r>
          </a:p>
          <a:p>
            <a:pPr marL="0" indent="0">
              <a:buClr>
                <a:schemeClr val="tx2"/>
              </a:buClr>
              <a:buSzPct val="100000"/>
              <a:buNone/>
              <a:defRPr/>
            </a:pPr>
            <a:r>
              <a:rPr lang="en-US" sz="2400" b="1" dirty="0">
                <a:solidFill>
                  <a:schemeClr val="tx2"/>
                </a:solidFill>
                <a:latin typeface="+mn-lt"/>
              </a:rPr>
              <a:t>5.8</a:t>
            </a:r>
            <a:r>
              <a:rPr lang="en-US" sz="2400" dirty="0">
                <a:latin typeface="+mn-lt"/>
              </a:rPr>
              <a:t> Understand how project practices can support the critical goal of sustainability.</a:t>
            </a:r>
          </a:p>
        </p:txBody>
      </p:sp>
    </p:spTree>
    <p:extLst>
      <p:ext uri="{BB962C8B-B14F-4D97-AF65-F5344CB8AC3E}">
        <p14:creationId xmlns:p14="http://schemas.microsoft.com/office/powerpoint/2010/main" val="3055637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P</a:t>
            </a:r>
            <a:r>
              <a:rPr lang="en-US" sz="100" dirty="0">
                <a:solidFill>
                  <a:schemeClr val="tx2"/>
                </a:solidFill>
              </a:rPr>
              <a:t> </a:t>
            </a:r>
            <a:r>
              <a:rPr lang="en-US" dirty="0">
                <a:solidFill>
                  <a:schemeClr val="tx2"/>
                </a:solidFill>
              </a:rPr>
              <a:t>M</a:t>
            </a:r>
            <a:r>
              <a:rPr lang="en-US" sz="100" dirty="0">
                <a:solidFill>
                  <a:schemeClr val="tx2"/>
                </a:solidFill>
              </a:rPr>
              <a:t> </a:t>
            </a:r>
            <a:r>
              <a:rPr lang="en-US" dirty="0">
                <a:solidFill>
                  <a:schemeClr val="tx2"/>
                </a:solidFill>
              </a:rPr>
              <a:t>B</a:t>
            </a:r>
            <a:r>
              <a:rPr lang="en-US" sz="100" dirty="0">
                <a:solidFill>
                  <a:schemeClr val="tx2"/>
                </a:solidFill>
              </a:rPr>
              <a:t> </a:t>
            </a:r>
            <a:r>
              <a:rPr lang="en-US" dirty="0">
                <a:solidFill>
                  <a:schemeClr val="tx2"/>
                </a:solidFill>
              </a:rPr>
              <a:t>o</a:t>
            </a:r>
            <a:r>
              <a:rPr lang="en-US" sz="100" dirty="0">
                <a:solidFill>
                  <a:schemeClr val="tx2"/>
                </a:solidFill>
              </a:rPr>
              <a:t> </a:t>
            </a:r>
            <a:r>
              <a:rPr lang="en-US" dirty="0">
                <a:solidFill>
                  <a:schemeClr val="tx2"/>
                </a:solidFill>
              </a:rPr>
              <a:t>K Core Concepts</a:t>
            </a:r>
          </a:p>
        </p:txBody>
      </p:sp>
      <p:sp>
        <p:nvSpPr>
          <p:cNvPr id="3" name="Content Placeholder 2"/>
          <p:cNvSpPr>
            <a:spLocks noGrp="1"/>
          </p:cNvSpPr>
          <p:nvPr>
            <p:ph idx="1"/>
          </p:nvPr>
        </p:nvSpPr>
        <p:spPr>
          <a:xfrm>
            <a:off x="457200" y="1600200"/>
            <a:ext cx="8229600" cy="4741606"/>
          </a:xfrm>
        </p:spPr>
        <p:txBody>
          <a:bodyPr/>
          <a:lstStyle/>
          <a:p>
            <a:pPr marL="0" indent="0" eaLnBrk="1" fontAlgn="auto" hangingPunct="1">
              <a:buFont typeface="Wingdings" panose="05000000000000000000" pitchFamily="2" charset="2"/>
              <a:buNone/>
              <a:defRPr/>
            </a:pPr>
            <a:r>
              <a:rPr lang="en-US" sz="2400" dirty="0">
                <a:latin typeface="+mn-lt"/>
              </a:rPr>
              <a:t>Project Management Body of Knowledge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covered in this chapter includes:</a:t>
            </a:r>
          </a:p>
          <a:p>
            <a:pPr marL="432000" indent="-432000" eaLnBrk="1" fontAlgn="auto" hangingPunct="1">
              <a:buSzPct val="100000"/>
              <a:buFont typeface="+mj-lt"/>
              <a:buAutoNum type="arabicPeriod"/>
              <a:defRPr/>
            </a:pPr>
            <a:r>
              <a:rPr lang="en-US" sz="2400" dirty="0">
                <a:latin typeface="+mn-lt"/>
              </a:rPr>
              <a:t>Develop Project Charter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4.1)</a:t>
            </a:r>
          </a:p>
          <a:p>
            <a:pPr marL="432000" indent="-432000" eaLnBrk="1" fontAlgn="auto" hangingPunct="1">
              <a:buSzPct val="100000"/>
              <a:buFont typeface="+mj-lt"/>
              <a:buAutoNum type="arabicPeriod"/>
              <a:defRPr/>
            </a:pPr>
            <a:r>
              <a:rPr lang="en-US" sz="2400" dirty="0">
                <a:latin typeface="+mn-lt"/>
              </a:rPr>
              <a:t>Plan Scope Management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5.1)</a:t>
            </a:r>
          </a:p>
          <a:p>
            <a:pPr marL="432000" indent="-432000" eaLnBrk="1" fontAlgn="auto" hangingPunct="1">
              <a:buSzPct val="100000"/>
              <a:buFont typeface="+mj-lt"/>
              <a:buAutoNum type="arabicPeriod"/>
              <a:defRPr/>
            </a:pPr>
            <a:r>
              <a:rPr lang="en-US" sz="2400" dirty="0">
                <a:latin typeface="+mn-lt"/>
              </a:rPr>
              <a:t>Collect Requirements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5.2)</a:t>
            </a:r>
          </a:p>
          <a:p>
            <a:pPr marL="432000" indent="-432000" eaLnBrk="1" fontAlgn="auto" hangingPunct="1">
              <a:buSzPct val="100000"/>
              <a:buFont typeface="+mj-lt"/>
              <a:buAutoNum type="arabicPeriod"/>
              <a:defRPr/>
            </a:pPr>
            <a:r>
              <a:rPr lang="en-US" sz="2400" dirty="0">
                <a:latin typeface="+mn-lt"/>
              </a:rPr>
              <a:t>Define Scope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5.3)</a:t>
            </a:r>
          </a:p>
          <a:p>
            <a:pPr marL="432000" indent="-432000" eaLnBrk="1" fontAlgn="auto" hangingPunct="1">
              <a:buSzPct val="100000"/>
              <a:buFont typeface="+mj-lt"/>
              <a:buAutoNum type="arabicPeriod"/>
              <a:defRPr/>
            </a:pPr>
            <a:r>
              <a:rPr lang="en-US" sz="2400" dirty="0">
                <a:latin typeface="+mn-lt"/>
              </a:rPr>
              <a:t>Create W</a:t>
            </a:r>
            <a:r>
              <a:rPr lang="en-US" sz="100" dirty="0">
                <a:latin typeface="+mn-lt"/>
              </a:rPr>
              <a:t> </a:t>
            </a:r>
            <a:r>
              <a:rPr lang="en-US" sz="2400" dirty="0">
                <a:latin typeface="+mn-lt"/>
              </a:rPr>
              <a:t>B</a:t>
            </a:r>
            <a:r>
              <a:rPr lang="en-US" sz="100" dirty="0">
                <a:latin typeface="+mn-lt"/>
              </a:rPr>
              <a:t> </a:t>
            </a:r>
            <a:r>
              <a:rPr lang="en-US" sz="2400" dirty="0">
                <a:latin typeface="+mn-lt"/>
              </a:rPr>
              <a:t>S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5.4)</a:t>
            </a:r>
          </a:p>
          <a:p>
            <a:pPr marL="432000" indent="-432000" eaLnBrk="1" fontAlgn="auto" hangingPunct="1">
              <a:buSzPct val="100000"/>
              <a:buFont typeface="+mj-lt"/>
              <a:buAutoNum type="arabicPeriod"/>
              <a:defRPr/>
            </a:pPr>
            <a:r>
              <a:rPr lang="en-US" sz="2400" dirty="0">
                <a:latin typeface="+mn-lt"/>
              </a:rPr>
              <a:t>Validate Scope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5.5)</a:t>
            </a:r>
          </a:p>
          <a:p>
            <a:pPr marL="432000" indent="-432000" eaLnBrk="1" fontAlgn="auto" hangingPunct="1">
              <a:buSzPct val="100000"/>
              <a:buFont typeface="+mj-lt"/>
              <a:buAutoNum type="arabicPeriod"/>
              <a:defRPr/>
            </a:pPr>
            <a:r>
              <a:rPr lang="en-US" sz="2400" dirty="0">
                <a:latin typeface="+mn-lt"/>
              </a:rPr>
              <a:t>Control Scope (P</a:t>
            </a:r>
            <a:r>
              <a:rPr lang="en-US" sz="100" dirty="0">
                <a:latin typeface="+mn-lt"/>
              </a:rPr>
              <a:t> </a:t>
            </a:r>
            <a:r>
              <a:rPr lang="en-US" sz="2400" dirty="0">
                <a:latin typeface="+mn-lt"/>
              </a:rPr>
              <a:t>M</a:t>
            </a:r>
            <a:r>
              <a:rPr lang="en-US" sz="100" dirty="0">
                <a:latin typeface="+mn-lt"/>
              </a:rPr>
              <a:t> </a:t>
            </a:r>
            <a:r>
              <a:rPr lang="en-US" sz="2400" dirty="0">
                <a:latin typeface="+mn-lt"/>
              </a:rPr>
              <a:t>B</a:t>
            </a:r>
            <a:r>
              <a:rPr lang="en-US" sz="100" dirty="0">
                <a:latin typeface="+mn-lt"/>
              </a:rPr>
              <a:t> </a:t>
            </a:r>
            <a:r>
              <a:rPr lang="en-US" sz="2400" dirty="0">
                <a:latin typeface="+mn-lt"/>
              </a:rPr>
              <a:t>o</a:t>
            </a:r>
            <a:r>
              <a:rPr lang="en-US" sz="100" dirty="0">
                <a:latin typeface="+mn-lt"/>
              </a:rPr>
              <a:t> </a:t>
            </a:r>
            <a:r>
              <a:rPr lang="en-US" sz="2400" dirty="0">
                <a:latin typeface="+mn-lt"/>
              </a:rPr>
              <a:t>K 5.6)</a:t>
            </a:r>
          </a:p>
        </p:txBody>
      </p:sp>
    </p:spTree>
    <p:extLst>
      <p:ext uri="{BB962C8B-B14F-4D97-AF65-F5344CB8AC3E}">
        <p14:creationId xmlns:p14="http://schemas.microsoft.com/office/powerpoint/2010/main" val="3335449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Project Scope</a:t>
            </a:r>
          </a:p>
        </p:txBody>
      </p:sp>
      <p:sp>
        <p:nvSpPr>
          <p:cNvPr id="3" name="Content Placeholder 2"/>
          <p:cNvSpPr>
            <a:spLocks noGrp="1"/>
          </p:cNvSpPr>
          <p:nvPr>
            <p:ph idx="1"/>
          </p:nvPr>
        </p:nvSpPr>
        <p:spPr>
          <a:xfrm>
            <a:off x="457200" y="1600200"/>
            <a:ext cx="8229600" cy="4712110"/>
          </a:xfrm>
        </p:spPr>
        <p:txBody>
          <a:bodyPr/>
          <a:lstStyle/>
          <a:p>
            <a:pPr marL="0" indent="0">
              <a:spcBef>
                <a:spcPts val="1200"/>
              </a:spcBef>
              <a:buNone/>
            </a:pPr>
            <a:r>
              <a:rPr lang="en-US" altLang="en-US" sz="2200" b="1" dirty="0">
                <a:solidFill>
                  <a:schemeClr val="tx1"/>
                </a:solidFill>
                <a:latin typeface="+mn-lt"/>
              </a:rPr>
              <a:t>Project scope </a:t>
            </a:r>
            <a:r>
              <a:rPr lang="en-US" altLang="en-US" sz="2200" dirty="0">
                <a:solidFill>
                  <a:schemeClr val="tx1"/>
                </a:solidFill>
                <a:latin typeface="+mn-lt"/>
              </a:rPr>
              <a:t>is </a:t>
            </a:r>
            <a:r>
              <a:rPr lang="en-US" altLang="en-US" sz="2200" b="1" dirty="0">
                <a:solidFill>
                  <a:schemeClr val="tx1"/>
                </a:solidFill>
                <a:latin typeface="+mn-lt"/>
              </a:rPr>
              <a:t>everything about a project</a:t>
            </a:r>
            <a:r>
              <a:rPr lang="en-US" altLang="en-US" sz="2200" dirty="0">
                <a:solidFill>
                  <a:schemeClr val="tx1"/>
                </a:solidFill>
                <a:latin typeface="+mn-lt"/>
              </a:rPr>
              <a:t>—work content as well as expected outcomes.</a:t>
            </a:r>
          </a:p>
          <a:p>
            <a:pPr marL="0" indent="0">
              <a:spcBef>
                <a:spcPts val="1200"/>
              </a:spcBef>
              <a:buNone/>
            </a:pPr>
            <a:r>
              <a:rPr lang="en-US" sz="2200" b="1" dirty="0">
                <a:solidFill>
                  <a:schemeClr val="tx1"/>
                </a:solidFill>
                <a:latin typeface="+mn-lt"/>
              </a:rPr>
              <a:t>Scope management </a:t>
            </a:r>
            <a:r>
              <a:rPr lang="en-US" sz="2200" dirty="0">
                <a:solidFill>
                  <a:schemeClr val="tx1"/>
                </a:solidFill>
                <a:latin typeface="+mn-lt"/>
              </a:rPr>
              <a:t>is the function of </a:t>
            </a:r>
            <a:r>
              <a:rPr lang="en-US" sz="2200" b="1" dirty="0">
                <a:solidFill>
                  <a:schemeClr val="tx1"/>
                </a:solidFill>
                <a:latin typeface="+mn-lt"/>
              </a:rPr>
              <a:t>controlling a project </a:t>
            </a:r>
            <a:r>
              <a:rPr lang="en-US" sz="2200" dirty="0">
                <a:solidFill>
                  <a:schemeClr val="tx1"/>
                </a:solidFill>
                <a:latin typeface="+mn-lt"/>
              </a:rPr>
              <a:t>in terms of its goals and objectives and consists of:</a:t>
            </a:r>
          </a:p>
          <a:p>
            <a:pPr marL="432000" indent="-432000">
              <a:spcBef>
                <a:spcPts val="1200"/>
              </a:spcBef>
              <a:buSzPct val="100000"/>
              <a:buFont typeface="+mj-lt"/>
              <a:buAutoNum type="arabicPeriod"/>
              <a:defRPr/>
            </a:pPr>
            <a:r>
              <a:rPr lang="en-US" sz="2200" dirty="0">
                <a:latin typeface="+mn-lt"/>
              </a:rPr>
              <a:t>Conceptual development</a:t>
            </a:r>
          </a:p>
          <a:p>
            <a:pPr marL="432000" indent="-432000">
              <a:spcBef>
                <a:spcPts val="1200"/>
              </a:spcBef>
              <a:buSzPct val="100000"/>
              <a:buFont typeface="+mj-lt"/>
              <a:buAutoNum type="arabicPeriod"/>
              <a:defRPr/>
            </a:pPr>
            <a:r>
              <a:rPr lang="en-US" sz="2200" dirty="0">
                <a:latin typeface="+mn-lt"/>
              </a:rPr>
              <a:t>Scope statement</a:t>
            </a:r>
          </a:p>
          <a:p>
            <a:pPr marL="432000" indent="-432000">
              <a:spcBef>
                <a:spcPts val="1200"/>
              </a:spcBef>
              <a:buSzPct val="100000"/>
              <a:buFont typeface="+mj-lt"/>
              <a:buAutoNum type="arabicPeriod"/>
              <a:defRPr/>
            </a:pPr>
            <a:r>
              <a:rPr lang="en-US" sz="2200" dirty="0">
                <a:latin typeface="+mn-lt"/>
              </a:rPr>
              <a:t>Work authorization</a:t>
            </a:r>
          </a:p>
          <a:p>
            <a:pPr marL="432000" indent="-432000">
              <a:spcBef>
                <a:spcPts val="1200"/>
              </a:spcBef>
              <a:buSzPct val="100000"/>
              <a:buFont typeface="+mj-lt"/>
              <a:buAutoNum type="arabicPeriod"/>
              <a:defRPr/>
            </a:pPr>
            <a:r>
              <a:rPr lang="en-US" sz="2200" dirty="0">
                <a:latin typeface="+mn-lt"/>
              </a:rPr>
              <a:t>Scope reporting</a:t>
            </a:r>
          </a:p>
          <a:p>
            <a:pPr marL="432000" indent="-432000">
              <a:spcBef>
                <a:spcPts val="1200"/>
              </a:spcBef>
              <a:buSzPct val="100000"/>
              <a:buFont typeface="+mj-lt"/>
              <a:buAutoNum type="arabicPeriod"/>
              <a:defRPr/>
            </a:pPr>
            <a:r>
              <a:rPr lang="en-US" sz="2200" dirty="0">
                <a:latin typeface="+mn-lt"/>
              </a:rPr>
              <a:t>Control systems</a:t>
            </a:r>
          </a:p>
          <a:p>
            <a:pPr marL="432000" indent="-432000">
              <a:spcBef>
                <a:spcPts val="1200"/>
              </a:spcBef>
              <a:buSzPct val="100000"/>
              <a:buFont typeface="+mj-lt"/>
              <a:buAutoNum type="arabicPeriod"/>
              <a:defRPr/>
            </a:pPr>
            <a:r>
              <a:rPr lang="en-US" sz="2200" dirty="0">
                <a:latin typeface="+mn-lt"/>
              </a:rPr>
              <a:t>Project closeout</a:t>
            </a:r>
          </a:p>
        </p:txBody>
      </p:sp>
    </p:spTree>
    <p:extLst>
      <p:ext uri="{BB962C8B-B14F-4D97-AF65-F5344CB8AC3E}">
        <p14:creationId xmlns:p14="http://schemas.microsoft.com/office/powerpoint/2010/main" val="498531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Conceptual Development</a:t>
            </a:r>
          </a:p>
        </p:txBody>
      </p:sp>
      <p:sp>
        <p:nvSpPr>
          <p:cNvPr id="3" name="Content Placeholder 2"/>
          <p:cNvSpPr>
            <a:spLocks noGrp="1"/>
          </p:cNvSpPr>
          <p:nvPr>
            <p:ph idx="1"/>
          </p:nvPr>
        </p:nvSpPr>
        <p:spPr>
          <a:xfrm>
            <a:off x="371139" y="1312650"/>
            <a:ext cx="8229600" cy="5041661"/>
          </a:xfrm>
        </p:spPr>
        <p:txBody>
          <a:bodyPr/>
          <a:lstStyle/>
          <a:p>
            <a:pPr marL="0" indent="0">
              <a:buNone/>
            </a:pPr>
            <a:r>
              <a:rPr lang="en-US" altLang="en-US" sz="2200" dirty="0">
                <a:solidFill>
                  <a:schemeClr val="tx1"/>
                </a:solidFill>
                <a:latin typeface="+mn-lt"/>
              </a:rPr>
              <a:t>The </a:t>
            </a:r>
            <a:r>
              <a:rPr lang="en-US" altLang="en-US" sz="2200" b="1" dirty="0">
                <a:solidFill>
                  <a:schemeClr val="tx1"/>
                </a:solidFill>
                <a:latin typeface="+mn-lt"/>
              </a:rPr>
              <a:t>process</a:t>
            </a:r>
            <a:r>
              <a:rPr lang="en-US" altLang="en-US" sz="2200" dirty="0">
                <a:solidFill>
                  <a:schemeClr val="tx1"/>
                </a:solidFill>
                <a:latin typeface="+mn-lt"/>
              </a:rPr>
              <a:t> that addresses </a:t>
            </a:r>
            <a:r>
              <a:rPr lang="en-US" altLang="en-US" sz="2200" b="1" dirty="0">
                <a:solidFill>
                  <a:schemeClr val="tx1"/>
                </a:solidFill>
                <a:latin typeface="+mn-lt"/>
              </a:rPr>
              <a:t>project objectives </a:t>
            </a:r>
            <a:r>
              <a:rPr lang="en-US" altLang="en-US" sz="2200" dirty="0">
                <a:solidFill>
                  <a:schemeClr val="tx1"/>
                </a:solidFill>
                <a:latin typeface="+mn-lt"/>
              </a:rPr>
              <a:t>by finding the best ways to meet them.</a:t>
            </a:r>
          </a:p>
          <a:p>
            <a:pPr marL="255600" indent="-255600">
              <a:spcBef>
                <a:spcPts val="1200"/>
              </a:spcBef>
              <a:buNone/>
            </a:pPr>
            <a:r>
              <a:rPr lang="en-US" altLang="en-US" sz="2200" b="1" dirty="0">
                <a:latin typeface="+mn-lt"/>
              </a:rPr>
              <a:t>Key steps in information development:</a:t>
            </a:r>
          </a:p>
          <a:p>
            <a:pPr marL="255600" indent="-255600">
              <a:spcBef>
                <a:spcPts val="1200"/>
              </a:spcBef>
              <a:buSzPct val="100000"/>
            </a:pPr>
            <a:r>
              <a:rPr lang="en-US" altLang="en-US" sz="2200" dirty="0">
                <a:latin typeface="+mn-lt"/>
              </a:rPr>
              <a:t>Problem or need statement</a:t>
            </a:r>
          </a:p>
          <a:p>
            <a:pPr marL="255600" indent="-255600">
              <a:spcBef>
                <a:spcPts val="1200"/>
              </a:spcBef>
              <a:buSzPct val="100000"/>
            </a:pPr>
            <a:r>
              <a:rPr lang="en-US" altLang="en-US" sz="2200" dirty="0">
                <a:latin typeface="+mn-lt"/>
              </a:rPr>
              <a:t>Requirements gathering</a:t>
            </a:r>
          </a:p>
          <a:p>
            <a:pPr marL="255600" indent="-255600">
              <a:spcBef>
                <a:spcPts val="1200"/>
              </a:spcBef>
              <a:buSzPct val="100000"/>
            </a:pPr>
            <a:r>
              <a:rPr lang="en-US" altLang="en-US" sz="2200" dirty="0">
                <a:latin typeface="+mn-lt"/>
              </a:rPr>
              <a:t>Information gathering</a:t>
            </a:r>
          </a:p>
          <a:p>
            <a:pPr marL="255600" indent="-255600">
              <a:spcBef>
                <a:spcPts val="1200"/>
              </a:spcBef>
              <a:buSzPct val="100000"/>
            </a:pPr>
            <a:r>
              <a:rPr lang="en-US" altLang="en-US" sz="2200" dirty="0">
                <a:latin typeface="+mn-lt"/>
              </a:rPr>
              <a:t>Constraints</a:t>
            </a:r>
          </a:p>
          <a:p>
            <a:pPr marL="255600" indent="-255600">
              <a:spcBef>
                <a:spcPts val="1200"/>
              </a:spcBef>
              <a:buSzPct val="100000"/>
            </a:pPr>
            <a:r>
              <a:rPr lang="en-US" altLang="en-US" sz="2200" dirty="0">
                <a:latin typeface="+mn-lt"/>
              </a:rPr>
              <a:t>Alternative analysis</a:t>
            </a:r>
          </a:p>
          <a:p>
            <a:pPr marL="255600" indent="-255600">
              <a:spcBef>
                <a:spcPts val="1200"/>
              </a:spcBef>
              <a:buSzPct val="100000"/>
            </a:pPr>
            <a:r>
              <a:rPr lang="en-US" altLang="en-US" sz="2200" dirty="0">
                <a:latin typeface="+mn-lt"/>
              </a:rPr>
              <a:t>Project objectives</a:t>
            </a:r>
          </a:p>
          <a:p>
            <a:pPr marL="255600" indent="-255600">
              <a:spcBef>
                <a:spcPts val="1200"/>
              </a:spcBef>
              <a:buSzPct val="100000"/>
            </a:pPr>
            <a:r>
              <a:rPr lang="en-US" altLang="en-US" sz="2200" dirty="0">
                <a:latin typeface="+mn-lt"/>
              </a:rPr>
              <a:t>Business case</a:t>
            </a:r>
          </a:p>
          <a:p>
            <a:pPr marL="255600" indent="-255600">
              <a:spcBef>
                <a:spcPts val="1200"/>
              </a:spcBef>
              <a:buSzPct val="100000"/>
            </a:pPr>
            <a:r>
              <a:rPr lang="en-US" altLang="en-US" sz="2200" dirty="0">
                <a:latin typeface="+mn-lt"/>
              </a:rPr>
              <a:t>Project charter</a:t>
            </a:r>
          </a:p>
        </p:txBody>
      </p:sp>
    </p:spTree>
    <p:extLst>
      <p:ext uri="{BB962C8B-B14F-4D97-AF65-F5344CB8AC3E}">
        <p14:creationId xmlns:p14="http://schemas.microsoft.com/office/powerpoint/2010/main" val="1981064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Statement of Work (S</a:t>
            </a:r>
            <a:r>
              <a:rPr lang="en-US" sz="100" dirty="0">
                <a:solidFill>
                  <a:schemeClr val="tx2"/>
                </a:solidFill>
              </a:rPr>
              <a:t> </a:t>
            </a:r>
            <a:r>
              <a:rPr lang="en-US" dirty="0">
                <a:solidFill>
                  <a:schemeClr val="tx2"/>
                </a:solidFill>
              </a:rPr>
              <a:t>O</a:t>
            </a:r>
            <a:r>
              <a:rPr lang="en-US" sz="100" dirty="0">
                <a:solidFill>
                  <a:schemeClr val="tx2"/>
                </a:solidFill>
              </a:rPr>
              <a:t> </a:t>
            </a:r>
            <a:r>
              <a:rPr lang="en-US" dirty="0">
                <a:solidFill>
                  <a:schemeClr val="tx2"/>
                </a:solidFill>
              </a:rPr>
              <a:t>W)</a:t>
            </a:r>
          </a:p>
        </p:txBody>
      </p:sp>
      <p:sp>
        <p:nvSpPr>
          <p:cNvPr id="3" name="Content Placeholder 2"/>
          <p:cNvSpPr>
            <a:spLocks noGrp="1"/>
          </p:cNvSpPr>
          <p:nvPr>
            <p:ph idx="1"/>
          </p:nvPr>
        </p:nvSpPr>
        <p:spPr/>
        <p:txBody>
          <a:bodyPr/>
          <a:lstStyle/>
          <a:p>
            <a:pPr marL="0" indent="0">
              <a:buNone/>
            </a:pPr>
            <a:r>
              <a:rPr lang="en-US" altLang="en-US" sz="2400" dirty="0">
                <a:solidFill>
                  <a:schemeClr val="tx1"/>
                </a:solidFill>
                <a:latin typeface="+mn-lt"/>
              </a:rPr>
              <a:t>A S</a:t>
            </a:r>
            <a:r>
              <a:rPr lang="en-US" altLang="en-US" sz="100" dirty="0">
                <a:solidFill>
                  <a:schemeClr val="tx1"/>
                </a:solidFill>
                <a:latin typeface="+mn-lt"/>
              </a:rPr>
              <a:t> </a:t>
            </a:r>
            <a:r>
              <a:rPr lang="en-US" altLang="en-US" sz="2400" dirty="0">
                <a:solidFill>
                  <a:schemeClr val="tx1"/>
                </a:solidFill>
                <a:latin typeface="+mn-lt"/>
              </a:rPr>
              <a:t>O</a:t>
            </a:r>
            <a:r>
              <a:rPr lang="en-US" altLang="en-US" sz="100" dirty="0">
                <a:solidFill>
                  <a:schemeClr val="tx1"/>
                </a:solidFill>
                <a:latin typeface="+mn-lt"/>
              </a:rPr>
              <a:t> </a:t>
            </a:r>
            <a:r>
              <a:rPr lang="en-US" altLang="en-US" sz="2400" dirty="0">
                <a:solidFill>
                  <a:schemeClr val="tx1"/>
                </a:solidFill>
                <a:latin typeface="+mn-lt"/>
              </a:rPr>
              <a:t>W is a </a:t>
            </a:r>
            <a:r>
              <a:rPr lang="en-US" altLang="en-US" sz="2400" b="1" dirty="0">
                <a:solidFill>
                  <a:schemeClr val="tx1"/>
                </a:solidFill>
                <a:latin typeface="+mn-lt"/>
              </a:rPr>
              <a:t>detailed narrative description </a:t>
            </a:r>
            <a:r>
              <a:rPr lang="en-US" altLang="en-US" sz="2400" dirty="0">
                <a:solidFill>
                  <a:schemeClr val="tx1"/>
                </a:solidFill>
                <a:latin typeface="+mn-lt"/>
              </a:rPr>
              <a:t>of the work required for a project.</a:t>
            </a:r>
          </a:p>
          <a:p>
            <a:pPr marL="533400" indent="-533400" eaLnBrk="1" hangingPunct="1">
              <a:buFontTx/>
              <a:buNone/>
            </a:pPr>
            <a:r>
              <a:rPr lang="en-US" altLang="en-US" sz="2400" b="1" dirty="0">
                <a:latin typeface="+mn-lt"/>
              </a:rPr>
              <a:t>Effective S</a:t>
            </a:r>
            <a:r>
              <a:rPr lang="en-US" altLang="en-US" sz="100" b="1" dirty="0">
                <a:latin typeface="+mn-lt"/>
              </a:rPr>
              <a:t> </a:t>
            </a:r>
            <a:r>
              <a:rPr lang="en-US" altLang="en-US" sz="2400" b="1" dirty="0">
                <a:latin typeface="+mn-lt"/>
              </a:rPr>
              <a:t>O</a:t>
            </a:r>
            <a:r>
              <a:rPr lang="en-US" altLang="en-US" sz="100" b="1" dirty="0">
                <a:latin typeface="+mn-lt"/>
              </a:rPr>
              <a:t> </a:t>
            </a:r>
            <a:r>
              <a:rPr lang="en-US" altLang="en-US" sz="2400" b="1" dirty="0">
                <a:latin typeface="+mn-lt"/>
              </a:rPr>
              <a:t>W</a:t>
            </a:r>
            <a:r>
              <a:rPr lang="en-US" altLang="en-US" sz="100" b="1" dirty="0">
                <a:latin typeface="+mn-lt"/>
              </a:rPr>
              <a:t> </a:t>
            </a:r>
            <a:r>
              <a:rPr lang="en-US" altLang="en-US" sz="2400" b="1" dirty="0">
                <a:latin typeface="+mn-lt"/>
              </a:rPr>
              <a:t>s contain:</a:t>
            </a:r>
          </a:p>
          <a:p>
            <a:pPr marL="432000" indent="-432000" eaLnBrk="1" hangingPunct="1">
              <a:buSzPct val="100000"/>
              <a:buFont typeface="+mj-lt"/>
              <a:buAutoNum type="arabicPeriod"/>
            </a:pPr>
            <a:r>
              <a:rPr lang="en-US" altLang="en-US" sz="2400" dirty="0">
                <a:latin typeface="+mn-lt"/>
              </a:rPr>
              <a:t>Introduction and background</a:t>
            </a:r>
          </a:p>
          <a:p>
            <a:pPr marL="432000" indent="-432000" eaLnBrk="1" hangingPunct="1">
              <a:buSzPct val="100000"/>
              <a:buFont typeface="+mj-lt"/>
              <a:buAutoNum type="arabicPeriod"/>
            </a:pPr>
            <a:r>
              <a:rPr lang="en-US" altLang="en-US" sz="2400" dirty="0">
                <a:latin typeface="+mn-lt"/>
              </a:rPr>
              <a:t>Technical description of the project</a:t>
            </a:r>
          </a:p>
          <a:p>
            <a:pPr marL="432000" indent="-432000" eaLnBrk="1" hangingPunct="1">
              <a:buSzPct val="100000"/>
              <a:buFont typeface="+mj-lt"/>
              <a:buAutoNum type="arabicPeriod"/>
            </a:pPr>
            <a:r>
              <a:rPr lang="en-US" altLang="en-US" sz="2400" dirty="0">
                <a:latin typeface="+mn-lt"/>
              </a:rPr>
              <a:t>Timeline and milestones</a:t>
            </a:r>
          </a:p>
        </p:txBody>
      </p:sp>
    </p:spTree>
    <p:extLst>
      <p:ext uri="{BB962C8B-B14F-4D97-AF65-F5344CB8AC3E}">
        <p14:creationId xmlns:p14="http://schemas.microsoft.com/office/powerpoint/2010/main" val="3943426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Statement of Work Components</a:t>
            </a:r>
          </a:p>
        </p:txBody>
      </p:sp>
      <p:sp>
        <p:nvSpPr>
          <p:cNvPr id="3" name="Content Placeholder 2"/>
          <p:cNvSpPr>
            <a:spLocks noGrp="1"/>
          </p:cNvSpPr>
          <p:nvPr>
            <p:ph idx="1"/>
          </p:nvPr>
        </p:nvSpPr>
        <p:spPr>
          <a:xfrm>
            <a:off x="457200" y="1600200"/>
            <a:ext cx="8229600" cy="4712110"/>
          </a:xfrm>
        </p:spPr>
        <p:txBody>
          <a:bodyPr/>
          <a:lstStyle/>
          <a:p>
            <a:pPr marL="255600" indent="-255600" eaLnBrk="1" hangingPunct="1">
              <a:buSzPct val="100000"/>
            </a:pPr>
            <a:r>
              <a:rPr lang="en-US" altLang="en-US" sz="2200" dirty="0">
                <a:latin typeface="+mn-lt"/>
              </a:rPr>
              <a:t>Background</a:t>
            </a:r>
          </a:p>
          <a:p>
            <a:pPr marL="255600" indent="-255600" eaLnBrk="1" hangingPunct="1">
              <a:buSzPct val="100000"/>
            </a:pPr>
            <a:r>
              <a:rPr lang="en-US" altLang="en-US" sz="2200" dirty="0">
                <a:latin typeface="+mn-lt"/>
              </a:rPr>
              <a:t>Objectives</a:t>
            </a:r>
          </a:p>
          <a:p>
            <a:pPr marL="255600" indent="-255600" eaLnBrk="1" hangingPunct="1">
              <a:buSzPct val="100000"/>
            </a:pPr>
            <a:r>
              <a:rPr lang="en-US" altLang="en-US" sz="2200" dirty="0">
                <a:latin typeface="+mn-lt"/>
              </a:rPr>
              <a:t>Scope</a:t>
            </a:r>
          </a:p>
          <a:p>
            <a:pPr marL="255600" indent="-255600" eaLnBrk="1" hangingPunct="1">
              <a:buSzPct val="100000"/>
            </a:pPr>
            <a:r>
              <a:rPr lang="en-US" altLang="en-US" sz="2200" dirty="0">
                <a:latin typeface="+mn-lt"/>
              </a:rPr>
              <a:t>Task or Requirements</a:t>
            </a:r>
          </a:p>
          <a:p>
            <a:pPr marL="255600" indent="-255600" eaLnBrk="1" hangingPunct="1">
              <a:buSzPct val="100000"/>
            </a:pPr>
            <a:r>
              <a:rPr lang="en-US" altLang="en-US" sz="2200" dirty="0">
                <a:latin typeface="+mn-lt"/>
              </a:rPr>
              <a:t>Selection Criteria</a:t>
            </a:r>
          </a:p>
          <a:p>
            <a:pPr marL="255600" indent="-255600" eaLnBrk="1" hangingPunct="1">
              <a:buSzPct val="100000"/>
            </a:pPr>
            <a:r>
              <a:rPr lang="en-US" altLang="en-US" sz="2200" dirty="0">
                <a:latin typeface="+mn-lt"/>
              </a:rPr>
              <a:t>Deliverables or Delivery Schedule</a:t>
            </a:r>
          </a:p>
          <a:p>
            <a:pPr marL="255600" indent="-255600" eaLnBrk="1" hangingPunct="1">
              <a:buSzPct val="100000"/>
            </a:pPr>
            <a:r>
              <a:rPr lang="en-US" altLang="en-US" sz="2200" dirty="0">
                <a:latin typeface="+mn-lt"/>
              </a:rPr>
              <a:t>Security</a:t>
            </a:r>
          </a:p>
          <a:p>
            <a:pPr marL="255600" indent="-255600" eaLnBrk="1" hangingPunct="1">
              <a:buSzPct val="100000"/>
            </a:pPr>
            <a:r>
              <a:rPr lang="en-US" altLang="en-US" sz="2200" dirty="0">
                <a:latin typeface="+mn-lt"/>
              </a:rPr>
              <a:t>Place of Performance</a:t>
            </a:r>
          </a:p>
          <a:p>
            <a:pPr marL="255600" indent="-255600" eaLnBrk="1" hangingPunct="1">
              <a:buSzPct val="100000"/>
            </a:pPr>
            <a:r>
              <a:rPr lang="en-US" altLang="en-US" sz="2200" dirty="0">
                <a:latin typeface="+mn-lt"/>
              </a:rPr>
              <a:t>Period of Performance</a:t>
            </a:r>
          </a:p>
        </p:txBody>
      </p:sp>
    </p:spTree>
    <p:extLst>
      <p:ext uri="{BB962C8B-B14F-4D97-AF65-F5344CB8AC3E}">
        <p14:creationId xmlns:p14="http://schemas.microsoft.com/office/powerpoint/2010/main" val="33193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Project Charter</a:t>
            </a:r>
            <a:endParaRPr lang="en-US" sz="2000" b="0" dirty="0">
              <a:solidFill>
                <a:schemeClr val="tx2"/>
              </a:solidFill>
            </a:endParaRPr>
          </a:p>
        </p:txBody>
      </p:sp>
      <p:sp>
        <p:nvSpPr>
          <p:cNvPr id="3" name="Content Placeholder 2"/>
          <p:cNvSpPr>
            <a:spLocks noGrp="1"/>
          </p:cNvSpPr>
          <p:nvPr>
            <p:ph type="body" idx="1"/>
          </p:nvPr>
        </p:nvSpPr>
        <p:spPr/>
        <p:txBody>
          <a:bodyPr/>
          <a:lstStyle/>
          <a:p>
            <a:pPr marL="255600" indent="-255600">
              <a:buSzPct val="100000"/>
              <a:buFont typeface="Arial" panose="020B0604020202020204" pitchFamily="34" charset="0"/>
              <a:buChar char="•"/>
            </a:pPr>
            <a:r>
              <a:rPr lang="en-US" altLang="en-US" sz="2000" dirty="0">
                <a:latin typeface="+mn-lt"/>
              </a:rPr>
              <a:t>Many organizations establish the project charter after the S</a:t>
            </a:r>
            <a:r>
              <a:rPr lang="en-US" altLang="en-US" sz="100" dirty="0">
                <a:latin typeface="+mn-lt"/>
              </a:rPr>
              <a:t> </a:t>
            </a:r>
            <a:r>
              <a:rPr lang="en-US" altLang="en-US" sz="2000" dirty="0">
                <a:latin typeface="+mn-lt"/>
              </a:rPr>
              <a:t>O</a:t>
            </a:r>
            <a:r>
              <a:rPr lang="en-US" altLang="en-US" sz="100" dirty="0">
                <a:latin typeface="+mn-lt"/>
              </a:rPr>
              <a:t> </a:t>
            </a:r>
            <a:r>
              <a:rPr lang="en-US" altLang="en-US" sz="2000" dirty="0">
                <a:latin typeface="+mn-lt"/>
              </a:rPr>
              <a:t>W.</a:t>
            </a:r>
          </a:p>
          <a:p>
            <a:pPr marL="255600" indent="-255600">
              <a:buSzPct val="100000"/>
              <a:buFont typeface="Arial" panose="020B0604020202020204" pitchFamily="34" charset="0"/>
              <a:buChar char="•"/>
            </a:pPr>
            <a:r>
              <a:rPr lang="en-US" altLang="en-US" sz="2000" dirty="0">
                <a:latin typeface="+mn-lt"/>
              </a:rPr>
              <a:t>A </a:t>
            </a:r>
            <a:r>
              <a:rPr lang="en-US" altLang="en-US" sz="2000" b="1" dirty="0">
                <a:solidFill>
                  <a:schemeClr val="tx1"/>
                </a:solidFill>
                <a:latin typeface="+mn-lt"/>
              </a:rPr>
              <a:t>document</a:t>
            </a:r>
            <a:r>
              <a:rPr lang="en-US" altLang="en-US" sz="2000" b="1" i="1" dirty="0">
                <a:solidFill>
                  <a:schemeClr val="accent1"/>
                </a:solidFill>
                <a:latin typeface="+mn-lt"/>
              </a:rPr>
              <a:t> </a:t>
            </a:r>
            <a:r>
              <a:rPr lang="en-US" altLang="en-US" sz="2000" dirty="0">
                <a:latin typeface="+mn-lt"/>
              </a:rPr>
              <a:t>issued by the project initiator or sponsor formally sanctioning existence of the project and authorizes the project manager to begin applying organizational resources to project activities.</a:t>
            </a:r>
          </a:p>
          <a:p>
            <a:pPr marL="255600" indent="-255600">
              <a:buSzPct val="100000"/>
              <a:buFont typeface="Arial" panose="020B0604020202020204" pitchFamily="34" charset="0"/>
              <a:buChar char="•"/>
            </a:pPr>
            <a:r>
              <a:rPr lang="en-US" altLang="en-US" sz="2000" dirty="0">
                <a:latin typeface="+mn-lt"/>
              </a:rPr>
              <a:t>Is created once project sponsors have done their “homework” to verify that:</a:t>
            </a:r>
          </a:p>
          <a:p>
            <a:pPr marL="741600" lvl="1" indent="-284400">
              <a:buFont typeface="Arial" panose="020B0604020202020204" pitchFamily="34" charset="0"/>
              <a:buChar char="–"/>
            </a:pPr>
            <a:r>
              <a:rPr lang="en-US" altLang="en-US" sz="2000" dirty="0"/>
              <a:t>there is </a:t>
            </a:r>
            <a:r>
              <a:rPr lang="en-US" altLang="en-US" sz="2000" dirty="0">
                <a:latin typeface="+mn-lt"/>
              </a:rPr>
              <a:t>a business case for the project</a:t>
            </a:r>
          </a:p>
          <a:p>
            <a:pPr marL="741600" lvl="1" indent="-284400">
              <a:buFont typeface="Arial" panose="020B0604020202020204" pitchFamily="34" charset="0"/>
              <a:buChar char="–"/>
            </a:pPr>
            <a:r>
              <a:rPr lang="en-US" altLang="en-US" sz="2000" dirty="0">
                <a:latin typeface="+mn-lt"/>
              </a:rPr>
              <a:t>elements of project are understood</a:t>
            </a:r>
          </a:p>
          <a:p>
            <a:pPr marL="741600" lvl="1" indent="-284400">
              <a:buFont typeface="Arial" panose="020B0604020202020204" pitchFamily="34" charset="0"/>
              <a:buChar char="–"/>
            </a:pPr>
            <a:r>
              <a:rPr lang="en-US" altLang="en-US" sz="2000" dirty="0">
                <a:latin typeface="+mn-lt"/>
              </a:rPr>
              <a:t>company-specific information for the project has been applied</a:t>
            </a:r>
          </a:p>
          <a:p>
            <a:pPr marL="255600" indent="-255600">
              <a:buSzPct val="100000"/>
            </a:pPr>
            <a:r>
              <a:rPr lang="en-US" altLang="en-US" sz="2000" dirty="0">
                <a:latin typeface="+mn-lt"/>
              </a:rPr>
              <a:t>It demonstrates formal company approval of the project.</a:t>
            </a:r>
          </a:p>
        </p:txBody>
      </p:sp>
    </p:spTree>
    <p:extLst>
      <p:ext uri="{BB962C8B-B14F-4D97-AF65-F5344CB8AC3E}">
        <p14:creationId xmlns:p14="http://schemas.microsoft.com/office/powerpoint/2010/main" val="3933513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Scope Statement</a:t>
            </a:r>
          </a:p>
        </p:txBody>
      </p:sp>
      <p:sp>
        <p:nvSpPr>
          <p:cNvPr id="4" name="Text Placeholder 3"/>
          <p:cNvSpPr>
            <a:spLocks noGrp="1"/>
          </p:cNvSpPr>
          <p:nvPr>
            <p:ph type="body" idx="1"/>
          </p:nvPr>
        </p:nvSpPr>
        <p:spPr/>
        <p:txBody>
          <a:bodyPr/>
          <a:lstStyle/>
          <a:p>
            <a:pPr marL="432000" indent="-432000">
              <a:buFont typeface="+mj-lt"/>
              <a:buAutoNum type="arabicPeriod"/>
            </a:pPr>
            <a:r>
              <a:rPr lang="en-US" altLang="en-US" sz="2400" dirty="0">
                <a:latin typeface="+mn-lt"/>
              </a:rPr>
              <a:t>Establish project </a:t>
            </a:r>
            <a:r>
              <a:rPr lang="en-US" altLang="en-US" sz="2400" b="1" dirty="0">
                <a:solidFill>
                  <a:schemeClr val="tx1"/>
                </a:solidFill>
                <a:latin typeface="+mn-lt"/>
              </a:rPr>
              <a:t>goal criteria </a:t>
            </a:r>
            <a:r>
              <a:rPr lang="en-US" altLang="en-US" sz="2400" dirty="0">
                <a:latin typeface="+mn-lt"/>
              </a:rPr>
              <a:t>to include:</a:t>
            </a:r>
          </a:p>
        </p:txBody>
      </p:sp>
      <p:sp>
        <p:nvSpPr>
          <p:cNvPr id="3" name="Content Placeholder 2"/>
          <p:cNvSpPr>
            <a:spLocks noGrp="1"/>
          </p:cNvSpPr>
          <p:nvPr>
            <p:ph sz="quarter" idx="13"/>
          </p:nvPr>
        </p:nvSpPr>
        <p:spPr>
          <a:xfrm>
            <a:off x="457200" y="2101062"/>
            <a:ext cx="8229600" cy="2279876"/>
          </a:xfrm>
        </p:spPr>
        <p:txBody>
          <a:bodyPr/>
          <a:lstStyle/>
          <a:p>
            <a:pPr marL="741600" lvl="1" indent="-284400" eaLnBrk="1" hangingPunct="1">
              <a:buNone/>
            </a:pPr>
            <a:r>
              <a:rPr lang="en-US" altLang="en-US" sz="2400" dirty="0">
                <a:solidFill>
                  <a:schemeClr val="tx2"/>
                </a:solidFill>
                <a:latin typeface="+mn-lt"/>
              </a:rPr>
              <a:t>a.</a:t>
            </a:r>
            <a:r>
              <a:rPr lang="en-US" altLang="en-US" sz="2400" dirty="0">
                <a:latin typeface="+mn-lt"/>
              </a:rPr>
              <a:t> cost</a:t>
            </a:r>
          </a:p>
          <a:p>
            <a:pPr marL="741600" lvl="1" indent="-284400" eaLnBrk="1" hangingPunct="1">
              <a:buNone/>
            </a:pPr>
            <a:r>
              <a:rPr lang="en-US" altLang="en-US" sz="2400" dirty="0">
                <a:solidFill>
                  <a:schemeClr val="tx2"/>
                </a:solidFill>
                <a:latin typeface="+mn-lt"/>
              </a:rPr>
              <a:t>b.</a:t>
            </a:r>
            <a:r>
              <a:rPr lang="en-US" altLang="en-US" sz="2400" dirty="0">
                <a:latin typeface="+mn-lt"/>
              </a:rPr>
              <a:t> schedule</a:t>
            </a:r>
          </a:p>
          <a:p>
            <a:pPr marL="741600" lvl="1" indent="-284400" eaLnBrk="1" hangingPunct="1">
              <a:buNone/>
            </a:pPr>
            <a:r>
              <a:rPr lang="en-US" altLang="en-US" sz="2400" dirty="0">
                <a:solidFill>
                  <a:schemeClr val="tx2"/>
                </a:solidFill>
                <a:latin typeface="+mn-lt"/>
              </a:rPr>
              <a:t>c.</a:t>
            </a:r>
            <a:r>
              <a:rPr lang="en-US" altLang="en-US" sz="2400" dirty="0">
                <a:latin typeface="+mn-lt"/>
              </a:rPr>
              <a:t> performance</a:t>
            </a:r>
          </a:p>
          <a:p>
            <a:pPr marL="741600" lvl="1" indent="-284400" eaLnBrk="1" hangingPunct="1">
              <a:buNone/>
            </a:pPr>
            <a:r>
              <a:rPr lang="en-US" altLang="en-US" sz="2400" dirty="0">
                <a:solidFill>
                  <a:schemeClr val="tx2"/>
                </a:solidFill>
                <a:latin typeface="+mn-lt"/>
              </a:rPr>
              <a:t>d.</a:t>
            </a:r>
            <a:r>
              <a:rPr lang="en-US" altLang="en-US" sz="2400" dirty="0">
                <a:latin typeface="+mn-lt"/>
              </a:rPr>
              <a:t> deliverables</a:t>
            </a:r>
          </a:p>
          <a:p>
            <a:pPr marL="741600" lvl="1" indent="-284400" eaLnBrk="1" hangingPunct="1">
              <a:buNone/>
            </a:pPr>
            <a:r>
              <a:rPr lang="en-US" altLang="en-US" sz="2400" dirty="0">
                <a:solidFill>
                  <a:schemeClr val="tx2"/>
                </a:solidFill>
                <a:latin typeface="+mn-lt"/>
              </a:rPr>
              <a:t>e.</a:t>
            </a:r>
            <a:r>
              <a:rPr lang="en-US" altLang="en-US" sz="2400" dirty="0">
                <a:latin typeface="+mn-lt"/>
              </a:rPr>
              <a:t> review and approval “gates”</a:t>
            </a:r>
          </a:p>
        </p:txBody>
      </p:sp>
      <p:sp>
        <p:nvSpPr>
          <p:cNvPr id="7" name="Content Placeholder 6"/>
          <p:cNvSpPr>
            <a:spLocks noGrp="1"/>
          </p:cNvSpPr>
          <p:nvPr>
            <p:ph sz="quarter" idx="16"/>
          </p:nvPr>
        </p:nvSpPr>
        <p:spPr>
          <a:xfrm>
            <a:off x="457200" y="4428606"/>
            <a:ext cx="8229600" cy="1634049"/>
          </a:xfrm>
        </p:spPr>
        <p:txBody>
          <a:bodyPr/>
          <a:lstStyle/>
          <a:p>
            <a:pPr marL="432000" indent="-432000" eaLnBrk="1" hangingPunct="1">
              <a:buFontTx/>
              <a:buAutoNum type="arabicPeriod" startAt="2"/>
            </a:pPr>
            <a:r>
              <a:rPr lang="en-US" altLang="en-US" sz="2400" dirty="0">
                <a:latin typeface="+mn-lt"/>
              </a:rPr>
              <a:t>Develop </a:t>
            </a:r>
            <a:r>
              <a:rPr lang="en-US" altLang="en-US" sz="2400" b="1" dirty="0">
                <a:solidFill>
                  <a:schemeClr val="tx1"/>
                </a:solidFill>
                <a:latin typeface="+mn-lt"/>
              </a:rPr>
              <a:t>management plan </a:t>
            </a:r>
            <a:r>
              <a:rPr lang="en-US" altLang="en-US" sz="2400" dirty="0">
                <a:latin typeface="+mn-lt"/>
              </a:rPr>
              <a:t>for project</a:t>
            </a:r>
          </a:p>
          <a:p>
            <a:pPr marL="432000" indent="-432000" eaLnBrk="1" hangingPunct="1">
              <a:buFontTx/>
              <a:buAutoNum type="arabicPeriod" startAt="2"/>
            </a:pPr>
            <a:r>
              <a:rPr lang="en-US" altLang="en-US" sz="2400" dirty="0">
                <a:latin typeface="+mn-lt"/>
              </a:rPr>
              <a:t>Establish a </a:t>
            </a:r>
            <a:r>
              <a:rPr lang="en-US" altLang="en-US" sz="2400" b="1" dirty="0">
                <a:solidFill>
                  <a:schemeClr val="tx1"/>
                </a:solidFill>
                <a:latin typeface="+mn-lt"/>
              </a:rPr>
              <a:t>Work Breakdown Structure</a:t>
            </a:r>
          </a:p>
          <a:p>
            <a:pPr marL="432000" indent="-432000" eaLnBrk="1" hangingPunct="1">
              <a:buFontTx/>
              <a:buAutoNum type="arabicPeriod" startAt="2"/>
            </a:pPr>
            <a:r>
              <a:rPr lang="en-US" altLang="en-US" sz="2400" dirty="0">
                <a:latin typeface="+mn-lt"/>
              </a:rPr>
              <a:t>Create a </a:t>
            </a:r>
            <a:r>
              <a:rPr lang="en-US" altLang="en-US" sz="2400" b="1" dirty="0">
                <a:solidFill>
                  <a:schemeClr val="tx1"/>
                </a:solidFill>
                <a:latin typeface="+mn-lt"/>
              </a:rPr>
              <a:t>scope baseline</a:t>
            </a:r>
          </a:p>
        </p:txBody>
      </p:sp>
    </p:spTree>
    <p:extLst>
      <p:ext uri="{BB962C8B-B14F-4D97-AF65-F5344CB8AC3E}">
        <p14:creationId xmlns:p14="http://schemas.microsoft.com/office/powerpoint/2010/main" val="1100012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Work Breakdown Structure (W</a:t>
            </a:r>
            <a:r>
              <a:rPr lang="en-US" sz="100" dirty="0">
                <a:solidFill>
                  <a:schemeClr val="tx2"/>
                </a:solidFill>
              </a:rPr>
              <a:t> </a:t>
            </a:r>
            <a:r>
              <a:rPr lang="en-US" dirty="0">
                <a:solidFill>
                  <a:schemeClr val="tx2"/>
                </a:solidFill>
              </a:rPr>
              <a:t>B</a:t>
            </a:r>
            <a:r>
              <a:rPr lang="en-US" sz="100" dirty="0">
                <a:solidFill>
                  <a:schemeClr val="tx2"/>
                </a:solidFill>
              </a:rPr>
              <a:t> </a:t>
            </a:r>
            <a:r>
              <a:rPr lang="en-US" dirty="0">
                <a:solidFill>
                  <a:schemeClr val="tx2"/>
                </a:solidFill>
              </a:rPr>
              <a:t>S)</a:t>
            </a:r>
          </a:p>
        </p:txBody>
      </p:sp>
      <p:sp>
        <p:nvSpPr>
          <p:cNvPr id="3" name="Content Placeholder 2"/>
          <p:cNvSpPr>
            <a:spLocks noGrp="1"/>
          </p:cNvSpPr>
          <p:nvPr>
            <p:ph idx="1"/>
          </p:nvPr>
        </p:nvSpPr>
        <p:spPr/>
        <p:txBody>
          <a:bodyPr/>
          <a:lstStyle/>
          <a:p>
            <a:pPr marL="0" indent="0">
              <a:buNone/>
            </a:pPr>
            <a:r>
              <a:rPr lang="en-US" sz="2400" dirty="0">
                <a:latin typeface="+mn-lt"/>
              </a:rPr>
              <a:t>The W</a:t>
            </a:r>
            <a:r>
              <a:rPr lang="en-US" sz="100" dirty="0">
                <a:latin typeface="+mn-lt"/>
              </a:rPr>
              <a:t> </a:t>
            </a:r>
            <a:r>
              <a:rPr lang="en-US" sz="2400" dirty="0">
                <a:latin typeface="+mn-lt"/>
              </a:rPr>
              <a:t>B</a:t>
            </a:r>
            <a:r>
              <a:rPr lang="en-US" sz="100" dirty="0">
                <a:latin typeface="+mn-lt"/>
              </a:rPr>
              <a:t> </a:t>
            </a:r>
            <a:r>
              <a:rPr lang="en-US" sz="2400" dirty="0">
                <a:latin typeface="+mn-lt"/>
              </a:rPr>
              <a:t>S is a </a:t>
            </a:r>
            <a:r>
              <a:rPr lang="en-US" sz="2400" b="1" dirty="0">
                <a:solidFill>
                  <a:schemeClr val="tx1"/>
                </a:solidFill>
                <a:latin typeface="+mn-lt"/>
              </a:rPr>
              <a:t>hierarchical decomposition </a:t>
            </a:r>
            <a:r>
              <a:rPr lang="en-US" sz="2400" dirty="0">
                <a:latin typeface="+mn-lt"/>
              </a:rPr>
              <a:t>of the total scope of work to be carried out by the project team to accomplish the project objectives and create the project deliverables. Each deliverable is decomposed, or broken down, into specific “bite-sized” pieces representing work to be completed.</a:t>
            </a:r>
          </a:p>
        </p:txBody>
      </p:sp>
    </p:spTree>
    <p:extLst>
      <p:ext uri="{BB962C8B-B14F-4D97-AF65-F5344CB8AC3E}">
        <p14:creationId xmlns:p14="http://schemas.microsoft.com/office/powerpoint/2010/main" val="14294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Work Breakdown Structure Purpose</a:t>
            </a:r>
          </a:p>
        </p:txBody>
      </p:sp>
      <p:sp>
        <p:nvSpPr>
          <p:cNvPr id="3" name="Content Placeholder 2"/>
          <p:cNvSpPr>
            <a:spLocks noGrp="1"/>
          </p:cNvSpPr>
          <p:nvPr>
            <p:ph idx="1"/>
          </p:nvPr>
        </p:nvSpPr>
        <p:spPr/>
        <p:txBody>
          <a:bodyPr/>
          <a:lstStyle/>
          <a:p>
            <a:pPr marL="0" indent="0" eaLnBrk="1" hangingPunct="1">
              <a:buFont typeface="Wingdings" panose="05000000000000000000" pitchFamily="2" charset="2"/>
              <a:buNone/>
              <a:defRPr/>
            </a:pPr>
            <a:r>
              <a:rPr lang="en-US" sz="2400" dirty="0">
                <a:latin typeface="+mn-lt"/>
              </a:rPr>
              <a:t>W</a:t>
            </a:r>
            <a:r>
              <a:rPr lang="en-US" sz="100" dirty="0">
                <a:latin typeface="+mn-lt"/>
              </a:rPr>
              <a:t> </a:t>
            </a:r>
            <a:r>
              <a:rPr lang="en-US" sz="2400" dirty="0">
                <a:latin typeface="+mn-lt"/>
              </a:rPr>
              <a:t>B</a:t>
            </a:r>
            <a:r>
              <a:rPr lang="en-US" sz="100" dirty="0">
                <a:latin typeface="+mn-lt"/>
              </a:rPr>
              <a:t> </a:t>
            </a:r>
            <a:r>
              <a:rPr lang="en-US" sz="2400" dirty="0">
                <a:latin typeface="+mn-lt"/>
              </a:rPr>
              <a:t>S serves six main purposes:</a:t>
            </a:r>
          </a:p>
          <a:p>
            <a:pPr marL="432000" indent="-432000" eaLnBrk="1" hangingPunct="1">
              <a:buSzPct val="100000"/>
              <a:buFont typeface="+mj-lt"/>
              <a:buAutoNum type="arabicPeriod"/>
              <a:defRPr/>
            </a:pPr>
            <a:r>
              <a:rPr lang="en-US" sz="2400" dirty="0">
                <a:latin typeface="+mn-lt"/>
              </a:rPr>
              <a:t>Echoes project objectives</a:t>
            </a:r>
          </a:p>
          <a:p>
            <a:pPr marL="432000" indent="-432000" eaLnBrk="1" hangingPunct="1">
              <a:buSzPct val="100000"/>
              <a:buFont typeface="+mj-lt"/>
              <a:buAutoNum type="arabicPeriod"/>
              <a:defRPr/>
            </a:pPr>
            <a:r>
              <a:rPr lang="en-US" sz="2400" dirty="0">
                <a:latin typeface="+mn-lt"/>
              </a:rPr>
              <a:t>Organization chart for the project</a:t>
            </a:r>
          </a:p>
          <a:p>
            <a:pPr marL="432000" indent="-432000" eaLnBrk="1" hangingPunct="1">
              <a:buSzPct val="100000"/>
              <a:buFont typeface="+mj-lt"/>
              <a:buAutoNum type="arabicPeriod"/>
              <a:defRPr/>
            </a:pPr>
            <a:r>
              <a:rPr lang="en-US" sz="2400" dirty="0">
                <a:latin typeface="+mn-lt"/>
              </a:rPr>
              <a:t>Creates logic for tracking costs, schedule, and performance specifications</a:t>
            </a:r>
          </a:p>
          <a:p>
            <a:pPr marL="432000" indent="-432000" eaLnBrk="1" hangingPunct="1">
              <a:buSzPct val="100000"/>
              <a:buFont typeface="+mj-lt"/>
              <a:buAutoNum type="arabicPeriod"/>
              <a:defRPr/>
            </a:pPr>
            <a:r>
              <a:rPr lang="en-US" sz="2400" dirty="0">
                <a:latin typeface="+mn-lt"/>
              </a:rPr>
              <a:t>Communicates project status</a:t>
            </a:r>
          </a:p>
          <a:p>
            <a:pPr marL="432000" indent="-432000" eaLnBrk="1" hangingPunct="1">
              <a:buSzPct val="100000"/>
              <a:buFont typeface="+mj-lt"/>
              <a:buAutoNum type="arabicPeriod"/>
              <a:defRPr/>
            </a:pPr>
            <a:r>
              <a:rPr lang="en-US" sz="2400" dirty="0">
                <a:latin typeface="+mn-lt"/>
              </a:rPr>
              <a:t>Improves project communication</a:t>
            </a:r>
          </a:p>
          <a:p>
            <a:pPr marL="432000" indent="-432000" eaLnBrk="1" hangingPunct="1">
              <a:buSzPct val="100000"/>
              <a:buFont typeface="+mj-lt"/>
              <a:buAutoNum type="arabicPeriod"/>
              <a:defRPr/>
            </a:pPr>
            <a:r>
              <a:rPr lang="en-US" sz="2400" dirty="0">
                <a:latin typeface="+mn-lt"/>
              </a:rPr>
              <a:t>Demonstrates control structure</a:t>
            </a:r>
          </a:p>
        </p:txBody>
      </p:sp>
    </p:spTree>
    <p:extLst>
      <p:ext uri="{BB962C8B-B14F-4D97-AF65-F5344CB8AC3E}">
        <p14:creationId xmlns:p14="http://schemas.microsoft.com/office/powerpoint/2010/main" val="1141868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W</a:t>
            </a:r>
            <a:r>
              <a:rPr lang="en-US" sz="100" dirty="0">
                <a:solidFill>
                  <a:schemeClr val="tx2"/>
                </a:solidFill>
              </a:rPr>
              <a:t> </a:t>
            </a:r>
            <a:r>
              <a:rPr lang="en-US" dirty="0">
                <a:solidFill>
                  <a:schemeClr val="tx2"/>
                </a:solidFill>
              </a:rPr>
              <a:t>B</a:t>
            </a:r>
            <a:r>
              <a:rPr lang="en-US" sz="100" dirty="0">
                <a:solidFill>
                  <a:schemeClr val="tx2"/>
                </a:solidFill>
              </a:rPr>
              <a:t> </a:t>
            </a:r>
            <a:r>
              <a:rPr lang="en-US" dirty="0">
                <a:solidFill>
                  <a:schemeClr val="tx2"/>
                </a:solidFill>
              </a:rPr>
              <a:t>S Hierarchy</a:t>
            </a:r>
          </a:p>
        </p:txBody>
      </p:sp>
      <p:sp>
        <p:nvSpPr>
          <p:cNvPr id="3" name="Content Placeholder 2"/>
          <p:cNvSpPr>
            <a:spLocks noGrp="1"/>
          </p:cNvSpPr>
          <p:nvPr>
            <p:ph idx="1"/>
          </p:nvPr>
        </p:nvSpPr>
        <p:spPr>
          <a:xfrm>
            <a:off x="457200" y="1600201"/>
            <a:ext cx="8229600" cy="547914"/>
          </a:xfrm>
        </p:spPr>
        <p:txBody>
          <a:bodyPr/>
          <a:lstStyle/>
          <a:p>
            <a:pPr marL="255600" indent="-255600">
              <a:buSzPct val="100000"/>
              <a:buFont typeface="Arial" panose="020B0604020202020204" pitchFamily="34" charset="0"/>
              <a:buChar char="•"/>
            </a:pPr>
            <a:r>
              <a:rPr lang="en-US" altLang="en-US" sz="2400" dirty="0">
                <a:latin typeface="+mn-lt"/>
              </a:rPr>
              <a:t>The logic of hierarchy for the W</a:t>
            </a:r>
            <a:r>
              <a:rPr lang="en-US" altLang="en-US" sz="100" dirty="0">
                <a:latin typeface="+mn-lt"/>
              </a:rPr>
              <a:t> </a:t>
            </a:r>
            <a:r>
              <a:rPr lang="en-US" altLang="en-US" sz="2400" dirty="0">
                <a:latin typeface="+mn-lt"/>
              </a:rPr>
              <a:t>B</a:t>
            </a:r>
            <a:r>
              <a:rPr lang="en-US" altLang="en-US" sz="100" dirty="0">
                <a:latin typeface="+mn-lt"/>
              </a:rPr>
              <a:t> </a:t>
            </a:r>
            <a:r>
              <a:rPr lang="en-US" altLang="en-US" sz="2400" dirty="0">
                <a:latin typeface="+mn-lt"/>
              </a:rPr>
              <a:t>S follows this form:</a:t>
            </a:r>
          </a:p>
        </p:txBody>
      </p:sp>
      <p:graphicFrame>
        <p:nvGraphicFramePr>
          <p:cNvPr id="6" name="Table 5"/>
          <p:cNvGraphicFramePr>
            <a:graphicFrameLocks noGrp="1"/>
          </p:cNvGraphicFramePr>
          <p:nvPr>
            <p:extLst>
              <p:ext uri="{D42A27DB-BD31-4B8C-83A1-F6EECF244321}">
                <p14:modId xmlns:p14="http://schemas.microsoft.com/office/powerpoint/2010/main" val="3764341413"/>
              </p:ext>
            </p:extLst>
          </p:nvPr>
        </p:nvGraphicFramePr>
        <p:xfrm>
          <a:off x="457199" y="2504279"/>
          <a:ext cx="8229602" cy="2434596"/>
        </p:xfrm>
        <a:graphic>
          <a:graphicData uri="http://schemas.openxmlformats.org/drawingml/2006/table">
            <a:tbl>
              <a:tblPr firstRow="1" bandRow="1">
                <a:tableStyleId>{2D5ABB26-0587-4C30-8999-92F81FD0307C}</a:tableStyleId>
              </a:tblPr>
              <a:tblGrid>
                <a:gridCol w="2344058">
                  <a:extLst>
                    <a:ext uri="{9D8B030D-6E8A-4147-A177-3AD203B41FA5}">
                      <a16:colId xmlns:a16="http://schemas.microsoft.com/office/drawing/2014/main" val="1035014050"/>
                    </a:ext>
                  </a:extLst>
                </a:gridCol>
                <a:gridCol w="2177143">
                  <a:extLst>
                    <a:ext uri="{9D8B030D-6E8A-4147-A177-3AD203B41FA5}">
                      <a16:colId xmlns:a16="http://schemas.microsoft.com/office/drawing/2014/main" val="2805141048"/>
                    </a:ext>
                  </a:extLst>
                </a:gridCol>
                <a:gridCol w="3708401">
                  <a:extLst>
                    <a:ext uri="{9D8B030D-6E8A-4147-A177-3AD203B41FA5}">
                      <a16:colId xmlns:a16="http://schemas.microsoft.com/office/drawing/2014/main" val="2384971352"/>
                    </a:ext>
                  </a:extLst>
                </a:gridCol>
              </a:tblGrid>
              <a:tr h="340847">
                <a:tc>
                  <a:txBody>
                    <a:bodyPr/>
                    <a:lstStyle/>
                    <a:p>
                      <a:r>
                        <a:rPr lang="en-US" sz="1800" b="1" dirty="0"/>
                        <a:t>Level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t>W</a:t>
                      </a:r>
                      <a:r>
                        <a:rPr lang="en-US" sz="100" b="1" dirty="0"/>
                        <a:t> </a:t>
                      </a:r>
                      <a:r>
                        <a:rPr lang="en-US" sz="1800" b="1" dirty="0"/>
                        <a:t>B</a:t>
                      </a:r>
                      <a:r>
                        <a:rPr lang="en-US" sz="100" b="1" dirty="0"/>
                        <a:t> </a:t>
                      </a:r>
                      <a:r>
                        <a:rPr lang="en-US" sz="1800" b="1" dirty="0"/>
                        <a:t>S Term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t>Description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403035"/>
                  </a:ext>
                </a:extLst>
              </a:tr>
              <a:tr h="476252">
                <a:tc>
                  <a:txBody>
                    <a:bodyPr/>
                    <a:lstStyle/>
                    <a:p>
                      <a:r>
                        <a:rPr lang="en-US" sz="1800" dirty="0"/>
                        <a:t>Level 1 (Highest)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Project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The overall project</a:t>
                      </a:r>
                      <a:r>
                        <a:rPr lang="en-US" sz="1800" baseline="0" dirty="0"/>
                        <a:t> </a:t>
                      </a:r>
                      <a:r>
                        <a:rPr lang="en-US" sz="1800" dirty="0"/>
                        <a:t>under</a:t>
                      </a:r>
                      <a:r>
                        <a:rPr lang="en-US" sz="1800" baseline="0" dirty="0"/>
                        <a:t> </a:t>
                      </a:r>
                      <a:r>
                        <a:rPr lang="en-US" sz="1800" dirty="0"/>
                        <a:t>development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985813"/>
                  </a:ext>
                </a:extLst>
              </a:tr>
              <a:tr h="476252">
                <a:tc>
                  <a:txBody>
                    <a:bodyPr/>
                    <a:lstStyle/>
                    <a:p>
                      <a:r>
                        <a:rPr lang="en-US" sz="1800" dirty="0"/>
                        <a:t>Level 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Deliverable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The major project</a:t>
                      </a:r>
                      <a:r>
                        <a:rPr lang="en-US" sz="1800" baseline="0" dirty="0"/>
                        <a:t> </a:t>
                      </a:r>
                      <a:r>
                        <a:rPr lang="en-US" sz="1800" dirty="0"/>
                        <a:t>components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8597394"/>
                  </a:ext>
                </a:extLst>
              </a:tr>
              <a:tr h="476252">
                <a:tc>
                  <a:txBody>
                    <a:bodyPr/>
                    <a:lstStyle/>
                    <a:p>
                      <a:r>
                        <a:rPr lang="en-US" sz="1800" dirty="0"/>
                        <a:t>Level 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Subdeliverable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Supporting</a:t>
                      </a:r>
                      <a:r>
                        <a:rPr lang="en-US" sz="1800" baseline="0" dirty="0"/>
                        <a:t> </a:t>
                      </a:r>
                      <a:r>
                        <a:rPr lang="en-US" sz="1800" dirty="0"/>
                        <a:t>deliverables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2423931"/>
                  </a:ext>
                </a:extLst>
              </a:tr>
              <a:tr h="476252">
                <a:tc>
                  <a:txBody>
                    <a:bodyPr/>
                    <a:lstStyle/>
                    <a:p>
                      <a:r>
                        <a:rPr lang="en-US" sz="1800" dirty="0"/>
                        <a:t>Level 4 (Lowest)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Work package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1800" dirty="0"/>
                        <a:t>Individual project</a:t>
                      </a:r>
                      <a:r>
                        <a:rPr lang="en-US" sz="1800" baseline="0" dirty="0"/>
                        <a:t> </a:t>
                      </a:r>
                      <a:r>
                        <a:rPr lang="en-US" sz="1800" dirty="0"/>
                        <a:t>activities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0017969"/>
                  </a:ext>
                </a:extLst>
              </a:tr>
            </a:tbl>
          </a:graphicData>
        </a:graphic>
      </p:graphicFrame>
    </p:spTree>
    <p:extLst>
      <p:ext uri="{BB962C8B-B14F-4D97-AF65-F5344CB8AC3E}">
        <p14:creationId xmlns:p14="http://schemas.microsoft.com/office/powerpoint/2010/main" val="952234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Defining a Work Package</a:t>
            </a:r>
          </a:p>
        </p:txBody>
      </p:sp>
      <p:sp>
        <p:nvSpPr>
          <p:cNvPr id="3" name="Content Placeholder 2"/>
          <p:cNvSpPr>
            <a:spLocks noGrp="1"/>
          </p:cNvSpPr>
          <p:nvPr>
            <p:ph idx="1"/>
          </p:nvPr>
        </p:nvSpPr>
        <p:spPr/>
        <p:txBody>
          <a:bodyPr/>
          <a:lstStyle/>
          <a:p>
            <a:pPr marL="255600" indent="-255600">
              <a:buSzPct val="100000"/>
            </a:pPr>
            <a:r>
              <a:rPr lang="en-US" altLang="en-US" sz="2400" dirty="0">
                <a:latin typeface="+mn-lt"/>
              </a:rPr>
              <a:t>Lowest level in W</a:t>
            </a:r>
            <a:r>
              <a:rPr lang="en-US" altLang="en-US" sz="100" dirty="0">
                <a:latin typeface="+mn-lt"/>
              </a:rPr>
              <a:t> </a:t>
            </a:r>
            <a:r>
              <a:rPr lang="en-US" altLang="en-US" sz="2400" dirty="0">
                <a:latin typeface="+mn-lt"/>
              </a:rPr>
              <a:t>B</a:t>
            </a:r>
            <a:r>
              <a:rPr lang="en-US" altLang="en-US" sz="100" dirty="0">
                <a:latin typeface="+mn-lt"/>
              </a:rPr>
              <a:t> </a:t>
            </a:r>
            <a:r>
              <a:rPr lang="en-US" altLang="en-US" sz="2400" dirty="0">
                <a:latin typeface="+mn-lt"/>
              </a:rPr>
              <a:t>S</a:t>
            </a:r>
          </a:p>
          <a:p>
            <a:pPr marL="255600" indent="-255600">
              <a:buSzPct val="100000"/>
            </a:pPr>
            <a:r>
              <a:rPr lang="en-US" altLang="en-US" sz="2400" dirty="0">
                <a:latin typeface="+mn-lt"/>
              </a:rPr>
              <a:t>Deliverable result</a:t>
            </a:r>
          </a:p>
          <a:p>
            <a:pPr marL="255600" indent="-255600">
              <a:buSzPct val="100000"/>
            </a:pPr>
            <a:r>
              <a:rPr lang="en-US" altLang="en-US" sz="2400" dirty="0">
                <a:latin typeface="+mn-lt"/>
              </a:rPr>
              <a:t>One owner</a:t>
            </a:r>
          </a:p>
          <a:p>
            <a:pPr marL="255600" indent="-255600">
              <a:buSzPct val="100000"/>
            </a:pPr>
            <a:r>
              <a:rPr lang="en-US" altLang="en-US" sz="2400" dirty="0">
                <a:latin typeface="+mn-lt"/>
              </a:rPr>
              <a:t>Miniature projects</a:t>
            </a:r>
          </a:p>
          <a:p>
            <a:pPr marL="255600" indent="-255600">
              <a:buSzPct val="100000"/>
            </a:pPr>
            <a:r>
              <a:rPr lang="en-US" altLang="en-US" sz="2400" dirty="0">
                <a:latin typeface="+mn-lt"/>
              </a:rPr>
              <a:t>Milestones</a:t>
            </a:r>
          </a:p>
          <a:p>
            <a:pPr marL="255600" indent="-255600">
              <a:buSzPct val="100000"/>
            </a:pPr>
            <a:r>
              <a:rPr lang="en-US" altLang="en-US" sz="2400" dirty="0">
                <a:latin typeface="+mn-lt"/>
              </a:rPr>
              <a:t>Fits organization</a:t>
            </a:r>
          </a:p>
          <a:p>
            <a:pPr marL="255600" indent="-255600">
              <a:buSzPct val="100000"/>
            </a:pPr>
            <a:r>
              <a:rPr lang="en-US" altLang="en-US" sz="2400" dirty="0">
                <a:latin typeface="+mn-lt"/>
              </a:rPr>
              <a:t>Trackable</a:t>
            </a:r>
          </a:p>
        </p:txBody>
      </p:sp>
    </p:spTree>
    <p:extLst>
      <p:ext uri="{BB962C8B-B14F-4D97-AF65-F5344CB8AC3E}">
        <p14:creationId xmlns:p14="http://schemas.microsoft.com/office/powerpoint/2010/main" val="3308976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solidFill>
                  <a:schemeClr val="tx2"/>
                </a:solidFill>
              </a:rPr>
              <a:t>Figure 5.3 Partial Work Breakdown Structure</a:t>
            </a:r>
          </a:p>
        </p:txBody>
      </p:sp>
      <p:pic>
        <p:nvPicPr>
          <p:cNvPr id="48" name="Picture 47" descr="A partial work breakdown structure has 1.0 at the top level, with tasks of 1.2 through 1.5 shown at the second level. 1.2 has subtasks of 1.2.1 through 1.2.3.  1.3 has subtasks of 1.3.1 and 1.3.2. 1.4 has subtasks of 1.4.1 through 1.4.3."/>
          <p:cNvPicPr>
            <a:picLocks noChangeAspect="1"/>
          </p:cNvPicPr>
          <p:nvPr/>
        </p:nvPicPr>
        <p:blipFill>
          <a:blip r:embed="rId2"/>
          <a:stretch>
            <a:fillRect/>
          </a:stretch>
        </p:blipFill>
        <p:spPr>
          <a:xfrm>
            <a:off x="721977" y="1815821"/>
            <a:ext cx="7700046" cy="3721892"/>
          </a:xfrm>
          <a:prstGeom prst="rect">
            <a:avLst/>
          </a:prstGeom>
        </p:spPr>
      </p:pic>
    </p:spTree>
    <p:extLst>
      <p:ext uri="{BB962C8B-B14F-4D97-AF65-F5344CB8AC3E}">
        <p14:creationId xmlns:p14="http://schemas.microsoft.com/office/powerpoint/2010/main" val="1995035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B1DA6-F445-15AA-0242-3C730D614C48}"/>
              </a:ext>
            </a:extLst>
          </p:cNvPr>
          <p:cNvSpPr>
            <a:spLocks noGrp="1"/>
          </p:cNvSpPr>
          <p:nvPr>
            <p:ph type="title"/>
          </p:nvPr>
        </p:nvSpPr>
        <p:spPr/>
        <p:txBody>
          <a:bodyPr/>
          <a:lstStyle/>
          <a:p>
            <a:r>
              <a:rPr lang="en-GB" dirty="0"/>
              <a:t>Question for you ! </a:t>
            </a:r>
            <a:endParaRPr lang="en-IE" dirty="0"/>
          </a:p>
        </p:txBody>
      </p:sp>
      <p:sp>
        <p:nvSpPr>
          <p:cNvPr id="3" name="Text Placeholder 2">
            <a:extLst>
              <a:ext uri="{FF2B5EF4-FFF2-40B4-BE49-F238E27FC236}">
                <a16:creationId xmlns:a16="http://schemas.microsoft.com/office/drawing/2014/main" id="{C76A0889-ED51-9FC6-2AC8-5FC4C4C01D9C}"/>
              </a:ext>
            </a:extLst>
          </p:cNvPr>
          <p:cNvSpPr>
            <a:spLocks noGrp="1"/>
          </p:cNvSpPr>
          <p:nvPr>
            <p:ph type="body" idx="1"/>
          </p:nvPr>
        </p:nvSpPr>
        <p:spPr/>
        <p:txBody>
          <a:bodyPr/>
          <a:lstStyle/>
          <a:p>
            <a:endParaRPr lang="en-IE"/>
          </a:p>
        </p:txBody>
      </p:sp>
      <p:sp>
        <p:nvSpPr>
          <p:cNvPr id="5" name="TextBox 4">
            <a:extLst>
              <a:ext uri="{FF2B5EF4-FFF2-40B4-BE49-F238E27FC236}">
                <a16:creationId xmlns:a16="http://schemas.microsoft.com/office/drawing/2014/main" id="{E0DD291C-F447-F224-F25D-0202BFA856ED}"/>
              </a:ext>
            </a:extLst>
          </p:cNvPr>
          <p:cNvSpPr txBox="1"/>
          <p:nvPr/>
        </p:nvSpPr>
        <p:spPr>
          <a:xfrm>
            <a:off x="457200" y="1850315"/>
            <a:ext cx="8439374" cy="1754326"/>
          </a:xfrm>
          <a:prstGeom prst="rect">
            <a:avLst/>
          </a:prstGeom>
          <a:noFill/>
        </p:spPr>
        <p:txBody>
          <a:bodyPr wrap="square">
            <a:spAutoFit/>
          </a:bodyPr>
          <a:lstStyle/>
          <a:p>
            <a:pPr algn="l"/>
            <a:r>
              <a:rPr lang="en-US" sz="1800" b="0" i="0" u="none" strike="noStrike" baseline="0" dirty="0">
                <a:latin typeface="PalatinoLTPro-Roman"/>
              </a:rPr>
              <a:t>Consider the case of a large urban hospital that has made the decision to introduce an organization-wide information technology (IT) system for</a:t>
            </a:r>
          </a:p>
          <a:p>
            <a:pPr algn="l"/>
            <a:r>
              <a:rPr lang="en-US" sz="1800" b="0" i="0" u="none" strike="noStrike" baseline="0" dirty="0">
                <a:latin typeface="PalatinoLTPro-Roman"/>
              </a:rPr>
              <a:t>billing, accounts receivable, patient record keeping, personnel supervision, and medical process control. The first step in launching this large installation project is to identify the important elements in introducing the technology. Can you identify the deliverables </a:t>
            </a:r>
            <a:r>
              <a:rPr lang="en-US" sz="1800" dirty="0">
                <a:latin typeface="PalatinoLTPro-Roman"/>
              </a:rPr>
              <a:t> </a:t>
            </a:r>
            <a:r>
              <a:rPr lang="en-US" sz="1800" b="0" i="0" u="none" strike="noStrike" baseline="0" dirty="0">
                <a:latin typeface="PalatinoLTPro-Roman"/>
              </a:rPr>
              <a:t>to install a new information system for an organization</a:t>
            </a:r>
            <a:endParaRPr lang="en-IE" sz="1800" dirty="0"/>
          </a:p>
        </p:txBody>
      </p:sp>
    </p:spTree>
    <p:extLst>
      <p:ext uri="{BB962C8B-B14F-4D97-AF65-F5344CB8AC3E}">
        <p14:creationId xmlns:p14="http://schemas.microsoft.com/office/powerpoint/2010/main" val="12762491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F5F02-17EE-9446-2A7D-95A4297A2A04}"/>
              </a:ext>
            </a:extLst>
          </p:cNvPr>
          <p:cNvSpPr>
            <a:spLocks noGrp="1"/>
          </p:cNvSpPr>
          <p:nvPr>
            <p:ph type="title"/>
          </p:nvPr>
        </p:nvSpPr>
        <p:spPr/>
        <p:txBody>
          <a:bodyPr/>
          <a:lstStyle/>
          <a:p>
            <a:r>
              <a:rPr lang="en-GB" dirty="0"/>
              <a:t>Example of tasks </a:t>
            </a:r>
            <a:endParaRPr lang="en-IE" dirty="0"/>
          </a:p>
        </p:txBody>
      </p:sp>
      <p:sp>
        <p:nvSpPr>
          <p:cNvPr id="4" name="Content Placeholder 3">
            <a:extLst>
              <a:ext uri="{FF2B5EF4-FFF2-40B4-BE49-F238E27FC236}">
                <a16:creationId xmlns:a16="http://schemas.microsoft.com/office/drawing/2014/main" id="{BFD5ADB2-66B2-7E6A-C269-A6DECBD2B234}"/>
              </a:ext>
            </a:extLst>
          </p:cNvPr>
          <p:cNvSpPr>
            <a:spLocks noGrp="1"/>
          </p:cNvSpPr>
          <p:nvPr>
            <p:ph idx="1"/>
          </p:nvPr>
        </p:nvSpPr>
        <p:spPr/>
        <p:txBody>
          <a:bodyPr/>
          <a:lstStyle/>
          <a:p>
            <a:pPr algn="l"/>
            <a:r>
              <a:rPr lang="en-US" sz="1800" b="0" i="0" u="none" strike="noStrike" baseline="0" dirty="0">
                <a:latin typeface="PalatinoLTPro-Roman"/>
              </a:rPr>
              <a:t>1. Match IT to </a:t>
            </a:r>
            <a:r>
              <a:rPr lang="en-US" sz="1800" b="0" i="0" u="none" strike="noStrike" baseline="0" dirty="0" err="1">
                <a:latin typeface="PalatinoLTPro-Roman"/>
              </a:rPr>
              <a:t>organisational</a:t>
            </a:r>
            <a:r>
              <a:rPr lang="en-US" sz="1800" b="0" i="0" u="none" strike="noStrike" baseline="0" dirty="0">
                <a:latin typeface="PalatinoLTPro-Roman"/>
              </a:rPr>
              <a:t> tasks and problems.</a:t>
            </a:r>
          </a:p>
          <a:p>
            <a:pPr algn="l"/>
            <a:r>
              <a:rPr lang="en-US" sz="1800" b="1" i="0" u="none" strike="noStrike" baseline="0" dirty="0">
                <a:latin typeface="PalatinoLTPro-Bold"/>
              </a:rPr>
              <a:t>2. </a:t>
            </a:r>
            <a:r>
              <a:rPr lang="en-US" sz="1800" b="0" i="0" u="none" strike="noStrike" baseline="0" dirty="0">
                <a:latin typeface="PalatinoLTPro-Roman"/>
              </a:rPr>
              <a:t>Identify IT user needs.</a:t>
            </a:r>
          </a:p>
          <a:p>
            <a:pPr algn="l"/>
            <a:r>
              <a:rPr lang="en-US" sz="1800" b="1" i="0" u="none" strike="noStrike" baseline="0" dirty="0">
                <a:latin typeface="PalatinoLTPro-Bold"/>
              </a:rPr>
              <a:t>3. </a:t>
            </a:r>
            <a:r>
              <a:rPr lang="en-US" sz="1800" b="0" i="0" u="none" strike="noStrike" baseline="0" dirty="0">
                <a:latin typeface="PalatinoLTPro-Roman"/>
              </a:rPr>
              <a:t>Prepare an informal proposal to present to top management (or other decision makers) for IT </a:t>
            </a:r>
            <a:r>
              <a:rPr lang="en-IE" sz="1800" b="0" i="0" u="none" strike="noStrike" baseline="0" dirty="0">
                <a:latin typeface="PalatinoLTPro-Roman"/>
              </a:rPr>
              <a:t>acquisition.</a:t>
            </a:r>
          </a:p>
          <a:p>
            <a:pPr algn="l"/>
            <a:r>
              <a:rPr lang="en-US" sz="1800" b="1" i="0" u="none" strike="noStrike" baseline="0" dirty="0">
                <a:latin typeface="PalatinoLTPro-Bold"/>
              </a:rPr>
              <a:t>4. </a:t>
            </a:r>
            <a:r>
              <a:rPr lang="en-US" sz="1800" b="0" i="0" u="none" strike="noStrike" baseline="0" dirty="0">
                <a:latin typeface="PalatinoLTPro-Roman"/>
              </a:rPr>
              <a:t>Seek and hire an IT consultant.</a:t>
            </a:r>
          </a:p>
          <a:p>
            <a:pPr algn="l"/>
            <a:r>
              <a:rPr lang="en-US" sz="1800" b="1" i="0" u="none" strike="noStrike" baseline="0" dirty="0">
                <a:latin typeface="PalatinoLTPro-Bold"/>
              </a:rPr>
              <a:t>5. </a:t>
            </a:r>
            <a:r>
              <a:rPr lang="en-US" sz="1800" b="0" i="0" u="none" strike="noStrike" baseline="0" dirty="0">
                <a:latin typeface="PalatinoLTPro-Roman"/>
              </a:rPr>
              <a:t>Seek staff and departmental support for the IT.</a:t>
            </a:r>
          </a:p>
          <a:p>
            <a:pPr algn="l"/>
            <a:r>
              <a:rPr lang="en-US" sz="1800" b="1" i="0" u="none" strike="noStrike" baseline="0" dirty="0">
                <a:latin typeface="PalatinoLTPro-Bold"/>
              </a:rPr>
              <a:t>6. </a:t>
            </a:r>
            <a:r>
              <a:rPr lang="en-US" sz="1800" b="0" i="0" u="none" strike="noStrike" baseline="0" dirty="0">
                <a:latin typeface="PalatinoLTPro-Roman"/>
              </a:rPr>
              <a:t>Identify the most appropriate location within the organization for the IT hardware to be </a:t>
            </a:r>
            <a:r>
              <a:rPr lang="en-IE" sz="1800" b="0" i="0" u="none" strike="noStrike" baseline="0" dirty="0">
                <a:latin typeface="PalatinoLTPro-Roman"/>
              </a:rPr>
              <a:t>located.</a:t>
            </a:r>
          </a:p>
          <a:p>
            <a:pPr algn="l"/>
            <a:r>
              <a:rPr lang="en-US" sz="1800" b="1" i="0" u="none" strike="noStrike" baseline="0" dirty="0">
                <a:latin typeface="PalatinoLTPro-Bold"/>
              </a:rPr>
              <a:t>7. </a:t>
            </a:r>
            <a:r>
              <a:rPr lang="en-US" sz="1800" b="0" i="0" u="none" strike="noStrike" baseline="0" dirty="0">
                <a:latin typeface="PalatinoLTPro-Roman"/>
              </a:rPr>
              <a:t>Prepare a formal proposal for IT introduction.</a:t>
            </a:r>
          </a:p>
          <a:p>
            <a:pPr algn="l"/>
            <a:r>
              <a:rPr lang="en-US" sz="1800" b="1" i="0" u="none" strike="noStrike" baseline="0" dirty="0">
                <a:latin typeface="PalatinoLTPro-Bold"/>
              </a:rPr>
              <a:t>8. </a:t>
            </a:r>
            <a:r>
              <a:rPr lang="en-US" sz="1800" b="0" i="0" u="none" strike="noStrike" baseline="0" dirty="0">
                <a:latin typeface="PalatinoLTPro-Roman"/>
              </a:rPr>
              <a:t>Undertake a request for proposals (RFPs) from IT vendors.</a:t>
            </a:r>
          </a:p>
          <a:p>
            <a:pPr algn="l"/>
            <a:r>
              <a:rPr lang="en-US" sz="1800" b="1" i="0" u="none" strike="noStrike" baseline="0" dirty="0">
                <a:latin typeface="PalatinoLTPro-Bold"/>
              </a:rPr>
              <a:t>9</a:t>
            </a:r>
            <a:endParaRPr lang="en-IE" dirty="0"/>
          </a:p>
        </p:txBody>
      </p:sp>
    </p:spTree>
    <p:extLst>
      <p:ext uri="{BB962C8B-B14F-4D97-AF65-F5344CB8AC3E}">
        <p14:creationId xmlns:p14="http://schemas.microsoft.com/office/powerpoint/2010/main" val="784538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8F7D3-E872-8882-51F1-EF24E2BBC796}"/>
              </a:ext>
            </a:extLst>
          </p:cNvPr>
          <p:cNvSpPr>
            <a:spLocks noGrp="1"/>
          </p:cNvSpPr>
          <p:nvPr>
            <p:ph type="title"/>
          </p:nvPr>
        </p:nvSpPr>
        <p:spPr/>
        <p:txBody>
          <a:bodyPr/>
          <a:lstStyle/>
          <a:p>
            <a:r>
              <a:rPr lang="en-GB" dirty="0"/>
              <a:t>Example of tasks</a:t>
            </a:r>
            <a:endParaRPr lang="en-IE" dirty="0"/>
          </a:p>
        </p:txBody>
      </p:sp>
      <p:sp>
        <p:nvSpPr>
          <p:cNvPr id="3" name="Content Placeholder 2">
            <a:extLst>
              <a:ext uri="{FF2B5EF4-FFF2-40B4-BE49-F238E27FC236}">
                <a16:creationId xmlns:a16="http://schemas.microsoft.com/office/drawing/2014/main" id="{69FDB346-7955-6237-A5D8-7FB1B40BFC13}"/>
              </a:ext>
            </a:extLst>
          </p:cNvPr>
          <p:cNvSpPr>
            <a:spLocks noGrp="1"/>
          </p:cNvSpPr>
          <p:nvPr>
            <p:ph idx="1"/>
          </p:nvPr>
        </p:nvSpPr>
        <p:spPr/>
        <p:txBody>
          <a:bodyPr/>
          <a:lstStyle/>
          <a:p>
            <a:pPr algn="l"/>
            <a:r>
              <a:rPr lang="en-US" sz="1600" b="1" i="0" u="none" strike="noStrike" baseline="0" dirty="0">
                <a:latin typeface="PalatinoLTPro-Roman"/>
              </a:rPr>
              <a:t>9. </a:t>
            </a:r>
            <a:r>
              <a:rPr lang="en-US" sz="1600" b="0" i="0" u="none" strike="noStrike" baseline="0" dirty="0">
                <a:latin typeface="PalatinoLTPro-Roman"/>
              </a:rPr>
              <a:t>Conduct a pilot project or a series of pilot projects using different IT options.</a:t>
            </a:r>
          </a:p>
          <a:p>
            <a:pPr algn="l"/>
            <a:r>
              <a:rPr lang="en-US" sz="1600" b="1" i="0" u="none" strike="noStrike" baseline="0" dirty="0">
                <a:latin typeface="PalatinoLTPro-Bold"/>
              </a:rPr>
              <a:t>10. </a:t>
            </a:r>
            <a:r>
              <a:rPr lang="en-US" sz="1600" b="0" i="0" u="none" strike="noStrike" baseline="0" dirty="0">
                <a:latin typeface="PalatinoLTPro-Roman"/>
              </a:rPr>
              <a:t>Enter a contract for purchase.</a:t>
            </a:r>
          </a:p>
          <a:p>
            <a:pPr algn="l"/>
            <a:r>
              <a:rPr lang="en-US" sz="1600" b="1" i="0" u="none" strike="noStrike" baseline="0" dirty="0">
                <a:latin typeface="PalatinoLTPro-Bold"/>
              </a:rPr>
              <a:t>11. </a:t>
            </a:r>
            <a:r>
              <a:rPr lang="en-US" sz="1600" b="0" i="0" u="none" strike="noStrike" baseline="0" dirty="0">
                <a:latin typeface="PalatinoLTPro-Roman"/>
              </a:rPr>
              <a:t>Adopt and use IT technology.</a:t>
            </a:r>
            <a:endParaRPr lang="en-IE" dirty="0"/>
          </a:p>
        </p:txBody>
      </p:sp>
    </p:spTree>
    <p:extLst>
      <p:ext uri="{BB962C8B-B14F-4D97-AF65-F5344CB8AC3E}">
        <p14:creationId xmlns:p14="http://schemas.microsoft.com/office/powerpoint/2010/main" val="146009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D6FFA-D278-1E8F-661E-1D6D0C01DDDD}"/>
              </a:ext>
            </a:extLst>
          </p:cNvPr>
          <p:cNvSpPr>
            <a:spLocks noGrp="1"/>
          </p:cNvSpPr>
          <p:nvPr>
            <p:ph type="title"/>
          </p:nvPr>
        </p:nvSpPr>
        <p:spPr/>
        <p:txBody>
          <a:bodyPr/>
          <a:lstStyle/>
          <a:p>
            <a:r>
              <a:rPr lang="en-GB" dirty="0"/>
              <a:t>Example of WBS</a:t>
            </a:r>
            <a:endParaRPr lang="en-IE" dirty="0"/>
          </a:p>
        </p:txBody>
      </p:sp>
      <p:pic>
        <p:nvPicPr>
          <p:cNvPr id="5" name="Content Placeholder 4">
            <a:extLst>
              <a:ext uri="{FF2B5EF4-FFF2-40B4-BE49-F238E27FC236}">
                <a16:creationId xmlns:a16="http://schemas.microsoft.com/office/drawing/2014/main" id="{D132469B-6B88-0727-82AA-4D189B621542}"/>
              </a:ext>
            </a:extLst>
          </p:cNvPr>
          <p:cNvPicPr>
            <a:picLocks noGrp="1" noChangeAspect="1"/>
          </p:cNvPicPr>
          <p:nvPr>
            <p:ph idx="1"/>
          </p:nvPr>
        </p:nvPicPr>
        <p:blipFill>
          <a:blip r:embed="rId2"/>
          <a:stretch>
            <a:fillRect/>
          </a:stretch>
        </p:blipFill>
        <p:spPr>
          <a:xfrm>
            <a:off x="1893079" y="602427"/>
            <a:ext cx="5708100" cy="6188681"/>
          </a:xfrm>
        </p:spPr>
      </p:pic>
    </p:spTree>
    <p:extLst>
      <p:ext uri="{BB962C8B-B14F-4D97-AF65-F5344CB8AC3E}">
        <p14:creationId xmlns:p14="http://schemas.microsoft.com/office/powerpoint/2010/main" val="1763921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chor="b"/>
          <a:lstStyle/>
          <a:p>
            <a:r>
              <a:rPr lang="en-US" dirty="0"/>
              <a:t>Figure 5.6 Sample W</a:t>
            </a:r>
            <a:r>
              <a:rPr lang="en-US" sz="100" dirty="0"/>
              <a:t> </a:t>
            </a:r>
            <a:r>
              <a:rPr lang="en-US" dirty="0"/>
              <a:t>B</a:t>
            </a:r>
            <a:r>
              <a:rPr lang="en-US" sz="100" dirty="0"/>
              <a:t> </a:t>
            </a:r>
            <a:r>
              <a:rPr lang="en-US" dirty="0"/>
              <a:t>S Development Using M</a:t>
            </a:r>
            <a:r>
              <a:rPr lang="en-US" sz="100" dirty="0"/>
              <a:t> </a:t>
            </a:r>
            <a:r>
              <a:rPr lang="en-US" dirty="0"/>
              <a:t>S Project </a:t>
            </a:r>
            <a:endParaRPr lang="en-US" dirty="0">
              <a:solidFill>
                <a:schemeClr val="tx2"/>
              </a:solidFill>
            </a:endParaRPr>
          </a:p>
        </p:txBody>
      </p:sp>
      <p:pic>
        <p:nvPicPr>
          <p:cNvPr id="15" name="Picture 14" descr="A Microsoft Project timeline screenshot of the I T installation project with a column of tasks broken down following the structure of Slide 15, next to a scrolling timeline of work weeks. Each task has a task mode option in the adjacent colum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678" y="1933390"/>
            <a:ext cx="7848643" cy="3839537"/>
          </a:xfrm>
          <a:prstGeom prst="rect">
            <a:avLst/>
          </a:prstGeom>
        </p:spPr>
      </p:pic>
    </p:spTree>
    <p:extLst>
      <p:ext uri="{BB962C8B-B14F-4D97-AF65-F5344CB8AC3E}">
        <p14:creationId xmlns:p14="http://schemas.microsoft.com/office/powerpoint/2010/main" val="1663305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Organizational Breakdown Structure</a:t>
            </a:r>
          </a:p>
        </p:txBody>
      </p:sp>
      <p:sp>
        <p:nvSpPr>
          <p:cNvPr id="3" name="Content Placeholder 2"/>
          <p:cNvSpPr>
            <a:spLocks noGrp="1"/>
          </p:cNvSpPr>
          <p:nvPr>
            <p:ph type="body" idx="1"/>
          </p:nvPr>
        </p:nvSpPr>
        <p:spPr/>
        <p:txBody>
          <a:bodyPr/>
          <a:lstStyle/>
          <a:p>
            <a:pPr eaLnBrk="1" hangingPunct="1">
              <a:buFontTx/>
              <a:buNone/>
            </a:pPr>
            <a:r>
              <a:rPr lang="en-US" altLang="en-US" sz="2400" dirty="0">
                <a:latin typeface="+mn-lt"/>
              </a:rPr>
              <a:t>Organizational Breakdown Structure (O</a:t>
            </a:r>
            <a:r>
              <a:rPr lang="en-US" altLang="en-US" sz="100" dirty="0">
                <a:latin typeface="+mn-lt"/>
              </a:rPr>
              <a:t> </a:t>
            </a:r>
            <a:r>
              <a:rPr lang="en-US" altLang="en-US" sz="2400" dirty="0">
                <a:latin typeface="+mn-lt"/>
              </a:rPr>
              <a:t>B</a:t>
            </a:r>
            <a:r>
              <a:rPr lang="en-US" altLang="en-US" sz="100" dirty="0">
                <a:latin typeface="+mn-lt"/>
              </a:rPr>
              <a:t> </a:t>
            </a:r>
            <a:r>
              <a:rPr lang="en-US" altLang="en-US" sz="2400" dirty="0">
                <a:latin typeface="+mn-lt"/>
              </a:rPr>
              <a:t>S) allows</a:t>
            </a:r>
          </a:p>
          <a:p>
            <a:pPr marL="255600" indent="-255600" eaLnBrk="1" hangingPunct="1">
              <a:buSzPct val="100000"/>
            </a:pPr>
            <a:r>
              <a:rPr lang="en-US" altLang="en-US" sz="2400" dirty="0">
                <a:latin typeface="+mn-lt"/>
              </a:rPr>
              <a:t>work definition</a:t>
            </a:r>
          </a:p>
          <a:p>
            <a:pPr marL="255600" indent="-255600" eaLnBrk="1" hangingPunct="1">
              <a:buSzPct val="100000"/>
            </a:pPr>
            <a:r>
              <a:rPr lang="en-US" altLang="en-US" sz="2400" dirty="0">
                <a:latin typeface="+mn-lt"/>
              </a:rPr>
              <a:t>owner assignment of work packages</a:t>
            </a:r>
          </a:p>
          <a:p>
            <a:pPr marL="255600" indent="-255600" eaLnBrk="1" hangingPunct="1">
              <a:buSzPct val="100000"/>
            </a:pPr>
            <a:r>
              <a:rPr lang="en-US" altLang="en-US" sz="2400" dirty="0">
                <a:latin typeface="+mn-lt"/>
              </a:rPr>
              <a:t>budget assignment to departments</a:t>
            </a:r>
            <a:endParaRPr lang="en-US" altLang="en-US" sz="2400" b="1" dirty="0">
              <a:solidFill>
                <a:schemeClr val="tx1"/>
              </a:solidFill>
              <a:latin typeface="+mn-lt"/>
            </a:endParaRPr>
          </a:p>
        </p:txBody>
      </p:sp>
      <p:sp>
        <p:nvSpPr>
          <p:cNvPr id="4" name="Text Placeholder 3"/>
          <p:cNvSpPr>
            <a:spLocks noGrp="1"/>
          </p:cNvSpPr>
          <p:nvPr>
            <p:ph type="body" idx="2"/>
          </p:nvPr>
        </p:nvSpPr>
        <p:spPr>
          <a:xfrm>
            <a:off x="457200" y="3962400"/>
            <a:ext cx="8229600" cy="531223"/>
          </a:xfrm>
        </p:spPr>
        <p:txBody>
          <a:bodyPr/>
          <a:lstStyle/>
          <a:p>
            <a:pPr marL="0" indent="0">
              <a:buNone/>
            </a:pPr>
            <a:r>
              <a:rPr lang="en-US" altLang="en-US" sz="2400" b="1" dirty="0">
                <a:solidFill>
                  <a:schemeClr val="tx1"/>
                </a:solidFill>
                <a:latin typeface="+mn-lt"/>
              </a:rPr>
              <a:t>O</a:t>
            </a:r>
            <a:r>
              <a:rPr lang="en-US" altLang="en-US" sz="100" b="1" dirty="0">
                <a:solidFill>
                  <a:schemeClr val="tx1"/>
                </a:solidFill>
                <a:latin typeface="+mn-lt"/>
              </a:rPr>
              <a:t> </a:t>
            </a:r>
            <a:r>
              <a:rPr lang="en-US" altLang="en-US" sz="2400" b="1" dirty="0">
                <a:solidFill>
                  <a:schemeClr val="tx1"/>
                </a:solidFill>
                <a:latin typeface="+mn-lt"/>
              </a:rPr>
              <a:t>B</a:t>
            </a:r>
            <a:r>
              <a:rPr lang="en-US" altLang="en-US" sz="100" b="1" dirty="0">
                <a:solidFill>
                  <a:schemeClr val="tx1"/>
                </a:solidFill>
                <a:latin typeface="+mn-lt"/>
              </a:rPr>
              <a:t> </a:t>
            </a:r>
            <a:r>
              <a:rPr lang="en-US" altLang="en-US" sz="2400" b="1" dirty="0">
                <a:solidFill>
                  <a:schemeClr val="tx1"/>
                </a:solidFill>
                <a:latin typeface="+mn-lt"/>
              </a:rPr>
              <a:t>S links cost, activity, and responsibility.</a:t>
            </a:r>
          </a:p>
          <a:p>
            <a:pPr marL="0" indent="0">
              <a:buNone/>
            </a:pPr>
            <a:endParaRPr lang="en-US" altLang="en-US" sz="2400" b="1" dirty="0">
              <a:solidFill>
                <a:schemeClr val="tx1"/>
              </a:solidFill>
              <a:latin typeface="+mn-lt"/>
            </a:endParaRPr>
          </a:p>
        </p:txBody>
      </p:sp>
    </p:spTree>
    <p:extLst>
      <p:ext uri="{BB962C8B-B14F-4D97-AF65-F5344CB8AC3E}">
        <p14:creationId xmlns:p14="http://schemas.microsoft.com/office/powerpoint/2010/main" val="902840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407831" cy="1066799"/>
          </a:xfrm>
        </p:spPr>
        <p:txBody>
          <a:bodyPr anchor="b"/>
          <a:lstStyle/>
          <a:p>
            <a:r>
              <a:rPr lang="en-US" dirty="0">
                <a:solidFill>
                  <a:schemeClr val="tx2"/>
                </a:solidFill>
              </a:rPr>
              <a:t>Figure 5.7 The Intersection of the W</a:t>
            </a:r>
            <a:r>
              <a:rPr lang="en-US" sz="100" dirty="0">
                <a:solidFill>
                  <a:schemeClr val="tx2"/>
                </a:solidFill>
              </a:rPr>
              <a:t> </a:t>
            </a:r>
            <a:r>
              <a:rPr lang="en-US" dirty="0">
                <a:solidFill>
                  <a:schemeClr val="tx2"/>
                </a:solidFill>
              </a:rPr>
              <a:t>B</a:t>
            </a:r>
            <a:r>
              <a:rPr lang="en-US" sz="100" dirty="0">
                <a:solidFill>
                  <a:schemeClr val="tx2"/>
                </a:solidFill>
              </a:rPr>
              <a:t> </a:t>
            </a:r>
            <a:r>
              <a:rPr lang="en-US" dirty="0">
                <a:solidFill>
                  <a:schemeClr val="tx2"/>
                </a:solidFill>
              </a:rPr>
              <a:t>S and O</a:t>
            </a:r>
            <a:r>
              <a:rPr lang="en-US" sz="100" dirty="0">
                <a:solidFill>
                  <a:schemeClr val="tx2"/>
                </a:solidFill>
              </a:rPr>
              <a:t> </a:t>
            </a:r>
            <a:r>
              <a:rPr lang="en-US" dirty="0">
                <a:solidFill>
                  <a:schemeClr val="tx2"/>
                </a:solidFill>
              </a:rPr>
              <a:t>B</a:t>
            </a:r>
            <a:r>
              <a:rPr lang="en-US" sz="100" dirty="0">
                <a:solidFill>
                  <a:schemeClr val="tx2"/>
                </a:solidFill>
              </a:rPr>
              <a:t> </a:t>
            </a:r>
            <a:r>
              <a:rPr lang="en-US" dirty="0">
                <a:solidFill>
                  <a:schemeClr val="tx2"/>
                </a:solidFill>
              </a:rPr>
              <a:t>S</a:t>
            </a:r>
          </a:p>
        </p:txBody>
      </p:sp>
      <p:pic>
        <p:nvPicPr>
          <p:cNvPr id="5" name="Picture 4" descr="A W B S of the project, 1.0 I T installation, has horizontal deliverables of, 1.3 prepare proposal, 1.4 seek and hire I T consultant, and 1.5 seek support for I T. 1.4 has work packages shown horizontally of, 1.4.1 search committee, 1.4.2 develop criteria, 1.4.3 select consultant. O B S departments listed vertically are information systems, human resources, and procurement. Information systems has 3 cost accounts, human resources has 2 cost accounts, procurement has 2 cost account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3219" y="1575400"/>
            <a:ext cx="5017563" cy="4616923"/>
          </a:xfrm>
          <a:prstGeom prst="rect">
            <a:avLst/>
          </a:prstGeom>
        </p:spPr>
      </p:pic>
    </p:spTree>
    <p:extLst>
      <p:ext uri="{BB962C8B-B14F-4D97-AF65-F5344CB8AC3E}">
        <p14:creationId xmlns:p14="http://schemas.microsoft.com/office/powerpoint/2010/main" val="18812387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Figure 5.9 Cost Account Rollup Using O</a:t>
            </a:r>
            <a:r>
              <a:rPr lang="en-US" sz="100" dirty="0">
                <a:solidFill>
                  <a:schemeClr val="tx2"/>
                </a:solidFill>
              </a:rPr>
              <a:t> </a:t>
            </a:r>
            <a:r>
              <a:rPr lang="en-US" dirty="0">
                <a:solidFill>
                  <a:schemeClr val="tx2"/>
                </a:solidFill>
              </a:rPr>
              <a:t>B</a:t>
            </a:r>
            <a:r>
              <a:rPr lang="en-US" sz="100" dirty="0">
                <a:solidFill>
                  <a:schemeClr val="tx2"/>
                </a:solidFill>
              </a:rPr>
              <a:t> </a:t>
            </a:r>
            <a:r>
              <a:rPr lang="en-US" dirty="0">
                <a:solidFill>
                  <a:schemeClr val="tx2"/>
                </a:solidFill>
              </a:rPr>
              <a:t>S</a:t>
            </a:r>
          </a:p>
        </p:txBody>
      </p:sp>
      <p:pic>
        <p:nvPicPr>
          <p:cNvPr id="4" name="Picture 3" descr="The W B S of the I T installation project from Slide 18.&#10;The O B S now has the following cost accounts. Information systems. 1.4.1, $0. 1.4.2, $500. 1.4.3, $1000. Human resources. 1.4.1, $0. 1.4.2, $500. 1.4.3, null. Procurement. .4.1, null. 1.4.2, $500. 1.4.3, null. Totals. 1.4.1, $0. 1.4.2, $1500. 1.4.3, $100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8131" y="1410464"/>
            <a:ext cx="5067739" cy="4855774"/>
          </a:xfrm>
          <a:prstGeom prst="rect">
            <a:avLst/>
          </a:prstGeom>
        </p:spPr>
      </p:pic>
    </p:spTree>
    <p:extLst>
      <p:ext uri="{BB962C8B-B14F-4D97-AF65-F5344CB8AC3E}">
        <p14:creationId xmlns:p14="http://schemas.microsoft.com/office/powerpoint/2010/main" val="3427658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Figure 5.10 Responsibility Assignment Matrix</a:t>
            </a:r>
          </a:p>
        </p:txBody>
      </p:sp>
      <p:pic>
        <p:nvPicPr>
          <p:cNvPr id="7" name="Picture 6" descr="A RAM with deliverable tasks and codes listed vertically against lead project personnel listed horizontally. Tasks and codes from top to bottom are as follows. Problem analysis, 1.1.1, develop info on I T, 1.1.2, interview potential users, 1.2.1, develop presentation, 1.2.2, gain user buy in, 1.2.3, develop cost benefit ratio, 1.3.1. &#10;Lead project personnel from left to right are as follows. Bob, I T. David, I T. Susan, H R. Beth, procurement. James, engineering. Terry, legal. A legend contains the following symbols. A circle represents responsible, a star represents support, a filled square represents notification, a square represents approval. Matrix cells with symbols are as follows. Bob. 1.1.1, circle. 1.1.2, star. 1.2.1, square. 1.2.2, circle. 1.3.1, square. David. 1.1.1, filled square. 1.1.2, circle. 1.2.2, star. Susan. 1.1.2, filled square. 1.2.1, circle. 1.2.3, star. Beth. 1.2.1, star. 1.2.3, filled square. 1.3.1, circle. James. 1.1.1, star. 1.2.2, filled square. 1.2.3, circle. Terry. 1.1.1, square. 1.3.1, sta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5655" y="1520840"/>
            <a:ext cx="6019703" cy="4726040"/>
          </a:xfrm>
          <a:prstGeom prst="rect">
            <a:avLst/>
          </a:prstGeom>
        </p:spPr>
      </p:pic>
    </p:spTree>
    <p:extLst>
      <p:ext uri="{BB962C8B-B14F-4D97-AF65-F5344CB8AC3E}">
        <p14:creationId xmlns:p14="http://schemas.microsoft.com/office/powerpoint/2010/main" val="1336447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Defining a Project Work Package</a:t>
            </a:r>
            <a:endParaRPr lang="en-US" sz="2000" b="0" dirty="0">
              <a:solidFill>
                <a:schemeClr val="tx2"/>
              </a:solidFill>
            </a:endParaRPr>
          </a:p>
        </p:txBody>
      </p:sp>
      <p:sp>
        <p:nvSpPr>
          <p:cNvPr id="3" name="Content Placeholder 2"/>
          <p:cNvSpPr>
            <a:spLocks noGrp="1"/>
          </p:cNvSpPr>
          <p:nvPr>
            <p:ph idx="1"/>
          </p:nvPr>
        </p:nvSpPr>
        <p:spPr>
          <a:xfrm>
            <a:off x="457200" y="1600200"/>
            <a:ext cx="8229600" cy="4611914"/>
          </a:xfrm>
        </p:spPr>
        <p:txBody>
          <a:bodyPr/>
          <a:lstStyle/>
          <a:p>
            <a:pPr marL="432000" indent="-432000">
              <a:buSzPct val="100000"/>
              <a:buFont typeface="+mj-lt"/>
              <a:buAutoNum type="arabicPeriod"/>
              <a:defRPr/>
            </a:pPr>
            <a:r>
              <a:rPr lang="en-US" sz="2000" dirty="0">
                <a:latin typeface="+mn-lt"/>
              </a:rPr>
              <a:t>Work package forms lowest level in W</a:t>
            </a:r>
            <a:r>
              <a:rPr lang="en-US" sz="100" dirty="0">
                <a:latin typeface="+mn-lt"/>
              </a:rPr>
              <a:t> </a:t>
            </a:r>
            <a:r>
              <a:rPr lang="en-US" sz="2000" dirty="0">
                <a:latin typeface="+mn-lt"/>
              </a:rPr>
              <a:t>B</a:t>
            </a:r>
            <a:r>
              <a:rPr lang="en-US" sz="100" dirty="0">
                <a:latin typeface="+mn-lt"/>
              </a:rPr>
              <a:t> </a:t>
            </a:r>
            <a:r>
              <a:rPr lang="en-US" sz="2000" dirty="0">
                <a:latin typeface="+mn-lt"/>
              </a:rPr>
              <a:t>S.</a:t>
            </a:r>
          </a:p>
          <a:p>
            <a:pPr marL="432000" indent="-432000">
              <a:buSzPct val="100000"/>
              <a:buFont typeface="+mj-lt"/>
              <a:buAutoNum type="arabicPeriod"/>
              <a:defRPr/>
            </a:pPr>
            <a:r>
              <a:rPr lang="en-US" sz="2000" dirty="0">
                <a:latin typeface="+mn-lt"/>
              </a:rPr>
              <a:t>Work package has a deliverable result.</a:t>
            </a:r>
          </a:p>
          <a:p>
            <a:pPr marL="432000" indent="-432000">
              <a:buSzPct val="100000"/>
              <a:buFont typeface="+mj-lt"/>
              <a:buAutoNum type="arabicPeriod"/>
              <a:defRPr/>
            </a:pPr>
            <a:r>
              <a:rPr lang="en-US" sz="2000" dirty="0">
                <a:latin typeface="+mn-lt"/>
              </a:rPr>
              <a:t>Work package has one owner.</a:t>
            </a:r>
          </a:p>
          <a:p>
            <a:pPr marL="432000" indent="-432000">
              <a:buSzPct val="100000"/>
              <a:buFont typeface="+mj-lt"/>
              <a:buAutoNum type="arabicPeriod"/>
              <a:defRPr/>
            </a:pPr>
            <a:r>
              <a:rPr lang="en-US" sz="2000" dirty="0">
                <a:latin typeface="+mn-lt"/>
              </a:rPr>
              <a:t>Work package may be considered by its owner as a project in itself.</a:t>
            </a:r>
          </a:p>
          <a:p>
            <a:pPr marL="432000" indent="-432000">
              <a:buSzPct val="100000"/>
              <a:buFont typeface="+mj-lt"/>
              <a:buAutoNum type="arabicPeriod"/>
              <a:defRPr/>
            </a:pPr>
            <a:r>
              <a:rPr lang="en-US" sz="2000" dirty="0">
                <a:latin typeface="+mn-lt"/>
              </a:rPr>
              <a:t>Work package may include several milestones.</a:t>
            </a:r>
          </a:p>
          <a:p>
            <a:pPr marL="432000" indent="-432000">
              <a:buSzPct val="100000"/>
              <a:buFont typeface="+mj-lt"/>
              <a:buAutoNum type="arabicPeriod"/>
              <a:defRPr/>
            </a:pPr>
            <a:r>
              <a:rPr lang="en-US" sz="2000" dirty="0">
                <a:latin typeface="+mn-lt"/>
              </a:rPr>
              <a:t>Work package should fit organizational procedures and culture.</a:t>
            </a:r>
          </a:p>
          <a:p>
            <a:pPr marL="432000" indent="-432000">
              <a:buSzPct val="100000"/>
              <a:buFont typeface="+mj-lt"/>
              <a:buAutoNum type="arabicPeriod"/>
              <a:defRPr/>
            </a:pPr>
            <a:r>
              <a:rPr lang="en-US" sz="2000" dirty="0">
                <a:latin typeface="+mn-lt"/>
              </a:rPr>
              <a:t>The optimal size of a work package may be expressed in terms on labor hours, calendar time, cost, reporting period, and risks.</a:t>
            </a:r>
          </a:p>
        </p:txBody>
      </p:sp>
    </p:spTree>
    <p:extLst>
      <p:ext uri="{BB962C8B-B14F-4D97-AF65-F5344CB8AC3E}">
        <p14:creationId xmlns:p14="http://schemas.microsoft.com/office/powerpoint/2010/main" val="2842632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Work Authorization</a:t>
            </a:r>
          </a:p>
        </p:txBody>
      </p:sp>
      <p:sp>
        <p:nvSpPr>
          <p:cNvPr id="3" name="Content Placeholder 2"/>
          <p:cNvSpPr>
            <a:spLocks noGrp="1"/>
          </p:cNvSpPr>
          <p:nvPr>
            <p:ph type="body" idx="1"/>
          </p:nvPr>
        </p:nvSpPr>
        <p:spPr>
          <a:xfrm>
            <a:off x="457200" y="1600200"/>
            <a:ext cx="8229600" cy="2925305"/>
          </a:xfrm>
        </p:spPr>
        <p:txBody>
          <a:bodyPr/>
          <a:lstStyle/>
          <a:p>
            <a:pPr marL="533400" indent="-533400" eaLnBrk="1" hangingPunct="1">
              <a:buFontTx/>
              <a:buNone/>
            </a:pPr>
            <a:r>
              <a:rPr lang="en-US" altLang="en-US" sz="2200" dirty="0">
                <a:latin typeface="+mn-lt"/>
              </a:rPr>
              <a:t>The formal </a:t>
            </a:r>
            <a:r>
              <a:rPr lang="ja-JP" altLang="en-US" sz="2200" b="1" dirty="0">
                <a:solidFill>
                  <a:schemeClr val="tx1"/>
                </a:solidFill>
                <a:latin typeface="+mn-lt"/>
              </a:rPr>
              <a:t>“</a:t>
            </a:r>
            <a:r>
              <a:rPr lang="en-US" altLang="ja-JP" sz="2200" b="1" dirty="0">
                <a:solidFill>
                  <a:schemeClr val="tx1"/>
                </a:solidFill>
                <a:latin typeface="+mn-lt"/>
              </a:rPr>
              <a:t>go ahead</a:t>
            </a:r>
            <a:r>
              <a:rPr lang="ja-JP" altLang="en-US" sz="2200" b="1" dirty="0">
                <a:solidFill>
                  <a:schemeClr val="tx1"/>
                </a:solidFill>
                <a:latin typeface="+mn-lt"/>
              </a:rPr>
              <a:t>”</a:t>
            </a:r>
            <a:r>
              <a:rPr lang="en-US" altLang="ja-JP" sz="2200" dirty="0">
                <a:solidFill>
                  <a:schemeClr val="accent1"/>
                </a:solidFill>
                <a:latin typeface="+mn-lt"/>
              </a:rPr>
              <a:t> </a:t>
            </a:r>
            <a:r>
              <a:rPr lang="en-US" altLang="ja-JP" sz="2200" dirty="0">
                <a:latin typeface="+mn-lt"/>
              </a:rPr>
              <a:t>to begin work.</a:t>
            </a:r>
          </a:p>
          <a:p>
            <a:pPr marL="0" indent="0" eaLnBrk="1" hangingPunct="1">
              <a:buFontTx/>
              <a:buNone/>
            </a:pPr>
            <a:r>
              <a:rPr lang="en-US" altLang="en-US" sz="2200" dirty="0">
                <a:latin typeface="+mn-lt"/>
              </a:rPr>
              <a:t>Contractual documentation possesses some key identifiable features:</a:t>
            </a:r>
          </a:p>
          <a:p>
            <a:pPr marL="255600" indent="-255600" eaLnBrk="1" hangingPunct="1">
              <a:buSzPct val="100000"/>
              <a:buFont typeface="Arial" panose="020B0604020202020204" pitchFamily="34" charset="0"/>
              <a:buChar char="•"/>
            </a:pPr>
            <a:r>
              <a:rPr lang="en-US" altLang="en-US" sz="2200" dirty="0">
                <a:latin typeface="+mn-lt"/>
              </a:rPr>
              <a:t>Contractual requirements</a:t>
            </a:r>
          </a:p>
          <a:p>
            <a:pPr marL="255600" indent="-255600" eaLnBrk="1" hangingPunct="1">
              <a:buSzPct val="100000"/>
              <a:buFont typeface="Arial" panose="020B0604020202020204" pitchFamily="34" charset="0"/>
              <a:buChar char="•"/>
            </a:pPr>
            <a:r>
              <a:rPr lang="en-US" altLang="en-US" sz="2200" dirty="0">
                <a:latin typeface="+mn-lt"/>
              </a:rPr>
              <a:t>Valid consideration</a:t>
            </a:r>
          </a:p>
          <a:p>
            <a:pPr marL="255600" indent="-255600" eaLnBrk="1" hangingPunct="1">
              <a:buSzPct val="100000"/>
              <a:buFont typeface="Arial" panose="020B0604020202020204" pitchFamily="34" charset="0"/>
              <a:buChar char="•"/>
            </a:pPr>
            <a:r>
              <a:rPr lang="en-US" altLang="en-US" sz="2200" dirty="0">
                <a:latin typeface="+mn-lt"/>
              </a:rPr>
              <a:t>Contracted terms</a:t>
            </a:r>
          </a:p>
        </p:txBody>
      </p:sp>
      <p:sp>
        <p:nvSpPr>
          <p:cNvPr id="4" name="Text Placeholder 3"/>
          <p:cNvSpPr>
            <a:spLocks noGrp="1"/>
          </p:cNvSpPr>
          <p:nvPr>
            <p:ph type="body" idx="2"/>
          </p:nvPr>
        </p:nvSpPr>
        <p:spPr>
          <a:xfrm>
            <a:off x="457200" y="4612726"/>
            <a:ext cx="8229600" cy="538487"/>
          </a:xfrm>
        </p:spPr>
        <p:txBody>
          <a:bodyPr/>
          <a:lstStyle/>
          <a:p>
            <a:pPr marL="533400" indent="-533400" eaLnBrk="1" hangingPunct="1">
              <a:buFont typeface="Wingdings" panose="05000000000000000000" pitchFamily="2" charset="2"/>
              <a:buNone/>
            </a:pPr>
            <a:r>
              <a:rPr lang="en-US" altLang="en-US" sz="2200" dirty="0">
                <a:latin typeface="+mn-lt"/>
              </a:rPr>
              <a:t>Contracts range from:</a:t>
            </a:r>
          </a:p>
        </p:txBody>
      </p:sp>
      <p:pic>
        <p:nvPicPr>
          <p:cNvPr id="18" name="Picture 17" descr="Two rectangles with a double sided arrow pointing between them. The left rectangle has the caption Lump sum or Turnkey, and the right rectangle has the caption Cost Plus."/>
          <p:cNvPicPr>
            <a:picLocks noChangeAspect="1"/>
          </p:cNvPicPr>
          <p:nvPr/>
        </p:nvPicPr>
        <p:blipFill>
          <a:blip r:embed="rId2"/>
          <a:stretch>
            <a:fillRect/>
          </a:stretch>
        </p:blipFill>
        <p:spPr>
          <a:xfrm>
            <a:off x="1531820" y="5265203"/>
            <a:ext cx="6044801" cy="898551"/>
          </a:xfrm>
          <a:prstGeom prst="rect">
            <a:avLst/>
          </a:prstGeom>
        </p:spPr>
      </p:pic>
    </p:spTree>
    <p:extLst>
      <p:ext uri="{BB962C8B-B14F-4D97-AF65-F5344CB8AC3E}">
        <p14:creationId xmlns:p14="http://schemas.microsoft.com/office/powerpoint/2010/main" val="1413273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Scope Reporting</a:t>
            </a:r>
          </a:p>
        </p:txBody>
      </p:sp>
      <p:sp>
        <p:nvSpPr>
          <p:cNvPr id="3" name="Content Placeholder 2"/>
          <p:cNvSpPr>
            <a:spLocks noGrp="1"/>
          </p:cNvSpPr>
          <p:nvPr>
            <p:ph idx="1"/>
          </p:nvPr>
        </p:nvSpPr>
        <p:spPr/>
        <p:txBody>
          <a:bodyPr/>
          <a:lstStyle/>
          <a:p>
            <a:pPr marL="0" indent="0" eaLnBrk="1" hangingPunct="1">
              <a:buFontTx/>
              <a:buNone/>
            </a:pPr>
            <a:r>
              <a:rPr lang="en-US" altLang="en-US" sz="2400" dirty="0">
                <a:solidFill>
                  <a:schemeClr val="tx1"/>
                </a:solidFill>
                <a:latin typeface="+mn-lt"/>
              </a:rPr>
              <a:t>Determines </a:t>
            </a:r>
            <a:r>
              <a:rPr lang="en-US" altLang="en-US" sz="2400" b="1" dirty="0">
                <a:solidFill>
                  <a:schemeClr val="tx1"/>
                </a:solidFill>
                <a:latin typeface="+mn-lt"/>
              </a:rPr>
              <a:t>what</a:t>
            </a:r>
            <a:r>
              <a:rPr lang="en-US" altLang="en-US" sz="2400" dirty="0">
                <a:solidFill>
                  <a:schemeClr val="tx1"/>
                </a:solidFill>
                <a:latin typeface="+mn-lt"/>
              </a:rPr>
              <a:t> types of information reported, </a:t>
            </a:r>
            <a:r>
              <a:rPr lang="en-US" altLang="en-US" sz="2400" b="1" dirty="0">
                <a:solidFill>
                  <a:schemeClr val="tx1"/>
                </a:solidFill>
                <a:latin typeface="+mn-lt"/>
              </a:rPr>
              <a:t>who</a:t>
            </a:r>
            <a:r>
              <a:rPr lang="en-US" altLang="en-US" sz="2400" dirty="0">
                <a:solidFill>
                  <a:schemeClr val="tx1"/>
                </a:solidFill>
                <a:latin typeface="+mn-lt"/>
              </a:rPr>
              <a:t> receives copies, and </a:t>
            </a:r>
            <a:r>
              <a:rPr lang="en-US" altLang="en-US" sz="2400" b="1" dirty="0">
                <a:solidFill>
                  <a:schemeClr val="tx1"/>
                </a:solidFill>
                <a:latin typeface="+mn-lt"/>
              </a:rPr>
              <a:t>when</a:t>
            </a:r>
            <a:r>
              <a:rPr lang="en-US" altLang="en-US" sz="2400" dirty="0">
                <a:solidFill>
                  <a:schemeClr val="tx1"/>
                </a:solidFill>
                <a:latin typeface="+mn-lt"/>
              </a:rPr>
              <a:t> and </a:t>
            </a:r>
            <a:r>
              <a:rPr lang="en-US" altLang="en-US" sz="2400" b="1" dirty="0">
                <a:solidFill>
                  <a:schemeClr val="tx1"/>
                </a:solidFill>
                <a:latin typeface="+mn-lt"/>
              </a:rPr>
              <a:t>how</a:t>
            </a:r>
            <a:r>
              <a:rPr lang="en-US" altLang="en-US" sz="2400" dirty="0">
                <a:solidFill>
                  <a:schemeClr val="tx1"/>
                </a:solidFill>
                <a:latin typeface="+mn-lt"/>
              </a:rPr>
              <a:t> information is acquired and disseminated.</a:t>
            </a:r>
            <a:endParaRPr lang="en-US" altLang="en-US" sz="2400" dirty="0">
              <a:latin typeface="+mn-lt"/>
            </a:endParaRPr>
          </a:p>
          <a:p>
            <a:pPr marL="533400" indent="-533400" eaLnBrk="1" hangingPunct="1">
              <a:buFontTx/>
              <a:buNone/>
            </a:pPr>
            <a:r>
              <a:rPr lang="en-US" altLang="en-US" sz="2400" dirty="0">
                <a:latin typeface="+mn-lt"/>
              </a:rPr>
              <a:t>Typical project reports contain:</a:t>
            </a:r>
          </a:p>
          <a:p>
            <a:pPr marL="432000" indent="-432000" eaLnBrk="1" hangingPunct="1">
              <a:buSzPct val="100000"/>
              <a:buFontTx/>
              <a:buAutoNum type="arabicPeriod"/>
            </a:pPr>
            <a:r>
              <a:rPr lang="en-US" altLang="en-US" sz="2400" dirty="0">
                <a:latin typeface="+mn-lt"/>
              </a:rPr>
              <a:t>Cost status</a:t>
            </a:r>
          </a:p>
          <a:p>
            <a:pPr marL="432000" indent="-432000" eaLnBrk="1" hangingPunct="1">
              <a:buSzPct val="100000"/>
              <a:buFontTx/>
              <a:buAutoNum type="arabicPeriod"/>
            </a:pPr>
            <a:r>
              <a:rPr lang="en-US" altLang="en-US" sz="2400" dirty="0">
                <a:latin typeface="+mn-lt"/>
              </a:rPr>
              <a:t>Schedule status</a:t>
            </a:r>
          </a:p>
          <a:p>
            <a:pPr marL="432000" indent="-432000" eaLnBrk="1" hangingPunct="1">
              <a:buSzPct val="100000"/>
              <a:buFontTx/>
              <a:buAutoNum type="arabicPeriod"/>
            </a:pPr>
            <a:r>
              <a:rPr lang="en-US" altLang="en-US" sz="2400" dirty="0">
                <a:latin typeface="+mn-lt"/>
              </a:rPr>
              <a:t>Technical performance status</a:t>
            </a:r>
          </a:p>
        </p:txBody>
      </p:sp>
    </p:spTree>
    <p:extLst>
      <p:ext uri="{BB962C8B-B14F-4D97-AF65-F5344CB8AC3E}">
        <p14:creationId xmlns:p14="http://schemas.microsoft.com/office/powerpoint/2010/main" val="2464636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Reasons Why Projects Fail</a:t>
            </a:r>
            <a:endParaRPr lang="en-US" sz="2000" b="0" dirty="0">
              <a:solidFill>
                <a:schemeClr val="tx2"/>
              </a:solidFill>
            </a:endParaRPr>
          </a:p>
        </p:txBody>
      </p:sp>
      <p:sp>
        <p:nvSpPr>
          <p:cNvPr id="3" name="Content Placeholder 2"/>
          <p:cNvSpPr>
            <a:spLocks noGrp="1"/>
          </p:cNvSpPr>
          <p:nvPr>
            <p:ph idx="1"/>
          </p:nvPr>
        </p:nvSpPr>
        <p:spPr>
          <a:xfrm>
            <a:off x="457200" y="1600200"/>
            <a:ext cx="8229600" cy="4684486"/>
          </a:xfrm>
        </p:spPr>
        <p:txBody>
          <a:bodyPr/>
          <a:lstStyle/>
          <a:p>
            <a:pPr marL="255600" indent="-255600" eaLnBrk="1" hangingPunct="1">
              <a:spcAft>
                <a:spcPct val="0"/>
              </a:spcAft>
              <a:buClr>
                <a:schemeClr val="tx2"/>
              </a:buClr>
              <a:buSzPct val="100000"/>
              <a:buFont typeface="Arial" panose="020B0604020202020204" pitchFamily="34" charset="0"/>
              <a:buChar char="•"/>
            </a:pPr>
            <a:r>
              <a:rPr lang="en-US" altLang="en-US" sz="2000" dirty="0">
                <a:latin typeface="+mn-lt"/>
              </a:rPr>
              <a:t>Politics</a:t>
            </a:r>
          </a:p>
          <a:p>
            <a:pPr marL="255600" indent="-255600" eaLnBrk="1" hangingPunct="1">
              <a:spcAft>
                <a:spcPct val="0"/>
              </a:spcAft>
              <a:buClr>
                <a:schemeClr val="tx2"/>
              </a:buClr>
              <a:buSzPct val="100000"/>
              <a:buFont typeface="Arial" panose="020B0604020202020204" pitchFamily="34" charset="0"/>
              <a:buChar char="•"/>
            </a:pPr>
            <a:r>
              <a:rPr lang="en-US" altLang="en-US" sz="2000" dirty="0">
                <a:latin typeface="+mn-lt"/>
              </a:rPr>
              <a:t>Naïve promises</a:t>
            </a:r>
          </a:p>
          <a:p>
            <a:pPr marL="255600" indent="-255600" eaLnBrk="1" hangingPunct="1">
              <a:spcAft>
                <a:spcPct val="0"/>
              </a:spcAft>
              <a:buClr>
                <a:schemeClr val="tx2"/>
              </a:buClr>
              <a:buSzPct val="100000"/>
              <a:buFont typeface="Arial" panose="020B0604020202020204" pitchFamily="34" charset="0"/>
              <a:buChar char="•"/>
            </a:pPr>
            <a:r>
              <a:rPr lang="en-US" altLang="en-US" sz="2000" dirty="0">
                <a:latin typeface="+mn-lt"/>
              </a:rPr>
              <a:t>Naïve optimism of youth</a:t>
            </a:r>
          </a:p>
          <a:p>
            <a:pPr marL="255600" indent="-255600" eaLnBrk="1" hangingPunct="1">
              <a:spcAft>
                <a:spcPct val="0"/>
              </a:spcAft>
              <a:buClr>
                <a:schemeClr val="tx2"/>
              </a:buClr>
              <a:buSzPct val="100000"/>
              <a:buFont typeface="Arial" panose="020B0604020202020204" pitchFamily="34" charset="0"/>
              <a:buChar char="•"/>
            </a:pPr>
            <a:r>
              <a:rPr lang="en-US" altLang="en-US" sz="2000" dirty="0">
                <a:latin typeface="+mn-lt"/>
              </a:rPr>
              <a:t>Startup mentality of fledgling entrepreneurial companies</a:t>
            </a:r>
          </a:p>
          <a:p>
            <a:pPr marL="255600" indent="-255600" eaLnBrk="1" hangingPunct="1">
              <a:spcAft>
                <a:spcPct val="0"/>
              </a:spcAft>
              <a:buClr>
                <a:schemeClr val="tx2"/>
              </a:buClr>
              <a:buSzPct val="100000"/>
              <a:buFont typeface="Arial" panose="020B0604020202020204" pitchFamily="34" charset="0"/>
              <a:buChar char="•"/>
            </a:pPr>
            <a:r>
              <a:rPr lang="en-IN" altLang="ja-JP" sz="2000" dirty="0">
                <a:latin typeface="+mn-lt"/>
              </a:rPr>
              <a:t>“</a:t>
            </a:r>
            <a:r>
              <a:rPr lang="en-US" altLang="ja-JP" sz="2000" dirty="0">
                <a:latin typeface="+mn-lt"/>
              </a:rPr>
              <a:t>Marine Corps</a:t>
            </a:r>
            <a:r>
              <a:rPr lang="en-IN" altLang="ja-JP" sz="2000" dirty="0">
                <a:latin typeface="+mn-lt"/>
              </a:rPr>
              <a:t>”</a:t>
            </a:r>
            <a:r>
              <a:rPr lang="en-US" altLang="ja-JP" sz="2000" dirty="0">
                <a:latin typeface="+mn-lt"/>
              </a:rPr>
              <a:t> mentality</a:t>
            </a:r>
          </a:p>
          <a:p>
            <a:pPr marL="255600" indent="-255600" eaLnBrk="1" hangingPunct="1">
              <a:spcAft>
                <a:spcPct val="0"/>
              </a:spcAft>
              <a:buClr>
                <a:schemeClr val="tx2"/>
              </a:buClr>
              <a:buSzPct val="100000"/>
              <a:buFont typeface="Arial" panose="020B0604020202020204" pitchFamily="34" charset="0"/>
              <a:buChar char="•"/>
            </a:pPr>
            <a:r>
              <a:rPr lang="en-US" altLang="en-US" sz="2000" dirty="0">
                <a:latin typeface="+mn-lt"/>
              </a:rPr>
              <a:t>Intense competition caused by globalization</a:t>
            </a:r>
          </a:p>
          <a:p>
            <a:pPr marL="255600" indent="-255600">
              <a:spcAft>
                <a:spcPct val="0"/>
              </a:spcAft>
              <a:buClr>
                <a:schemeClr val="tx2"/>
              </a:buClr>
              <a:buSzPct val="100000"/>
              <a:buFont typeface="Arial" panose="020B0604020202020204" pitchFamily="34" charset="0"/>
              <a:buChar char="•"/>
            </a:pPr>
            <a:r>
              <a:rPr lang="en-US" altLang="en-US" sz="2000" dirty="0">
                <a:latin typeface="+mn-lt"/>
              </a:rPr>
              <a:t>Intense competition caused by appearance of new technologies</a:t>
            </a:r>
          </a:p>
          <a:p>
            <a:pPr marL="255600" indent="-255600">
              <a:spcAft>
                <a:spcPct val="0"/>
              </a:spcAft>
              <a:buClr>
                <a:schemeClr val="tx2"/>
              </a:buClr>
              <a:buSzPct val="100000"/>
              <a:buFont typeface="Arial" panose="020B0604020202020204" pitchFamily="34" charset="0"/>
              <a:buChar char="•"/>
            </a:pPr>
            <a:r>
              <a:rPr lang="en-US" altLang="en-US" sz="2000" dirty="0">
                <a:latin typeface="+mn-lt"/>
              </a:rPr>
              <a:t>Intense pressure caused by unexpected government regulations</a:t>
            </a:r>
          </a:p>
          <a:p>
            <a:pPr marL="255600" indent="-255600">
              <a:spcAft>
                <a:spcPct val="0"/>
              </a:spcAft>
              <a:buClr>
                <a:schemeClr val="tx2"/>
              </a:buClr>
              <a:buSzPct val="100000"/>
              <a:buFont typeface="Arial" panose="020B0604020202020204" pitchFamily="34" charset="0"/>
              <a:buChar char="•"/>
            </a:pPr>
            <a:r>
              <a:rPr lang="en-US" altLang="en-US" sz="2000" dirty="0">
                <a:latin typeface="+mn-lt"/>
              </a:rPr>
              <a:t>Unexpected and/or unplanned crises</a:t>
            </a:r>
          </a:p>
        </p:txBody>
      </p:sp>
    </p:spTree>
    <p:extLst>
      <p:ext uri="{BB962C8B-B14F-4D97-AF65-F5344CB8AC3E}">
        <p14:creationId xmlns:p14="http://schemas.microsoft.com/office/powerpoint/2010/main" val="720114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Types of Control Systems</a:t>
            </a:r>
          </a:p>
        </p:txBody>
      </p:sp>
      <p:sp>
        <p:nvSpPr>
          <p:cNvPr id="3" name="Content Placeholder 2"/>
          <p:cNvSpPr>
            <a:spLocks noGrp="1"/>
          </p:cNvSpPr>
          <p:nvPr>
            <p:ph idx="1"/>
          </p:nvPr>
        </p:nvSpPr>
        <p:spPr/>
        <p:txBody>
          <a:bodyPr/>
          <a:lstStyle/>
          <a:p>
            <a:pPr marL="255600" indent="-255600">
              <a:buSzPct val="100000"/>
            </a:pPr>
            <a:r>
              <a:rPr lang="en-US" altLang="en-US" sz="2400" dirty="0">
                <a:latin typeface="+mn-lt"/>
              </a:rPr>
              <a:t>Configuration control</a:t>
            </a:r>
          </a:p>
          <a:p>
            <a:pPr marL="255600" indent="-255600">
              <a:buSzPct val="100000"/>
            </a:pPr>
            <a:r>
              <a:rPr lang="en-US" altLang="en-US" sz="2400" dirty="0">
                <a:latin typeface="+mn-lt"/>
              </a:rPr>
              <a:t>Design control</a:t>
            </a:r>
          </a:p>
          <a:p>
            <a:pPr marL="255600" indent="-255600">
              <a:buSzPct val="100000"/>
            </a:pPr>
            <a:r>
              <a:rPr lang="en-US" altLang="en-US" sz="2400" dirty="0">
                <a:latin typeface="+mn-lt"/>
              </a:rPr>
              <a:t>Trend monitoring</a:t>
            </a:r>
          </a:p>
          <a:p>
            <a:pPr marL="255600" indent="-255600">
              <a:buSzPct val="100000"/>
            </a:pPr>
            <a:r>
              <a:rPr lang="en-US" altLang="en-US" sz="2400" dirty="0">
                <a:latin typeface="+mn-lt"/>
              </a:rPr>
              <a:t>Document control</a:t>
            </a:r>
          </a:p>
          <a:p>
            <a:pPr marL="255600" indent="-255600">
              <a:buSzPct val="100000"/>
            </a:pPr>
            <a:r>
              <a:rPr lang="en-US" altLang="en-US" sz="2400" dirty="0">
                <a:latin typeface="+mn-lt"/>
              </a:rPr>
              <a:t>Acquisition control</a:t>
            </a:r>
          </a:p>
          <a:p>
            <a:pPr marL="255600" indent="-255600">
              <a:buSzPct val="100000"/>
            </a:pPr>
            <a:r>
              <a:rPr lang="en-US" altLang="en-US" sz="2400" dirty="0">
                <a:latin typeface="+mn-lt"/>
              </a:rPr>
              <a:t>Specification control</a:t>
            </a:r>
          </a:p>
        </p:txBody>
      </p:sp>
    </p:spTree>
    <p:extLst>
      <p:ext uri="{BB962C8B-B14F-4D97-AF65-F5344CB8AC3E}">
        <p14:creationId xmlns:p14="http://schemas.microsoft.com/office/powerpoint/2010/main" val="2174941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Type of control systems</a:t>
            </a:r>
          </a:p>
        </p:txBody>
      </p:sp>
      <p:sp>
        <p:nvSpPr>
          <p:cNvPr id="3" name="Content Placeholder 2"/>
          <p:cNvSpPr>
            <a:spLocks noGrp="1"/>
          </p:cNvSpPr>
          <p:nvPr>
            <p:ph idx="1"/>
          </p:nvPr>
        </p:nvSpPr>
        <p:spPr>
          <a:xfrm>
            <a:off x="457200" y="1600200"/>
            <a:ext cx="8229600" cy="4742543"/>
          </a:xfrm>
        </p:spPr>
        <p:txBody>
          <a:bodyPr/>
          <a:lstStyle/>
          <a:p>
            <a:r>
              <a:rPr lang="en-US" sz="2400" b="0" i="0" u="none" strike="noStrike" baseline="0" dirty="0">
                <a:latin typeface="PalatinoLTPro-Roman"/>
              </a:rPr>
              <a:t>• </a:t>
            </a:r>
            <a:r>
              <a:rPr lang="en-US" altLang="en-US" sz="2200" b="1" i="1" dirty="0">
                <a:latin typeface="Palatino Linotype" panose="02040502050505030304" pitchFamily="18" charset="0"/>
              </a:rPr>
              <a:t>Configuration management </a:t>
            </a:r>
            <a:r>
              <a:rPr lang="en-US" altLang="en-US" sz="2000" dirty="0">
                <a:latin typeface="Palatino Linotype" panose="02040502050505030304" pitchFamily="18" charset="0"/>
              </a:rPr>
              <a:t>is defined as: </a:t>
            </a:r>
            <a:r>
              <a:rPr lang="en-US" sz="2000" dirty="0">
                <a:solidFill>
                  <a:schemeClr val="tx1"/>
                </a:solidFill>
                <a:latin typeface="Palatino Linotype" panose="02040502050505030304" pitchFamily="18" charset="0"/>
                <a:ea typeface="ＭＳ Ｐゴシック" charset="0"/>
              </a:rPr>
              <a:t>A collection of formal documented procedures used to apply technical and administrative direction and surveillance to: identify and document the functional and physical characteristics of a product, result, service, or component; control any changes to such characteristics; record and report each change and its implementation status; and support the audit of the products, results, or components to verify conformance to requirements.</a:t>
            </a:r>
          </a:p>
          <a:p>
            <a:pPr marL="0" indent="0">
              <a:buNone/>
            </a:pPr>
            <a:r>
              <a:rPr lang="en-US" altLang="en-US" sz="2200" dirty="0">
                <a:latin typeface="Palatino Linotype" panose="02040502050505030304" pitchFamily="18" charset="0"/>
              </a:rPr>
              <a:t>Baseline is defined as:</a:t>
            </a:r>
          </a:p>
          <a:p>
            <a:pPr marL="0" indent="0">
              <a:buNone/>
            </a:pPr>
            <a:r>
              <a:rPr lang="en-US" altLang="en-US" sz="2200" b="1" dirty="0">
                <a:solidFill>
                  <a:schemeClr val="tx1"/>
                </a:solidFill>
                <a:latin typeface="Palatino Linotype" panose="02040502050505030304" pitchFamily="18" charset="0"/>
              </a:rPr>
              <a:t>The project</a:t>
            </a:r>
            <a:r>
              <a:rPr lang="ja-JP" altLang="en-US" sz="2200" b="1" dirty="0">
                <a:solidFill>
                  <a:schemeClr val="tx1"/>
                </a:solidFill>
                <a:latin typeface="Palatino Linotype" panose="02040502050505030304" pitchFamily="18" charset="0"/>
              </a:rPr>
              <a:t>’</a:t>
            </a:r>
            <a:r>
              <a:rPr lang="en-US" altLang="ja-JP" sz="2200" b="1" dirty="0">
                <a:solidFill>
                  <a:schemeClr val="tx1"/>
                </a:solidFill>
                <a:latin typeface="Palatino Linotype" panose="02040502050505030304" pitchFamily="18" charset="0"/>
              </a:rPr>
              <a:t>s scope fixed at a specific point in time—for example, the project</a:t>
            </a:r>
            <a:r>
              <a:rPr lang="ja-JP" altLang="en-US" sz="2200" b="1" dirty="0">
                <a:solidFill>
                  <a:schemeClr val="tx1"/>
                </a:solidFill>
                <a:latin typeface="Palatino Linotype" panose="02040502050505030304" pitchFamily="18" charset="0"/>
              </a:rPr>
              <a:t>’</a:t>
            </a:r>
            <a:r>
              <a:rPr lang="en-US" altLang="ja-JP" sz="2200" b="1" dirty="0">
                <a:solidFill>
                  <a:schemeClr val="tx1"/>
                </a:solidFill>
                <a:latin typeface="Palatino Linotype" panose="02040502050505030304" pitchFamily="18" charset="0"/>
              </a:rPr>
              <a:t>s schedul</a:t>
            </a:r>
            <a:r>
              <a:rPr lang="en-US" altLang="ja-JP" sz="2200" b="1" dirty="0">
                <a:solidFill>
                  <a:schemeClr val="tx1"/>
                </a:solidFill>
                <a:latin typeface="+mn-lt"/>
              </a:rPr>
              <a:t>ed start date.</a:t>
            </a:r>
            <a:endParaRPr lang="en-US" altLang="en-US" sz="2200" b="1" dirty="0">
              <a:solidFill>
                <a:schemeClr val="tx1"/>
              </a:solidFill>
              <a:latin typeface="+mn-lt"/>
            </a:endParaRPr>
          </a:p>
        </p:txBody>
      </p:sp>
    </p:spTree>
    <p:extLst>
      <p:ext uri="{BB962C8B-B14F-4D97-AF65-F5344CB8AC3E}">
        <p14:creationId xmlns:p14="http://schemas.microsoft.com/office/powerpoint/2010/main" val="3401880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57FE-18C2-2516-2A5F-EF54BE8D8784}"/>
              </a:ext>
            </a:extLst>
          </p:cNvPr>
          <p:cNvSpPr>
            <a:spLocks noGrp="1"/>
          </p:cNvSpPr>
          <p:nvPr>
            <p:ph type="title"/>
          </p:nvPr>
        </p:nvSpPr>
        <p:spPr/>
        <p:txBody>
          <a:bodyPr/>
          <a:lstStyle/>
          <a:p>
            <a:r>
              <a:rPr lang="en-GB" dirty="0"/>
              <a:t>Type of control system</a:t>
            </a:r>
            <a:endParaRPr lang="en-IE" dirty="0"/>
          </a:p>
        </p:txBody>
      </p:sp>
      <p:sp>
        <p:nvSpPr>
          <p:cNvPr id="3" name="Content Placeholder 2">
            <a:extLst>
              <a:ext uri="{FF2B5EF4-FFF2-40B4-BE49-F238E27FC236}">
                <a16:creationId xmlns:a16="http://schemas.microsoft.com/office/drawing/2014/main" id="{ABE4D14D-C342-A67E-7274-66744B011E75}"/>
              </a:ext>
            </a:extLst>
          </p:cNvPr>
          <p:cNvSpPr>
            <a:spLocks noGrp="1"/>
          </p:cNvSpPr>
          <p:nvPr>
            <p:ph idx="1"/>
          </p:nvPr>
        </p:nvSpPr>
        <p:spPr/>
        <p:txBody>
          <a:bodyPr/>
          <a:lstStyle/>
          <a:p>
            <a:pPr marL="0" indent="0">
              <a:buNone/>
            </a:pPr>
            <a:r>
              <a:rPr lang="en-US" sz="1800" b="0" i="0" u="none" strike="noStrike" baseline="0" dirty="0">
                <a:latin typeface="PalatinoLTPro-Roman"/>
              </a:rPr>
              <a:t>• </a:t>
            </a:r>
            <a:r>
              <a:rPr lang="en-US" sz="1800" b="1" i="1" u="none" strike="noStrike" baseline="0" dirty="0">
                <a:latin typeface="PalatinoLTPro-Roman"/>
              </a:rPr>
              <a:t>Design control </a:t>
            </a:r>
            <a:r>
              <a:rPr lang="en-US" sz="1800" b="0" i="0" u="none" strike="noStrike" baseline="0" dirty="0">
                <a:latin typeface="PalatinoLTPro-Roman"/>
              </a:rPr>
              <a:t>relates to systems for monitoring the project’s scope, schedule, and costs during the design stage. Chrysler developed Platform Design Teams (PDTs) composed of members from functional departments to ensure that new automobile designs could be immediately evaluated by experts in engineering, production, and marketing. </a:t>
            </a:r>
          </a:p>
          <a:p>
            <a:pPr algn="l"/>
            <a:r>
              <a:rPr lang="en-US" sz="1800" b="0" i="0" u="none" strike="noStrike" baseline="0" dirty="0">
                <a:latin typeface="PalatinoLTPro-Roman"/>
              </a:rPr>
              <a:t>• </a:t>
            </a:r>
            <a:r>
              <a:rPr lang="en-US" sz="1800" b="1" i="1" u="none" strike="noStrike" baseline="0" dirty="0">
                <a:latin typeface="PalatinoLTPro-BoldItalic"/>
              </a:rPr>
              <a:t>Trend monitoring </a:t>
            </a:r>
            <a:r>
              <a:rPr lang="en-US" sz="1800" b="0" i="0" u="none" strike="noStrike" baseline="0" dirty="0">
                <a:latin typeface="PalatinoLTPro-Roman"/>
              </a:rPr>
              <a:t>is the process of tracking the estimated costs, schedules, and resources needed against those planned. Trend monitoring shows significant deviations from norms for any of these important project metrics.</a:t>
            </a:r>
          </a:p>
          <a:p>
            <a:pPr algn="l"/>
            <a:r>
              <a:rPr lang="en-US" sz="1800" b="0" i="0" u="none" strike="noStrike" baseline="0" dirty="0">
                <a:latin typeface="PalatinoLTPro-Roman"/>
              </a:rPr>
              <a:t>• </a:t>
            </a:r>
            <a:r>
              <a:rPr lang="en-US" sz="1800" b="1" i="1" u="none" strike="noStrike" baseline="0" dirty="0">
                <a:latin typeface="PalatinoLTPro-BoldItalic"/>
              </a:rPr>
              <a:t>Document control </a:t>
            </a:r>
            <a:r>
              <a:rPr lang="en-US" sz="1800" b="0" i="0" u="none" strike="noStrike" baseline="0" dirty="0">
                <a:latin typeface="PalatinoLTPro-Roman"/>
              </a:rPr>
              <a:t>ensures that important documentation is compiled and disseminated in an orderly and timely fashion. Document control is a way of making sure that anything contractual or legal is documented and distributed. For example, document control would ensure that the minutes of a building committee’s deliberations concerning a new construction project are reproduced and forwarded to appropriate oversight groups.</a:t>
            </a:r>
          </a:p>
          <a:p>
            <a:pPr algn="l"/>
            <a:r>
              <a:rPr lang="en-US" sz="1800" b="0" i="0" u="none" strike="noStrike" baseline="0" dirty="0">
                <a:latin typeface="PalatinoLTPro-Roman"/>
              </a:rPr>
              <a:t>•.</a:t>
            </a:r>
            <a:endParaRPr lang="en-IE" dirty="0"/>
          </a:p>
        </p:txBody>
      </p:sp>
    </p:spTree>
    <p:extLst>
      <p:ext uri="{BB962C8B-B14F-4D97-AF65-F5344CB8AC3E}">
        <p14:creationId xmlns:p14="http://schemas.microsoft.com/office/powerpoint/2010/main" val="2520222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F30477-56EE-0D5F-83F2-C18CF3677706}"/>
              </a:ext>
            </a:extLst>
          </p:cNvPr>
          <p:cNvSpPr>
            <a:spLocks noGrp="1"/>
          </p:cNvSpPr>
          <p:nvPr>
            <p:ph idx="1"/>
          </p:nvPr>
        </p:nvSpPr>
        <p:spPr/>
        <p:txBody>
          <a:bodyPr/>
          <a:lstStyle/>
          <a:p>
            <a:pPr algn="l"/>
            <a:r>
              <a:rPr lang="en-US" sz="1600" b="1" i="1" u="none" strike="noStrike" baseline="0" dirty="0">
                <a:latin typeface="PalatinoLTPro-BoldItalic"/>
              </a:rPr>
              <a:t>Acquisition control </a:t>
            </a:r>
            <a:r>
              <a:rPr lang="en-US" sz="1600" b="0" i="0" u="none" strike="noStrike" baseline="0" dirty="0">
                <a:latin typeface="PalatinoLTPro-Roman"/>
              </a:rPr>
              <a:t>monitors systems used to acquire necessary project equipment, materials, or services needed for project development and implementation.</a:t>
            </a:r>
          </a:p>
          <a:p>
            <a:pPr algn="l"/>
            <a:r>
              <a:rPr lang="en-US" sz="1600" b="0" i="0" u="none" strike="noStrike" baseline="0" dirty="0">
                <a:latin typeface="PalatinoLTPro-Roman"/>
              </a:rPr>
              <a:t>• </a:t>
            </a:r>
            <a:r>
              <a:rPr lang="en-US" sz="1600" b="1" i="1" u="none" strike="noStrike" baseline="0" dirty="0">
                <a:latin typeface="PalatinoLTPro-BoldItalic"/>
              </a:rPr>
              <a:t>Specification control </a:t>
            </a:r>
            <a:r>
              <a:rPr lang="en-US" sz="1600" b="0" i="0" u="none" strike="noStrike" baseline="0" dirty="0">
                <a:latin typeface="PalatinoLTPro-Roman"/>
              </a:rPr>
              <a:t>ensures that project specifications are prepared clearly, communicated to all concerned parties, and changed only with proper authorization</a:t>
            </a:r>
            <a:endParaRPr lang="en-IE" dirty="0"/>
          </a:p>
        </p:txBody>
      </p:sp>
      <p:sp>
        <p:nvSpPr>
          <p:cNvPr id="4" name="Title 1">
            <a:extLst>
              <a:ext uri="{FF2B5EF4-FFF2-40B4-BE49-F238E27FC236}">
                <a16:creationId xmlns:a16="http://schemas.microsoft.com/office/drawing/2014/main" id="{7E69C648-D406-266F-E348-8BBAB65019AF}"/>
              </a:ext>
            </a:extLst>
          </p:cNvPr>
          <p:cNvSpPr>
            <a:spLocks noGrp="1"/>
          </p:cNvSpPr>
          <p:nvPr>
            <p:ph type="title"/>
          </p:nvPr>
        </p:nvSpPr>
        <p:spPr>
          <a:xfrm>
            <a:off x="457200" y="215900"/>
            <a:ext cx="8229600" cy="1096963"/>
          </a:xfrm>
        </p:spPr>
        <p:txBody>
          <a:bodyPr/>
          <a:lstStyle/>
          <a:p>
            <a:r>
              <a:rPr lang="en-US" dirty="0">
                <a:solidFill>
                  <a:schemeClr val="tx2"/>
                </a:solidFill>
              </a:rPr>
              <a:t>Type of control systems</a:t>
            </a:r>
          </a:p>
        </p:txBody>
      </p:sp>
    </p:spTree>
    <p:extLst>
      <p:ext uri="{BB962C8B-B14F-4D97-AF65-F5344CB8AC3E}">
        <p14:creationId xmlns:p14="http://schemas.microsoft.com/office/powerpoint/2010/main" val="1000278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Project Changes</a:t>
            </a:r>
          </a:p>
        </p:txBody>
      </p:sp>
      <p:sp>
        <p:nvSpPr>
          <p:cNvPr id="3" name="Content Placeholder 2"/>
          <p:cNvSpPr>
            <a:spLocks noGrp="1"/>
          </p:cNvSpPr>
          <p:nvPr>
            <p:ph idx="1"/>
          </p:nvPr>
        </p:nvSpPr>
        <p:spPr/>
        <p:txBody>
          <a:bodyPr/>
          <a:lstStyle/>
          <a:p>
            <a:pPr marL="0" indent="0">
              <a:buFont typeface="Wingdings" panose="05000000000000000000" pitchFamily="2" charset="2"/>
              <a:buNone/>
              <a:defRPr/>
            </a:pPr>
            <a:r>
              <a:rPr lang="en-US" sz="2400" dirty="0">
                <a:latin typeface="+mn-lt"/>
              </a:rPr>
              <a:t>Occur for one of several reasons:</a:t>
            </a:r>
          </a:p>
          <a:p>
            <a:pPr marL="255600" indent="-255600">
              <a:buSzPct val="100000"/>
              <a:defRPr/>
            </a:pPr>
            <a:r>
              <a:rPr lang="en-US" sz="2400" dirty="0">
                <a:latin typeface="+mn-lt"/>
              </a:rPr>
              <a:t>Initial planning errors, either technological or human</a:t>
            </a:r>
          </a:p>
          <a:p>
            <a:pPr marL="255600" indent="-255600">
              <a:buSzPct val="100000"/>
              <a:defRPr/>
            </a:pPr>
            <a:r>
              <a:rPr lang="en-US" sz="2400" dirty="0">
                <a:latin typeface="+mn-lt"/>
              </a:rPr>
              <a:t>Additional knowledge of project or environmental conditions</a:t>
            </a:r>
          </a:p>
          <a:p>
            <a:pPr marL="255600" indent="-255600">
              <a:buSzPct val="100000"/>
              <a:defRPr/>
            </a:pPr>
            <a:r>
              <a:rPr lang="en-US" sz="2400" dirty="0">
                <a:latin typeface="+mn-lt"/>
              </a:rPr>
              <a:t>Uncontrollable mandates</a:t>
            </a:r>
          </a:p>
          <a:p>
            <a:pPr marL="255600" indent="-255600">
              <a:buSzPct val="100000"/>
              <a:defRPr/>
            </a:pPr>
            <a:r>
              <a:rPr lang="en-US" sz="2400" dirty="0">
                <a:latin typeface="+mn-lt"/>
              </a:rPr>
              <a:t>Client requests</a:t>
            </a:r>
          </a:p>
        </p:txBody>
      </p:sp>
    </p:spTree>
    <p:extLst>
      <p:ext uri="{BB962C8B-B14F-4D97-AF65-F5344CB8AC3E}">
        <p14:creationId xmlns:p14="http://schemas.microsoft.com/office/powerpoint/2010/main" val="3814998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Project Closeout</a:t>
            </a:r>
          </a:p>
        </p:txBody>
      </p:sp>
      <p:sp>
        <p:nvSpPr>
          <p:cNvPr id="3" name="Content Placeholder 2"/>
          <p:cNvSpPr>
            <a:spLocks noGrp="1"/>
          </p:cNvSpPr>
          <p:nvPr>
            <p:ph type="body" idx="1"/>
          </p:nvPr>
        </p:nvSpPr>
        <p:spPr>
          <a:xfrm>
            <a:off x="457200" y="1600200"/>
            <a:ext cx="8229600" cy="2599841"/>
          </a:xfrm>
        </p:spPr>
        <p:txBody>
          <a:bodyPr/>
          <a:lstStyle/>
          <a:p>
            <a:pPr marL="255600" indent="-255600">
              <a:buNone/>
            </a:pPr>
            <a:r>
              <a:rPr lang="en-US" altLang="en-US" sz="2000" b="1" dirty="0">
                <a:latin typeface="+mn-lt"/>
              </a:rPr>
              <a:t>The job is not over until the paperwork is done . . .</a:t>
            </a:r>
          </a:p>
          <a:p>
            <a:pPr marL="255600" indent="-255600">
              <a:buNone/>
            </a:pPr>
            <a:r>
              <a:rPr lang="en-US" altLang="en-US" sz="2000" dirty="0">
                <a:latin typeface="+mn-lt"/>
              </a:rPr>
              <a:t>Closeout documentation is </a:t>
            </a:r>
            <a:r>
              <a:rPr lang="en-US" altLang="en-US" sz="2000" b="1" dirty="0">
                <a:solidFill>
                  <a:schemeClr val="tx1"/>
                </a:solidFill>
                <a:latin typeface="+mn-lt"/>
              </a:rPr>
              <a:t>used to</a:t>
            </a:r>
            <a:r>
              <a:rPr lang="en-US" altLang="en-US" sz="2000" dirty="0">
                <a:solidFill>
                  <a:schemeClr val="tx1"/>
                </a:solidFill>
                <a:latin typeface="+mn-lt"/>
              </a:rPr>
              <a:t>:</a:t>
            </a:r>
          </a:p>
          <a:p>
            <a:pPr marL="255600" indent="-255600">
              <a:buSzPct val="100000"/>
            </a:pPr>
            <a:r>
              <a:rPr lang="en-US" altLang="en-US" sz="2000" dirty="0">
                <a:latin typeface="+mn-lt"/>
              </a:rPr>
              <a:t>Resolve disputes</a:t>
            </a:r>
          </a:p>
          <a:p>
            <a:pPr marL="255600" indent="-255600">
              <a:buSzPct val="100000"/>
            </a:pPr>
            <a:r>
              <a:rPr lang="en-US" altLang="en-US" sz="2000" dirty="0">
                <a:latin typeface="+mn-lt"/>
              </a:rPr>
              <a:t>Train project managers</a:t>
            </a:r>
          </a:p>
          <a:p>
            <a:pPr marL="255600" indent="-255600">
              <a:buSzPct val="100000"/>
            </a:pPr>
            <a:r>
              <a:rPr lang="en-US" altLang="en-US" sz="2000" dirty="0">
                <a:latin typeface="+mn-lt"/>
              </a:rPr>
              <a:t>Facilitate auditing</a:t>
            </a:r>
            <a:endParaRPr lang="en-US" altLang="en-US" sz="2000" dirty="0">
              <a:solidFill>
                <a:schemeClr val="tx1"/>
              </a:solidFill>
              <a:latin typeface="+mn-lt"/>
            </a:endParaRPr>
          </a:p>
        </p:txBody>
      </p:sp>
      <p:sp>
        <p:nvSpPr>
          <p:cNvPr id="4" name="Text Placeholder 3"/>
          <p:cNvSpPr>
            <a:spLocks noGrp="1"/>
          </p:cNvSpPr>
          <p:nvPr>
            <p:ph type="body" idx="2"/>
          </p:nvPr>
        </p:nvSpPr>
        <p:spPr>
          <a:xfrm>
            <a:off x="457200" y="4189471"/>
            <a:ext cx="8229600" cy="1968278"/>
          </a:xfrm>
        </p:spPr>
        <p:txBody>
          <a:bodyPr/>
          <a:lstStyle/>
          <a:p>
            <a:pPr marL="255600" indent="-255600">
              <a:buNone/>
            </a:pPr>
            <a:r>
              <a:rPr lang="en-US" altLang="en-US" sz="2000" dirty="0">
                <a:latin typeface="+mn-lt"/>
              </a:rPr>
              <a:t>Closeout documentation </a:t>
            </a:r>
            <a:r>
              <a:rPr lang="en-US" altLang="en-US" sz="2000" b="1" dirty="0">
                <a:solidFill>
                  <a:schemeClr val="tx1"/>
                </a:solidFill>
                <a:latin typeface="+mn-lt"/>
              </a:rPr>
              <a:t>includes</a:t>
            </a:r>
            <a:r>
              <a:rPr lang="en-US" altLang="en-US" sz="2000" dirty="0">
                <a:solidFill>
                  <a:schemeClr val="tx1"/>
                </a:solidFill>
                <a:latin typeface="+mn-lt"/>
              </a:rPr>
              <a:t>:</a:t>
            </a:r>
          </a:p>
          <a:p>
            <a:pPr marL="255600" indent="-255600">
              <a:buFont typeface="Arial" panose="020B0604020202020204" pitchFamily="34" charset="0"/>
              <a:buChar char="•"/>
            </a:pPr>
            <a:r>
              <a:rPr lang="en-US" altLang="en-US" sz="2000" dirty="0">
                <a:solidFill>
                  <a:schemeClr val="tx1"/>
                </a:solidFill>
                <a:latin typeface="+mn-lt"/>
              </a:rPr>
              <a:t>Historical records</a:t>
            </a:r>
          </a:p>
          <a:p>
            <a:pPr marL="255600" indent="-255600">
              <a:buFont typeface="Arial" panose="020B0604020202020204" pitchFamily="34" charset="0"/>
              <a:buChar char="•"/>
            </a:pPr>
            <a:r>
              <a:rPr lang="en-US" altLang="en-US" sz="2000" dirty="0">
                <a:solidFill>
                  <a:schemeClr val="tx1"/>
                </a:solidFill>
                <a:latin typeface="+mn-lt"/>
              </a:rPr>
              <a:t>Post-project analysis</a:t>
            </a:r>
          </a:p>
          <a:p>
            <a:pPr marL="255600" indent="-255600">
              <a:buFont typeface="Arial" panose="020B0604020202020204" pitchFamily="34" charset="0"/>
              <a:buChar char="•"/>
            </a:pPr>
            <a:r>
              <a:rPr lang="en-US" altLang="en-US" sz="2000" dirty="0">
                <a:solidFill>
                  <a:schemeClr val="tx1"/>
                </a:solidFill>
                <a:latin typeface="+mn-lt"/>
              </a:rPr>
              <a:t>Financial closeout</a:t>
            </a:r>
          </a:p>
        </p:txBody>
      </p:sp>
    </p:spTree>
    <p:extLst>
      <p:ext uri="{BB962C8B-B14F-4D97-AF65-F5344CB8AC3E}">
        <p14:creationId xmlns:p14="http://schemas.microsoft.com/office/powerpoint/2010/main" val="2925101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Sustainability</a:t>
            </a:r>
          </a:p>
        </p:txBody>
      </p:sp>
      <p:sp>
        <p:nvSpPr>
          <p:cNvPr id="3" name="Content Placeholder 2"/>
          <p:cNvSpPr>
            <a:spLocks noGrp="1"/>
          </p:cNvSpPr>
          <p:nvPr>
            <p:ph idx="1"/>
          </p:nvPr>
        </p:nvSpPr>
        <p:spPr>
          <a:xfrm>
            <a:off x="457200" y="1600200"/>
            <a:ext cx="4027714" cy="4582886"/>
          </a:xfrm>
        </p:spPr>
        <p:txBody>
          <a:bodyPr/>
          <a:lstStyle/>
          <a:p>
            <a:pPr marL="0" indent="0">
              <a:buNone/>
            </a:pPr>
            <a:r>
              <a:rPr lang="en-US" altLang="en-US" sz="2400" b="1" dirty="0">
                <a:solidFill>
                  <a:schemeClr val="tx1"/>
                </a:solidFill>
                <a:latin typeface="+mn-lt"/>
              </a:rPr>
              <a:t>Sustainable development</a:t>
            </a:r>
            <a:r>
              <a:rPr lang="en-US" altLang="en-US" sz="2400" i="1" dirty="0">
                <a:latin typeface="+mn-lt"/>
              </a:rPr>
              <a:t> </a:t>
            </a:r>
            <a:r>
              <a:rPr lang="en-US" altLang="en-US" sz="2400" dirty="0">
                <a:latin typeface="+mn-lt"/>
              </a:rPr>
              <a:t>involves efforts to promote harmony among human beings and between humanity and nature.</a:t>
            </a:r>
          </a:p>
          <a:p>
            <a:pPr marL="0" indent="0">
              <a:buNone/>
            </a:pPr>
            <a:r>
              <a:rPr lang="en-US" altLang="en-US" sz="2400" b="1" dirty="0">
                <a:solidFill>
                  <a:schemeClr val="tx1"/>
                </a:solidFill>
                <a:latin typeface="+mn-lt"/>
              </a:rPr>
              <a:t>Sustainability</a:t>
            </a:r>
            <a:r>
              <a:rPr lang="en-US" altLang="en-US" sz="2400" dirty="0">
                <a:latin typeface="+mn-lt"/>
              </a:rPr>
              <a:t> involves efforts to promote the triple bottom line of social sustainability, environmental sustainability, and economic sustainability.</a:t>
            </a:r>
          </a:p>
        </p:txBody>
      </p:sp>
      <p:sp>
        <p:nvSpPr>
          <p:cNvPr id="5" name="TextBox 4"/>
          <p:cNvSpPr txBox="1"/>
          <p:nvPr/>
        </p:nvSpPr>
        <p:spPr>
          <a:xfrm>
            <a:off x="4763931" y="1735494"/>
            <a:ext cx="4081489" cy="707886"/>
          </a:xfrm>
          <a:prstGeom prst="rect">
            <a:avLst/>
          </a:prstGeom>
          <a:noFill/>
        </p:spPr>
        <p:txBody>
          <a:bodyPr wrap="square" rtlCol="0">
            <a:spAutoFit/>
          </a:bodyPr>
          <a:lstStyle/>
          <a:p>
            <a:r>
              <a:rPr lang="en-IN" sz="2000" b="1" dirty="0"/>
              <a:t>Figure 5.12 </a:t>
            </a:r>
            <a:r>
              <a:rPr lang="en-IN" sz="2000" dirty="0"/>
              <a:t>The Triple Bottom Line of Sustainability</a:t>
            </a:r>
          </a:p>
        </p:txBody>
      </p:sp>
      <p:pic>
        <p:nvPicPr>
          <p:cNvPr id="4" name="Picture 3" descr="A Venn diagram with 3 overlapping circles labeled social, economic, and environmental. The center space where all circles overlap is labeled, sustainabl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931" y="2476247"/>
            <a:ext cx="3767889" cy="2145606"/>
          </a:xfrm>
          <a:prstGeom prst="rect">
            <a:avLst/>
          </a:prstGeom>
        </p:spPr>
      </p:pic>
    </p:spTree>
    <p:extLst>
      <p:ext uri="{BB962C8B-B14F-4D97-AF65-F5344CB8AC3E}">
        <p14:creationId xmlns:p14="http://schemas.microsoft.com/office/powerpoint/2010/main" val="4745482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Sustainability Concepts </a:t>
            </a:r>
          </a:p>
        </p:txBody>
      </p:sp>
      <p:sp>
        <p:nvSpPr>
          <p:cNvPr id="3" name="Content Placeholder 2"/>
          <p:cNvSpPr>
            <a:spLocks noGrp="1"/>
          </p:cNvSpPr>
          <p:nvPr>
            <p:ph idx="1"/>
          </p:nvPr>
        </p:nvSpPr>
        <p:spPr/>
        <p:txBody>
          <a:bodyPr/>
          <a:lstStyle/>
          <a:p>
            <a:pPr marL="0" indent="0">
              <a:spcBef>
                <a:spcPts val="600"/>
              </a:spcBef>
              <a:buFont typeface="Wingdings" panose="05000000000000000000" pitchFamily="2" charset="2"/>
              <a:buNone/>
              <a:defRPr/>
            </a:pPr>
            <a:r>
              <a:rPr lang="en-US" sz="2000" dirty="0">
                <a:latin typeface="+mn-lt"/>
              </a:rPr>
              <a:t>Sustainability is about:</a:t>
            </a:r>
          </a:p>
          <a:p>
            <a:pPr marL="255600" lvl="1" indent="-255600">
              <a:spcBef>
                <a:spcPts val="1200"/>
              </a:spcBef>
              <a:buFont typeface="Arial" panose="020B0604020202020204" pitchFamily="34" charset="0"/>
              <a:buChar char="•"/>
              <a:defRPr/>
            </a:pPr>
            <a:r>
              <a:rPr lang="en-US" sz="2000" dirty="0">
                <a:latin typeface="+mn-lt"/>
              </a:rPr>
              <a:t>Harmonizing the triple bottom line</a:t>
            </a:r>
          </a:p>
          <a:p>
            <a:pPr marL="255600" lvl="1" indent="-255600">
              <a:spcBef>
                <a:spcPts val="1200"/>
              </a:spcBef>
              <a:buFont typeface="Arial" panose="020B0604020202020204" pitchFamily="34" charset="0"/>
              <a:buChar char="•"/>
              <a:defRPr/>
            </a:pPr>
            <a:r>
              <a:rPr lang="en-US" sz="2000" dirty="0">
                <a:latin typeface="+mn-lt"/>
              </a:rPr>
              <a:t>Integrating short-term and long-term</a:t>
            </a:r>
          </a:p>
          <a:p>
            <a:pPr marL="255600" lvl="1" indent="-255600">
              <a:spcBef>
                <a:spcPts val="1200"/>
              </a:spcBef>
              <a:buFont typeface="Arial" panose="020B0604020202020204" pitchFamily="34" charset="0"/>
              <a:buChar char="•"/>
              <a:defRPr/>
            </a:pPr>
            <a:r>
              <a:rPr lang="en-US" sz="2000" dirty="0">
                <a:latin typeface="+mn-lt"/>
              </a:rPr>
              <a:t>Consuming income, not capital</a:t>
            </a:r>
          </a:p>
          <a:p>
            <a:pPr marL="255600" lvl="1" indent="-255600">
              <a:spcBef>
                <a:spcPts val="1200"/>
              </a:spcBef>
              <a:buFont typeface="Arial" panose="020B0604020202020204" pitchFamily="34" charset="0"/>
              <a:buChar char="•"/>
              <a:defRPr/>
            </a:pPr>
            <a:r>
              <a:rPr lang="en-US" sz="2000" dirty="0">
                <a:latin typeface="+mn-lt"/>
              </a:rPr>
              <a:t>Including local and global perspectives</a:t>
            </a:r>
          </a:p>
          <a:p>
            <a:pPr marL="255600" lvl="1" indent="-255600">
              <a:spcBef>
                <a:spcPts val="1200"/>
              </a:spcBef>
              <a:buFont typeface="Arial" panose="020B0604020202020204" pitchFamily="34" charset="0"/>
              <a:buChar char="•"/>
              <a:defRPr/>
            </a:pPr>
            <a:r>
              <a:rPr lang="en-US" sz="2000" dirty="0">
                <a:latin typeface="+mn-lt"/>
              </a:rPr>
              <a:t>Values and ethics</a:t>
            </a:r>
          </a:p>
          <a:p>
            <a:pPr marL="255600" lvl="1" indent="-255600">
              <a:spcBef>
                <a:spcPts val="1200"/>
              </a:spcBef>
              <a:buFont typeface="Arial" panose="020B0604020202020204" pitchFamily="34" charset="0"/>
              <a:buChar char="•"/>
              <a:defRPr/>
            </a:pPr>
            <a:r>
              <a:rPr lang="en-US" sz="2000" dirty="0">
                <a:latin typeface="+mn-lt"/>
              </a:rPr>
              <a:t>Transparency and accountability</a:t>
            </a:r>
          </a:p>
          <a:p>
            <a:pPr marL="255600" lvl="1" indent="-255600">
              <a:spcBef>
                <a:spcPts val="1200"/>
              </a:spcBef>
              <a:buFont typeface="Arial" panose="020B0604020202020204" pitchFamily="34" charset="0"/>
              <a:buChar char="•"/>
              <a:defRPr/>
            </a:pPr>
            <a:r>
              <a:rPr lang="en-US" sz="2000" dirty="0">
                <a:latin typeface="+mn-lt"/>
              </a:rPr>
              <a:t>Stakeholder participation</a:t>
            </a:r>
          </a:p>
          <a:p>
            <a:pPr marL="255600" lvl="1" indent="-255600">
              <a:spcBef>
                <a:spcPts val="1200"/>
              </a:spcBef>
              <a:buFont typeface="Arial" panose="020B0604020202020204" pitchFamily="34" charset="0"/>
              <a:buChar char="•"/>
              <a:defRPr/>
            </a:pPr>
            <a:r>
              <a:rPr lang="en-US" sz="2000" dirty="0">
                <a:latin typeface="+mn-lt"/>
              </a:rPr>
              <a:t>Risk reduction</a:t>
            </a:r>
          </a:p>
          <a:p>
            <a:pPr marL="255600" lvl="1" indent="-255600">
              <a:spcBef>
                <a:spcPts val="1200"/>
              </a:spcBef>
              <a:buFont typeface="Arial" panose="020B0604020202020204" pitchFamily="34" charset="0"/>
              <a:buChar char="•"/>
              <a:defRPr/>
            </a:pPr>
            <a:r>
              <a:rPr lang="en-US" sz="2000" dirty="0">
                <a:latin typeface="+mn-lt"/>
              </a:rPr>
              <a:t>Waste elimination</a:t>
            </a:r>
          </a:p>
        </p:txBody>
      </p:sp>
    </p:spTree>
    <p:extLst>
      <p:ext uri="{BB962C8B-B14F-4D97-AF65-F5344CB8AC3E}">
        <p14:creationId xmlns:p14="http://schemas.microsoft.com/office/powerpoint/2010/main" val="1987992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Sustainable Project Management Practices</a:t>
            </a:r>
          </a:p>
        </p:txBody>
      </p:sp>
      <p:sp>
        <p:nvSpPr>
          <p:cNvPr id="3" name="Content Placeholder 2"/>
          <p:cNvSpPr>
            <a:spLocks noGrp="1"/>
          </p:cNvSpPr>
          <p:nvPr>
            <p:ph type="body" idx="1"/>
          </p:nvPr>
        </p:nvSpPr>
        <p:spPr>
          <a:xfrm>
            <a:off x="457200" y="1600200"/>
            <a:ext cx="8229600" cy="3333260"/>
          </a:xfrm>
        </p:spPr>
        <p:txBody>
          <a:bodyPr/>
          <a:lstStyle/>
          <a:p>
            <a:pPr marL="0" indent="0">
              <a:buFont typeface="Wingdings" panose="05000000000000000000" pitchFamily="2" charset="2"/>
              <a:buNone/>
              <a:defRPr/>
            </a:pPr>
            <a:r>
              <a:rPr lang="en-US" sz="2400" dirty="0">
                <a:latin typeface="+mn-lt"/>
              </a:rPr>
              <a:t>Project management sustainable practices include:</a:t>
            </a:r>
          </a:p>
          <a:p>
            <a:pPr marL="255600" lvl="1" indent="-255600">
              <a:spcBef>
                <a:spcPts val="1200"/>
              </a:spcBef>
              <a:buFont typeface="Arial" panose="020B0604020202020204" pitchFamily="34" charset="0"/>
              <a:buChar char="•"/>
              <a:defRPr/>
            </a:pPr>
            <a:r>
              <a:rPr lang="en-US" sz="2400" dirty="0">
                <a:latin typeface="+mn-lt"/>
              </a:rPr>
              <a:t>Engaging in sustainable projects that will not cause harm to the planet or its inhabitants</a:t>
            </a:r>
          </a:p>
          <a:p>
            <a:pPr marL="255600" lvl="1" indent="-255600">
              <a:spcBef>
                <a:spcPts val="1200"/>
              </a:spcBef>
              <a:buFont typeface="Arial" panose="020B0604020202020204" pitchFamily="34" charset="0"/>
              <a:buChar char="•"/>
              <a:defRPr/>
            </a:pPr>
            <a:r>
              <a:rPr lang="en-US" sz="2400" dirty="0">
                <a:latin typeface="+mn-lt"/>
              </a:rPr>
              <a:t>Employing sustainable practices while undertaking the projects themselves</a:t>
            </a:r>
          </a:p>
          <a:p>
            <a:pPr marL="255600" lvl="1" indent="-255600">
              <a:spcBef>
                <a:spcPts val="1200"/>
              </a:spcBef>
              <a:buFont typeface="Arial" panose="020B0604020202020204" pitchFamily="34" charset="0"/>
              <a:buChar char="•"/>
              <a:defRPr/>
            </a:pPr>
            <a:r>
              <a:rPr lang="en-US" sz="2400" dirty="0">
                <a:latin typeface="+mn-lt"/>
              </a:rPr>
              <a:t>Developing sustainable supplier practices</a:t>
            </a:r>
          </a:p>
          <a:p>
            <a:pPr marL="255600" lvl="1" indent="-255600">
              <a:spcBef>
                <a:spcPts val="1200"/>
              </a:spcBef>
              <a:buFont typeface="Arial" panose="020B0604020202020204" pitchFamily="34" charset="0"/>
              <a:buChar char="•"/>
              <a:defRPr/>
            </a:pPr>
            <a:r>
              <a:rPr lang="en-US" sz="2400" dirty="0">
                <a:latin typeface="+mn-lt"/>
              </a:rPr>
              <a:t>Emphasizing sustainability in project design</a:t>
            </a:r>
          </a:p>
        </p:txBody>
      </p:sp>
      <p:sp>
        <p:nvSpPr>
          <p:cNvPr id="4" name="Text Placeholder 3"/>
          <p:cNvSpPr>
            <a:spLocks noGrp="1"/>
          </p:cNvSpPr>
          <p:nvPr>
            <p:ph type="body" idx="2"/>
          </p:nvPr>
        </p:nvSpPr>
        <p:spPr>
          <a:xfrm>
            <a:off x="457200" y="4986069"/>
            <a:ext cx="8229600" cy="1206467"/>
          </a:xfrm>
        </p:spPr>
        <p:txBody>
          <a:bodyPr/>
          <a:lstStyle/>
          <a:p>
            <a:pPr marL="0" indent="0">
              <a:buFont typeface="Wingdings" panose="05000000000000000000" pitchFamily="2" charset="2"/>
              <a:buNone/>
              <a:defRPr/>
            </a:pPr>
            <a:r>
              <a:rPr lang="en-US" sz="2400" dirty="0">
                <a:latin typeface="+mn-lt"/>
              </a:rPr>
              <a:t>Sustainable project management practices require organizations to pay attention to all aspects of the project life cycle from conceptualization through termination.</a:t>
            </a:r>
          </a:p>
        </p:txBody>
      </p:sp>
    </p:spTree>
    <p:extLst>
      <p:ext uri="{BB962C8B-B14F-4D97-AF65-F5344CB8AC3E}">
        <p14:creationId xmlns:p14="http://schemas.microsoft.com/office/powerpoint/2010/main" val="3842006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Summary</a:t>
            </a:r>
            <a:r>
              <a:rPr lang="en-US" sz="3200" dirty="0">
                <a:solidFill>
                  <a:schemeClr val="tx2"/>
                </a:solidFill>
              </a:rPr>
              <a:t> </a:t>
            </a:r>
            <a:r>
              <a:rPr lang="en-US" sz="2000" b="0" dirty="0">
                <a:solidFill>
                  <a:schemeClr val="tx2"/>
                </a:solidFill>
              </a:rPr>
              <a:t>(1 of 2)</a:t>
            </a:r>
          </a:p>
        </p:txBody>
      </p:sp>
      <p:sp>
        <p:nvSpPr>
          <p:cNvPr id="3" name="Content Placeholder 2"/>
          <p:cNvSpPr>
            <a:spLocks noGrp="1"/>
          </p:cNvSpPr>
          <p:nvPr>
            <p:ph idx="1"/>
          </p:nvPr>
        </p:nvSpPr>
        <p:spPr/>
        <p:txBody>
          <a:bodyPr/>
          <a:lstStyle/>
          <a:p>
            <a:pPr marL="432000" indent="-432000">
              <a:buClr>
                <a:schemeClr val="tx2"/>
              </a:buClr>
              <a:buSzPct val="100000"/>
              <a:buFont typeface="+mj-lt"/>
              <a:buAutoNum type="arabicPeriod"/>
              <a:defRPr/>
            </a:pPr>
            <a:r>
              <a:rPr lang="en-US" sz="2400" dirty="0">
                <a:latin typeface="+mn-lt"/>
              </a:rPr>
              <a:t>Understand the importance of scope management for project success.</a:t>
            </a:r>
          </a:p>
          <a:p>
            <a:pPr marL="432000" indent="-432000">
              <a:buClr>
                <a:schemeClr val="tx2"/>
              </a:buClr>
              <a:buSzPct val="100000"/>
              <a:buFont typeface="+mj-lt"/>
              <a:buAutoNum type="arabicPeriod"/>
              <a:defRPr/>
            </a:pPr>
            <a:r>
              <a:rPr lang="en-US" sz="2400" dirty="0">
                <a:latin typeface="+mn-lt"/>
              </a:rPr>
              <a:t>Understand how conceptual development serves as a critical first stage in scope management.</a:t>
            </a:r>
          </a:p>
          <a:p>
            <a:pPr marL="432000" indent="-432000">
              <a:buClr>
                <a:schemeClr val="tx2"/>
              </a:buClr>
              <a:buSzPct val="100000"/>
              <a:buFont typeface="+mj-lt"/>
              <a:buAutoNum type="arabicPeriod"/>
              <a:defRPr/>
            </a:pPr>
            <a:r>
              <a:rPr lang="en-US" sz="2400" dirty="0">
                <a:latin typeface="+mn-lt"/>
              </a:rPr>
              <a:t>Identify the steps in developing the scope statement.</a:t>
            </a:r>
          </a:p>
          <a:p>
            <a:pPr marL="432000" indent="-432000">
              <a:buClr>
                <a:schemeClr val="tx2"/>
              </a:buClr>
              <a:buSzPct val="100000"/>
              <a:buFont typeface="+mj-lt"/>
              <a:buAutoNum type="arabicPeriod"/>
              <a:defRPr/>
            </a:pPr>
            <a:r>
              <a:rPr lang="en-US" sz="2400" dirty="0">
                <a:latin typeface="+mn-lt"/>
              </a:rPr>
              <a:t>Identify the elements in the work authorization phase of scope development.</a:t>
            </a:r>
          </a:p>
        </p:txBody>
      </p:sp>
    </p:spTree>
    <p:extLst>
      <p:ext uri="{BB962C8B-B14F-4D97-AF65-F5344CB8AC3E}">
        <p14:creationId xmlns:p14="http://schemas.microsoft.com/office/powerpoint/2010/main" val="3741900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Summary</a:t>
            </a:r>
            <a:r>
              <a:rPr lang="en-US" sz="3200" dirty="0">
                <a:solidFill>
                  <a:schemeClr val="tx2"/>
                </a:solidFill>
              </a:rPr>
              <a:t> </a:t>
            </a:r>
            <a:r>
              <a:rPr lang="en-US" sz="2000" b="0" dirty="0">
                <a:solidFill>
                  <a:schemeClr val="tx2"/>
                </a:solidFill>
              </a:rPr>
              <a:t>(2 of 2)</a:t>
            </a:r>
            <a:endParaRPr lang="en-US" dirty="0">
              <a:solidFill>
                <a:schemeClr val="tx2"/>
              </a:solidFill>
            </a:endParaRPr>
          </a:p>
        </p:txBody>
      </p:sp>
      <p:sp>
        <p:nvSpPr>
          <p:cNvPr id="3" name="Content Placeholder 2"/>
          <p:cNvSpPr>
            <a:spLocks noGrp="1"/>
          </p:cNvSpPr>
          <p:nvPr>
            <p:ph idx="1"/>
          </p:nvPr>
        </p:nvSpPr>
        <p:spPr/>
        <p:txBody>
          <a:bodyPr/>
          <a:lstStyle/>
          <a:p>
            <a:pPr marL="432000" indent="-432000">
              <a:buClr>
                <a:schemeClr val="tx2"/>
              </a:buClr>
              <a:buSzPct val="100000"/>
              <a:buFont typeface="+mj-lt"/>
              <a:buAutoNum type="arabicPeriod" startAt="5"/>
              <a:defRPr/>
            </a:pPr>
            <a:r>
              <a:rPr lang="en-US" sz="2400" dirty="0">
                <a:latin typeface="+mn-lt"/>
              </a:rPr>
              <a:t>Identify the various types of information available for scope reporting.</a:t>
            </a:r>
          </a:p>
          <a:p>
            <a:pPr marL="432000" indent="-432000">
              <a:buClr>
                <a:schemeClr val="tx2"/>
              </a:buClr>
              <a:buSzPct val="100000"/>
              <a:buFont typeface="+mj-lt"/>
              <a:buAutoNum type="arabicPeriod" startAt="5"/>
              <a:defRPr/>
            </a:pPr>
            <a:r>
              <a:rPr lang="en-US" sz="2400" dirty="0">
                <a:latin typeface="+mn-lt"/>
              </a:rPr>
              <a:t>Demonstrate how control systems and configuration management relate to scope development.</a:t>
            </a:r>
          </a:p>
          <a:p>
            <a:pPr marL="432000" indent="-432000">
              <a:buClr>
                <a:schemeClr val="tx2"/>
              </a:buClr>
              <a:buSzPct val="100000"/>
              <a:buFont typeface="+mj-lt"/>
              <a:buAutoNum type="arabicPeriod" startAt="5"/>
              <a:defRPr/>
            </a:pPr>
            <a:r>
              <a:rPr lang="en-US" sz="2400" dirty="0">
                <a:latin typeface="+mn-lt"/>
              </a:rPr>
              <a:t>Discuss why effective scope management includes a project closeout stage.</a:t>
            </a:r>
          </a:p>
          <a:p>
            <a:pPr marL="432000" indent="-432000">
              <a:buClr>
                <a:schemeClr val="tx2"/>
              </a:buClr>
              <a:buSzPct val="100000"/>
              <a:buFont typeface="+mj-lt"/>
              <a:buAutoNum type="arabicPeriod" startAt="5"/>
              <a:defRPr/>
            </a:pPr>
            <a:r>
              <a:rPr lang="en-US" sz="2400" dirty="0">
                <a:latin typeface="+mn-lt"/>
              </a:rPr>
              <a:t>Understand how project practices can support the critical goal of sustainability.</a:t>
            </a:r>
          </a:p>
        </p:txBody>
      </p:sp>
    </p:spTree>
    <p:extLst>
      <p:ext uri="{BB962C8B-B14F-4D97-AF65-F5344CB8AC3E}">
        <p14:creationId xmlns:p14="http://schemas.microsoft.com/office/powerpoint/2010/main" val="10682028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39951984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9368</TotalTime>
  <Words>1898</Words>
  <Application>Microsoft Office PowerPoint</Application>
  <PresentationFormat>On-screen Show (4:3)</PresentationFormat>
  <Paragraphs>258</Paragraphs>
  <Slides>41</Slides>
  <Notes>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41</vt:i4>
      </vt:variant>
    </vt:vector>
  </HeadingPairs>
  <TitlesOfParts>
    <vt:vector size="52" baseType="lpstr">
      <vt:lpstr>Arial</vt:lpstr>
      <vt:lpstr>Noto Sans Symbols</vt:lpstr>
      <vt:lpstr>Palatino Linotype</vt:lpstr>
      <vt:lpstr>PalatinoLTPro-Bold</vt:lpstr>
      <vt:lpstr>PalatinoLTPro-BoldItalic</vt:lpstr>
      <vt:lpstr>PalatinoLTPro-Roman</vt:lpstr>
      <vt:lpstr>Times New Roman</vt:lpstr>
      <vt:lpstr>Verdana</vt:lpstr>
      <vt:lpstr>Wingdings</vt:lpstr>
      <vt:lpstr>508 Lecture</vt:lpstr>
      <vt:lpstr>1_508 Lecture</vt:lpstr>
      <vt:lpstr>Lecture 3</vt:lpstr>
      <vt:lpstr>Question for you!</vt:lpstr>
      <vt:lpstr>Learning Objectives (1 of 2)</vt:lpstr>
      <vt:lpstr>Learning Objectives (2 of 2)</vt:lpstr>
      <vt:lpstr>P M B o K Core Concepts</vt:lpstr>
      <vt:lpstr>Project Scope</vt:lpstr>
      <vt:lpstr>Conceptual Development</vt:lpstr>
      <vt:lpstr>Statement of Work (S O W)</vt:lpstr>
      <vt:lpstr>Statement of Work Components</vt:lpstr>
      <vt:lpstr>Project Charter</vt:lpstr>
      <vt:lpstr>Scope Statement</vt:lpstr>
      <vt:lpstr>Work Breakdown Structure (W B S)</vt:lpstr>
      <vt:lpstr>Work Breakdown Structure Purpose</vt:lpstr>
      <vt:lpstr>W B S Hierarchy</vt:lpstr>
      <vt:lpstr>Defining a Work Package</vt:lpstr>
      <vt:lpstr>Figure 5.3 Partial Work Breakdown Structure</vt:lpstr>
      <vt:lpstr>Question for you ! </vt:lpstr>
      <vt:lpstr>Example of tasks </vt:lpstr>
      <vt:lpstr>Example of tasks</vt:lpstr>
      <vt:lpstr>Example of WBS</vt:lpstr>
      <vt:lpstr>Figure 5.6 Sample W B S Development Using M S Project </vt:lpstr>
      <vt:lpstr>Organizational Breakdown Structure</vt:lpstr>
      <vt:lpstr>Figure 5.7 The Intersection of the W B S and O B S</vt:lpstr>
      <vt:lpstr>Figure 5.9 Cost Account Rollup Using O B S</vt:lpstr>
      <vt:lpstr>Figure 5.10 Responsibility Assignment Matrix</vt:lpstr>
      <vt:lpstr>Defining a Project Work Package</vt:lpstr>
      <vt:lpstr>Work Authorization</vt:lpstr>
      <vt:lpstr>Scope Reporting</vt:lpstr>
      <vt:lpstr>Reasons Why Projects Fail</vt:lpstr>
      <vt:lpstr>Types of Control Systems</vt:lpstr>
      <vt:lpstr>Type of control systems</vt:lpstr>
      <vt:lpstr>Type of control system</vt:lpstr>
      <vt:lpstr>Type of control systems</vt:lpstr>
      <vt:lpstr>Project Changes</vt:lpstr>
      <vt:lpstr>Project Closeout</vt:lpstr>
      <vt:lpstr>Sustainability</vt:lpstr>
      <vt:lpstr>Sustainability Concepts </vt:lpstr>
      <vt:lpstr>Sustainable Project Management Practices</vt:lpstr>
      <vt:lpstr>Summary (1 of 2)</vt:lpstr>
      <vt:lpstr>Summary (2 of 2)</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Management: Achieving Competitive Advantage, 5e</dc:title>
  <dc:subject>Business</dc:subject>
  <dc:creator>Pinto</dc:creator>
  <cp:keywords>Project Management</cp:keywords>
  <cp:lastModifiedBy>Siham Rahoui</cp:lastModifiedBy>
  <cp:revision>973</cp:revision>
  <dcterms:modified xsi:type="dcterms:W3CDTF">2024-10-17T09:46:29Z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