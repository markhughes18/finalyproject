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107"/>
  </p:notesMasterIdLst>
  <p:handoutMasterIdLst>
    <p:handoutMasterId r:id="rId108"/>
  </p:handoutMasterIdLst>
  <p:sldIdLst>
    <p:sldId id="256" r:id="rId2"/>
    <p:sldId id="259" r:id="rId3"/>
    <p:sldId id="323" r:id="rId4"/>
    <p:sldId id="325" r:id="rId5"/>
    <p:sldId id="257" r:id="rId6"/>
    <p:sldId id="385" r:id="rId7"/>
    <p:sldId id="349" r:id="rId8"/>
    <p:sldId id="351" r:id="rId9"/>
    <p:sldId id="326" r:id="rId10"/>
    <p:sldId id="258" r:id="rId11"/>
    <p:sldId id="347" r:id="rId12"/>
    <p:sldId id="260" r:id="rId13"/>
    <p:sldId id="348" r:id="rId14"/>
    <p:sldId id="327" r:id="rId15"/>
    <p:sldId id="261" r:id="rId16"/>
    <p:sldId id="263" r:id="rId17"/>
    <p:sldId id="264" r:id="rId18"/>
    <p:sldId id="265" r:id="rId19"/>
    <p:sldId id="266" r:id="rId20"/>
    <p:sldId id="267" r:id="rId21"/>
    <p:sldId id="305" r:id="rId22"/>
    <p:sldId id="269" r:id="rId23"/>
    <p:sldId id="268" r:id="rId24"/>
    <p:sldId id="350" r:id="rId25"/>
    <p:sldId id="270" r:id="rId26"/>
    <p:sldId id="274" r:id="rId27"/>
    <p:sldId id="324" r:id="rId28"/>
    <p:sldId id="275" r:id="rId29"/>
    <p:sldId id="276" r:id="rId30"/>
    <p:sldId id="277" r:id="rId31"/>
    <p:sldId id="359" r:id="rId32"/>
    <p:sldId id="271" r:id="rId33"/>
    <p:sldId id="353" r:id="rId34"/>
    <p:sldId id="329" r:id="rId35"/>
    <p:sldId id="352" r:id="rId36"/>
    <p:sldId id="272" r:id="rId37"/>
    <p:sldId id="360" r:id="rId38"/>
    <p:sldId id="306" r:id="rId39"/>
    <p:sldId id="361" r:id="rId40"/>
    <p:sldId id="362" r:id="rId41"/>
    <p:sldId id="332" r:id="rId42"/>
    <p:sldId id="279" r:id="rId43"/>
    <p:sldId id="363" r:id="rId44"/>
    <p:sldId id="333" r:id="rId45"/>
    <p:sldId id="330" r:id="rId46"/>
    <p:sldId id="335" r:id="rId47"/>
    <p:sldId id="334" r:id="rId48"/>
    <p:sldId id="308" r:id="rId49"/>
    <p:sldId id="287" r:id="rId50"/>
    <p:sldId id="365" r:id="rId51"/>
    <p:sldId id="309" r:id="rId52"/>
    <p:sldId id="336" r:id="rId53"/>
    <p:sldId id="289" r:id="rId54"/>
    <p:sldId id="364" r:id="rId55"/>
    <p:sldId id="366" r:id="rId56"/>
    <p:sldId id="290" r:id="rId57"/>
    <p:sldId id="310" r:id="rId58"/>
    <p:sldId id="337" r:id="rId59"/>
    <p:sldId id="368" r:id="rId60"/>
    <p:sldId id="338" r:id="rId61"/>
    <p:sldId id="311" r:id="rId62"/>
    <p:sldId id="367" r:id="rId63"/>
    <p:sldId id="339" r:id="rId64"/>
    <p:sldId id="340" r:id="rId65"/>
    <p:sldId id="312" r:id="rId66"/>
    <p:sldId id="388" r:id="rId67"/>
    <p:sldId id="374" r:id="rId68"/>
    <p:sldId id="370" r:id="rId69"/>
    <p:sldId id="341" r:id="rId70"/>
    <p:sldId id="389" r:id="rId71"/>
    <p:sldId id="372" r:id="rId72"/>
    <p:sldId id="373" r:id="rId73"/>
    <p:sldId id="390" r:id="rId74"/>
    <p:sldId id="313" r:id="rId75"/>
    <p:sldId id="342" r:id="rId76"/>
    <p:sldId id="387" r:id="rId77"/>
    <p:sldId id="386" r:id="rId78"/>
    <p:sldId id="375" r:id="rId79"/>
    <p:sldId id="314" r:id="rId80"/>
    <p:sldId id="377" r:id="rId81"/>
    <p:sldId id="376" r:id="rId82"/>
    <p:sldId id="343" r:id="rId83"/>
    <p:sldId id="379" r:id="rId84"/>
    <p:sldId id="380" r:id="rId85"/>
    <p:sldId id="298" r:id="rId86"/>
    <p:sldId id="321" r:id="rId87"/>
    <p:sldId id="357" r:id="rId88"/>
    <p:sldId id="302" r:id="rId89"/>
    <p:sldId id="355" r:id="rId90"/>
    <p:sldId id="299" r:id="rId91"/>
    <p:sldId id="344" r:id="rId92"/>
    <p:sldId id="358" r:id="rId93"/>
    <p:sldId id="315" r:id="rId94"/>
    <p:sldId id="381" r:id="rId95"/>
    <p:sldId id="382" r:id="rId96"/>
    <p:sldId id="316" r:id="rId97"/>
    <p:sldId id="345" r:id="rId98"/>
    <p:sldId id="346" r:id="rId99"/>
    <p:sldId id="383" r:id="rId100"/>
    <p:sldId id="318" r:id="rId101"/>
    <p:sldId id="320" r:id="rId102"/>
    <p:sldId id="317" r:id="rId103"/>
    <p:sldId id="384" r:id="rId104"/>
    <p:sldId id="322" r:id="rId105"/>
    <p:sldId id="319" r:id="rId106"/>
  </p:sldIdLst>
  <p:sldSz cx="9144000" cy="6858000" type="screen4x3"/>
  <p:notesSz cx="6864350" cy="99949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48">
          <p15:clr>
            <a:srgbClr val="A4A3A4"/>
          </p15:clr>
        </p15:guide>
        <p15:guide id="2" pos="216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374" y="72"/>
      </p:cViewPr>
      <p:guideLst>
        <p:guide orient="horz" pos="2160"/>
        <p:guide pos="2880"/>
      </p:guideLst>
    </p:cSldViewPr>
  </p:slideViewPr>
  <p:notesTextViewPr>
    <p:cViewPr>
      <p:scale>
        <a:sx n="100" d="100"/>
        <a:sy n="100" d="100"/>
      </p:scale>
      <p:origin x="0" y="0"/>
    </p:cViewPr>
  </p:notesTextViewPr>
  <p:notesViewPr>
    <p:cSldViewPr>
      <p:cViewPr varScale="1">
        <p:scale>
          <a:sx n="51" d="100"/>
          <a:sy n="51" d="100"/>
        </p:scale>
        <p:origin x="-1968" y="-108"/>
      </p:cViewPr>
      <p:guideLst>
        <p:guide orient="horz" pos="3148"/>
        <p:guide pos="2162"/>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handoutMaster" Target="handoutMasters/handout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0" y="9493420"/>
            <a:ext cx="2974552" cy="499745"/>
          </a:xfrm>
          <a:prstGeom prst="rect">
            <a:avLst/>
          </a:prstGeom>
        </p:spPr>
        <p:txBody>
          <a:bodyPr vert="horz" lIns="96332" tIns="48166" rIns="96332" bIns="48166" rtlCol="0" anchor="b"/>
          <a:lstStyle>
            <a:lvl1pPr algn="l">
              <a:defRPr sz="1300"/>
            </a:lvl1pPr>
          </a:lstStyle>
          <a:p>
            <a:r>
              <a:rPr lang="en-GB" dirty="0"/>
              <a:t>Lecture Notes Principles of Mgt: </a:t>
            </a:r>
          </a:p>
          <a:p>
            <a:r>
              <a:rPr lang="en-GB" dirty="0"/>
              <a:t>Decision Making  (</a:t>
            </a:r>
            <a:r>
              <a:rPr lang="en-GB" dirty="0" err="1"/>
              <a:t>Orla</a:t>
            </a:r>
            <a:r>
              <a:rPr lang="en-GB" dirty="0"/>
              <a:t> Gregory)</a:t>
            </a:r>
            <a:endParaRPr lang="en-US" dirty="0"/>
          </a:p>
        </p:txBody>
      </p:sp>
      <p:sp>
        <p:nvSpPr>
          <p:cNvPr id="5" name="Slide Number Placeholder 4"/>
          <p:cNvSpPr>
            <a:spLocks noGrp="1"/>
          </p:cNvSpPr>
          <p:nvPr>
            <p:ph type="sldNum" sz="quarter" idx="3"/>
          </p:nvPr>
        </p:nvSpPr>
        <p:spPr>
          <a:xfrm>
            <a:off x="3888210" y="9493420"/>
            <a:ext cx="2974552" cy="499745"/>
          </a:xfrm>
          <a:prstGeom prst="rect">
            <a:avLst/>
          </a:prstGeom>
        </p:spPr>
        <p:txBody>
          <a:bodyPr vert="horz" lIns="96332" tIns="48166" rIns="96332" bIns="48166" rtlCol="0" anchor="b"/>
          <a:lstStyle>
            <a:lvl1pPr algn="r">
              <a:defRPr sz="1300"/>
            </a:lvl1pPr>
          </a:lstStyle>
          <a:p>
            <a:fld id="{E936A8E2-9295-438C-B4D7-BB1DFE300C56}" type="slidenum">
              <a:rPr lang="en-US" smtClean="0"/>
              <a:pPr/>
              <a:t>‹#›</a:t>
            </a:fld>
            <a:endParaRPr lang="en-US"/>
          </a:p>
        </p:txBody>
      </p:sp>
    </p:spTree>
    <p:extLst>
      <p:ext uri="{BB962C8B-B14F-4D97-AF65-F5344CB8AC3E}">
        <p14:creationId xmlns:p14="http://schemas.microsoft.com/office/powerpoint/2010/main" val="12535891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4552" cy="499745"/>
          </a:xfrm>
          <a:prstGeom prst="rect">
            <a:avLst/>
          </a:prstGeom>
        </p:spPr>
        <p:txBody>
          <a:bodyPr vert="horz" lIns="96332" tIns="48166" rIns="96332" bIns="48166" rtlCol="0"/>
          <a:lstStyle>
            <a:lvl1pPr algn="l">
              <a:defRPr sz="1300"/>
            </a:lvl1pPr>
          </a:lstStyle>
          <a:p>
            <a:endParaRPr lang="en-US"/>
          </a:p>
        </p:txBody>
      </p:sp>
      <p:sp>
        <p:nvSpPr>
          <p:cNvPr id="3" name="Date Placeholder 2"/>
          <p:cNvSpPr>
            <a:spLocks noGrp="1"/>
          </p:cNvSpPr>
          <p:nvPr>
            <p:ph type="dt" idx="1"/>
          </p:nvPr>
        </p:nvSpPr>
        <p:spPr>
          <a:xfrm>
            <a:off x="3888210" y="0"/>
            <a:ext cx="2974552" cy="499745"/>
          </a:xfrm>
          <a:prstGeom prst="rect">
            <a:avLst/>
          </a:prstGeom>
        </p:spPr>
        <p:txBody>
          <a:bodyPr vert="horz" lIns="96332" tIns="48166" rIns="96332" bIns="48166" rtlCol="0"/>
          <a:lstStyle>
            <a:lvl1pPr algn="r">
              <a:defRPr sz="1300"/>
            </a:lvl1pPr>
          </a:lstStyle>
          <a:p>
            <a:fld id="{8683FBC9-6815-4F6C-9231-BAE47979A393}" type="datetimeFigureOut">
              <a:rPr lang="en-US" smtClean="0"/>
              <a:pPr/>
              <a:t>12/28/2020</a:t>
            </a:fld>
            <a:endParaRPr lang="en-US"/>
          </a:p>
        </p:txBody>
      </p:sp>
      <p:sp>
        <p:nvSpPr>
          <p:cNvPr id="4" name="Slide Image Placeholder 3"/>
          <p:cNvSpPr>
            <a:spLocks noGrp="1" noRot="1" noChangeAspect="1"/>
          </p:cNvSpPr>
          <p:nvPr>
            <p:ph type="sldImg" idx="2"/>
          </p:nvPr>
        </p:nvSpPr>
        <p:spPr>
          <a:xfrm>
            <a:off x="933450" y="749300"/>
            <a:ext cx="4997450" cy="3748088"/>
          </a:xfrm>
          <a:prstGeom prst="rect">
            <a:avLst/>
          </a:prstGeom>
          <a:noFill/>
          <a:ln w="12700">
            <a:solidFill>
              <a:prstClr val="black"/>
            </a:solidFill>
          </a:ln>
        </p:spPr>
        <p:txBody>
          <a:bodyPr vert="horz" lIns="96332" tIns="48166" rIns="96332" bIns="48166" rtlCol="0" anchor="ctr"/>
          <a:lstStyle/>
          <a:p>
            <a:endParaRPr lang="en-US"/>
          </a:p>
        </p:txBody>
      </p:sp>
      <p:sp>
        <p:nvSpPr>
          <p:cNvPr id="5" name="Notes Placeholder 4"/>
          <p:cNvSpPr>
            <a:spLocks noGrp="1"/>
          </p:cNvSpPr>
          <p:nvPr>
            <p:ph type="body" sz="quarter" idx="3"/>
          </p:nvPr>
        </p:nvSpPr>
        <p:spPr>
          <a:xfrm>
            <a:off x="686435" y="4747578"/>
            <a:ext cx="5491480" cy="4497705"/>
          </a:xfrm>
          <a:prstGeom prst="rect">
            <a:avLst/>
          </a:prstGeom>
        </p:spPr>
        <p:txBody>
          <a:bodyPr vert="horz" lIns="96332" tIns="48166" rIns="96332" bIns="4816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93420"/>
            <a:ext cx="2974552" cy="499745"/>
          </a:xfrm>
          <a:prstGeom prst="rect">
            <a:avLst/>
          </a:prstGeom>
        </p:spPr>
        <p:txBody>
          <a:bodyPr vert="horz" lIns="96332" tIns="48166" rIns="96332" bIns="48166" rtlCol="0" anchor="b"/>
          <a:lstStyle>
            <a:lvl1pPr algn="l">
              <a:defRPr sz="1300"/>
            </a:lvl1pPr>
          </a:lstStyle>
          <a:p>
            <a:endParaRPr lang="en-US"/>
          </a:p>
        </p:txBody>
      </p:sp>
      <p:sp>
        <p:nvSpPr>
          <p:cNvPr id="7" name="Slide Number Placeholder 6"/>
          <p:cNvSpPr>
            <a:spLocks noGrp="1"/>
          </p:cNvSpPr>
          <p:nvPr>
            <p:ph type="sldNum" sz="quarter" idx="5"/>
          </p:nvPr>
        </p:nvSpPr>
        <p:spPr>
          <a:xfrm>
            <a:off x="3888210" y="9493420"/>
            <a:ext cx="2974552" cy="499745"/>
          </a:xfrm>
          <a:prstGeom prst="rect">
            <a:avLst/>
          </a:prstGeom>
        </p:spPr>
        <p:txBody>
          <a:bodyPr vert="horz" lIns="96332" tIns="48166" rIns="96332" bIns="48166" rtlCol="0" anchor="b"/>
          <a:lstStyle>
            <a:lvl1pPr algn="r">
              <a:defRPr sz="1300"/>
            </a:lvl1pPr>
          </a:lstStyle>
          <a:p>
            <a:fld id="{93888009-7122-4131-992B-DF0DC87432BC}" type="slidenum">
              <a:rPr lang="en-US" smtClean="0"/>
              <a:pPr/>
              <a:t>‹#›</a:t>
            </a:fld>
            <a:endParaRPr lang="en-US"/>
          </a:p>
        </p:txBody>
      </p:sp>
    </p:spTree>
    <p:extLst>
      <p:ext uri="{BB962C8B-B14F-4D97-AF65-F5344CB8AC3E}">
        <p14:creationId xmlns:p14="http://schemas.microsoft.com/office/powerpoint/2010/main" val="37135793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93888009-7122-4131-992B-DF0DC87432BC}" type="slidenum">
              <a:rPr lang="en-US" smtClean="0"/>
              <a:pPr/>
              <a:t>38</a:t>
            </a:fld>
            <a:endParaRPr lang="en-US"/>
          </a:p>
        </p:txBody>
      </p:sp>
    </p:spTree>
    <p:extLst>
      <p:ext uri="{BB962C8B-B14F-4D97-AF65-F5344CB8AC3E}">
        <p14:creationId xmlns:p14="http://schemas.microsoft.com/office/powerpoint/2010/main" val="2045339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p:cNvSpPr>
            <a:spLocks noGrp="1" noRot="1" noChangeAspect="1"/>
          </p:cNvSpPr>
          <p:nvPr>
            <p:ph type="sldImg"/>
          </p:nvPr>
        </p:nvSpPr>
        <p:spPr bwMode="auto">
          <a:noFill/>
          <a:ln>
            <a:solidFill>
              <a:srgbClr val="000000"/>
            </a:solidFill>
            <a:miter lim="800000"/>
            <a:headEnd/>
            <a:tailEnd/>
          </a:ln>
        </p:spPr>
      </p:sp>
      <p:sp>
        <p:nvSpPr>
          <p:cNvPr id="75778" name="Notes Placeholder 2"/>
          <p:cNvSpPr>
            <a:spLocks noGrp="1"/>
          </p:cNvSpPr>
          <p:nvPr>
            <p:ph type="body" idx="1"/>
          </p:nvPr>
        </p:nvSpPr>
        <p:spPr bwMode="auto">
          <a:noFill/>
        </p:spPr>
        <p:txBody>
          <a:bodyPr/>
          <a:lstStyle/>
          <a:p>
            <a:pPr eaLnBrk="1" hangingPunct="1"/>
            <a:endParaRPr lang="en-US" dirty="0">
              <a:cs typeface="Arial" charset="0"/>
            </a:endParaRPr>
          </a:p>
        </p:txBody>
      </p:sp>
      <p:sp>
        <p:nvSpPr>
          <p:cNvPr id="4" name="Slide Number Placeholder 3"/>
          <p:cNvSpPr>
            <a:spLocks noGrp="1"/>
          </p:cNvSpPr>
          <p:nvPr>
            <p:ph type="sldNum" sz="quarter" idx="5"/>
          </p:nvPr>
        </p:nvSpPr>
        <p:spPr/>
        <p:txBody>
          <a:bodyPr/>
          <a:lstStyle/>
          <a:p>
            <a:pPr>
              <a:defRPr/>
            </a:pPr>
            <a:fld id="{939B8253-4550-4090-ADCA-377B897D2AC2}" type="slidenum">
              <a:rPr lang="en-US" smtClean="0"/>
              <a:pPr>
                <a:defRPr/>
              </a:pPr>
              <a:t>49</a:t>
            </a:fld>
            <a:endParaRPr lang="en-US" dirty="0"/>
          </a:p>
        </p:txBody>
      </p:sp>
    </p:spTree>
    <p:extLst>
      <p:ext uri="{BB962C8B-B14F-4D97-AF65-F5344CB8AC3E}">
        <p14:creationId xmlns:p14="http://schemas.microsoft.com/office/powerpoint/2010/main" val="1083489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p:cNvSpPr>
            <a:spLocks noGrp="1" noRot="1" noChangeAspect="1"/>
          </p:cNvSpPr>
          <p:nvPr>
            <p:ph type="sldImg"/>
          </p:nvPr>
        </p:nvSpPr>
        <p:spPr bwMode="auto">
          <a:noFill/>
          <a:ln>
            <a:solidFill>
              <a:srgbClr val="000000"/>
            </a:solidFill>
            <a:miter lim="800000"/>
            <a:headEnd/>
            <a:tailEnd/>
          </a:ln>
        </p:spPr>
      </p:sp>
      <p:sp>
        <p:nvSpPr>
          <p:cNvPr id="79874" name="Notes Placeholder 2"/>
          <p:cNvSpPr>
            <a:spLocks noGrp="1"/>
          </p:cNvSpPr>
          <p:nvPr>
            <p:ph type="body" idx="1"/>
          </p:nvPr>
        </p:nvSpPr>
        <p:spPr bwMode="auto">
          <a:noFill/>
        </p:spPr>
        <p:txBody>
          <a:bodyPr/>
          <a:lstStyle/>
          <a:p>
            <a:pPr eaLnBrk="1" hangingPunct="1"/>
            <a:endParaRPr lang="en-US" dirty="0">
              <a:cs typeface="Arial" charset="0"/>
            </a:endParaRPr>
          </a:p>
        </p:txBody>
      </p:sp>
      <p:sp>
        <p:nvSpPr>
          <p:cNvPr id="4" name="Slide Number Placeholder 3"/>
          <p:cNvSpPr>
            <a:spLocks noGrp="1"/>
          </p:cNvSpPr>
          <p:nvPr>
            <p:ph type="sldNum" sz="quarter" idx="5"/>
          </p:nvPr>
        </p:nvSpPr>
        <p:spPr/>
        <p:txBody>
          <a:bodyPr/>
          <a:lstStyle/>
          <a:p>
            <a:pPr>
              <a:defRPr/>
            </a:pPr>
            <a:fld id="{E4BFE308-68E8-42C0-B6DB-B4D456A6E323}" type="slidenum">
              <a:rPr lang="en-US" smtClean="0"/>
              <a:pPr>
                <a:defRPr/>
              </a:pPr>
              <a:t>53</a:t>
            </a:fld>
            <a:endParaRPr lang="en-US" dirty="0"/>
          </a:p>
        </p:txBody>
      </p:sp>
    </p:spTree>
    <p:extLst>
      <p:ext uri="{BB962C8B-B14F-4D97-AF65-F5344CB8AC3E}">
        <p14:creationId xmlns:p14="http://schemas.microsoft.com/office/powerpoint/2010/main" val="138455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Image Placeholder 1"/>
          <p:cNvSpPr>
            <a:spLocks noGrp="1" noRot="1" noChangeAspect="1"/>
          </p:cNvSpPr>
          <p:nvPr>
            <p:ph type="sldImg"/>
          </p:nvPr>
        </p:nvSpPr>
        <p:spPr bwMode="auto">
          <a:noFill/>
          <a:ln>
            <a:solidFill>
              <a:srgbClr val="000000"/>
            </a:solidFill>
            <a:miter lim="800000"/>
            <a:headEnd/>
            <a:tailEnd/>
          </a:ln>
        </p:spPr>
      </p:sp>
      <p:sp>
        <p:nvSpPr>
          <p:cNvPr id="81922" name="Notes Placeholder 2"/>
          <p:cNvSpPr>
            <a:spLocks noGrp="1"/>
          </p:cNvSpPr>
          <p:nvPr>
            <p:ph type="body" idx="1"/>
          </p:nvPr>
        </p:nvSpPr>
        <p:spPr bwMode="auto">
          <a:noFill/>
        </p:spPr>
        <p:txBody>
          <a:bodyPr/>
          <a:lstStyle/>
          <a:p>
            <a:pPr eaLnBrk="1" hangingPunct="1"/>
            <a:endParaRPr lang="en-US" dirty="0">
              <a:cs typeface="Arial" charset="0"/>
            </a:endParaRPr>
          </a:p>
        </p:txBody>
      </p:sp>
      <p:sp>
        <p:nvSpPr>
          <p:cNvPr id="4" name="Slide Number Placeholder 3"/>
          <p:cNvSpPr>
            <a:spLocks noGrp="1"/>
          </p:cNvSpPr>
          <p:nvPr>
            <p:ph type="sldNum" sz="quarter" idx="5"/>
          </p:nvPr>
        </p:nvSpPr>
        <p:spPr/>
        <p:txBody>
          <a:bodyPr/>
          <a:lstStyle/>
          <a:p>
            <a:pPr>
              <a:defRPr/>
            </a:pPr>
            <a:fld id="{DED24C6E-769D-405C-955C-8DC78141D082}" type="slidenum">
              <a:rPr lang="en-US" smtClean="0"/>
              <a:pPr>
                <a:defRPr/>
              </a:pPr>
              <a:t>56</a:t>
            </a:fld>
            <a:endParaRPr lang="en-US" dirty="0"/>
          </a:p>
        </p:txBody>
      </p:sp>
    </p:spTree>
    <p:extLst>
      <p:ext uri="{BB962C8B-B14F-4D97-AF65-F5344CB8AC3E}">
        <p14:creationId xmlns:p14="http://schemas.microsoft.com/office/powerpoint/2010/main" val="151505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Slide Image Placeholder 1"/>
          <p:cNvSpPr>
            <a:spLocks noGrp="1" noRot="1" noChangeAspect="1"/>
          </p:cNvSpPr>
          <p:nvPr>
            <p:ph type="sldImg"/>
          </p:nvPr>
        </p:nvSpPr>
        <p:spPr bwMode="auto">
          <a:noFill/>
          <a:ln>
            <a:solidFill>
              <a:srgbClr val="000000"/>
            </a:solidFill>
            <a:miter lim="800000"/>
            <a:headEnd/>
            <a:tailEnd/>
          </a:ln>
        </p:spPr>
      </p:sp>
      <p:sp>
        <p:nvSpPr>
          <p:cNvPr id="98306" name="Notes Placeholder 2"/>
          <p:cNvSpPr>
            <a:spLocks noGrp="1"/>
          </p:cNvSpPr>
          <p:nvPr>
            <p:ph type="body" idx="1"/>
          </p:nvPr>
        </p:nvSpPr>
        <p:spPr bwMode="auto">
          <a:noFill/>
        </p:spPr>
        <p:txBody>
          <a:bodyPr/>
          <a:lstStyle/>
          <a:p>
            <a:pPr eaLnBrk="1" hangingPunct="1"/>
            <a:endParaRPr lang="en-GB" dirty="0">
              <a:cs typeface="Arial" charset="0"/>
            </a:endParaRPr>
          </a:p>
        </p:txBody>
      </p:sp>
      <p:sp>
        <p:nvSpPr>
          <p:cNvPr id="4" name="Slide Number Placeholder 3"/>
          <p:cNvSpPr>
            <a:spLocks noGrp="1"/>
          </p:cNvSpPr>
          <p:nvPr>
            <p:ph type="sldNum" sz="quarter" idx="5"/>
          </p:nvPr>
        </p:nvSpPr>
        <p:spPr/>
        <p:txBody>
          <a:bodyPr/>
          <a:lstStyle/>
          <a:p>
            <a:pPr>
              <a:defRPr/>
            </a:pPr>
            <a:fld id="{726ECB16-DD71-49B9-B091-0833B2DC1BD7}" type="slidenum">
              <a:rPr lang="en-US" smtClean="0"/>
              <a:pPr>
                <a:defRPr/>
              </a:pPr>
              <a:t>64</a:t>
            </a:fld>
            <a:endParaRPr lang="en-US" dirty="0"/>
          </a:p>
        </p:txBody>
      </p:sp>
    </p:spTree>
    <p:extLst>
      <p:ext uri="{BB962C8B-B14F-4D97-AF65-F5344CB8AC3E}">
        <p14:creationId xmlns:p14="http://schemas.microsoft.com/office/powerpoint/2010/main" val="3528953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Slide Image Placeholder 1"/>
          <p:cNvSpPr>
            <a:spLocks noGrp="1" noRot="1" noChangeAspect="1"/>
          </p:cNvSpPr>
          <p:nvPr>
            <p:ph type="sldImg"/>
          </p:nvPr>
        </p:nvSpPr>
        <p:spPr bwMode="auto">
          <a:noFill/>
          <a:ln>
            <a:solidFill>
              <a:srgbClr val="000000"/>
            </a:solidFill>
            <a:miter lim="800000"/>
            <a:headEnd/>
            <a:tailEnd/>
          </a:ln>
        </p:spPr>
      </p:sp>
      <p:sp>
        <p:nvSpPr>
          <p:cNvPr id="98306" name="Notes Placeholder 2"/>
          <p:cNvSpPr>
            <a:spLocks noGrp="1"/>
          </p:cNvSpPr>
          <p:nvPr>
            <p:ph type="body" idx="1"/>
          </p:nvPr>
        </p:nvSpPr>
        <p:spPr bwMode="auto">
          <a:noFill/>
        </p:spPr>
        <p:txBody>
          <a:bodyPr/>
          <a:lstStyle/>
          <a:p>
            <a:pPr eaLnBrk="1" hangingPunct="1"/>
            <a:endParaRPr lang="en-GB" dirty="0">
              <a:cs typeface="Arial" charset="0"/>
            </a:endParaRPr>
          </a:p>
        </p:txBody>
      </p:sp>
      <p:sp>
        <p:nvSpPr>
          <p:cNvPr id="4" name="Slide Number Placeholder 3"/>
          <p:cNvSpPr>
            <a:spLocks noGrp="1"/>
          </p:cNvSpPr>
          <p:nvPr>
            <p:ph type="sldNum" sz="quarter" idx="5"/>
          </p:nvPr>
        </p:nvSpPr>
        <p:spPr/>
        <p:txBody>
          <a:bodyPr/>
          <a:lstStyle/>
          <a:p>
            <a:pPr>
              <a:defRPr/>
            </a:pPr>
            <a:fld id="{726ECB16-DD71-49B9-B091-0833B2DC1BD7}" type="slidenum">
              <a:rPr lang="en-US" smtClean="0"/>
              <a:pPr>
                <a:defRPr/>
              </a:pPr>
              <a:t>85</a:t>
            </a:fld>
            <a:endParaRPr lang="en-US" dirty="0"/>
          </a:p>
        </p:txBody>
      </p:sp>
    </p:spTree>
    <p:extLst>
      <p:ext uri="{BB962C8B-B14F-4D97-AF65-F5344CB8AC3E}">
        <p14:creationId xmlns:p14="http://schemas.microsoft.com/office/powerpoint/2010/main" val="3512656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Slide Image Placeholder 1"/>
          <p:cNvSpPr>
            <a:spLocks noGrp="1" noRot="1" noChangeAspect="1"/>
          </p:cNvSpPr>
          <p:nvPr>
            <p:ph type="sldImg"/>
          </p:nvPr>
        </p:nvSpPr>
        <p:spPr bwMode="auto">
          <a:noFill/>
          <a:ln>
            <a:solidFill>
              <a:srgbClr val="000000"/>
            </a:solidFill>
            <a:miter lim="800000"/>
            <a:headEnd/>
            <a:tailEnd/>
          </a:ln>
        </p:spPr>
      </p:sp>
      <p:sp>
        <p:nvSpPr>
          <p:cNvPr id="100354" name="Notes Placeholder 2"/>
          <p:cNvSpPr>
            <a:spLocks noGrp="1"/>
          </p:cNvSpPr>
          <p:nvPr>
            <p:ph type="body" idx="1"/>
          </p:nvPr>
        </p:nvSpPr>
        <p:spPr bwMode="auto">
          <a:noFill/>
        </p:spPr>
        <p:txBody>
          <a:bodyPr/>
          <a:lstStyle/>
          <a:p>
            <a:pPr eaLnBrk="1" hangingPunct="1"/>
            <a:endParaRPr lang="en-US" dirty="0">
              <a:cs typeface="Arial" charset="0"/>
            </a:endParaRPr>
          </a:p>
        </p:txBody>
      </p:sp>
      <p:sp>
        <p:nvSpPr>
          <p:cNvPr id="4" name="Slide Number Placeholder 3"/>
          <p:cNvSpPr>
            <a:spLocks noGrp="1"/>
          </p:cNvSpPr>
          <p:nvPr>
            <p:ph type="sldNum" sz="quarter" idx="5"/>
          </p:nvPr>
        </p:nvSpPr>
        <p:spPr/>
        <p:txBody>
          <a:bodyPr/>
          <a:lstStyle/>
          <a:p>
            <a:pPr>
              <a:defRPr/>
            </a:pPr>
            <a:fld id="{B09DAB27-C48D-40DD-9F49-B6D53722D191}" type="slidenum">
              <a:rPr lang="en-US" smtClean="0"/>
              <a:pPr>
                <a:defRPr/>
              </a:pPr>
              <a:t>90</a:t>
            </a:fld>
            <a:endParaRPr lang="en-US" dirty="0"/>
          </a:p>
        </p:txBody>
      </p:sp>
    </p:spTree>
    <p:extLst>
      <p:ext uri="{BB962C8B-B14F-4D97-AF65-F5344CB8AC3E}">
        <p14:creationId xmlns:p14="http://schemas.microsoft.com/office/powerpoint/2010/main" val="39634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6" name="Rectangle 20"/>
          <p:cNvSpPr>
            <a:spLocks noGrp="1"/>
          </p:cNvSpPr>
          <p:nvPr>
            <p:ph type="ctrTitle"/>
          </p:nvPr>
        </p:nvSpPr>
        <p:spPr>
          <a:xfrm>
            <a:off x="685800" y="990601"/>
            <a:ext cx="7772400" cy="2609850"/>
          </a:xfrm>
        </p:spPr>
        <p:txBody>
          <a:bodyPr anchor="b" anchorCtr="0">
            <a:noAutofit/>
            <a:scene3d>
              <a:camera prst="orthographicFront"/>
              <a:lightRig rig="soft" dir="t">
                <a:rot lat="0" lon="0" rev="2100000"/>
              </a:lightRig>
            </a:scene3d>
            <a:sp3d prstMaterial="matte">
              <a:bevelT w="38100" h="38100"/>
              <a:contourClr>
                <a:srgbClr val="FFFFFF"/>
              </a:contourClr>
            </a:sp3d>
          </a:bodyPr>
          <a:lstStyle>
            <a:lvl1pPr algn="ctr">
              <a:defRPr lang="en-US" sz="5800" dirty="0" smtClean="0">
                <a:ln w="9525">
                  <a:noFill/>
                </a:ln>
                <a:effectLst>
                  <a:outerShdw blurRad="50800" dist="38100" dir="8220000" algn="tl" rotWithShape="0">
                    <a:srgbClr val="000000">
                      <a:alpha val="40000"/>
                    </a:srgbClr>
                  </a:outerShdw>
                </a:effectLst>
              </a:defRPr>
            </a:lvl1pPr>
          </a:lstStyle>
          <a:p>
            <a:r>
              <a:rPr lang="en-US"/>
              <a:t>Click to edit Master title style</a:t>
            </a:r>
            <a:endParaRPr lang="en-US" dirty="0"/>
          </a:p>
        </p:txBody>
      </p:sp>
      <p:sp>
        <p:nvSpPr>
          <p:cNvPr id="24" name="Rectangle 26"/>
          <p:cNvSpPr>
            <a:spLocks noGrp="1"/>
          </p:cNvSpPr>
          <p:nvPr>
            <p:ph type="subTitle" idx="1"/>
          </p:nvPr>
        </p:nvSpPr>
        <p:spPr>
          <a:xfrm>
            <a:off x="1371600" y="3657600"/>
            <a:ext cx="6400800" cy="1967089"/>
          </a:xfrm>
        </p:spPr>
        <p:txBody>
          <a:bodyPr>
            <a:normAutofit/>
          </a:bodyPr>
          <a:lstStyle>
            <a:lvl1pPr marL="0" indent="0" algn="ctr">
              <a:buNone/>
              <a:defRPr lang="en-US" sz="3000" b="0">
                <a:solidFill>
                  <a:schemeClr val="tx2"/>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
        <p:nvSpPr>
          <p:cNvPr id="18" name="Rectangle 6"/>
          <p:cNvSpPr>
            <a:spLocks noGrp="1"/>
          </p:cNvSpPr>
          <p:nvPr>
            <p:ph type="dt" sz="half" idx="10"/>
          </p:nvPr>
        </p:nvSpPr>
        <p:spPr/>
        <p:txBody>
          <a:bodyPr/>
          <a:lstStyle>
            <a:lvl1pPr>
              <a:defRPr lang="en-US" smtClean="0"/>
            </a:lvl1pPr>
          </a:lstStyle>
          <a:p>
            <a:endParaRPr lang="en-US"/>
          </a:p>
        </p:txBody>
      </p:sp>
      <p:sp>
        <p:nvSpPr>
          <p:cNvPr id="9" name="Rectangle 14"/>
          <p:cNvSpPr>
            <a:spLocks noGrp="1"/>
          </p:cNvSpPr>
          <p:nvPr>
            <p:ph type="sldNum" sz="quarter" idx="11"/>
          </p:nvPr>
        </p:nvSpPr>
        <p:spPr/>
        <p:txBody>
          <a:bodyPr/>
          <a:lstStyle>
            <a:lvl1pPr>
              <a:defRPr lang="en-US" smtClean="0"/>
            </a:lvl1pPr>
          </a:lstStyle>
          <a:p>
            <a:fld id="{B6F15528-21DE-4FAA-801E-634DDDAF4B2B}" type="slidenum">
              <a:rPr lang="en-US" smtClean="0"/>
              <a:pPr/>
              <a:t>‹#›</a:t>
            </a:fld>
            <a:endParaRPr lang="en-US"/>
          </a:p>
        </p:txBody>
      </p:sp>
      <p:sp>
        <p:nvSpPr>
          <p:cNvPr id="25" name="Rectangle 27"/>
          <p:cNvSpPr>
            <a:spLocks noGrp="1"/>
          </p:cNvSpPr>
          <p:nvPr>
            <p:ph type="ftr" sz="quarter" idx="12"/>
          </p:nvPr>
        </p:nvSpPr>
        <p:spPr/>
        <p:txBody>
          <a:bodyPr/>
          <a:lstStyle>
            <a:lvl1pPr>
              <a:defRPr lang="en-US" smtClean="0"/>
            </a:lvl1p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a:t>Click to edit Master title style</a:t>
            </a:r>
          </a:p>
        </p:txBody>
      </p:sp>
      <p:sp>
        <p:nvSpPr>
          <p:cNvPr id="3" name="Rectangle 3"/>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Rectangle 2"/>
          <p:cNvSpPr>
            <a:spLocks noGrp="1"/>
          </p:cNvSpPr>
          <p:nvPr>
            <p:ph type="title"/>
          </p:nvPr>
        </p:nvSpPr>
        <p:spPr>
          <a:xfrm>
            <a:off x="722313" y="2685391"/>
            <a:ext cx="7772400" cy="3112843"/>
          </a:xfrm>
        </p:spPr>
        <p:txBody>
          <a:bodyPr anchor="t">
            <a:normAutofit/>
          </a:bodyPr>
          <a:lstStyle>
            <a:lvl1pPr algn="ctr">
              <a:buNone/>
              <a:defRPr lang="en-US" sz="6000" b="1" dirty="0">
                <a:solidFill>
                  <a:schemeClr val="tx2">
                    <a:shade val="85000"/>
                    <a:satMod val="150000"/>
                  </a:schemeClr>
                </a:solidFill>
              </a:defRPr>
            </a:lvl1pPr>
          </a:lstStyle>
          <a:p>
            <a:r>
              <a:rPr lang="en-US"/>
              <a:t>Click to edit Master title style</a:t>
            </a:r>
            <a:endParaRPr lang="en-US" dirty="0"/>
          </a:p>
        </p:txBody>
      </p:sp>
      <p:sp>
        <p:nvSpPr>
          <p:cNvPr id="3" name="Rectangle 3"/>
          <p:cNvSpPr>
            <a:spLocks noGrp="1"/>
          </p:cNvSpPr>
          <p:nvPr>
            <p:ph type="body" idx="1"/>
          </p:nvPr>
        </p:nvSpPr>
        <p:spPr>
          <a:xfrm>
            <a:off x="722313" y="1128932"/>
            <a:ext cx="7772400" cy="1509712"/>
          </a:xfrm>
        </p:spPr>
        <p:txBody>
          <a:bodyPr anchor="b">
            <a:normAutofit/>
          </a:bodyPr>
          <a:lstStyle>
            <a:lvl1pPr algn="ctr">
              <a:buNone/>
              <a:defRPr lang="en-US" sz="2400" b="0" smtClean="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Rectangle 4"/>
          <p:cNvSpPr>
            <a:spLocks noGrp="1"/>
          </p:cNvSpPr>
          <p:nvPr>
            <p:ph type="dt" sz="half" idx="10"/>
          </p:nvPr>
        </p:nvSpPr>
        <p:spPr/>
        <p:txBody>
          <a:bodyPr/>
          <a:lstStyle/>
          <a:p>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p>
        </p:txBody>
      </p:sp>
      <p:sp>
        <p:nvSpPr>
          <p:cNvPr id="3" name="Rectangle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p:cNvSpPr>
          <p:nvPr>
            <p:ph type="dt" sz="half" idx="10"/>
          </p:nvPr>
        </p:nvSpPr>
        <p:spPr/>
        <p:txBody>
          <a:bodyPr/>
          <a:lstStyle/>
          <a:p>
            <a:endParaRPr lang="en-US"/>
          </a:p>
        </p:txBody>
      </p:sp>
      <p:sp>
        <p:nvSpPr>
          <p:cNvPr id="6" name="Rectangle 5"/>
          <p:cNvSpPr>
            <a:spLocks noGrp="1"/>
          </p:cNvSpPr>
          <p:nvPr>
            <p:ph type="ftr" sz="quarter" idx="11"/>
          </p:nvPr>
        </p:nvSpPr>
        <p:spPr/>
        <p:txBody>
          <a:bodyPr/>
          <a:lstStyle/>
          <a:p>
            <a:endParaRPr lang="en-US"/>
          </a:p>
        </p:txBody>
      </p:sp>
      <p:sp>
        <p:nvSpPr>
          <p:cNvPr id="7" name="Rectangle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lvl1pPr algn="l">
              <a:defRPr/>
            </a:lvl1pPr>
          </a:lstStyle>
          <a:p>
            <a:r>
              <a:rPr lang="en-US"/>
              <a:t>Click to edit Master title style</a:t>
            </a:r>
          </a:p>
        </p:txBody>
      </p:sp>
      <p:sp>
        <p:nvSpPr>
          <p:cNvPr id="3" name="Rectangle 2"/>
          <p:cNvSpPr>
            <a:spLocks noGrp="1"/>
          </p:cNvSpPr>
          <p:nvPr>
            <p:ph type="body" idx="1"/>
          </p:nvPr>
        </p:nvSpPr>
        <p:spPr>
          <a:xfrm>
            <a:off x="457200" y="1535113"/>
            <a:ext cx="4040188" cy="639762"/>
          </a:xfrm>
        </p:spPr>
        <p:txBody>
          <a:bodyPr anchor="b">
            <a:noAutofit/>
          </a:bodyPr>
          <a:lstStyle>
            <a:lvl1pPr marL="0" indent="0" algn="l">
              <a:buNone/>
              <a:defRPr sz="22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Rectangle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p:cNvSpPr>
          <p:nvPr>
            <p:ph type="body" sz="quarter" idx="3"/>
          </p:nvPr>
        </p:nvSpPr>
        <p:spPr>
          <a:xfrm>
            <a:off x="4645025" y="1535113"/>
            <a:ext cx="4041775" cy="639762"/>
          </a:xfrm>
        </p:spPr>
        <p:txBody>
          <a:bodyPr anchor="b">
            <a:noAutofit/>
          </a:bodyPr>
          <a:lstStyle>
            <a:lvl1pPr marL="0" indent="0" algn="l">
              <a:buNone/>
              <a:defRPr sz="22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Rectangle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p:cNvSpPr>
          <p:nvPr>
            <p:ph type="dt" sz="half" idx="10"/>
          </p:nvPr>
        </p:nvSpPr>
        <p:spPr/>
        <p:txBody>
          <a:bodyPr/>
          <a:lstStyle/>
          <a:p>
            <a:endParaRPr lang="en-US"/>
          </a:p>
        </p:txBody>
      </p:sp>
      <p:sp>
        <p:nvSpPr>
          <p:cNvPr id="8" name="Rectangle 7"/>
          <p:cNvSpPr>
            <a:spLocks noGrp="1"/>
          </p:cNvSpPr>
          <p:nvPr>
            <p:ph type="ftr" sz="quarter" idx="11"/>
          </p:nvPr>
        </p:nvSpPr>
        <p:spPr/>
        <p:txBody>
          <a:bodyPr/>
          <a:lstStyle/>
          <a:p>
            <a:endParaRPr lang="en-US"/>
          </a:p>
        </p:txBody>
      </p:sp>
      <p:sp>
        <p:nvSpPr>
          <p:cNvPr id="9" name="Rectangle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lvl1pPr>
              <a:defRPr lang="en-US"/>
            </a:lvl1pPr>
          </a:lstStyle>
          <a:p>
            <a:r>
              <a:rPr lang="en-US"/>
              <a:t>Click to edit Master title style</a:t>
            </a:r>
          </a:p>
        </p:txBody>
      </p:sp>
      <p:sp>
        <p:nvSpPr>
          <p:cNvPr id="3" name="Rectangle 3"/>
          <p:cNvSpPr>
            <a:spLocks noGrp="1"/>
          </p:cNvSpPr>
          <p:nvPr>
            <p:ph type="dt" sz="half" idx="10"/>
          </p:nvPr>
        </p:nvSpPr>
        <p:spPr/>
        <p:txBody>
          <a:bodyPr/>
          <a:lstStyle/>
          <a:p>
            <a:endParaRPr lang="en-US"/>
          </a:p>
        </p:txBody>
      </p:sp>
      <p:sp>
        <p:nvSpPr>
          <p:cNvPr id="4" name="Rectangle 4"/>
          <p:cNvSpPr>
            <a:spLocks noGrp="1"/>
          </p:cNvSpPr>
          <p:nvPr>
            <p:ph type="ftr" sz="quarter" idx="11"/>
          </p:nvPr>
        </p:nvSpPr>
        <p:spPr/>
        <p:txBody>
          <a:bodyPr/>
          <a:lstStyle/>
          <a:p>
            <a:endParaRPr lang="en-US"/>
          </a:p>
        </p:txBody>
      </p:sp>
      <p:sp>
        <p:nvSpPr>
          <p:cNvPr id="5" name="Rectangle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p:cNvSpPr>
          <p:nvPr>
            <p:ph type="dt" sz="half" idx="10"/>
          </p:nvPr>
        </p:nvSpPr>
        <p:spPr/>
        <p:txBody>
          <a:bodyPr/>
          <a:lstStyle/>
          <a:p>
            <a:endParaRPr lang="en-US"/>
          </a:p>
        </p:txBody>
      </p:sp>
      <p:sp>
        <p:nvSpPr>
          <p:cNvPr id="3" name="Rectangle 3"/>
          <p:cNvSpPr>
            <a:spLocks noGrp="1"/>
          </p:cNvSpPr>
          <p:nvPr>
            <p:ph type="ftr" sz="quarter" idx="11"/>
          </p:nvPr>
        </p:nvSpPr>
        <p:spPr/>
        <p:txBody>
          <a:bodyPr/>
          <a:lstStyle/>
          <a:p>
            <a:endParaRPr lang="en-US"/>
          </a:p>
        </p:txBody>
      </p:sp>
      <p:sp>
        <p:nvSpPr>
          <p:cNvPr id="4" name="Rectangle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a:spLocks noGrp="1"/>
          </p:cNvSpPr>
          <p:nvPr>
            <p:ph type="title"/>
          </p:nvPr>
        </p:nvSpPr>
        <p:spPr>
          <a:xfrm>
            <a:off x="457200" y="273050"/>
            <a:ext cx="3008313" cy="1162050"/>
          </a:xfrm>
        </p:spPr>
        <p:txBody>
          <a:bodyPr anchor="b">
            <a:normAutofit/>
          </a:bodyPr>
          <a:lstStyle>
            <a:lvl1pPr algn="ctr">
              <a:defRPr sz="2400" b="1">
                <a:solidFill>
                  <a:schemeClr val="tx2"/>
                </a:solidFill>
                <a:effectLst>
                  <a:outerShdw blurRad="38100" dist="25400" dir="8220000" algn="tr" rotWithShape="0">
                    <a:prstClr val="black">
                      <a:alpha val="35000"/>
                    </a:prstClr>
                  </a:outerShdw>
                </a:effectLst>
              </a:defRPr>
            </a:lvl1pPr>
          </a:lstStyle>
          <a:p>
            <a:r>
              <a:rPr lang="en-US"/>
              <a:t>Click to edit Master title style</a:t>
            </a:r>
          </a:p>
        </p:txBody>
      </p:sp>
      <p:sp>
        <p:nvSpPr>
          <p:cNvPr id="3" name="Rectangle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p:cNvSpPr>
          <p:nvPr>
            <p:ph type="body" sz="half" idx="2"/>
          </p:nvPr>
        </p:nvSpPr>
        <p:spPr>
          <a:xfrm>
            <a:off x="457200" y="1435100"/>
            <a:ext cx="3008313" cy="4691063"/>
          </a:xfrm>
        </p:spPr>
        <p:txBody>
          <a:bodyPr/>
          <a:lstStyle>
            <a:lvl1pPr marL="0" indent="0" algn="ctr">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p:cNvSpPr>
          <p:nvPr>
            <p:ph type="dt" sz="half" idx="10"/>
          </p:nvPr>
        </p:nvSpPr>
        <p:spPr/>
        <p:txBody>
          <a:bodyPr/>
          <a:lstStyle/>
          <a:p>
            <a:endParaRPr lang="en-US"/>
          </a:p>
        </p:txBody>
      </p:sp>
      <p:sp>
        <p:nvSpPr>
          <p:cNvPr id="6" name="Rectangle 5"/>
          <p:cNvSpPr>
            <a:spLocks noGrp="1"/>
          </p:cNvSpPr>
          <p:nvPr>
            <p:ph type="ftr" sz="quarter" idx="11"/>
          </p:nvPr>
        </p:nvSpPr>
        <p:spPr/>
        <p:txBody>
          <a:bodyPr/>
          <a:lstStyle/>
          <a:p>
            <a:endParaRPr lang="en-US"/>
          </a:p>
        </p:txBody>
      </p:sp>
      <p:sp>
        <p:nvSpPr>
          <p:cNvPr id="7" name="Rectangle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727729" y="1062637"/>
            <a:ext cx="4599432" cy="3977640"/>
          </a:xfrm>
          <a:prstGeom prst="rect">
            <a:avLst/>
          </a:prstGeom>
          <a:solidFill>
            <a:schemeClr val="tx2">
              <a:shade val="15000"/>
            </a:schemeClr>
          </a:solidFill>
          <a:ln w="63500">
            <a:noFill/>
            <a:miter lim="800000"/>
          </a:ln>
          <a:effectLst>
            <a:outerShdw blurRad="63500" dist="25400" dir="7200000" algn="t" rotWithShape="0">
              <a:prstClr val="black">
                <a:alpha val="45000"/>
              </a:prstClr>
            </a:outerShdw>
          </a:effectLst>
        </p:spPr>
        <p:style>
          <a:lnRef idx="3">
            <a:schemeClr val="lt1"/>
          </a:lnRef>
          <a:fillRef idx="1">
            <a:schemeClr val="accent6"/>
          </a:fillRef>
          <a:effectRef idx="1">
            <a:schemeClr val="accent6"/>
          </a:effectRef>
          <a:fontRef idx="minor">
            <a:schemeClr val="lt1"/>
          </a:fontRef>
        </p:style>
        <p:txBody>
          <a:bodyPr lIns="45720" rIns="45720" rtlCol="0" anchor="ctr">
            <a:normAutofit/>
          </a:bodyPr>
          <a:lstStyle/>
          <a:p>
            <a:pPr marL="0" indent="-274320" algn="l">
              <a:buClr>
                <a:schemeClr val="accent1"/>
              </a:buClr>
              <a:buSzPct val="80000"/>
              <a:buFont typeface="Wingdings 2" pitchFamily="18" charset="2"/>
              <a:buNone/>
            </a:pPr>
            <a:endParaRPr lang="en-US" sz="2000">
              <a:solidFill>
                <a:schemeClr val="lt1"/>
              </a:solidFill>
              <a:latin typeface="+mn-lt"/>
              <a:ea typeface="+mn-ea"/>
              <a:cs typeface="+mn-cs"/>
            </a:endParaRPr>
          </a:p>
        </p:txBody>
      </p:sp>
      <p:sp>
        <p:nvSpPr>
          <p:cNvPr id="2" name="Rectangle 2"/>
          <p:cNvSpPr>
            <a:spLocks noGrp="1"/>
          </p:cNvSpPr>
          <p:nvPr>
            <p:ph type="title"/>
          </p:nvPr>
        </p:nvSpPr>
        <p:spPr>
          <a:xfrm>
            <a:off x="5514536" y="4343400"/>
            <a:ext cx="3048000" cy="709858"/>
          </a:xfrm>
        </p:spPr>
        <p:txBody>
          <a:bodyPr anchor="t">
            <a:noAutofit/>
          </a:bodyPr>
          <a:lstStyle>
            <a:lvl1pPr algn="l">
              <a:buNone/>
              <a:defRPr sz="2200" b="1">
                <a:solidFill>
                  <a:schemeClr val="tx2"/>
                </a:solidFill>
                <a:effectLst>
                  <a:outerShdw blurRad="38100" dist="25400" dir="8220000" algn="tr" rotWithShape="0">
                    <a:prstClr val="black">
                      <a:alpha val="35000"/>
                    </a:prstClr>
                  </a:outerShdw>
                </a:effectLst>
              </a:defRPr>
            </a:lvl1pPr>
          </a:lstStyle>
          <a:p>
            <a:r>
              <a:rPr lang="en-US"/>
              <a:t>Click to edit Master title style</a:t>
            </a:r>
            <a:endParaRPr lang="en-US" dirty="0"/>
          </a:p>
        </p:txBody>
      </p:sp>
      <p:sp>
        <p:nvSpPr>
          <p:cNvPr id="3" name="Rectangle 3"/>
          <p:cNvSpPr>
            <a:spLocks noGrp="1"/>
          </p:cNvSpPr>
          <p:nvPr>
            <p:ph type="pic" idx="1"/>
          </p:nvPr>
        </p:nvSpPr>
        <p:spPr>
          <a:xfrm>
            <a:off x="739645" y="1222657"/>
            <a:ext cx="4575601" cy="3657600"/>
          </a:xfrm>
          <a:solidFill>
            <a:schemeClr val="tx2">
              <a:shade val="75000"/>
            </a:schemeClr>
          </a:solidFill>
          <a:ln w="63500">
            <a:noFill/>
            <a:miter lim="800000"/>
          </a:ln>
          <a:effectLst/>
        </p:spPr>
        <p:style>
          <a:lnRef idx="3">
            <a:schemeClr val="lt1"/>
          </a:lnRef>
          <a:fillRef idx="1">
            <a:schemeClr val="accent6"/>
          </a:fillRef>
          <a:effectRef idx="1">
            <a:schemeClr val="accent6"/>
          </a:effectRef>
          <a:fontRef idx="minor">
            <a:schemeClr val="lt1"/>
          </a:fontRef>
        </p:style>
        <p:txBody>
          <a:bodyPr/>
          <a:lstStyle>
            <a:lvl1pPr>
              <a:buNone/>
              <a:defRPr sz="3200"/>
            </a:lvl1pPr>
          </a:lstStyle>
          <a:p>
            <a:r>
              <a:rPr lang="en-US" sz="2000"/>
              <a:t>Click icon to add picture</a:t>
            </a:r>
            <a:endParaRPr lang="en-US" sz="2000" dirty="0"/>
          </a:p>
        </p:txBody>
      </p:sp>
      <p:sp>
        <p:nvSpPr>
          <p:cNvPr id="4" name="Rectangle 4"/>
          <p:cNvSpPr>
            <a:spLocks noGrp="1"/>
          </p:cNvSpPr>
          <p:nvPr>
            <p:ph type="body" sz="half" idx="2"/>
          </p:nvPr>
        </p:nvSpPr>
        <p:spPr>
          <a:xfrm>
            <a:off x="5514536" y="1371600"/>
            <a:ext cx="3044952" cy="2930086"/>
          </a:xfrm>
        </p:spPr>
        <p:txBody>
          <a:bodyPr bIns="0" anchor="b">
            <a:normAutofit/>
          </a:bodyPr>
          <a:lstStyle>
            <a:lvl1pPr marL="0" marR="0" indent="0" algn="l">
              <a:buFontTx/>
              <a:buNone/>
              <a:defRPr sz="1300">
                <a:solidFill>
                  <a:schemeClr val="tx1">
                    <a:tint val="95000"/>
                  </a:schemeClr>
                </a:solidFill>
              </a:defRPr>
            </a:lvl1pPr>
            <a:lvl2pPr marL="460375" marR="0" indent="-112713">
              <a:buFontTx/>
              <a:buNone/>
              <a:defRPr sz="1200"/>
            </a:lvl2pPr>
            <a:lvl3pPr marL="914400" marR="0" indent="-117475">
              <a:buFontTx/>
              <a:buNone/>
              <a:defRPr sz="1000"/>
            </a:lvl3pPr>
            <a:lvl4pPr marL="1316038" marR="0" indent="-112713">
              <a:buFontTx/>
              <a:buNone/>
              <a:defRPr sz="900"/>
            </a:lvl4pPr>
            <a:lvl5pPr marL="1711325" marR="0" indent="-117475">
              <a:buFontTx/>
              <a:buNone/>
              <a:defRPr sz="900"/>
            </a:lvl5pPr>
          </a:lstStyle>
          <a:p>
            <a:pPr lvl="0"/>
            <a:r>
              <a:rPr lang="en-US"/>
              <a:t>Click to edit Master text styles</a:t>
            </a:r>
          </a:p>
        </p:txBody>
      </p:sp>
      <p:sp>
        <p:nvSpPr>
          <p:cNvPr id="5" name="Rectangle 5"/>
          <p:cNvSpPr>
            <a:spLocks noGrp="1"/>
          </p:cNvSpPr>
          <p:nvPr>
            <p:ph type="dt" sz="half" idx="10"/>
          </p:nvPr>
        </p:nvSpPr>
        <p:spPr/>
        <p:txBody>
          <a:bodyPr/>
          <a:lstStyle/>
          <a:p>
            <a:endParaRPr lang="en-US"/>
          </a:p>
        </p:txBody>
      </p:sp>
      <p:sp>
        <p:nvSpPr>
          <p:cNvPr id="6" name="Rectangle 6"/>
          <p:cNvSpPr>
            <a:spLocks noGrp="1"/>
          </p:cNvSpPr>
          <p:nvPr>
            <p:ph type="ftr" sz="quarter" idx="11"/>
          </p:nvPr>
        </p:nvSpPr>
        <p:spPr/>
        <p:txBody>
          <a:bodyPr/>
          <a:lstStyle/>
          <a:p>
            <a:endParaRPr lang="en-US"/>
          </a:p>
        </p:txBody>
      </p:sp>
      <p:sp>
        <p:nvSpPr>
          <p:cNvPr id="7" name="Rectangle 7"/>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Rectangle 10"/>
          <p:cNvSpPr>
            <a:spLocks noGrp="1"/>
          </p:cNvSpPr>
          <p:nvPr>
            <p:ph type="title"/>
          </p:nvPr>
        </p:nvSpPr>
        <p:spPr>
          <a:xfrm>
            <a:off x="457200" y="304800"/>
            <a:ext cx="8229600" cy="1143000"/>
          </a:xfrm>
          <a:prstGeom prst="rect">
            <a:avLst/>
          </a:prstGeom>
        </p:spPr>
        <p:txBody>
          <a:bodyPr anchor="b" anchorCtr="0">
            <a:normAutofit/>
            <a:scene3d>
              <a:camera prst="orthographicFront"/>
              <a:lightRig rig="soft" dir="t">
                <a:rot lat="0" lon="0" rev="2100000"/>
              </a:lightRig>
            </a:scene3d>
            <a:sp3d prstMaterial="matte">
              <a:bevelT w="38100" h="38100"/>
            </a:sp3d>
          </a:bodyPr>
          <a:lstStyle/>
          <a:p>
            <a:r>
              <a:rPr lang="en-US"/>
              <a:t>Click to edit Master title style</a:t>
            </a:r>
            <a:endParaRPr lang="en-US" dirty="0"/>
          </a:p>
        </p:txBody>
      </p:sp>
      <p:sp>
        <p:nvSpPr>
          <p:cNvPr id="5" name="Rectangle 11"/>
          <p:cNvSpPr>
            <a:spLocks noGrp="1"/>
          </p:cNvSpPr>
          <p:nvPr>
            <p:ph type="body" idx="1"/>
          </p:nvPr>
        </p:nvSpPr>
        <p:spPr>
          <a:xfrm>
            <a:off x="457200" y="1600200"/>
            <a:ext cx="8229600" cy="4525963"/>
          </a:xfrm>
          <a:prstGeom prst="rect">
            <a:avLst/>
          </a:prstGeom>
        </p:spPr>
        <p:txBody>
          <a:bodyPr lIns="45720" rIns="4572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Rectangle 22"/>
          <p:cNvSpPr>
            <a:spLocks noGrp="1"/>
          </p:cNvSpPr>
          <p:nvPr>
            <p:ph type="dt" sz="half" idx="2"/>
          </p:nvPr>
        </p:nvSpPr>
        <p:spPr>
          <a:xfrm>
            <a:off x="457200" y="6245225"/>
            <a:ext cx="2133600" cy="476250"/>
          </a:xfrm>
          <a:prstGeom prst="rect">
            <a:avLst/>
          </a:prstGeom>
        </p:spPr>
        <p:txBody>
          <a:bodyPr anchor="b" anchorCtr="0"/>
          <a:lstStyle>
            <a:lvl1pPr>
              <a:defRPr lang="en-US" sz="1200" smtClean="0">
                <a:solidFill>
                  <a:schemeClr val="tx2"/>
                </a:solidFill>
                <a:latin typeface="+mn-lt"/>
                <a:ea typeface="+mn-lt"/>
                <a:cs typeface="+mn-lt"/>
              </a:defRPr>
            </a:lvl1pPr>
          </a:lstStyle>
          <a:p>
            <a:endParaRPr lang="en-US"/>
          </a:p>
        </p:txBody>
      </p:sp>
      <p:sp>
        <p:nvSpPr>
          <p:cNvPr id="18" name="Rectangle 18"/>
          <p:cNvSpPr>
            <a:spLocks noGrp="1"/>
          </p:cNvSpPr>
          <p:nvPr>
            <p:ph type="ftr" sz="quarter" idx="3"/>
          </p:nvPr>
        </p:nvSpPr>
        <p:spPr>
          <a:xfrm>
            <a:off x="3124200" y="6245225"/>
            <a:ext cx="2895600" cy="476250"/>
          </a:xfrm>
          <a:prstGeom prst="rect">
            <a:avLst/>
          </a:prstGeom>
        </p:spPr>
        <p:txBody>
          <a:bodyPr anchor="b" anchorCtr="0"/>
          <a:lstStyle>
            <a:lvl1pPr algn="ctr">
              <a:defRPr lang="en-US" sz="1200" smtClean="0">
                <a:solidFill>
                  <a:schemeClr val="tx2"/>
                </a:solidFill>
                <a:latin typeface="+mn-lt"/>
                <a:ea typeface="+mn-lt"/>
                <a:cs typeface="+mn-lt"/>
              </a:defRPr>
            </a:lvl1pPr>
          </a:lstStyle>
          <a:p>
            <a:endParaRPr lang="en-US"/>
          </a:p>
        </p:txBody>
      </p:sp>
      <p:sp>
        <p:nvSpPr>
          <p:cNvPr id="13" name="Rectangle 15"/>
          <p:cNvSpPr>
            <a:spLocks noGrp="1"/>
          </p:cNvSpPr>
          <p:nvPr>
            <p:ph type="sldNum" sz="quarter" idx="4"/>
          </p:nvPr>
        </p:nvSpPr>
        <p:spPr>
          <a:xfrm>
            <a:off x="6553200" y="6245225"/>
            <a:ext cx="2133600" cy="476250"/>
          </a:xfrm>
          <a:prstGeom prst="rect">
            <a:avLst/>
          </a:prstGeom>
        </p:spPr>
        <p:txBody>
          <a:bodyPr anchor="b" anchorCtr="0"/>
          <a:lstStyle>
            <a:lvl1pPr algn="r">
              <a:defRPr lang="en-US" sz="1200" smtClean="0">
                <a:solidFill>
                  <a:schemeClr val="tx2"/>
                </a:solidFill>
                <a:latin typeface="+mn-lt"/>
                <a:ea typeface="+mn-lt"/>
                <a:cs typeface="+mn-lt"/>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hf hdr="0" ftr="0" dt="0"/>
  <p:txStyles>
    <p:titleStyle>
      <a:defPPr>
        <a:defRPr sz="4400">
          <a:solidFill>
            <a:schemeClr val="tx2">
              <a:shade val="85000"/>
              <a:satMod val="150000"/>
            </a:schemeClr>
          </a:solidFill>
          <a:latin typeface="+mj-lt"/>
          <a:ea typeface="+mj-ea"/>
          <a:cs typeface="+mj-cs"/>
        </a:defRPr>
      </a:defPPr>
      <a:lvl1pPr algn="ctr" eaLnBrk="1" hangingPunct="1">
        <a:buNone/>
        <a:defRPr lang="en-US" sz="4800" b="1" strike="noStrike" kern="1200" baseline="0" dirty="0" smtClean="0">
          <a:solidFill>
            <a:schemeClr val="tx2">
              <a:shade val="85000"/>
              <a:satMod val="150000"/>
            </a:schemeClr>
          </a:solidFill>
          <a:effectLst>
            <a:outerShdw blurRad="63500" dist="38100" dir="8220000" algn="tl" rotWithShape="0">
              <a:srgbClr val="000000">
                <a:alpha val="30000"/>
              </a:srgbClr>
            </a:outerShdw>
          </a:effectLst>
          <a:latin typeface="+mj-lt"/>
          <a:ea typeface="+mj-lt"/>
          <a:cs typeface="+mj-lt"/>
        </a:defRPr>
      </a:lvl1pPr>
    </p:titleStyle>
    <p:bodyStyle>
      <a:defPPr>
        <a:defRPr>
          <a:solidFill>
            <a:schemeClr val="tx1"/>
          </a:solidFill>
          <a:latin typeface="+mn-lt"/>
          <a:ea typeface="+mn-ea"/>
          <a:cs typeface="+mn-cs"/>
        </a:defRPr>
      </a:defPPr>
      <a:lvl1pPr marL="0" indent="-274320" algn="l" eaLnBrk="1" hangingPunct="1">
        <a:buClr>
          <a:schemeClr val="accent1"/>
        </a:buClr>
        <a:buSzPct val="80000"/>
        <a:buFont typeface="Wingdings 2" pitchFamily="18" charset="2"/>
        <a:buChar char=""/>
        <a:defRPr sz="2800">
          <a:solidFill>
            <a:schemeClr val="tx1"/>
          </a:solidFill>
          <a:latin typeface="+mn-lt"/>
          <a:ea typeface="+mn-lt"/>
          <a:cs typeface="+mn-lt"/>
        </a:defRPr>
      </a:lvl1pPr>
      <a:lvl2pPr marL="557784" indent="-228600" algn="l" eaLnBrk="1" hangingPunct="1">
        <a:buClr>
          <a:schemeClr val="tx2"/>
        </a:buClr>
        <a:buFont typeface="Wingdings 2" pitchFamily="18" charset="2"/>
        <a:buChar char=""/>
        <a:defRPr sz="2200">
          <a:solidFill>
            <a:schemeClr val="tx1"/>
          </a:solidFill>
          <a:latin typeface="+mn-lt"/>
          <a:ea typeface="+mn-lt"/>
          <a:cs typeface="+mn-lt"/>
        </a:defRPr>
      </a:lvl2pPr>
      <a:lvl3pPr marL="813816" indent="-228600" algn="l" eaLnBrk="1" hangingPunct="1">
        <a:buClr>
          <a:schemeClr val="accent1"/>
        </a:buClr>
        <a:buFont typeface="Wingdings 2" pitchFamily="18" charset="2"/>
        <a:buChar char=""/>
        <a:defRPr sz="2000">
          <a:solidFill>
            <a:schemeClr val="tx1"/>
          </a:solidFill>
          <a:latin typeface="+mn-lt"/>
          <a:ea typeface="+mn-lt"/>
          <a:cs typeface="+mn-lt"/>
        </a:defRPr>
      </a:lvl3pPr>
      <a:lvl4pPr marL="1069848" indent="-228600" algn="l" eaLnBrk="1" hangingPunct="1">
        <a:buClr>
          <a:schemeClr val="tx2"/>
        </a:buClr>
        <a:buFont typeface="Wingdings 2" pitchFamily="18" charset="2"/>
        <a:buChar char=""/>
        <a:defRPr sz="1800">
          <a:solidFill>
            <a:schemeClr val="tx1"/>
          </a:solidFill>
          <a:latin typeface="+mn-lt"/>
          <a:ea typeface="+mn-lt"/>
          <a:cs typeface="+mn-lt"/>
        </a:defRPr>
      </a:lvl4pPr>
      <a:lvl5pPr marL="1316736" indent="-228600" algn="l" eaLnBrk="1" hangingPunct="1">
        <a:buClr>
          <a:schemeClr val="accent1"/>
        </a:buClr>
        <a:buFont typeface="Wingdings 2" pitchFamily="18" charset="2"/>
        <a:buChar char=""/>
        <a:defRPr sz="1800">
          <a:solidFill>
            <a:schemeClr val="tx1"/>
          </a:solidFill>
          <a:latin typeface="+mn-lt"/>
          <a:ea typeface="+mn-lt"/>
          <a:cs typeface="+mn-lt"/>
        </a:defRPr>
      </a:lvl5pPr>
      <a:lvl6pPr marL="1572768" indent="-228600" algn="l" eaLnBrk="1" hangingPunct="1">
        <a:buClr>
          <a:schemeClr val="tx2"/>
        </a:buClr>
        <a:buFont typeface="Wingdings 2" pitchFamily="18" charset="2"/>
        <a:buChar char=""/>
        <a:defRPr lang="en-US" sz="1600" baseline="0" smtClean="0">
          <a:latin typeface="+mn-lt"/>
        </a:defRPr>
      </a:lvl6pPr>
      <a:lvl7pPr marL="1819656" indent="-228600" algn="l" eaLnBrk="1" hangingPunct="1">
        <a:buClr>
          <a:schemeClr val="accent1"/>
        </a:buClr>
        <a:buFont typeface="Wingdings 2" pitchFamily="18" charset="2"/>
        <a:buChar char=""/>
        <a:defRPr lang="en-US" sz="1600" baseline="0" smtClean="0">
          <a:latin typeface="+mn-lt"/>
        </a:defRPr>
      </a:lvl7pPr>
      <a:lvl8pPr marL="2066544" indent="-228600" algn="l" eaLnBrk="1" hangingPunct="1">
        <a:buClr>
          <a:schemeClr val="tx2"/>
        </a:buClr>
        <a:buFont typeface="Wingdings 2" pitchFamily="18" charset="2"/>
        <a:buChar char=""/>
        <a:defRPr sz="1600" baseline="0">
          <a:latin typeface="+mn-lt"/>
        </a:defRPr>
      </a:lvl8pPr>
      <a:lvl9pPr marL="2313432" indent="-228600" algn="l" eaLnBrk="1" hangingPunct="1">
        <a:buClr>
          <a:schemeClr val="accent1"/>
        </a:buClr>
        <a:buFont typeface="Wingdings 2" pitchFamily="18" charset="2"/>
        <a:buChar char=""/>
        <a:defRPr sz="1400" baseline="0">
          <a:latin typeface="+mn-lt"/>
        </a:defRPr>
      </a:lvl9pPr>
    </p:bodyStyle>
    <p:otherStyle>
      <a:defPPr>
        <a:defRPr>
          <a:solidFill>
            <a:schemeClr val="tx1"/>
          </a:solidFill>
          <a:latin typeface="+mn-lt"/>
          <a:ea typeface="+mn-ea"/>
          <a:cs typeface="+mn-cs"/>
        </a:defRPr>
      </a:defPPr>
      <a:lvl1pPr marL="0" eaLnBrk="1" hangingPunct="1"/>
      <a:lvl2pPr marL="457200" eaLnBrk="1" hangingPunct="1"/>
      <a:lvl3pPr marL="914400" eaLnBrk="1" hangingPunct="1"/>
      <a:lvl4pPr marL="1371600" eaLnBrk="1" hangingPunct="1"/>
      <a:lvl5pPr marL="1828800" eaLnBrk="1" hangingPunct="1"/>
      <a:lvl6pPr marL="2286000" eaLnBrk="1" hangingPunct="1"/>
      <a:lvl7pPr marL="2743200" eaLnBrk="1" hangingPunct="1"/>
      <a:lvl8pPr marL="3200400" eaLnBrk="1" hangingPunct="1"/>
      <a:lvl9pPr marL="3657600" eaLnBrk="1" hangingPunct="1"/>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youtube.com/watch?v=DyvXu3lSSG0" TargetMode="External"/><Relationship Id="rId2" Type="http://schemas.openxmlformats.org/officeDocument/2006/relationships/hyperlink" Target="http://www.youtube.com/watch?v=2PkrT1ko3Yk&amp;list=PLB628C837430CB736&amp;index=10"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45.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8.gi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4.gi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sz="8000" dirty="0"/>
              <a:t>Decision Making </a:t>
            </a:r>
            <a:endParaRPr lang="en-US" sz="8000" dirty="0"/>
          </a:p>
        </p:txBody>
      </p:sp>
      <p:sp>
        <p:nvSpPr>
          <p:cNvPr id="3" name="Subtitle 2"/>
          <p:cNvSpPr>
            <a:spLocks noGrp="1"/>
          </p:cNvSpPr>
          <p:nvPr>
            <p:ph type="subTitle" idx="1"/>
          </p:nvPr>
        </p:nvSpPr>
        <p:spPr/>
        <p:txBody>
          <a:bodyPr>
            <a:normAutofit/>
          </a:bodyPr>
          <a:lstStyle/>
          <a:p>
            <a:r>
              <a:rPr lang="en-GB" sz="3600" b="1" dirty="0"/>
              <a:t>Topic 3</a:t>
            </a:r>
            <a:endParaRPr lang="en-US" sz="3600" b="1" dirty="0"/>
          </a:p>
        </p:txBody>
      </p:sp>
      <p:sp>
        <p:nvSpPr>
          <p:cNvPr id="5" name="Slide Number Placeholder 4"/>
          <p:cNvSpPr>
            <a:spLocks noGrp="1"/>
          </p:cNvSpPr>
          <p:nvPr>
            <p:ph type="sldNum" sz="quarter" idx="11"/>
          </p:nvPr>
        </p:nvSpPr>
        <p:spPr/>
        <p:txBody>
          <a:bodyPr/>
          <a:lstStyle/>
          <a:p>
            <a:fld id="{B6F15528-21DE-4FAA-801E-634DDDAF4B2B}"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Areas discussed include….</a:t>
            </a:r>
            <a:endParaRPr lang="en-US" dirty="0"/>
          </a:p>
        </p:txBody>
      </p:sp>
      <p:sp>
        <p:nvSpPr>
          <p:cNvPr id="3" name="Content Placeholder 2"/>
          <p:cNvSpPr>
            <a:spLocks noGrp="1"/>
          </p:cNvSpPr>
          <p:nvPr>
            <p:ph idx="1"/>
          </p:nvPr>
        </p:nvSpPr>
        <p:spPr/>
        <p:txBody>
          <a:bodyPr>
            <a:normAutofit fontScale="92500" lnSpcReduction="20000"/>
          </a:bodyPr>
          <a:lstStyle/>
          <a:p>
            <a:pPr marL="457200" indent="-457200"/>
            <a:r>
              <a:rPr lang="en-US" b="1" dirty="0">
                <a:latin typeface="Arial" charset="0"/>
                <a:cs typeface="Arial" charset="0"/>
              </a:rPr>
              <a:t>Describing </a:t>
            </a:r>
            <a:r>
              <a:rPr lang="en-US" dirty="0">
                <a:latin typeface="Arial" charset="0"/>
                <a:cs typeface="Arial" charset="0"/>
              </a:rPr>
              <a:t>the eight steps in the decision-making process.</a:t>
            </a:r>
          </a:p>
          <a:p>
            <a:pPr marL="457200" indent="-457200"/>
            <a:endParaRPr lang="en-US" b="1" dirty="0">
              <a:latin typeface="Arial" charset="0"/>
              <a:cs typeface="Arial" charset="0"/>
            </a:endParaRPr>
          </a:p>
          <a:p>
            <a:pPr marL="457200" indent="-457200"/>
            <a:r>
              <a:rPr lang="en-US" b="1" dirty="0">
                <a:latin typeface="Arial" charset="0"/>
                <a:cs typeface="Arial" charset="0"/>
              </a:rPr>
              <a:t>Explaining </a:t>
            </a:r>
            <a:r>
              <a:rPr lang="en-US" dirty="0">
                <a:latin typeface="Arial" charset="0"/>
                <a:cs typeface="Arial" charset="0"/>
              </a:rPr>
              <a:t>the four ways managers make decisions.</a:t>
            </a:r>
          </a:p>
          <a:p>
            <a:pPr marL="457200" indent="-457200"/>
            <a:endParaRPr lang="en-US" b="1" dirty="0">
              <a:latin typeface="Arial" charset="0"/>
              <a:cs typeface="Arial" charset="0"/>
            </a:endParaRPr>
          </a:p>
          <a:p>
            <a:pPr marL="457200" indent="-457200"/>
            <a:r>
              <a:rPr lang="en-US" b="1" dirty="0">
                <a:latin typeface="Arial" charset="0"/>
                <a:cs typeface="Arial" charset="0"/>
              </a:rPr>
              <a:t>Classifying </a:t>
            </a:r>
            <a:r>
              <a:rPr lang="en-US" dirty="0">
                <a:latin typeface="Arial" charset="0"/>
                <a:cs typeface="Arial" charset="0"/>
              </a:rPr>
              <a:t>decisions and decision-making conditions.</a:t>
            </a:r>
          </a:p>
          <a:p>
            <a:pPr marL="457200" indent="-457200"/>
            <a:endParaRPr lang="en-US" b="1" dirty="0">
              <a:latin typeface="Arial" charset="0"/>
              <a:cs typeface="Arial" charset="0"/>
            </a:endParaRPr>
          </a:p>
          <a:p>
            <a:pPr marL="457200" indent="-457200"/>
            <a:r>
              <a:rPr lang="en-US" b="1" dirty="0">
                <a:latin typeface="Arial" charset="0"/>
                <a:cs typeface="Arial" charset="0"/>
              </a:rPr>
              <a:t>Describing </a:t>
            </a:r>
            <a:r>
              <a:rPr lang="en-US" dirty="0">
                <a:latin typeface="Arial" charset="0"/>
                <a:cs typeface="Arial" charset="0"/>
              </a:rPr>
              <a:t>different decision-making styles and discuss how biases affect decision making.</a:t>
            </a:r>
          </a:p>
          <a:p>
            <a:pPr marL="457200" indent="-457200"/>
            <a:endParaRPr lang="en-US" b="1" dirty="0">
              <a:latin typeface="Arial" charset="0"/>
              <a:cs typeface="Arial" charset="0"/>
            </a:endParaRPr>
          </a:p>
          <a:p>
            <a:pPr marL="457200" indent="-457200"/>
            <a:r>
              <a:rPr lang="en-US" b="1" dirty="0">
                <a:latin typeface="Arial" charset="0"/>
                <a:cs typeface="Arial" charset="0"/>
              </a:rPr>
              <a:t>Identifying </a:t>
            </a:r>
            <a:r>
              <a:rPr lang="en-US" dirty="0">
                <a:latin typeface="Arial" charset="0"/>
                <a:cs typeface="Arial" charset="0"/>
              </a:rPr>
              <a:t>effective decision-making techniques.</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Video Clip</a:t>
            </a:r>
          </a:p>
        </p:txBody>
      </p:sp>
      <p:sp>
        <p:nvSpPr>
          <p:cNvPr id="3" name="Content Placeholder 2"/>
          <p:cNvSpPr>
            <a:spLocks noGrp="1"/>
          </p:cNvSpPr>
          <p:nvPr>
            <p:ph idx="1"/>
          </p:nvPr>
        </p:nvSpPr>
        <p:spPr/>
        <p:txBody>
          <a:bodyPr/>
          <a:lstStyle/>
          <a:p>
            <a:r>
              <a:rPr lang="en-IE" dirty="0">
                <a:hlinkClick r:id="rId2"/>
              </a:rPr>
              <a:t>Decision Making (Lecture format) (9.07 </a:t>
            </a:r>
            <a:r>
              <a:rPr lang="en-IE" dirty="0" err="1">
                <a:hlinkClick r:id="rId2"/>
              </a:rPr>
              <a:t>mins</a:t>
            </a:r>
            <a:r>
              <a:rPr lang="en-IE" dirty="0">
                <a:hlinkClick r:id="rId2"/>
              </a:rPr>
              <a:t>)</a:t>
            </a:r>
            <a:r>
              <a:rPr lang="en-IE" dirty="0"/>
              <a:t> (Management Decision Making Styles #10)</a:t>
            </a:r>
          </a:p>
          <a:p>
            <a:endParaRPr lang="en-IE" dirty="0"/>
          </a:p>
          <a:p>
            <a:r>
              <a:rPr lang="en-IE" dirty="0">
                <a:hlinkClick r:id="rId3"/>
              </a:rPr>
              <a:t>Henry </a:t>
            </a:r>
            <a:r>
              <a:rPr lang="en-IE" dirty="0" err="1">
                <a:hlinkClick r:id="rId3"/>
              </a:rPr>
              <a:t>Mintzberg</a:t>
            </a:r>
            <a:r>
              <a:rPr lang="en-IE" dirty="0">
                <a:hlinkClick r:id="rId3"/>
              </a:rPr>
              <a:t> on Decision Making (4.04 </a:t>
            </a:r>
            <a:r>
              <a:rPr lang="en-IE" dirty="0" err="1">
                <a:hlinkClick r:id="rId3"/>
              </a:rPr>
              <a:t>mins</a:t>
            </a:r>
            <a:r>
              <a:rPr lang="en-IE" dirty="0">
                <a:hlinkClick r:id="rId3"/>
              </a:rPr>
              <a:t>)</a:t>
            </a:r>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3917466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pic>
        <p:nvPicPr>
          <p:cNvPr id="1026" name="Picture 2" descr="https://encrypted-tbn1.gstatic.com/images?q=tbn:ANd9GcS4x9maj6S82sgzYUqSx4FWwk7jaHrczrdx0163RqOBelP5MFA4"/>
          <p:cNvPicPr>
            <a:picLocks noChangeAspect="1" noChangeArrowheads="1"/>
          </p:cNvPicPr>
          <p:nvPr/>
        </p:nvPicPr>
        <p:blipFill>
          <a:blip r:embed="rId2" cstate="print"/>
          <a:srcRect/>
          <a:stretch>
            <a:fillRect/>
          </a:stretch>
        </p:blipFill>
        <p:spPr bwMode="auto">
          <a:xfrm>
            <a:off x="609600" y="762000"/>
            <a:ext cx="7851514" cy="5453428"/>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04800"/>
            <a:ext cx="8229600" cy="914400"/>
          </a:xfrm>
        </p:spPr>
        <p:txBody>
          <a:bodyPr/>
          <a:lstStyle/>
          <a:p>
            <a:r>
              <a:rPr lang="en-GB" dirty="0"/>
              <a:t>The Decision Making Process</a:t>
            </a:r>
            <a:endParaRPr lang="en-US" dirty="0"/>
          </a:p>
        </p:txBody>
      </p:sp>
      <p:sp>
        <p:nvSpPr>
          <p:cNvPr id="6" name="Content Placeholder 5"/>
          <p:cNvSpPr>
            <a:spLocks noGrp="1"/>
          </p:cNvSpPr>
          <p:nvPr>
            <p:ph sz="half" idx="1"/>
          </p:nvPr>
        </p:nvSpPr>
        <p:spPr>
          <a:xfrm>
            <a:off x="457200" y="1371600"/>
            <a:ext cx="5257800" cy="5257800"/>
          </a:xfrm>
          <a:ln>
            <a:noFill/>
          </a:ln>
        </p:spPr>
        <p:txBody>
          <a:bodyPr>
            <a:normAutofit fontScale="85000" lnSpcReduction="10000"/>
          </a:bodyPr>
          <a:lstStyle/>
          <a:p>
            <a:r>
              <a:rPr lang="en-US" b="1" dirty="0"/>
              <a:t>Decision</a:t>
            </a:r>
            <a:r>
              <a:rPr lang="en-US" dirty="0"/>
              <a:t> </a:t>
            </a:r>
            <a:r>
              <a:rPr lang="en-US" b="1" dirty="0"/>
              <a:t>-</a:t>
            </a:r>
            <a:r>
              <a:rPr lang="en-US" dirty="0"/>
              <a:t> making a choice from two or more alternatives.</a:t>
            </a:r>
          </a:p>
          <a:p>
            <a:endParaRPr lang="en-GB" dirty="0"/>
          </a:p>
          <a:p>
            <a:r>
              <a:rPr lang="en-US" dirty="0">
                <a:cs typeface="Arial" charset="0"/>
              </a:rPr>
              <a:t>Managers at all levels and in all areas of </a:t>
            </a:r>
            <a:r>
              <a:rPr lang="en-US" dirty="0" err="1">
                <a:cs typeface="Arial" charset="0"/>
              </a:rPr>
              <a:t>organisations</a:t>
            </a:r>
            <a:r>
              <a:rPr lang="en-US" dirty="0">
                <a:cs typeface="Arial" charset="0"/>
              </a:rPr>
              <a:t> make </a:t>
            </a:r>
            <a:r>
              <a:rPr lang="en-US" b="1" dirty="0">
                <a:cs typeface="Arial" charset="0"/>
              </a:rPr>
              <a:t>decisions</a:t>
            </a:r>
            <a:r>
              <a:rPr lang="en-US" dirty="0">
                <a:cs typeface="Arial" charset="0"/>
              </a:rPr>
              <a:t>,</a:t>
            </a:r>
          </a:p>
          <a:p>
            <a:pPr lvl="1"/>
            <a:r>
              <a:rPr lang="en-US" dirty="0">
                <a:cs typeface="Arial" charset="0"/>
              </a:rPr>
              <a:t>they make choices. </a:t>
            </a:r>
          </a:p>
          <a:p>
            <a:endParaRPr lang="en-US" dirty="0">
              <a:cs typeface="Arial" charset="0"/>
            </a:endParaRPr>
          </a:p>
          <a:p>
            <a:r>
              <a:rPr lang="en-US" dirty="0">
                <a:cs typeface="Arial" charset="0"/>
              </a:rPr>
              <a:t>Decision making is typically described as choosing among alternatives, but ….. this view is too simplistic! </a:t>
            </a:r>
          </a:p>
          <a:p>
            <a:endParaRPr lang="en-US" dirty="0">
              <a:cs typeface="Arial" charset="0"/>
            </a:endParaRPr>
          </a:p>
          <a:p>
            <a:r>
              <a:rPr lang="en-US" dirty="0">
                <a:cs typeface="Arial" charset="0"/>
              </a:rPr>
              <a:t>Why?</a:t>
            </a:r>
          </a:p>
          <a:p>
            <a:r>
              <a:rPr lang="en-US" dirty="0">
                <a:cs typeface="Arial" charset="0"/>
              </a:rPr>
              <a:t>Because decision making is (and should be) a process, </a:t>
            </a:r>
          </a:p>
          <a:p>
            <a:pPr lvl="1"/>
            <a:r>
              <a:rPr lang="en-US" dirty="0">
                <a:cs typeface="Arial" charset="0"/>
              </a:rPr>
              <a:t>not just a simple act of choosing among alternatives.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pic>
        <p:nvPicPr>
          <p:cNvPr id="8" name="Picture 2"/>
          <p:cNvPicPr>
            <a:picLocks noChangeAspect="1" noChangeArrowheads="1"/>
          </p:cNvPicPr>
          <p:nvPr/>
        </p:nvPicPr>
        <p:blipFill>
          <a:blip r:embed="rId2" cstate="print"/>
          <a:srcRect/>
          <a:stretch>
            <a:fillRect/>
          </a:stretch>
        </p:blipFill>
        <p:spPr bwMode="auto">
          <a:xfrm>
            <a:off x="6019800" y="1371600"/>
            <a:ext cx="3124200" cy="48768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a:p>
        </p:txBody>
      </p:sp>
      <p:sp>
        <p:nvSpPr>
          <p:cNvPr id="7" name="Content Placeholder 6"/>
          <p:cNvSpPr>
            <a:spLocks noGrp="1"/>
          </p:cNvSpPr>
          <p:nvPr>
            <p:ph idx="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pic>
        <p:nvPicPr>
          <p:cNvPr id="62466" name="Picture 2" descr="http://www.fairwindsstrategies.com/wp-content/uploads/2014/06/cartoon-no-time-to-think.jpg"/>
          <p:cNvPicPr>
            <a:picLocks noChangeAspect="1" noChangeArrowheads="1"/>
          </p:cNvPicPr>
          <p:nvPr/>
        </p:nvPicPr>
        <p:blipFill>
          <a:blip r:embed="rId2" cstate="print"/>
          <a:srcRect/>
          <a:stretch>
            <a:fillRect/>
          </a:stretch>
        </p:blipFill>
        <p:spPr bwMode="auto">
          <a:xfrm>
            <a:off x="838200" y="609600"/>
            <a:ext cx="7315200" cy="54864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lstStyle/>
          <a:p>
            <a:r>
              <a:rPr lang="en-GB" dirty="0"/>
              <a:t>Quotes on Decision Making</a:t>
            </a:r>
            <a:endParaRPr lang="en-US" dirty="0"/>
          </a:p>
        </p:txBody>
      </p:sp>
      <p:sp>
        <p:nvSpPr>
          <p:cNvPr id="3" name="Content Placeholder 2"/>
          <p:cNvSpPr>
            <a:spLocks noGrp="1"/>
          </p:cNvSpPr>
          <p:nvPr>
            <p:ph idx="1"/>
          </p:nvPr>
        </p:nvSpPr>
        <p:spPr>
          <a:xfrm>
            <a:off x="457200" y="1600200"/>
            <a:ext cx="8229600" cy="5105400"/>
          </a:xfrm>
        </p:spPr>
        <p:txBody>
          <a:bodyPr>
            <a:normAutofit/>
          </a:bodyPr>
          <a:lstStyle/>
          <a:p>
            <a:r>
              <a:rPr lang="en-GB" dirty="0"/>
              <a:t>“Good decisions come from experiences.  Experiences come from bad decisions.”</a:t>
            </a:r>
          </a:p>
          <a:p>
            <a:pPr lvl="1"/>
            <a:r>
              <a:rPr lang="en-GB" sz="2000" dirty="0"/>
              <a:t>(Mark Twain, American author, B. 1835 – D. 1910).</a:t>
            </a:r>
          </a:p>
          <a:p>
            <a:endParaRPr lang="en-GB" dirty="0"/>
          </a:p>
          <a:p>
            <a:r>
              <a:rPr lang="en-GB" dirty="0"/>
              <a:t>“Whenever you see a successful business, someone once made a courageous decision.” </a:t>
            </a:r>
          </a:p>
          <a:p>
            <a:pPr lvl="1"/>
            <a:r>
              <a:rPr lang="en-GB" sz="1900" dirty="0"/>
              <a:t>Peter </a:t>
            </a:r>
            <a:r>
              <a:rPr lang="en-GB" sz="1900" dirty="0" err="1"/>
              <a:t>Drucker</a:t>
            </a:r>
            <a:r>
              <a:rPr lang="en-GB" sz="1900" dirty="0"/>
              <a:t>, American author &amp; business consultant (B1909 – D. 2005)</a:t>
            </a:r>
          </a:p>
          <a:p>
            <a:endParaRPr lang="en-GB" dirty="0"/>
          </a:p>
          <a:p>
            <a:r>
              <a:rPr lang="en-GB" dirty="0"/>
              <a:t>“It does not take much strength to do things, but it requires a great deal of strength to decide what to do.” </a:t>
            </a:r>
          </a:p>
          <a:p>
            <a:pPr lvl="1"/>
            <a:r>
              <a:rPr lang="en-GB" sz="1900" dirty="0"/>
              <a:t>(Elbert Hubbard, American writer &amp; philosopher, B 1856 – D. 1915)</a:t>
            </a:r>
          </a:p>
          <a:p>
            <a:endParaRPr lang="en-GB"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pic>
        <p:nvPicPr>
          <p:cNvPr id="100354" name="Picture 2" descr="http://davidbork.com/wp-content/uploads/2012/11/decisions.gif"/>
          <p:cNvPicPr>
            <a:picLocks noChangeAspect="1" noChangeArrowheads="1"/>
          </p:cNvPicPr>
          <p:nvPr/>
        </p:nvPicPr>
        <p:blipFill>
          <a:blip r:embed="rId2" cstate="print"/>
          <a:srcRect/>
          <a:stretch>
            <a:fillRect/>
          </a:stretch>
        </p:blipFill>
        <p:spPr bwMode="auto">
          <a:xfrm>
            <a:off x="990600" y="914401"/>
            <a:ext cx="7209091" cy="5147382"/>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dirty="0"/>
              <a:t>The Decision Making Process</a:t>
            </a:r>
            <a:endParaRPr lang="en-US" dirty="0"/>
          </a:p>
        </p:txBody>
      </p:sp>
      <p:sp>
        <p:nvSpPr>
          <p:cNvPr id="7" name="Content Placeholder 6"/>
          <p:cNvSpPr>
            <a:spLocks noGrp="1"/>
          </p:cNvSpPr>
          <p:nvPr>
            <p:ph idx="1"/>
          </p:nvPr>
        </p:nvSpPr>
        <p:spPr>
          <a:xfrm>
            <a:off x="457200" y="1828800"/>
            <a:ext cx="8229600" cy="4297363"/>
          </a:xfrm>
        </p:spPr>
        <p:txBody>
          <a:bodyPr/>
          <a:lstStyle/>
          <a:p>
            <a:r>
              <a:rPr lang="en-US" sz="3200" dirty="0"/>
              <a:t>The </a:t>
            </a:r>
            <a:r>
              <a:rPr lang="en-US" sz="3200" b="1" dirty="0"/>
              <a:t>decision-making process</a:t>
            </a:r>
            <a:r>
              <a:rPr lang="en-US" sz="3200" dirty="0"/>
              <a:t> is a set of eight steps ….</a:t>
            </a:r>
          </a:p>
          <a:p>
            <a:endParaRPr lang="en-US" sz="3200" dirty="0"/>
          </a:p>
          <a:p>
            <a:pPr lvl="1"/>
            <a:r>
              <a:rPr lang="en-US" sz="3200" dirty="0"/>
              <a:t> …. that include identifying a problem, selecting an alternative, and evaluating the decision’s effectiveness. </a:t>
            </a:r>
          </a:p>
          <a:p>
            <a:pPr lvl="2"/>
            <a:r>
              <a:rPr lang="en-US" sz="2400" dirty="0"/>
              <a:t>(See next slide for an illustration of the decision-making process.)</a:t>
            </a:r>
          </a:p>
          <a:p>
            <a:endParaRPr lang="en-US" sz="36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762000"/>
            <a:ext cx="1676400" cy="2362200"/>
          </a:xfrm>
        </p:spPr>
        <p:txBody>
          <a:bodyPr>
            <a:noAutofit/>
          </a:bodyPr>
          <a:lstStyle/>
          <a:p>
            <a:pPr algn="l"/>
            <a:r>
              <a:rPr lang="en-GB" sz="3200" dirty="0"/>
              <a:t>Decision Making Process</a:t>
            </a:r>
            <a:br>
              <a:rPr lang="en-GB" sz="2400" dirty="0"/>
            </a:br>
            <a:r>
              <a:rPr lang="en-GB" sz="1200" dirty="0"/>
              <a:t>(Source: Robbins &amp; Coulter, 2014)</a:t>
            </a:r>
            <a:endParaRPr 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pic>
        <p:nvPicPr>
          <p:cNvPr id="6" name="Picture 3"/>
          <p:cNvPicPr>
            <a:picLocks noGrp="1" noChangeAspect="1" noChangeArrowheads="1"/>
          </p:cNvPicPr>
          <p:nvPr/>
        </p:nvPicPr>
        <p:blipFill>
          <a:blip r:embed="rId2" cstate="print"/>
          <a:srcRect/>
          <a:stretch>
            <a:fillRect/>
          </a:stretch>
        </p:blipFill>
        <p:spPr bwMode="auto">
          <a:xfrm>
            <a:off x="1905000" y="246626"/>
            <a:ext cx="7467600" cy="6474849"/>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11</a:t>
            </a:fld>
            <a:endParaRPr lang="en-US"/>
          </a:p>
        </p:txBody>
      </p:sp>
      <p:pic>
        <p:nvPicPr>
          <p:cNvPr id="1026" name="Picture 2" descr="https://covers.openlibrary.org/b/id/2573082-M.jpg"/>
          <p:cNvPicPr>
            <a:picLocks noChangeAspect="1" noChangeArrowheads="1"/>
          </p:cNvPicPr>
          <p:nvPr/>
        </p:nvPicPr>
        <p:blipFill>
          <a:blip r:embed="rId2" cstate="print"/>
          <a:srcRect/>
          <a:stretch>
            <a:fillRect/>
          </a:stretch>
        </p:blipFill>
        <p:spPr bwMode="auto">
          <a:xfrm>
            <a:off x="838200" y="685801"/>
            <a:ext cx="6934200" cy="5559424"/>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descr="http://www.jointessential.com/wp-content/uploads/2013/06/Identify-the-problem.jpg"/>
          <p:cNvPicPr>
            <a:picLocks noChangeAspect="1" noChangeArrowheads="1"/>
          </p:cNvPicPr>
          <p:nvPr/>
        </p:nvPicPr>
        <p:blipFill>
          <a:blip r:embed="rId2" cstate="print"/>
          <a:srcRect/>
          <a:stretch>
            <a:fillRect/>
          </a:stretch>
        </p:blipFill>
        <p:spPr bwMode="auto">
          <a:xfrm>
            <a:off x="6629400" y="0"/>
            <a:ext cx="2514600" cy="2209800"/>
          </a:xfrm>
          <a:prstGeom prst="rect">
            <a:avLst/>
          </a:prstGeom>
          <a:noFill/>
        </p:spPr>
      </p:pic>
      <p:sp>
        <p:nvSpPr>
          <p:cNvPr id="2" name="Title 1"/>
          <p:cNvSpPr>
            <a:spLocks noGrp="1"/>
          </p:cNvSpPr>
          <p:nvPr>
            <p:ph type="title"/>
          </p:nvPr>
        </p:nvSpPr>
        <p:spPr>
          <a:xfrm>
            <a:off x="228600" y="381000"/>
            <a:ext cx="6172200" cy="838200"/>
          </a:xfrm>
        </p:spPr>
        <p:txBody>
          <a:bodyPr>
            <a:noAutofit/>
          </a:bodyPr>
          <a:lstStyle/>
          <a:p>
            <a:r>
              <a:rPr lang="en-US" sz="3200" dirty="0"/>
              <a:t>The Decision-Making Process: Step 1</a:t>
            </a:r>
          </a:p>
        </p:txBody>
      </p:sp>
      <p:sp>
        <p:nvSpPr>
          <p:cNvPr id="3" name="Content Placeholder 2"/>
          <p:cNvSpPr>
            <a:spLocks noGrp="1"/>
          </p:cNvSpPr>
          <p:nvPr>
            <p:ph idx="1"/>
          </p:nvPr>
        </p:nvSpPr>
        <p:spPr>
          <a:xfrm>
            <a:off x="381000" y="1295400"/>
            <a:ext cx="8229600" cy="5562600"/>
          </a:xfrm>
        </p:spPr>
        <p:txBody>
          <a:bodyPr>
            <a:normAutofit fontScale="47500" lnSpcReduction="20000"/>
          </a:bodyPr>
          <a:lstStyle/>
          <a:p>
            <a:pPr marL="342900" indent="-342900" eaLnBrk="0" hangingPunct="0">
              <a:spcBef>
                <a:spcPct val="20000"/>
              </a:spcBef>
            </a:pPr>
            <a:r>
              <a:rPr lang="en-US" sz="5500" b="1" i="1" dirty="0"/>
              <a:t>Step 1: Identify a Problem</a:t>
            </a:r>
          </a:p>
          <a:p>
            <a:pPr marL="342900" indent="-342900" eaLnBrk="0" hangingPunct="0">
              <a:spcBef>
                <a:spcPct val="20000"/>
              </a:spcBef>
            </a:pPr>
            <a:endParaRPr lang="en-US" sz="800" b="1" i="1" dirty="0"/>
          </a:p>
          <a:p>
            <a:pPr marL="742950" lvl="1" indent="-285750" eaLnBrk="0" hangingPunct="0">
              <a:spcBef>
                <a:spcPct val="20000"/>
              </a:spcBef>
            </a:pPr>
            <a:r>
              <a:rPr lang="en-US" sz="5100" dirty="0"/>
              <a:t>Every decision starts with a </a:t>
            </a:r>
            <a:r>
              <a:rPr lang="en-US" sz="5100" b="1" dirty="0"/>
              <a:t>problem</a:t>
            </a:r>
            <a:r>
              <a:rPr lang="en-US" sz="5100" dirty="0"/>
              <a:t>,</a:t>
            </a:r>
          </a:p>
          <a:p>
            <a:pPr marL="998982" lvl="2" indent="-285750" eaLnBrk="0" hangingPunct="0">
              <a:spcBef>
                <a:spcPct val="20000"/>
              </a:spcBef>
            </a:pPr>
            <a:r>
              <a:rPr lang="en-US" sz="5100" dirty="0"/>
              <a:t>A Problem is an obstacle that makes it                     difficult to achieve a desired goal or purpose.</a:t>
            </a:r>
          </a:p>
          <a:p>
            <a:pPr hangingPunct="0"/>
            <a:endParaRPr lang="en-US" sz="4000" dirty="0"/>
          </a:p>
          <a:p>
            <a:pPr hangingPunct="0"/>
            <a:r>
              <a:rPr lang="en-US" sz="5100" dirty="0"/>
              <a:t>In order to identify a problem,  you (as a manager) should </a:t>
            </a:r>
            <a:r>
              <a:rPr lang="en-US" sz="5100" dirty="0" err="1"/>
              <a:t>recognise</a:t>
            </a:r>
            <a:r>
              <a:rPr lang="en-US" sz="5100" dirty="0"/>
              <a:t> and understand the three characteristics of problems:</a:t>
            </a:r>
          </a:p>
          <a:p>
            <a:pPr hangingPunct="0"/>
            <a:endParaRPr lang="en-US" sz="4000" dirty="0"/>
          </a:p>
          <a:p>
            <a:pPr hangingPunct="0"/>
            <a:r>
              <a:rPr lang="en-US" sz="4200" dirty="0"/>
              <a:t>1. You must be aware of the problem. </a:t>
            </a:r>
          </a:p>
          <a:p>
            <a:pPr lvl="1" hangingPunct="0"/>
            <a:r>
              <a:rPr lang="en-US" sz="3800" dirty="0"/>
              <a:t>Be sure to identify the actual problem, rather than a symptom of the problem.</a:t>
            </a:r>
          </a:p>
          <a:p>
            <a:pPr hangingPunct="0"/>
            <a:endParaRPr lang="en-US" sz="4200" dirty="0"/>
          </a:p>
          <a:p>
            <a:pPr hangingPunct="0"/>
            <a:r>
              <a:rPr lang="en-US" sz="4200" dirty="0"/>
              <a:t>2. You must be under pressure to act. </a:t>
            </a:r>
          </a:p>
          <a:p>
            <a:pPr lvl="1" hangingPunct="0"/>
            <a:r>
              <a:rPr lang="en-US" sz="3800" dirty="0"/>
              <a:t>A true problem puts pressure on the manager to take action; a problem without pressure to act is a problem that can be postponed.</a:t>
            </a:r>
          </a:p>
          <a:p>
            <a:pPr lvl="1" hangingPunct="0"/>
            <a:endParaRPr lang="en-US" sz="3800" dirty="0"/>
          </a:p>
          <a:p>
            <a:pPr hangingPunct="0"/>
            <a:r>
              <a:rPr lang="en-US" sz="4200" dirty="0"/>
              <a:t>3. You must have the authority or resources to act. </a:t>
            </a:r>
          </a:p>
          <a:p>
            <a:pPr lvl="1" hangingPunct="0"/>
            <a:r>
              <a:rPr lang="en-US" sz="3800" dirty="0"/>
              <a:t>When managers </a:t>
            </a:r>
            <a:r>
              <a:rPr lang="en-US" sz="3800" dirty="0" err="1"/>
              <a:t>recognise</a:t>
            </a:r>
            <a:r>
              <a:rPr lang="en-US" sz="3800" dirty="0"/>
              <a:t> a problem and are under pressure to take action but do not have necessary resources, they usually feel that unrealistic demands are being put upon them.</a:t>
            </a:r>
          </a:p>
          <a:p>
            <a:pPr marL="185166" indent="-285750" eaLnBrk="0" hangingPunct="0">
              <a:spcBef>
                <a:spcPct val="20000"/>
              </a:spcBef>
            </a:pPr>
            <a:endParaRPr lang="en-US" sz="4200" dirty="0"/>
          </a:p>
          <a:p>
            <a:pPr marL="998982" lvl="2" indent="-285750" eaLnBrk="0" hangingPunct="0">
              <a:spcBef>
                <a:spcPct val="20000"/>
              </a:spcBef>
            </a:pPr>
            <a:endParaRPr lang="en-US" sz="3100" dirty="0"/>
          </a:p>
          <a:p>
            <a:pPr marL="742950" lvl="1" indent="-285750" eaLnBrk="0" hangingPunct="0">
              <a:spcBef>
                <a:spcPct val="20000"/>
              </a:spcBef>
            </a:pPr>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dirty="0"/>
              <a:t>“I need you to identify the problem.  </a:t>
            </a:r>
            <a:br>
              <a:rPr lang="en-GB" sz="3200" dirty="0"/>
            </a:br>
            <a:r>
              <a:rPr lang="en-GB" sz="3200" dirty="0"/>
              <a:t>Here’s your mirror”</a:t>
            </a:r>
            <a:endParaRPr lang="en-US" sz="3200"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pic>
        <p:nvPicPr>
          <p:cNvPr id="97282" name="Picture 2" descr="http://www.cartoonstock.com/lowres/office-boss-supervisor-mirror-reflection-problem-rde1728l.jpg"/>
          <p:cNvPicPr>
            <a:picLocks noChangeAspect="1" noChangeArrowheads="1"/>
          </p:cNvPicPr>
          <p:nvPr/>
        </p:nvPicPr>
        <p:blipFill>
          <a:blip r:embed="rId2" cstate="print"/>
          <a:srcRect/>
          <a:stretch>
            <a:fillRect/>
          </a:stretch>
        </p:blipFill>
        <p:spPr bwMode="auto">
          <a:xfrm>
            <a:off x="533400" y="1447800"/>
            <a:ext cx="7696200" cy="5170221"/>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descr="C:\Users\User\AppData\Local\Microsoft\Windows\Temporary Internet Files\Content.IE5\76U2YI4Q\MC900363872[1].wmf"/>
          <p:cNvPicPr>
            <a:picLocks noChangeAspect="1" noChangeArrowheads="1"/>
          </p:cNvPicPr>
          <p:nvPr/>
        </p:nvPicPr>
        <p:blipFill>
          <a:blip r:embed="rId2" cstate="print"/>
          <a:srcRect/>
          <a:stretch>
            <a:fillRect/>
          </a:stretch>
        </p:blipFill>
        <p:spPr bwMode="auto">
          <a:xfrm>
            <a:off x="6977104" y="228600"/>
            <a:ext cx="2166896" cy="1600200"/>
          </a:xfrm>
          <a:prstGeom prst="rect">
            <a:avLst/>
          </a:prstGeom>
          <a:noFill/>
        </p:spPr>
      </p:pic>
      <p:pic>
        <p:nvPicPr>
          <p:cNvPr id="5" name="Picture 4" descr="C:\Users\User\AppData\Local\Microsoft\Windows\Temporary Internet Files\Content.IE5\WY2JCALL\MP900446464[1].jpg"/>
          <p:cNvPicPr>
            <a:picLocks noChangeAspect="1" noChangeArrowheads="1"/>
          </p:cNvPicPr>
          <p:nvPr/>
        </p:nvPicPr>
        <p:blipFill>
          <a:blip r:embed="rId3" cstate="print"/>
          <a:srcRect/>
          <a:stretch>
            <a:fillRect/>
          </a:stretch>
        </p:blipFill>
        <p:spPr bwMode="auto">
          <a:xfrm>
            <a:off x="6019800" y="5257800"/>
            <a:ext cx="3124200" cy="1600199"/>
          </a:xfrm>
          <a:prstGeom prst="rect">
            <a:avLst/>
          </a:prstGeom>
          <a:noFill/>
        </p:spPr>
      </p:pic>
      <p:sp>
        <p:nvSpPr>
          <p:cNvPr id="2" name="Title 1"/>
          <p:cNvSpPr>
            <a:spLocks noGrp="1"/>
          </p:cNvSpPr>
          <p:nvPr>
            <p:ph type="title"/>
          </p:nvPr>
        </p:nvSpPr>
        <p:spPr>
          <a:xfrm>
            <a:off x="457200" y="304800"/>
            <a:ext cx="6324600" cy="1295400"/>
          </a:xfrm>
        </p:spPr>
        <p:txBody>
          <a:bodyPr>
            <a:normAutofit fontScale="90000"/>
          </a:bodyPr>
          <a:lstStyle/>
          <a:p>
            <a:r>
              <a:rPr lang="en-US" sz="4000" dirty="0"/>
              <a:t>The Decision-Making Process: Step 1</a:t>
            </a:r>
          </a:p>
        </p:txBody>
      </p:sp>
      <p:sp>
        <p:nvSpPr>
          <p:cNvPr id="3" name="Content Placeholder 2"/>
          <p:cNvSpPr>
            <a:spLocks noGrp="1"/>
          </p:cNvSpPr>
          <p:nvPr>
            <p:ph idx="1"/>
          </p:nvPr>
        </p:nvSpPr>
        <p:spPr>
          <a:xfrm>
            <a:off x="381000" y="1905000"/>
            <a:ext cx="8229600" cy="4525963"/>
          </a:xfrm>
        </p:spPr>
        <p:txBody>
          <a:bodyPr>
            <a:normAutofit fontScale="70000" lnSpcReduction="20000"/>
          </a:bodyPr>
          <a:lstStyle/>
          <a:p>
            <a:pPr marL="185166" indent="-285750" eaLnBrk="0" hangingPunct="0">
              <a:spcBef>
                <a:spcPct val="20000"/>
              </a:spcBef>
            </a:pPr>
            <a:r>
              <a:rPr lang="en-US" sz="3400" dirty="0">
                <a:effectLst>
                  <a:outerShdw blurRad="38100" dist="38100" dir="2700000" algn="tl">
                    <a:srgbClr val="000000">
                      <a:alpha val="43137"/>
                    </a:srgbClr>
                  </a:outerShdw>
                </a:effectLst>
              </a:rPr>
              <a:t>Example</a:t>
            </a:r>
            <a:r>
              <a:rPr lang="en-US" sz="3400" dirty="0"/>
              <a:t>  - Amanda is a sales manager whose reps need new laptops </a:t>
            </a:r>
            <a:r>
              <a:rPr lang="en-US" sz="3400" dirty="0">
                <a:cs typeface="Arial" charset="0"/>
              </a:rPr>
              <a:t>because their old ones are outdated and inadequate for doing their job. </a:t>
            </a:r>
          </a:p>
          <a:p>
            <a:pPr marL="185166" indent="-285750" eaLnBrk="0" hangingPunct="0">
              <a:spcBef>
                <a:spcPct val="20000"/>
              </a:spcBef>
            </a:pPr>
            <a:endParaRPr lang="en-US" sz="3200" dirty="0">
              <a:cs typeface="Arial" charset="0"/>
            </a:endParaRPr>
          </a:p>
          <a:p>
            <a:pPr marL="185166" indent="-285750" eaLnBrk="0" hangingPunct="0">
              <a:spcBef>
                <a:spcPct val="20000"/>
              </a:spcBef>
            </a:pPr>
            <a:r>
              <a:rPr lang="en-US" sz="3200" dirty="0">
                <a:cs typeface="Arial" charset="0"/>
              </a:rPr>
              <a:t>To make it simple, assume it is not economical to add memory to the old computers and it is the company’s policy to purchase, not lease. </a:t>
            </a:r>
          </a:p>
          <a:p>
            <a:pPr marL="185166" indent="-285750" eaLnBrk="0" hangingPunct="0">
              <a:spcBef>
                <a:spcPct val="20000"/>
              </a:spcBef>
            </a:pPr>
            <a:endParaRPr lang="en-US" sz="3200" dirty="0">
              <a:cs typeface="Arial" charset="0"/>
            </a:endParaRPr>
          </a:p>
          <a:p>
            <a:pPr marL="185166" indent="-285750" eaLnBrk="0" hangingPunct="0">
              <a:spcBef>
                <a:spcPct val="20000"/>
              </a:spcBef>
            </a:pPr>
            <a:r>
              <a:rPr lang="en-US" sz="3200" dirty="0">
                <a:cs typeface="Arial" charset="0"/>
              </a:rPr>
              <a:t>Now we have a problem - a disparity between the sales reps current computers (existing condition) and their need to have more efficient ones (desired condition).  </a:t>
            </a:r>
          </a:p>
          <a:p>
            <a:pPr marL="185166" indent="-285750" eaLnBrk="0" hangingPunct="0">
              <a:spcBef>
                <a:spcPct val="20000"/>
              </a:spcBef>
            </a:pPr>
            <a:endParaRPr lang="en-US" sz="3200" dirty="0">
              <a:cs typeface="Arial" charset="0"/>
            </a:endParaRPr>
          </a:p>
          <a:p>
            <a:pPr marL="185166" indent="-285750" eaLnBrk="0" hangingPunct="0">
              <a:spcBef>
                <a:spcPct val="20000"/>
              </a:spcBef>
            </a:pPr>
            <a:r>
              <a:rPr lang="en-US" sz="3200" dirty="0">
                <a:cs typeface="Arial" charset="0"/>
              </a:rPr>
              <a:t>Amanda has a decision to make!</a:t>
            </a:r>
            <a:endParaRPr lang="en-US" sz="3200"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5181600" cy="1143000"/>
          </a:xfrm>
        </p:spPr>
        <p:txBody>
          <a:bodyPr>
            <a:noAutofit/>
          </a:bodyPr>
          <a:lstStyle/>
          <a:p>
            <a:r>
              <a:rPr lang="en-US" sz="4000" dirty="0"/>
              <a:t>The Decision-Making Process: Step 2</a:t>
            </a:r>
          </a:p>
        </p:txBody>
      </p:sp>
      <p:sp>
        <p:nvSpPr>
          <p:cNvPr id="3" name="Content Placeholder 2"/>
          <p:cNvSpPr>
            <a:spLocks noGrp="1"/>
          </p:cNvSpPr>
          <p:nvPr>
            <p:ph idx="1"/>
          </p:nvPr>
        </p:nvSpPr>
        <p:spPr>
          <a:xfrm>
            <a:off x="304800" y="2362200"/>
            <a:ext cx="8229600" cy="4267200"/>
          </a:xfrm>
        </p:spPr>
        <p:txBody>
          <a:bodyPr>
            <a:normAutofit fontScale="92500" lnSpcReduction="10000"/>
          </a:bodyPr>
          <a:lstStyle/>
          <a:p>
            <a:pPr marL="342900" indent="-342900" eaLnBrk="0" hangingPunct="0">
              <a:spcBef>
                <a:spcPct val="20000"/>
              </a:spcBef>
            </a:pPr>
            <a:r>
              <a:rPr lang="en-US" sz="3200" b="1" i="1" dirty="0"/>
              <a:t>Step 2: Identify Decision Criteria</a:t>
            </a:r>
          </a:p>
          <a:p>
            <a:pPr marL="742950" lvl="1" indent="-285750" eaLnBrk="0" hangingPunct="0">
              <a:spcBef>
                <a:spcPct val="30000"/>
              </a:spcBef>
            </a:pPr>
            <a:endParaRPr lang="en-US" sz="1200" dirty="0"/>
          </a:p>
          <a:p>
            <a:pPr marL="742950" lvl="1" indent="-285750" eaLnBrk="0" hangingPunct="0">
              <a:spcBef>
                <a:spcPct val="30000"/>
              </a:spcBef>
            </a:pPr>
            <a:r>
              <a:rPr lang="en-US" sz="2800" dirty="0"/>
              <a:t>Decision criteria are factors that are important (relevant) to a decision or to resolving the problem</a:t>
            </a:r>
          </a:p>
          <a:p>
            <a:pPr marL="742950" lvl="1" indent="-285750" eaLnBrk="0" hangingPunct="0">
              <a:spcBef>
                <a:spcPct val="20000"/>
              </a:spcBef>
            </a:pPr>
            <a:endParaRPr lang="en-US" sz="1900" dirty="0">
              <a:cs typeface="Arial" charset="0"/>
            </a:endParaRPr>
          </a:p>
          <a:p>
            <a:pPr marL="742950" lvl="1" indent="-285750" eaLnBrk="0" hangingPunct="0">
              <a:spcBef>
                <a:spcPct val="20000"/>
              </a:spcBef>
            </a:pPr>
            <a:r>
              <a:rPr lang="en-US" sz="2800" dirty="0">
                <a:cs typeface="Arial" charset="0"/>
              </a:rPr>
              <a:t>Every decision maker has criteria guiding his or her decisions even if they are not explicitly stated</a:t>
            </a:r>
          </a:p>
          <a:p>
            <a:pPr marL="742950" lvl="1" indent="-285750" eaLnBrk="0" hangingPunct="0">
              <a:spcBef>
                <a:spcPct val="20000"/>
              </a:spcBef>
            </a:pPr>
            <a:endParaRPr lang="en-US" sz="2800" dirty="0">
              <a:cs typeface="Arial" charset="0"/>
            </a:endParaRPr>
          </a:p>
          <a:p>
            <a:pPr marL="742950" lvl="1" indent="-285750" eaLnBrk="0" hangingPunct="0">
              <a:spcBef>
                <a:spcPct val="20000"/>
              </a:spcBef>
            </a:pPr>
            <a:r>
              <a:rPr lang="en-US" sz="2600" dirty="0"/>
              <a:t>Example - Amanda decides that memory and storage capabilities, display quality, battery life, warranty, and carrying weight are the relevant criteria in her decision.</a:t>
            </a:r>
          </a:p>
          <a:p>
            <a:endParaRPr lang="en-US" sz="3200" dirty="0">
              <a:cs typeface="Arial"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pic>
        <p:nvPicPr>
          <p:cNvPr id="75778" name="Picture 2" descr="http://www.referenceforbusiness.com/photos/multiple-criteria-decision-making-388.jpg"/>
          <p:cNvPicPr>
            <a:picLocks noChangeAspect="1" noChangeArrowheads="1"/>
          </p:cNvPicPr>
          <p:nvPr/>
        </p:nvPicPr>
        <p:blipFill>
          <a:blip r:embed="rId2" cstate="print"/>
          <a:srcRect/>
          <a:stretch>
            <a:fillRect/>
          </a:stretch>
        </p:blipFill>
        <p:spPr bwMode="auto">
          <a:xfrm>
            <a:off x="6172200" y="0"/>
            <a:ext cx="2971800" cy="25146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descr="http://us.cdn4.123rf.com/168nwm/timbrk/timbrk1105/timbrk110500070/9517774-red-words-yes-and-no-on-the-scales.jpg"/>
          <p:cNvPicPr>
            <a:picLocks noChangeAspect="1" noChangeArrowheads="1"/>
          </p:cNvPicPr>
          <p:nvPr/>
        </p:nvPicPr>
        <p:blipFill>
          <a:blip r:embed="rId2" cstate="print"/>
          <a:srcRect/>
          <a:stretch>
            <a:fillRect/>
          </a:stretch>
        </p:blipFill>
        <p:spPr bwMode="auto">
          <a:xfrm>
            <a:off x="6858000" y="5334000"/>
            <a:ext cx="2286000" cy="1524000"/>
          </a:xfrm>
          <a:prstGeom prst="rect">
            <a:avLst/>
          </a:prstGeom>
          <a:noFill/>
        </p:spPr>
      </p:pic>
      <p:sp>
        <p:nvSpPr>
          <p:cNvPr id="2" name="Title 1"/>
          <p:cNvSpPr>
            <a:spLocks noGrp="1"/>
          </p:cNvSpPr>
          <p:nvPr>
            <p:ph type="title"/>
          </p:nvPr>
        </p:nvSpPr>
        <p:spPr>
          <a:xfrm>
            <a:off x="457200" y="304800"/>
            <a:ext cx="6324600" cy="1066800"/>
          </a:xfrm>
        </p:spPr>
        <p:txBody>
          <a:bodyPr>
            <a:normAutofit fontScale="90000"/>
          </a:bodyPr>
          <a:lstStyle/>
          <a:p>
            <a:r>
              <a:rPr lang="en-US" sz="4000" dirty="0"/>
              <a:t>The Decision-Making Process: Step 3</a:t>
            </a:r>
          </a:p>
        </p:txBody>
      </p:sp>
      <p:sp>
        <p:nvSpPr>
          <p:cNvPr id="3" name="Content Placeholder 2"/>
          <p:cNvSpPr>
            <a:spLocks noGrp="1"/>
          </p:cNvSpPr>
          <p:nvPr>
            <p:ph idx="1"/>
          </p:nvPr>
        </p:nvSpPr>
        <p:spPr>
          <a:xfrm>
            <a:off x="457200" y="1752600"/>
            <a:ext cx="8229600" cy="4724400"/>
          </a:xfrm>
        </p:spPr>
        <p:txBody>
          <a:bodyPr>
            <a:normAutofit fontScale="70000" lnSpcReduction="20000"/>
          </a:bodyPr>
          <a:lstStyle/>
          <a:p>
            <a:pPr marL="342900" indent="-342900" eaLnBrk="0" hangingPunct="0">
              <a:spcBef>
                <a:spcPct val="20000"/>
              </a:spcBef>
            </a:pPr>
            <a:r>
              <a:rPr lang="en-US" sz="4000" b="1" i="1" dirty="0"/>
              <a:t>Step 3: Allocate Weights to the Criteria</a:t>
            </a:r>
          </a:p>
          <a:p>
            <a:pPr marL="742950" lvl="1" indent="-285750" eaLnBrk="0" hangingPunct="0">
              <a:spcBef>
                <a:spcPct val="20000"/>
              </a:spcBef>
            </a:pPr>
            <a:endParaRPr lang="en-US" sz="3200" dirty="0"/>
          </a:p>
          <a:p>
            <a:pPr marL="185166" indent="-285750" eaLnBrk="0" hangingPunct="0">
              <a:spcBef>
                <a:spcPct val="20000"/>
              </a:spcBef>
            </a:pPr>
            <a:r>
              <a:rPr lang="en-US" sz="3700" dirty="0"/>
              <a:t>If the relevant criteria are not equally important, the decision maker must assign a ‘weight’ to the items,</a:t>
            </a:r>
          </a:p>
          <a:p>
            <a:pPr marL="742950" lvl="1" indent="-285750" eaLnBrk="0" hangingPunct="0">
              <a:spcBef>
                <a:spcPct val="20000"/>
              </a:spcBef>
            </a:pPr>
            <a:r>
              <a:rPr lang="en-US" sz="3300" dirty="0"/>
              <a:t> in order to give them the correct priority in the decision.</a:t>
            </a:r>
          </a:p>
          <a:p>
            <a:pPr marL="742950" lvl="1" indent="-285750" eaLnBrk="0" hangingPunct="0">
              <a:spcBef>
                <a:spcPct val="20000"/>
              </a:spcBef>
            </a:pPr>
            <a:endParaRPr lang="en-US" sz="3100" dirty="0">
              <a:cs typeface="Arial" charset="0"/>
            </a:endParaRPr>
          </a:p>
          <a:p>
            <a:pPr marL="185166" indent="-285750" eaLnBrk="0" hangingPunct="0">
              <a:spcBef>
                <a:spcPct val="20000"/>
              </a:spcBef>
            </a:pPr>
            <a:r>
              <a:rPr lang="en-US" sz="3700" dirty="0">
                <a:cs typeface="Arial" charset="0"/>
              </a:rPr>
              <a:t>How?</a:t>
            </a:r>
          </a:p>
          <a:p>
            <a:pPr marL="185166" indent="-285750" eaLnBrk="0" hangingPunct="0">
              <a:spcBef>
                <a:spcPct val="20000"/>
              </a:spcBef>
            </a:pPr>
            <a:r>
              <a:rPr lang="en-US" sz="3600" dirty="0">
                <a:cs typeface="Arial" charset="0"/>
              </a:rPr>
              <a:t>A simple way is to give the most important criterion a weight of 10 and then assign weights to the rest using that standard. </a:t>
            </a:r>
          </a:p>
          <a:p>
            <a:pPr marL="742950" lvl="1" indent="-285750" eaLnBrk="0" hangingPunct="0">
              <a:spcBef>
                <a:spcPct val="20000"/>
              </a:spcBef>
            </a:pPr>
            <a:r>
              <a:rPr lang="en-US" sz="3300" dirty="0">
                <a:cs typeface="Arial" charset="0"/>
              </a:rPr>
              <a:t>Can use any number as the highest weight. </a:t>
            </a:r>
          </a:p>
          <a:p>
            <a:pPr marL="742950" lvl="1" indent="-285750" eaLnBrk="0" hangingPunct="0">
              <a:spcBef>
                <a:spcPct val="20000"/>
              </a:spcBef>
            </a:pPr>
            <a:r>
              <a:rPr lang="en-US" sz="2900" dirty="0"/>
              <a:t>Next slide lists the criteria and weights for                                      Amanda’s purchase decision for new computers.</a:t>
            </a:r>
          </a:p>
          <a:p>
            <a:endParaRPr lang="en-US" dirty="0">
              <a:cs typeface="Arial" charset="0"/>
            </a:endParaRP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pic>
        <p:nvPicPr>
          <p:cNvPr id="3074" name="Picture 2" descr="C:\Users\User\AppData\Local\Microsoft\Windows\Temporary Internet Files\Content.IE5\0YMQEEVY\MC900389762[1].wmf"/>
          <p:cNvPicPr>
            <a:picLocks noChangeAspect="1" noChangeArrowheads="1"/>
          </p:cNvPicPr>
          <p:nvPr/>
        </p:nvPicPr>
        <p:blipFill>
          <a:blip r:embed="rId3" cstate="print"/>
          <a:srcRect/>
          <a:stretch>
            <a:fillRect/>
          </a:stretch>
        </p:blipFill>
        <p:spPr bwMode="auto">
          <a:xfrm>
            <a:off x="6858000" y="228600"/>
            <a:ext cx="2057400" cy="1941881"/>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943600" cy="1981200"/>
          </a:xfrm>
        </p:spPr>
        <p:txBody>
          <a:bodyPr>
            <a:noAutofit/>
          </a:bodyPr>
          <a:lstStyle/>
          <a:p>
            <a:r>
              <a:rPr lang="en-US" sz="4000" dirty="0"/>
              <a:t>Important Decision Criteria </a:t>
            </a:r>
            <a:br>
              <a:rPr lang="en-US" sz="4000" dirty="0"/>
            </a:br>
            <a:r>
              <a:rPr lang="en-US" sz="3600" dirty="0"/>
              <a:t>(for Amanda’s decision)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pic>
        <p:nvPicPr>
          <p:cNvPr id="5" name="Picture 2"/>
          <p:cNvPicPr>
            <a:picLocks noGrp="1" noChangeAspect="1" noChangeArrowheads="1"/>
          </p:cNvPicPr>
          <p:nvPr>
            <p:ph idx="1"/>
          </p:nvPr>
        </p:nvPicPr>
        <p:blipFill>
          <a:blip r:embed="rId2" cstate="print"/>
          <a:srcRect/>
          <a:stretch>
            <a:fillRect/>
          </a:stretch>
        </p:blipFill>
        <p:spPr bwMode="auto">
          <a:xfrm>
            <a:off x="990600" y="2971800"/>
            <a:ext cx="6324600" cy="3276600"/>
          </a:xfrm>
          <a:prstGeom prst="rect">
            <a:avLst/>
          </a:prstGeom>
          <a:noFill/>
          <a:ln w="9525">
            <a:noFill/>
            <a:miter lim="800000"/>
            <a:headEnd/>
            <a:tailEnd/>
          </a:ln>
        </p:spPr>
      </p:pic>
      <p:pic>
        <p:nvPicPr>
          <p:cNvPr id="73732" name="Picture 4" descr="http://www.ryanjwlynch.com/wp-content/uploads/2012/02/1.png"/>
          <p:cNvPicPr>
            <a:picLocks noChangeAspect="1" noChangeArrowheads="1"/>
          </p:cNvPicPr>
          <p:nvPr/>
        </p:nvPicPr>
        <p:blipFill>
          <a:blip r:embed="rId3" cstate="print"/>
          <a:srcRect/>
          <a:stretch>
            <a:fillRect/>
          </a:stretch>
        </p:blipFill>
        <p:spPr bwMode="auto">
          <a:xfrm>
            <a:off x="6324600" y="0"/>
            <a:ext cx="2819400" cy="2416629"/>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6934200" cy="1295400"/>
          </a:xfrm>
        </p:spPr>
        <p:txBody>
          <a:bodyPr>
            <a:noAutofit/>
          </a:bodyPr>
          <a:lstStyle/>
          <a:p>
            <a:r>
              <a:rPr lang="en-US" sz="4000" dirty="0"/>
              <a:t>The Decision-Making Process: Step 4</a:t>
            </a:r>
          </a:p>
        </p:txBody>
      </p:sp>
      <p:sp>
        <p:nvSpPr>
          <p:cNvPr id="3" name="Content Placeholder 2"/>
          <p:cNvSpPr>
            <a:spLocks noGrp="1"/>
          </p:cNvSpPr>
          <p:nvPr>
            <p:ph idx="1"/>
          </p:nvPr>
        </p:nvSpPr>
        <p:spPr>
          <a:xfrm>
            <a:off x="457200" y="1752600"/>
            <a:ext cx="8305800" cy="4724400"/>
          </a:xfrm>
        </p:spPr>
        <p:txBody>
          <a:bodyPr>
            <a:normAutofit fontScale="77500" lnSpcReduction="20000"/>
          </a:bodyPr>
          <a:lstStyle/>
          <a:p>
            <a:pPr marL="342900" indent="-342900" eaLnBrk="0" hangingPunct="0">
              <a:spcBef>
                <a:spcPct val="20000"/>
              </a:spcBef>
            </a:pPr>
            <a:r>
              <a:rPr lang="en-US" sz="4200" b="1" i="1" dirty="0"/>
              <a:t>Step 4</a:t>
            </a:r>
            <a:r>
              <a:rPr lang="en-US" sz="3300" b="1" i="1" dirty="0"/>
              <a:t>: </a:t>
            </a:r>
            <a:r>
              <a:rPr lang="en-US" sz="4200" b="1" i="1" dirty="0"/>
              <a:t>Develop Alternatives</a:t>
            </a:r>
            <a:endParaRPr lang="en-US" sz="2400" b="1" i="1" dirty="0"/>
          </a:p>
          <a:p>
            <a:pPr marL="742950" lvl="1" indent="-285750" eaLnBrk="0" hangingPunct="0">
              <a:spcBef>
                <a:spcPct val="20000"/>
              </a:spcBef>
            </a:pPr>
            <a:endParaRPr lang="en-US" sz="3200" dirty="0"/>
          </a:p>
          <a:p>
            <a:pPr marL="185166" indent="-285750" eaLnBrk="0" hangingPunct="0">
              <a:spcBef>
                <a:spcPct val="20000"/>
              </a:spcBef>
            </a:pPr>
            <a:r>
              <a:rPr lang="en-US" sz="3900" dirty="0"/>
              <a:t>List viable alternatives that could resolve the problem.</a:t>
            </a:r>
            <a:r>
              <a:rPr lang="en-US" sz="3900" dirty="0">
                <a:cs typeface="Arial" charset="0"/>
              </a:rPr>
              <a:t> </a:t>
            </a:r>
          </a:p>
          <a:p>
            <a:pPr marL="185166" indent="-285750" eaLnBrk="0" hangingPunct="0">
              <a:spcBef>
                <a:spcPct val="20000"/>
              </a:spcBef>
            </a:pPr>
            <a:endParaRPr lang="en-US" sz="2100" dirty="0">
              <a:cs typeface="Arial" charset="0"/>
            </a:endParaRPr>
          </a:p>
          <a:p>
            <a:pPr marL="742950" lvl="1" indent="-285750" eaLnBrk="0" hangingPunct="0">
              <a:spcBef>
                <a:spcPct val="20000"/>
              </a:spcBef>
            </a:pPr>
            <a:r>
              <a:rPr lang="en-US" sz="3300" dirty="0">
                <a:cs typeface="Arial" charset="0"/>
              </a:rPr>
              <a:t>In this step, a decision maker needs to be creative, and the alternatives are only listed - not evaluated - just yet. </a:t>
            </a:r>
          </a:p>
          <a:p>
            <a:pPr marL="185166" indent="-285750" eaLnBrk="0" hangingPunct="0">
              <a:spcBef>
                <a:spcPct val="20000"/>
              </a:spcBef>
            </a:pPr>
            <a:endParaRPr lang="en-US" sz="3900" dirty="0"/>
          </a:p>
          <a:p>
            <a:pPr marL="185166" indent="-285750" eaLnBrk="0" hangingPunct="0">
              <a:spcBef>
                <a:spcPct val="20000"/>
              </a:spcBef>
            </a:pPr>
            <a:r>
              <a:rPr lang="en-US" sz="3600" dirty="0"/>
              <a:t>Example  - Amanda, identifies eight laptops as possible choices.</a:t>
            </a:r>
          </a:p>
          <a:p>
            <a:pPr marL="742950" lvl="1" indent="-285750" eaLnBrk="0" hangingPunct="0">
              <a:spcBef>
                <a:spcPct val="20000"/>
              </a:spcBef>
            </a:pPr>
            <a:r>
              <a:rPr lang="en-US" sz="3300" dirty="0"/>
              <a:t> (See  next slide)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pic>
        <p:nvPicPr>
          <p:cNvPr id="5" name="Picture 2" descr="C:\Users\User\AppData\Local\Microsoft\Windows\Temporary Internet Files\Content.IE5\E8CBVECU\MC900434411[1].wmf"/>
          <p:cNvPicPr>
            <a:picLocks noChangeAspect="1" noChangeArrowheads="1"/>
          </p:cNvPicPr>
          <p:nvPr/>
        </p:nvPicPr>
        <p:blipFill>
          <a:blip r:embed="rId2" cstate="print"/>
          <a:srcRect/>
          <a:stretch>
            <a:fillRect/>
          </a:stretch>
        </p:blipFill>
        <p:spPr bwMode="auto">
          <a:xfrm>
            <a:off x="7467600" y="228600"/>
            <a:ext cx="1466850" cy="16002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95400"/>
          </a:xfrm>
        </p:spPr>
        <p:txBody>
          <a:bodyPr>
            <a:normAutofit fontScale="90000"/>
          </a:bodyPr>
          <a:lstStyle/>
          <a:p>
            <a:r>
              <a:rPr lang="en-US" dirty="0"/>
              <a:t>Possible Alternatives </a:t>
            </a:r>
            <a:br>
              <a:rPr lang="en-US" dirty="0"/>
            </a:br>
            <a:r>
              <a:rPr lang="en-US" dirty="0"/>
              <a:t>(for Amanda’s decision)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pic>
        <p:nvPicPr>
          <p:cNvPr id="5" name="Picture 2"/>
          <p:cNvPicPr>
            <a:picLocks noGrp="1" noChangeAspect="1" noChangeArrowheads="1"/>
          </p:cNvPicPr>
          <p:nvPr>
            <p:ph idx="1"/>
          </p:nvPr>
        </p:nvPicPr>
        <p:blipFill>
          <a:blip r:embed="rId2" cstate="print"/>
          <a:srcRect/>
          <a:stretch>
            <a:fillRect/>
          </a:stretch>
        </p:blipFill>
        <p:spPr bwMode="auto">
          <a:xfrm>
            <a:off x="457200" y="1905000"/>
            <a:ext cx="8229600" cy="43434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descr="http://1.bp.blogspot.com/-P6rImIHR_a4/TzOFhpslDMI/AAAAAAAAAC0/hgXJYQTkUbE/s1600/Quickbooks+Choose+Direction.jpg"/>
          <p:cNvPicPr>
            <a:picLocks noChangeAspect="1" noChangeArrowheads="1"/>
          </p:cNvPicPr>
          <p:nvPr/>
        </p:nvPicPr>
        <p:blipFill>
          <a:blip r:embed="rId2" cstate="print"/>
          <a:srcRect/>
          <a:stretch>
            <a:fillRect/>
          </a:stretch>
        </p:blipFill>
        <p:spPr bwMode="auto">
          <a:xfrm>
            <a:off x="6019800" y="0"/>
            <a:ext cx="3124200" cy="2362200"/>
          </a:xfrm>
          <a:prstGeom prst="rect">
            <a:avLst/>
          </a:prstGeom>
          <a:noFill/>
        </p:spPr>
      </p:pic>
      <p:sp>
        <p:nvSpPr>
          <p:cNvPr id="2" name="Title 1"/>
          <p:cNvSpPr>
            <a:spLocks noGrp="1"/>
          </p:cNvSpPr>
          <p:nvPr>
            <p:ph type="title"/>
          </p:nvPr>
        </p:nvSpPr>
        <p:spPr>
          <a:xfrm>
            <a:off x="457200" y="304800"/>
            <a:ext cx="5410200" cy="1447800"/>
          </a:xfrm>
        </p:spPr>
        <p:txBody>
          <a:bodyPr>
            <a:normAutofit/>
          </a:bodyPr>
          <a:lstStyle/>
          <a:p>
            <a:r>
              <a:rPr lang="en-US" sz="4000" dirty="0"/>
              <a:t>The Decision-Making Process: Step 5</a:t>
            </a:r>
          </a:p>
        </p:txBody>
      </p:sp>
      <p:sp>
        <p:nvSpPr>
          <p:cNvPr id="3" name="Content Placeholder 2"/>
          <p:cNvSpPr>
            <a:spLocks noGrp="1"/>
          </p:cNvSpPr>
          <p:nvPr>
            <p:ph idx="1"/>
          </p:nvPr>
        </p:nvSpPr>
        <p:spPr>
          <a:xfrm>
            <a:off x="381000" y="2133600"/>
            <a:ext cx="8229600" cy="4724400"/>
          </a:xfrm>
        </p:spPr>
        <p:txBody>
          <a:bodyPr>
            <a:normAutofit fontScale="85000" lnSpcReduction="10000"/>
          </a:bodyPr>
          <a:lstStyle/>
          <a:p>
            <a:pPr marL="342900" indent="-342900" eaLnBrk="0" hangingPunct="0">
              <a:spcBef>
                <a:spcPct val="20000"/>
              </a:spcBef>
            </a:pPr>
            <a:r>
              <a:rPr lang="en-US" sz="3200" b="1" i="1" dirty="0"/>
              <a:t>Step 5: </a:t>
            </a:r>
            <a:r>
              <a:rPr lang="en-US" sz="3200" b="1" i="1" dirty="0" err="1"/>
              <a:t>Analyse</a:t>
            </a:r>
            <a:r>
              <a:rPr lang="en-US" sz="3200" b="1" i="1" dirty="0"/>
              <a:t> Alternatives</a:t>
            </a:r>
          </a:p>
          <a:p>
            <a:pPr marL="342900" indent="-342900" eaLnBrk="0" hangingPunct="0">
              <a:spcBef>
                <a:spcPct val="20000"/>
              </a:spcBef>
            </a:pPr>
            <a:endParaRPr lang="en-US" sz="1600" b="1" i="1" dirty="0"/>
          </a:p>
          <a:p>
            <a:pPr marL="342900" indent="-342900" eaLnBrk="0" hangingPunct="0">
              <a:spcBef>
                <a:spcPct val="20000"/>
              </a:spcBef>
            </a:pPr>
            <a:r>
              <a:rPr lang="en-US" dirty="0"/>
              <a:t>Each of the alternatives must now be critically </a:t>
            </a:r>
            <a:r>
              <a:rPr lang="en-US" dirty="0" err="1"/>
              <a:t>analysed</a:t>
            </a:r>
            <a:r>
              <a:rPr lang="en-US" dirty="0"/>
              <a:t> by evaluating it against the criteria established in steps 2 and 3</a:t>
            </a:r>
          </a:p>
          <a:p>
            <a:pPr marL="900684" lvl="1" indent="-342900" eaLnBrk="0" hangingPunct="0">
              <a:spcBef>
                <a:spcPct val="20000"/>
              </a:spcBef>
            </a:pPr>
            <a:r>
              <a:rPr lang="en-US" sz="2600" dirty="0"/>
              <a:t>Appraising each alternative’s strengths and weaknesses,</a:t>
            </a:r>
          </a:p>
          <a:p>
            <a:pPr marL="342900" indent="-342900" eaLnBrk="0" hangingPunct="0">
              <a:spcBef>
                <a:spcPct val="20000"/>
              </a:spcBef>
            </a:pPr>
            <a:endParaRPr lang="en-US" sz="2400" dirty="0"/>
          </a:p>
          <a:p>
            <a:pPr marL="342900" indent="-342900" eaLnBrk="0" hangingPunct="0">
              <a:spcBef>
                <a:spcPct val="20000"/>
              </a:spcBef>
            </a:pPr>
            <a:r>
              <a:rPr lang="en-US" dirty="0"/>
              <a:t>An alternative’s appraisal is based on its ability to resolve the issues related to the criteria and criteria weight.</a:t>
            </a:r>
          </a:p>
          <a:p>
            <a:endParaRPr lang="en-US" dirty="0"/>
          </a:p>
          <a:p>
            <a:r>
              <a:rPr lang="en-US" dirty="0"/>
              <a:t>For Amanda; </a:t>
            </a:r>
          </a:p>
          <a:p>
            <a:pPr lvl="1"/>
            <a:r>
              <a:rPr lang="en-US" dirty="0"/>
              <a:t>Previous slide shows the values that Amanda assigned to each of her alternatives for a new computer.</a:t>
            </a:r>
          </a:p>
          <a:p>
            <a:pPr lvl="1"/>
            <a:r>
              <a:rPr lang="en-US" dirty="0"/>
              <a:t>Slide ‘Evaluation of Alternatives’ (2 further slides on!) reflects the weighting for each alternative.</a:t>
            </a:r>
            <a:endParaRPr lang="en-US" dirty="0">
              <a:cs typeface="Arial"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6705600" cy="685800"/>
          </a:xfrm>
        </p:spPr>
        <p:txBody>
          <a:bodyPr>
            <a:noAutofit/>
          </a:bodyPr>
          <a:lstStyle/>
          <a:p>
            <a:r>
              <a:rPr lang="en-US" sz="3200" dirty="0"/>
              <a:t>The Decision-Making Process: Step 5</a:t>
            </a:r>
            <a:endParaRPr lang="en-IE" sz="3200" dirty="0"/>
          </a:p>
        </p:txBody>
      </p:sp>
      <p:sp>
        <p:nvSpPr>
          <p:cNvPr id="3" name="Content Placeholder 2"/>
          <p:cNvSpPr>
            <a:spLocks noGrp="1"/>
          </p:cNvSpPr>
          <p:nvPr>
            <p:ph idx="1"/>
          </p:nvPr>
        </p:nvSpPr>
        <p:spPr>
          <a:xfrm>
            <a:off x="457200" y="1143000"/>
            <a:ext cx="8229600" cy="5715000"/>
          </a:xfrm>
        </p:spPr>
        <p:txBody>
          <a:bodyPr>
            <a:normAutofit fontScale="85000" lnSpcReduction="20000"/>
          </a:bodyPr>
          <a:lstStyle/>
          <a:p>
            <a:r>
              <a:rPr lang="en-US" b="1" i="1" dirty="0"/>
              <a:t>Step 5: </a:t>
            </a:r>
            <a:r>
              <a:rPr lang="en-US" b="1" i="1" dirty="0" err="1"/>
              <a:t>Analyse</a:t>
            </a:r>
            <a:r>
              <a:rPr lang="en-US" b="1" i="1" dirty="0"/>
              <a:t> Alternatives (cont)</a:t>
            </a:r>
          </a:p>
          <a:p>
            <a:endParaRPr lang="en-US" dirty="0">
              <a:cs typeface="Arial" charset="0"/>
            </a:endParaRPr>
          </a:p>
          <a:p>
            <a:r>
              <a:rPr lang="en-US" dirty="0">
                <a:cs typeface="Arial" charset="0"/>
              </a:rPr>
              <a:t>Previous slide (‘Possible Alternatives’) shows the assessed values that Amanda gave each alternative after doing some research on them.</a:t>
            </a:r>
          </a:p>
          <a:p>
            <a:pPr lvl="1"/>
            <a:r>
              <a:rPr lang="en-US" dirty="0">
                <a:cs typeface="Arial" charset="0"/>
              </a:rPr>
              <a:t>Note – this data represent an assessment of the eight alternatives using the decision criteria, but </a:t>
            </a:r>
            <a:r>
              <a:rPr lang="en-US" i="1" dirty="0">
                <a:cs typeface="Arial" charset="0"/>
              </a:rPr>
              <a:t>not </a:t>
            </a:r>
            <a:r>
              <a:rPr lang="en-US" dirty="0">
                <a:cs typeface="Arial" charset="0"/>
              </a:rPr>
              <a:t>the weighting. </a:t>
            </a:r>
          </a:p>
          <a:p>
            <a:endParaRPr lang="en-US" dirty="0">
              <a:cs typeface="Arial" charset="0"/>
            </a:endParaRPr>
          </a:p>
          <a:p>
            <a:r>
              <a:rPr lang="en-US" dirty="0">
                <a:cs typeface="Arial" charset="0"/>
              </a:rPr>
              <a:t>When you multiply each alternative by the assigned weight, you get the weighted alternatives as shown in next slide.</a:t>
            </a:r>
          </a:p>
          <a:p>
            <a:pPr lvl="1"/>
            <a:r>
              <a:rPr lang="en-US" dirty="0">
                <a:cs typeface="Arial" charset="0"/>
              </a:rPr>
              <a:t>The total score for each alternative, then, is the sum of its weighted criteria. </a:t>
            </a:r>
          </a:p>
          <a:p>
            <a:endParaRPr lang="en-US" dirty="0">
              <a:cs typeface="Arial" charset="0"/>
            </a:endParaRPr>
          </a:p>
          <a:p>
            <a:r>
              <a:rPr lang="en-US" dirty="0">
                <a:cs typeface="Arial" charset="0"/>
              </a:rPr>
              <a:t>Sometimes a decision maker might be able to skip this step. </a:t>
            </a:r>
          </a:p>
          <a:p>
            <a:pPr lvl="1"/>
            <a:r>
              <a:rPr lang="en-US" dirty="0">
                <a:cs typeface="Arial" charset="0"/>
              </a:rPr>
              <a:t>If one alternative scores highest on every criterion, you wouldn’t need to consider the weights because that alternative would already be the top choice. </a:t>
            </a:r>
          </a:p>
          <a:p>
            <a:pPr lvl="1"/>
            <a:r>
              <a:rPr lang="en-US" dirty="0">
                <a:cs typeface="Arial" charset="0"/>
              </a:rPr>
              <a:t>Or if the weights were all equal, you could evaluate an alternative merely by summing up the assessed values for each one. (See slide 19,  the score for the HP </a:t>
            </a:r>
            <a:r>
              <a:rPr lang="en-US" dirty="0" err="1">
                <a:cs typeface="Arial" charset="0"/>
              </a:rPr>
              <a:t>ProBook</a:t>
            </a:r>
            <a:r>
              <a:rPr lang="en-US" dirty="0">
                <a:cs typeface="Arial" charset="0"/>
              </a:rPr>
              <a:t> would be 38, and the score for the Sony NW would be 35.)</a:t>
            </a:r>
          </a:p>
          <a:p>
            <a:endParaRPr lang="en-US" dirty="0"/>
          </a:p>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pic>
        <p:nvPicPr>
          <p:cNvPr id="4099" name="Picture 3" descr="C:\Users\User\AppData\Local\Microsoft\Windows\Temporary Internet Files\Content.IE5\E8CBVECU\MC900435278[1].wmf"/>
          <p:cNvPicPr>
            <a:picLocks noChangeAspect="1" noChangeArrowheads="1"/>
          </p:cNvPicPr>
          <p:nvPr/>
        </p:nvPicPr>
        <p:blipFill>
          <a:blip r:embed="rId2" cstate="print"/>
          <a:srcRect/>
          <a:stretch>
            <a:fillRect/>
          </a:stretch>
        </p:blipFill>
        <p:spPr bwMode="auto">
          <a:xfrm>
            <a:off x="7086600" y="152400"/>
            <a:ext cx="1879600" cy="15621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normAutofit/>
          </a:bodyPr>
          <a:lstStyle/>
          <a:p>
            <a:r>
              <a:rPr lang="en-US" dirty="0"/>
              <a:t>Evaluation of Alternatives</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pic>
        <p:nvPicPr>
          <p:cNvPr id="5" name="Picture 2"/>
          <p:cNvPicPr>
            <a:picLocks noChangeAspect="1" noChangeArrowheads="1"/>
          </p:cNvPicPr>
          <p:nvPr/>
        </p:nvPicPr>
        <p:blipFill>
          <a:blip r:embed="rId2" cstate="print"/>
          <a:srcRect/>
          <a:stretch>
            <a:fillRect/>
          </a:stretch>
        </p:blipFill>
        <p:spPr bwMode="auto">
          <a:xfrm>
            <a:off x="174625" y="1447800"/>
            <a:ext cx="8664575" cy="48768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descr="http://rogelioalegrid.files.wordpress.com/2013/04/9353062-cartoon-smiling-desktop-computer-vector-illustration.jpg"/>
          <p:cNvPicPr>
            <a:picLocks noChangeAspect="1" noChangeArrowheads="1"/>
          </p:cNvPicPr>
          <p:nvPr/>
        </p:nvPicPr>
        <p:blipFill>
          <a:blip r:embed="rId2" cstate="print"/>
          <a:srcRect/>
          <a:stretch>
            <a:fillRect/>
          </a:stretch>
        </p:blipFill>
        <p:spPr bwMode="auto">
          <a:xfrm>
            <a:off x="6267666" y="2057400"/>
            <a:ext cx="2876334" cy="3124200"/>
          </a:xfrm>
          <a:prstGeom prst="rect">
            <a:avLst/>
          </a:prstGeom>
          <a:noFill/>
        </p:spPr>
      </p:pic>
      <p:sp>
        <p:nvSpPr>
          <p:cNvPr id="2" name="Title 1"/>
          <p:cNvSpPr>
            <a:spLocks noGrp="1"/>
          </p:cNvSpPr>
          <p:nvPr>
            <p:ph type="title"/>
          </p:nvPr>
        </p:nvSpPr>
        <p:spPr>
          <a:xfrm>
            <a:off x="457200" y="304800"/>
            <a:ext cx="8229600" cy="838200"/>
          </a:xfrm>
        </p:spPr>
        <p:txBody>
          <a:bodyPr>
            <a:normAutofit/>
          </a:bodyPr>
          <a:lstStyle/>
          <a:p>
            <a:r>
              <a:rPr lang="en-US" sz="4000" dirty="0"/>
              <a:t>The Decision-Making Process: Step 6</a:t>
            </a:r>
          </a:p>
        </p:txBody>
      </p:sp>
      <p:sp>
        <p:nvSpPr>
          <p:cNvPr id="3" name="Content Placeholder 2"/>
          <p:cNvSpPr>
            <a:spLocks noGrp="1"/>
          </p:cNvSpPr>
          <p:nvPr>
            <p:ph idx="1"/>
          </p:nvPr>
        </p:nvSpPr>
        <p:spPr>
          <a:xfrm>
            <a:off x="457200" y="1600200"/>
            <a:ext cx="5334000" cy="4724400"/>
          </a:xfrm>
        </p:spPr>
        <p:txBody>
          <a:bodyPr>
            <a:normAutofit/>
          </a:bodyPr>
          <a:lstStyle/>
          <a:p>
            <a:pPr marL="342900" indent="-342900" eaLnBrk="0" hangingPunct="0">
              <a:spcBef>
                <a:spcPct val="20000"/>
              </a:spcBef>
            </a:pPr>
            <a:r>
              <a:rPr lang="en-US" sz="3200" b="1" i="1" dirty="0"/>
              <a:t>Step 6: Select an Alternative</a:t>
            </a:r>
          </a:p>
          <a:p>
            <a:pPr marL="342900" indent="-342900" eaLnBrk="0" hangingPunct="0">
              <a:spcBef>
                <a:spcPct val="20000"/>
              </a:spcBef>
            </a:pPr>
            <a:endParaRPr lang="en-US" sz="2200" dirty="0">
              <a:cs typeface="Arial" charset="0"/>
            </a:endParaRPr>
          </a:p>
          <a:p>
            <a:pPr marL="342900" indent="-342900" eaLnBrk="0" hangingPunct="0">
              <a:spcBef>
                <a:spcPct val="20000"/>
              </a:spcBef>
            </a:pPr>
            <a:r>
              <a:rPr lang="en-US" sz="2400" dirty="0">
                <a:cs typeface="Arial" charset="0"/>
              </a:rPr>
              <a:t>Choosing the best alternative from those  identified and assessed,</a:t>
            </a:r>
          </a:p>
          <a:p>
            <a:pPr marL="742950" lvl="1" indent="-285750" eaLnBrk="0" hangingPunct="0">
              <a:spcBef>
                <a:spcPct val="20000"/>
              </a:spcBef>
            </a:pPr>
            <a:r>
              <a:rPr lang="en-US" sz="2400" dirty="0">
                <a:cs typeface="Arial" charset="0"/>
              </a:rPr>
              <a:t>the best alternative or the one that received the highest score in Step 5. </a:t>
            </a:r>
            <a:endParaRPr lang="en-US" sz="2400" dirty="0">
              <a:latin typeface="Calibri" pitchFamily="34" charset="0"/>
            </a:endParaRPr>
          </a:p>
          <a:p>
            <a:endParaRPr lang="en-US" dirty="0">
              <a:cs typeface="Arial" charset="0"/>
            </a:endParaRPr>
          </a:p>
          <a:p>
            <a:r>
              <a:rPr lang="en-US" sz="2400" dirty="0">
                <a:cs typeface="Arial" charset="0"/>
              </a:rPr>
              <a:t>Example:  Amanda would choose the Dell </a:t>
            </a:r>
            <a:r>
              <a:rPr lang="en-US" sz="2400" dirty="0" err="1">
                <a:cs typeface="Arial" charset="0"/>
              </a:rPr>
              <a:t>Inspiron</a:t>
            </a:r>
            <a:r>
              <a:rPr lang="en-US" sz="2400" dirty="0">
                <a:cs typeface="Arial" charset="0"/>
              </a:rPr>
              <a:t> because it scored higher than all other alternatives (249 total).</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
        <p:nvSpPr>
          <p:cNvPr id="5125" name="AutoShape 5" descr="http://ts1.mm.bing.net/th?id=H.4877091129328164&amp;pid=15.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E"/>
          </a:p>
        </p:txBody>
      </p:sp>
      <p:sp>
        <p:nvSpPr>
          <p:cNvPr id="5127" name="AutoShape 7" descr="http://ts1.mm.bing.net/th?id=H.4877091129328164&amp;pid=15.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E"/>
          </a:p>
        </p:txBody>
      </p:sp>
      <p:sp>
        <p:nvSpPr>
          <p:cNvPr id="5129" name="AutoShape 9" descr="http://homeasnika.com/wp-content/uploads/2012/09/dell-laptop-computers.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E"/>
          </a:p>
        </p:txBody>
      </p:sp>
      <p:sp>
        <p:nvSpPr>
          <p:cNvPr id="5131" name="AutoShape 11" descr="http://homeasnika.com/wp-content/uploads/2012/09/dell-laptop-computers.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E"/>
          </a:p>
        </p:txBody>
      </p:sp>
      <p:sp>
        <p:nvSpPr>
          <p:cNvPr id="5133" name="AutoShape 13" descr="http://www.pakimag.com/files/2011/12/Punjab-Free-Laptop-Specs.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2800" dirty="0"/>
              <a:t>“OK, all those in favour of delegating decision making, shrug your shoulders”</a:t>
            </a:r>
            <a:endParaRPr lang="en-US" sz="2800"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pic>
        <p:nvPicPr>
          <p:cNvPr id="98306" name="Picture 2" descr="http://thefearlessheart.org/wp-content/uploads/2012/12/decision-making-cartoon.jpg"/>
          <p:cNvPicPr>
            <a:picLocks noChangeAspect="1" noChangeArrowheads="1"/>
          </p:cNvPicPr>
          <p:nvPr/>
        </p:nvPicPr>
        <p:blipFill>
          <a:blip r:embed="rId2" cstate="print"/>
          <a:srcRect/>
          <a:stretch>
            <a:fillRect/>
          </a:stretch>
        </p:blipFill>
        <p:spPr bwMode="auto">
          <a:xfrm>
            <a:off x="1295400" y="1905000"/>
            <a:ext cx="6324600" cy="4442816"/>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5334000" cy="1143000"/>
          </a:xfrm>
        </p:spPr>
        <p:txBody>
          <a:bodyPr>
            <a:noAutofit/>
          </a:bodyPr>
          <a:lstStyle/>
          <a:p>
            <a:r>
              <a:rPr lang="en-US" sz="3600" dirty="0"/>
              <a:t>The Decision-Making Process: Step 7</a:t>
            </a:r>
          </a:p>
        </p:txBody>
      </p:sp>
      <p:sp>
        <p:nvSpPr>
          <p:cNvPr id="3" name="Content Placeholder 2"/>
          <p:cNvSpPr>
            <a:spLocks noGrp="1"/>
          </p:cNvSpPr>
          <p:nvPr>
            <p:ph idx="1"/>
          </p:nvPr>
        </p:nvSpPr>
        <p:spPr>
          <a:xfrm>
            <a:off x="228600" y="1905000"/>
            <a:ext cx="8305800" cy="4648200"/>
          </a:xfrm>
        </p:spPr>
        <p:txBody>
          <a:bodyPr>
            <a:normAutofit/>
          </a:bodyPr>
          <a:lstStyle/>
          <a:p>
            <a:pPr marL="342900" indent="-342900" eaLnBrk="0" hangingPunct="0">
              <a:spcBef>
                <a:spcPct val="20000"/>
              </a:spcBef>
              <a:buFont typeface="Arial" charset="0"/>
              <a:buChar char="•"/>
            </a:pPr>
            <a:r>
              <a:rPr lang="en-US" b="1" i="1" dirty="0"/>
              <a:t>Step 7: Implement the Alternative</a:t>
            </a:r>
          </a:p>
          <a:p>
            <a:pPr marL="342900" indent="-342900" eaLnBrk="0" hangingPunct="0">
              <a:spcBef>
                <a:spcPct val="20000"/>
              </a:spcBef>
              <a:buFont typeface="Arial" charset="0"/>
              <a:buChar char="•"/>
            </a:pPr>
            <a:endParaRPr lang="en-US" sz="800" b="1" i="1" dirty="0"/>
          </a:p>
          <a:p>
            <a:pPr marL="342900" indent="-342900" eaLnBrk="0" hangingPunct="0">
              <a:spcBef>
                <a:spcPct val="20000"/>
              </a:spcBef>
              <a:buFont typeface="Arial" charset="0"/>
              <a:buChar char="•"/>
            </a:pPr>
            <a:r>
              <a:rPr lang="en-US" sz="2600" dirty="0"/>
              <a:t>The selected alternative must be implemented by,</a:t>
            </a:r>
          </a:p>
          <a:p>
            <a:pPr marL="342900" indent="-342900" eaLnBrk="0" hangingPunct="0">
              <a:spcBef>
                <a:spcPct val="20000"/>
              </a:spcBef>
              <a:buFont typeface="Arial" charset="0"/>
              <a:buChar char="•"/>
            </a:pPr>
            <a:endParaRPr lang="en-US" sz="1050" dirty="0"/>
          </a:p>
          <a:p>
            <a:pPr marL="342900" indent="-342900" eaLnBrk="0" hangingPunct="0">
              <a:spcBef>
                <a:spcPct val="20000"/>
              </a:spcBef>
              <a:buFont typeface="Arial" charset="0"/>
              <a:buChar char="•"/>
            </a:pPr>
            <a:r>
              <a:rPr lang="en-US" sz="2200" dirty="0"/>
              <a:t>1.  Effectively communicating the decision to the individuals who will be affected by it,</a:t>
            </a:r>
          </a:p>
          <a:p>
            <a:pPr marL="342900" indent="-342900" eaLnBrk="0" hangingPunct="0">
              <a:spcBef>
                <a:spcPct val="20000"/>
              </a:spcBef>
              <a:buFont typeface="Arial" charset="0"/>
              <a:buChar char="•"/>
            </a:pPr>
            <a:r>
              <a:rPr lang="en-US" sz="2200" dirty="0"/>
              <a:t>2.  and winning their commitment to the decision,</a:t>
            </a:r>
          </a:p>
          <a:p>
            <a:pPr marL="900684" lvl="1" indent="-342900" eaLnBrk="0" hangingPunct="0">
              <a:spcBef>
                <a:spcPct val="20000"/>
              </a:spcBef>
              <a:buFont typeface="Arial" charset="0"/>
              <a:buChar char="•"/>
            </a:pPr>
            <a:r>
              <a:rPr lang="en-US" sz="2000" dirty="0">
                <a:cs typeface="Arial" charset="0"/>
              </a:rPr>
              <a:t>If the people who must implement a decision participate in the process, they are more likely to support it.  </a:t>
            </a:r>
          </a:p>
          <a:p>
            <a:pPr marL="342900" indent="-342900" eaLnBrk="0" hangingPunct="0">
              <a:spcBef>
                <a:spcPct val="20000"/>
              </a:spcBef>
              <a:buFont typeface="Arial" charset="0"/>
              <a:buChar char="•"/>
            </a:pPr>
            <a:r>
              <a:rPr lang="en-GB" sz="2200" dirty="0">
                <a:cs typeface="Arial" charset="0"/>
              </a:rPr>
              <a:t>3.  Managers </a:t>
            </a:r>
            <a:r>
              <a:rPr lang="en-US" sz="2200" dirty="0">
                <a:cs typeface="Arial" charset="0"/>
              </a:rPr>
              <a:t>may need to reassess the environment for any changes, especially if it is a long-term decision. </a:t>
            </a:r>
          </a:p>
          <a:p>
            <a:pPr marL="900684" lvl="1" indent="-342900" eaLnBrk="0" hangingPunct="0">
              <a:spcBef>
                <a:spcPct val="20000"/>
              </a:spcBef>
              <a:buFont typeface="Arial" charset="0"/>
              <a:buChar char="•"/>
            </a:pPr>
            <a:r>
              <a:rPr lang="en-US" sz="2000" dirty="0">
                <a:cs typeface="Arial" charset="0"/>
              </a:rPr>
              <a:t>Are the criteria, alternatives, and choice still the best ones, or has the environment changed in such a way that we need to reevaluate?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pic>
        <p:nvPicPr>
          <p:cNvPr id="66562" name="Picture 2" descr="http://acumen.sg/wp-content/uploads/2013/10/implement.jpeg"/>
          <p:cNvPicPr>
            <a:picLocks noChangeAspect="1" noChangeArrowheads="1"/>
          </p:cNvPicPr>
          <p:nvPr/>
        </p:nvPicPr>
        <p:blipFill>
          <a:blip r:embed="rId2" cstate="print"/>
          <a:srcRect/>
          <a:stretch>
            <a:fillRect/>
          </a:stretch>
        </p:blipFill>
        <p:spPr bwMode="auto">
          <a:xfrm>
            <a:off x="6096000" y="0"/>
            <a:ext cx="3048000" cy="23622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descr="C:\Users\User\AppData\Local\Microsoft\Windows\Temporary Internet Files\Content.IE5\E8CBVECU\MP900448599[1].jpg"/>
          <p:cNvPicPr>
            <a:picLocks noChangeAspect="1" noChangeArrowheads="1"/>
          </p:cNvPicPr>
          <p:nvPr/>
        </p:nvPicPr>
        <p:blipFill>
          <a:blip r:embed="rId2" cstate="print"/>
          <a:srcRect/>
          <a:stretch>
            <a:fillRect/>
          </a:stretch>
        </p:blipFill>
        <p:spPr bwMode="auto">
          <a:xfrm flipH="1">
            <a:off x="6934200" y="0"/>
            <a:ext cx="2209800" cy="2209800"/>
          </a:xfrm>
          <a:prstGeom prst="rect">
            <a:avLst/>
          </a:prstGeom>
          <a:noFill/>
        </p:spPr>
      </p:pic>
      <p:sp>
        <p:nvSpPr>
          <p:cNvPr id="2" name="Title 1"/>
          <p:cNvSpPr>
            <a:spLocks noGrp="1"/>
          </p:cNvSpPr>
          <p:nvPr>
            <p:ph type="title"/>
          </p:nvPr>
        </p:nvSpPr>
        <p:spPr>
          <a:xfrm>
            <a:off x="457200" y="304800"/>
            <a:ext cx="6019800" cy="1295400"/>
          </a:xfrm>
        </p:spPr>
        <p:txBody>
          <a:bodyPr>
            <a:noAutofit/>
          </a:bodyPr>
          <a:lstStyle/>
          <a:p>
            <a:r>
              <a:rPr lang="en-US" sz="4000" dirty="0"/>
              <a:t>The Decision-Making Process: Step 8</a:t>
            </a:r>
            <a:endParaRPr lang="en-IE" sz="4000" dirty="0"/>
          </a:p>
        </p:txBody>
      </p:sp>
      <p:sp>
        <p:nvSpPr>
          <p:cNvPr id="3" name="Content Placeholder 2"/>
          <p:cNvSpPr>
            <a:spLocks noGrp="1"/>
          </p:cNvSpPr>
          <p:nvPr>
            <p:ph idx="1"/>
          </p:nvPr>
        </p:nvSpPr>
        <p:spPr>
          <a:xfrm>
            <a:off x="457200" y="1752600"/>
            <a:ext cx="8229600" cy="5105400"/>
          </a:xfrm>
        </p:spPr>
        <p:txBody>
          <a:bodyPr>
            <a:normAutofit fontScale="70000" lnSpcReduction="20000"/>
          </a:bodyPr>
          <a:lstStyle/>
          <a:p>
            <a:pPr marL="342900" indent="-342900" eaLnBrk="0" hangingPunct="0">
              <a:spcBef>
                <a:spcPct val="20000"/>
              </a:spcBef>
            </a:pPr>
            <a:r>
              <a:rPr lang="en-US" sz="4000" b="1" i="1" dirty="0"/>
              <a:t>Step 8: Evaluate Decision Effectiveness</a:t>
            </a:r>
            <a:endParaRPr lang="en-US" sz="4600" b="1" i="1" dirty="0"/>
          </a:p>
          <a:p>
            <a:pPr hangingPunct="0"/>
            <a:endParaRPr lang="en-US" sz="4000" dirty="0"/>
          </a:p>
          <a:p>
            <a:pPr hangingPunct="0"/>
            <a:r>
              <a:rPr lang="en-US" sz="3400" dirty="0"/>
              <a:t>Assess the result of the decision to determine whether or not the problem has been resolved.</a:t>
            </a:r>
          </a:p>
          <a:p>
            <a:pPr hangingPunct="0"/>
            <a:endParaRPr lang="en-US" sz="3400" dirty="0"/>
          </a:p>
          <a:p>
            <a:pPr lvl="1" hangingPunct="0"/>
            <a:r>
              <a:rPr lang="en-US" sz="3400" dirty="0"/>
              <a:t>The soundness of the decision is judged by its outcomes.</a:t>
            </a:r>
          </a:p>
          <a:p>
            <a:pPr hangingPunct="0"/>
            <a:endParaRPr lang="en-US" sz="1600" dirty="0"/>
          </a:p>
          <a:p>
            <a:pPr marL="185166" indent="-285750" eaLnBrk="0" hangingPunct="0">
              <a:spcBef>
                <a:spcPct val="45000"/>
              </a:spcBef>
            </a:pPr>
            <a:r>
              <a:rPr lang="en-US" sz="3400" dirty="0"/>
              <a:t>If the problem was not resolved,  …. then the manager needs to assess ‘what went wrong’?</a:t>
            </a:r>
          </a:p>
          <a:p>
            <a:pPr marL="742950" lvl="1" indent="-285750" eaLnBrk="0" hangingPunct="0">
              <a:spcBef>
                <a:spcPct val="45000"/>
              </a:spcBef>
            </a:pPr>
            <a:r>
              <a:rPr lang="en-US" sz="3200" dirty="0">
                <a:cs typeface="Arial" charset="0"/>
              </a:rPr>
              <a:t>Was the problem incorrectly defined? </a:t>
            </a:r>
          </a:p>
          <a:p>
            <a:pPr marL="742950" lvl="1" indent="-285750" eaLnBrk="0" hangingPunct="0">
              <a:spcBef>
                <a:spcPct val="45000"/>
              </a:spcBef>
            </a:pPr>
            <a:r>
              <a:rPr lang="en-US" sz="3200" dirty="0">
                <a:cs typeface="Arial" charset="0"/>
              </a:rPr>
              <a:t>Were errors made when evaluating alternatives? </a:t>
            </a:r>
          </a:p>
          <a:p>
            <a:pPr marL="742950" lvl="1" indent="-285750" eaLnBrk="0" hangingPunct="0">
              <a:spcBef>
                <a:spcPct val="45000"/>
              </a:spcBef>
            </a:pPr>
            <a:r>
              <a:rPr lang="en-US" sz="3200" dirty="0">
                <a:cs typeface="Arial" charset="0"/>
              </a:rPr>
              <a:t>Was the right alternative selected but poorly implemented? </a:t>
            </a:r>
          </a:p>
          <a:p>
            <a:pPr marL="185166" indent="-285750" eaLnBrk="0" hangingPunct="0">
              <a:spcBef>
                <a:spcPct val="45000"/>
              </a:spcBef>
            </a:pPr>
            <a:endParaRPr lang="en-US" sz="1100" dirty="0">
              <a:cs typeface="Arial" charset="0"/>
            </a:endParaRPr>
          </a:p>
          <a:p>
            <a:pPr marL="185166" indent="-285750" eaLnBrk="0" hangingPunct="0">
              <a:spcBef>
                <a:spcPct val="45000"/>
              </a:spcBef>
            </a:pPr>
            <a:r>
              <a:rPr lang="en-US" sz="3400" dirty="0">
                <a:cs typeface="Arial" charset="0"/>
              </a:rPr>
              <a:t>The answers might lead the manager to redo an earlier step or might even require starting the whole process over.</a:t>
            </a:r>
          </a:p>
          <a:p>
            <a:pPr marL="342900" indent="-342900" eaLnBrk="0" hangingPunct="0">
              <a:spcBef>
                <a:spcPct val="20000"/>
              </a:spcBef>
            </a:pPr>
            <a:endParaRPr lang="en-US" sz="3200" dirty="0"/>
          </a:p>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609600"/>
            <a:ext cx="1524000" cy="2971800"/>
          </a:xfrm>
        </p:spPr>
        <p:txBody>
          <a:bodyPr>
            <a:noAutofit/>
          </a:bodyPr>
          <a:lstStyle/>
          <a:p>
            <a:pPr algn="l"/>
            <a:r>
              <a:rPr lang="en-GB" sz="2800" dirty="0"/>
              <a:t>Decision Making Process</a:t>
            </a:r>
            <a:br>
              <a:rPr lang="en-GB" sz="2800" dirty="0"/>
            </a:br>
            <a:r>
              <a:rPr lang="en-GB" sz="1400" dirty="0"/>
              <a:t>(Source: Robbins &amp; Coulter, 2014)</a:t>
            </a: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pic>
        <p:nvPicPr>
          <p:cNvPr id="6" name="Picture 3"/>
          <p:cNvPicPr>
            <a:picLocks noGrp="1" noChangeAspect="1" noChangeArrowheads="1"/>
          </p:cNvPicPr>
          <p:nvPr/>
        </p:nvPicPr>
        <p:blipFill>
          <a:blip r:embed="rId2" cstate="print"/>
          <a:srcRect/>
          <a:stretch>
            <a:fillRect/>
          </a:stretch>
        </p:blipFill>
        <p:spPr bwMode="auto">
          <a:xfrm>
            <a:off x="2057400" y="381000"/>
            <a:ext cx="6858000" cy="6248400"/>
          </a:xfrm>
          <a:prstGeom prst="rect">
            <a:avLst/>
          </a:prstGeom>
          <a:noFill/>
          <a:ln w="9525">
            <a:noFill/>
            <a:miter lim="800000"/>
            <a:headEnd/>
            <a:tailEnd/>
          </a:ln>
        </p:spPr>
      </p:pic>
    </p:spTree>
    <p:extLst>
      <p:ext uri="{BB962C8B-B14F-4D97-AF65-F5344CB8AC3E}">
        <p14:creationId xmlns:p14="http://schemas.microsoft.com/office/powerpoint/2010/main" val="3796346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5715000" cy="1219200"/>
          </a:xfrm>
        </p:spPr>
        <p:txBody>
          <a:bodyPr>
            <a:normAutofit fontScale="90000"/>
          </a:bodyPr>
          <a:lstStyle/>
          <a:p>
            <a:r>
              <a:rPr lang="en-US" dirty="0"/>
              <a:t>Managers Making Decisions</a:t>
            </a:r>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
        <p:nvSpPr>
          <p:cNvPr id="7" name="Content Placeholder 6"/>
          <p:cNvSpPr>
            <a:spLocks noGrp="1"/>
          </p:cNvSpPr>
          <p:nvPr>
            <p:ph idx="1"/>
          </p:nvPr>
        </p:nvSpPr>
        <p:spPr>
          <a:xfrm>
            <a:off x="533400" y="1676400"/>
            <a:ext cx="7848600" cy="4953000"/>
          </a:xfrm>
        </p:spPr>
        <p:txBody>
          <a:bodyPr>
            <a:normAutofit fontScale="92500" lnSpcReduction="20000"/>
          </a:bodyPr>
          <a:lstStyle/>
          <a:p>
            <a:r>
              <a:rPr lang="en-US" dirty="0">
                <a:cs typeface="Arial" charset="0"/>
              </a:rPr>
              <a:t>Although everyone in an </a:t>
            </a:r>
            <a:r>
              <a:rPr lang="en-US" dirty="0" err="1">
                <a:cs typeface="Arial" charset="0"/>
              </a:rPr>
              <a:t>organisation</a:t>
            </a:r>
            <a:r>
              <a:rPr lang="en-US" dirty="0">
                <a:cs typeface="Arial" charset="0"/>
              </a:rPr>
              <a:t>                            makes decisions, decision making is                         particularly important to managers. </a:t>
            </a:r>
          </a:p>
          <a:p>
            <a:pPr>
              <a:buNone/>
            </a:pPr>
            <a:endParaRPr lang="en-US" dirty="0">
              <a:cs typeface="Arial" charset="0"/>
            </a:endParaRPr>
          </a:p>
          <a:p>
            <a:r>
              <a:rPr lang="en-US" dirty="0">
                <a:cs typeface="Arial" charset="0"/>
              </a:rPr>
              <a:t>That is why it is said - that decision making is the ‘essence of management’. </a:t>
            </a:r>
          </a:p>
          <a:p>
            <a:pPr>
              <a:buNone/>
            </a:pPr>
            <a:r>
              <a:rPr lang="en-US" dirty="0">
                <a:cs typeface="Arial" charset="0"/>
              </a:rPr>
              <a:t> </a:t>
            </a:r>
          </a:p>
          <a:p>
            <a:r>
              <a:rPr lang="en-US" dirty="0">
                <a:cs typeface="Arial" charset="0"/>
              </a:rPr>
              <a:t>And that is why managers - when they plan, organise, lead, and control - are called D</a:t>
            </a:r>
            <a:r>
              <a:rPr lang="en-US" i="1" dirty="0">
                <a:cs typeface="Arial" charset="0"/>
              </a:rPr>
              <a:t>ecision Makers</a:t>
            </a:r>
            <a:r>
              <a:rPr lang="en-US" dirty="0">
                <a:cs typeface="Arial" charset="0"/>
              </a:rPr>
              <a:t>.</a:t>
            </a:r>
          </a:p>
          <a:p>
            <a:pPr hangingPunct="0"/>
            <a:endParaRPr lang="en-US" dirty="0"/>
          </a:p>
          <a:p>
            <a:pPr hangingPunct="0"/>
            <a:r>
              <a:rPr lang="en-US" dirty="0"/>
              <a:t>This next section will explore the manager as a decision maker and how decisions are actually made in </a:t>
            </a:r>
            <a:r>
              <a:rPr lang="en-US" dirty="0" err="1"/>
              <a:t>organisations</a:t>
            </a:r>
            <a:r>
              <a:rPr lang="en-US" dirty="0"/>
              <a:t>. </a:t>
            </a:r>
          </a:p>
          <a:p>
            <a:pPr lvl="1" hangingPunct="0"/>
            <a:r>
              <a:rPr lang="en-US" dirty="0"/>
              <a:t>Including ; how decisions are made, the types of problems and decisions faced by real-life managers, the conditions under which managers make decisions, and decision-making styles.</a:t>
            </a:r>
          </a:p>
          <a:p>
            <a:endParaRPr lang="en-US" dirty="0">
              <a:cs typeface="Arial" charset="0"/>
            </a:endParaRPr>
          </a:p>
          <a:p>
            <a:endParaRPr lang="en-IE" dirty="0"/>
          </a:p>
          <a:p>
            <a:pPr>
              <a:buNone/>
            </a:pPr>
            <a:endParaRPr lang="en-IE" dirty="0"/>
          </a:p>
        </p:txBody>
      </p:sp>
      <p:pic>
        <p:nvPicPr>
          <p:cNvPr id="63492" name="Picture 4" descr="https://encrypted-tbn2.gstatic.com/images?q=tbn:ANd9GcT6jqPE-0df_8OFXMSueZvYELlILyz_k7eytzC7mKx644M2z7qX"/>
          <p:cNvPicPr>
            <a:picLocks noChangeAspect="1" noChangeArrowheads="1"/>
          </p:cNvPicPr>
          <p:nvPr/>
        </p:nvPicPr>
        <p:blipFill>
          <a:blip r:embed="rId2" cstate="print"/>
          <a:srcRect/>
          <a:stretch>
            <a:fillRect/>
          </a:stretch>
        </p:blipFill>
        <p:spPr bwMode="auto">
          <a:xfrm>
            <a:off x="6400800" y="0"/>
            <a:ext cx="2743200" cy="236220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066800"/>
          </a:xfrm>
        </p:spPr>
        <p:txBody>
          <a:bodyPr>
            <a:normAutofit fontScale="90000"/>
          </a:bodyPr>
          <a:lstStyle/>
          <a:p>
            <a:pPr algn="l"/>
            <a:r>
              <a:rPr lang="en-US" sz="3600" dirty="0"/>
              <a:t>How Decision Making Fits into the Four Functions of Management </a:t>
            </a:r>
            <a:r>
              <a:rPr lang="en-GB" sz="1300" dirty="0"/>
              <a:t> </a:t>
            </a:r>
            <a:r>
              <a:rPr lang="en-GB" sz="2000" dirty="0"/>
              <a:t>(Source: Robbins &amp; Coulter, 2014)</a:t>
            </a:r>
            <a:endParaRPr lang="en-IE"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pic>
        <p:nvPicPr>
          <p:cNvPr id="5" name="Picture 3"/>
          <p:cNvPicPr>
            <a:picLocks noGrp="1" noChangeAspect="1" noChangeArrowheads="1"/>
          </p:cNvPicPr>
          <p:nvPr/>
        </p:nvPicPr>
        <p:blipFill>
          <a:blip r:embed="rId2" cstate="print"/>
          <a:srcRect t="7031" b="45993"/>
          <a:stretch>
            <a:fillRect/>
          </a:stretch>
        </p:blipFill>
        <p:spPr bwMode="auto">
          <a:xfrm>
            <a:off x="304800" y="1752600"/>
            <a:ext cx="8229600" cy="4343400"/>
          </a:xfrm>
          <a:prstGeom prst="rect">
            <a:avLst/>
          </a:prstGeom>
          <a:noFill/>
          <a:ln w="9525">
            <a:noFill/>
            <a:miter lim="800000"/>
            <a:headEnd/>
            <a:tailEnd/>
          </a:ln>
        </p:spPr>
      </p:pic>
      <p:pic>
        <p:nvPicPr>
          <p:cNvPr id="6" name="Picture 2" descr="http://www.hotelsolutionspartnership.com/uploads/Decision-Making.gif"/>
          <p:cNvPicPr>
            <a:picLocks noChangeAspect="1" noChangeArrowheads="1"/>
          </p:cNvPicPr>
          <p:nvPr/>
        </p:nvPicPr>
        <p:blipFill>
          <a:blip r:embed="rId3" cstate="print"/>
          <a:srcRect/>
          <a:stretch>
            <a:fillRect/>
          </a:stretch>
        </p:blipFill>
        <p:spPr bwMode="auto">
          <a:xfrm>
            <a:off x="6629400" y="1828800"/>
            <a:ext cx="2514600" cy="28956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066800"/>
          </a:xfrm>
        </p:spPr>
        <p:txBody>
          <a:bodyPr>
            <a:normAutofit fontScale="90000"/>
          </a:bodyPr>
          <a:lstStyle/>
          <a:p>
            <a:pPr algn="l"/>
            <a:r>
              <a:rPr lang="en-US" sz="3600" dirty="0"/>
              <a:t>How Decision Making Fits into the Four Functions of Management </a:t>
            </a:r>
            <a:r>
              <a:rPr lang="en-GB" sz="2000" dirty="0"/>
              <a:t>(Source: Robbins &amp; Coulter, 2014)</a:t>
            </a:r>
            <a:endParaRPr lang="en-IE" sz="27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pic>
        <p:nvPicPr>
          <p:cNvPr id="5" name="Picture 3"/>
          <p:cNvPicPr>
            <a:picLocks noGrp="1" noChangeAspect="1" noChangeArrowheads="1"/>
          </p:cNvPicPr>
          <p:nvPr>
            <p:ph idx="1"/>
          </p:nvPr>
        </p:nvPicPr>
        <p:blipFill>
          <a:blip r:embed="rId2" cstate="print"/>
          <a:srcRect t="53606"/>
          <a:stretch>
            <a:fillRect/>
          </a:stretch>
        </p:blipFill>
        <p:spPr bwMode="auto">
          <a:xfrm>
            <a:off x="609600" y="1981200"/>
            <a:ext cx="8001000" cy="434340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pic>
        <p:nvPicPr>
          <p:cNvPr id="5" name="Picture 2" descr="http://www.helpingchurchleaders.com/wp-content/uploads/2012/11/decide.jpg"/>
          <p:cNvPicPr>
            <a:picLocks noChangeAspect="1" noChangeArrowheads="1"/>
          </p:cNvPicPr>
          <p:nvPr/>
        </p:nvPicPr>
        <p:blipFill>
          <a:blip r:embed="rId2" cstate="print"/>
          <a:srcRect/>
          <a:stretch>
            <a:fillRect/>
          </a:stretch>
        </p:blipFill>
        <p:spPr bwMode="auto">
          <a:xfrm>
            <a:off x="457200" y="762000"/>
            <a:ext cx="8168640" cy="51054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normAutofit/>
          </a:bodyPr>
          <a:lstStyle/>
          <a:p>
            <a:r>
              <a:rPr lang="en-US" dirty="0"/>
              <a:t>Making Decisions: Rationality</a:t>
            </a:r>
          </a:p>
        </p:txBody>
      </p:sp>
      <p:sp>
        <p:nvSpPr>
          <p:cNvPr id="3" name="Content Placeholder 2"/>
          <p:cNvSpPr>
            <a:spLocks noGrp="1"/>
          </p:cNvSpPr>
          <p:nvPr>
            <p:ph idx="1"/>
          </p:nvPr>
        </p:nvSpPr>
        <p:spPr>
          <a:xfrm>
            <a:off x="457200" y="1447800"/>
            <a:ext cx="8229600" cy="5181600"/>
          </a:xfrm>
        </p:spPr>
        <p:txBody>
          <a:bodyPr>
            <a:normAutofit fontScale="85000" lnSpcReduction="20000"/>
          </a:bodyPr>
          <a:lstStyle/>
          <a:p>
            <a:pPr marL="342900" indent="-342900" eaLnBrk="0" hangingPunct="0">
              <a:spcBef>
                <a:spcPct val="20000"/>
              </a:spcBef>
            </a:pPr>
            <a:r>
              <a:rPr lang="en-US" dirty="0"/>
              <a:t>Managerial decision making is assumed to be rational - that is, making choices that are consistent and value-maximizing within specified constraints. </a:t>
            </a:r>
          </a:p>
          <a:p>
            <a:pPr marL="342900" indent="-342900" eaLnBrk="0" hangingPunct="0">
              <a:spcBef>
                <a:spcPct val="20000"/>
              </a:spcBef>
            </a:pPr>
            <a:endParaRPr lang="en-US" dirty="0"/>
          </a:p>
          <a:p>
            <a:pPr marL="342900" indent="-342900" eaLnBrk="0" hangingPunct="0">
              <a:spcBef>
                <a:spcPct val="20000"/>
              </a:spcBef>
            </a:pPr>
            <a:r>
              <a:rPr lang="en-US" dirty="0"/>
              <a:t>If a manager could be perfectly rational, he or she would be </a:t>
            </a:r>
            <a:r>
              <a:rPr lang="en-US" i="1" dirty="0"/>
              <a:t>completely</a:t>
            </a:r>
            <a:r>
              <a:rPr lang="en-US" dirty="0"/>
              <a:t> logical and objective.</a:t>
            </a:r>
          </a:p>
          <a:p>
            <a:pPr marL="342900" indent="-342900" eaLnBrk="0" hangingPunct="0">
              <a:spcBef>
                <a:spcPct val="20000"/>
              </a:spcBef>
            </a:pPr>
            <a:endParaRPr lang="en-US" b="1" dirty="0"/>
          </a:p>
          <a:p>
            <a:pPr marL="342900" indent="-342900" eaLnBrk="0" hangingPunct="0">
              <a:spcBef>
                <a:spcPct val="20000"/>
              </a:spcBef>
            </a:pPr>
            <a:r>
              <a:rPr lang="en-US" b="1" dirty="0"/>
              <a:t>Rational Decision-Making - </a:t>
            </a:r>
            <a:r>
              <a:rPr lang="en-US" dirty="0"/>
              <a:t>describes choices that are logical and consistent while maximising value.</a:t>
            </a:r>
          </a:p>
          <a:p>
            <a:pPr marL="900684" lvl="1" indent="-342900" eaLnBrk="0" hangingPunct="0">
              <a:spcBef>
                <a:spcPct val="20000"/>
              </a:spcBef>
            </a:pPr>
            <a:r>
              <a:rPr lang="en-US" sz="2400" dirty="0"/>
              <a:t>We assume that managers will use </a:t>
            </a:r>
            <a:r>
              <a:rPr lang="en-US" sz="2400" b="1" dirty="0"/>
              <a:t>rational decision making</a:t>
            </a:r>
          </a:p>
          <a:p>
            <a:pPr marL="342900" indent="-342900" eaLnBrk="0" hangingPunct="0">
              <a:spcBef>
                <a:spcPct val="20000"/>
              </a:spcBef>
            </a:pPr>
            <a:endParaRPr lang="en-US" dirty="0">
              <a:cs typeface="Arial" charset="0"/>
            </a:endParaRPr>
          </a:p>
          <a:p>
            <a:pPr marL="342900" indent="-342900" eaLnBrk="0" hangingPunct="0">
              <a:spcBef>
                <a:spcPct val="20000"/>
              </a:spcBef>
            </a:pPr>
            <a:r>
              <a:rPr lang="en-US" dirty="0">
                <a:cs typeface="Arial" charset="0"/>
              </a:rPr>
              <a:t> After all, managers have all sorts of tools and techniques to help them be rational decision makers</a:t>
            </a:r>
            <a:endParaRPr lang="en-US" dirty="0"/>
          </a:p>
          <a:p>
            <a:pPr marL="342900" indent="-342900" eaLnBrk="0" hangingPunct="0">
              <a:spcBef>
                <a:spcPct val="20000"/>
              </a:spcBef>
            </a:pPr>
            <a:endParaRPr lang="en-US" sz="2100" dirty="0">
              <a:cs typeface="Arial" charset="0"/>
            </a:endParaRPr>
          </a:p>
          <a:p>
            <a:pPr marL="342900" indent="-342900" eaLnBrk="0" hangingPunct="0">
              <a:spcBef>
                <a:spcPct val="20000"/>
              </a:spcBef>
            </a:pPr>
            <a:r>
              <a:rPr lang="en-US" dirty="0">
                <a:cs typeface="Arial" charset="0"/>
              </a:rPr>
              <a:t>But ….. Managers are not always rational! </a:t>
            </a:r>
            <a:endParaRPr lang="en-US" dirty="0"/>
          </a:p>
          <a:p>
            <a:pPr marL="342900" indent="-342900" eaLnBrk="0" hangingPunct="0">
              <a:spcBef>
                <a:spcPct val="20000"/>
              </a:spcBef>
            </a:pPr>
            <a:endParaRPr lang="en-US" sz="23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pic>
        <p:nvPicPr>
          <p:cNvPr id="102404" name="Picture 4" descr="http://theintentionalworkplace.files.wordpress.com/2012/03/index.jpg"/>
          <p:cNvPicPr>
            <a:picLocks noChangeAspect="1" noChangeArrowheads="1"/>
          </p:cNvPicPr>
          <p:nvPr/>
        </p:nvPicPr>
        <p:blipFill>
          <a:blip r:embed="rId2" cstate="print"/>
          <a:srcRect/>
          <a:stretch>
            <a:fillRect/>
          </a:stretch>
        </p:blipFill>
        <p:spPr bwMode="auto">
          <a:xfrm>
            <a:off x="304800" y="762000"/>
            <a:ext cx="4648200" cy="2828925"/>
          </a:xfrm>
          <a:prstGeom prst="rect">
            <a:avLst/>
          </a:prstGeom>
          <a:noFill/>
        </p:spPr>
      </p:pic>
      <p:pic>
        <p:nvPicPr>
          <p:cNvPr id="102406" name="Picture 6" descr="http://i.huffpost.com/gen/1473063/thumbs/n-DECISION-MAKING-large570.jpg?6"/>
          <p:cNvPicPr>
            <a:picLocks noChangeAspect="1" noChangeArrowheads="1"/>
          </p:cNvPicPr>
          <p:nvPr/>
        </p:nvPicPr>
        <p:blipFill>
          <a:blip r:embed="rId3" cstate="print"/>
          <a:srcRect/>
          <a:stretch>
            <a:fillRect/>
          </a:stretch>
        </p:blipFill>
        <p:spPr bwMode="auto">
          <a:xfrm>
            <a:off x="304800" y="3657600"/>
            <a:ext cx="4648200" cy="2819400"/>
          </a:xfrm>
          <a:prstGeom prst="rect">
            <a:avLst/>
          </a:prstGeom>
          <a:noFill/>
        </p:spPr>
      </p:pic>
      <p:pic>
        <p:nvPicPr>
          <p:cNvPr id="102408" name="Picture 8" descr="http://www.denniscummins.com/wp-content/uploads/2014/03/Decision-Making-325x243.jpg"/>
          <p:cNvPicPr>
            <a:picLocks noChangeAspect="1" noChangeArrowheads="1"/>
          </p:cNvPicPr>
          <p:nvPr/>
        </p:nvPicPr>
        <p:blipFill>
          <a:blip r:embed="rId4" cstate="print"/>
          <a:srcRect/>
          <a:stretch>
            <a:fillRect/>
          </a:stretch>
        </p:blipFill>
        <p:spPr bwMode="auto">
          <a:xfrm>
            <a:off x="5181600" y="1143000"/>
            <a:ext cx="3770802" cy="472440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85800"/>
          </a:xfrm>
        </p:spPr>
        <p:txBody>
          <a:bodyPr>
            <a:normAutofit fontScale="90000"/>
          </a:bodyPr>
          <a:lstStyle/>
          <a:p>
            <a:r>
              <a:rPr lang="en-US" sz="4400" dirty="0"/>
              <a:t>Making Decisions: Rationality</a:t>
            </a:r>
          </a:p>
        </p:txBody>
      </p:sp>
      <p:sp>
        <p:nvSpPr>
          <p:cNvPr id="3" name="Content Placeholder 2"/>
          <p:cNvSpPr>
            <a:spLocks noGrp="1"/>
          </p:cNvSpPr>
          <p:nvPr>
            <p:ph idx="1"/>
          </p:nvPr>
        </p:nvSpPr>
        <p:spPr>
          <a:xfrm>
            <a:off x="457200" y="1143000"/>
            <a:ext cx="8229600" cy="5715000"/>
          </a:xfrm>
        </p:spPr>
        <p:txBody>
          <a:bodyPr>
            <a:normAutofit fontScale="77500" lnSpcReduction="20000"/>
          </a:bodyPr>
          <a:lstStyle/>
          <a:p>
            <a:pPr marL="342900" indent="-342900" eaLnBrk="0" hangingPunct="0">
              <a:spcBef>
                <a:spcPct val="20000"/>
              </a:spcBef>
            </a:pPr>
            <a:r>
              <a:rPr lang="en-US" sz="3100" b="1" dirty="0"/>
              <a:t>Assumptions of Rationality</a:t>
            </a:r>
          </a:p>
          <a:p>
            <a:pPr marL="342900" indent="-342900" eaLnBrk="0" hangingPunct="0">
              <a:spcBef>
                <a:spcPct val="20000"/>
              </a:spcBef>
            </a:pPr>
            <a:endParaRPr lang="en-US" dirty="0"/>
          </a:p>
          <a:p>
            <a:pPr hangingPunct="0"/>
            <a:r>
              <a:rPr lang="en-US" dirty="0"/>
              <a:t>1. Rational decision making assumes that the manager is making decisions in the best interests of the </a:t>
            </a:r>
            <a:r>
              <a:rPr lang="en-US" i="1" dirty="0"/>
              <a:t>organization</a:t>
            </a:r>
            <a:r>
              <a:rPr lang="en-US" dirty="0"/>
              <a:t>, not in his or her own interests.</a:t>
            </a:r>
          </a:p>
          <a:p>
            <a:pPr hangingPunct="0"/>
            <a:endParaRPr lang="en-US" dirty="0"/>
          </a:p>
          <a:p>
            <a:pPr hangingPunct="0"/>
            <a:r>
              <a:rPr lang="en-US" dirty="0"/>
              <a:t>2. The assumptions of rationality can be met </a:t>
            </a:r>
            <a:r>
              <a:rPr lang="en-US" b="1" dirty="0"/>
              <a:t>if</a:t>
            </a:r>
            <a:r>
              <a:rPr lang="en-US" dirty="0"/>
              <a:t> the manager is faced with a simple problem in which;</a:t>
            </a:r>
          </a:p>
          <a:p>
            <a:pPr lvl="1" hangingPunct="0"/>
            <a:r>
              <a:rPr lang="en-US" sz="2900" dirty="0"/>
              <a:t>(1) goals are clear and alternatives limited, </a:t>
            </a:r>
          </a:p>
          <a:p>
            <a:pPr lvl="1" hangingPunct="0"/>
            <a:r>
              <a:rPr lang="en-US" sz="2900" dirty="0"/>
              <a:t>(2) time pressures are minimal and the cost of finding and evaluating alternatives is low, </a:t>
            </a:r>
          </a:p>
          <a:p>
            <a:pPr lvl="1" hangingPunct="0"/>
            <a:r>
              <a:rPr lang="en-US" sz="2900" dirty="0"/>
              <a:t>(3) the </a:t>
            </a:r>
            <a:r>
              <a:rPr lang="en-US" sz="2900" dirty="0" err="1"/>
              <a:t>organisational</a:t>
            </a:r>
            <a:r>
              <a:rPr lang="en-US" sz="2900" dirty="0"/>
              <a:t> culture supports innovation and risk taking, and </a:t>
            </a:r>
          </a:p>
          <a:p>
            <a:pPr lvl="1" hangingPunct="0"/>
            <a:r>
              <a:rPr lang="en-US" sz="2900" dirty="0"/>
              <a:t>(4) outcomes are concrete and measurable. </a:t>
            </a:r>
          </a:p>
          <a:p>
            <a:pPr marL="342900" indent="-342900" eaLnBrk="0" hangingPunct="0">
              <a:spcBef>
                <a:spcPct val="20000"/>
              </a:spcBef>
            </a:pPr>
            <a:endParaRPr lang="en-US" dirty="0"/>
          </a:p>
          <a:p>
            <a:pPr marL="742950" lvl="1" indent="-285750" eaLnBrk="0" hangingPunct="0">
              <a:spcBef>
                <a:spcPct val="20000"/>
              </a:spcBef>
              <a:buNone/>
            </a:pPr>
            <a:endParaRPr lang="en-US" dirty="0">
              <a:cs typeface="Arial" charset="0"/>
            </a:endParaRPr>
          </a:p>
          <a:p>
            <a:r>
              <a:rPr lang="en-US" dirty="0">
                <a:cs typeface="Arial" charset="0"/>
              </a:rPr>
              <a:t>Making decisions rationally would consistently lead to selecting the alternative that </a:t>
            </a:r>
            <a:r>
              <a:rPr lang="en-US" dirty="0" err="1">
                <a:cs typeface="Arial" charset="0"/>
              </a:rPr>
              <a:t>maximises</a:t>
            </a:r>
            <a:r>
              <a:rPr lang="en-US" dirty="0">
                <a:cs typeface="Arial" charset="0"/>
              </a:rPr>
              <a:t> the likelihood of achieving that goal.</a:t>
            </a:r>
          </a:p>
          <a:p>
            <a:endParaRPr lang="en-US"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pic>
        <p:nvPicPr>
          <p:cNvPr id="5" name="Picture 2" descr="http://positivechick.com/wp-content/uploads/2013/06/DecisionMaking.jpg"/>
          <p:cNvPicPr>
            <a:picLocks noChangeAspect="1" noChangeArrowheads="1"/>
          </p:cNvPicPr>
          <p:nvPr/>
        </p:nvPicPr>
        <p:blipFill>
          <a:blip r:embed="rId2" cstate="print"/>
          <a:srcRect/>
          <a:stretch>
            <a:fillRect/>
          </a:stretch>
        </p:blipFill>
        <p:spPr bwMode="auto">
          <a:xfrm>
            <a:off x="990600" y="914400"/>
            <a:ext cx="6624919" cy="5119256"/>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95400"/>
          </a:xfrm>
        </p:spPr>
        <p:txBody>
          <a:bodyPr>
            <a:noAutofit/>
          </a:bodyPr>
          <a:lstStyle/>
          <a:p>
            <a:r>
              <a:rPr lang="en-US" sz="4000" dirty="0"/>
              <a:t>Making Decisions: Bounded Rationality</a:t>
            </a:r>
          </a:p>
        </p:txBody>
      </p:sp>
      <p:sp>
        <p:nvSpPr>
          <p:cNvPr id="3" name="Content Placeholder 2"/>
          <p:cNvSpPr>
            <a:spLocks noGrp="1"/>
          </p:cNvSpPr>
          <p:nvPr>
            <p:ph idx="1"/>
          </p:nvPr>
        </p:nvSpPr>
        <p:spPr>
          <a:xfrm>
            <a:off x="457200" y="1676400"/>
            <a:ext cx="8305800" cy="4876800"/>
          </a:xfrm>
        </p:spPr>
        <p:txBody>
          <a:bodyPr>
            <a:normAutofit fontScale="77500" lnSpcReduction="20000"/>
          </a:bodyPr>
          <a:lstStyle/>
          <a:p>
            <a:pPr marL="342900" indent="-342900" eaLnBrk="0" hangingPunct="0">
              <a:spcBef>
                <a:spcPct val="20000"/>
              </a:spcBef>
              <a:buFont typeface="Arial" charset="0"/>
              <a:buChar char="•"/>
            </a:pPr>
            <a:r>
              <a:rPr lang="en-US" dirty="0"/>
              <a:t>Because the </a:t>
            </a:r>
            <a:r>
              <a:rPr lang="en-US" i="1" dirty="0"/>
              <a:t>perfectly</a:t>
            </a:r>
            <a:r>
              <a:rPr lang="en-US" dirty="0"/>
              <a:t> rational model of decision making is not realistic, managers tend to operate under assumptions of </a:t>
            </a:r>
            <a:r>
              <a:rPr lang="en-US" b="1" i="1" dirty="0"/>
              <a:t>bounded rationality</a:t>
            </a:r>
            <a:r>
              <a:rPr lang="en-US" dirty="0"/>
              <a:t>, </a:t>
            </a:r>
          </a:p>
          <a:p>
            <a:pPr marL="342900" indent="-342900" eaLnBrk="0" hangingPunct="0">
              <a:spcBef>
                <a:spcPct val="20000"/>
              </a:spcBef>
              <a:buFont typeface="Arial" charset="0"/>
              <a:buChar char="•"/>
            </a:pPr>
            <a:r>
              <a:rPr lang="en-US" dirty="0">
                <a:cs typeface="Arial" charset="0"/>
              </a:rPr>
              <a:t>  …. which says that managers make decisions rationally, but are limited (bounded) by their ability to process information.</a:t>
            </a:r>
          </a:p>
          <a:p>
            <a:pPr marL="900684" lvl="1" indent="-342900" eaLnBrk="0" hangingPunct="0">
              <a:spcBef>
                <a:spcPct val="20000"/>
              </a:spcBef>
              <a:buFont typeface="Arial" charset="0"/>
              <a:buChar char="•"/>
            </a:pPr>
            <a:r>
              <a:rPr lang="en-US" sz="2600" dirty="0">
                <a:cs typeface="Arial" charset="0"/>
              </a:rPr>
              <a:t>This is a more realistic approach to describing how managers make decisions. </a:t>
            </a:r>
            <a:endParaRPr lang="en-US" sz="2600" b="1" dirty="0"/>
          </a:p>
          <a:p>
            <a:pPr hangingPunct="0"/>
            <a:endParaRPr lang="en-GB" dirty="0"/>
          </a:p>
          <a:p>
            <a:pPr hangingPunct="0"/>
            <a:r>
              <a:rPr lang="en-GB" dirty="0"/>
              <a:t>Some flaws still evident …. ‘</a:t>
            </a:r>
            <a:r>
              <a:rPr lang="en-GB" b="1" dirty="0"/>
              <a:t>Satisfying</a:t>
            </a:r>
            <a:r>
              <a:rPr lang="en-GB" dirty="0"/>
              <a:t>’ &amp; ‘</a:t>
            </a:r>
            <a:r>
              <a:rPr lang="en-GB" b="1" dirty="0"/>
              <a:t>Escalation of Commitment</a:t>
            </a:r>
            <a:r>
              <a:rPr lang="en-GB" dirty="0"/>
              <a:t>’</a:t>
            </a:r>
          </a:p>
          <a:p>
            <a:pPr hangingPunct="0"/>
            <a:endParaRPr lang="en-US" b="1" dirty="0"/>
          </a:p>
          <a:p>
            <a:pPr hangingPunct="0"/>
            <a:r>
              <a:rPr lang="en-US" dirty="0"/>
              <a:t>1. Under bounded rationality, </a:t>
            </a:r>
            <a:r>
              <a:rPr lang="en-US" dirty="0">
                <a:cs typeface="Arial" charset="0"/>
              </a:rPr>
              <a:t>because managers can not possibly </a:t>
            </a:r>
            <a:r>
              <a:rPr lang="en-US" dirty="0" err="1">
                <a:cs typeface="Arial" charset="0"/>
              </a:rPr>
              <a:t>analyse</a:t>
            </a:r>
            <a:r>
              <a:rPr lang="en-US" dirty="0">
                <a:cs typeface="Arial" charset="0"/>
              </a:rPr>
              <a:t> all  information, on all alternatives, managers </a:t>
            </a:r>
            <a:r>
              <a:rPr lang="en-US" b="1" dirty="0" err="1">
                <a:cs typeface="Arial" charset="0"/>
              </a:rPr>
              <a:t>satisfice</a:t>
            </a:r>
            <a:r>
              <a:rPr lang="en-US" dirty="0">
                <a:cs typeface="Arial" charset="0"/>
              </a:rPr>
              <a:t>, rather than </a:t>
            </a:r>
            <a:r>
              <a:rPr lang="en-US" dirty="0" err="1">
                <a:cs typeface="Arial" charset="0"/>
              </a:rPr>
              <a:t>maximise</a:t>
            </a:r>
            <a:r>
              <a:rPr lang="en-US" dirty="0">
                <a:cs typeface="Arial" charset="0"/>
              </a:rPr>
              <a:t>,</a:t>
            </a:r>
          </a:p>
          <a:p>
            <a:pPr hangingPunct="0"/>
            <a:endParaRPr lang="en-US" dirty="0">
              <a:cs typeface="Arial" charset="0"/>
            </a:endParaRPr>
          </a:p>
          <a:p>
            <a:pPr hangingPunct="0"/>
            <a:r>
              <a:rPr lang="en-US" dirty="0"/>
              <a:t>Managers make </a:t>
            </a:r>
            <a:r>
              <a:rPr lang="en-US" b="1" dirty="0"/>
              <a:t>satisficing</a:t>
            </a:r>
            <a:r>
              <a:rPr lang="en-US" dirty="0"/>
              <a:t> decisions, in which they accept solutions that are “good enough.”</a:t>
            </a:r>
          </a:p>
          <a:p>
            <a:pPr hangingPunct="0"/>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pic>
        <p:nvPicPr>
          <p:cNvPr id="109570" name="Picture 2" descr="http://207.199.174.56/img/dNxbaWhjBD_satisficinginspirationaqx1.jpg"/>
          <p:cNvPicPr>
            <a:picLocks noChangeAspect="1" noChangeArrowheads="1"/>
          </p:cNvPicPr>
          <p:nvPr/>
        </p:nvPicPr>
        <p:blipFill>
          <a:blip r:embed="rId2" cstate="print"/>
          <a:srcRect/>
          <a:stretch>
            <a:fillRect/>
          </a:stretch>
        </p:blipFill>
        <p:spPr bwMode="auto">
          <a:xfrm>
            <a:off x="838200" y="533400"/>
            <a:ext cx="7143750" cy="571500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371600"/>
          </a:xfrm>
        </p:spPr>
        <p:txBody>
          <a:bodyPr>
            <a:normAutofit/>
          </a:bodyPr>
          <a:lstStyle/>
          <a:p>
            <a:r>
              <a:rPr lang="en-US" sz="4000" dirty="0"/>
              <a:t>Making Decisions: </a:t>
            </a:r>
            <a:br>
              <a:rPr lang="en-US" sz="4000" dirty="0"/>
            </a:br>
            <a:r>
              <a:rPr lang="en-US" sz="4000" dirty="0"/>
              <a:t>Bounded Rationality</a:t>
            </a:r>
            <a:endParaRPr lang="en-IE" sz="4000" dirty="0"/>
          </a:p>
        </p:txBody>
      </p:sp>
      <p:sp>
        <p:nvSpPr>
          <p:cNvPr id="3" name="Content Placeholder 2"/>
          <p:cNvSpPr>
            <a:spLocks noGrp="1"/>
          </p:cNvSpPr>
          <p:nvPr>
            <p:ph idx="1"/>
          </p:nvPr>
        </p:nvSpPr>
        <p:spPr>
          <a:xfrm>
            <a:off x="685800" y="1981200"/>
            <a:ext cx="8001000" cy="4495800"/>
          </a:xfrm>
        </p:spPr>
        <p:txBody>
          <a:bodyPr>
            <a:normAutofit/>
          </a:bodyPr>
          <a:lstStyle/>
          <a:p>
            <a:r>
              <a:rPr lang="en-US" sz="2600" dirty="0">
                <a:cs typeface="Arial" charset="0"/>
              </a:rPr>
              <a:t>A manager’s decision making is also likely influenced by the </a:t>
            </a:r>
            <a:r>
              <a:rPr lang="en-US" sz="2600" dirty="0" err="1">
                <a:cs typeface="Arial" charset="0"/>
              </a:rPr>
              <a:t>organisation’s</a:t>
            </a:r>
            <a:r>
              <a:rPr lang="en-US" sz="2600" dirty="0">
                <a:cs typeface="Arial" charset="0"/>
              </a:rPr>
              <a:t> culture, internal politics, power considerations, and….</a:t>
            </a:r>
          </a:p>
          <a:p>
            <a:pPr>
              <a:buNone/>
            </a:pPr>
            <a:endParaRPr lang="en-US" sz="2600" dirty="0">
              <a:cs typeface="Arial" charset="0"/>
            </a:endParaRPr>
          </a:p>
          <a:p>
            <a:r>
              <a:rPr lang="en-US" sz="2600" dirty="0">
                <a:cs typeface="Arial" charset="0"/>
              </a:rPr>
              <a:t> ……. by a phenomenon called </a:t>
            </a:r>
            <a:r>
              <a:rPr lang="en-US" sz="2600" b="1" dirty="0">
                <a:cs typeface="Arial" charset="0"/>
              </a:rPr>
              <a:t>escalation of commitment</a:t>
            </a:r>
            <a:r>
              <a:rPr lang="en-US" sz="2600" dirty="0">
                <a:cs typeface="Arial" charset="0"/>
              </a:rPr>
              <a:t>, </a:t>
            </a:r>
          </a:p>
          <a:p>
            <a:endParaRPr lang="en-US" sz="2600" dirty="0">
              <a:cs typeface="Arial" charset="0"/>
            </a:endParaRPr>
          </a:p>
          <a:p>
            <a:r>
              <a:rPr lang="en-US" sz="2600" b="1" dirty="0">
                <a:cs typeface="Arial" charset="0"/>
              </a:rPr>
              <a:t>Escalation of commitment </a:t>
            </a:r>
            <a:r>
              <a:rPr lang="en-US" sz="2600" dirty="0">
                <a:cs typeface="Arial" charset="0"/>
              </a:rPr>
              <a:t>- An increased commitment to a previous decision despite evidence that it may have been wrong!</a:t>
            </a:r>
          </a:p>
          <a:p>
            <a:endParaRPr lang="en-US" b="1" dirty="0"/>
          </a:p>
          <a:p>
            <a:endParaRPr lang="en-US" sz="2400" dirty="0"/>
          </a:p>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r>
              <a:rPr lang="en-GB" sz="4000" dirty="0"/>
              <a:t>Escalation of Commitment!</a:t>
            </a:r>
            <a:endParaRPr lang="en-US" sz="4000"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pic>
        <p:nvPicPr>
          <p:cNvPr id="110594" name="Picture 2" descr="http://www.web-books.com/eLibrary/Books/B0/B58/IMG/fwk-carpenter-fig11_011.jpg"/>
          <p:cNvPicPr>
            <a:picLocks noChangeAspect="1" noChangeArrowheads="1"/>
          </p:cNvPicPr>
          <p:nvPr/>
        </p:nvPicPr>
        <p:blipFill>
          <a:blip r:embed="rId2" cstate="print"/>
          <a:srcRect/>
          <a:stretch>
            <a:fillRect/>
          </a:stretch>
        </p:blipFill>
        <p:spPr bwMode="auto">
          <a:xfrm>
            <a:off x="1981200" y="1447800"/>
            <a:ext cx="5410200" cy="4867657"/>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normAutofit/>
          </a:bodyPr>
          <a:lstStyle/>
          <a:p>
            <a:r>
              <a:rPr lang="en-GB" sz="4400" dirty="0"/>
              <a:t>Escalation of Commitment!</a:t>
            </a:r>
            <a:endParaRPr lang="en-US" sz="4400"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pic>
        <p:nvPicPr>
          <p:cNvPr id="111618" name="Picture 2" descr="http://litreactor.com/sites/default/files/images/column/Lists/escalation-of-commitment.jpg"/>
          <p:cNvPicPr>
            <a:picLocks noChangeAspect="1" noChangeArrowheads="1"/>
          </p:cNvPicPr>
          <p:nvPr/>
        </p:nvPicPr>
        <p:blipFill>
          <a:blip r:embed="rId2" cstate="print"/>
          <a:srcRect/>
          <a:stretch>
            <a:fillRect/>
          </a:stretch>
        </p:blipFill>
        <p:spPr bwMode="auto">
          <a:xfrm>
            <a:off x="1219200" y="1676400"/>
            <a:ext cx="6785719" cy="434340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Making Decisions: </a:t>
            </a:r>
            <a:br>
              <a:rPr lang="en-US" dirty="0"/>
            </a:br>
            <a:r>
              <a:rPr lang="en-US" dirty="0"/>
              <a:t>The Role of Intuition</a:t>
            </a:r>
          </a:p>
        </p:txBody>
      </p:sp>
      <p:sp>
        <p:nvSpPr>
          <p:cNvPr id="3" name="Content Placeholder 2"/>
          <p:cNvSpPr>
            <a:spLocks noGrp="1"/>
          </p:cNvSpPr>
          <p:nvPr>
            <p:ph sz="half" idx="1"/>
          </p:nvPr>
        </p:nvSpPr>
        <p:spPr>
          <a:xfrm>
            <a:off x="457200" y="1600200"/>
            <a:ext cx="4038600" cy="4724400"/>
          </a:xfrm>
          <a:ln>
            <a:solidFill>
              <a:schemeClr val="accent1">
                <a:lumMod val="75000"/>
              </a:schemeClr>
            </a:solidFill>
          </a:ln>
        </p:spPr>
        <p:txBody>
          <a:bodyPr>
            <a:normAutofit fontScale="70000" lnSpcReduction="20000"/>
          </a:bodyPr>
          <a:lstStyle/>
          <a:p>
            <a:pPr marL="342900" indent="-342900" eaLnBrk="0" hangingPunct="0">
              <a:spcBef>
                <a:spcPct val="50000"/>
              </a:spcBef>
              <a:buFont typeface="Arial" charset="0"/>
              <a:buChar char="•"/>
            </a:pPr>
            <a:r>
              <a:rPr lang="en-US" sz="3100" b="1" dirty="0">
                <a:cs typeface="Arial" charset="0"/>
              </a:rPr>
              <a:t>Intuitive decision- making</a:t>
            </a:r>
          </a:p>
          <a:p>
            <a:pPr marL="914400" lvl="1" indent="-457200" eaLnBrk="0" hangingPunct="0">
              <a:spcBef>
                <a:spcPct val="50000"/>
              </a:spcBef>
            </a:pPr>
            <a:r>
              <a:rPr lang="en-US" sz="3100" dirty="0">
                <a:cs typeface="Arial" charset="0"/>
              </a:rPr>
              <a:t>A subconscious process of making decisions on the basis of experience, feelings, and accumulated judgment.</a:t>
            </a:r>
          </a:p>
          <a:p>
            <a:endParaRPr lang="en-US" sz="3100" dirty="0">
              <a:cs typeface="Arial" charset="0"/>
            </a:endParaRPr>
          </a:p>
          <a:p>
            <a:r>
              <a:rPr lang="en-GB" sz="3100" dirty="0">
                <a:cs typeface="Arial" charset="0"/>
              </a:rPr>
              <a:t>Managers regularly use their intuition. </a:t>
            </a:r>
          </a:p>
          <a:p>
            <a:endParaRPr lang="en-GB" sz="3100" dirty="0">
              <a:cs typeface="Arial" charset="0"/>
            </a:endParaRPr>
          </a:p>
          <a:p>
            <a:r>
              <a:rPr lang="en-US" dirty="0"/>
              <a:t>Making decisions on the basis of gut feeling does not necessarily happen independently of rational analysis; the two complement each other. </a:t>
            </a:r>
          </a:p>
          <a:p>
            <a:endParaRPr lang="en-US" dirty="0"/>
          </a:p>
        </p:txBody>
      </p:sp>
      <p:sp>
        <p:nvSpPr>
          <p:cNvPr id="4" name="Content Placeholder 3"/>
          <p:cNvSpPr>
            <a:spLocks noGrp="1"/>
          </p:cNvSpPr>
          <p:nvPr>
            <p:ph sz="half" idx="2"/>
          </p:nvPr>
        </p:nvSpPr>
        <p:spPr>
          <a:xfrm>
            <a:off x="4648200" y="1600200"/>
            <a:ext cx="4038600" cy="4724400"/>
          </a:xfrm>
          <a:ln>
            <a:solidFill>
              <a:schemeClr val="accent1">
                <a:lumMod val="75000"/>
              </a:schemeClr>
            </a:solidFill>
          </a:ln>
        </p:spPr>
        <p:txBody>
          <a:bodyPr>
            <a:normAutofit fontScale="70000" lnSpcReduction="20000"/>
          </a:bodyPr>
          <a:lstStyle/>
          <a:p>
            <a:pPr hangingPunct="0"/>
            <a:r>
              <a:rPr lang="en-US" dirty="0"/>
              <a:t>Although intuitive decision making will not replace the rational decision-making process, it does play an important role in managerial decision making.</a:t>
            </a:r>
          </a:p>
          <a:p>
            <a:pPr hangingPunct="0"/>
            <a:endParaRPr lang="en-US" dirty="0"/>
          </a:p>
          <a:p>
            <a:r>
              <a:rPr lang="en-US" sz="2600" dirty="0">
                <a:cs typeface="Arial" charset="0"/>
              </a:rPr>
              <a:t>Researchers studying managers’ use of intuitive decision making have identified five different aspects of intuition, which are described in the next slide.</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41</a:t>
            </a:fld>
            <a:endParaRPr lang="en-US"/>
          </a:p>
        </p:txBody>
      </p:sp>
      <p:pic>
        <p:nvPicPr>
          <p:cNvPr id="6" name="Picture 2"/>
          <p:cNvPicPr>
            <a:picLocks noChangeAspect="1" noChangeArrowheads="1"/>
          </p:cNvPicPr>
          <p:nvPr/>
        </p:nvPicPr>
        <p:blipFill>
          <a:blip r:embed="rId2" cstate="print"/>
          <a:stretch>
            <a:fillRect/>
          </a:stretch>
        </p:blipFill>
        <p:spPr bwMode="auto">
          <a:xfrm>
            <a:off x="5029200" y="4419600"/>
            <a:ext cx="3429000" cy="1691637"/>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Grp="1" noChangeAspect="1" noChangeArrowheads="1"/>
          </p:cNvPicPr>
          <p:nvPr>
            <p:ph idx="1"/>
          </p:nvPr>
        </p:nvPicPr>
        <p:blipFill>
          <a:blip r:embed="rId2" cstate="print"/>
          <a:srcRect/>
          <a:stretch>
            <a:fillRect/>
          </a:stretch>
        </p:blipFill>
        <p:spPr bwMode="auto">
          <a:xfrm>
            <a:off x="533400" y="1295400"/>
            <a:ext cx="8153400" cy="5284611"/>
          </a:xfrm>
          <a:prstGeom prst="rect">
            <a:avLst/>
          </a:prstGeom>
          <a:noFill/>
          <a:ln w="9525">
            <a:noFill/>
            <a:miter lim="800000"/>
            <a:headEnd/>
            <a:tailEnd/>
          </a:ln>
        </p:spPr>
      </p:pic>
      <p:sp>
        <p:nvSpPr>
          <p:cNvPr id="2" name="Title 1"/>
          <p:cNvSpPr>
            <a:spLocks noGrp="1"/>
          </p:cNvSpPr>
          <p:nvPr>
            <p:ph type="title"/>
          </p:nvPr>
        </p:nvSpPr>
        <p:spPr>
          <a:xfrm>
            <a:off x="457200" y="304800"/>
            <a:ext cx="8229600" cy="762000"/>
          </a:xfrm>
        </p:spPr>
        <p:txBody>
          <a:bodyPr>
            <a:noAutofit/>
          </a:bodyPr>
          <a:lstStyle/>
          <a:p>
            <a:r>
              <a:rPr lang="en-US" sz="4000" dirty="0"/>
              <a:t>5 Different Aspects of Intuition </a:t>
            </a:r>
            <a:br>
              <a:rPr lang="en-US" sz="4000" dirty="0"/>
            </a:br>
            <a:r>
              <a:rPr lang="en-US" sz="1200" dirty="0"/>
              <a:t>(Source: Robbins &amp; Coulter, 2014)</a:t>
            </a:r>
            <a:endParaRPr lang="en-IE" sz="1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304800"/>
            <a:ext cx="8229600" cy="762000"/>
          </a:xfrm>
        </p:spPr>
        <p:txBody>
          <a:bodyPr>
            <a:normAutofit fontScale="90000"/>
          </a:bodyPr>
          <a:lstStyle/>
          <a:p>
            <a:r>
              <a:rPr lang="en-GB" dirty="0"/>
              <a:t>Intuition ….</a:t>
            </a:r>
            <a:endParaRPr lang="en-US" dirty="0"/>
          </a:p>
        </p:txBody>
      </p:sp>
      <p:sp>
        <p:nvSpPr>
          <p:cNvPr id="8" name="Content Placeholder 7"/>
          <p:cNvSpPr>
            <a:spLocks noGrp="1"/>
          </p:cNvSpPr>
          <p:nvPr>
            <p:ph idx="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43</a:t>
            </a:fld>
            <a:endParaRPr lang="en-US"/>
          </a:p>
        </p:txBody>
      </p:sp>
      <p:pic>
        <p:nvPicPr>
          <p:cNvPr id="112642" name="Picture 2" descr="http://nancymatthews.com/wp-content/uploads/2012/08/intuition-steve-jobs.jpg"/>
          <p:cNvPicPr>
            <a:picLocks noChangeAspect="1" noChangeArrowheads="1"/>
          </p:cNvPicPr>
          <p:nvPr/>
        </p:nvPicPr>
        <p:blipFill>
          <a:blip r:embed="rId2" cstate="print"/>
          <a:srcRect/>
          <a:stretch>
            <a:fillRect/>
          </a:stretch>
        </p:blipFill>
        <p:spPr bwMode="auto">
          <a:xfrm>
            <a:off x="1219200" y="1447800"/>
            <a:ext cx="7120561" cy="5133975"/>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6934200" cy="1447800"/>
          </a:xfrm>
        </p:spPr>
        <p:txBody>
          <a:bodyPr>
            <a:normAutofit/>
          </a:bodyPr>
          <a:lstStyle/>
          <a:p>
            <a:r>
              <a:rPr lang="en-US" sz="3600" dirty="0"/>
              <a:t>Making Decisions: The Role of Evidence-Based Management</a:t>
            </a:r>
          </a:p>
        </p:txBody>
      </p:sp>
      <p:sp>
        <p:nvSpPr>
          <p:cNvPr id="3" name="Content Placeholder 2"/>
          <p:cNvSpPr>
            <a:spLocks noGrp="1"/>
          </p:cNvSpPr>
          <p:nvPr>
            <p:ph idx="1"/>
          </p:nvPr>
        </p:nvSpPr>
        <p:spPr>
          <a:xfrm>
            <a:off x="457200" y="2362200"/>
            <a:ext cx="8229600" cy="3962400"/>
          </a:xfrm>
        </p:spPr>
        <p:txBody>
          <a:bodyPr>
            <a:normAutofit/>
          </a:bodyPr>
          <a:lstStyle/>
          <a:p>
            <a:r>
              <a:rPr lang="en-US" sz="2600" dirty="0"/>
              <a:t>The principle behind</a:t>
            </a:r>
            <a:r>
              <a:rPr lang="en-US" sz="2600" b="1" dirty="0"/>
              <a:t> evidence-based management (</a:t>
            </a:r>
            <a:r>
              <a:rPr lang="en-US" sz="2600" b="1" dirty="0" err="1"/>
              <a:t>EBMgt</a:t>
            </a:r>
            <a:r>
              <a:rPr lang="en-US" sz="2600" b="1" dirty="0"/>
              <a:t>) </a:t>
            </a:r>
            <a:r>
              <a:rPr lang="en-US" sz="2600" dirty="0"/>
              <a:t>is that any decision making process is likely to be enhanced through the use of relevant and reliable evidence. </a:t>
            </a:r>
          </a:p>
          <a:p>
            <a:pPr lvl="1"/>
            <a:r>
              <a:rPr lang="en-US" sz="2600" dirty="0">
                <a:cs typeface="Arial" charset="0"/>
              </a:rPr>
              <a:t> whether it is buying someone a birthday present or wondering which new washing machine to buy.</a:t>
            </a:r>
            <a:endParaRPr lang="en-US" sz="2600" dirty="0"/>
          </a:p>
          <a:p>
            <a:pPr>
              <a:buNone/>
            </a:pPr>
            <a:endParaRPr lang="en-US" sz="2600" dirty="0"/>
          </a:p>
          <a:p>
            <a:r>
              <a:rPr lang="en-US" sz="2600" dirty="0" err="1"/>
              <a:t>EBMgt</a:t>
            </a:r>
            <a:r>
              <a:rPr lang="en-US" sz="2600" dirty="0"/>
              <a:t> promotes the  ‘systematic’ use of the best available evidence to improve management practice.  </a:t>
            </a:r>
          </a:p>
          <a:p>
            <a:endParaRPr lang="en-US"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44</a:t>
            </a:fld>
            <a:endParaRPr lang="en-US"/>
          </a:p>
        </p:txBody>
      </p:sp>
      <p:pic>
        <p:nvPicPr>
          <p:cNvPr id="16386" name="Picture 2" descr="http://www.dalecarnegiewayindy.com/wp-content/uploads/2011/03/evidence-300x300.jpg"/>
          <p:cNvPicPr>
            <a:picLocks noChangeAspect="1" noChangeArrowheads="1"/>
          </p:cNvPicPr>
          <p:nvPr/>
        </p:nvPicPr>
        <p:blipFill>
          <a:blip r:embed="rId2" cstate="print"/>
          <a:srcRect/>
          <a:stretch>
            <a:fillRect/>
          </a:stretch>
        </p:blipFill>
        <p:spPr bwMode="auto">
          <a:xfrm>
            <a:off x="7048500" y="0"/>
            <a:ext cx="2095500" cy="22098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Autofit/>
          </a:bodyPr>
          <a:lstStyle/>
          <a:p>
            <a:r>
              <a:rPr lang="en-US" sz="3600" dirty="0"/>
              <a:t>Making Decisions: The Role of Evidence-Based Management</a:t>
            </a:r>
          </a:p>
        </p:txBody>
      </p:sp>
      <p:sp>
        <p:nvSpPr>
          <p:cNvPr id="3" name="Content Placeholder 2"/>
          <p:cNvSpPr>
            <a:spLocks noGrp="1"/>
          </p:cNvSpPr>
          <p:nvPr>
            <p:ph idx="1"/>
          </p:nvPr>
        </p:nvSpPr>
        <p:spPr>
          <a:xfrm>
            <a:off x="457200" y="1600200"/>
            <a:ext cx="8229600" cy="4876800"/>
          </a:xfrm>
        </p:spPr>
        <p:txBody>
          <a:bodyPr>
            <a:normAutofit fontScale="77500" lnSpcReduction="20000"/>
          </a:bodyPr>
          <a:lstStyle/>
          <a:p>
            <a:pPr lvl="0"/>
            <a:r>
              <a:rPr lang="en-US" sz="3100" dirty="0"/>
              <a:t>The four essential elements of </a:t>
            </a:r>
            <a:r>
              <a:rPr lang="en-US" sz="3100" dirty="0" err="1"/>
              <a:t>EBMgt</a:t>
            </a:r>
            <a:r>
              <a:rPr lang="en-US" sz="3100" dirty="0"/>
              <a:t> are;</a:t>
            </a:r>
          </a:p>
          <a:p>
            <a:pPr marL="843534" lvl="1" indent="-514350">
              <a:buFont typeface="+mj-lt"/>
              <a:buAutoNum type="arabicPeriod"/>
            </a:pPr>
            <a:r>
              <a:rPr lang="en-US" sz="3100" dirty="0"/>
              <a:t>the decision maker’s expertise and judgment,</a:t>
            </a:r>
          </a:p>
          <a:p>
            <a:pPr marL="843534" lvl="1" indent="-514350">
              <a:buFont typeface="+mj-lt"/>
              <a:buAutoNum type="arabicPeriod"/>
            </a:pPr>
            <a:r>
              <a:rPr lang="en-US" sz="3100" dirty="0"/>
              <a:t>external evidence that has been evaluated by the decision maker,</a:t>
            </a:r>
          </a:p>
          <a:p>
            <a:pPr marL="843534" lvl="1" indent="-514350">
              <a:buFont typeface="+mj-lt"/>
              <a:buAutoNum type="arabicPeriod"/>
            </a:pPr>
            <a:r>
              <a:rPr lang="en-US" sz="3100" dirty="0"/>
              <a:t>opinions, preferences,  and values of those who have a stake in the decision,</a:t>
            </a:r>
          </a:p>
          <a:p>
            <a:pPr marL="843534" lvl="1" indent="-514350">
              <a:buFont typeface="+mj-lt"/>
              <a:buAutoNum type="arabicPeriod"/>
            </a:pPr>
            <a:r>
              <a:rPr lang="en-US" sz="3100" dirty="0"/>
              <a:t>and relevant </a:t>
            </a:r>
            <a:r>
              <a:rPr lang="en-US" sz="3100" dirty="0" err="1"/>
              <a:t>organisational</a:t>
            </a:r>
            <a:r>
              <a:rPr lang="en-US" sz="3100" dirty="0"/>
              <a:t> (internal) factors such as context, circumstances, and </a:t>
            </a:r>
            <a:r>
              <a:rPr lang="en-US" sz="3100" dirty="0" err="1"/>
              <a:t>organisational</a:t>
            </a:r>
            <a:r>
              <a:rPr lang="en-US" sz="3100" dirty="0"/>
              <a:t> members.</a:t>
            </a:r>
          </a:p>
          <a:p>
            <a:pPr lvl="0"/>
            <a:endParaRPr lang="en-US" sz="4100" dirty="0"/>
          </a:p>
          <a:p>
            <a:pPr lvl="0"/>
            <a:r>
              <a:rPr lang="en-US" sz="3100" dirty="0"/>
              <a:t>The strength or influence of each of these elements on a decision will vary with each decision.</a:t>
            </a:r>
          </a:p>
          <a:p>
            <a:pPr lvl="0"/>
            <a:endParaRPr lang="en-US" sz="4100" dirty="0"/>
          </a:p>
          <a:p>
            <a:pPr lvl="0"/>
            <a:r>
              <a:rPr lang="en-US" sz="3100" dirty="0"/>
              <a:t>The key for managers is to </a:t>
            </a:r>
            <a:r>
              <a:rPr lang="en-US" sz="3100" dirty="0" err="1"/>
              <a:t>recognise</a:t>
            </a:r>
            <a:r>
              <a:rPr lang="en-US" sz="3100" dirty="0"/>
              <a:t> and understand the mindful, conscious choice as to which element(s) are most important and should be </a:t>
            </a:r>
            <a:r>
              <a:rPr lang="en-US" sz="3100" dirty="0" err="1"/>
              <a:t>emphasised</a:t>
            </a:r>
            <a:r>
              <a:rPr lang="en-US" sz="3100" dirty="0"/>
              <a:t> in making a decision.</a:t>
            </a:r>
          </a:p>
          <a:p>
            <a:pPr lvl="1">
              <a:buFont typeface="Arial" pitchFamily="34" charset="0"/>
              <a:buChar char="•"/>
            </a:pPr>
            <a:endParaRPr lang="en-US" sz="2400" dirty="0">
              <a:cs typeface="Arial" charset="0"/>
            </a:endParaRP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http://blogs-images.forbes.com/mikemyatt/files/2012/11/decision-making-processes1.jpg"/>
          <p:cNvPicPr>
            <a:picLocks noChangeAspect="1" noChangeArrowheads="1"/>
          </p:cNvPicPr>
          <p:nvPr/>
        </p:nvPicPr>
        <p:blipFill>
          <a:blip r:embed="rId2" cstate="print"/>
          <a:srcRect/>
          <a:stretch>
            <a:fillRect/>
          </a:stretch>
        </p:blipFill>
        <p:spPr bwMode="auto">
          <a:xfrm>
            <a:off x="4876801" y="4038600"/>
            <a:ext cx="4267200" cy="2819400"/>
          </a:xfrm>
          <a:prstGeom prst="rect">
            <a:avLst/>
          </a:prstGeom>
          <a:noFill/>
        </p:spPr>
      </p:pic>
      <p:sp>
        <p:nvSpPr>
          <p:cNvPr id="2" name="Title 1"/>
          <p:cNvSpPr>
            <a:spLocks noGrp="1"/>
          </p:cNvSpPr>
          <p:nvPr>
            <p:ph type="title"/>
          </p:nvPr>
        </p:nvSpPr>
        <p:spPr>
          <a:xfrm>
            <a:off x="457200" y="304800"/>
            <a:ext cx="8229600" cy="1447800"/>
          </a:xfrm>
        </p:spPr>
        <p:txBody>
          <a:bodyPr>
            <a:noAutofit/>
          </a:bodyPr>
          <a:lstStyle/>
          <a:p>
            <a:r>
              <a:rPr lang="en-US" sz="4400" dirty="0"/>
              <a:t>TYPES OF DECISIONS AND DECISION-MAKING CONDITIONS</a:t>
            </a:r>
          </a:p>
        </p:txBody>
      </p:sp>
      <p:sp>
        <p:nvSpPr>
          <p:cNvPr id="5" name="Content Placeholder 4"/>
          <p:cNvSpPr>
            <a:spLocks noGrp="1"/>
          </p:cNvSpPr>
          <p:nvPr>
            <p:ph idx="1"/>
          </p:nvPr>
        </p:nvSpPr>
        <p:spPr>
          <a:xfrm>
            <a:off x="457200" y="2057400"/>
            <a:ext cx="8229600" cy="1752601"/>
          </a:xfrm>
        </p:spPr>
        <p:txBody>
          <a:bodyPr>
            <a:normAutofit/>
          </a:bodyPr>
          <a:lstStyle/>
          <a:p>
            <a:r>
              <a:rPr lang="en-US" sz="3200" dirty="0"/>
              <a:t>Managers encounter different types of problems and use different types of decisions to resolve them.</a:t>
            </a:r>
          </a:p>
          <a:p>
            <a:endParaRPr lang="en-US" sz="3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pic>
        <p:nvPicPr>
          <p:cNvPr id="14340" name="Picture 4" descr="http://ronkarr.com/blog/wp-content/uploads/Decision-Making.jpg"/>
          <p:cNvPicPr>
            <a:picLocks noChangeAspect="1" noChangeArrowheads="1"/>
          </p:cNvPicPr>
          <p:nvPr/>
        </p:nvPicPr>
        <p:blipFill>
          <a:blip r:embed="rId3" cstate="print"/>
          <a:srcRect/>
          <a:stretch>
            <a:fillRect/>
          </a:stretch>
        </p:blipFill>
        <p:spPr bwMode="auto">
          <a:xfrm>
            <a:off x="0" y="4038600"/>
            <a:ext cx="4648200" cy="2819400"/>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Types of Decisions: </a:t>
            </a:r>
            <a:br>
              <a:rPr lang="en-US" dirty="0"/>
            </a:br>
            <a:r>
              <a:rPr lang="en-US" dirty="0"/>
              <a:t>Structured Problems </a:t>
            </a:r>
          </a:p>
        </p:txBody>
      </p:sp>
      <p:sp>
        <p:nvSpPr>
          <p:cNvPr id="3" name="Content Placeholder 2"/>
          <p:cNvSpPr>
            <a:spLocks noGrp="1"/>
          </p:cNvSpPr>
          <p:nvPr>
            <p:ph idx="1"/>
          </p:nvPr>
        </p:nvSpPr>
        <p:spPr>
          <a:xfrm>
            <a:off x="457200" y="1600200"/>
            <a:ext cx="8229600" cy="5029200"/>
          </a:xfrm>
        </p:spPr>
        <p:txBody>
          <a:bodyPr>
            <a:normAutofit lnSpcReduction="10000"/>
          </a:bodyPr>
          <a:lstStyle/>
          <a:p>
            <a:pPr>
              <a:buFont typeface="Arial" pitchFamily="34" charset="0"/>
              <a:buChar char="•"/>
            </a:pPr>
            <a:r>
              <a:rPr lang="en-US" dirty="0">
                <a:cs typeface="Arial" charset="0"/>
              </a:rPr>
              <a:t>Some problems are straightforward. </a:t>
            </a:r>
          </a:p>
          <a:p>
            <a:pPr>
              <a:buFont typeface="Arial" pitchFamily="34" charset="0"/>
              <a:buChar char="•"/>
            </a:pPr>
            <a:endParaRPr lang="en-US" dirty="0">
              <a:cs typeface="Arial" charset="0"/>
            </a:endParaRPr>
          </a:p>
          <a:p>
            <a:pPr>
              <a:buFont typeface="Arial" pitchFamily="34" charset="0"/>
              <a:buChar char="•"/>
            </a:pPr>
            <a:r>
              <a:rPr lang="en-US" sz="2600" b="1" dirty="0"/>
              <a:t>Structured problems</a:t>
            </a:r>
            <a:r>
              <a:rPr lang="en-US" sz="2600" dirty="0"/>
              <a:t> are straightforward, familiar, and easily defined. </a:t>
            </a:r>
          </a:p>
          <a:p>
            <a:pPr lvl="1">
              <a:buFont typeface="Arial" pitchFamily="34" charset="0"/>
              <a:buChar char="•"/>
            </a:pPr>
            <a:r>
              <a:rPr lang="en-US" sz="2300" dirty="0">
                <a:cs typeface="Arial" charset="0"/>
              </a:rPr>
              <a:t>The decision maker’s goal is clear, the problem is familiar, and information about the problem is easily defined and complete. </a:t>
            </a:r>
          </a:p>
          <a:p>
            <a:pPr lvl="1">
              <a:buFont typeface="Arial" pitchFamily="34" charset="0"/>
              <a:buChar char="•"/>
            </a:pPr>
            <a:r>
              <a:rPr lang="en-US" sz="2400" dirty="0">
                <a:cs typeface="Arial" charset="0"/>
              </a:rPr>
              <a:t>Because it is not an unusual occurrence, there is probably some </a:t>
            </a:r>
            <a:r>
              <a:rPr lang="en-US" sz="2400" dirty="0" err="1">
                <a:cs typeface="Arial" charset="0"/>
              </a:rPr>
              <a:t>standardised</a:t>
            </a:r>
            <a:r>
              <a:rPr lang="en-US" sz="2400" dirty="0">
                <a:cs typeface="Arial" charset="0"/>
              </a:rPr>
              <a:t> routine for handling it. </a:t>
            </a:r>
          </a:p>
          <a:p>
            <a:pPr hangingPunct="0"/>
            <a:endParaRPr lang="en-US" dirty="0"/>
          </a:p>
          <a:p>
            <a:pPr hangingPunct="0"/>
            <a:r>
              <a:rPr lang="en-US" sz="2600" dirty="0"/>
              <a:t>A manager may use a </a:t>
            </a:r>
            <a:r>
              <a:rPr lang="en-US" sz="2600" b="1" dirty="0"/>
              <a:t>programmed decision,</a:t>
            </a:r>
            <a:r>
              <a:rPr lang="en-US" sz="2600" dirty="0"/>
              <a:t> which is a repetitive decision that can be handled by a routine approach. </a:t>
            </a:r>
          </a:p>
          <a:p>
            <a:pPr hangingPunct="0"/>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82" name="Picture 10" descr="http://thumbs.dreamstime.com/z/overcome-problem-solution-25779696.jpg"/>
          <p:cNvPicPr>
            <a:picLocks noChangeAspect="1" noChangeArrowheads="1"/>
          </p:cNvPicPr>
          <p:nvPr/>
        </p:nvPicPr>
        <p:blipFill>
          <a:blip r:embed="rId2" cstate="print"/>
          <a:srcRect/>
          <a:stretch>
            <a:fillRect/>
          </a:stretch>
        </p:blipFill>
        <p:spPr bwMode="auto">
          <a:xfrm>
            <a:off x="6921350" y="0"/>
            <a:ext cx="2222650" cy="1820863"/>
          </a:xfrm>
          <a:prstGeom prst="rect">
            <a:avLst/>
          </a:prstGeom>
          <a:noFill/>
        </p:spPr>
      </p:pic>
      <p:sp>
        <p:nvSpPr>
          <p:cNvPr id="2" name="Title 1"/>
          <p:cNvSpPr>
            <a:spLocks noGrp="1"/>
          </p:cNvSpPr>
          <p:nvPr>
            <p:ph type="title"/>
          </p:nvPr>
        </p:nvSpPr>
        <p:spPr>
          <a:xfrm>
            <a:off x="457200" y="304800"/>
            <a:ext cx="6248400" cy="1143000"/>
          </a:xfrm>
        </p:spPr>
        <p:txBody>
          <a:bodyPr>
            <a:noAutofit/>
          </a:bodyPr>
          <a:lstStyle/>
          <a:p>
            <a:r>
              <a:rPr lang="en-US" sz="3600" dirty="0"/>
              <a:t>Structured Problems and Programmed Decisions</a:t>
            </a:r>
          </a:p>
        </p:txBody>
      </p:sp>
      <p:sp>
        <p:nvSpPr>
          <p:cNvPr id="3" name="Content Placeholder 2"/>
          <p:cNvSpPr>
            <a:spLocks noGrp="1"/>
          </p:cNvSpPr>
          <p:nvPr>
            <p:ph idx="1"/>
          </p:nvPr>
        </p:nvSpPr>
        <p:spPr>
          <a:xfrm>
            <a:off x="457200" y="1905000"/>
            <a:ext cx="8229600" cy="4572000"/>
          </a:xfrm>
        </p:spPr>
        <p:txBody>
          <a:bodyPr>
            <a:normAutofit fontScale="77500" lnSpcReduction="20000"/>
          </a:bodyPr>
          <a:lstStyle/>
          <a:p>
            <a:r>
              <a:rPr lang="en-US" sz="3300" b="1" dirty="0"/>
              <a:t>Programmed decision – </a:t>
            </a:r>
            <a:r>
              <a:rPr lang="en-US" sz="3300" dirty="0"/>
              <a:t>a  repetitive decision that can be handled by a routine approach</a:t>
            </a:r>
            <a:endParaRPr lang="en-US" sz="2400" dirty="0"/>
          </a:p>
          <a:p>
            <a:endParaRPr lang="en-US" dirty="0">
              <a:cs typeface="Arial" charset="0"/>
            </a:endParaRPr>
          </a:p>
          <a:p>
            <a:r>
              <a:rPr lang="en-US" dirty="0">
                <a:cs typeface="Arial" charset="0"/>
              </a:rPr>
              <a:t>Because the problem is structured, the manager does not have to go to the trouble and expense of going through an involved decision process. </a:t>
            </a:r>
          </a:p>
          <a:p>
            <a:endParaRPr lang="en-US" dirty="0">
              <a:cs typeface="Arial" charset="0"/>
            </a:endParaRPr>
          </a:p>
          <a:p>
            <a:r>
              <a:rPr lang="en-US" dirty="0">
                <a:cs typeface="Arial" charset="0"/>
              </a:rPr>
              <a:t>The “develop-the-alternatives” stage of the decision-making process either doesn’t exist or is given little attention. </a:t>
            </a:r>
          </a:p>
          <a:p>
            <a:endParaRPr lang="en-US" dirty="0">
              <a:cs typeface="Arial" charset="0"/>
            </a:endParaRPr>
          </a:p>
          <a:p>
            <a:r>
              <a:rPr lang="en-US" dirty="0">
                <a:cs typeface="Arial" charset="0"/>
              </a:rPr>
              <a:t>Why? </a:t>
            </a:r>
          </a:p>
          <a:p>
            <a:endParaRPr lang="en-US" dirty="0">
              <a:cs typeface="Arial" charset="0"/>
            </a:endParaRPr>
          </a:p>
          <a:p>
            <a:r>
              <a:rPr lang="en-US" dirty="0">
                <a:cs typeface="Arial" charset="0"/>
              </a:rPr>
              <a:t>Because once the structured problem is defined, the solution is usually self-evident or at least reduced to a few alternatives that are familiar and have proved successful in the past.</a:t>
            </a:r>
          </a:p>
          <a:p>
            <a:pPr marL="342900" indent="-342900" eaLnBrk="0" hangingPunct="0">
              <a:spcBef>
                <a:spcPct val="20000"/>
              </a:spcBef>
              <a:buFont typeface="Arial" charset="0"/>
              <a:buChar char="•"/>
            </a:pPr>
            <a:endParaRPr lang="en-US" dirty="0">
              <a:latin typeface="Calibri" pitchFamily="34" charset="0"/>
            </a:endParaRP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a:p>
        </p:txBody>
      </p:sp>
      <p:sp>
        <p:nvSpPr>
          <p:cNvPr id="54274" name="AutoShape 2" descr="http://3.s3.envato.com/files/171139.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4276" name="AutoShape 4" descr="http://3.s3.envato.com/files/171139.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4278" name="AutoShape 6" descr="http://3.s3.envato.com/files/171139.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4280" name="AutoShape 8" descr="http://3.s3.envato.com/files/171139.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idx="4294967295"/>
          </p:nvPr>
        </p:nvSpPr>
        <p:spPr>
          <a:xfrm>
            <a:off x="457200" y="304800"/>
            <a:ext cx="8229600" cy="1143000"/>
          </a:xfrm>
        </p:spPr>
        <p:txBody>
          <a:bodyPr>
            <a:noAutofit/>
          </a:bodyPr>
          <a:lstStyle/>
          <a:p>
            <a:r>
              <a:rPr lang="en-US" sz="4000" dirty="0"/>
              <a:t>Structured Problems and Programmed Decisions</a:t>
            </a:r>
            <a:endParaRPr lang="en-US" sz="4000" dirty="0">
              <a:latin typeface="Calibri" pitchFamily="34" charset="0"/>
            </a:endParaRPr>
          </a:p>
        </p:txBody>
      </p:sp>
      <p:sp>
        <p:nvSpPr>
          <p:cNvPr id="74754" name="Rectangle 3"/>
          <p:cNvSpPr txBox="1">
            <a:spLocks/>
          </p:cNvSpPr>
          <p:nvPr/>
        </p:nvSpPr>
        <p:spPr bwMode="auto">
          <a:xfrm>
            <a:off x="381000" y="1676400"/>
            <a:ext cx="8229600" cy="3048000"/>
          </a:xfrm>
          <a:prstGeom prst="rect">
            <a:avLst/>
          </a:prstGeom>
          <a:noFill/>
          <a:ln w="9525">
            <a:noFill/>
            <a:miter lim="800000"/>
            <a:headEnd/>
            <a:tailEnd/>
          </a:ln>
        </p:spPr>
        <p:txBody>
          <a:bodyPr/>
          <a:lstStyle/>
          <a:p>
            <a:pPr indent="-274320">
              <a:lnSpc>
                <a:spcPct val="80000"/>
              </a:lnSpc>
              <a:spcBef>
                <a:spcPct val="20000"/>
              </a:spcBef>
              <a:buClr>
                <a:schemeClr val="accent1"/>
              </a:buClr>
              <a:buSzPct val="80000"/>
              <a:buFont typeface="Wingdings 2" pitchFamily="18" charset="2"/>
              <a:buChar char=""/>
            </a:pPr>
            <a:r>
              <a:rPr lang="en-US" sz="2400" dirty="0"/>
              <a:t>Managers rely on three types of programmed decisions</a:t>
            </a:r>
          </a:p>
          <a:p>
            <a:pPr indent="-274320">
              <a:lnSpc>
                <a:spcPct val="80000"/>
              </a:lnSpc>
              <a:spcBef>
                <a:spcPct val="20000"/>
              </a:spcBef>
              <a:buClr>
                <a:schemeClr val="accent1"/>
              </a:buClr>
              <a:buSzPct val="80000"/>
              <a:buFont typeface="Wingdings 2" pitchFamily="18" charset="2"/>
              <a:buChar char=""/>
            </a:pPr>
            <a:endParaRPr lang="en-GB" sz="1400" dirty="0"/>
          </a:p>
          <a:p>
            <a:pPr indent="-274320">
              <a:lnSpc>
                <a:spcPct val="80000"/>
              </a:lnSpc>
              <a:spcBef>
                <a:spcPct val="20000"/>
              </a:spcBef>
              <a:buClr>
                <a:schemeClr val="accent1"/>
              </a:buClr>
              <a:buSzPct val="80000"/>
              <a:buFont typeface="Wingdings 2" pitchFamily="18" charset="2"/>
              <a:buChar char=""/>
            </a:pPr>
            <a:r>
              <a:rPr lang="en-GB" sz="2400" dirty="0"/>
              <a:t>Procedures, Rules  and Policies</a:t>
            </a:r>
          </a:p>
          <a:p>
            <a:pPr indent="-274320">
              <a:lnSpc>
                <a:spcPct val="80000"/>
              </a:lnSpc>
              <a:spcBef>
                <a:spcPct val="20000"/>
              </a:spcBef>
              <a:buClr>
                <a:schemeClr val="accent1"/>
              </a:buClr>
              <a:buSzPct val="80000"/>
              <a:buFont typeface="Wingdings 2" pitchFamily="18" charset="2"/>
              <a:buChar char=""/>
            </a:pPr>
            <a:endParaRPr lang="en-US" sz="1600" dirty="0"/>
          </a:p>
          <a:p>
            <a:pPr indent="-274320">
              <a:lnSpc>
                <a:spcPct val="80000"/>
              </a:lnSpc>
              <a:spcBef>
                <a:spcPct val="20000"/>
              </a:spcBef>
              <a:buClr>
                <a:schemeClr val="accent1"/>
              </a:buClr>
              <a:buSzPct val="80000"/>
              <a:buFont typeface="Wingdings 2" pitchFamily="18" charset="2"/>
              <a:buChar char=""/>
            </a:pPr>
            <a:r>
              <a:rPr lang="en-US" sz="2000" b="1" dirty="0">
                <a:ea typeface="+mn-lt"/>
                <a:cs typeface="Arial" charset="0"/>
              </a:rPr>
              <a:t>1. Procedure</a:t>
            </a:r>
            <a:r>
              <a:rPr lang="en-US" sz="2000" dirty="0">
                <a:ea typeface="+mn-lt"/>
                <a:cs typeface="Arial" charset="0"/>
              </a:rPr>
              <a:t> - a series of sequential steps a manager uses to respond to a structured problem.</a:t>
            </a:r>
          </a:p>
          <a:p>
            <a:pPr lvl="1" indent="-274320">
              <a:lnSpc>
                <a:spcPct val="80000"/>
              </a:lnSpc>
              <a:spcBef>
                <a:spcPct val="20000"/>
              </a:spcBef>
              <a:buClr>
                <a:schemeClr val="accent1"/>
              </a:buClr>
              <a:buSzPct val="80000"/>
              <a:buFont typeface="Wingdings 2" pitchFamily="18" charset="2"/>
              <a:buChar char=""/>
            </a:pPr>
            <a:r>
              <a:rPr lang="en-US" sz="2000" dirty="0">
                <a:cs typeface="Arial" charset="0"/>
              </a:rPr>
              <a:t>The only difficulty is identifying the problem. </a:t>
            </a:r>
          </a:p>
          <a:p>
            <a:pPr lvl="1" indent="-274320">
              <a:lnSpc>
                <a:spcPct val="80000"/>
              </a:lnSpc>
              <a:spcBef>
                <a:spcPct val="20000"/>
              </a:spcBef>
              <a:buClr>
                <a:schemeClr val="accent1"/>
              </a:buClr>
              <a:buSzPct val="80000"/>
              <a:buFont typeface="Wingdings 2" pitchFamily="18" charset="2"/>
              <a:buChar char=""/>
            </a:pPr>
            <a:r>
              <a:rPr lang="en-US" sz="2000" dirty="0">
                <a:cs typeface="Arial" charset="0"/>
              </a:rPr>
              <a:t>Once it is clear, so is the procedure. </a:t>
            </a:r>
          </a:p>
          <a:p>
            <a:pPr lvl="2" indent="-274320">
              <a:lnSpc>
                <a:spcPct val="80000"/>
              </a:lnSpc>
              <a:spcBef>
                <a:spcPct val="20000"/>
              </a:spcBef>
              <a:buClr>
                <a:schemeClr val="accent1"/>
              </a:buClr>
              <a:buSzPct val="80000"/>
              <a:buFont typeface="Wingdings 2" pitchFamily="18" charset="2"/>
              <a:buChar char=""/>
            </a:pPr>
            <a:r>
              <a:rPr lang="en-US" dirty="0">
                <a:cs typeface="Arial" charset="0"/>
              </a:rPr>
              <a:t>E.G.; a purchasing manager receives a request from a warehouse manager for 15 computer tablets for the inventory clerks.</a:t>
            </a:r>
          </a:p>
          <a:p>
            <a:pPr indent="-274320">
              <a:lnSpc>
                <a:spcPct val="80000"/>
              </a:lnSpc>
              <a:spcBef>
                <a:spcPct val="20000"/>
              </a:spcBef>
              <a:buClr>
                <a:schemeClr val="accent1"/>
              </a:buClr>
              <a:buSzPct val="80000"/>
              <a:buFont typeface="Wingdings 2" pitchFamily="18" charset="2"/>
              <a:buChar char=""/>
            </a:pPr>
            <a:endParaRPr lang="en-US" b="1" dirty="0"/>
          </a:p>
        </p:txBody>
      </p:sp>
      <p:sp>
        <p:nvSpPr>
          <p:cNvPr id="4" name="Slide Number Placeholder 3"/>
          <p:cNvSpPr>
            <a:spLocks noGrp="1"/>
          </p:cNvSpPr>
          <p:nvPr>
            <p:ph type="sldNum" sz="quarter" idx="11"/>
          </p:nvPr>
        </p:nvSpPr>
        <p:spPr/>
        <p:txBody>
          <a:bodyPr/>
          <a:lstStyle/>
          <a:p>
            <a:fld id="{B6F15528-21DE-4FAA-801E-634DDDAF4B2B}" type="slidenum">
              <a:rPr lang="en-US" smtClean="0"/>
              <a:pPr/>
              <a:t>49</a:t>
            </a:fld>
            <a:endParaRPr lang="en-US"/>
          </a:p>
        </p:txBody>
      </p:sp>
      <p:pic>
        <p:nvPicPr>
          <p:cNvPr id="53252" name="Picture 4" descr="http://theheartof.com.au/wp-content/uploads/2012/04/Relax-with-procedures.jpg"/>
          <p:cNvPicPr>
            <a:picLocks noChangeAspect="1" noChangeArrowheads="1"/>
          </p:cNvPicPr>
          <p:nvPr/>
        </p:nvPicPr>
        <p:blipFill>
          <a:blip r:embed="rId3" cstate="print"/>
          <a:srcRect/>
          <a:stretch>
            <a:fillRect/>
          </a:stretch>
        </p:blipFill>
        <p:spPr bwMode="auto">
          <a:xfrm>
            <a:off x="1219200" y="4876800"/>
            <a:ext cx="6858000" cy="1981200"/>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95400"/>
          </a:xfrm>
        </p:spPr>
        <p:txBody>
          <a:bodyPr>
            <a:normAutofit fontScale="90000"/>
          </a:bodyPr>
          <a:lstStyle/>
          <a:p>
            <a:r>
              <a:rPr lang="en-US" dirty="0"/>
              <a:t>Structured Problems and Programmed Decisions</a:t>
            </a:r>
          </a:p>
        </p:txBody>
      </p:sp>
      <p:sp>
        <p:nvSpPr>
          <p:cNvPr id="3" name="Content Placeholder 2"/>
          <p:cNvSpPr>
            <a:spLocks noGrp="1"/>
          </p:cNvSpPr>
          <p:nvPr>
            <p:ph sz="half" idx="1"/>
          </p:nvPr>
        </p:nvSpPr>
        <p:spPr>
          <a:xfrm>
            <a:off x="457200" y="2057401"/>
            <a:ext cx="4419600" cy="4267200"/>
          </a:xfrm>
          <a:ln>
            <a:solidFill>
              <a:schemeClr val="accent2">
                <a:lumMod val="60000"/>
                <a:lumOff val="40000"/>
              </a:schemeClr>
            </a:solidFill>
          </a:ln>
        </p:spPr>
        <p:txBody>
          <a:bodyPr/>
          <a:lstStyle/>
          <a:p>
            <a:pPr>
              <a:lnSpc>
                <a:spcPct val="80000"/>
              </a:lnSpc>
              <a:spcBef>
                <a:spcPct val="20000"/>
              </a:spcBef>
            </a:pPr>
            <a:r>
              <a:rPr lang="en-US" sz="2600" b="1" dirty="0"/>
              <a:t>2. Rule - </a:t>
            </a:r>
            <a:r>
              <a:rPr lang="en-US" sz="2600" dirty="0"/>
              <a:t>an explicit statement that tells managers what can or can not be done.</a:t>
            </a:r>
          </a:p>
          <a:p>
            <a:pPr lvl="1" indent="-274320">
              <a:lnSpc>
                <a:spcPct val="80000"/>
              </a:lnSpc>
              <a:spcBef>
                <a:spcPct val="20000"/>
              </a:spcBef>
              <a:buClr>
                <a:schemeClr val="accent1"/>
              </a:buClr>
              <a:buSzPct val="80000"/>
              <a:buFont typeface="Wingdings 2" pitchFamily="18" charset="2"/>
              <a:buChar char=""/>
            </a:pPr>
            <a:r>
              <a:rPr lang="en-US" sz="2600" dirty="0">
                <a:cs typeface="Arial" charset="0"/>
              </a:rPr>
              <a:t>Rules are frequently used because they are simple to follow and ensure consistency. </a:t>
            </a:r>
          </a:p>
          <a:p>
            <a:pPr lvl="2" indent="-274320">
              <a:lnSpc>
                <a:spcPct val="80000"/>
              </a:lnSpc>
              <a:spcBef>
                <a:spcPct val="20000"/>
              </a:spcBef>
              <a:buSzPct val="80000"/>
              <a:buFont typeface="Wingdings 2" pitchFamily="18" charset="2"/>
              <a:buChar char=""/>
            </a:pPr>
            <a:r>
              <a:rPr lang="en-US" sz="2400" dirty="0">
                <a:cs typeface="Arial" charset="0"/>
              </a:rPr>
              <a:t>E.G:  rules about lateness and absenteeism permit supervisors to make disciplinary decisions rapidly and fairly.</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a:p>
        </p:txBody>
      </p:sp>
      <p:pic>
        <p:nvPicPr>
          <p:cNvPr id="6" name="Picture 2" descr="http://sd.keepcalm-o-matic.co.uk/i/follow-all-the-damn-rules.png"/>
          <p:cNvPicPr>
            <a:picLocks noChangeAspect="1" noChangeArrowheads="1"/>
          </p:cNvPicPr>
          <p:nvPr/>
        </p:nvPicPr>
        <p:blipFill>
          <a:blip r:embed="rId2" cstate="print"/>
          <a:srcRect/>
          <a:stretch>
            <a:fillRect/>
          </a:stretch>
        </p:blipFill>
        <p:spPr bwMode="auto">
          <a:xfrm>
            <a:off x="5257800" y="2209800"/>
            <a:ext cx="3396343" cy="3962400"/>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5638800" cy="1143000"/>
          </a:xfrm>
        </p:spPr>
        <p:txBody>
          <a:bodyPr>
            <a:noAutofit/>
          </a:bodyPr>
          <a:lstStyle/>
          <a:p>
            <a:r>
              <a:rPr lang="en-US" sz="3600" dirty="0"/>
              <a:t>Structured Problems and Programmed Decisions </a:t>
            </a:r>
          </a:p>
        </p:txBody>
      </p:sp>
      <p:sp>
        <p:nvSpPr>
          <p:cNvPr id="3" name="Content Placeholder 2"/>
          <p:cNvSpPr>
            <a:spLocks noGrp="1"/>
          </p:cNvSpPr>
          <p:nvPr>
            <p:ph idx="1"/>
          </p:nvPr>
        </p:nvSpPr>
        <p:spPr>
          <a:xfrm>
            <a:off x="457200" y="1752600"/>
            <a:ext cx="8229600" cy="4876800"/>
          </a:xfrm>
        </p:spPr>
        <p:txBody>
          <a:bodyPr>
            <a:normAutofit/>
          </a:bodyPr>
          <a:lstStyle/>
          <a:p>
            <a:r>
              <a:rPr lang="en-US" sz="2600" b="1" dirty="0">
                <a:cs typeface="Arial" charset="0"/>
              </a:rPr>
              <a:t>3.</a:t>
            </a:r>
            <a:r>
              <a:rPr lang="en-US" sz="2600" dirty="0">
                <a:cs typeface="Arial" charset="0"/>
              </a:rPr>
              <a:t> Third type of programmed decisions                                  is a </a:t>
            </a:r>
            <a:r>
              <a:rPr lang="en-US" sz="2600" b="1" dirty="0">
                <a:cs typeface="Arial" charset="0"/>
              </a:rPr>
              <a:t>policy</a:t>
            </a:r>
            <a:r>
              <a:rPr lang="en-US" sz="2600" dirty="0">
                <a:cs typeface="Arial" charset="0"/>
              </a:rPr>
              <a:t>, a guideline for making a decision. </a:t>
            </a:r>
          </a:p>
          <a:p>
            <a:endParaRPr lang="en-US" sz="2600" dirty="0">
              <a:cs typeface="Arial" charset="0"/>
            </a:endParaRPr>
          </a:p>
          <a:p>
            <a:pPr lvl="1"/>
            <a:r>
              <a:rPr lang="en-US" sz="2400" dirty="0">
                <a:cs typeface="Arial" charset="0"/>
              </a:rPr>
              <a:t>In contrast to a rule, a policy establishes general parameters for the decision maker rather than specifically stating what should or should not be done. </a:t>
            </a:r>
          </a:p>
          <a:p>
            <a:endParaRPr lang="en-US" sz="1600" dirty="0">
              <a:cs typeface="Arial" charset="0"/>
            </a:endParaRPr>
          </a:p>
          <a:p>
            <a:pPr lvl="1"/>
            <a:r>
              <a:rPr lang="en-US" sz="2400" dirty="0">
                <a:cs typeface="Arial" charset="0"/>
              </a:rPr>
              <a:t>Policies typically contain an ambiguous term that leaves interpretation up to the decision maker.</a:t>
            </a:r>
          </a:p>
          <a:p>
            <a:pPr marL="342900" indent="-342900" eaLnBrk="0" hangingPunct="0">
              <a:spcBef>
                <a:spcPct val="20000"/>
              </a:spcBef>
              <a:buFont typeface="Arial" charset="0"/>
              <a:buChar char="•"/>
            </a:pPr>
            <a:endParaRPr lang="en-GB" sz="1050" dirty="0"/>
          </a:p>
          <a:p>
            <a:pPr marL="342900" indent="-342900" eaLnBrk="0" hangingPunct="0">
              <a:spcBef>
                <a:spcPct val="20000"/>
              </a:spcBef>
              <a:buFont typeface="Arial" charset="0"/>
              <a:buChar char="•"/>
            </a:pPr>
            <a:r>
              <a:rPr lang="en-US" sz="2400" dirty="0">
                <a:cs typeface="Arial" charset="0"/>
              </a:rPr>
              <a:t>Lower-level managers mostly rely on programmed decisions (procedures, rules, and policies) because they confront familiar and repetitive problems.</a:t>
            </a:r>
            <a:endParaRPr lang="en-US" sz="2400" dirty="0"/>
          </a:p>
          <a:p>
            <a:endParaRPr 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a:p>
        </p:txBody>
      </p:sp>
      <p:pic>
        <p:nvPicPr>
          <p:cNvPr id="51204" name="Picture 4" descr="http://donnachamaguire.files.wordpress.com/2012/06/policy.gif"/>
          <p:cNvPicPr>
            <a:picLocks noChangeAspect="1" noChangeArrowheads="1"/>
          </p:cNvPicPr>
          <p:nvPr/>
        </p:nvPicPr>
        <p:blipFill>
          <a:blip r:embed="rId2" cstate="print"/>
          <a:srcRect/>
          <a:stretch>
            <a:fillRect/>
          </a:stretch>
        </p:blipFill>
        <p:spPr bwMode="auto">
          <a:xfrm>
            <a:off x="6934201" y="0"/>
            <a:ext cx="2209800" cy="1905000"/>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Calibri" pitchFamily="34" charset="0"/>
              </a:rPr>
              <a:t>Unstructured Problems and Non-Programmed Decisions</a:t>
            </a:r>
            <a:endParaRPr lang="en-US" dirty="0"/>
          </a:p>
        </p:txBody>
      </p:sp>
      <p:sp>
        <p:nvSpPr>
          <p:cNvPr id="3" name="Content Placeholder 2"/>
          <p:cNvSpPr>
            <a:spLocks noGrp="1"/>
          </p:cNvSpPr>
          <p:nvPr>
            <p:ph idx="1"/>
          </p:nvPr>
        </p:nvSpPr>
        <p:spPr>
          <a:xfrm>
            <a:off x="457200" y="1600200"/>
            <a:ext cx="8229600" cy="4876800"/>
          </a:xfrm>
        </p:spPr>
        <p:txBody>
          <a:bodyPr>
            <a:normAutofit lnSpcReduction="10000"/>
          </a:bodyPr>
          <a:lstStyle/>
          <a:p>
            <a:pPr marL="342900" indent="-342900" eaLnBrk="0" hangingPunct="0">
              <a:spcBef>
                <a:spcPct val="20000"/>
              </a:spcBef>
            </a:pPr>
            <a:r>
              <a:rPr lang="en-US" sz="2400" b="1" dirty="0"/>
              <a:t>Unstructured Problems </a:t>
            </a:r>
            <a:r>
              <a:rPr lang="en-US" sz="2400" dirty="0"/>
              <a:t>- problems that are new or unusual and for which information is ambiguous or incomplete. </a:t>
            </a:r>
          </a:p>
          <a:p>
            <a:pPr marL="800100" lvl="1" indent="-342900" eaLnBrk="0" hangingPunct="0">
              <a:spcBef>
                <a:spcPct val="20000"/>
              </a:spcBef>
            </a:pPr>
            <a:r>
              <a:rPr lang="en-US" sz="2400" dirty="0"/>
              <a:t>Not all the problems managers face can be solved using programmed decisions.</a:t>
            </a:r>
          </a:p>
          <a:p>
            <a:pPr marL="800100" lvl="1" indent="-342900" eaLnBrk="0" hangingPunct="0">
              <a:spcBef>
                <a:spcPct val="20000"/>
              </a:spcBef>
            </a:pPr>
            <a:r>
              <a:rPr lang="en-US" sz="2400" dirty="0"/>
              <a:t>Many </a:t>
            </a:r>
            <a:r>
              <a:rPr lang="en-US" sz="2400" dirty="0" err="1"/>
              <a:t>organisational</a:t>
            </a:r>
            <a:r>
              <a:rPr lang="en-US" sz="2400" dirty="0"/>
              <a:t> situations involve </a:t>
            </a:r>
            <a:r>
              <a:rPr lang="en-US" sz="2400" b="1" dirty="0"/>
              <a:t>unstructured problems</a:t>
            </a:r>
            <a:endParaRPr lang="en-US" sz="2400" dirty="0"/>
          </a:p>
          <a:p>
            <a:pPr marL="342900" indent="-342900" eaLnBrk="0" hangingPunct="0">
              <a:spcBef>
                <a:spcPct val="20000"/>
              </a:spcBef>
            </a:pPr>
            <a:endParaRPr lang="en-US" sz="1200" b="1" dirty="0"/>
          </a:p>
          <a:p>
            <a:pPr marL="342900" indent="-342900" eaLnBrk="0" hangingPunct="0">
              <a:spcBef>
                <a:spcPct val="20000"/>
              </a:spcBef>
            </a:pPr>
            <a:r>
              <a:rPr lang="en-US" sz="2400" b="1" dirty="0"/>
              <a:t>Non -programmed decisions </a:t>
            </a:r>
            <a:r>
              <a:rPr lang="en-US" sz="2400" dirty="0"/>
              <a:t>-  a unique and non-recurring decision  which requires custom made solutions</a:t>
            </a:r>
          </a:p>
          <a:p>
            <a:pPr marL="342900" indent="-342900" eaLnBrk="0" hangingPunct="0">
              <a:spcBef>
                <a:spcPct val="20000"/>
              </a:spcBef>
            </a:pPr>
            <a:endParaRPr lang="en-US" sz="600" dirty="0"/>
          </a:p>
          <a:p>
            <a:pPr marL="900684" lvl="1" indent="-342900" eaLnBrk="0" hangingPunct="0">
              <a:spcBef>
                <a:spcPct val="20000"/>
              </a:spcBef>
            </a:pPr>
            <a:r>
              <a:rPr lang="en-US" sz="2000" dirty="0"/>
              <a:t>Whether to build a new manufacturing facility in China is an example of an unstructured problem.</a:t>
            </a:r>
          </a:p>
          <a:p>
            <a:endParaRPr lang="en-US" sz="1200" dirty="0">
              <a:cs typeface="Arial" charset="0"/>
            </a:endParaRPr>
          </a:p>
          <a:p>
            <a:r>
              <a:rPr lang="en-US" sz="2400" dirty="0">
                <a:cs typeface="Arial" charset="0"/>
              </a:rPr>
              <a:t> As managers move up the </a:t>
            </a:r>
            <a:r>
              <a:rPr lang="en-US" sz="2400" dirty="0" err="1">
                <a:cs typeface="Arial" charset="0"/>
              </a:rPr>
              <a:t>organisational</a:t>
            </a:r>
            <a:r>
              <a:rPr lang="en-US" sz="2400" dirty="0">
                <a:cs typeface="Arial" charset="0"/>
              </a:rPr>
              <a:t> hierarchy, the problems they confront become more unstructured.</a:t>
            </a:r>
            <a:endParaRPr lang="en-GB"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a:xfrm>
            <a:off x="457200" y="304800"/>
            <a:ext cx="8229600" cy="1219200"/>
          </a:xfrm>
        </p:spPr>
        <p:txBody>
          <a:bodyPr>
            <a:normAutofit fontScale="90000"/>
          </a:bodyPr>
          <a:lstStyle/>
          <a:p>
            <a:pPr algn="l"/>
            <a:br>
              <a:rPr lang="en-US" sz="2800" dirty="0"/>
            </a:br>
            <a:r>
              <a:rPr lang="en-US" sz="3600" dirty="0"/>
              <a:t>Differences Between Programmed Versus</a:t>
            </a:r>
            <a:br>
              <a:rPr lang="en-US" sz="3600" dirty="0"/>
            </a:br>
            <a:r>
              <a:rPr lang="en-US" sz="3600" dirty="0"/>
              <a:t>Non- programmed Decisions </a:t>
            </a:r>
            <a:r>
              <a:rPr lang="en-US" sz="1600" dirty="0"/>
              <a:t>(Source: Robbins &amp; Coulter, 2014)</a:t>
            </a:r>
            <a:endParaRPr lang="en-US" sz="3600" dirty="0">
              <a:latin typeface="Calibri" pitchFamily="34" charset="0"/>
            </a:endParaRPr>
          </a:p>
        </p:txBody>
      </p:sp>
      <p:pic>
        <p:nvPicPr>
          <p:cNvPr id="78850" name="Picture 2"/>
          <p:cNvPicPr>
            <a:picLocks noChangeAspect="1" noChangeArrowheads="1"/>
          </p:cNvPicPr>
          <p:nvPr/>
        </p:nvPicPr>
        <p:blipFill>
          <a:blip r:embed="rId3" cstate="print"/>
          <a:srcRect/>
          <a:stretch>
            <a:fillRect/>
          </a:stretch>
        </p:blipFill>
        <p:spPr bwMode="auto">
          <a:xfrm>
            <a:off x="990600" y="1828800"/>
            <a:ext cx="7086600" cy="4372718"/>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6F15528-21DE-4FAA-801E-634DDDAF4B2B}"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p:pic>
        <p:nvPicPr>
          <p:cNvPr id="113666" name="Picture 2" descr="http://blog.rezscore.com/wp-content/uploads/2010/08/633497712156707746-Problem-Solving-300x240.jpg"/>
          <p:cNvPicPr>
            <a:picLocks noChangeAspect="1" noChangeArrowheads="1"/>
          </p:cNvPicPr>
          <p:nvPr/>
        </p:nvPicPr>
        <p:blipFill>
          <a:blip r:embed="rId2" cstate="print"/>
          <a:srcRect/>
          <a:stretch>
            <a:fillRect/>
          </a:stretch>
        </p:blipFill>
        <p:spPr bwMode="auto">
          <a:xfrm>
            <a:off x="1066800" y="609600"/>
            <a:ext cx="6953248" cy="5562601"/>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Decision-Making Conditions</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p:pic>
        <p:nvPicPr>
          <p:cNvPr id="116738" name="Picture 2" descr="http://geopolicraticus.files.wordpress.com/2013/04/certainty-risk-uncertainty1.gif"/>
          <p:cNvPicPr>
            <a:picLocks noChangeAspect="1" noChangeArrowheads="1"/>
          </p:cNvPicPr>
          <p:nvPr/>
        </p:nvPicPr>
        <p:blipFill>
          <a:blip r:embed="rId2" cstate="print"/>
          <a:srcRect/>
          <a:stretch>
            <a:fillRect/>
          </a:stretch>
        </p:blipFill>
        <p:spPr bwMode="auto">
          <a:xfrm>
            <a:off x="1524000" y="1905000"/>
            <a:ext cx="5788395" cy="4010025"/>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title" idx="4294967295"/>
          </p:nvPr>
        </p:nvSpPr>
        <p:spPr>
          <a:xfrm>
            <a:off x="457200" y="304800"/>
            <a:ext cx="5562600" cy="1600200"/>
          </a:xfrm>
        </p:spPr>
        <p:txBody>
          <a:bodyPr>
            <a:noAutofit/>
          </a:bodyPr>
          <a:lstStyle/>
          <a:p>
            <a:r>
              <a:rPr lang="en-US" sz="4400" dirty="0"/>
              <a:t>Decision-Making Conditions: Certainty</a:t>
            </a:r>
            <a:endParaRPr lang="en-US" sz="4400" dirty="0">
              <a:latin typeface="Calibri" pitchFamily="34" charset="0"/>
            </a:endParaRPr>
          </a:p>
        </p:txBody>
      </p:sp>
      <p:sp>
        <p:nvSpPr>
          <p:cNvPr id="80898" name="Rectangle 3"/>
          <p:cNvSpPr txBox="1">
            <a:spLocks/>
          </p:cNvSpPr>
          <p:nvPr/>
        </p:nvSpPr>
        <p:spPr bwMode="auto">
          <a:xfrm>
            <a:off x="457200" y="2209800"/>
            <a:ext cx="8229600" cy="4191000"/>
          </a:xfrm>
          <a:prstGeom prst="rect">
            <a:avLst/>
          </a:prstGeom>
          <a:noFill/>
          <a:ln w="9525">
            <a:noFill/>
            <a:miter lim="800000"/>
            <a:headEnd/>
            <a:tailEnd/>
          </a:ln>
        </p:spPr>
        <p:txBody>
          <a:bodyPr/>
          <a:lstStyle/>
          <a:p>
            <a:pPr marL="342900" indent="-342900" eaLnBrk="0" hangingPunct="0">
              <a:spcBef>
                <a:spcPct val="20000"/>
              </a:spcBef>
              <a:buClr>
                <a:schemeClr val="accent1"/>
              </a:buClr>
              <a:buSzPct val="80000"/>
              <a:buFont typeface="Arial" charset="0"/>
              <a:buChar char="•"/>
            </a:pPr>
            <a:r>
              <a:rPr lang="en-US" sz="2800" b="1" dirty="0">
                <a:ea typeface="+mn-lt"/>
                <a:cs typeface="+mn-lt"/>
              </a:rPr>
              <a:t>Certainty</a:t>
            </a:r>
            <a:r>
              <a:rPr lang="en-US" sz="2800" dirty="0">
                <a:ea typeface="+mn-lt"/>
                <a:cs typeface="+mn-lt"/>
              </a:rPr>
              <a:t> </a:t>
            </a:r>
            <a:r>
              <a:rPr lang="en-US" sz="2400" dirty="0">
                <a:ea typeface="+mn-lt"/>
                <a:cs typeface="+mn-lt"/>
              </a:rPr>
              <a:t>- a situation in which a manager can make accurate decisions because the outcome of every alternative is known. </a:t>
            </a:r>
          </a:p>
          <a:p>
            <a:pPr marL="342900" indent="-342900" eaLnBrk="0" hangingPunct="0">
              <a:spcBef>
                <a:spcPct val="20000"/>
              </a:spcBef>
              <a:buClr>
                <a:schemeClr val="accent1"/>
              </a:buClr>
              <a:buSzPct val="80000"/>
              <a:buFont typeface="Arial" charset="0"/>
              <a:buChar char="•"/>
            </a:pPr>
            <a:endParaRPr lang="en-US" sz="1200" dirty="0">
              <a:cs typeface="Arial" charset="0"/>
            </a:endParaRPr>
          </a:p>
          <a:p>
            <a:pPr marL="342900" indent="-342900" eaLnBrk="0" hangingPunct="0">
              <a:spcBef>
                <a:spcPct val="20000"/>
              </a:spcBef>
              <a:buClr>
                <a:schemeClr val="accent1"/>
              </a:buClr>
              <a:buSzPct val="80000"/>
              <a:buFont typeface="Arial" charset="0"/>
              <a:buChar char="•"/>
            </a:pPr>
            <a:r>
              <a:rPr lang="en-US" sz="2200" dirty="0">
                <a:cs typeface="Arial" charset="0"/>
              </a:rPr>
              <a:t>The ideal situation for making decisions is one of </a:t>
            </a:r>
            <a:r>
              <a:rPr lang="en-US" sz="2200" b="1" dirty="0">
                <a:cs typeface="Arial" charset="0"/>
              </a:rPr>
              <a:t>certainty</a:t>
            </a:r>
            <a:r>
              <a:rPr lang="en-US" sz="2200" dirty="0">
                <a:cs typeface="Arial" charset="0"/>
              </a:rPr>
              <a:t>, </a:t>
            </a:r>
          </a:p>
          <a:p>
            <a:pPr marL="800100" lvl="1" indent="-342900" eaLnBrk="0" hangingPunct="0">
              <a:spcBef>
                <a:spcPct val="20000"/>
              </a:spcBef>
              <a:buClr>
                <a:schemeClr val="accent1"/>
              </a:buClr>
              <a:buSzPct val="80000"/>
              <a:buFont typeface="Arial" charset="0"/>
              <a:buChar char="•"/>
            </a:pPr>
            <a:r>
              <a:rPr lang="en-GB" sz="2200" dirty="0">
                <a:cs typeface="Arial" charset="0"/>
              </a:rPr>
              <a:t>Few managerial decisions are made under the conditions of certainty</a:t>
            </a:r>
            <a:endParaRPr lang="en-US" sz="2200" dirty="0">
              <a:cs typeface="Arial" charset="0"/>
            </a:endParaRPr>
          </a:p>
          <a:p>
            <a:pPr marL="800100" lvl="1" indent="-342900" eaLnBrk="0" hangingPunct="0">
              <a:spcBef>
                <a:spcPct val="20000"/>
              </a:spcBef>
              <a:buClr>
                <a:schemeClr val="accent1"/>
              </a:buClr>
              <a:buSzPct val="80000"/>
              <a:buFont typeface="Arial" charset="0"/>
              <a:buChar char="•"/>
            </a:pPr>
            <a:endParaRPr lang="en-US" sz="1100" dirty="0">
              <a:cs typeface="Arial" charset="0"/>
            </a:endParaRPr>
          </a:p>
          <a:p>
            <a:pPr marL="342900" indent="-342900" eaLnBrk="0" hangingPunct="0">
              <a:spcBef>
                <a:spcPct val="20000"/>
              </a:spcBef>
              <a:buClr>
                <a:schemeClr val="accent1"/>
              </a:buClr>
              <a:buSzPct val="80000"/>
              <a:buFont typeface="Arial" charset="0"/>
              <a:buChar char="•"/>
            </a:pPr>
            <a:r>
              <a:rPr lang="en-US" dirty="0">
                <a:cs typeface="Arial" charset="0"/>
              </a:rPr>
              <a:t>E.g.  When the Irish Finance minister decides where to deposit excess state funds (if they exist!), he/she knows exactly the interest rate offered by each bank and the amount that will be earned on the funds. </a:t>
            </a:r>
          </a:p>
          <a:p>
            <a:pPr marL="800100" lvl="1" indent="-342900" eaLnBrk="0" hangingPunct="0">
              <a:spcBef>
                <a:spcPct val="20000"/>
              </a:spcBef>
              <a:buClr>
                <a:schemeClr val="accent1"/>
              </a:buClr>
              <a:buSzPct val="80000"/>
              <a:buFont typeface="Arial" charset="0"/>
              <a:buChar char="•"/>
            </a:pPr>
            <a:r>
              <a:rPr lang="en-US" dirty="0">
                <a:cs typeface="Arial" charset="0"/>
              </a:rPr>
              <a:t>The Minister is certain about the outcomes of each alternative.</a:t>
            </a:r>
          </a:p>
          <a:p>
            <a:pPr marL="800100" lvl="1" indent="-342900" eaLnBrk="0" hangingPunct="0">
              <a:spcBef>
                <a:spcPct val="20000"/>
              </a:spcBef>
              <a:buClr>
                <a:schemeClr val="accent1"/>
              </a:buClr>
              <a:buSzPct val="80000"/>
              <a:buFont typeface="Arial" charset="0"/>
              <a:buChar char="•"/>
            </a:pPr>
            <a:r>
              <a:rPr lang="en-US" dirty="0">
                <a:cs typeface="Arial" charset="0"/>
              </a:rPr>
              <a:t> most managerial decisions are not like this!</a:t>
            </a:r>
          </a:p>
        </p:txBody>
      </p:sp>
      <p:sp>
        <p:nvSpPr>
          <p:cNvPr id="4" name="Slide Number Placeholder 3"/>
          <p:cNvSpPr>
            <a:spLocks noGrp="1"/>
          </p:cNvSpPr>
          <p:nvPr>
            <p:ph type="sldNum" sz="quarter" idx="11"/>
          </p:nvPr>
        </p:nvSpPr>
        <p:spPr/>
        <p:txBody>
          <a:bodyPr/>
          <a:lstStyle/>
          <a:p>
            <a:fld id="{B6F15528-21DE-4FAA-801E-634DDDAF4B2B}" type="slidenum">
              <a:rPr lang="en-US" smtClean="0"/>
              <a:pPr/>
              <a:t>56</a:t>
            </a:fld>
            <a:endParaRPr lang="en-US" dirty="0"/>
          </a:p>
        </p:txBody>
      </p:sp>
      <p:sp>
        <p:nvSpPr>
          <p:cNvPr id="48130" name="AutoShape 2" descr="data:image/jpeg;base64,/9j/4AAQSkZJRgABAQAAAQABAAD/2wCEAAkGBxQTEhUUEhQUFhUUFRQVFxUVFRQUFRQXFBQXFhQUFBQYHSggGBolHBQUITEhJSkrLi4uFx8zODMsNygtLisBCgoKDg0OGBAQGywkICQsLCwsLCwsLSwsLCwsLywsLCwsLCwsLCwsLCwsLCwsLCwsLCwsLCwsLCwsLCwsLCwsLP/AABEIAJUBUgMBEQACEQEDEQH/xAAcAAABBQEBAQAAAAAAAAAAAAACAAEDBAUGBwj/xABGEAABAwEDBgkJBgYCAgMAAAABAAIDEQQSIQUxQVFhcQYTFCIygZGS0UJSU2JyoaKx4QdjssHi8BUWIzOC8UNzwtIko7P/xAAbAQEBAAMBAQEAAAAAAAAAAAAAAQIDBAUGB//EADQRAAIBAgUCAwcEAgIDAAAAAAABAgMRBBIhMVETQQVhcRQiMoGhsfCRwdHhQlIVMyM0Yv/aAAwDAQACEQMRAD8A4y15Tmke575ZC5xJJL3Zyd+A2L6NQilZJHluTbu2Rcrk9JJ33eKuWPCJdi5XJ6STvu8Uyx4Quxcrk9JJ33eKZY8IXYuVyekk77vFMseELsXK5PSSd93imWPCF2LlcnpJO+7xTLHhC7FyuT0knfd4pljwhdi5XJ6STvu8Uyx4Quxcrk9JJ33eKZY8IXYuVyekk77vFMseELsXK5PSSd93imWPCF2LlcnpJO+7xTLHhC7FyuT0knfd4pljwhdi5XJ6STvu8Uyx4Quxcrk9JJ33eKZY8IXYuVyekk77vFMseELsXK5PSSd93imWPCF2LlcnpJO+7xTLHhC7FyuT0knfd4pljwhdi5XJ6STvu8Uyx4Quxcrk9JJ33eKZY8IXYuVyekk77vFMseELsXK5PSSd93imWPCF2LlcnpJO+7xTLHhC7FyuT0knfd4pljwhdi5XJ6STvu8Uyx4Quxcrk9JJ33eKZY8IXYuVyekk77vFMseELsXK5PSSd93imWPCF2LlcnpJO+7xTLHhC7FyuT0knfd4pljwhdi5XJ6STvu8Uyx4Quxcrk9JJ33eKZY8IXYuVyekk77vFMseELsXK5PSSd93imWPCF2LlcnpJO+7xTLHhC7FyuT0knfd4pljwhdi5XJ6STvu8Uyx4Quxcrk9JJ33eKZY8IXYuVyekk77vFMseELsXK5PSSd93imWPCF2dZY+GdubGxotD6BrQK0JwAGJOJO0rmlhqTbdjeqsrbnHuC6jQMgHuoBqIB6IBrqAVEA9EArqAaiAVEA9EAqIBUQCuoB7qAV1AK6gFcQCuoB7qAaiAe6gFdQCogFdQCuoBXUArqAV1APdQDXUBaydkyWd12GN8jtIaCae0czd5IWM5xgrydipN6I6/J/2XWp+Mr4ohqqZHdYbh71yTx1NfCm/oblh5PfQ2ovsljpzrTIT6sbWj3krQ/EH2iZ+zrkGf7JWU5lpeD60TT8nBVeIPvEezLszAyp9mtriqY7kwHmG6/uO/Ilb4Y6lLfQ1yoTW2pyM9mcxxa9rmubna4FrhvBxC6001dGq1gLipBXEAriAe4gNKFvNG4fJam9TNGbTE7ytpiAWoB2oByxADRAEEA9xAMWoBBAOEA9EArigFxaXFhXEuLCuIBwxANdQD3UAriAe6lwMGIB7iAV1APxaXA/FpcoriXILi0uUfi1LgVxLga6qB2REkAAkk0AAqSTmAGkqXsD0Hg59noDeOt7gxoF7ir12g1zP8ncO3QvPr462kP1OmlhnJpNfI0Lfw8s9nbxVhhaQ3AGnFxDa1oxdvwrrK8WpirvnzZ9LhfA5tXqvKuFv/C+pyeUOF1slrenc0HyYv6YHW3ndpXPKrN9z2qXh2GpbQv66/wBfQx5Z3u6T3u9pznfMrXdnZGMY/CkvREkFulZ0JZGezI9vyKqbWxjKlTn8UU/VJnQ5K4eWuIi+4TN1SAB3U9uPbVbY15rfU86v4Rh6i91ZX5bfodhZ7bYcrMuSMpKAaNdRsrNZjeOkN3WF3YfFNP3HbyPnMd4ZUoazV48r80OD4VcDZLIbw/qQnM+mI2PGvavYoYuNTR6M8apRcdVsc3xa6rmofi0uBXEuDRiZzRuHyWp7mRjOznefmt3YwDLKhCkVFSEjDrUKEWKXADmUVuBggDDkAQYCoBjErcDXEuBqIB6IB1AHmzoBxtQDoBUCgHpVAK6EAkA4YgFggEUA4YgFdQCQDXUAQjS4CZDUgAEkkAACpJOAAGkqXFj0vImRoMmQ8ptdDMcGjAlpIwjjGl9M7tGOipPj4vF3Vlt9z1MFgp1p5YLX6I43hJwlmtjuebsYPNiB5o1F3nO2nqovGnUc3qfa4PA08NH3dZd3+bIxVgdgkAkAkAkAUUhaQ5pLXNNQ4GhBGkEZkI0pJp7M9V4HcJG22MwWihlDccw41o8sDQ4YVpvGodtGrm0e58n4n4f7PLPD4H9Hx6cHGcLuDps0hLRzDjurmI2fIr28LiM6yy3+589VpW1Wxz/FrruabD8WgsX4o+aNw+S1syRz8o5x3n5roWxgPE7QjBJJFpCiYIaKgkjdrUaBMG1UKM6FLixG6MhW5AaIAwSgDD1LFCoCgH4kKXFh+IpvS4sLiKZ8UuLDcSc5S4Fd0AIB+LpnS4G3IAhFrS4FTUgEGEoAuK1qXA9NSAa6gCEKXKEIglwK7qCAXFlS4O94C5GZBE63WmgDQTHXyWjAyU1nMPqF52MxFvcW3c68Lh5VJJJXb2OR4S5dfbJjI6oaKiNleg3/ANjgSfALwZzc3c++weEjhqeRb93y/wCODJWB1CQBRsLjdaC4nQ0FxO4DFA2krvRGgMgWqleTT0/6n+CyyS4Of2zD3t1I/qihLE5puva5rvNcC09hxWJvjJSV4u/oAhRICaxWp8UjJIzR7HBzTtGg7CKg7CVU2ndGFSnGpBwls9D17KBZbbE2ZowLb1NIBwkYdoIPdXpU57SR8LiaDo1JUpdjzC02S44tOg9o0Fe3CpnipI8uUcrsR8Ws7mJejjwG4LW2ZnOW2LEnafmuiLNbK9FkQsQPrgVi0VBSwaQiYIKKkCYSEKamRbrpAHBaK11F2OrBRjOvGMldf0dK3JETs7c9NmeoObaFwPEzie7W8Mw+tk18/Qgk4KMd0XEZvkqsfJbo4anhSXwyKU3A+QdFwPuWxeJUu90csvDqq2syhNwfnbnjJ3YrfHGUJbSRzyw1WO8WUpLK9vSaRvC3qSezNTTW4mtpgM/yVIECRgMSoA71M+JUKE01xOAQBCQaKpYBXRpKgFUaKIAhDXUlxYfim7Cl2LCuoBxZ9iXA/EgKXA90aAgFdQDiJLge4NJQtjR4P5MFonZEMxNXHUxuLvDeQtdWpkg5GUI5nY1ftNyxzm2SOgZGGukAzXqf02bmih6xqXzmIqXeX9T7HwTCZYOvLd6L07v57HCLmPeEgOs4IcDHWoCWUlkGinTlp5upvrdmtbqVFy1ex5XiHikcP7kNZfRevn5HqGTMlw2dt2GNrBsGJ2udncdpXZGKjsfL1sRUrSzVJNlxZGkp5TyXFaGXJmNeNoxG1rhi07QsZRUlZm6jiKlGWam7P87bHknDDgw6xvBBLoXnmOOcHPcft26epcVWnkfkfW+H4+OKjZ6SW6/dHPLUegJAekfZTbrzJrO7M0iRu59WvG6rQf8AJdWGlo0fOeO0UpQqrvo/lt+eRk8IbHdf7Jcw9Rw/NexhJ7x+Z8xWWzMoRLsuaC9HHgNwWtsyOdmZi7efmuhbGtmfLHdNFsTMQaIC3Z5a4HP81i0ZIkls9d6iYsRWaxue8MGc6829JzUYuTKo3djq7JwMnj/qktLQxzsK4i7UUwXnzx1Oayo78FRlHEU2+UasNRoOnQdBDh7iVyTaPppL8+hciOuucDMdDiPzC55NGiS0/OCxG8fL5Fc82a2tfzlE7HjWP21c03+fI12/PmVst2bjIXtaAXHNSldGZbMBNRxMbvTX7WOTFxvSf53OHdkCYYNY7aaZ19Uq9Pk8fJLgidkiZuAifvor1YPuTK+CN2TpG543k+yaBZKpF9xlYHIpDi5rgNoPyVzLklmMWEZmneQUuLC5Oc7sN6XQsPgMw6ygGuF37wTYB8SBnKXA9QMwQo1CUIG2zHSpcWC4to2pdlHrqCgGoSqAhAdSXB3HAeztggntUmYA4+pGLzqbzTurzsbV7canVhaTnJRW7dkeaWu0uke+R/Se4vO9xqV4Dd3dn6JTpqnFQjstCJDI3uBmQuV2gNd/aYA+TaK4M/yPuBWylDPI4fEcX7NRuviei/n5fwe0sYAAAAAAAAMAAMwA1LvPi223dkVrtTIml8j2saM7nENHaUbSV2ZU6c6kssFd+RnWPhRZJXhjJ2FxNADVtTqbeAr1LBVYN2TOmpgMTTjmlB2NdbDjM/L+TBabPJCfKbzT5rxix3Uae9YTjmi0dGExDoVo1F239O54OQRgRQjAjUdIXnH3foJAdZ9mU123AefFI3suv/8AFbqD988rxmN8Lfhr90b/AAri/qyb2ntaPEr1cO7TPjqi905+4vQOYuxx4DcFg2U5eZvOd7R+a6VsaiGaC8Kdit7AznNINDnWwg4CgLVntGh3b4rFoyRs5JoJA7QK1OJwIpgBiTsXPXV4NM6MNRnVqKMFqdZBwqnAusY640BrS4UdQCgJbQ03LyJUEu59G/CYxSvUV+Ft+tyrLwvtkbqPLCDmdc9x2rJUYSXundDwvC1Y3he63V/zQuQcMJz6Pu/VaJ07HLU8MhHZv9f6LkfCeU52x90+K55OSOOeEUdmydvCF3mR9i5Z15L/ABRzSpyj3DbwgPo2dS5n4g4STcFby3NEnJbk0uX2tALmx0OmuG7NnXsUI+0Qz0ndGtzSImcJIT5MZ6wt/stVdh1I8j/x+DzI+81T2arwOpHkP+LwH/jb3meKnQq8MZoiGUrMf+Md5vinSrcMuaI5tFmOeP3/AFTLWXI90EmyH/j9wKt63mT3BcTZD/xu7v0TPWXdjLAjdk6xHyCP8Por1qy7sZIAnJFh1fD9Ffaa3JOnDgY5GsWunUntVbkdKJE/g/Yj5Y6yfFVYyqidKIH8sWM5pB2nxWXt1UdGIhwTsuiQd5X2+p5E6KH/AJSh0SN730RY6fA6KAdwOYc0o7w8Fl7fL/UnQRp2nIt6xGyMcG1ABfeBJ5952FNObrXJXqurfzOzB1Fh6kZ2vY5V32bu0Sj3eK5Omz3F46u8PqRu+zeXRI33eKnTZmvHId4s63gbkI2OJzXAue994uAFKAANaMdGJ/yK6KVoLU8nxHF+1VFJKySt/J0F/Y7u+C3Z0efY874WcH7ba5i8gcW0kRsqaNbr9o5yerQuSpmm7n0WBxuEw9NR1u93b80Rwdrszo3uY8Uc00IWk96nUjUipR2Z6/wAym6extMhvPY50Zcc5u0LSdt1zcV3UZZo6nx/itCNHENR2ev6/wB3OjW4848Ey4wC0zgZhPN/+jl5k/iZ97hnejTb/wBV9kUlDcdN9nA/+fHsbKf/AKyPzW2h/wBiPN8X/wDUl6r7nV8J8Z5P8PwNXqUfjR8ZP4WYohXfc57F6OLAbgtb3MrHHzt5zvad812LZHO9wQ1CkVps14YZx+6FVSsGjNLaYFbLmI4CFLFmtLmHmlYtJlNSC3udme6uqpWpwS7GSZOJneUS4HAgmoI2hYuKZuo1qlGaqU3ZokijAxa8XdTq3hswBrTWuWdFs+oj45h5006qal3SWnqv4LLbfGKC8SToDT2mpFAtDwM5HBV8WpP4Yv6BDLkYrRryBpJArsAWD8JT+KRwzx+baIB4QGleLaBoqSSVf+Fw/e7+ZzSxEmUrZb3yjn0aytQGjE7ta68NgaGGb6UbN7mqUnLcrslecG4NGv8AMrraS3MSQWoNzAOOvR1KZbgma+uL8Bt8FLcFDFpYM3aQVMrBI1t7GvbgmwJA1o013FTUBXzow3KFCbG86T1kpoAxhneeolQBi1OGYu7SplRdRxa5dD3dRKZI8C7DbNL57usqOEOBdkgmk0vKmSPBbsIWxw8onqCx6UOEMzEbc/Z1tb4KdGnwXOzR+0O0mzwwGINa5z6EhrcQGE6tdF5GI0Stye94Ph6dapNVFey/c4YcJbR547oXJnlye9/xuG/1DbwqtA8odiueXJi/CsN/qepcG2NlssMjxVz42ucQ54xOfMV200nFM+WxkFTrzhHZPQ0JbEyhpeBoaG+/PTDSsnBHOnrqeSS8N7UxxYaBzSWuFXYEGhGfWuLNJbn0q8Mw8rON7Mw7VaXSvL3Yueamgzk6AFrPZpU1TgorZHsvArJTrNZGMfg81keNTnmt3eBdHUvQpRyxsfG+I4hV8RKUdtl8v5NqeYMa57jRrQXE6g0VJ9yzbsccYuTUVuz5+tExe9zzne5zzve4uPzXmN3dz9AjHJFRXZJfoRoU7P7KrNetUj9EcJHXI5tPc1y34de9c8bxypahGPL+y/s2sqSXppD6xHUMB8l6VFe8fJz2K11dppsXY48BuC1t6lOItDee72nfMrtjsjme4ICFCDUKiG02QP2HX4qqVhYy3xlpoRQrZe5iIIUIKFLkFsI6WI96xcSmnZXNdiOzSTqWt6GSJ5IAa3v8j/4hY3sUryWAYHusObrWSkSxDJZnNxeLztAGIG/wVTT0QsAY/KkOOhoz/RX0BPZLJLO5rI29LBrRQVoK6dgKxlKMFdhK5oy8HrRG1zhDUMaXOdxkLyAM5uteTQblrVeDdrmWRohsOQbRO3jGtq29dvF8bcaVoA5w0FWVaEXYKDeoU+TJIpGRcWOMkNGc+N14k0ztcQMddFFVjJN30QcWiw7gxbHEgxZq4CSEnDPzQ+qntFPn7lySFYODU0jA9kd9pqRR8Ta0NDgXA6FJV4p2YUGQZQs8kBDXsDC4VHOY8kVp5BKyhOM9URpoe2WC0RuDZWuaXNvAEjEdR92dWM4S2Di1uO+xPYxj3khj7waag3rpo4DGuG5TPFtpDKyW3Qugdcla5rqVo6mI1gjAjcpGSkrorTRYjsdpdI+JsYvxgFzS+MUDgC3EuAOBGZYupCydxldyWXIlsHSjpiB/chGLiAB0tJIUVamXJIrxZOnc90d0h7KlwJaLoGcuJwA21WTqQSuTKyMRnS9ZXuSwVWjST2pqDW+1EXrJZ3jNxrfiheR8l4WKWnzPpfAZf+aa5j+6PM1xn04kB6z9mOUBJZOLJ50L3N/xeS9h3YuH+K7cPK8bcHynjVFwxGftJfVaP+ToMp2q6KaVvPHOatHA2C1EyPvMec74yAT7QIIO+lVqnSjI78L4jWw6yqzXD/EzSyHwMs1mcHtDpJBmfIQbu1rQA0HbSu1IUYx1MsT4pXrxyuyXC/LnRLaeccT9pmXBHDyZh58w59PJjrjX2iKbry5sROyy8nt+DYRzqdaW0dvX+jy1ch9QJAeofZ5ZeIsUk7ulKS4a7rObGOtxcf8AJduHjaN+T5Xxqvnrqmv8V9Xv+yIbPFWpXdR7s8OZOIQui5rLsceA3Bam9TI4G0t57vad8yu+OyOR7kYCoCAUMkEAhQJ7OHih7dIVTaFjKtFlczPiNf7zLYpXJYiCoJI2VNP2BrUZS60asKDP5jTp9pyxKWYrW4UqK+Yw5/acVi4opdhtTSaeWc+kN3FYOJSywAdHnOOnOOpY+pRpLOzywHO1at5S77Cxf4PBsVqimkdcY2/nzC9G5ow6wtda7g0jKGjuVLLkiCFspba47xikA4hzw+RxxbG4FuLDmIWtzcrJoyy2L+SgzkPFTmzB3KDJdtTXPbd4sNq0M8qv5qVPjvG+3YR21M2xsgs9qhc2SFzTK17nR3rkYvgkUcMABm2BbPenBqzJoma9gyrZzNPKyGKKdskxhtDzKYpA4uBLsea5wJNaEYrTKErK+xmmjK4I8VZ5xJLI0f05Wk6KubQYrdWTlDRGEdGQ8F32eIiWUUbE2+GZ3yvHQY0b8TU6Faillsu4ja+prWnKkNpgkZWdkjXOnjfOWUcXHnwtczMDnAOmmpaoxlTkmZNpoqZQo6y2SO8L7HTl40tD3AtrvWa/7JMj2RqZUy3FLNNFOeNsxc3i3N6cJuNDnRnSK1qP9LXCnJJOOjK5LZmTwitMUtpmcykjTco7QaRMBp1ghbaUXkszGT1D4S2hktre+MhzbkQDhrDACO1SjC0dRJ6lrKmUny2WCMPrI4uE1BR7mRk8SHu0ih61jGCU3x2K3dFCOxO2Bb8yMLEosgGdwTMU38uWblGSnBuJjYHDSawmpG8tBHWvKxcPiXzPV8KrKniYN7PT9dDyVeYfbCQhp8HsuPscwlbiKXXsrS+06N4zgrOnNwd0cuNw0cRScJacPh/m56PYcpMthD4nXm+9uxw0Fd8ZKSuj4utRnSllmtTqbPHQALI1EqA5nhTwxisoLGESTaGA1azbIRm9nOdmdaalZR0W56eB8MqYh5paR559DyO2Wp8r3SSOLnvNXOOk+GYAaguJtt3Z9dTpxpxUIqyRCoZF3I2TXWmdkLM7zifNaMXvO4e+g0rKEXJpI04ivGhSlUl2+r7I9Wy/I2NkdnjFGtDcBoDRRjfz7F6SVlY+EnNzk5S3epnxRUC7IqysaHqyZsOxW5LGhHFgNwWpvUyPO7U3nv8Aad+Ir0I7I5HuyK6siDgKFDAQyCAUKOWVzoUoWnJmlnd8Cs1PkliKKEtwIxOg684buGc9St7iwY0eVU4D0jtLj6oUKG0GpANXeW/Q0agUA7BUEMwYOk86f3qU9QHA89GGoGl2YnedAUfMilqPKFzAUkdr0dVM6mS5blsWgHGUluw4nqAWFuCk0UzDhGG/N3YsXG25SY2TS8gb8SpfgDi43otG8pZgY2UvztFN1Al0gCckxjpGmwEq532FhckjHRad7qFLsWGdZnuwDuoNS6AAyO86R11V6kRZhjJNM7h1KZxYIWNozNJ60zAcNcOjGB2JpyBi2Q6Oyie6BxZZT5LkzItmSMyc/UpnQsdJwWBZejfmdzgOqjh2U7CubEWepnB2PL+FORzZbS+KnMrejOtjs3Zi3qXi1IZZWPvMFiViKKn32fr/AHuZKwOorWmTQskjnqz7FjJVokidfje5jvOaSDuOsbCrmaehiqEKkbTSa8zqIOHttaKGRjtro21+Giy68zml4PhZO9mvR/zcp5Q4WWyYEPncGnyWARjtaAT1lSVWb3ZupeHYak7xgr+ev30+hiLWdwkIL9/6QHq/A/IgsMBmmH9aQCo0tGdsY26T9F20aeVXe58j4pjvaJ5IfCvq+f4CszTI8vfjjXedW4LrhG7ueSzRAGgLaYjOZqVBbjZgNwWtvUp5rax/Uf7bvxFejHZHE92RUWRBUQo4ChQgEKGAoZEsEdTXV++zT1LFsqJZrO1wo4VGb1scboOs5yom0Uoz5NcCbpHrHzG+Y3Wtimu5LFItFOcCyMZm+U86/wB5ll9yBEVAL+awdFgznd4pttuUIBzxoZGOz9RU0XqUJkoHNhaSfOOJ6hoCP/6ARs4GMrsfNGJ6yl+AG2dx5sTaDZiesqW5KTMiLcXyEbAalS6eyBMMrXei0Ha7P7lMl9y3LEVukfnYab6D3rHKkLlgSRjpupsGP77FjZ9ikjLbDox9rD5plkXQlba69Et6qFY5QSCJ7tfWl0gGLHrICmYWCETBnNdyXYCDmDM3tU1KPx+oAJYC4xx+gSyA4jcdal0CaCFzSHDAg1CjaegLPCbIbbdAKUbKypY4+S452OPmmg9x0LgrUsysel4fjXhql/8AF7r9/VHjdvhfE5zJGlr2mhac4P70rz7NOzPsOrGUFOLumZzBeKy2Rzx96ReaKLA7ErIdCiQCQBMYSQGgkk0AAqSTmAAzlA2krs9L4HcERZwLTa6cYMWMziLa7W/dm35uyjRtrI+Y8S8U6t6VL4e75/r7mpaZHWh+GDRmGoaztXSlc8MvR2YNFMKBb0Yh3G6x7k1Aqs1/NNQXI24DcFqe5Ty61j+o/wBt34ivUjsjie7IqKkFRAIBAEAoZBgKFLsbKAD/AFrqdmnqGtYMzDaNWGFanyQc7z6xQoqCgqDd8lul51lANPA0kcY0Ofobobq/0ifAKVoyUAS4m+7Qw5hvI+SzVTsSxUnsrxzpyWjQ0adjRmCyUltEW5Bjkc7mwtujSdPW5GktWB+KjZ0zfdqbm6yl29ikjJpH4Rtuj1cO1yWS3A/JGt/uPx1NxKma+wsELU1v9tg3uxKWb3KGBK/XTuj6qe6gGLEB03gbBiUzcCwQdE3M0u3/AL/JT3mULlx8lrW+9MvIDaZXed+EKe6hqTR2WXzqf5FTNEWJmimeXsoVPkUkFraNLndQ8AplYuGMp0zMHXRTILj/AMWfoDR1HxTpotxxlKQ6uoFMiFyRtplPk/i8VLRBbsVrmYaho2gnOO1YSjFoqbKfC3JUdtAJFHgYPHTbsPnN/YouGrSvuduGxlSh8O3HY4a18DbVAL3FmRnnxgu7zBzh7xtXHUpSR9Jg8fh6mjdnw/52MiujSM40jetJ61h0IOwVN1uJOYDEncBiUD0V3sdJkfgPap6FzOJZ50uB6o+l20W2NGUvI83EeK4elonmfC/nb7nfZHyDZrAKjny06bqF+5ozMH7qV1wpKB87i/Ea2J0lpHhbfPkG1Wl8pxzDMNA8St8YNnBceMUFAt6ikrGIYCosSNaoA2tUBrwM5rdw+S0N6mR5Za/7j/bd+Ir1I7I4XuyJZEEgEgEEBYsrca6lhIzRaHbs16aHUNJ6gsTIVesE9cjtfshDIME1woX6ToYNQUA8eqPE+U8/lqCPzKOxwaaMF53neA/NH5gdzGjGQ3j5o/MqXb2KRS2LjRQC431eaPqslLKSxSdkxjOj/UO3mj6rLO35C1iJ7J3YXS1uzBvbpVTiiakYs8bem+p1Nx96t29gELaG/wBtgG04lMt92W5IBM/zqd0Ke6hqELEG9N7RsGJTNwi2CDoW6HO35vyU94BjKFOixrUyci44nldmr1CnvUtFDUNtkkdn95TMgSixU6T2hTMWwYjiGd5O7/Sl5AISRDySf3vS0hoGLY0ZmD3eCmXzFwuXu0UCZUW4uVv1+4JlQuLj3ece1LICBxrU1GmuKjSYNqw5dc0Ue0OGsYHwWiVD/UyuXZbXZZv7sbHf9kbXfOq55Un3Rup15w+CTXoyuMn5PGPEQV/6R4LX048G727E2t1Jfqy3HboYxSKMN9lrWD3LNRtsjROpKfxNv1ZXnyq92ajRsz9qzVOT7Gu5RrUrbGkluS4bSthCQFCkgKgDBUKG0qA2rOea32R8lzy3ZkeUWv8AuP8Abd+Ir1Y7I4HuyJZEEgEgEgLsbaCn+v34UWt6mSCJ11pmOvHEMHrHOUMgwTU5g6nOOiMeaNqhkIUI82PX5Tyn3KGOcPMjHafEqfcBRuJwjFBpcc/WU9SjBzG5ue7X5PUNKasEhjc7F5ujb+QUulsUQlY3oip1u/IJZsEl2R+fAbcB2JdIpC+xQ+VRx9XD3hXNLsSyIzC0f22hvxFW77ggkybO7yqju+5VTihZkRyQ5vTIG7nK9S+wsDWFuhzjtw8FfeY0CFvA6LGhTJyxcTre86abgEyIXIzM45yT1lWyIIFCkgKgDBQBgqFDBUAYKAMFQBcZRALjdX76liUikeB0303uDfdgsW0u5koyeyIxLD5ze99VM0eTLpVOGTxxNPQd2EH5Jp2MWmt0StMjcxrvxQhYhtoODhT5fRAXWuQEgKhSQFQBgoUMFQG5Z+g32R8lzS3ZkeU2v+4/23fiK9WOyOB7siWRBIBICSztqd2PgoyotE/vRrqdgwPdWJRNOrDCtT5AOdx9YqFQqigr0fJbpedZQobjQ1fi7yWDMNVfBT0MvUJ+GMpqdDB+eoIvIvqEQ5wq4hjNA8BpU0WwHZMBhG3HzjieoaEtyX0CMOmR3VnP0UvwB22gDCNuOs4lLX3LcMwvdi40G0/kl0tgICNuclx2YBNWULllOi0N95Uy8i4Dp3HOSrZAEFAORXOgANlYfJHVh8lbsAHJ7No3HxVzsWBOTRocesVTOSwP8OdocOuoTOhYbkD9nb4q5kLC5I/zfkmZCw/EO809iXQsPcOo9hUKOEAV5AU7XLTfqWEnYzjFspvme7CtBqGHvWmTbOiEYoiFmWvKdGcIWZMozhtsymUZy/ZrTI3TeGp2PvzrNSkjVKnCXkaUUrX7Dq0/VbE0zmlTcSaMlm5UwL0cgIQErSoUkaoCRoOoqFN2zdBvsj5LnluynlNr/uP9t34ivUjsjhe7IlkQSASAt2dtG7/ksGzJBfuh0kY47BnO3DQoBq7yCcBpkd5x9VUBNJvYYv0nyWDYp9ioKM40j5ztLzo101b0fmZIdrg083nv15wNw0qblCczTK7HzRn+inoX1DZI52Ebbo2fm5NFuUXFsb03Xjqb+ZS7ewH5ZTBgDR2lMvJbkLnk5yTvVIOEAQKFHCgDBQDgqFCCAIIAgoAgUKECoAwUAQKgCBQBVQoLyoypFR1lBxICwsbcyELENQ7ApYZgxY26h2BLFzhCxN80dgUsXOELE3UOxLDOELENQ7FLDOG2xjUEsM5diGggdiyuapJdiRjKHBCFlpUAYKAIFAacPRG4fJaHuZHGZS4K0lfSXAuJxZmvGtK3sc67IYj3VocsqWu5W/lf734P1LL2jyJ0vMX8r/e/B+pPaPIdLzF/K/3vwfqT2jyHS8y0eDv3m7mdnlblj1/IuQH+XPvMMa8zQPJre14nWr1/IdMX8unPxvOdhW5mGpovYJ1/IdMR4N+QJaN08zF283lOv3sOn5jv4PE80SXW6gzPvN7FFX8i5A3ZBu4Mku6zcqT13lOtfdGWSwouDYAvF947W4fiVda/YqgKXIjnYcbQagyg/EnVXAykX8ufefB+pOt5Eyhfy5958H6k63kXKP8Ay9958H6lOt5FyDjg9958H6k63kMg44P/AHnwfqTreQyhDIH3nwfqTreRcg4yD958H6k63kMo4yF958H6lOt5DKEMhfefD+pOt5FyDjIf3nw/VTreQyD/AMD+8+H9SdbyGUf+C+v8P1Tq+RLD/wAH9f4fqnV8hYIZH9f4fqnV8hYcZI9f4fqnV8hYIZI9f4fqp1PIWHGSvX+H6q5y2H/hXr/D9VM5Bxkr1vh+qZyhDJXrfD9UzgcZM9b4fqpnAQyb63w/VM4H/hvre76qZwP/AA/1vd9UzgL+H+t7vqmcDiw+t7vqpnAfIvW931TOUcWPb7vqpnAQsu33fVMwCFm2+76pnBqx2agArmAWpsyP/9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8132" name="AutoShape 4" descr="data:image/jpeg;base64,/9j/4AAQSkZJRgABAQAAAQABAAD/2wCEAAkGBxQTEhUUEhQUFhUUFRQVFxUVFRQUFRQXFBQXFhQUFBQYHSggGBolHBQUITEhJSkrLi4uFx8zODMsNygtLisBCgoKDg0OGBAQGywkICQsLCwsLCwsLSwsLCwsLywsLCwsLCwsLCwsLCwsLCwsLCwsLCwsLCwsLCwsLCwsLCwsLP/AABEIAJUBUgMBEQACEQEDEQH/xAAcAAABBQEBAQAAAAAAAAAAAAACAAEDBAUGBwj/xABGEAABAwEDBgkJBgYCAgMAAAABAAIDEQQSIQUxQVFhcQYTFCIygZGS0UJSU2JyoaKx4QdjssHi8BUWIzOC8UNzwtIko7P/xAAbAQEBAAMBAQEAAAAAAAAAAAAAAQIDBAUGB//EADQRAAIBAgUCAwcEAgIDAAAAAAABAgMRBBIhMVETQQVhcRQiMoGhsfCRwdHhQlIVMyM0Yv/aAAwDAQACEQMRAD8A4y15Tmke575ZC5xJJL3Zyd+A2L6NQilZJHluTbu2Rcrk9JJ33eKuWPCJdi5XJ6STvu8Uyx4Quxcrk9JJ33eKZY8IXYuVyekk77vFMseELsXK5PSSd93imWPCF2LlcnpJO+7xTLHhC7FyuT0knfd4pljwhdi5XJ6STvu8Uyx4Quxcrk9JJ33eKZY8IXYuVyekk77vFMseELsXK5PSSd93imWPCF2LlcnpJO+7xTLHhC7FyuT0knfd4pljwhdi5XJ6STvu8Uyx4Quxcrk9JJ33eKZY8IXYuVyekk77vFMseELsXK5PSSd93imWPCF2LlcnpJO+7xTLHhC7FyuT0knfd4pljwhdi5XJ6STvu8Uyx4Quxcrk9JJ33eKZY8IXYuVyekk77vFMseELsXK5PSSd93imWPCF2LlcnpJO+7xTLHhC7FyuT0knfd4pljwhdi5XJ6STvu8Uyx4Quxcrk9JJ33eKZY8IXYuVyekk77vFMseELsXK5PSSd93imWPCF2LlcnpJO+7xTLHhC7FyuT0knfd4pljwhdi5XJ6STvu8Uyx4Quxcrk9JJ33eKZY8IXYuVyekk77vFMseELsXK5PSSd93imWPCF2LlcnpJO+7xTLHhC7FyuT0knfd4pljwhdi5XJ6STvu8Uyx4Quxcrk9JJ33eKZY8IXYuVyekk77vFMseELsXK5PSSd93imWPCF2dZY+GdubGxotD6BrQK0JwAGJOJO0rmlhqTbdjeqsrbnHuC6jQMgHuoBqIB6IBrqAVEA9EArqAaiAVEA9EAqIBUQCuoB7qAV1AK6gFcQCuoB7qAaiAe6gFdQCogFdQCuoBXUArqAV1APdQDXUBaydkyWd12GN8jtIaCae0czd5IWM5xgrydipN6I6/J/2XWp+Mr4ohqqZHdYbh71yTx1NfCm/oblh5PfQ2ovsljpzrTIT6sbWj3krQ/EH2iZ+zrkGf7JWU5lpeD60TT8nBVeIPvEezLszAyp9mtriqY7kwHmG6/uO/Ilb4Y6lLfQ1yoTW2pyM9mcxxa9rmubna4FrhvBxC6001dGq1gLipBXEAriAe4gNKFvNG4fJam9TNGbTE7ytpiAWoB2oByxADRAEEA9xAMWoBBAOEA9EArigFxaXFhXEuLCuIBwxANdQD3UAriAe6lwMGIB7iAV1APxaXA/FpcoriXILi0uUfi1LgVxLga6qB2REkAAkk0AAqSTmAGkqXsD0Hg59noDeOt7gxoF7ir12g1zP8ncO3QvPr462kP1OmlhnJpNfI0Lfw8s9nbxVhhaQ3AGnFxDa1oxdvwrrK8WpirvnzZ9LhfA5tXqvKuFv/C+pyeUOF1slrenc0HyYv6YHW3ndpXPKrN9z2qXh2GpbQv66/wBfQx5Z3u6T3u9pznfMrXdnZGMY/CkvREkFulZ0JZGezI9vyKqbWxjKlTn8UU/VJnQ5K4eWuIi+4TN1SAB3U9uPbVbY15rfU86v4Rh6i91ZX5bfodhZ7bYcrMuSMpKAaNdRsrNZjeOkN3WF3YfFNP3HbyPnMd4ZUoazV48r80OD4VcDZLIbw/qQnM+mI2PGvavYoYuNTR6M8apRcdVsc3xa6rmofi0uBXEuDRiZzRuHyWp7mRjOznefmt3YwDLKhCkVFSEjDrUKEWKXADmUVuBggDDkAQYCoBjErcDXEuBqIB6IB1AHmzoBxtQDoBUCgHpVAK6EAkA4YgFggEUA4YgFdQCQDXUAQjS4CZDUgAEkkAACpJOAAGkqXFj0vImRoMmQ8ptdDMcGjAlpIwjjGl9M7tGOipPj4vF3Vlt9z1MFgp1p5YLX6I43hJwlmtjuebsYPNiB5o1F3nO2nqovGnUc3qfa4PA08NH3dZd3+bIxVgdgkAkAkAkAUUhaQ5pLXNNQ4GhBGkEZkI0pJp7M9V4HcJG22MwWihlDccw41o8sDQ4YVpvGodtGrm0e58n4n4f7PLPD4H9Hx6cHGcLuDps0hLRzDjurmI2fIr28LiM6yy3+589VpW1Wxz/FrruabD8WgsX4o+aNw+S1syRz8o5x3n5roWxgPE7QjBJJFpCiYIaKgkjdrUaBMG1UKM6FLixG6MhW5AaIAwSgDD1LFCoCgH4kKXFh+IpvS4sLiKZ8UuLDcSc5S4Fd0AIB+LpnS4G3IAhFrS4FTUgEGEoAuK1qXA9NSAa6gCEKXKEIglwK7qCAXFlS4O94C5GZBE63WmgDQTHXyWjAyU1nMPqF52MxFvcW3c68Lh5VJJJXb2OR4S5dfbJjI6oaKiNleg3/ANjgSfALwZzc3c++weEjhqeRb93y/wCODJWB1CQBRsLjdaC4nQ0FxO4DFA2krvRGgMgWqleTT0/6n+CyyS4Of2zD3t1I/qihLE5puva5rvNcC09hxWJvjJSV4u/oAhRICaxWp8UjJIzR7HBzTtGg7CKg7CVU2ndGFSnGpBwls9D17KBZbbE2ZowLb1NIBwkYdoIPdXpU57SR8LiaDo1JUpdjzC02S44tOg9o0Fe3CpnipI8uUcrsR8Ws7mJejjwG4LW2ZnOW2LEnafmuiLNbK9FkQsQPrgVi0VBSwaQiYIKKkCYSEKamRbrpAHBaK11F2OrBRjOvGMldf0dK3JETs7c9NmeoObaFwPEzie7W8Mw+tk18/Qgk4KMd0XEZvkqsfJbo4anhSXwyKU3A+QdFwPuWxeJUu90csvDqq2syhNwfnbnjJ3YrfHGUJbSRzyw1WO8WUpLK9vSaRvC3qSezNTTW4mtpgM/yVIECRgMSoA71M+JUKE01xOAQBCQaKpYBXRpKgFUaKIAhDXUlxYfim7Cl2LCuoBxZ9iXA/EgKXA90aAgFdQDiJLge4NJQtjR4P5MFonZEMxNXHUxuLvDeQtdWpkg5GUI5nY1ftNyxzm2SOgZGGukAzXqf02bmih6xqXzmIqXeX9T7HwTCZYOvLd6L07v57HCLmPeEgOs4IcDHWoCWUlkGinTlp5upvrdmtbqVFy1ex5XiHikcP7kNZfRevn5HqGTMlw2dt2GNrBsGJ2udncdpXZGKjsfL1sRUrSzVJNlxZGkp5TyXFaGXJmNeNoxG1rhi07QsZRUlZm6jiKlGWam7P87bHknDDgw6xvBBLoXnmOOcHPcft26epcVWnkfkfW+H4+OKjZ6SW6/dHPLUegJAekfZTbrzJrO7M0iRu59WvG6rQf8AJdWGlo0fOeO0UpQqrvo/lt+eRk8IbHdf7Jcw9Rw/NexhJ7x+Z8xWWzMoRLsuaC9HHgNwWtsyOdmZi7efmuhbGtmfLHdNFsTMQaIC3Z5a4HP81i0ZIkls9d6iYsRWaxue8MGc6829JzUYuTKo3djq7JwMnj/qktLQxzsK4i7UUwXnzx1Oayo78FRlHEU2+UasNRoOnQdBDh7iVyTaPppL8+hciOuucDMdDiPzC55NGiS0/OCxG8fL5Fc82a2tfzlE7HjWP21c03+fI12/PmVst2bjIXtaAXHNSldGZbMBNRxMbvTX7WOTFxvSf53OHdkCYYNY7aaZ19Uq9Pk8fJLgidkiZuAifvor1YPuTK+CN2TpG543k+yaBZKpF9xlYHIpDi5rgNoPyVzLklmMWEZmneQUuLC5Oc7sN6XQsPgMw6ygGuF37wTYB8SBnKXA9QMwQo1CUIG2zHSpcWC4to2pdlHrqCgGoSqAhAdSXB3HAeztggntUmYA4+pGLzqbzTurzsbV7canVhaTnJRW7dkeaWu0uke+R/Se4vO9xqV4Dd3dn6JTpqnFQjstCJDI3uBmQuV2gNd/aYA+TaK4M/yPuBWylDPI4fEcX7NRuviei/n5fwe0sYAAAAAAAAMAAMwA1LvPi223dkVrtTIml8j2saM7nENHaUbSV2ZU6c6kssFd+RnWPhRZJXhjJ2FxNADVtTqbeAr1LBVYN2TOmpgMTTjmlB2NdbDjM/L+TBabPJCfKbzT5rxix3Uae9YTjmi0dGExDoVo1F239O54OQRgRQjAjUdIXnH3foJAdZ9mU123AefFI3suv/8AFbqD988rxmN8Lfhr90b/AAri/qyb2ntaPEr1cO7TPjqi905+4vQOYuxx4DcFg2U5eZvOd7R+a6VsaiGaC8Kdit7AznNINDnWwg4CgLVntGh3b4rFoyRs5JoJA7QK1OJwIpgBiTsXPXV4NM6MNRnVqKMFqdZBwqnAusY640BrS4UdQCgJbQ03LyJUEu59G/CYxSvUV+Ft+tyrLwvtkbqPLCDmdc9x2rJUYSXundDwvC1Y3he63V/zQuQcMJz6Pu/VaJ07HLU8MhHZv9f6LkfCeU52x90+K55OSOOeEUdmydvCF3mR9i5Z15L/ABRzSpyj3DbwgPo2dS5n4g4STcFby3NEnJbk0uX2tALmx0OmuG7NnXsUI+0Qz0ndGtzSImcJIT5MZ6wt/stVdh1I8j/x+DzI+81T2arwOpHkP+LwH/jb3meKnQq8MZoiGUrMf+Md5vinSrcMuaI5tFmOeP3/AFTLWXI90EmyH/j9wKt63mT3BcTZD/xu7v0TPWXdjLAjdk6xHyCP8Por1qy7sZIAnJFh1fD9Ffaa3JOnDgY5GsWunUntVbkdKJE/g/Yj5Y6yfFVYyqidKIH8sWM5pB2nxWXt1UdGIhwTsuiQd5X2+p5E6KH/AJSh0SN730RY6fA6KAdwOYc0o7w8Fl7fL/UnQRp2nIt6xGyMcG1ABfeBJ5952FNObrXJXqurfzOzB1Fh6kZ2vY5V32bu0Sj3eK5Omz3F46u8PqRu+zeXRI33eKnTZmvHId4s63gbkI2OJzXAue994uAFKAANaMdGJ/yK6KVoLU8nxHF+1VFJKySt/J0F/Y7u+C3Z0efY874WcH7ba5i8gcW0kRsqaNbr9o5yerQuSpmm7n0WBxuEw9NR1u93b80Rwdrszo3uY8Uc00IWk96nUjUipR2Z6/wAym6extMhvPY50Zcc5u0LSdt1zcV3UZZo6nx/itCNHENR2ev6/wB3OjW4848Ey4wC0zgZhPN/+jl5k/iZ97hnejTb/wBV9kUlDcdN9nA/+fHsbKf/AKyPzW2h/wBiPN8X/wDUl6r7nV8J8Z5P8PwNXqUfjR8ZP4WYohXfc57F6OLAbgtb3MrHHzt5zvad812LZHO9wQ1CkVps14YZx+6FVSsGjNLaYFbLmI4CFLFmtLmHmlYtJlNSC3udme6uqpWpwS7GSZOJneUS4HAgmoI2hYuKZuo1qlGaqU3ZokijAxa8XdTq3hswBrTWuWdFs+oj45h5006qal3SWnqv4LLbfGKC8SToDT2mpFAtDwM5HBV8WpP4Yv6BDLkYrRryBpJArsAWD8JT+KRwzx+baIB4QGleLaBoqSSVf+Fw/e7+ZzSxEmUrZb3yjn0aytQGjE7ta68NgaGGb6UbN7mqUnLcrslecG4NGv8AMrraS3MSQWoNzAOOvR1KZbgma+uL8Bt8FLcFDFpYM3aQVMrBI1t7GvbgmwJA1o013FTUBXzow3KFCbG86T1kpoAxhneeolQBi1OGYu7SplRdRxa5dD3dRKZI8C7DbNL57usqOEOBdkgmk0vKmSPBbsIWxw8onqCx6UOEMzEbc/Z1tb4KdGnwXOzR+0O0mzwwGINa5z6EhrcQGE6tdF5GI0Stye94Ph6dapNVFey/c4YcJbR547oXJnlye9/xuG/1DbwqtA8odiueXJi/CsN/qepcG2NlssMjxVz42ucQ54xOfMV200nFM+WxkFTrzhHZPQ0JbEyhpeBoaG+/PTDSsnBHOnrqeSS8N7UxxYaBzSWuFXYEGhGfWuLNJbn0q8Mw8rON7Mw7VaXSvL3Yueamgzk6AFrPZpU1TgorZHsvArJTrNZGMfg81keNTnmt3eBdHUvQpRyxsfG+I4hV8RKUdtl8v5NqeYMa57jRrQXE6g0VJ9yzbsccYuTUVuz5+tExe9zzne5zzve4uPzXmN3dz9AjHJFRXZJfoRoU7P7KrNetUj9EcJHXI5tPc1y34de9c8bxypahGPL+y/s2sqSXppD6xHUMB8l6VFe8fJz2K11dppsXY48BuC1t6lOItDee72nfMrtjsjme4ICFCDUKiG02QP2HX4qqVhYy3xlpoRQrZe5iIIUIKFLkFsI6WI96xcSmnZXNdiOzSTqWt6GSJ5IAa3v8j/4hY3sUryWAYHusObrWSkSxDJZnNxeLztAGIG/wVTT0QsAY/KkOOhoz/RX0BPZLJLO5rI29LBrRQVoK6dgKxlKMFdhK5oy8HrRG1zhDUMaXOdxkLyAM5uteTQblrVeDdrmWRohsOQbRO3jGtq29dvF8bcaVoA5w0FWVaEXYKDeoU+TJIpGRcWOMkNGc+N14k0ztcQMddFFVjJN30QcWiw7gxbHEgxZq4CSEnDPzQ+qntFPn7lySFYODU0jA9kd9pqRR8Ta0NDgXA6FJV4p2YUGQZQs8kBDXsDC4VHOY8kVp5BKyhOM9URpoe2WC0RuDZWuaXNvAEjEdR92dWM4S2Di1uO+xPYxj3khj7waag3rpo4DGuG5TPFtpDKyW3Qugdcla5rqVo6mI1gjAjcpGSkrorTRYjsdpdI+JsYvxgFzS+MUDgC3EuAOBGZYupCydxldyWXIlsHSjpiB/chGLiAB0tJIUVamXJIrxZOnc90d0h7KlwJaLoGcuJwA21WTqQSuTKyMRnS9ZXuSwVWjST2pqDW+1EXrJZ3jNxrfiheR8l4WKWnzPpfAZf+aa5j+6PM1xn04kB6z9mOUBJZOLJ50L3N/xeS9h3YuH+K7cPK8bcHynjVFwxGftJfVaP+ToMp2q6KaVvPHOatHA2C1EyPvMec74yAT7QIIO+lVqnSjI78L4jWw6yqzXD/EzSyHwMs1mcHtDpJBmfIQbu1rQA0HbSu1IUYx1MsT4pXrxyuyXC/LnRLaeccT9pmXBHDyZh58w59PJjrjX2iKbry5sROyy8nt+DYRzqdaW0dvX+jy1ch9QJAeofZ5ZeIsUk7ulKS4a7rObGOtxcf8AJduHjaN+T5Xxqvnrqmv8V9Xv+yIbPFWpXdR7s8OZOIQui5rLsceA3Bam9TI4G0t57vad8yu+OyOR7kYCoCAUMkEAhQJ7OHih7dIVTaFjKtFlczPiNf7zLYpXJYiCoJI2VNP2BrUZS60asKDP5jTp9pyxKWYrW4UqK+Yw5/acVi4opdhtTSaeWc+kN3FYOJSywAdHnOOnOOpY+pRpLOzywHO1at5S77Cxf4PBsVqimkdcY2/nzC9G5ow6wtda7g0jKGjuVLLkiCFspba47xikA4hzw+RxxbG4FuLDmIWtzcrJoyy2L+SgzkPFTmzB3KDJdtTXPbd4sNq0M8qv5qVPjvG+3YR21M2xsgs9qhc2SFzTK17nR3rkYvgkUcMABm2BbPenBqzJoma9gyrZzNPKyGKKdskxhtDzKYpA4uBLsea5wJNaEYrTKErK+xmmjK4I8VZ5xJLI0f05Wk6KubQYrdWTlDRGEdGQ8F32eIiWUUbE2+GZ3yvHQY0b8TU6Faillsu4ja+prWnKkNpgkZWdkjXOnjfOWUcXHnwtczMDnAOmmpaoxlTkmZNpoqZQo6y2SO8L7HTl40tD3AtrvWa/7JMj2RqZUy3FLNNFOeNsxc3i3N6cJuNDnRnSK1qP9LXCnJJOOjK5LZmTwitMUtpmcykjTco7QaRMBp1ghbaUXkszGT1D4S2hktre+MhzbkQDhrDACO1SjC0dRJ6lrKmUny2WCMPrI4uE1BR7mRk8SHu0ih61jGCU3x2K3dFCOxO2Bb8yMLEosgGdwTMU38uWblGSnBuJjYHDSawmpG8tBHWvKxcPiXzPV8KrKniYN7PT9dDyVeYfbCQhp8HsuPscwlbiKXXsrS+06N4zgrOnNwd0cuNw0cRScJacPh/m56PYcpMthD4nXm+9uxw0Fd8ZKSuj4utRnSllmtTqbPHQALI1EqA5nhTwxisoLGESTaGA1azbIRm9nOdmdaalZR0W56eB8MqYh5paR559DyO2Wp8r3SSOLnvNXOOk+GYAaguJtt3Z9dTpxpxUIqyRCoZF3I2TXWmdkLM7zifNaMXvO4e+g0rKEXJpI04ivGhSlUl2+r7I9Wy/I2NkdnjFGtDcBoDRRjfz7F6SVlY+EnNzk5S3epnxRUC7IqysaHqyZsOxW5LGhHFgNwWpvUyPO7U3nv8Aad+Ir0I7I5HuyK6siDgKFDAQyCAUKOWVzoUoWnJmlnd8Cs1PkliKKEtwIxOg684buGc9St7iwY0eVU4D0jtLj6oUKG0GpANXeW/Q0agUA7BUEMwYOk86f3qU9QHA89GGoGl2YnedAUfMilqPKFzAUkdr0dVM6mS5blsWgHGUluw4nqAWFuCk0UzDhGG/N3YsXG25SY2TS8gb8SpfgDi43otG8pZgY2UvztFN1Al0gCckxjpGmwEq532FhckjHRad7qFLsWGdZnuwDuoNS6AAyO86R11V6kRZhjJNM7h1KZxYIWNozNJ60zAcNcOjGB2JpyBi2Q6Oyie6BxZZT5LkzItmSMyc/UpnQsdJwWBZejfmdzgOqjh2U7CubEWepnB2PL+FORzZbS+KnMrejOtjs3Zi3qXi1IZZWPvMFiViKKn32fr/AHuZKwOorWmTQskjnqz7FjJVokidfje5jvOaSDuOsbCrmaehiqEKkbTSa8zqIOHttaKGRjtro21+Giy68zml4PhZO9mvR/zcp5Q4WWyYEPncGnyWARjtaAT1lSVWb3ZupeHYak7xgr+ev30+hiLWdwkIL9/6QHq/A/IgsMBmmH9aQCo0tGdsY26T9F20aeVXe58j4pjvaJ5IfCvq+f4CszTI8vfjjXedW4LrhG7ueSzRAGgLaYjOZqVBbjZgNwWtvUp5rax/Uf7bvxFejHZHE92RUWRBUQo4ChQgEKGAoZEsEdTXV++zT1LFsqJZrO1wo4VGb1scboOs5yom0Uoz5NcCbpHrHzG+Y3Wtimu5LFItFOcCyMZm+U86/wB5ll9yBEVAL+awdFgznd4pttuUIBzxoZGOz9RU0XqUJkoHNhaSfOOJ6hoCP/6ARs4GMrsfNGJ6yl+AG2dx5sTaDZiesqW5KTMiLcXyEbAalS6eyBMMrXei0Ha7P7lMl9y3LEVukfnYab6D3rHKkLlgSRjpupsGP77FjZ9ikjLbDox9rD5plkXQlba69Et6qFY5QSCJ7tfWl0gGLHrICmYWCETBnNdyXYCDmDM3tU1KPx+oAJYC4xx+gSyA4jcdal0CaCFzSHDAg1CjaegLPCbIbbdAKUbKypY4+S452OPmmg9x0LgrUsysel4fjXhql/8AF7r9/VHjdvhfE5zJGlr2mhac4P70rz7NOzPsOrGUFOLumZzBeKy2Rzx96ReaKLA7ErIdCiQCQBMYSQGgkk0AAqSTmAAzlA2krs9L4HcERZwLTa6cYMWMziLa7W/dm35uyjRtrI+Y8S8U6t6VL4e75/r7mpaZHWh+GDRmGoaztXSlc8MvR2YNFMKBb0Yh3G6x7k1Aqs1/NNQXI24DcFqe5Ty61j+o/wBt34ivUjsjie7IqKkFRAIBAEAoZBgKFLsbKAD/AFrqdmnqGtYMzDaNWGFanyQc7z6xQoqCgqDd8lul51lANPA0kcY0Ofobobq/0ifAKVoyUAS4m+7Qw5hvI+SzVTsSxUnsrxzpyWjQ0adjRmCyUltEW5Bjkc7mwtujSdPW5GktWB+KjZ0zfdqbm6yl29ikjJpH4Rtuj1cO1yWS3A/JGt/uPx1NxKma+wsELU1v9tg3uxKWb3KGBK/XTuj6qe6gGLEB03gbBiUzcCwQdE3M0u3/AL/JT3mULlx8lrW+9MvIDaZXed+EKe6hqTR2WXzqf5FTNEWJmimeXsoVPkUkFraNLndQ8AplYuGMp0zMHXRTILj/AMWfoDR1HxTpotxxlKQ6uoFMiFyRtplPk/i8VLRBbsVrmYaho2gnOO1YSjFoqbKfC3JUdtAJFHgYPHTbsPnN/YouGrSvuduGxlSh8O3HY4a18DbVAL3FmRnnxgu7zBzh7xtXHUpSR9Jg8fh6mjdnw/52MiujSM40jetJ61h0IOwVN1uJOYDEncBiUD0V3sdJkfgPap6FzOJZ50uB6o+l20W2NGUvI83EeK4elonmfC/nb7nfZHyDZrAKjny06bqF+5ozMH7qV1wpKB87i/Ea2J0lpHhbfPkG1Wl8pxzDMNA8St8YNnBceMUFAt6ikrGIYCosSNaoA2tUBrwM5rdw+S0N6mR5Za/7j/bd+Ir1I7I4XuyJZEEgEgEEBYsrca6lhIzRaHbs16aHUNJ6gsTIVesE9cjtfshDIME1woX6ToYNQUA8eqPE+U8/lqCPzKOxwaaMF53neA/NH5gdzGjGQ3j5o/MqXb2KRS2LjRQC431eaPqslLKSxSdkxjOj/UO3mj6rLO35C1iJ7J3YXS1uzBvbpVTiiakYs8bem+p1Nx96t29gELaG/wBtgG04lMt92W5IBM/zqd0Ke6hqELEG9N7RsGJTNwi2CDoW6HO35vyU94BjKFOixrUyci44nldmr1CnvUtFDUNtkkdn95TMgSixU6T2hTMWwYjiGd5O7/Sl5AISRDySf3vS0hoGLY0ZmD3eCmXzFwuXu0UCZUW4uVv1+4JlQuLj3ece1LICBxrU1GmuKjSYNqw5dc0Ue0OGsYHwWiVD/UyuXZbXZZv7sbHf9kbXfOq55Un3Rup15w+CTXoyuMn5PGPEQV/6R4LX048G727E2t1Jfqy3HboYxSKMN9lrWD3LNRtsjROpKfxNv1ZXnyq92ajRsz9qzVOT7Gu5RrUrbGkluS4bSthCQFCkgKgDBUKG0qA2rOea32R8lzy3ZkeUWv8AuP8Abd+Ir1Y7I4HuyJZEEgEgEgLsbaCn+v34UWt6mSCJ11pmOvHEMHrHOUMgwTU5g6nOOiMeaNqhkIUI82PX5Tyn3KGOcPMjHafEqfcBRuJwjFBpcc/WU9SjBzG5ue7X5PUNKasEhjc7F5ujb+QUulsUQlY3oip1u/IJZsEl2R+fAbcB2JdIpC+xQ+VRx9XD3hXNLsSyIzC0f22hvxFW77ggkybO7yqju+5VTihZkRyQ5vTIG7nK9S+wsDWFuhzjtw8FfeY0CFvA6LGhTJyxcTre86abgEyIXIzM45yT1lWyIIFCkgKgDBQBgqFDBUAYKAMFQBcZRALjdX76liUikeB0303uDfdgsW0u5koyeyIxLD5ze99VM0eTLpVOGTxxNPQd2EH5Jp2MWmt0StMjcxrvxQhYhtoODhT5fRAXWuQEgKhSQFQBgoUMFQG5Z+g32R8lzS3ZkeU2v+4/23fiK9WOyOB7siWRBIBICSztqd2PgoyotE/vRrqdgwPdWJRNOrDCtT5AOdx9YqFQqigr0fJbpedZQobjQ1fi7yWDMNVfBT0MvUJ+GMpqdDB+eoIvIvqEQ5wq4hjNA8BpU0WwHZMBhG3HzjieoaEtyX0CMOmR3VnP0UvwB22gDCNuOs4lLX3LcMwvdi40G0/kl0tgICNuclx2YBNWULllOi0N95Uy8i4Dp3HOSrZAEFAORXOgANlYfJHVh8lbsAHJ7No3HxVzsWBOTRocesVTOSwP8OdocOuoTOhYbkD9nb4q5kLC5I/zfkmZCw/EO809iXQsPcOo9hUKOEAV5AU7XLTfqWEnYzjFspvme7CtBqGHvWmTbOiEYoiFmWvKdGcIWZMozhtsymUZy/ZrTI3TeGp2PvzrNSkjVKnCXkaUUrX7Dq0/VbE0zmlTcSaMlm5UwL0cgIQErSoUkaoCRoOoqFN2zdBvsj5LnluynlNr/uP9t34ivUjsjhe7IlkQSASAt2dtG7/ksGzJBfuh0kY47BnO3DQoBq7yCcBpkd5x9VUBNJvYYv0nyWDYp9ioKM40j5ztLzo101b0fmZIdrg083nv15wNw0qblCczTK7HzRn+inoX1DZI52Ebbo2fm5NFuUXFsb03Xjqb+ZS7ewH5ZTBgDR2lMvJbkLnk5yTvVIOEAQKFHCgDBQDgqFCCAIIAgoAgUKECoAwUAQKgCBQBVQoLyoypFR1lBxICwsbcyELENQ7ApYZgxY26h2BLFzhCxN80dgUsXOELE3UOxLDOELENQ7FLDOG2xjUEsM5diGggdiyuapJdiRjKHBCFlpUAYKAIFAacPRG4fJaHuZHGZS4K0lfSXAuJxZmvGtK3sc67IYj3VocsqWu5W/lf734P1LL2jyJ0vMX8r/e/B+pPaPIdLzF/K/3vwfqT2jyHS8y0eDv3m7mdnlblj1/IuQH+XPvMMa8zQPJre14nWr1/IdMX8unPxvOdhW5mGpovYJ1/IdMR4N+QJaN08zF283lOv3sOn5jv4PE80SXW6gzPvN7FFX8i5A3ZBu4Mku6zcqT13lOtfdGWSwouDYAvF947W4fiVda/YqgKXIjnYcbQagyg/EnVXAykX8ufefB+pOt5Eyhfy5958H6k63kXKP8Ay9958H6lOt5FyDjg9958H6k63kMg44P/AHnwfqTreQyhDIH3nwfqTreRcg4yD958H6k63kMo4yF958H6lOt5DKEMhfefD+pOt5FyDjIf3nw/VTreQyD/AMD+8+H9SdbyGUf+C+v8P1Tq+RLD/wAH9f4fqnV8hYIZH9f4fqnV8hYcZI9f4fqnV8hYIZI9f4fqp1PIWHGSvX+H6q5y2H/hXr/D9VM5Bxkr1vh+qZyhDJXrfD9UzgcZM9b4fqpnAQyb63w/VM4H/hvre76qZwP/AA/1vd9UzgL+H+t7vqmcDiw+t7vqpnAfIvW931TOUcWPb7vqpnAQsu33fVMwCFm2+76pnBqx2agArmAWpsyP/9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8134" name="Picture 6" descr="http://www.jayblock.com/wp-content/uploads/pic_certainty.jpg"/>
          <p:cNvPicPr>
            <a:picLocks noChangeAspect="1" noChangeArrowheads="1"/>
          </p:cNvPicPr>
          <p:nvPr/>
        </p:nvPicPr>
        <p:blipFill>
          <a:blip r:embed="rId3" cstate="print"/>
          <a:srcRect/>
          <a:stretch>
            <a:fillRect/>
          </a:stretch>
        </p:blipFill>
        <p:spPr bwMode="auto">
          <a:xfrm>
            <a:off x="6019800" y="0"/>
            <a:ext cx="3124200" cy="1828800"/>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5943600" cy="1219200"/>
          </a:xfrm>
        </p:spPr>
        <p:txBody>
          <a:bodyPr>
            <a:noAutofit/>
          </a:bodyPr>
          <a:lstStyle/>
          <a:p>
            <a:r>
              <a:rPr lang="en-US" sz="3600" dirty="0"/>
              <a:t>Decision-Making Conditions: </a:t>
            </a:r>
            <a:br>
              <a:rPr lang="en-US" sz="3600" dirty="0"/>
            </a:br>
            <a:r>
              <a:rPr lang="en-US" sz="3600" dirty="0"/>
              <a:t>Risk &amp; Uncertainty</a:t>
            </a:r>
          </a:p>
        </p:txBody>
      </p:sp>
      <p:sp>
        <p:nvSpPr>
          <p:cNvPr id="3" name="Content Placeholder 2"/>
          <p:cNvSpPr>
            <a:spLocks noGrp="1"/>
          </p:cNvSpPr>
          <p:nvPr>
            <p:ph idx="1"/>
          </p:nvPr>
        </p:nvSpPr>
        <p:spPr>
          <a:xfrm>
            <a:off x="381000" y="1600200"/>
            <a:ext cx="8458200" cy="4525963"/>
          </a:xfrm>
        </p:spPr>
        <p:txBody>
          <a:bodyPr>
            <a:noAutofit/>
          </a:bodyPr>
          <a:lstStyle/>
          <a:p>
            <a:pPr marL="342900" indent="-342900" eaLnBrk="0" hangingPunct="0">
              <a:spcBef>
                <a:spcPct val="20000"/>
              </a:spcBef>
              <a:buFont typeface="Arial" charset="0"/>
              <a:buChar char="•"/>
            </a:pPr>
            <a:r>
              <a:rPr lang="en-US" sz="2400" b="1" dirty="0"/>
              <a:t>Risk - </a:t>
            </a:r>
            <a:r>
              <a:rPr lang="en-US" sz="2400" dirty="0"/>
              <a:t>a situation in which the decision maker                                 is able to estimate the likelihood of certain outcomes</a:t>
            </a:r>
          </a:p>
          <a:p>
            <a:pPr marL="900684" lvl="1" indent="-342900" eaLnBrk="0" hangingPunct="0">
              <a:spcBef>
                <a:spcPct val="20000"/>
              </a:spcBef>
              <a:buFont typeface="Arial" charset="0"/>
              <a:buChar char="•"/>
            </a:pPr>
            <a:r>
              <a:rPr lang="en-US" sz="2000" dirty="0">
                <a:cs typeface="Arial" charset="0"/>
              </a:rPr>
              <a:t>Far more common situation than certainty. </a:t>
            </a:r>
          </a:p>
          <a:p>
            <a:pPr marL="900684" lvl="1" indent="-342900" eaLnBrk="0" hangingPunct="0">
              <a:spcBef>
                <a:spcPct val="20000"/>
              </a:spcBef>
              <a:buFont typeface="Arial" charset="0"/>
              <a:buChar char="•"/>
            </a:pPr>
            <a:endParaRPr lang="en-US" sz="900" dirty="0">
              <a:cs typeface="Arial" charset="0"/>
            </a:endParaRPr>
          </a:p>
          <a:p>
            <a:pPr marL="342900" indent="-342900" eaLnBrk="0" hangingPunct="0">
              <a:spcBef>
                <a:spcPct val="20000"/>
              </a:spcBef>
              <a:buFont typeface="Arial" charset="0"/>
              <a:buChar char="•"/>
            </a:pPr>
            <a:r>
              <a:rPr lang="en-US" sz="2400" dirty="0">
                <a:cs typeface="Arial" charset="0"/>
              </a:rPr>
              <a:t>Under risk, managers have historical data from past personal experiences or secondary information that lets them assign probabilities to different alternatives.</a:t>
            </a:r>
          </a:p>
          <a:p>
            <a:pPr marL="342900" indent="-342900" eaLnBrk="0" hangingPunct="0">
              <a:spcBef>
                <a:spcPct val="20000"/>
              </a:spcBef>
              <a:buFont typeface="Arial" charset="0"/>
              <a:buChar char="•"/>
            </a:pPr>
            <a:endParaRPr lang="en-US" sz="1000" b="1" dirty="0"/>
          </a:p>
          <a:p>
            <a:pPr marL="342900" indent="-342900" eaLnBrk="0" hangingPunct="0">
              <a:spcBef>
                <a:spcPct val="20000"/>
              </a:spcBef>
              <a:buFont typeface="Arial" charset="0"/>
              <a:buChar char="•"/>
            </a:pPr>
            <a:r>
              <a:rPr lang="en-US" sz="2400" b="1" dirty="0"/>
              <a:t>Uncertainty - </a:t>
            </a:r>
            <a:r>
              <a:rPr lang="en-US" sz="2400" dirty="0"/>
              <a:t>a situation in which a decision maker does not have certainty and can not even make reasonable probability estimates concerning the alternative outcomes.</a:t>
            </a:r>
            <a:endParaRPr lang="en-US" sz="2400" dirty="0">
              <a:cs typeface="Arial" charset="0"/>
            </a:endParaRPr>
          </a:p>
          <a:p>
            <a:pPr lvl="1"/>
            <a:r>
              <a:rPr lang="en-US" sz="2000" dirty="0">
                <a:cs typeface="Arial" charset="0"/>
              </a:rPr>
              <a:t>Under these conditions, the choice of alternative is influenced by the limited amount of available information and by the psychological orientation of the decision maker.</a:t>
            </a:r>
            <a:endParaRPr lang="en-US" sz="2000" dirty="0"/>
          </a:p>
          <a:p>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dirty="0"/>
          </a:p>
        </p:txBody>
      </p:sp>
      <p:pic>
        <p:nvPicPr>
          <p:cNvPr id="46082" name="Picture 2" descr="http://www.risk.net/IMG/750/145750/regulatory-uncertainty-185x114.JPG"/>
          <p:cNvPicPr>
            <a:picLocks noChangeAspect="1" noChangeArrowheads="1"/>
          </p:cNvPicPr>
          <p:nvPr/>
        </p:nvPicPr>
        <p:blipFill>
          <a:blip r:embed="rId2" cstate="print"/>
          <a:srcRect/>
          <a:stretch>
            <a:fillRect/>
          </a:stretch>
        </p:blipFill>
        <p:spPr bwMode="auto">
          <a:xfrm>
            <a:off x="6781800" y="0"/>
            <a:ext cx="2362201" cy="1905000"/>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http://cdn10.steveseay.com/wp-content/uploads/2011/07/decision-making.jpg"/>
          <p:cNvPicPr>
            <a:picLocks noChangeAspect="1" noChangeArrowheads="1"/>
          </p:cNvPicPr>
          <p:nvPr/>
        </p:nvPicPr>
        <p:blipFill>
          <a:blip r:embed="rId2" cstate="print"/>
          <a:srcRect/>
          <a:stretch>
            <a:fillRect/>
          </a:stretch>
        </p:blipFill>
        <p:spPr bwMode="auto">
          <a:xfrm>
            <a:off x="7239001" y="0"/>
            <a:ext cx="1904999" cy="1905000"/>
          </a:xfrm>
          <a:prstGeom prst="rect">
            <a:avLst/>
          </a:prstGeom>
          <a:noFill/>
        </p:spPr>
      </p:pic>
      <p:sp>
        <p:nvSpPr>
          <p:cNvPr id="2" name="Title 1"/>
          <p:cNvSpPr>
            <a:spLocks noGrp="1"/>
          </p:cNvSpPr>
          <p:nvPr>
            <p:ph type="title"/>
          </p:nvPr>
        </p:nvSpPr>
        <p:spPr>
          <a:xfrm>
            <a:off x="457200" y="304800"/>
            <a:ext cx="6781800" cy="1295400"/>
          </a:xfrm>
        </p:spPr>
        <p:txBody>
          <a:bodyPr>
            <a:noAutofit/>
          </a:bodyPr>
          <a:lstStyle/>
          <a:p>
            <a:r>
              <a:rPr lang="en-US" sz="4000" dirty="0"/>
              <a:t>Decision-Making Conditions: </a:t>
            </a:r>
            <a:br>
              <a:rPr lang="en-US" sz="4000" dirty="0"/>
            </a:br>
            <a:r>
              <a:rPr lang="en-US" sz="4000" dirty="0"/>
              <a:t>Risk &amp; Uncertainty</a:t>
            </a:r>
          </a:p>
        </p:txBody>
      </p:sp>
      <p:sp>
        <p:nvSpPr>
          <p:cNvPr id="3" name="Content Placeholder 2"/>
          <p:cNvSpPr>
            <a:spLocks noGrp="1"/>
          </p:cNvSpPr>
          <p:nvPr>
            <p:ph idx="1"/>
          </p:nvPr>
        </p:nvSpPr>
        <p:spPr>
          <a:xfrm>
            <a:off x="457200" y="1905000"/>
            <a:ext cx="8229600" cy="4373563"/>
          </a:xfrm>
        </p:spPr>
        <p:txBody>
          <a:bodyPr>
            <a:normAutofit fontScale="92500" lnSpcReduction="20000"/>
          </a:bodyPr>
          <a:lstStyle/>
          <a:p>
            <a:pPr hangingPunct="0"/>
            <a:r>
              <a:rPr lang="en-US" b="1" dirty="0"/>
              <a:t>Uncertainty</a:t>
            </a:r>
          </a:p>
          <a:p>
            <a:pPr hangingPunct="0"/>
            <a:endParaRPr lang="en-US" sz="2400" dirty="0"/>
          </a:p>
          <a:p>
            <a:pPr marL="342900" indent="-342900" eaLnBrk="0" hangingPunct="0">
              <a:spcBef>
                <a:spcPct val="20000"/>
              </a:spcBef>
              <a:buFont typeface="Arial" charset="0"/>
              <a:buChar char="•"/>
            </a:pPr>
            <a:r>
              <a:rPr lang="en-US" sz="2400" dirty="0">
                <a:cs typeface="Arial" charset="0"/>
              </a:rPr>
              <a:t>The decision is influenced by the psychological orientation of the decision maker.</a:t>
            </a:r>
          </a:p>
          <a:p>
            <a:pPr hangingPunct="0"/>
            <a:endParaRPr lang="en-US" sz="2400" dirty="0"/>
          </a:p>
          <a:p>
            <a:pPr marL="342900" indent="-342900" eaLnBrk="0" hangingPunct="0">
              <a:spcBef>
                <a:spcPct val="20000"/>
              </a:spcBef>
              <a:buFont typeface="Arial" charset="0"/>
              <a:buChar char="•"/>
            </a:pPr>
            <a:r>
              <a:rPr lang="en-US" sz="2400" dirty="0">
                <a:cs typeface="Arial" charset="0"/>
              </a:rPr>
              <a:t>1) An optimistic manager will follow a </a:t>
            </a:r>
            <a:r>
              <a:rPr lang="en-US" sz="2400" dirty="0" err="1">
                <a:cs typeface="Arial" charset="0"/>
              </a:rPr>
              <a:t>maximax</a:t>
            </a:r>
            <a:r>
              <a:rPr lang="en-US" sz="2400" dirty="0">
                <a:cs typeface="Arial" charset="0"/>
              </a:rPr>
              <a:t> choice, maximizing the maximum possible payoff. </a:t>
            </a:r>
          </a:p>
          <a:p>
            <a:pPr hangingPunct="0"/>
            <a:endParaRPr lang="en-US" sz="2400" dirty="0"/>
          </a:p>
          <a:p>
            <a:pPr marL="342900" indent="-342900" eaLnBrk="0" hangingPunct="0">
              <a:spcBef>
                <a:spcPct val="20000"/>
              </a:spcBef>
              <a:buFont typeface="Arial" charset="0"/>
              <a:buChar char="•"/>
            </a:pPr>
            <a:r>
              <a:rPr lang="en-US" sz="2400" dirty="0"/>
              <a:t>2</a:t>
            </a:r>
            <a:r>
              <a:rPr lang="en-US" sz="2400" dirty="0">
                <a:cs typeface="Arial" charset="0"/>
              </a:rPr>
              <a:t>) A pessimistic manager will pursue a </a:t>
            </a:r>
            <a:r>
              <a:rPr lang="en-US" sz="2400" dirty="0" err="1">
                <a:cs typeface="Arial" charset="0"/>
              </a:rPr>
              <a:t>maximin</a:t>
            </a:r>
            <a:r>
              <a:rPr lang="en-US" sz="2400" dirty="0">
                <a:cs typeface="Arial" charset="0"/>
              </a:rPr>
              <a:t> choice, </a:t>
            </a:r>
            <a:r>
              <a:rPr lang="en-US" sz="2400" dirty="0" err="1">
                <a:cs typeface="Arial" charset="0"/>
              </a:rPr>
              <a:t>maximising</a:t>
            </a:r>
            <a:r>
              <a:rPr lang="en-US" sz="2400" dirty="0">
                <a:cs typeface="Arial" charset="0"/>
              </a:rPr>
              <a:t> the minimum possible payoff. </a:t>
            </a:r>
          </a:p>
          <a:p>
            <a:pPr marL="342900" indent="-342900" eaLnBrk="0" hangingPunct="0">
              <a:spcBef>
                <a:spcPct val="20000"/>
              </a:spcBef>
              <a:buFont typeface="Arial" charset="0"/>
              <a:buChar char="•"/>
            </a:pPr>
            <a:endParaRPr lang="en-US" sz="2400" dirty="0">
              <a:cs typeface="Arial" charset="0"/>
            </a:endParaRPr>
          </a:p>
          <a:p>
            <a:pPr marL="342900" indent="-342900" eaLnBrk="0" hangingPunct="0">
              <a:spcBef>
                <a:spcPct val="20000"/>
              </a:spcBef>
              <a:buFont typeface="Arial" charset="0"/>
              <a:buChar char="•"/>
            </a:pPr>
            <a:r>
              <a:rPr lang="en-US" sz="2400" dirty="0">
                <a:cs typeface="Arial" charset="0"/>
              </a:rPr>
              <a:t>3) The manager who desires to </a:t>
            </a:r>
            <a:r>
              <a:rPr lang="en-US" sz="2400" dirty="0" err="1">
                <a:cs typeface="Arial" charset="0"/>
              </a:rPr>
              <a:t>minimise</a:t>
            </a:r>
            <a:r>
              <a:rPr lang="en-US" sz="2400" dirty="0">
                <a:cs typeface="Arial" charset="0"/>
              </a:rPr>
              <a:t> the maximum “regret” will opt for a </a:t>
            </a:r>
            <a:r>
              <a:rPr lang="en-US" sz="2400" dirty="0" err="1">
                <a:cs typeface="Arial" charset="0"/>
              </a:rPr>
              <a:t>minimax</a:t>
            </a:r>
            <a:r>
              <a:rPr lang="en-US" sz="2400" dirty="0">
                <a:cs typeface="Arial" charset="0"/>
              </a:rPr>
              <a:t> choice. </a:t>
            </a:r>
          </a:p>
          <a:p>
            <a:endParaRPr 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59</a:t>
            </a:fld>
            <a:endParaRPr lang="en-US"/>
          </a:p>
        </p:txBody>
      </p:sp>
      <p:pic>
        <p:nvPicPr>
          <p:cNvPr id="5" name="Picture 2" descr="http://image.slidesharecdn.com/decisionmakingstyles-121208070103-phpapp01/95/decision-making-styles-1-638.jpg?cb=1354972107"/>
          <p:cNvPicPr>
            <a:picLocks noChangeAspect="1" noChangeArrowheads="1"/>
          </p:cNvPicPr>
          <p:nvPr/>
        </p:nvPicPr>
        <p:blipFill>
          <a:blip r:embed="rId2" cstate="print"/>
          <a:srcRect/>
          <a:stretch>
            <a:fillRect/>
          </a:stretch>
        </p:blipFill>
        <p:spPr bwMode="auto">
          <a:xfrm>
            <a:off x="1295400" y="762000"/>
            <a:ext cx="6787407" cy="5334000"/>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lstStyle/>
          <a:p>
            <a:r>
              <a:rPr lang="en-US" dirty="0"/>
              <a:t>Decision-Making Styles</a:t>
            </a:r>
          </a:p>
        </p:txBody>
      </p:sp>
      <p:sp>
        <p:nvSpPr>
          <p:cNvPr id="3" name="Content Placeholder 2"/>
          <p:cNvSpPr>
            <a:spLocks noGrp="1"/>
          </p:cNvSpPr>
          <p:nvPr>
            <p:ph idx="1"/>
          </p:nvPr>
        </p:nvSpPr>
        <p:spPr>
          <a:xfrm>
            <a:off x="457200" y="1447800"/>
            <a:ext cx="8229600" cy="5029200"/>
          </a:xfrm>
        </p:spPr>
        <p:txBody>
          <a:bodyPr>
            <a:noAutofit/>
          </a:bodyPr>
          <a:lstStyle/>
          <a:p>
            <a:pPr marL="342900" indent="-342900" eaLnBrk="0" hangingPunct="0">
              <a:lnSpc>
                <a:spcPct val="110000"/>
              </a:lnSpc>
              <a:buFont typeface="Arial" charset="0"/>
              <a:buChar char="•"/>
            </a:pPr>
            <a:r>
              <a:rPr lang="en-US" sz="2600" dirty="0">
                <a:cs typeface="Arial" charset="0"/>
              </a:rPr>
              <a:t>Managers have different styles in making decisions and solving problems. </a:t>
            </a:r>
          </a:p>
          <a:p>
            <a:pPr marL="342900" indent="-342900" eaLnBrk="0" hangingPunct="0">
              <a:lnSpc>
                <a:spcPct val="110000"/>
              </a:lnSpc>
              <a:buFont typeface="Arial" charset="0"/>
              <a:buChar char="•"/>
            </a:pPr>
            <a:endParaRPr lang="en-US" sz="1800" dirty="0">
              <a:cs typeface="Arial" charset="0"/>
            </a:endParaRPr>
          </a:p>
          <a:p>
            <a:pPr marL="342900" indent="-342900" eaLnBrk="0" hangingPunct="0">
              <a:lnSpc>
                <a:spcPct val="110000"/>
              </a:lnSpc>
              <a:buFont typeface="Arial" charset="0"/>
              <a:buChar char="•"/>
            </a:pPr>
            <a:r>
              <a:rPr lang="en-US" sz="2600" dirty="0">
                <a:cs typeface="Arial" charset="0"/>
              </a:rPr>
              <a:t>Research shows that people differ along two dimensions in the way they approach decision making. </a:t>
            </a:r>
          </a:p>
          <a:p>
            <a:pPr marL="900684" lvl="1" indent="-342900" eaLnBrk="0" hangingPunct="0">
              <a:lnSpc>
                <a:spcPct val="110000"/>
              </a:lnSpc>
              <a:buFont typeface="Arial" charset="0"/>
              <a:buChar char="•"/>
            </a:pPr>
            <a:endParaRPr lang="en-US" sz="1600" dirty="0">
              <a:cs typeface="Arial" charset="0"/>
            </a:endParaRPr>
          </a:p>
          <a:p>
            <a:pPr marL="342900" indent="-342900" eaLnBrk="0" hangingPunct="0">
              <a:lnSpc>
                <a:spcPct val="110000"/>
              </a:lnSpc>
              <a:buFont typeface="Arial" charset="0"/>
              <a:buChar char="•"/>
            </a:pPr>
            <a:r>
              <a:rPr lang="en-US" sz="2200" dirty="0">
                <a:cs typeface="Arial" charset="0"/>
              </a:rPr>
              <a:t>(1) the source of information a person tends to use (external data and facts OR internal sources such as feelings and intuition),  </a:t>
            </a:r>
          </a:p>
          <a:p>
            <a:pPr marL="342900" indent="-342900" eaLnBrk="0" hangingPunct="0">
              <a:lnSpc>
                <a:spcPct val="110000"/>
              </a:lnSpc>
              <a:buFont typeface="Arial" charset="0"/>
              <a:buChar char="•"/>
            </a:pPr>
            <a:endParaRPr lang="en-US" sz="2200" dirty="0">
              <a:cs typeface="Arial" charset="0"/>
            </a:endParaRPr>
          </a:p>
          <a:p>
            <a:pPr marL="342900" indent="-342900" eaLnBrk="0" hangingPunct="0">
              <a:lnSpc>
                <a:spcPct val="110000"/>
              </a:lnSpc>
              <a:buFont typeface="Arial" charset="0"/>
              <a:buChar char="•"/>
            </a:pPr>
            <a:r>
              <a:rPr lang="en-US" sz="2200" dirty="0">
                <a:cs typeface="Arial" charset="0"/>
              </a:rPr>
              <a:t>(2) whether a person process that information in a linear way (rational, logical, analytical) OR a nonlinear way (intuitive, creative, insightful).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6324600" cy="990600"/>
          </a:xfrm>
        </p:spPr>
        <p:txBody>
          <a:bodyPr>
            <a:normAutofit/>
          </a:bodyPr>
          <a:lstStyle/>
          <a:p>
            <a:r>
              <a:rPr lang="en-US" sz="4400" dirty="0"/>
              <a:t>Decision-Making Styles</a:t>
            </a:r>
          </a:p>
        </p:txBody>
      </p:sp>
      <p:sp>
        <p:nvSpPr>
          <p:cNvPr id="3" name="Content Placeholder 2"/>
          <p:cNvSpPr>
            <a:spLocks noGrp="1"/>
          </p:cNvSpPr>
          <p:nvPr>
            <p:ph idx="1"/>
          </p:nvPr>
        </p:nvSpPr>
        <p:spPr>
          <a:xfrm>
            <a:off x="457200" y="1600200"/>
            <a:ext cx="8229600" cy="4953000"/>
          </a:xfrm>
        </p:spPr>
        <p:txBody>
          <a:bodyPr>
            <a:normAutofit fontScale="77500" lnSpcReduction="20000"/>
          </a:bodyPr>
          <a:lstStyle/>
          <a:p>
            <a:pPr marL="342900" indent="-342900" eaLnBrk="0" hangingPunct="0">
              <a:spcBef>
                <a:spcPct val="50000"/>
              </a:spcBef>
              <a:buFont typeface="Arial" charset="0"/>
              <a:buChar char="•"/>
            </a:pPr>
            <a:r>
              <a:rPr lang="en-US" sz="3600" b="1" dirty="0"/>
              <a:t>1. Linear Thinking Style </a:t>
            </a:r>
          </a:p>
          <a:p>
            <a:pPr marL="900684" lvl="1" indent="-342900" eaLnBrk="0" hangingPunct="0">
              <a:spcBef>
                <a:spcPct val="50000"/>
              </a:spcBef>
              <a:buFont typeface="Arial" charset="0"/>
              <a:buChar char="•"/>
            </a:pPr>
            <a:r>
              <a:rPr lang="en-US" sz="3100" dirty="0"/>
              <a:t>a person’s tendency to use external data/facts; </a:t>
            </a:r>
          </a:p>
          <a:p>
            <a:pPr marL="900684" lvl="1" indent="-342900" eaLnBrk="0" hangingPunct="0">
              <a:spcBef>
                <a:spcPct val="50000"/>
              </a:spcBef>
              <a:buFont typeface="Arial" charset="0"/>
              <a:buChar char="•"/>
            </a:pPr>
            <a:r>
              <a:rPr lang="en-US" sz="3100" dirty="0"/>
              <a:t>the habit of processing information through rational, logical thinking to guide decisions and actions.</a:t>
            </a:r>
          </a:p>
          <a:p>
            <a:pPr marL="342900" indent="-342900" eaLnBrk="0" hangingPunct="0">
              <a:spcBef>
                <a:spcPct val="50000"/>
              </a:spcBef>
              <a:buFont typeface="Arial" charset="0"/>
              <a:buChar char="•"/>
            </a:pPr>
            <a:endParaRPr lang="en-US" sz="3100" b="1" dirty="0"/>
          </a:p>
          <a:p>
            <a:pPr marL="342900" indent="-342900" eaLnBrk="0" hangingPunct="0">
              <a:spcBef>
                <a:spcPct val="50000"/>
              </a:spcBef>
              <a:buFont typeface="Arial" charset="0"/>
              <a:buChar char="•"/>
            </a:pPr>
            <a:r>
              <a:rPr lang="en-US" sz="3600" b="1" dirty="0"/>
              <a:t>2. Nonlinear Thinking Style </a:t>
            </a:r>
            <a:endParaRPr lang="en-US" sz="3600" dirty="0"/>
          </a:p>
          <a:p>
            <a:pPr marL="900684" lvl="1" indent="-342900" eaLnBrk="0" hangingPunct="0">
              <a:spcBef>
                <a:spcPct val="50000"/>
              </a:spcBef>
              <a:buFont typeface="Arial" charset="0"/>
              <a:buChar char="•"/>
            </a:pPr>
            <a:r>
              <a:rPr lang="en-US" sz="3100" dirty="0"/>
              <a:t> a person’s preference for internal sources of information (feelings and intuition); </a:t>
            </a:r>
          </a:p>
          <a:p>
            <a:pPr marL="900684" lvl="1" indent="-342900" eaLnBrk="0" hangingPunct="0">
              <a:spcBef>
                <a:spcPct val="50000"/>
              </a:spcBef>
              <a:buFont typeface="Arial" charset="0"/>
              <a:buChar char="•"/>
            </a:pPr>
            <a:r>
              <a:rPr lang="en-US" sz="3100" dirty="0"/>
              <a:t>a method of processing this information with internal insights, feelings, and hunches to guide decisions &amp; actions.</a:t>
            </a:r>
          </a:p>
          <a:p>
            <a:endParaRPr lang="en-US" sz="3400" dirty="0">
              <a:cs typeface="Arial" charset="0"/>
            </a:endParaRPr>
          </a:p>
          <a:p>
            <a:pPr marL="342900" indent="-342900" eaLnBrk="0" hangingPunct="0">
              <a:spcBef>
                <a:spcPct val="50000"/>
              </a:spcBef>
              <a:buFont typeface="Arial" charset="0"/>
              <a:buChar char="•"/>
            </a:pPr>
            <a:endParaRPr lang="en-US" sz="3600"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61</a:t>
            </a:fld>
            <a:endParaRPr lang="en-US" dirty="0"/>
          </a:p>
        </p:txBody>
      </p:sp>
      <p:pic>
        <p:nvPicPr>
          <p:cNvPr id="43012" name="Picture 4" descr="http://www.negotiationlawblog.com/uploads/image/decision-making.jpg"/>
          <p:cNvPicPr>
            <a:picLocks noChangeAspect="1" noChangeArrowheads="1"/>
          </p:cNvPicPr>
          <p:nvPr/>
        </p:nvPicPr>
        <p:blipFill>
          <a:blip r:embed="rId2" cstate="print"/>
          <a:srcRect/>
          <a:stretch>
            <a:fillRect/>
          </a:stretch>
        </p:blipFill>
        <p:spPr bwMode="auto">
          <a:xfrm>
            <a:off x="7086600" y="1"/>
            <a:ext cx="2057400" cy="2057399"/>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Decision-Making Styles</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62</a:t>
            </a:fld>
            <a:endParaRPr lang="en-US"/>
          </a:p>
        </p:txBody>
      </p:sp>
      <p:pic>
        <p:nvPicPr>
          <p:cNvPr id="117762" name="Picture 2" descr="http://dilbert.com/dyn/str_strip/000000000/00000000/0000000/000000/00000/1000/200/1296/1296.strip.gif"/>
          <p:cNvPicPr>
            <a:picLocks noChangeAspect="1" noChangeArrowheads="1"/>
          </p:cNvPicPr>
          <p:nvPr/>
        </p:nvPicPr>
        <p:blipFill>
          <a:blip r:embed="rId2" cstate="print"/>
          <a:srcRect/>
          <a:stretch>
            <a:fillRect/>
          </a:stretch>
        </p:blipFill>
        <p:spPr bwMode="auto">
          <a:xfrm>
            <a:off x="990600" y="1828800"/>
            <a:ext cx="7467600" cy="4029076"/>
          </a:xfrm>
          <a:prstGeom prst="rect">
            <a:avLst/>
          </a:prstGeo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95400"/>
          </a:xfrm>
        </p:spPr>
        <p:txBody>
          <a:bodyPr>
            <a:normAutofit fontScale="90000"/>
          </a:bodyPr>
          <a:lstStyle/>
          <a:p>
            <a:r>
              <a:rPr lang="en-US" dirty="0"/>
              <a:t>Decision-Making Biases </a:t>
            </a:r>
            <a:br>
              <a:rPr lang="en-US" dirty="0"/>
            </a:br>
            <a:r>
              <a:rPr lang="en-US" dirty="0"/>
              <a:t>and Errors</a:t>
            </a:r>
          </a:p>
        </p:txBody>
      </p:sp>
      <p:sp>
        <p:nvSpPr>
          <p:cNvPr id="3" name="Content Placeholder 2"/>
          <p:cNvSpPr>
            <a:spLocks noGrp="1"/>
          </p:cNvSpPr>
          <p:nvPr>
            <p:ph idx="1"/>
          </p:nvPr>
        </p:nvSpPr>
        <p:spPr>
          <a:xfrm>
            <a:off x="457200" y="1752600"/>
            <a:ext cx="8229600" cy="4648200"/>
          </a:xfrm>
        </p:spPr>
        <p:txBody>
          <a:bodyPr>
            <a:normAutofit fontScale="92500" lnSpcReduction="10000"/>
          </a:bodyPr>
          <a:lstStyle/>
          <a:p>
            <a:pPr marL="342900" indent="-342900" eaLnBrk="0" hangingPunct="0">
              <a:lnSpc>
                <a:spcPct val="110000"/>
              </a:lnSpc>
              <a:buFont typeface="Arial" charset="0"/>
              <a:buChar char="•"/>
            </a:pPr>
            <a:r>
              <a:rPr lang="en-US" sz="2600" dirty="0">
                <a:cs typeface="Arial" charset="0"/>
              </a:rPr>
              <a:t>Managers use different styles and “rules of thumb”  </a:t>
            </a:r>
            <a:r>
              <a:rPr lang="en-US" sz="2600" b="1" dirty="0">
                <a:cs typeface="Arial" charset="0"/>
              </a:rPr>
              <a:t>(Heuristics)</a:t>
            </a:r>
            <a:r>
              <a:rPr lang="en-US" sz="2600" dirty="0">
                <a:cs typeface="Arial" charset="0"/>
              </a:rPr>
              <a:t> to simplify their decision making. </a:t>
            </a:r>
          </a:p>
          <a:p>
            <a:pPr marL="342900" indent="-342900" eaLnBrk="0" hangingPunct="0">
              <a:lnSpc>
                <a:spcPct val="110000"/>
              </a:lnSpc>
              <a:buFont typeface="Arial" charset="0"/>
              <a:buChar char="•"/>
            </a:pPr>
            <a:endParaRPr lang="en-US" sz="2400" dirty="0">
              <a:cs typeface="Arial" charset="0"/>
            </a:endParaRPr>
          </a:p>
          <a:p>
            <a:pPr marL="342900" indent="-342900" eaLnBrk="0" hangingPunct="0">
              <a:lnSpc>
                <a:spcPct val="110000"/>
              </a:lnSpc>
              <a:buFont typeface="Arial" charset="0"/>
              <a:buChar char="•"/>
            </a:pPr>
            <a:r>
              <a:rPr lang="en-US" sz="2600" dirty="0">
                <a:cs typeface="Arial" charset="0"/>
              </a:rPr>
              <a:t>Rules of thumb can be useful because they help make sense of complex, uncertain, and ambiguous information. </a:t>
            </a:r>
          </a:p>
          <a:p>
            <a:pPr marL="342900" indent="-342900" eaLnBrk="0" hangingPunct="0">
              <a:lnSpc>
                <a:spcPct val="110000"/>
              </a:lnSpc>
              <a:buFont typeface="Arial" charset="0"/>
              <a:buChar char="•"/>
            </a:pPr>
            <a:endParaRPr lang="en-US" sz="2600" dirty="0">
              <a:cs typeface="Arial" charset="0"/>
            </a:endParaRPr>
          </a:p>
          <a:p>
            <a:pPr marL="342900" indent="-342900" eaLnBrk="0" hangingPunct="0">
              <a:lnSpc>
                <a:spcPct val="110000"/>
              </a:lnSpc>
              <a:buFont typeface="Arial" charset="0"/>
              <a:buChar char="•"/>
            </a:pPr>
            <a:r>
              <a:rPr lang="en-US" sz="2600" dirty="0">
                <a:cs typeface="Arial" charset="0"/>
              </a:rPr>
              <a:t>Even though managers may use rules of thumb, that does not mean those rules are reliable. </a:t>
            </a:r>
          </a:p>
          <a:p>
            <a:pPr lvl="1"/>
            <a:endParaRPr lang="en-US" sz="2600" dirty="0">
              <a:cs typeface="Arial" charset="0"/>
            </a:endParaRPr>
          </a:p>
          <a:p>
            <a:r>
              <a:rPr lang="en-US" sz="2600" dirty="0">
                <a:cs typeface="Arial" charset="0"/>
              </a:rPr>
              <a:t>Why? </a:t>
            </a:r>
          </a:p>
          <a:p>
            <a:pPr lvl="1"/>
            <a:endParaRPr lang="en-US" sz="2400" dirty="0">
              <a:cs typeface="Arial" charset="0"/>
            </a:endParaRPr>
          </a:p>
          <a:p>
            <a:pPr lvl="2"/>
            <a:r>
              <a:rPr lang="en-US" sz="2600" dirty="0">
                <a:cs typeface="Arial" charset="0"/>
              </a:rPr>
              <a:t>Because they may lead to errors and biases in processing and evaluating information!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noChangeArrowheads="1"/>
          </p:cNvSpPr>
          <p:nvPr>
            <p:ph type="title" idx="4294967295"/>
          </p:nvPr>
        </p:nvSpPr>
        <p:spPr>
          <a:xfrm>
            <a:off x="457200" y="304800"/>
            <a:ext cx="8229600" cy="762000"/>
          </a:xfrm>
        </p:spPr>
        <p:txBody>
          <a:bodyPr>
            <a:normAutofit fontScale="90000"/>
          </a:bodyPr>
          <a:lstStyle/>
          <a:p>
            <a:br>
              <a:rPr lang="en-US" sz="3600" dirty="0"/>
            </a:br>
            <a:r>
              <a:rPr lang="en-US" sz="4400" dirty="0"/>
              <a:t>Common Decision-Making Biases  </a:t>
            </a:r>
            <a:r>
              <a:rPr lang="en-US" sz="1800" dirty="0"/>
              <a:t>(Source: Robbins &amp; Coulter, 2014)</a:t>
            </a:r>
            <a:endParaRPr lang="en-US" sz="1800" dirty="0">
              <a:latin typeface="Calibri" pitchFamily="34" charset="0"/>
            </a:endParaRPr>
          </a:p>
        </p:txBody>
      </p:sp>
      <p:sp>
        <p:nvSpPr>
          <p:cNvPr id="97282" name="Rectangle 3"/>
          <p:cNvSpPr txBox="1">
            <a:spLocks/>
          </p:cNvSpPr>
          <p:nvPr/>
        </p:nvSpPr>
        <p:spPr bwMode="auto">
          <a:xfrm>
            <a:off x="457200" y="1600200"/>
            <a:ext cx="8229600" cy="4525963"/>
          </a:xfrm>
          <a:prstGeom prst="rect">
            <a:avLst/>
          </a:prstGeom>
          <a:noFill/>
          <a:ln w="9525">
            <a:noFill/>
            <a:miter lim="800000"/>
            <a:headEnd/>
            <a:tailEnd/>
          </a:ln>
        </p:spPr>
        <p:txBody>
          <a:bodyPr/>
          <a:lstStyle/>
          <a:p>
            <a:pPr marL="342900" indent="-342900" eaLnBrk="0" hangingPunct="0">
              <a:spcBef>
                <a:spcPct val="20000"/>
              </a:spcBef>
              <a:buFont typeface="Arial" charset="0"/>
              <a:buChar char="•"/>
            </a:pPr>
            <a:endParaRPr lang="en-GB" sz="2800" dirty="0"/>
          </a:p>
        </p:txBody>
      </p:sp>
      <p:pic>
        <p:nvPicPr>
          <p:cNvPr id="97283" name="Picture 3"/>
          <p:cNvPicPr>
            <a:picLocks noGrp="1" noChangeAspect="1" noChangeArrowheads="1"/>
          </p:cNvPicPr>
          <p:nvPr/>
        </p:nvPicPr>
        <p:blipFill>
          <a:blip r:embed="rId3" cstate="print"/>
          <a:srcRect/>
          <a:stretch>
            <a:fillRect/>
          </a:stretch>
        </p:blipFill>
        <p:spPr bwMode="auto">
          <a:xfrm>
            <a:off x="685800" y="1371600"/>
            <a:ext cx="7772400" cy="5029200"/>
          </a:xfrm>
          <a:prstGeom prst="rect">
            <a:avLst/>
          </a:prstGeom>
          <a:noFill/>
          <a:ln w="9525">
            <a:noFill/>
            <a:miter lim="800000"/>
            <a:headEnd/>
            <a:tailEnd/>
          </a:ln>
        </p:spPr>
      </p:pic>
      <p:sp>
        <p:nvSpPr>
          <p:cNvPr id="5" name="Slide Number Placeholder 4"/>
          <p:cNvSpPr>
            <a:spLocks noGrp="1"/>
          </p:cNvSpPr>
          <p:nvPr>
            <p:ph type="sldNum" sz="quarter" idx="11"/>
          </p:nvPr>
        </p:nvSpPr>
        <p:spPr/>
        <p:txBody>
          <a:bodyPr/>
          <a:lstStyle/>
          <a:p>
            <a:fld id="{B6F15528-21DE-4FAA-801E-634DDDAF4B2B}" type="slidenum">
              <a:rPr lang="en-US" smtClean="0"/>
              <a:pPr/>
              <a:t>64</a:t>
            </a:fld>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066800"/>
          </a:xfrm>
        </p:spPr>
        <p:txBody>
          <a:bodyPr>
            <a:noAutofit/>
          </a:bodyPr>
          <a:lstStyle/>
          <a:p>
            <a:r>
              <a:rPr lang="en-US" sz="4000" dirty="0"/>
              <a:t>Decision-Making Biases and Errors</a:t>
            </a:r>
          </a:p>
        </p:txBody>
      </p:sp>
      <p:sp>
        <p:nvSpPr>
          <p:cNvPr id="3" name="Content Placeholder 2"/>
          <p:cNvSpPr>
            <a:spLocks noGrp="1"/>
          </p:cNvSpPr>
          <p:nvPr>
            <p:ph idx="1"/>
          </p:nvPr>
        </p:nvSpPr>
        <p:spPr>
          <a:xfrm>
            <a:off x="228600" y="1905000"/>
            <a:ext cx="4953000" cy="4267200"/>
          </a:xfrm>
          <a:ln>
            <a:solidFill>
              <a:schemeClr val="accent2">
                <a:lumMod val="60000"/>
                <a:lumOff val="40000"/>
              </a:schemeClr>
            </a:solidFill>
          </a:ln>
        </p:spPr>
        <p:txBody>
          <a:bodyPr>
            <a:normAutofit/>
          </a:bodyPr>
          <a:lstStyle/>
          <a:p>
            <a:pPr marL="342900" indent="-342900" eaLnBrk="0" hangingPunct="0">
              <a:spcBef>
                <a:spcPct val="50000"/>
              </a:spcBef>
              <a:buFont typeface="Arial" charset="0"/>
              <a:buChar char="•"/>
            </a:pPr>
            <a:r>
              <a:rPr lang="en-US" b="1" dirty="0"/>
              <a:t>Overconfidence Bias;</a:t>
            </a:r>
            <a:endParaRPr lang="en-US" dirty="0">
              <a:cs typeface="Arial" charset="0"/>
            </a:endParaRPr>
          </a:p>
          <a:p>
            <a:pPr marL="342900" indent="-342900" eaLnBrk="0" hangingPunct="0">
              <a:spcBef>
                <a:spcPct val="50000"/>
              </a:spcBef>
              <a:buFont typeface="Arial" charset="0"/>
              <a:buChar char="•"/>
            </a:pPr>
            <a:r>
              <a:rPr lang="en-US" sz="2600" dirty="0">
                <a:cs typeface="Arial" charset="0"/>
              </a:rPr>
              <a:t>When decision makers tend to think they know more than they do,</a:t>
            </a:r>
          </a:p>
          <a:p>
            <a:pPr marL="342900" indent="-342900" eaLnBrk="0" hangingPunct="0">
              <a:spcBef>
                <a:spcPct val="50000"/>
              </a:spcBef>
              <a:buFont typeface="Arial" charset="0"/>
              <a:buChar char="•"/>
            </a:pPr>
            <a:r>
              <a:rPr lang="en-US" sz="2600" dirty="0">
                <a:cs typeface="Arial" charset="0"/>
              </a:rPr>
              <a:t>or hold unrealistically positive views of themselves and their performance, they’re exhibiting the </a:t>
            </a:r>
            <a:r>
              <a:rPr lang="en-US" sz="2600" i="1" dirty="0">
                <a:cs typeface="Arial" charset="0"/>
              </a:rPr>
              <a:t>overconfidence bias. </a:t>
            </a:r>
            <a:endParaRPr lang="en-US" sz="2600" dirty="0"/>
          </a:p>
          <a:p>
            <a:pPr marL="342900" indent="-342900" eaLnBrk="0" hangingPunct="0">
              <a:spcBef>
                <a:spcPct val="50000"/>
              </a:spcBef>
              <a:buFont typeface="Arial" charset="0"/>
              <a:buChar char="•"/>
            </a:pPr>
            <a:endParaRPr lang="en-US" sz="2400" b="1" dirty="0"/>
          </a:p>
          <a:p>
            <a:pPr marL="342900" indent="-342900" eaLnBrk="0" hangingPunct="0">
              <a:spcBef>
                <a:spcPct val="50000"/>
              </a:spcBef>
              <a:buFont typeface="Arial" charset="0"/>
              <a:buChar char="•"/>
            </a:pPr>
            <a:endParaRPr lang="en-US" sz="4000"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65</a:t>
            </a:fld>
            <a:endParaRPr lang="en-US" dirty="0"/>
          </a:p>
        </p:txBody>
      </p:sp>
      <p:pic>
        <p:nvPicPr>
          <p:cNvPr id="41986" name="Picture 2" descr="http://www.tradestation.com/en/education/university/markets-and-trading-resource-center/articles/behavioral-finance/~/media/Images/TradeStation/Education/University/Markets%20and%20Trading/images/TypesofBiases_overconfidence.jpg"/>
          <p:cNvPicPr>
            <a:picLocks noChangeAspect="1" noChangeArrowheads="1"/>
          </p:cNvPicPr>
          <p:nvPr/>
        </p:nvPicPr>
        <p:blipFill>
          <a:blip r:embed="rId2" cstate="print"/>
          <a:srcRect/>
          <a:stretch>
            <a:fillRect/>
          </a:stretch>
        </p:blipFill>
        <p:spPr bwMode="auto">
          <a:xfrm>
            <a:off x="5791200" y="1981200"/>
            <a:ext cx="2895600" cy="4137661"/>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r>
              <a:rPr lang="en-US" dirty="0"/>
              <a:t>Overconfidence Bias</a:t>
            </a:r>
            <a:endParaRPr lang="en-IE" dirty="0"/>
          </a:p>
        </p:txBody>
      </p:sp>
      <p:sp>
        <p:nvSpPr>
          <p:cNvPr id="3" name="Content Placeholder 2"/>
          <p:cNvSpPr>
            <a:spLocks noGrp="1"/>
          </p:cNvSpPr>
          <p:nvPr>
            <p:ph idx="1"/>
          </p:nvPr>
        </p:nvSpPr>
        <p:spPr>
          <a:xfrm>
            <a:off x="457200" y="1219200"/>
            <a:ext cx="8229600" cy="5410200"/>
          </a:xfrm>
        </p:spPr>
        <p:txBody>
          <a:bodyPr>
            <a:normAutofit fontScale="92500" lnSpcReduction="10000"/>
          </a:bodyPr>
          <a:lstStyle/>
          <a:p>
            <a:r>
              <a:rPr lang="en-IE" sz="2600" dirty="0">
                <a:cs typeface="Arial" charset="0"/>
              </a:rPr>
              <a:t> "People generally ascribe more credibility to data than is warranted and hence overestimate the probability of success merely due to the presence of an abundance of data" (Sage, 1981).</a:t>
            </a:r>
          </a:p>
          <a:p>
            <a:endParaRPr lang="en-IE" sz="2600" dirty="0">
              <a:cs typeface="Arial" charset="0"/>
            </a:endParaRPr>
          </a:p>
          <a:p>
            <a:r>
              <a:rPr lang="en-IE" sz="2400" dirty="0"/>
              <a:t>Consequences of Overconfidence Bias ….</a:t>
            </a:r>
          </a:p>
          <a:p>
            <a:pPr lvl="1"/>
            <a:r>
              <a:rPr lang="en-IE" dirty="0"/>
              <a:t>Overconfident managers stop gathering and processing information about an issue sooner. </a:t>
            </a:r>
          </a:p>
          <a:p>
            <a:pPr lvl="1"/>
            <a:r>
              <a:rPr lang="en-IE" dirty="0"/>
              <a:t>Selectively seeking out information that supports a position, while disregarding contradictory information. </a:t>
            </a:r>
          </a:p>
          <a:p>
            <a:pPr lvl="1"/>
            <a:r>
              <a:rPr lang="en-IE" dirty="0"/>
              <a:t>Reduces analysis of data. </a:t>
            </a:r>
          </a:p>
          <a:p>
            <a:pPr lvl="1"/>
            <a:r>
              <a:rPr lang="en-IE" dirty="0"/>
              <a:t>Discourages the examination of alternative ideas and solutions.</a:t>
            </a:r>
          </a:p>
          <a:p>
            <a:pPr lvl="1"/>
            <a:r>
              <a:rPr lang="en-IE" dirty="0">
                <a:cs typeface="Arial" charset="0"/>
              </a:rPr>
              <a:t>Confidence in decisions continues to climb as more and more information is obtained.</a:t>
            </a:r>
          </a:p>
          <a:p>
            <a:endParaRPr lang="en-IE" sz="2600" dirty="0">
              <a:cs typeface="Arial" charset="0"/>
            </a:endParaRPr>
          </a:p>
          <a:p>
            <a:r>
              <a:rPr lang="en-IE" sz="2600" dirty="0">
                <a:cs typeface="Arial" charset="0"/>
              </a:rPr>
              <a:t>This bias is most extreme in tasks of great difficulty</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val="38069051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normAutofit/>
          </a:bodyPr>
          <a:lstStyle/>
          <a:p>
            <a:r>
              <a:rPr lang="en-GB" sz="4000" dirty="0"/>
              <a:t>Over confidence – always a bit risky!</a:t>
            </a:r>
            <a:endParaRPr lang="en-US" sz="4000"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67</a:t>
            </a:fld>
            <a:endParaRPr lang="en-US"/>
          </a:p>
        </p:txBody>
      </p:sp>
      <p:pic>
        <p:nvPicPr>
          <p:cNvPr id="123906" name="Picture 2" descr="http://www.steveharris.co.za/wp-content/uploads/2013/05/Kitty.jpg"/>
          <p:cNvPicPr>
            <a:picLocks noChangeAspect="1" noChangeArrowheads="1"/>
          </p:cNvPicPr>
          <p:nvPr/>
        </p:nvPicPr>
        <p:blipFill>
          <a:blip r:embed="rId2" cstate="print"/>
          <a:srcRect/>
          <a:stretch>
            <a:fillRect/>
          </a:stretch>
        </p:blipFill>
        <p:spPr bwMode="auto">
          <a:xfrm>
            <a:off x="1143000" y="1447800"/>
            <a:ext cx="6672448" cy="5137785"/>
          </a:xfrm>
          <a:prstGeom prst="rect">
            <a:avLst/>
          </a:prstGeo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Decision-Making Biases and Errors</a:t>
            </a:r>
          </a:p>
        </p:txBody>
      </p:sp>
      <p:sp>
        <p:nvSpPr>
          <p:cNvPr id="6" name="Content Placeholder 5"/>
          <p:cNvSpPr>
            <a:spLocks noGrp="1"/>
          </p:cNvSpPr>
          <p:nvPr>
            <p:ph sz="half" idx="1"/>
          </p:nvPr>
        </p:nvSpPr>
        <p:spPr>
          <a:xfrm>
            <a:off x="381000" y="1905000"/>
            <a:ext cx="4800600" cy="4267200"/>
          </a:xfrm>
          <a:ln>
            <a:solidFill>
              <a:schemeClr val="accent2">
                <a:lumMod val="60000"/>
                <a:lumOff val="40000"/>
              </a:schemeClr>
            </a:solidFill>
          </a:ln>
        </p:spPr>
        <p:txBody>
          <a:bodyPr>
            <a:normAutofit fontScale="92500"/>
          </a:bodyPr>
          <a:lstStyle/>
          <a:p>
            <a:pPr marL="342900" indent="-342900" eaLnBrk="0" hangingPunct="0">
              <a:spcBef>
                <a:spcPct val="50000"/>
              </a:spcBef>
              <a:buFont typeface="Arial" charset="0"/>
              <a:buChar char="•"/>
            </a:pPr>
            <a:r>
              <a:rPr lang="en-US" b="1" dirty="0"/>
              <a:t>Immediate Gratification Bias</a:t>
            </a:r>
            <a:r>
              <a:rPr lang="en-US" dirty="0"/>
              <a:t>; </a:t>
            </a:r>
            <a:r>
              <a:rPr lang="en-US" dirty="0">
                <a:cs typeface="Arial" charset="0"/>
              </a:rPr>
              <a:t>describes decision makers who tend to want immediate rewards and to avoid immediate costs. </a:t>
            </a:r>
          </a:p>
          <a:p>
            <a:pPr marL="342900" indent="-342900" eaLnBrk="0" hangingPunct="0">
              <a:spcBef>
                <a:spcPct val="50000"/>
              </a:spcBef>
              <a:buFont typeface="Arial" charset="0"/>
              <a:buChar char="•"/>
            </a:pPr>
            <a:endParaRPr lang="en-US" sz="1300" dirty="0">
              <a:cs typeface="Arial" charset="0"/>
            </a:endParaRPr>
          </a:p>
          <a:p>
            <a:pPr marL="342900" indent="-342900" eaLnBrk="0" hangingPunct="0">
              <a:spcBef>
                <a:spcPct val="50000"/>
              </a:spcBef>
              <a:buFont typeface="Arial" charset="0"/>
              <a:buChar char="•"/>
            </a:pPr>
            <a:r>
              <a:rPr lang="en-US" sz="2600" dirty="0">
                <a:cs typeface="Arial" charset="0"/>
              </a:rPr>
              <a:t>For these individuals, decision choices that provide quick payoffs are more appealing than those with payoffs in the future.</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68</a:t>
            </a:fld>
            <a:endParaRPr lang="en-US"/>
          </a:p>
        </p:txBody>
      </p:sp>
      <p:pic>
        <p:nvPicPr>
          <p:cNvPr id="120834" name="Picture 2" descr="https://encrypted-tbn0.gstatic.com/images?q=tbn:ANd9GcTD9qHmUtT-IC0NwpMWDI3dp0q_jWSAurfmGTjL9MUfd0c5oW6N"/>
          <p:cNvPicPr>
            <a:picLocks noChangeAspect="1" noChangeArrowheads="1"/>
          </p:cNvPicPr>
          <p:nvPr/>
        </p:nvPicPr>
        <p:blipFill>
          <a:blip r:embed="rId2" cstate="print"/>
          <a:srcRect/>
          <a:stretch>
            <a:fillRect/>
          </a:stretch>
        </p:blipFill>
        <p:spPr bwMode="auto">
          <a:xfrm>
            <a:off x="5715000" y="1752600"/>
            <a:ext cx="2971800" cy="1219200"/>
          </a:xfrm>
          <a:prstGeom prst="rect">
            <a:avLst/>
          </a:prstGeom>
          <a:noFill/>
        </p:spPr>
      </p:pic>
      <p:sp>
        <p:nvSpPr>
          <p:cNvPr id="120836" name="AutoShape 4" descr="data:image/jpeg;base64,/9j/4AAQSkZJRgABAQAAAQABAAD/2wCEAAkGBxQPEBAPEBIUDw8PDxANEBAPEA8PDw8PFBQWFhQRFBQYHCggGBolHRQUITEhJSkrLi4uFx8zODMsNygtLisBCgoKDg0OFxAQGiwcHBwsLCwsLCwsLCwsLCwsLCwsLCwsLCwsLCwsLCwsLCwsLCwsLCwsLCwsLCwsLCwsLCwsLP/AABEIALcBEwMBEQACEQEDEQH/xAAbAAABBQEBAAAAAAAAAAAAAAACAQMEBQYAB//EAEEQAAIBAgMFBQQHBwMEAwAAAAECAAMRBBIhBTFBUWEGEyJxkTJSgaEUQlNikrHBBxUWI9Hh8ENjciQzc/FUosL/xAAaAQEBAAMBAQAAAAAAAAAAAAAAAQIDBAUG/8QANREAAgIBAgQEAwcDBQEAAAAAAAECEQMSIQQTMVEFFEFhIjJxFSNSgbHB0WKR8DNCoeHxgv/aAAwDAQACEQMRAD8A2AAG82EzMABiqX2i/iEgocXEU/fX8QlA4tZPfHqIA4rr7w9RAHlAO438oAQSAEEgC5IAtOjZr9LQKJAgpHwP1/8AmYISrQUDu4AuSALkgHZYAuWAdlgHZYB2WALkgCZYB2SACaZgCUUIveCBV/ZbyMFFo+yvkIBwbU+cAUtAEzCACTAEzQAS3WAJmgGU2sBUplFcC4IuDI2KMbS7HprmqHfwYTCjIfXsgnCo34ooDydlBwqt+KKA/T7Nld1VvxRpLZpezGENHPnbMDa1zeWKoxZe3HOZkDHnACEAMQAxAI+BPt/8zBESoKLeAdAFgFftfPkPdmxh9AVVOnWI1Yg+ZmFMuw4qVffPrFMtocAq+8Y3Gx2eqOJPxjcmxa7NZil333mSsEqUgl4B0AQ74AFf2W8oAVLcPIQDmQX3QBMg5QBO7HKACUHKAMJXRKyrVFqbKddbZuUMFgamF5r85jZQe8wvMesWNjwcbQ6n1M8rnI9DQODaPU+pk56HLDG0up9TLz13HLDXaf3j6mOeu45Y4u1fvN6mPMLuOV7Di7XPvt6mPMe45XsOrtk/aN+Ix5j3HJ9hxdtN9o3qZfM+5OSuw4u22+1b1MeZ/qHJXYcXbzD/AFW9ZfM/1E5K7Dg7Qv8Aat6zLzPuTkLsN/vxgbiqRc3Nid8vmPcnJXYh7Q7RV11p1m8rx5qnVh4EQ6XanEnfVYGbOe/Qw5SHR2lxX28c9jlIIdpsV9tHPZOSgv4lxJGtb5SrMxykCvaXFfaD0mfM9zHljn8T4kf6nyk5g5YQ7U4n3wfhKsjDxhDtRiffHpLzCcseXtbiQPbX0mLzNF5QQ7YYr3lk8wXkhjtjieLCXnsckCp27rLvN/IRzxyibgu2NaprcAdRMfNeiKsBLPaaowILDWPMsvIHE7V1AALrppJ5pl8uhT2sqfdjzTHIR38WVPuy+aY8uhP4tqfdjzTJ5dHfxbU5LHmWPLoZq9p2beFjzLHIQ3/ER91Y8wxyBP4iPurHmGOQefhJ5NnaEEksoQSSy0EEksUEEksoQpyWAhTksBCnJZaCFOSxQXdyWWju7jUKENKNRKENKXUKGzQ6TLWSju4jWyaTu46RzGXSL3HSOY+40oXuI5j7jSjjQjmS7k0oQUZeZLuNKCFGTmy7jSju4jnS7jQhe4jnS7jQux3cS86XcaEIMMOUjyy7l0IfVJr1syoXJGtijssa33LQmUxrfclIQg8zLrfcUhLHmfWXW+4oE35mXW+5KEN+Zl1vuKQBvzMut9yUhNeZl1vuNKFFMTC2AhTEmooYpiY6mKCFISamWghSEmpighSEmploJaQkcmKDFISamWghSEmpighREmpihe5Emplo7uBGtigfo4l1slC/RxGtijvo4jWxQow19JlFyk6RHSLDC7FvYsGYncoso+LH9J6eHgfXI/yOaef8JL+jd2bd0KZtq17kfEzujhhDojS5Sl1ZY4CgtQXzAsNysAflxmxRizBtok1tmLV0qIjdVUI4+I1mM8OOapoRnKPRme2j2fNK7Ldk433r8RvHWeVxPByxrVHdHXizKWz2ZWfRp52tnRQn0eNYoX6PGsUJ3EaxR3cRrLQvcRrFCdxGoUJ3EusUCaEusUJ3EaxQJoS6yUCaEusUCaMuslAdxMtYoaEyMAhIUMCQoQkAYmJQhIUJZGA5AEJChCYgWCi2gHWgC2gHAQt9iFph0SgAXINVx4V35RztPd4Xh1ijb6s4suRzdLoSlWqzA0yNd7MN3QC8677GtQ7k6pScr4vHuJ4X6RbMtKJGHag/gKmjU4EaAmZJxZrakvckAZbBzcblqjS3Roe3UnXoPGne6n2hvHBgf0j2Y9zJbawXdPoPC2o6dPhPC43CscrXRndhnqRWEThN50ASAdAOgokEEMoEMASUAmACZSAGZAEykIoE22YBhZLAQEllCAksBhZjZQgsllCUSWAwJChASAK0llFCyWAssA7LJYFyxYHsKvivwUZp2cFHVlXsaszqI/simtS+JYXarqt/q0hogF+mvxnunKlRfUq1vL4fpKWibQrA/wCCVEaHK+FWoNR5EaEGRqwnRW1Noige7r+JDoH5f8pU/RmEoeqLLB4gN/LBuVGem2+6+78JPYx9yL2jw4elmtuOby4H9PScnGQ1Y/obcDqVGPIngWd4loAlosHWgp1oAloAhEoBIlIJaACRKASJQCRKQG0pBoJM7MQgklgIJJZQwkxsUEEksoQSSy0EqSWAwklgIJJZQwkllFFOSxQWSLFHd3FgXJJYFKHJUtxQj1no+HP439DRn6IDAbSpoKdM3WyItyCFNgNxntpHNZc98ALjdvgyIT9oSrAKigX9qo1viBFlov8AZO0jWGuW/vIbg/DhFkcKIvafAmpSLKLkC/WYsIyeyNrVKNWk170w6q1yNATY/LhJdGLjZ6Pj0zUqg+6T8v8A1GVXCS9jCHzJmHKT5dvc9MQpJYEKRYoTJFlEKS2BMkWBCkWAWSVMgmSWwCUlsAlJbJQBWWwJklsgIWWzGggsllCCyWAgkllDCSWUILJYCVJLAYSSyhhJLAQSSwEEiwFkgC5IB2SAEq7+s6OHyvHfuYTjZlttVitVlCuCWyoxFkFhPpsauNnFKdbGs7L4VsRhQ7jxajobaXjSXUZLbdOrhcWuen3qG1iTZV11+UyUURza3Ss1OxP5rB6SCmV0JRjkb4WmLRnq23Nkq+Gx4ixmLIjzztFgVod65Qb9GG/mBymuXY2wW9m+2dW77Do2/vaIN+pX+s2NXE5HtIyjU58pKrPUQPdzEomSAJ3cWBDTiwJklsCZIsAlIsCFJbAJSLAJSWwAUmVkByRZBoCZmIQWQoYEhQgJAGFmJQgsgCVYAYWQBhYAYWQBBYAWWUHZZQLlkAoWZR6kY3icAlXVxcC+hn1ENoo4mjR7CULSCiw00HSbU9jFoi4zE02qmjVQXFiLgG4PESOXcyUdrLDDd2osgA6AQ6CiwzVvNbZs00ih7VYXvU7u+UOVLGxJsCCbdf6yMQJvZSov0emqm60yaW+/sndf4zODtGjOkpuitxCWZh94/nPl86rI17nfB3FDeWaTITLAEywDssoBKwBMsFAZZQIVkABEoBKwASsoByygjATYYBgSFCAkAQEgDAmJQwJAEogDOOxqUFDOd5sANSZ0cNw0s8qXTuYzmorck0KgdQym4OoImvLiljlpkVNNbDwE1lCAkAtpkgdaUgsgCUazPHG5xXuST2ZFq1MpZef6z6VHLF7EVEqNmTvCqmwLK5RlF94IMzqzJFhidneEOtXvKir7ZdWJA4G0rjSJbvdCbIxTOxRtCOIOhmDMkzR4bSEjGTswv7UceyoFRipYin4SVOup3SpXIxbqJc/s6pd3hMnu1P8A8r/SWLuzTNVRKxY8bH7xnzXE/wCpJ+56GP5UM2nOZiWgCWgHESgQiAJaQAMJQIRBQCsAEiAARABtKCIJsMAhIAhIUMSFDAkAYEgAxOIWkhqObAepPACbMOGWWahEkpKKtmJ2njzWcu27coH1RyHX859PgwxwwUYnBOTk7ZJ2HtVsO1mN6bbxwXqP1mHE8NHNGn19GZ48jizb4estRQ6EMp1BE+bzYpYpaZHYmmrQ7NRRZkDoILADpDUTo4RXliYZH8LIW0PDV13MAvx4f51n0C6nGig2hSOe7Fm5WOW3TdN8ZKtzdCaXUuNgUgy2KA2PFb68yTqZJS7GU5p9C1TD927N71jNTNaJoxNh1ksHn/bti9fDIfrVLmZQfVmM/RGx7IHKjpyCN8zMMb6mOT0HapuSeZnzeaVybO6KpAWmoohEpTpAdaAJaUCEQAHEAGACRBQCIABEoBtAIgE2GAokKEJAGshQxIBwSArdvbNaugKHxJchPqt/ed/AcVHDJqXR+vY1ZYalsYsqQTcEEXGU6FfMf5afQp3ujiOAzaC5BNtN5PujrKD1vsb2eXD0WTEgl6o11/7B4ZR+cmThceWNTV/t9DT5mcX8PQHH4NqDlG14q3Bl4ET5fiuGlw+RxfT0fc9TFkWSNojzQZnQBLwB7D7528DH7y+xqzfKV+3h4Lz14StyOZqqKfBY3OGuLslr9Qdx85uTKi4wO1Qulgo5mGy7Mf8A3n3rZV167hMGyosaVGy6633yCzHdsKH87DtbdWA9QYT6laNJ2cNjUPQL6C8RdJs1T9B8z5mR3o6YgQwBt6gXeZ14OEll36I2wxSn0BWuDuB9Z3Lw6FdWbXw/uHmHl56Tkz8FPGrW6NcsMkr6oUziNQ24gCEQADBQSIABgASkItpmQ6AEJGAhIBwSFHBMQOLAKbb+w++BqU/DWG//AHBy8+s9LguNeP4J/L+n/Rpy4tW66kjsN2X1TFV1K2JNCkRbVT7bX67h8Z9HBJ7nm5Z/7Ub12CvbebXYk6EX/KbGc9DjU1qLkr3Ck+AjVqTcPPmRNWbBDPDRPp+hsx5JY3aM5tDCGi5RiG0BDKbqyncRPleJ4aXDz0S3PXxZVkjaIt5zmw68oHqL2nbwk1B7+pqyKyt2216eUEZiZ6PD3Ts1TVtFHgMP3YbW7MQSfLcPnOgUSCkpgT9kqAwhlRpla4kBQdp8LnpFxvpstT4KdflNbNiJexjlpZt2cE+u75TTmyqON+5NFyQ8XnhSds6Ts0gGMbie7Rn5bvM6Tdw+LmZFEyirZmMRtM5ibz6KMFFHowlGqRY7N2wNL8dJmpUJQsnviM7ixuOQmubssIVEmU2uOoNjPnuJx8ubR5+SOmQjTQYCGUAmAARBQDABlBCDTOjAW8FCBkAQMhRxZiB0SANYA4IA/iduLhaVmcG2u8DKN9r8p9NwjlDDGN3/AJ0OGeOMp6qLHD4mu6LUFJWuMwGdbjzvunUpSMXHGdWxD01VqgtVsR0N/wA5jxHFLDj1S3fp9TTHBrnUdkU1R76kz5fJlllk5TdtnpwgoLSgL8eE24uEz5fkg3+Rpy8Xgxf6k0vzG2xChlUkAsQBy15mdsPB+JabktNf56HG/GOE1xhGVt7El6ZGk6MXBwh13Z2ObZX16V500Qrqq5TCRGFS1lIWuBtbqIBdI2g6zFgFEvcHUHh0mLRUxrEYQ01BA8I004ec8zjMM18S3X6G6El0IuaeabTs0Aqu05P0ZyPqlW+F7frO7w5/ffkxdGGNRymcg5M2XPY5c2/Lfdee+XHl+KiRgcSdJrkj0MeTuafYmLvWppmys1yGIva3TiZqSbZlnzQjDuX+Hw7IamfeXNj7yjcw855fiKqcfocOTJHI049hxp5xrEMEBMAAylAMAGAPKaM+x5OPseJzZdx1VpRyMfYvNn3C7ukN+kcjH2HNn3DWnRPKTy+LsObPuOrRpR5bD+FDnT7hjD0pPK4fwovPydwxh6UnlMP4UPMZO4Qw1LpHk8P4UPMZO5Vbd2OjhXUggMM6nit94llhUF8Jsx5nJ0xNkVXdzeoaVIkhTYHM3S/Cal9TofTpZa1O9By1wKlK+jru+PERKGrae6C09Y7Mq9v5aJVVX2hfMdx6CdXC8Bw96tK2PnvFvEeIxfdx2v1/ZFC9Ytreetsuh8nJyk92RqovoZBFtOzRbGxnf0ir61aVlbmy/Vf/ADiJ5PEYdEtujPufCuN5+JJ/NHqE+GB3G3Q6zmo9WyNX2aT/AGkLsMUtnsp6Skok9wU8pAXOFo3VTIlZGTKdGxmWkxslBeHCWhZmtv8AZx3vUwtbuTvKOL0z1B3r+Uwjw2FveJjknNK0zAYrFYvD5s5OUHSoBmRvI/oZvn4fiT3icODxFZo3CVsl4CvWq03aqwamaei8SSdL/OYPhsWOnBbnZiyzm92d2d7Rrhw2GrIGw9RiSGAKE6A5gfIazJN+h1TjqdrqXm0OzFGtTOJwAysBmahmLKw+5fcem6Y2bMOdp6Z/3MecW61qTKQpR/EW0AXiD1/WNKo3Z5bUeq4FTiEVidRp8Jy5eDXE1bqjgefl/mPNss85p+x1+InnV2BOyzzj7H/qHnV2AOy25yfY/wDUXzq7AHZjc5Psd/iHnY9gDsxucn2RL8RfOR7Afux4+yJfiHnI9jM0mb3h6ie5Z59D/fsOO/dpvmMslGUcdkrD4epU1bReukwU5PqZaYroWtDCBestsUSBTHKLYpBin0lsUEKY5RYpBimOUWKRH2gnhHC518phN7GzGtyvpIhZTULBPZQIcpH3iZp29TpVroS8TWbDrmSr31MkKysBnUHjcbxKtujKvi6omY/CDE4cr9awZDycbv6Trw5NLTPM4/hVxGJwfX0+p57TcrVyn2agItyddfyv6T073Pi3G4u+sSRVg0tCYbEtSqLUT2lJBXg6Hep/zfMMmNTjTOrg+Jlw+RTRrqJSsi1U1VhfqDxB6iePOLi6Z93gzRywU49GH3RG7dMTeEgBkA+aIItKQcSqF0hbFCOI6XiyUKmLJ3LbqYslFF2j20T/ANOh1P8A3COA92ehwuH/AHv8j5rxrxDSngh/9P8Ab+TP08QV3HTiOB+E7+p8vFyi7i6LDEFBTVH/AJYKnWmqrZjrrznkZnFzddD7/wAPjkjgjzHcn1M9i+z3eeKlUFQDgwtNJ6Gotdi13wdQUh4RlFlPLnMWOpIxWwTXxNSoFFmKtfciEgXt8dYimxKaS3NTsvCGggTNm62m6CUTjyNzJZqnnNms16BDVPONY0AmqecaxoBNY841jQCarc41jQD3zc41jQUA2ZR+zHzm3SjTZIo4emlsqAW3bzaHBGSk0SxX6THlovMYS4jpHLQ5jHRW6Ry0OYw1rDlHLReYwxWHKOWhzGGtYco5aJzGR9pMMmaxJTxaTDJj2tG3Fk+LcpKIFcMNRcFRrbUzkaO6LRK2V2Zemx/mXQi2hubTLQw8iNKKIpqByFpn0NL3Z5btc5alQe7UarTPOzHMvpeetF/AvofEZo/fzXu1/wA/yOV6l1BHGZHGlvQ2u8cze8yMX0ZL2VtJsM5OrUmP8xBvv769efOc+fBzFt1PU8N8QfDSp/KzaYPEpVUOjBlO4j8jyM8uUXF0z7LFlhljqg7Q41ETE2CgQBuol5Ch0hKCt25tcURkTWqRp90e8Z08Pgc3b6HkeKeIrho6Y/O/+Pf+DF97ZtTxLEnidLn5z1eh8c05JtjuEa7p1YTXllUGzo4TEpcRCL6Wi1x9Mv5Tx7PvUtiEKWTcbHnJYovMLQXFUkO6pSPhbjbip6TBmxM2FBQaFNGUKyg+Ie1vuLzthD4EmedkktbaA7nrJy2OYgTQ6iOWxzECcP1EnLZeYgTQ8o5bHMQJo+Uctl5iANDyk0Ma0J9HMvLZNaMmtXEe6nzm65GmkEKmI9xfnJbFIMVK/uL84uRdh6m9Y/UX5xcibDmeuP8ATX1MWxSDFWt9mPUxqZaQYrVvsh6xqY2HFr1fsh6xqfYUg+/qfZfONT7EpELFYJnOZafdvvup0bzE1zhq9DbDI4gYPbppMabnxUzlYXvlNgbH4Ees0NOJ1QnGZoE2mlVNN54SXZk1SPLtqVTmqW1BqNUpnfZrm6+RE9aO0UfE5almm/d39L6kWjiwaNuTIgPMEjX0mSexrniayX9X/n5liW8S+ZM2HJXwscvqZTH0Cw9R6TZ6TGm5tfij24MvH85qyYozVM6uG4zLw8rgy8wvau2lemVPv0vGh+G8fOcM+DkvlPo+H8cxyVZFT9icO0eHbdVUHk10PzE53hmvQ9GHiHDy31fqce0OHAuaqnot2PyhYZv0E/EeGivm/Ursb2mLDLQW3+44t6LOrHwnrI8ji/HKWnCvzf7f9/2Kckm5JLMTck6kmd6SSpHzE5ynJyk7bKvGVLEdSR6lZJM6sUbT/wA7gPjgj0gNc9ZKXrv+U05pfAzt8PwuWeLfpubdiAgF9J5VH2SexXV7NoBcnSWjFyLfYmCNPxOWUGxyqCSfM8JsjjveRpnnrZF2dtUrlbtdd4CsbTp1I5KO/fNLm34G/pGpChP31S94/hb+kakKBO2qPv8A/wBW/pGpCgTtmj7/AMjGpFoA7Yo/aD5xqQE/e1H7QfOLQO/e9H7RY1IUeWLsjFcMY3q0xA6uzMZ/8s+pgEvCYTFqfFiC3xMgLVK1ZRq5PkZNy7Gw2GjGiC/tHXXfabI9DBlgKXSZEDFLpACFOAH3fSAcFgHkW0cSUxGJGjF8Q73BF77tOegE1ZcLbtGnhuOjFvHk9G6foW+zNpZaDtY5wDYa3JtutOdQd1R6ks0FDU2q+pn8BhG+jqlQeMgsxFvCxYkD4aT1ox+Gj4nPnTzynHp+v/pTjwVCv+6CRwBAJPzM19Gd3zwUvYv1e+X4TfZ5bVWSAdZTXQcGLEMAArfgILYgW3CQt2KDKQO8GJR7dcqoI1OYaDedRNWQ9Pg4qUtyOEIRc4IKuKgYWurjkOPWYSVxpnTjy6MuuG/8EpNqVjYXVx55T6Gcb4d+h7K8Sx18Vr8v4Nv+z/NUrsXVcq0yQN9jzvzmyOHSrfU5o8f5jPoh8qX9z0E0hymVHUQcFRHeVzbe6/lFAmGkOQii2CKC8h6CKFiHDryHoIABwq+6PQRQGnwie6PQRQshs1IMaZQXAzeyLWkdIHZKPur+ERaKUa4NeQijGxwYNeQihY4uDXkI0ix1MGvIRpRbJtPTdMiDytBBxTADDQB2mdRBRXcLcnQDUnkBBLo8N2i16jkaqzEi/nNrPAi07aC2fe9uHUk/KWJrz1RbAbuGg3EibkcFmWxlS+Jccm/QD9Jol8x7WKNYIl1hHuBNsWeflW5MVpmaKHlaDBoRjBKBvIWhM0Fo4GCNBEwSij2wMxpoL3Zj7O+w1PlNc96R6fCtRUpP0QuIoZFAsF42XUjzPGSSomOeqV9RvBpdt8wRnmdRPS/2cKO8rHlTUep/tJPobPCl95NvsbdjMD2yHgz463/MflAJLPa3U2gB5+kWUEv0iwCW6RYBZhyiwU+0MAXcOpsbWPWYNWVDP0N+clAiqZsMBwSEDWUyHFMgHVMoHFMAcUyEHAZQVe1dqPRdVQD2c2ovOPiM8oSSRnFJlJtbtHVNKstlANN1uAbi44azTh4vJLLGGxhxEUsUn7GBqm+s9c+fiq2H8J4R1JtKjVl3f0LTdpym44upjqj/APUVT/uN8tJzN/Ez30vuIfQuMNUtabUzgnEnpVBmdnM4hd5aCabFNWLJoB7yLLpE7yLGkUVZLDiGamktmKjuQV8VUfdU/M/2k9Tpe2P6gbTfxW5KJhPqXh1sBhDYzFGeXc9I/ZuPFXP3KfqS39Jjk6HT4T8039P3No01nssh4M+Kt/5P0gD1Q6jzlAZMhRLwASYAJMAAwAYBnFMGI6plIOAyFDUylHVMAcUwBxTBBwGQGe7SH+Yp+5+pnn8Z8y+hsh0MbtXEX8PvAk/kBL4djTcsj+h5/ieRpRgvqUQbS09Q85rcnYbeo5AmZI5snRk+q1r+U2nLFWYhHu7NzYt6mcl7n0jjUUuyLKhXm1M454ybSrzNM5pYyT3t4s1aKAarJZkoAGt1izLQIa0WXQB9JksvKDGJmSZi8R2DqXZz1C+g/vCZcsaikMYupdiZrk7ZsxRqI/gBmZeQveVGvM6iz0z9nDgpW5llN+guAJjM7PCmlrj9DXMZrPWIWBPirf8Ak/SAP1DqvnKA7yFEJgAkwASYAJMASAf/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0838" name="AutoShape 6" descr="data:image/jpeg;base64,/9j/4AAQSkZJRgABAQAAAQABAAD/2wCEAAkGBxQPEBAPEBIUDw8PDxANEBAPEA8PDw8PFBQWFhQRFBQYHCggGBolHRQUITEhJSkrLi4uFx8zODMsNygtLisBCgoKDg0OFxAQGiwcHBwsLCwsLCwsLCwsLCwsLCwsLCwsLCwsLCwsLCwsLCwsLCwsLCwsLCwsLCwsLCwsLCwsLP/AABEIALcBEwMBEQACEQEDEQH/xAAbAAABBQEBAAAAAAAAAAAAAAACAQMEBQYAB//EAEEQAAIBAgMFBQQHBwMEAwAAAAECAAMRBBIhBTFBUWEGEyJxkTJSgaEUQlNikrHBBxUWI9Hh8ENjciQzc/FUosL/xAAaAQEBAAMBAQAAAAAAAAAAAAAAAQIDBAUG/8QANREAAgIBAgQEAwcDBQEAAAAAAAECEQMSIQQTMVEFFEFhIjJxFSNSgbHB0WKR8DNCoeHxgv/aAAwDAQACEQMRAD8A2AAG82EzMABiqX2i/iEgocXEU/fX8QlA4tZPfHqIA4rr7w9RAHlAO438oAQSAEEgC5IAtOjZr9LQKJAgpHwP1/8AmYISrQUDu4AuSALkgHZYAuWAdlgHZYB2WALkgCZYB2SACaZgCUUIveCBV/ZbyMFFo+yvkIBwbU+cAUtAEzCACTAEzQAS3WAJmgGU2sBUplFcC4IuDI2KMbS7HprmqHfwYTCjIfXsgnCo34ooDydlBwqt+KKA/T7Nld1VvxRpLZpezGENHPnbMDa1zeWKoxZe3HOZkDHnACEAMQAxAI+BPt/8zBESoKLeAdAFgFftfPkPdmxh9AVVOnWI1Yg+ZmFMuw4qVffPrFMtocAq+8Y3Gx2eqOJPxjcmxa7NZil333mSsEqUgl4B0AQ74AFf2W8oAVLcPIQDmQX3QBMg5QBO7HKACUHKAMJXRKyrVFqbKddbZuUMFgamF5r85jZQe8wvMesWNjwcbQ6n1M8rnI9DQODaPU+pk56HLDG0up9TLz13HLDXaf3j6mOeu45Y4u1fvN6mPMLuOV7Di7XPvt6mPMe45XsOrtk/aN+Ix5j3HJ9hxdtN9o3qZfM+5OSuw4u22+1b1MeZ/qHJXYcXbzD/AFW9ZfM/1E5K7Dg7Qv8Aat6zLzPuTkLsN/vxgbiqRc3Nid8vmPcnJXYh7Q7RV11p1m8rx5qnVh4EQ6XanEnfVYGbOe/Qw5SHR2lxX28c9jlIIdpsV9tHPZOSgv4lxJGtb5SrMxykCvaXFfaD0mfM9zHljn8T4kf6nyk5g5YQ7U4n3wfhKsjDxhDtRiffHpLzCcseXtbiQPbX0mLzNF5QQ7YYr3lk8wXkhjtjieLCXnsckCp27rLvN/IRzxyibgu2NaprcAdRMfNeiKsBLPaaowILDWPMsvIHE7V1AALrppJ5pl8uhT2sqfdjzTHIR38WVPuy+aY8uhP4tqfdjzTJ5dHfxbU5LHmWPLoZq9p2beFjzLHIQ3/ER91Y8wxyBP4iPurHmGOQefhJ5NnaEEksoQSSy0EEksUEEksoQpyWAhTksBCnJZaCFOSxQXdyWWju7jUKENKNRKENKXUKGzQ6TLWSju4jWyaTu46RzGXSL3HSOY+40oXuI5j7jSjjQjmS7k0oQUZeZLuNKCFGTmy7jSju4jnS7jQhe4jnS7jQux3cS86XcaEIMMOUjyy7l0IfVJr1syoXJGtijssa33LQmUxrfclIQg8zLrfcUhLHmfWXW+4oE35mXW+5KEN+Zl1vuKQBvzMut9yUhNeZl1vuNKFFMTC2AhTEmooYpiY6mKCFISamWghSEmpighSEmploJaQkcmKDFISamWghSEmpighREmpihe5Emplo7uBGtigfo4l1slC/RxGtijvo4jWxQow19JlFyk6RHSLDC7FvYsGYncoso+LH9J6eHgfXI/yOaef8JL+jd2bd0KZtq17kfEzujhhDojS5Sl1ZY4CgtQXzAsNysAflxmxRizBtok1tmLV0qIjdVUI4+I1mM8OOapoRnKPRme2j2fNK7Ldk433r8RvHWeVxPByxrVHdHXizKWz2ZWfRp52tnRQn0eNYoX6PGsUJ3EaxR3cRrLQvcRrFCdxGoUJ3EusUCaEusUJ3EaxQJoS6yUCaEusUCaMuslAdxMtYoaEyMAhIUMCQoQkAYmJQhIUJZGA5AEJChCYgWCi2gHWgC2gHAQt9iFph0SgAXINVx4V35RztPd4Xh1ijb6s4suRzdLoSlWqzA0yNd7MN3QC8677GtQ7k6pScr4vHuJ4X6RbMtKJGHag/gKmjU4EaAmZJxZrakvckAZbBzcblqjS3Roe3UnXoPGne6n2hvHBgf0j2Y9zJbawXdPoPC2o6dPhPC43CscrXRndhnqRWEThN50ASAdAOgokEEMoEMASUAmACZSAGZAEykIoE22YBhZLAQEllCAksBhZjZQgsllCUSWAwJChASAK0llFCyWAssA7LJYFyxYHsKvivwUZp2cFHVlXsaszqI/simtS+JYXarqt/q0hogF+mvxnunKlRfUq1vL4fpKWibQrA/wCCVEaHK+FWoNR5EaEGRqwnRW1Noige7r+JDoH5f8pU/RmEoeqLLB4gN/LBuVGem2+6+78JPYx9yL2jw4elmtuOby4H9PScnGQ1Y/obcDqVGPIngWd4loAlosHWgp1oAloAhEoBIlIJaACRKASJQCRKQG0pBoJM7MQgklgIJJZQwkxsUEEksoQSSy0EqSWAwklgIJJZQwkllFFOSxQWSLFHd3FgXJJYFKHJUtxQj1no+HP439DRn6IDAbSpoKdM3WyItyCFNgNxntpHNZc98ALjdvgyIT9oSrAKigX9qo1viBFlov8AZO0jWGuW/vIbg/DhFkcKIvafAmpSLKLkC/WYsIyeyNrVKNWk170w6q1yNATY/LhJdGLjZ6Pj0zUqg+6T8v8A1GVXCS9jCHzJmHKT5dvc9MQpJYEKRYoTJFlEKS2BMkWBCkWAWSVMgmSWwCUlsAlJbJQBWWwJklsgIWWzGggsllCCyWAgkllDCSWUILJYCVJLAYSSyhhJLAQSSwEEiwFkgC5IB2SAEq7+s6OHyvHfuYTjZlttVitVlCuCWyoxFkFhPpsauNnFKdbGs7L4VsRhQ7jxajobaXjSXUZLbdOrhcWuen3qG1iTZV11+UyUURza3Ss1OxP5rB6SCmV0JRjkb4WmLRnq23Nkq+Gx4ixmLIjzztFgVod65Qb9GG/mBymuXY2wW9m+2dW77Do2/vaIN+pX+s2NXE5HtIyjU58pKrPUQPdzEomSAJ3cWBDTiwJklsCZIsAlIsCFJbAJSLAJSWwAUmVkByRZBoCZmIQWQoYEhQgJAGFmJQgsgCVYAYWQBhYAYWQBBYAWWUHZZQLlkAoWZR6kY3icAlXVxcC+hn1ENoo4mjR7CULSCiw00HSbU9jFoi4zE02qmjVQXFiLgG4PESOXcyUdrLDDd2osgA6AQ6CiwzVvNbZs00ih7VYXvU7u+UOVLGxJsCCbdf6yMQJvZSov0emqm60yaW+/sndf4zODtGjOkpuitxCWZh94/nPl86rI17nfB3FDeWaTITLAEywDssoBKwBMsFAZZQIVkABEoBKwASsoByygjATYYBgSFCAkAQEgDAmJQwJAEogDOOxqUFDOd5sANSZ0cNw0s8qXTuYzmorck0KgdQym4OoImvLiljlpkVNNbDwE1lCAkAtpkgdaUgsgCUazPHG5xXuST2ZFq1MpZef6z6VHLF7EVEqNmTvCqmwLK5RlF94IMzqzJFhidneEOtXvKir7ZdWJA4G0rjSJbvdCbIxTOxRtCOIOhmDMkzR4bSEjGTswv7UceyoFRipYin4SVOup3SpXIxbqJc/s6pd3hMnu1P8A8r/SWLuzTNVRKxY8bH7xnzXE/wCpJ+56GP5UM2nOZiWgCWgHESgQiAJaQAMJQIRBQCsAEiAARABtKCIJsMAhIAhIUMSFDAkAYEgAxOIWkhqObAepPACbMOGWWahEkpKKtmJ2njzWcu27coH1RyHX859PgwxwwUYnBOTk7ZJ2HtVsO1mN6bbxwXqP1mHE8NHNGn19GZ48jizb4estRQ6EMp1BE+bzYpYpaZHYmmrQ7NRRZkDoILADpDUTo4RXliYZH8LIW0PDV13MAvx4f51n0C6nGig2hSOe7Fm5WOW3TdN8ZKtzdCaXUuNgUgy2KA2PFb68yTqZJS7GU5p9C1TD927N71jNTNaJoxNh1ksHn/bti9fDIfrVLmZQfVmM/RGx7IHKjpyCN8zMMb6mOT0HapuSeZnzeaVybO6KpAWmoohEpTpAdaAJaUCEQAHEAGACRBQCIABEoBtAIgE2GAokKEJAGshQxIBwSArdvbNaugKHxJchPqt/ed/AcVHDJqXR+vY1ZYalsYsqQTcEEXGU6FfMf5afQp3ujiOAzaC5BNtN5PujrKD1vsb2eXD0WTEgl6o11/7B4ZR+cmThceWNTV/t9DT5mcX8PQHH4NqDlG14q3Bl4ET5fiuGlw+RxfT0fc9TFkWSNojzQZnQBLwB7D7528DH7y+xqzfKV+3h4Lz14StyOZqqKfBY3OGuLslr9Qdx85uTKi4wO1Qulgo5mGy7Mf8A3n3rZV167hMGyosaVGy6633yCzHdsKH87DtbdWA9QYT6laNJ2cNjUPQL6C8RdJs1T9B8z5mR3o6YgQwBt6gXeZ14OEll36I2wxSn0BWuDuB9Z3Lw6FdWbXw/uHmHl56Tkz8FPGrW6NcsMkr6oUziNQ24gCEQADBQSIABgASkItpmQ6AEJGAhIBwSFHBMQOLAKbb+w++BqU/DWG//AHBy8+s9LguNeP4J/L+n/Rpy4tW66kjsN2X1TFV1K2JNCkRbVT7bX67h8Z9HBJ7nm5Z/7Ub12CvbebXYk6EX/KbGc9DjU1qLkr3Ck+AjVqTcPPmRNWbBDPDRPp+hsx5JY3aM5tDCGi5RiG0BDKbqyncRPleJ4aXDz0S3PXxZVkjaIt5zmw68oHqL2nbwk1B7+pqyKyt2216eUEZiZ6PD3Ts1TVtFHgMP3YbW7MQSfLcPnOgUSCkpgT9kqAwhlRpla4kBQdp8LnpFxvpstT4KdflNbNiJexjlpZt2cE+u75TTmyqON+5NFyQ8XnhSds6Ts0gGMbie7Rn5bvM6Tdw+LmZFEyirZmMRtM5ibz6KMFFHowlGqRY7N2wNL8dJmpUJQsnviM7ixuOQmubssIVEmU2uOoNjPnuJx8ubR5+SOmQjTQYCGUAmAARBQDABlBCDTOjAW8FCBkAQMhRxZiB0SANYA4IA/iduLhaVmcG2u8DKN9r8p9NwjlDDGN3/AJ0OGeOMp6qLHD4mu6LUFJWuMwGdbjzvunUpSMXHGdWxD01VqgtVsR0N/wA5jxHFLDj1S3fp9TTHBrnUdkU1R76kz5fJlllk5TdtnpwgoLSgL8eE24uEz5fkg3+Rpy8Xgxf6k0vzG2xChlUkAsQBy15mdsPB+JabktNf56HG/GOE1xhGVt7El6ZGk6MXBwh13Z2ObZX16V500Qrqq5TCRGFS1lIWuBtbqIBdI2g6zFgFEvcHUHh0mLRUxrEYQ01BA8I004ec8zjMM18S3X6G6El0IuaeabTs0Aqu05P0ZyPqlW+F7frO7w5/ffkxdGGNRymcg5M2XPY5c2/Lfdee+XHl+KiRgcSdJrkj0MeTuafYmLvWppmys1yGIva3TiZqSbZlnzQjDuX+Hw7IamfeXNj7yjcw855fiKqcfocOTJHI049hxp5xrEMEBMAAylAMAGAPKaM+x5OPseJzZdx1VpRyMfYvNn3C7ukN+kcjH2HNn3DWnRPKTy+LsObPuOrRpR5bD+FDnT7hjD0pPK4fwovPydwxh6UnlMP4UPMZO4Qw1LpHk8P4UPMZO5Vbd2OjhXUggMM6nit94llhUF8Jsx5nJ0xNkVXdzeoaVIkhTYHM3S/Cal9TofTpZa1O9By1wKlK+jru+PERKGrae6C09Y7Mq9v5aJVVX2hfMdx6CdXC8Bw96tK2PnvFvEeIxfdx2v1/ZFC9Ytreetsuh8nJyk92RqovoZBFtOzRbGxnf0ir61aVlbmy/Vf/ADiJ5PEYdEtujPufCuN5+JJ/NHqE+GB3G3Q6zmo9WyNX2aT/AGkLsMUtnsp6Skok9wU8pAXOFo3VTIlZGTKdGxmWkxslBeHCWhZmtv8AZx3vUwtbuTvKOL0z1B3r+Uwjw2FveJjknNK0zAYrFYvD5s5OUHSoBmRvI/oZvn4fiT3icODxFZo3CVsl4CvWq03aqwamaei8SSdL/OYPhsWOnBbnZiyzm92d2d7Rrhw2GrIGw9RiSGAKE6A5gfIazJN+h1TjqdrqXm0OzFGtTOJwAysBmahmLKw+5fcem6Y2bMOdp6Z/3MecW61qTKQpR/EW0AXiD1/WNKo3Z5bUeq4FTiEVidRp8Jy5eDXE1bqjgefl/mPNss85p+x1+InnV2BOyzzj7H/qHnV2AOy25yfY/wDUXzq7AHZjc5Psd/iHnY9gDsxucn2RL8RfOR7Afux4+yJfiHnI9jM0mb3h6ie5Z59D/fsOO/dpvmMslGUcdkrD4epU1bReukwU5PqZaYroWtDCBestsUSBTHKLYpBin0lsUEKY5RYpBimOUWKRH2gnhHC518phN7GzGtyvpIhZTULBPZQIcpH3iZp29TpVroS8TWbDrmSr31MkKysBnUHjcbxKtujKvi6omY/CDE4cr9awZDycbv6Trw5NLTPM4/hVxGJwfX0+p57TcrVyn2agItyddfyv6T073Pi3G4u+sSRVg0tCYbEtSqLUT2lJBXg6Hep/zfMMmNTjTOrg+Jlw+RTRrqJSsi1U1VhfqDxB6iePOLi6Z93gzRywU49GH3RG7dMTeEgBkA+aIItKQcSqF0hbFCOI6XiyUKmLJ3LbqYslFF2j20T/ANOh1P8A3COA92ehwuH/AHv8j5rxrxDSngh/9P8Ab+TP08QV3HTiOB+E7+p8vFyi7i6LDEFBTVH/AJYKnWmqrZjrrznkZnFzddD7/wAPjkjgjzHcn1M9i+z3eeKlUFQDgwtNJ6Gotdi13wdQUh4RlFlPLnMWOpIxWwTXxNSoFFmKtfciEgXt8dYimxKaS3NTsvCGggTNm62m6CUTjyNzJZqnnNms16BDVPONY0AmqecaxoBNY841jQCarc41jQD3zc41jQUA2ZR+zHzm3SjTZIo4emlsqAW3bzaHBGSk0SxX6THlovMYS4jpHLQ5jHRW6Ry0OYw1rDlHLReYwxWHKOWhzGGtYco5aJzGR9pMMmaxJTxaTDJj2tG3Fk+LcpKIFcMNRcFRrbUzkaO6LRK2V2Zemx/mXQi2hubTLQw8iNKKIpqByFpn0NL3Z5btc5alQe7UarTPOzHMvpeetF/AvofEZo/fzXu1/wA/yOV6l1BHGZHGlvQ2u8cze8yMX0ZL2VtJsM5OrUmP8xBvv769efOc+fBzFt1PU8N8QfDSp/KzaYPEpVUOjBlO4j8jyM8uUXF0z7LFlhljqg7Q41ETE2CgQBuol5Ch0hKCt25tcURkTWqRp90e8Z08Pgc3b6HkeKeIrho6Y/O/+Pf+DF97ZtTxLEnidLn5z1eh8c05JtjuEa7p1YTXllUGzo4TEpcRCL6Wi1x9Mv5Tx7PvUtiEKWTcbHnJYovMLQXFUkO6pSPhbjbip6TBmxM2FBQaFNGUKyg+Ie1vuLzthD4EmedkktbaA7nrJy2OYgTQ6iOWxzECcP1EnLZeYgTQ8o5bHMQJo+Uctl5iANDyk0Ma0J9HMvLZNaMmtXEe6nzm65GmkEKmI9xfnJbFIMVK/uL84uRdh6m9Y/UX5xcibDmeuP8ATX1MWxSDFWt9mPUxqZaQYrVvsh6xqY2HFr1fsh6xqfYUg+/qfZfONT7EpELFYJnOZafdvvup0bzE1zhq9DbDI4gYPbppMabnxUzlYXvlNgbH4Ees0NOJ1QnGZoE2mlVNN54SXZk1SPLtqVTmqW1BqNUpnfZrm6+RE9aO0UfE5almm/d39L6kWjiwaNuTIgPMEjX0mSexrniayX9X/n5liW8S+ZM2HJXwscvqZTH0Cw9R6TZ6TGm5tfij24MvH85qyYozVM6uG4zLw8rgy8wvau2lemVPv0vGh+G8fOcM+DkvlPo+H8cxyVZFT9icO0eHbdVUHk10PzE53hmvQ9GHiHDy31fqce0OHAuaqnot2PyhYZv0E/EeGivm/Ursb2mLDLQW3+44t6LOrHwnrI8ji/HKWnCvzf7f9/2Kckm5JLMTck6kmd6SSpHzE5ynJyk7bKvGVLEdSR6lZJM6sUbT/wA7gPjgj0gNc9ZKXrv+U05pfAzt8PwuWeLfpubdiAgF9J5VH2SexXV7NoBcnSWjFyLfYmCNPxOWUGxyqCSfM8JsjjveRpnnrZF2dtUrlbtdd4CsbTp1I5KO/fNLm34G/pGpChP31S94/hb+kakKBO2qPv8A/wBW/pGpCgTtmj7/AMjGpFoA7Yo/aD5xqQE/e1H7QfOLQO/e9H7RY1IUeWLsjFcMY3q0xA6uzMZ/8s+pgEvCYTFqfFiC3xMgLVK1ZRq5PkZNy7Gw2GjGiC/tHXXfabI9DBlgKXSZEDFLpACFOAH3fSAcFgHkW0cSUxGJGjF8Q73BF77tOegE1ZcLbtGnhuOjFvHk9G6foW+zNpZaDtY5wDYa3JtutOdQd1R6ks0FDU2q+pn8BhG+jqlQeMgsxFvCxYkD4aT1ox+Gj4nPnTzynHp+v/pTjwVCv+6CRwBAJPzM19Gd3zwUvYv1e+X4TfZ5bVWSAdZTXQcGLEMAArfgILYgW3CQt2KDKQO8GJR7dcqoI1OYaDedRNWQ9Pg4qUtyOEIRc4IKuKgYWurjkOPWYSVxpnTjy6MuuG/8EpNqVjYXVx55T6Gcb4d+h7K8Sx18Vr8v4Nv+z/NUrsXVcq0yQN9jzvzmyOHSrfU5o8f5jPoh8qX9z0E0hymVHUQcFRHeVzbe6/lFAmGkOQii2CKC8h6CKFiHDryHoIABwq+6PQRQGnwie6PQRQshs1IMaZQXAzeyLWkdIHZKPur+ERaKUa4NeQijGxwYNeQihY4uDXkI0ix1MGvIRpRbJtPTdMiDytBBxTADDQB2mdRBRXcLcnQDUnkBBLo8N2i16jkaqzEi/nNrPAi07aC2fe9uHUk/KWJrz1RbAbuGg3EibkcFmWxlS+Jccm/QD9Jol8x7WKNYIl1hHuBNsWeflW5MVpmaKHlaDBoRjBKBvIWhM0Fo4GCNBEwSij2wMxpoL3Zj7O+w1PlNc96R6fCtRUpP0QuIoZFAsF42XUjzPGSSomOeqV9RvBpdt8wRnmdRPS/2cKO8rHlTUep/tJPobPCl95NvsbdjMD2yHgz463/MflAJLPa3U2gB5+kWUEv0iwCW6RYBZhyiwU+0MAXcOpsbWPWYNWVDP0N+clAiqZsMBwSEDWUyHFMgHVMoHFMAcUyEHAZQVe1dqPRdVQD2c2ovOPiM8oSSRnFJlJtbtHVNKstlANN1uAbi44azTh4vJLLGGxhxEUsUn7GBqm+s9c+fiq2H8J4R1JtKjVl3f0LTdpym44upjqj/APUVT/uN8tJzN/Ez30vuIfQuMNUtabUzgnEnpVBmdnM4hd5aCabFNWLJoB7yLLpE7yLGkUVZLDiGamktmKjuQV8VUfdU/M/2k9Tpe2P6gbTfxW5KJhPqXh1sBhDYzFGeXc9I/ZuPFXP3KfqS39Jjk6HT4T8039P3No01nssh4M+Kt/5P0gD1Q6jzlAZMhRLwASYAJMAAwAYBnFMGI6plIOAyFDUylHVMAcUwBxTBBwGQGe7SH+Yp+5+pnn8Z8y+hsh0MbtXEX8PvAk/kBL4djTcsj+h5/ieRpRgvqUQbS09Q85rcnYbeo5AmZI5snRk+q1r+U2nLFWYhHu7NzYt6mcl7n0jjUUuyLKhXm1M454ybSrzNM5pYyT3t4s1aKAarJZkoAGt1izLQIa0WXQB9JksvKDGJmSZi8R2DqXZz1C+g/vCZcsaikMYupdiZrk7ZsxRqI/gBmZeQveVGvM6iz0z9nDgpW5llN+guAJjM7PCmlrj9DXMZrPWIWBPirf8Ak/SAP1DqvnKA7yFEJgAkwASYAJMASAf/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20840" name="Picture 8" descr="https://encrypted-tbn2.gstatic.com/images?q=tbn:ANd9GcQL3ioc2Tm_RTSs7skcdyq1NrFd-3tooL1uN21BlGuDmh3akCve"/>
          <p:cNvPicPr>
            <a:picLocks noChangeAspect="1" noChangeArrowheads="1"/>
          </p:cNvPicPr>
          <p:nvPr/>
        </p:nvPicPr>
        <p:blipFill>
          <a:blip r:embed="rId3" cstate="print"/>
          <a:srcRect/>
          <a:stretch>
            <a:fillRect/>
          </a:stretch>
        </p:blipFill>
        <p:spPr bwMode="auto">
          <a:xfrm>
            <a:off x="5486400" y="3200400"/>
            <a:ext cx="3457575" cy="3062860"/>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normAutofit fontScale="90000"/>
          </a:bodyPr>
          <a:lstStyle/>
          <a:p>
            <a:r>
              <a:rPr lang="en-US" dirty="0"/>
              <a:t>Decision-Making Biases and Errors</a:t>
            </a:r>
          </a:p>
        </p:txBody>
      </p:sp>
      <p:sp>
        <p:nvSpPr>
          <p:cNvPr id="3" name="Content Placeholder 2"/>
          <p:cNvSpPr>
            <a:spLocks noGrp="1"/>
          </p:cNvSpPr>
          <p:nvPr>
            <p:ph idx="1"/>
          </p:nvPr>
        </p:nvSpPr>
        <p:spPr>
          <a:xfrm>
            <a:off x="304800" y="1828800"/>
            <a:ext cx="4572000" cy="4648200"/>
          </a:xfrm>
          <a:ln>
            <a:solidFill>
              <a:schemeClr val="accent1">
                <a:lumMod val="75000"/>
              </a:schemeClr>
            </a:solidFill>
          </a:ln>
        </p:spPr>
        <p:txBody>
          <a:bodyPr>
            <a:normAutofit/>
          </a:bodyPr>
          <a:lstStyle/>
          <a:p>
            <a:pPr marL="342900" indent="-342900" eaLnBrk="0" hangingPunct="0">
              <a:spcBef>
                <a:spcPct val="35000"/>
              </a:spcBef>
              <a:buFont typeface="Arial" charset="0"/>
              <a:buChar char="•"/>
            </a:pPr>
            <a:r>
              <a:rPr lang="en-US" sz="2500" b="1" dirty="0"/>
              <a:t>Anchoring Effect; </a:t>
            </a:r>
            <a:r>
              <a:rPr lang="en-US" sz="2500" dirty="0">
                <a:cs typeface="Arial" charset="0"/>
              </a:rPr>
              <a:t>decision makers fixate on initial information as a starting point and then, once set, fail to adequately adjust for subsequent information. </a:t>
            </a:r>
          </a:p>
          <a:p>
            <a:pPr marL="342900" indent="-342900" eaLnBrk="0" hangingPunct="0">
              <a:spcBef>
                <a:spcPct val="35000"/>
              </a:spcBef>
              <a:buFont typeface="Arial" charset="0"/>
              <a:buChar char="•"/>
            </a:pPr>
            <a:endParaRPr lang="en-US" sz="1200" dirty="0">
              <a:cs typeface="Arial" charset="0"/>
            </a:endParaRPr>
          </a:p>
          <a:p>
            <a:pPr marL="342900" indent="-342900" eaLnBrk="0" hangingPunct="0">
              <a:spcBef>
                <a:spcPct val="35000"/>
              </a:spcBef>
              <a:buFont typeface="Arial" charset="0"/>
              <a:buChar char="•"/>
            </a:pPr>
            <a:r>
              <a:rPr lang="en-US" sz="2200" dirty="0">
                <a:cs typeface="Arial" charset="0"/>
              </a:rPr>
              <a:t>First impressions, ideas, prices, and estimates carry unwarranted weight relative to information received later.</a:t>
            </a:r>
          </a:p>
          <a:p>
            <a:pPr marL="1257300" lvl="2" indent="-342900" eaLnBrk="0" hangingPunct="0">
              <a:spcBef>
                <a:spcPct val="35000"/>
              </a:spcBef>
              <a:buFont typeface="Arial" charset="0"/>
              <a:buChar char="•"/>
            </a:pPr>
            <a:endParaRPr lang="en-US" dirty="0">
              <a:cs typeface="Arial"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69</a:t>
            </a:fld>
            <a:endParaRPr lang="en-US"/>
          </a:p>
        </p:txBody>
      </p:sp>
      <p:pic>
        <p:nvPicPr>
          <p:cNvPr id="5" name="Picture 2" descr="http://cdn.slidesharecdn.com/ss_thumbnails/anchoring-091006070129-phpapp02-thumbnail-4.jpg?cb=1284253973"/>
          <p:cNvPicPr>
            <a:picLocks noChangeAspect="1" noChangeArrowheads="1"/>
          </p:cNvPicPr>
          <p:nvPr/>
        </p:nvPicPr>
        <p:blipFill>
          <a:blip r:embed="rId2" cstate="print"/>
          <a:srcRect/>
          <a:stretch>
            <a:fillRect/>
          </a:stretch>
        </p:blipFill>
        <p:spPr bwMode="auto">
          <a:xfrm>
            <a:off x="5029200" y="1828800"/>
            <a:ext cx="3937000" cy="4572000"/>
          </a:xfrm>
          <a:prstGeom prst="rect">
            <a:avLst/>
          </a:prstGeom>
          <a:noFill/>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Anchoring Effect</a:t>
            </a:r>
            <a:endParaRPr lang="en-IE" dirty="0"/>
          </a:p>
        </p:txBody>
      </p:sp>
      <p:sp>
        <p:nvSpPr>
          <p:cNvPr id="3" name="Content Placeholder 2"/>
          <p:cNvSpPr>
            <a:spLocks noGrp="1"/>
          </p:cNvSpPr>
          <p:nvPr>
            <p:ph idx="1"/>
          </p:nvPr>
        </p:nvSpPr>
        <p:spPr>
          <a:xfrm>
            <a:off x="457200" y="1600200"/>
            <a:ext cx="8229600" cy="5121275"/>
          </a:xfrm>
        </p:spPr>
        <p:txBody>
          <a:bodyPr>
            <a:normAutofit/>
          </a:bodyPr>
          <a:lstStyle/>
          <a:p>
            <a:r>
              <a:rPr lang="en-IE" sz="2700" dirty="0">
                <a:cs typeface="Arial" charset="0"/>
              </a:rPr>
              <a:t>Once the “anchor” or initial information is set, there exists a bias for interpreting other information around the anchor.  </a:t>
            </a:r>
          </a:p>
          <a:p>
            <a:endParaRPr lang="en-IE" sz="2700" dirty="0">
              <a:cs typeface="Arial" charset="0"/>
            </a:endParaRPr>
          </a:p>
          <a:p>
            <a:pPr rtl="0"/>
            <a:r>
              <a:rPr lang="en-IE" sz="2400" dirty="0"/>
              <a:t>When you buy a car, salespeople deliberately throw out an anchor number, because they know the general population will insufficiently adjust from there, </a:t>
            </a:r>
            <a:r>
              <a:rPr lang="en-IE" sz="2400" dirty="0">
                <a:cs typeface="Arial" charset="0"/>
              </a:rPr>
              <a:t>making the subsequent negotiated prices seem lower than the initial price even though they are still higher than what the vehicle is actually worth.</a:t>
            </a:r>
          </a:p>
          <a:p>
            <a:pPr rtl="0"/>
            <a:endParaRPr lang="en-IE" sz="2400" dirty="0"/>
          </a:p>
          <a:p>
            <a:pPr rtl="0"/>
            <a:r>
              <a:rPr lang="en-IE" sz="2400" dirty="0"/>
              <a:t>Avoid this bias by verifying facts you are given.  And if going into a negotiation, it is to your advantage to be the first one to throw out the anchor.</a:t>
            </a:r>
          </a:p>
          <a:p>
            <a:endParaRPr lang="en-IE" sz="2700" dirty="0">
              <a:cs typeface="Arial"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70</a:t>
            </a:fld>
            <a:endParaRPr lang="en-US"/>
          </a:p>
        </p:txBody>
      </p:sp>
    </p:spTree>
    <p:extLst>
      <p:ext uri="{BB962C8B-B14F-4D97-AF65-F5344CB8AC3E}">
        <p14:creationId xmlns:p14="http://schemas.microsoft.com/office/powerpoint/2010/main" val="37857810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normAutofit fontScale="90000"/>
          </a:bodyPr>
          <a:lstStyle/>
          <a:p>
            <a:r>
              <a:rPr lang="en-US" dirty="0"/>
              <a:t>Decision-Making Biases and Errors</a:t>
            </a:r>
          </a:p>
        </p:txBody>
      </p:sp>
      <p:sp>
        <p:nvSpPr>
          <p:cNvPr id="3" name="Content Placeholder 2"/>
          <p:cNvSpPr>
            <a:spLocks noGrp="1"/>
          </p:cNvSpPr>
          <p:nvPr>
            <p:ph sz="half" idx="1"/>
          </p:nvPr>
        </p:nvSpPr>
        <p:spPr>
          <a:xfrm>
            <a:off x="304800" y="1600200"/>
            <a:ext cx="4191000" cy="4525963"/>
          </a:xfrm>
          <a:ln>
            <a:solidFill>
              <a:schemeClr val="accent2">
                <a:lumMod val="60000"/>
                <a:lumOff val="40000"/>
              </a:schemeClr>
            </a:solidFill>
          </a:ln>
        </p:spPr>
        <p:txBody>
          <a:bodyPr>
            <a:normAutofit/>
          </a:bodyPr>
          <a:lstStyle/>
          <a:p>
            <a:pPr marL="342900" indent="-342900" eaLnBrk="0" hangingPunct="0">
              <a:spcBef>
                <a:spcPct val="35000"/>
              </a:spcBef>
              <a:buFont typeface="Arial" charset="0"/>
              <a:buChar char="•"/>
            </a:pPr>
            <a:r>
              <a:rPr lang="en-US" sz="2500" b="1" dirty="0"/>
              <a:t>Selective Perception Bias; </a:t>
            </a:r>
            <a:r>
              <a:rPr lang="en-US" sz="2500" dirty="0">
                <a:cs typeface="Arial" charset="0"/>
              </a:rPr>
              <a:t>When decision makers selectively organise and interpret events based on their biased perceptions, they are using the </a:t>
            </a:r>
            <a:r>
              <a:rPr lang="en-US" sz="2500" i="1" dirty="0">
                <a:cs typeface="Arial" charset="0"/>
              </a:rPr>
              <a:t>selective perception bias</a:t>
            </a:r>
            <a:r>
              <a:rPr lang="en-US" sz="2500" dirty="0">
                <a:cs typeface="Arial" charset="0"/>
              </a:rPr>
              <a:t>. </a:t>
            </a:r>
          </a:p>
          <a:p>
            <a:pPr lvl="1">
              <a:buFont typeface="Arial" pitchFamily="34" charset="0"/>
              <a:buChar char="•"/>
            </a:pPr>
            <a:endParaRPr lang="en-US" sz="1200" dirty="0">
              <a:cs typeface="Arial" charset="0"/>
            </a:endParaRPr>
          </a:p>
          <a:p>
            <a:pPr>
              <a:buFont typeface="Arial" pitchFamily="34" charset="0"/>
              <a:buChar char="•"/>
            </a:pPr>
            <a:r>
              <a:rPr lang="en-US" sz="2200" dirty="0">
                <a:cs typeface="Arial" charset="0"/>
              </a:rPr>
              <a:t> This influences the information they pay attention to the problems they identify, and the alternatives they develop. </a:t>
            </a:r>
            <a:endParaRPr lang="en-US" sz="2200" dirty="0"/>
          </a:p>
          <a:p>
            <a:endParaRPr lang="en-US" dirty="0"/>
          </a:p>
          <a:p>
            <a:endParaRPr lang="en-US" dirty="0"/>
          </a:p>
        </p:txBody>
      </p:sp>
      <p:sp>
        <p:nvSpPr>
          <p:cNvPr id="4" name="Content Placeholder 3"/>
          <p:cNvSpPr>
            <a:spLocks noGrp="1"/>
          </p:cNvSpPr>
          <p:nvPr>
            <p:ph sz="half" idx="2"/>
          </p:nvPr>
        </p:nvSpPr>
        <p:spPr/>
        <p:txBody>
          <a:bodyPr>
            <a:normAutofit/>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71</a:t>
            </a:fld>
            <a:endParaRPr lang="en-US"/>
          </a:p>
        </p:txBody>
      </p:sp>
      <p:sp>
        <p:nvSpPr>
          <p:cNvPr id="122882" name="AutoShape 2" descr="data:image/jpeg;base64,/9j/4AAQSkZJRgABAQAAAQABAAD/2wCEAAkGBhQSEBQUExQWFRUWFxgXGBUXFRcUHBgYFBUYFRUaFxUXHCYfGBkjGRcXHy8gIycpLC0sFh4xNTAqNSYrLCkBCQoKDgwOGg8PGikkHCQvLCwsLCwsLCwsLCksLCwsLC0sLCwsKSksLCwsLCwpKSwpLCwpLCwpLCwsLCwsLCwpKf/AABEIAL0BCwMBIgACEQEDEQH/xAAcAAABBAMBAAAAAAAAAAAAAAAGAAQFBwECAwj/xABGEAABAwIEAwYDBgIHBwQDAAABAgMRAAQFEiExBhNBByJRYXGBMpGhFEJSscHRI2IIJDNykuHwFUOCorKz8RZUc8IlRFP/xAAZAQADAQEBAAAAAAAAAAAAAAAAAQIDBAX/xAAxEQACAgEDAgQDBgcAAAAAAAAAAQIRAxIhMQRBEyJRYQUycRSRobHB0RUjM1KB4fD/2gAMAwEAAhEDEQA/ACMopZKcFusZK6rMxvy6XLpxy6WSnYDfJSyU4yUuXRYDfl0uXTjl0yxbFmbZGd9wITsJ1JPglI1JpWB15dLJQ6jtKsD/ALxQ9W1VNYTjjFyP4DiVkalOoUPVJ1ouwHOSscunHLpcunYDfl0uXTjJSyUWA35dLJXdSQBJOg1PpUM9xAhppTjysokhtIBlcCRlHWR12rOWRR5LjBvfsSWSlkoFue0R0pK220JA+6rWT4yDv00qQ4c7RmbhQbdAYc2lRlCjMABW6T66U3NRIh5nQVculkrjh98HFOJ0lB9JHj8wRT7l04yUlaKlFxdMb8ulkpxy6WSqskb8ulkpxy60eWlIlRAA6nQeWtK6GlfByyUslRPEnFrNogSQtZEpQlQ2OxUegoXsON7t9zupbQjwyz7STRqREnXIfZKXLoes+MBnyLTqN40/wjrRMyoLSFJMgiQadgpJnLl0slOOXSyUWUN+XS5dOMlLJRYDcN1uG665K2CKTYHct0uXTgorGSpsZw5dLl13yUslOxjfl0g3TnJQxxTx5b2YKZ5j0GG06wemc7AT0pWJkV2icTu2RZLRGuYqBgyJAGm/jQxh2Eu4mv7Ze5uTOVtpBiddk9Utg7nc0F4jiTt2/ndJcWsgfMwEpHQdAKuDF7EoZRzHTboTlS20heTIgACFQJW4Z6aCOtcuSZ04IanwC932fMaglTCpMKBzJjfUHURtUA7g67B5pxFwASSQsJOgAB1AJkGdqsi2bQpCil5b0gSHPl+ETrQLxhaFL0xE6BMT6kHrr1/aoxNvuadVGMUqRYWGcd2jjbZW+hK1QkjWAr3GgPnRIlAOo6/lXne+wuJhQJBgj89fKjns148LZTZ3J7pOVpw/dPRCv5Sdj09NupSfc4tSfBaHLrCkgAk6Abk9PM06yUEcUcQ57j7K2YSn+1VvP8oHgOvjVtibo0uuJw+rIhKktlUBcHvDaYjaf3plfrtbnnXF04s2zJDTSG1RJCZcMj+aB5xXDF7kM2rim/iCeWnu7lWk+gEml2V4m2WFMOQVZ8ycwB6AaA9a5Mj5kjqw8KE++/7GluMPeTmS24llE55UqRA0k667UN4hYWT5V9mK21pBIlWYKgT11G281amKhu3ZWl0FRPeIS0SJWQhKU5RBXmjeq74rxAsFxCkoBggEJCSoERKoGkeVYwk2zry4oRhaS+4mcP4hzWNvdhWZ1uW3kpGpgyJ9gFeZJoq4b4lavEqySlaPiQd4OxHimql7OsRCLosrMIuBkPWFDVB9Zke9Tt1dKs7rmNkHIQDoQCn7wPka6sbUW0eflbaUi1slZ5dccGxRu6ZS82e6rp1SeqT5inuSt7Mzhy6EO0zFAxagSMy1QB5AGTHqaNuXVddq+AB/lLQ4C8CEBmU94KMyDOhBj5+VKT2C6AfhayaUh199CnQggBsE6kiSVRqegoxw5Vs+wS3bFpbZHw5hA6yNz/lWuGNW2HJbZOdTxILy0IUsBX4ZGwHl61PC7KSXW++DG8pMCRoDt6CuCbd0j08OOKjcq/MG7Cwsr12GXXGrhOok5kKI231j0p/w7izqSU80JBJ0WnMELHxAxqEqPUdaWF8SWknOEpuGcxTKAFKMdFDQnxB8JoY4Lxh1d6jKgqBWCYE79fka2x204s48rhCSnBL3LkDdLJTnJWMldS4MThy6xy6cZKzkp2Ib8ut0t10yVuE0mB2KaxlpyUVjJUWMb5aWWnOSsZKYAtxXjhaystn+K4kqn8DY0KvUnQe9UVxLdpU5CEwE7qO6j1KverM4+eULp5xPQIaka5QkSZHmVGqivV98+pqZGKdyNLS6U24haT3kKCknfVJkfWjzh/H2yguuhb92oqOdwkIaHQJJ0E67a61Xuan+GXJSSSJAjTeNd8s/6msJK0deOWlhqnilxJyJfChuZSrLJ6BQob4jxZS3wtRQoj8CiRoevgamrfG2UAd4LUeiUKCh5EHQUF3xHMXH4j+dTA26jsm7JyzxEOEzAUff/Qpni1vlUVdDqOnvUYw+UqChuKnMVUHG0qB1KAojcTsfTet+UcDWllt9n/GH2uwWFK/rDCCFdSoBJyL8/A+Y86r918hRdJkkkmSBvM+s70O8MY+uzukup21SodFJUIUD+fqKcYpioUsKSSB0/WqT2FNO0dMe4hJKEI7oSSSJJBzREz0j86k+HmuVfWS06NvOI9JzQofP86D70yuZ3g/OiGzxGWkJCiC2QpHiFA9D08ahK00aOVNSL6xe9QlJUqBHmNxqPrVEdomIB59Ch+E6+MmaJMZ46S40A42or6qQqEq8SR0PlVd4riBeczRlGwA6D9654Qak2z0s2aDxKMGcbS4KHELTulQUPVJkVYN3ibNwhS0jKFmTJmfHfrMiq4FFLyUs2aAfjVBPpJM+VdEVvZ5s35dIY9jl8sXNxb5pRk5gHgpKgmR4SDr6CrYyVUnYjrd3H/wj/uCraxG7DLS3D91JPv0+sVohLiyIxrEsoKEmD1V4SNh57fOqix7G1pOb4SFAg9QQSdD4SNKIsZxUlLhKpMFUjaY1MTVXYhdFxcSSJ605NUZRblKy0cCxE8hpCHEBfLNw84tJdy516JCQRrr12AqauMVaLZCnEuLAnQBG407smKqnDLlxDa20mUuBKVGNcqTmyp+ZpldEIJIHfSYk6d3oY8a5Hj3s9BdT5aSOd6ol1ROhk6TP1ot7NuKmLV8i4GUKGVLgGiSTMrG/lI21qHwzlXKihZShahKVEwCRuD5+FMr6x7kiQROmmoG5Fbp+hyNUelkQQCCCDBBBkEHYg+EVnLVI9m/aK5bOot3lZrZRyidS1JgFJ/DO42q9+XVp2UNstLLTjJSyUWA3y1nLXcorOShgOOXS5dd8tLLUjOHLrR0hKSpWyQVH0SJNOstRvEaJtXRr3hl0/mIFApOlZU2MvlbbjpUYXnVJ8FDu6eA2+VVRdqkn1NWrxyxDRyyBy9em2n51U741omc+H1OVOLS7LapABEQQdiDTeKVZnSTz2NII7jULI+ImQPMePvUEqndknXXrP+X5Vl9nWNKdUEsjk9xlUoP7FJ8iP9e5qOdSJ0p207/DjXcny6dKETLdDVw611txJiuThrrZnvikHYeX9rIRA1gz7f5Vxt7ckiCR4GPCnCbkZhm22oiKUqSkaEgd0aAkEap9ddPSqW7IbpA2lQUo5jAA1phcJ1qUxy2yqECNNR4+Z86inlTr86chx9jRI1oz4ksgGkEdEgefTWPAUHM/EPUUYXd2Q0diEpKdfMCNOm9KITH3Y5ifLxNKSdHULbPrGcfVNHXFvE3NUpCNW0yJ13jVUdeoqlsHuCi5QtKikpJMjpof/FEmIYweVAkHb3PSqTJkr2GOMYqAnInNm17xOoE1AW6NCfYfvWtwoyZ/eufOOWKlu2XFbDlN4Rp0G1cX7pStzNcJrIFKx0jZtcGRvRTZuc5hSlK74ED9yZ8aGmrYnXwqcwBwJS4CNPy0/fSnEmdUQqhCvevVPD199otGHvxtpJ9YAV9ZryvdLlR0jyr0b2QXXMwlmd0qcT8lSPoaaKQV8ulkpxkpZKoob5KzkrvkpZaVgd+XWeXXbJS5dKxnDl1HcQsE2roG8T8iCfpNTHLrV1jMkjxBHzEUWKStFLceMAWpIOiBKh4ydN+m3yqmy2VKAAkkgAeajAHzq6e0TD3A06IKYPkJHr1oD7M8AN1itumJQ2rnLPglo5hPqoJHzpyOfF6ApeWimHltrAzNqKFAGYUkwdfWabRTzGXc9y8r8Trh+a1H9ancO4MdeYlttxS52DazOm0xFRRs3RAF0BIjet33ZHgd6kr3g64aUA6lLJgEh1aGzr/KVT9K5O4Y2PiumfPJnc/6RH1pk0QhNS2FYSt5i5Wj/cJS4pMboKshPtIPvWt/hLaWEvNOFwFwtmUZIISFDqd5+lWJ/R8s0u3N4lYCkqt8igeoWuCPlSNKKpy11t06idqvW7/o6sFwlu6cSjXuKQlZHh3pEifETVcYr2ZX1q+W1W63E65VtpK0rA6iNR4waKJYK3GiU+p+dEVioKbSfMgkbyIyke+nvXe87OrgNIcdUzbhRISh9ZbUTGY6QY0IOviKe4fwg6lCQlTTuv8Au7ho6jwlWvpVxT9CJcA5i9upais7kwfPzHjUVeW+RUe/zqxrvhx6BNu4YJIKU5hB1Hwk6eXlQZjmHOhQzNOJMagtqH6U2gjZDMfEn1H50Q3KwFqB0BAgbzG/zmh4oIqfZwxy4QkttrWIAzJbUqCIBEgRUIqRF2Qh30BpzdvyBPT6z5VZPBfYk88085dSyVoKWUn4sxM5ljomBEb6mhXE+zm+Q8GU2zi1JMSlJKT5he2WNapCYGvnWuVEnGXBrmHKaQ8QXHGw4UjZEmMs/eI6xpQ6huTABJ6AVDLXBrW6EmnzmBuIQFrSUg7A7+46Vq6MqQAPeihOQ2TckCKksKc7ip2KtfEaaa1EqpxbXBSD/r1/SmhNWhXx75/Srp/o9YmVNXNuZyoUhxPln7qh9Aao9wyZq6v6ONsf66qNIaTPnKj+VCKS4LkDdLJXct0uXTso4ZKWSu/LpcugBxlpZazSqQMZaWWs0qAI/FsFauWy28gKSdPA+xGopjY8L21mw4m2ZS1KTJSO8qB1WdT86nq0cTIjx0+dAUefMEu1niRFseWlsPrAQhltsFASpacxCZUYy7k0V4FiWfG8Tu3FqFvZpLaE5jlzBMHKjbMQhWg8aHLuyU3xOlxI2Z53s20UK/6DUrwbi6bb/ZyFgc3Ebp26XO4QtK0NfMkfI0AVTjSri9vXHVsu815RcCcpnKTCYBHwgACdtK5p4PulZoaMoiUqhKu8QAcp1I13GlWhj/EDK7+6t1XDinMimgt5KG8pCly2gpA7uoInwqL/APUDLSWA48gusMnOELzZjkCAgKAOaSJjpFOwA26wpTNrdMLUkqacZcOUyBmCkKHrqmasr+jdYGLx7p/DbH1Wf0oOdsEPOXZa5g59o48UONqQQtopdISVfFsdquzsk4bNnhbKFiHHJdX5FyCkeyQKQgyikU1tWpNAwFxkpOJtZ8pShu6chUESENoGh96i/wDZVq4ti7U0yv7Yi3abayJyhxRl5eUeCR9K1xlSVYugqQysIbcOV8lKJW8uO9lUlKoTpmEU/TZh3mrhloJkoDyWciP/AIX7daVJGm51rbhLfsZgJi2Bg3r4ZytNh5TaADl+E5SEj1+pqDXdLPMXndSEKCY5qtdxueoy60WXDTJaSGl5lHvZ82aVq1UTOsE+9RlzhBDBURMvcwiR0TEE+Gb6Vz4eqeWdPj6eh0vHihj1dweubp5O6lFP84SrcdcwNXl2ZNf1FskJBUhKlZUpQCpUmSlIAnLl1jpVKuWOZKzn1gqUY7pygqgE66xvtV98GW+S1QnwS2P8LKB+c105JQa8pxYpamTuWllrasVgdBUPa9wNc4m6yu0bCg2FtrKlpRqFdJOtQvCvZi/aAKcbb55JmXWzlHQAE70a8W46pA5Day3mLzjrg3DSVEEJ/mUdJqKwvgl51KHuSyhJIWA6pxbkSCCSDEnes3kadRR3Q6GMsevLLSnx/wBaIbGeAL5xSktttqmCUl1ufcE+goZuux7EogtNidpfbHqBrRPa3BStLqCRclTriVlR75bcILaukFMx5infEeNNXT5eXKm0sNEJkgoKlhKyI+8kz8qj7Rtubr4StSSe3rXf7yu7nsmxBJhTbY6f2qBr4b0wuOALtpxltSE5n1FDYStK5UOmh0qzLjFi42y04rM41cNDN+Ns/wBmoe0TUzwLw/zjZPGMrC7pceKlFLafzJqo5NTo5s3SeFj1N9ynLfs1xBbwaFo6FHqpOVI8ys6RXobsz4H/ANmWfLUQp1xWdwjaYgJT4gDrRgBWa2s4qMZaWWs0qQzGWllrNKgBUqVKgBUqVKgDBqG4p4mbsmC6vU/dQN1H9vOplVUX2u8RLVcrbCoQgZYP1jzmmiJulsajEVXjjd3CUuO2l5bmDolSrhLY18kPz7VJPdn7V49a3SHlLT9m+BK+UW0NNqTbuNZdcmdMEbyqaCuGL9tWFvMquWWHkvKKFOqI/hvISHCkJBJgo6DdVPbLiZm2FpGKDNaIW2g29m44VocOYpcLqkpUARppSKQ84zw2ztV2y0ssFKw0t0EvOvFLyIUtalygDMdNZkU1fw5u3ZXkCeZbM5SSAApLy0qQVEdNInzprifaFbLtywpzELhvLlyKVb2yDBzCQ2gqInpNReF8U25VH2BpxR+9cOOvEBI0EZgCPWkBYvKYS9aqU6Oc4+W0tIu03DbqLhlTa1pQAC2kEpGsbVYnBnFrF/b52ZBQci21QFIUnSDHTTQ1Qg7RbhtQDKLVjbVm2bQQfUgn9a69kWNOtYyhAVIuFKDg6K0UuY01BE+9Nbib3PSpNB/aJxoLFpKUH+K5OXXUAbn9BReaoXtJxQKvnVk5skoSBrAQIMaaayaaFJm+I4+UB8hyHAxaoEqgqUEBSjB37yzXGxQ2sruU5QFNrzIMd1wbwD0O9AV1xg+TK0tL81spmAIEka1oji0fetWD/d5iPyVWmpUCTLGurdIcZTk0KUZv6vnBJ8XBqD+VaP4KG2Xny2ShDoRk5isqZiMxSdfGOk0EMcZMzqw6kdeXcrGnWAQaJ8B4ttZVyFX7E/EAWHkq/vJUAFe4oTV22J3wjpid0y7bt8tt9palBJTJWyoFUd1ajmn+WT+VWBwbx8k391YuwnI6oMK2BA0yHxMiQesxQfcYiy663zsQfUhh1B5SrUJSCCFwOUrLmgbwYmgDGcaKL1T7cglxTgPjKyoR4U5OLWxEYuJ61BqJ4l4gTaMFxWp2Qn8Sv2607wi+51u06P8AeNoX/iSD+tVX2y3pVctNBRASjNCdyVE6/QVkluaSdI0xELetWLt3RLzbzTpSJDalPKKFGPuyAD71PYd2iLQ0lDlstZSnLzGlIWlUaBQ10nwoHwLtlbs7JFq5ZrcCApJUXEgKzLKvhKT41DXPaJh6jIw5af7r8D5AVi4O7R6WPqccsax5VdcBLY4WX1tNkltwN3DiZOqVBzO3PhO3vUdc95LrkBJVlStH4XQ4nMAPA7/OmOG9qlowSWrFaSRBPOBMeElO1bHtNslvc5dgor0M84AEjYlOWCaz8HY6/wCIpv2/UnVYIW7ptpW7a0ONqJjOyVgqTPinU/Oifg7iZi0trUPryB5y4QhRHdzB1J7x+6I6mgbEO2OzuBD9gtcfCeclJHjqE9fCuGLcTM4mi2aZtjbtW5WdVBwEry6QBO+586uGOpWcnUdZHJi097PRKFg7bVtQ32frUbBsEzlK0pMz3UqITr6ae1ElbHnp2rFSpUqBipUqVACpUqVACrE1msGgDBrzjxu3neulK0KXHJJ1ABUco16mP9TV28bYyu3twpBhSlBM+AgkkfKqGxi9U4y6twyXCtwyYJzKhJjx/SpjNNuJU8MlCOTs3QAOnQVxmt1CsBs+BpkIxNSmEuZUrVpIj66D61G8o+BqTsLZSAc6CEqiCRGx0/8ANDKUZPhEjyCGz3e9pIP3upM+tSPZMSrG7SDqFqPjoG1k/So9L0JV13zDY7Sk/PSpbsaT/wDnLeTH9r/21aU0Z9z0+4dNa858UoAvbwnXK66dOomffpVtdp1+W7dACiApSs0dUpTJB8qpJl8Ft1ZklQWr597/AC9qzjkuTj6HRlwacUcrfL4+n+wNurkrknxNM67OpMz409tsLzJBgmqbozxwc/lI2pLBrwIXBMBRAnoJOpNdU4MfwmpLBsOCFytvMkiCDrUuaSs6cfSTnJLglrBjlznhWZwqhUx1SIV6aa+VDfEbIBT7iI2AMDXrRTiLvLalIzNRlmdW5Ijz0Ox9qZcQMN8qSobab/FuCD1BqoZFONox6jDPBPRI9A9nVxmwmzJ//ikbzonQa+gFVp2tvJOIoUheb+Gkd1QIGUqnbrT3s04pzcP3DYMOWoUjzyuEqQfmVD2oIbCXA64dTOVJ3gJkH5qJ+tGrzUJ4l4XiN96AvEbvMtXQToKj6c3aO8T5muSGFHYH5U2Zx9jQGlNOU4erqCPatV2ahRaKcX3OKDrrRrw2YCssJ2nWJ8/lr7UEhNFWAOhSDJgpG8eUJ9QaqJlP0PTvB9lyrG3REENgn1V3j+dTNRXC+JJuLRh1Oym06eBSMqh7EGpWkWuBUqVKgYqVKlQAqVKlQAq1NbVrQBX/AGv3eS2QP7x/5cv61Td80pxs9RljzASSNv8AW1Wd24P9xCJAlPU7ZlpH6VV+JXADYKesAzsCTIjyisYfNJnT1DaxY4+zf4sFW7fM8EzI8faanrXDRoaIOxPDW3cTdDqEOJSwswpIWJK0gGDV3r4MsTr9kZ/wR+VXKLYdPlhj+ZWee0YaJGlSXENnna9B9Iq7zwNYn/8AVb/5h+tQ/EXZqw4yv7OksuZTEKUUq8lJJ+ormnhnad8Hq4+u6fS4OL3KAsGYzJVJMDbqPX6+1OeC8UFti1q5skPJSo7d1fcP0Ua2upQtQnKQYjzIggnyih24dOcK2I190mutPY8GcdM3E9AduN7lZSn+RX/MpKPymqyzZUJAIKYg+4mCKIe2PGS5yk7ywwVf8YzmgtV7oITAid9xtWcFUm/c6eol5McfRfm2yHTZKcuEtoSVFSgkJSCZ12AFGicLdR3VMOpA8WnB/wDWo/sxZz43aDwcKz/wIUo/lXqDmaRP1pzjqDpupeHtZ5zRanbIof8ACr9qdDD1gSG3I8Q2sj37u1egCqsF3z+tYvp77nor4q0toI804gyeWsDYpMjxjWPWm2MPj7OAEJylMo9AYMeBmZHSrV7UsGbAS+gBKlktriNSUkpVA+9oRPWqzvbRKbNB+I7+h6j1IPvWmJabizk6/IsqhkXf9CO4AxotKuGfu3DWU+rawsH5Zh71JtXRSwI0Kt407uu/lrQdYXOV8KA6nT1BFGFsyXGe6AYAB6Hup1+orRLzWckp/wApQ92CWIs/xMqQSSYEaySdIFGrOFlpsJcbcRAA7zS0eu6aHMIbzYpbJT/7hnz2cTP5V6xLkzoanJDV3Nuk6nwG2lZ5wyt7Sn5j9a1VYoI2Sfka9EO2rSvjbQT/ADISfzFML3hOzdSQq2a16pQEEeikwQax8F+p6S+JwfzQPLXEFkEODKIBG3pUlgSIZI8foN9fKSKmO1Xhv7E+lElSN0KO5QrofMEET6VC4U7KBBT5g+H/AIreF1ueR1WnxLjwy7+xHGM9s8wTJZcn/hcE/wDUFVZVUp2IX6UXV02dCUBcHyXrr1+KrmTcCrMUdaVaBwVvQMVKlSoAVKlWqlUAbVoVVzU5XMmgCoe2x7OpY/C22P8AEsk/QiqqvXpbG8wOu0ax7VY3aNepcuLlPUFAiJ0SU9OtV5iaIJE9DJGnh0rnw76vqd3XpRWNL+1Bx/R7H9au1Rs0gekuf5VeaXa89diF6hu8eQt3l8xrumYkoWCR5mJ0q8BjjITAczq6Zjln510NnEo2tiZ5hrmpsHefnUO1jyh8bKo/Eg5h8hrTxrEkq2+Wx+RpWmVokuTzdxO2G7+6b10dV7eHvE0KXTkkzvRZ2gLyYnc9e+T+YoPdXJk1MeAzf1GG/FN6X0ZljKpLdugp3jltpSaHVRAB3j5a/tRBfYLdIZeU6w4EgIXnKTBEoIIPmIqBuGBlKuuwG/8ArrRDua9VVRr0QS9ioH+2mpI0Q788hFelIAryhwTiiLXEGHnArIFELy7hK0lBI9Jn2r0HacTsJQcipnZSnUL9NAqiUqMoQ1rYKXkA71x+yI/CKGG8adJ7twyqeikxUjb31wd0tr80K/ekpp9jR4XFcoZdoWHBdgvKAClSFjTwVB+hNUklUNKaUIKVOpnxiFJH6ir7xhlx22dSUZZQd46Cdx6V5vv8YPPeLcFKlDpO0AnykiiLfie1GmRR+z13UvwB9tcLB8xRphbn8EpEwTljrCtyT0G9QOI4Jy0JczTmIIHkQFA/p7VPhWVkFI1gkgeIEe1ao4W9iJ4ScyYvanwuGxrp94CvVaF+P715HbdLVw28ROVxLnqEqzEfSvQttxParCVoBggKCi4EyDrtJqJOjbFBSQbKSDvrXM2/gSPf96gP/UqgQUN8xH8qxmHt1p7bcRNr07yD+FXdP13ppop45Iqv+kFaEC2WST8Q221n9TVW4KuNTqB08f8AQq2u354G3t9d1GBttGtUzYEzHjSiTmSqP0/ctTsP1xB8nZTCtfCHUVdfLjY/Wqc7D7MG5uCDryR7S4KuP7J5mrMUbJnoaeMunrTEW3nThi1O80MaH1KsCs0ihVxcNdqbu70AaTWBSNIUCA/tGs0/ZVlLaStQIzBIzaagg+1UhiWHd4LXoYnLufCSNo389K9J4xYc9lbcgFSVBKj0UQQD86pJPDZLpbXKUpVkVPxFQGwPQCKpIJNye4JYHgBXcjvloDvZwIUI1GXzirByLabzJfddATmOdRVImAY6TB+VaYtwklxoIT/DcOgVsTERH4qgV4mqzZXbOKLzzkITolKQhCcsE76b6+Nc023wztxQjGNyX+S0+E7VzUrKymJnp7VN3WKBBypZcWfGNPmaE+zjC3Q2VrzJQoDKnbYbx4GjlyzSoQZ18DH1rde5xu+x5W4mv1v39ytSTmW8slIB0AVEaeQFaI4acUnME+Bgz8ielW9iuAN2zjwYQBqTESCd5KjrQlhnHiS6W3k5SVhER5H6THzqHKuEaxxXTb5LE4N4saxW2XauoDbqUZFMkzISmApE6mDGnQ1UGDYOFvKSoiUlUg+AkDXxOtGF1b5XyttQbWgcweOhEd4a7mK64RgaRevXAPce76FbgJcAVv4hUzT1Jonw2p0wSbwxi2fJuUEpIhCTmAkePtEelFVzbNNIS42lKUBxtBCAIIJSFbaHVX0p/wAUM25Zm5Skgg5FE7qSNiNx4zVc2N8t0s2jeUNpcKzlClZjmBGc/egflWDWvg6/LhVMvXAsBYVC84JH3Bp7Kza/KnnEmIqtbdSmglIA0MiSSYGh33qL4d4HWpSVvlBSdYAUFEdOvdp/xlwqF2hQzCC2JQCTlkHMArfSRWkU0tkcspapbvYAcaskuA/aHHSSYJDqkxnGmgMAbj2oSwHBUJuFJKipGuWCBmAMCR1E/lUmkDFCnMtTRR3XEJUFJUpBOsH4Yk+oNFNphbYaSkJCk9VbaDaDvRBtOmb5YRmritivcbwYn7MkCU50tEAmRLmgnqO9UhjGG5LlxsABIcWAmTsCQPTYHanT2Du/bEAHOnNzBsDoRprvA1+VEeMOs2iwt4fxnVGQY7hKQdY9h71rrS2ZyRxuRWOLYermoTokk5SpQ0gmAT4jpRZhvDa2EpU24VjqjZJEZlR4EDrUdjGPpuGy0pOVW6TPhtv1096XBWJ3SHEKdBNslK0leWU6kH4h94lIEq6Vk5NrY6IwhB1ItTAMMZVbh9L7iUxMHQjyInxkUG4/jl0446hFxkbbzd4JBzBO5Tm2gET7057Py9dIcCcyW8znLXHdSCqQD+ITO3jUTi/CN4XlNPNLNvnLnMZlQWVaATEoEE6GqXBmnUgFxC3euHZLqnzrClEmBHyA9KcNYHlSSNDG+4Ox2HXejnCrJppJShDiIMBS0kDz0UJPrW2IYM0U50EhSRoRokxvI60Jjnhdck32H2+T7SVQVdxIg7pEmQPDb5VaOZW4OnhVfdkXDzrTCn3QU87VKFAgpSNt/HerCZZjSSa0RhwZCvEU7Zc0rgBWyEa0DQ7pVgVmkMVaqRW1KgDgpFaFFOqxloAalFRF9w4hwqOiSdzEz6g70QZawUCmAEYpwU4tspbfCSTMrQVQR1TB0NQWAdizaHQ/ePKuHQZA+FG+mm509vWrT5QrHKFSkkVKcpKmM0MACBt+1bcqngbFbZaZAI8TcK/aU9xamlwRnTrIPQg6EUEYd2MusLU4l1p1aj8TqFDKPIAkE/tVxFsVjlClSKTaKkxHs0vyVqQ/brUtOWClbegkjXXyok4I4MVa24bfyLOWCkSU+fxbnzo25IrcNCikNybdsFsW4CsbnLzbcKy7ZVrR/wBKhpTnC+EbS2/sLdtv0E/nvU+GRWeUKZLt8jYE1gjxEinXLFItCgRXWLdjtm47zWCu2WSSvlmUqnX4FSBr4VMN8FJCAkvOFQAGeEjb+UaUVloVryqTSKjKSVIF8I4JaZc5qlLdcGylHbWdANAPIRTjHOELW8GW4ZS4JmZKVA/3kkH61P8AKrPKp0hbld33YthywMqHW46odUZ9c+b6RU3gvBNvaIUm3bCQv4sylLzRG+YneKKeVS5VKgIlnD40iANgIA+Q2p+13RXfk0gyKdC3Gy4O4n1g/nXEWTebNkTm8co/apINjwrHIFPYe43g0kppwGRW4QKAG4Qa6tt10rNIBUqVKgD/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2884" name="AutoShape 4" descr="data:image/jpeg;base64,/9j/4AAQSkZJRgABAQAAAQABAAD/2wCEAAkGBhQSEBQUExQWFRUWFxgXGBUXFRcUHBgYFBUYFRUaFxUXHCYfGBkjGRcXHy8gIycpLC0sFh4xNTAqNSYrLCkBCQoKDgwOGg8PGikkHCQvLCwsLCwsLCwsLCksLCwsLC0sLCwsKSksLCwsLCwpKSwpLCwpLCwpLCwsLCwsLCwpKf/AABEIAL0BCwMBIgACEQEDEQH/xAAcAAABBAMBAAAAAAAAAAAAAAAGAAQFBwECAwj/xABGEAABAwIEAwYDBgIHBwQDAAABAgMRAAQFEiExBhNBByJRYXGBMpGhFEJSscHRI2IIJDNykuHwFUOCorKz8RZUc8IlRFP/xAAZAQADAQEBAAAAAAAAAAAAAAAAAQIDBAX/xAAxEQACAgEDAgQDBgcAAAAAAAAAAQIRAxIhMQRBEyJRYQUycRSRobHB0RUjM1KB4fD/2gAMAwEAAhEDEQA/ACMopZKcFusZK6rMxvy6XLpxy6WSnYDfJSyU4yUuXRYDfl0uXTjl0yxbFmbZGd9wITsJ1JPglI1JpWB15dLJQ6jtKsD/ALxQ9W1VNYTjjFyP4DiVkalOoUPVJ1ouwHOSscunHLpcunYDfl0uXTjJSyUWA35dLJXdSQBJOg1PpUM9xAhppTjysokhtIBlcCRlHWR12rOWRR5LjBvfsSWSlkoFue0R0pK220JA+6rWT4yDv00qQ4c7RmbhQbdAYc2lRlCjMABW6T66U3NRIh5nQVculkrjh98HFOJ0lB9JHj8wRT7l04yUlaKlFxdMb8ulkpxy6WSqskb8ulkpxy60eWlIlRAA6nQeWtK6GlfByyUslRPEnFrNogSQtZEpQlQ2OxUegoXsON7t9zupbQjwyz7STRqREnXIfZKXLoes+MBnyLTqN40/wjrRMyoLSFJMgiQadgpJnLl0slOOXSyUWUN+XS5dOMlLJRYDcN1uG665K2CKTYHct0uXTgorGSpsZw5dLl13yUslOxjfl0g3TnJQxxTx5b2YKZ5j0GG06wemc7AT0pWJkV2icTu2RZLRGuYqBgyJAGm/jQxh2Eu4mv7Ze5uTOVtpBiddk9Utg7nc0F4jiTt2/ndJcWsgfMwEpHQdAKuDF7EoZRzHTboTlS20heTIgACFQJW4Z6aCOtcuSZ04IanwC932fMaglTCpMKBzJjfUHURtUA7g67B5pxFwASSQsJOgAB1AJkGdqsi2bQpCil5b0gSHPl+ETrQLxhaFL0xE6BMT6kHrr1/aoxNvuadVGMUqRYWGcd2jjbZW+hK1QkjWAr3GgPnRIlAOo6/lXne+wuJhQJBgj89fKjns148LZTZ3J7pOVpw/dPRCv5Sdj09NupSfc4tSfBaHLrCkgAk6Abk9PM06yUEcUcQ57j7K2YSn+1VvP8oHgOvjVtibo0uuJw+rIhKktlUBcHvDaYjaf3plfrtbnnXF04s2zJDTSG1RJCZcMj+aB5xXDF7kM2rim/iCeWnu7lWk+gEml2V4m2WFMOQVZ8ycwB6AaA9a5Mj5kjqw8KE++/7GluMPeTmS24llE55UqRA0k667UN4hYWT5V9mK21pBIlWYKgT11G281amKhu3ZWl0FRPeIS0SJWQhKU5RBXmjeq74rxAsFxCkoBggEJCSoERKoGkeVYwk2zry4oRhaS+4mcP4hzWNvdhWZ1uW3kpGpgyJ9gFeZJoq4b4lavEqySlaPiQd4OxHimql7OsRCLosrMIuBkPWFDVB9Zke9Tt1dKs7rmNkHIQDoQCn7wPka6sbUW0eflbaUi1slZ5dccGxRu6ZS82e6rp1SeqT5inuSt7Mzhy6EO0zFAxagSMy1QB5AGTHqaNuXVddq+AB/lLQ4C8CEBmU94KMyDOhBj5+VKT2C6AfhayaUh199CnQggBsE6kiSVRqegoxw5Vs+wS3bFpbZHw5hA6yNz/lWuGNW2HJbZOdTxILy0IUsBX4ZGwHl61PC7KSXW++DG8pMCRoDt6CuCbd0j08OOKjcq/MG7Cwsr12GXXGrhOok5kKI231j0p/w7izqSU80JBJ0WnMELHxAxqEqPUdaWF8SWknOEpuGcxTKAFKMdFDQnxB8JoY4Lxh1d6jKgqBWCYE79fka2x204s48rhCSnBL3LkDdLJTnJWMldS4MThy6xy6cZKzkp2Ib8ut0t10yVuE0mB2KaxlpyUVjJUWMb5aWWnOSsZKYAtxXjhaystn+K4kqn8DY0KvUnQe9UVxLdpU5CEwE7qO6j1KverM4+eULp5xPQIaka5QkSZHmVGqivV98+pqZGKdyNLS6U24haT3kKCknfVJkfWjzh/H2yguuhb92oqOdwkIaHQJJ0E67a61Xuan+GXJSSSJAjTeNd8s/6msJK0deOWlhqnilxJyJfChuZSrLJ6BQob4jxZS3wtRQoj8CiRoevgamrfG2UAd4LUeiUKCh5EHQUF3xHMXH4j+dTA26jsm7JyzxEOEzAUff/Qpni1vlUVdDqOnvUYw+UqChuKnMVUHG0qB1KAojcTsfTet+UcDWllt9n/GH2uwWFK/rDCCFdSoBJyL8/A+Y86r918hRdJkkkmSBvM+s70O8MY+uzukup21SodFJUIUD+fqKcYpioUsKSSB0/WqT2FNO0dMe4hJKEI7oSSSJJBzREz0j86k+HmuVfWS06NvOI9JzQofP86D70yuZ3g/OiGzxGWkJCiC2QpHiFA9D08ahK00aOVNSL6xe9QlJUqBHmNxqPrVEdomIB59Ch+E6+MmaJMZ46S40A42or6qQqEq8SR0PlVd4riBeczRlGwA6D9654Qak2z0s2aDxKMGcbS4KHELTulQUPVJkVYN3ibNwhS0jKFmTJmfHfrMiq4FFLyUs2aAfjVBPpJM+VdEVvZ5s35dIY9jl8sXNxb5pRk5gHgpKgmR4SDr6CrYyVUnYjrd3H/wj/uCraxG7DLS3D91JPv0+sVohLiyIxrEsoKEmD1V4SNh57fOqix7G1pOb4SFAg9QQSdD4SNKIsZxUlLhKpMFUjaY1MTVXYhdFxcSSJ605NUZRblKy0cCxE8hpCHEBfLNw84tJdy516JCQRrr12AqauMVaLZCnEuLAnQBG407smKqnDLlxDa20mUuBKVGNcqTmyp+ZpldEIJIHfSYk6d3oY8a5Hj3s9BdT5aSOd6ol1ROhk6TP1ot7NuKmLV8i4GUKGVLgGiSTMrG/lI21qHwzlXKihZShahKVEwCRuD5+FMr6x7kiQROmmoG5Fbp+hyNUelkQQCCCDBBBkEHYg+EVnLVI9m/aK5bOot3lZrZRyidS1JgFJ/DO42q9+XVp2UNstLLTjJSyUWA3y1nLXcorOShgOOXS5dd8tLLUjOHLrR0hKSpWyQVH0SJNOstRvEaJtXRr3hl0/mIFApOlZU2MvlbbjpUYXnVJ8FDu6eA2+VVRdqkn1NWrxyxDRyyBy9em2n51U741omc+H1OVOLS7LapABEQQdiDTeKVZnSTz2NII7jULI+ImQPMePvUEqndknXXrP+X5Vl9nWNKdUEsjk9xlUoP7FJ8iP9e5qOdSJ0p207/DjXcny6dKETLdDVw611txJiuThrrZnvikHYeX9rIRA1gz7f5Vxt7ckiCR4GPCnCbkZhm22oiKUqSkaEgd0aAkEap9ddPSqW7IbpA2lQUo5jAA1phcJ1qUxy2yqECNNR4+Z86inlTr86chx9jRI1oz4ksgGkEdEgefTWPAUHM/EPUUYXd2Q0diEpKdfMCNOm9KITH3Y5ifLxNKSdHULbPrGcfVNHXFvE3NUpCNW0yJ13jVUdeoqlsHuCi5QtKikpJMjpof/FEmIYweVAkHb3PSqTJkr2GOMYqAnInNm17xOoE1AW6NCfYfvWtwoyZ/eufOOWKlu2XFbDlN4Rp0G1cX7pStzNcJrIFKx0jZtcGRvRTZuc5hSlK74ED9yZ8aGmrYnXwqcwBwJS4CNPy0/fSnEmdUQqhCvevVPD199otGHvxtpJ9YAV9ZryvdLlR0jyr0b2QXXMwlmd0qcT8lSPoaaKQV8ulkpxkpZKoob5KzkrvkpZaVgd+XWeXXbJS5dKxnDl1HcQsE2roG8T8iCfpNTHLrV1jMkjxBHzEUWKStFLceMAWpIOiBKh4ydN+m3yqmy2VKAAkkgAeajAHzq6e0TD3A06IKYPkJHr1oD7M8AN1itumJQ2rnLPglo5hPqoJHzpyOfF6ApeWimHltrAzNqKFAGYUkwdfWabRTzGXc9y8r8Trh+a1H9ancO4MdeYlttxS52DazOm0xFRRs3RAF0BIjet33ZHgd6kr3g64aUA6lLJgEh1aGzr/KVT9K5O4Y2PiumfPJnc/6RH1pk0QhNS2FYSt5i5Wj/cJS4pMboKshPtIPvWt/hLaWEvNOFwFwtmUZIISFDqd5+lWJ/R8s0u3N4lYCkqt8igeoWuCPlSNKKpy11t06idqvW7/o6sFwlu6cSjXuKQlZHh3pEifETVcYr2ZX1q+W1W63E65VtpK0rA6iNR4waKJYK3GiU+p+dEVioKbSfMgkbyIyke+nvXe87OrgNIcdUzbhRISh9ZbUTGY6QY0IOviKe4fwg6lCQlTTuv8Au7ho6jwlWvpVxT9CJcA5i9upais7kwfPzHjUVeW+RUe/zqxrvhx6BNu4YJIKU5hB1Hwk6eXlQZjmHOhQzNOJMagtqH6U2gjZDMfEn1H50Q3KwFqB0BAgbzG/zmh4oIqfZwxy4QkttrWIAzJbUqCIBEgRUIqRF2Qh30BpzdvyBPT6z5VZPBfYk88085dSyVoKWUn4sxM5ljomBEb6mhXE+zm+Q8GU2zi1JMSlJKT5he2WNapCYGvnWuVEnGXBrmHKaQ8QXHGw4UjZEmMs/eI6xpQ6huTABJ6AVDLXBrW6EmnzmBuIQFrSUg7A7+46Vq6MqQAPeihOQ2TckCKksKc7ip2KtfEaaa1EqpxbXBSD/r1/SmhNWhXx75/Srp/o9YmVNXNuZyoUhxPln7qh9Aao9wyZq6v6ONsf66qNIaTPnKj+VCKS4LkDdLJXct0uXTso4ZKWSu/LpcugBxlpZazSqQMZaWWs0qAI/FsFauWy28gKSdPA+xGopjY8L21mw4m2ZS1KTJSO8qB1WdT86nq0cTIjx0+dAUefMEu1niRFseWlsPrAQhltsFASpacxCZUYy7k0V4FiWfG8Tu3FqFvZpLaE5jlzBMHKjbMQhWg8aHLuyU3xOlxI2Z53s20UK/6DUrwbi6bb/ZyFgc3Ebp26XO4QtK0NfMkfI0AVTjSri9vXHVsu815RcCcpnKTCYBHwgACdtK5p4PulZoaMoiUqhKu8QAcp1I13GlWhj/EDK7+6t1XDinMimgt5KG8pCly2gpA7uoInwqL/APUDLSWA48gusMnOELzZjkCAgKAOaSJjpFOwA26wpTNrdMLUkqacZcOUyBmCkKHrqmasr+jdYGLx7p/DbH1Wf0oOdsEPOXZa5g59o48UONqQQtopdISVfFsdquzsk4bNnhbKFiHHJdX5FyCkeyQKQgyikU1tWpNAwFxkpOJtZ8pShu6chUESENoGh96i/wDZVq4ti7U0yv7Yi3abayJyhxRl5eUeCR9K1xlSVYugqQysIbcOV8lKJW8uO9lUlKoTpmEU/TZh3mrhloJkoDyWciP/AIX7daVJGm51rbhLfsZgJi2Bg3r4ZytNh5TaADl+E5SEj1+pqDXdLPMXndSEKCY5qtdxueoy60WXDTJaSGl5lHvZ82aVq1UTOsE+9RlzhBDBURMvcwiR0TEE+Gb6Vz4eqeWdPj6eh0vHihj1dweubp5O6lFP84SrcdcwNXl2ZNf1FskJBUhKlZUpQCpUmSlIAnLl1jpVKuWOZKzn1gqUY7pygqgE66xvtV98GW+S1QnwS2P8LKB+c105JQa8pxYpamTuWllrasVgdBUPa9wNc4m6yu0bCg2FtrKlpRqFdJOtQvCvZi/aAKcbb55JmXWzlHQAE70a8W46pA5Day3mLzjrg3DSVEEJ/mUdJqKwvgl51KHuSyhJIWA6pxbkSCCSDEnes3kadRR3Q6GMsevLLSnx/wBaIbGeAL5xSktttqmCUl1ufcE+goZuux7EogtNidpfbHqBrRPa3BStLqCRclTriVlR75bcILaukFMx5infEeNNXT5eXKm0sNEJkgoKlhKyI+8kz8qj7Rtubr4StSSe3rXf7yu7nsmxBJhTbY6f2qBr4b0wuOALtpxltSE5n1FDYStK5UOmh0qzLjFi42y04rM41cNDN+Ns/wBmoe0TUzwLw/zjZPGMrC7pceKlFLafzJqo5NTo5s3SeFj1N9ynLfs1xBbwaFo6FHqpOVI8ys6RXobsz4H/ANmWfLUQp1xWdwjaYgJT4gDrRgBWa2s4qMZaWWs0qQzGWllrNKgBUqVKgBUqVKgDBqG4p4mbsmC6vU/dQN1H9vOplVUX2u8RLVcrbCoQgZYP1jzmmiJulsajEVXjjd3CUuO2l5bmDolSrhLY18kPz7VJPdn7V49a3SHlLT9m+BK+UW0NNqTbuNZdcmdMEbyqaCuGL9tWFvMquWWHkvKKFOqI/hvISHCkJBJgo6DdVPbLiZm2FpGKDNaIW2g29m44VocOYpcLqkpUARppSKQ84zw2ztV2y0ssFKw0t0EvOvFLyIUtalygDMdNZkU1fw5u3ZXkCeZbM5SSAApLy0qQVEdNInzprifaFbLtywpzELhvLlyKVb2yDBzCQ2gqInpNReF8U25VH2BpxR+9cOOvEBI0EZgCPWkBYvKYS9aqU6Oc4+W0tIu03DbqLhlTa1pQAC2kEpGsbVYnBnFrF/b52ZBQci21QFIUnSDHTTQ1Qg7RbhtQDKLVjbVm2bQQfUgn9a69kWNOtYyhAVIuFKDg6K0UuY01BE+9Nbib3PSpNB/aJxoLFpKUH+K5OXXUAbn9BReaoXtJxQKvnVk5skoSBrAQIMaaayaaFJm+I4+UB8hyHAxaoEqgqUEBSjB37yzXGxQ2sruU5QFNrzIMd1wbwD0O9AV1xg+TK0tL81spmAIEka1oji0fetWD/d5iPyVWmpUCTLGurdIcZTk0KUZv6vnBJ8XBqD+VaP4KG2Xny2ShDoRk5isqZiMxSdfGOk0EMcZMzqw6kdeXcrGnWAQaJ8B4ttZVyFX7E/EAWHkq/vJUAFe4oTV22J3wjpid0y7bt8tt9palBJTJWyoFUd1ajmn+WT+VWBwbx8k391YuwnI6oMK2BA0yHxMiQesxQfcYiy663zsQfUhh1B5SrUJSCCFwOUrLmgbwYmgDGcaKL1T7cglxTgPjKyoR4U5OLWxEYuJ61BqJ4l4gTaMFxWp2Qn8Sv2607wi+51u06P8AeNoX/iSD+tVX2y3pVctNBRASjNCdyVE6/QVkluaSdI0xELetWLt3RLzbzTpSJDalPKKFGPuyAD71PYd2iLQ0lDlstZSnLzGlIWlUaBQ10nwoHwLtlbs7JFq5ZrcCApJUXEgKzLKvhKT41DXPaJh6jIw5af7r8D5AVi4O7R6WPqccsax5VdcBLY4WX1tNkltwN3DiZOqVBzO3PhO3vUdc95LrkBJVlStH4XQ4nMAPA7/OmOG9qlowSWrFaSRBPOBMeElO1bHtNslvc5dgor0M84AEjYlOWCaz8HY6/wCIpv2/UnVYIW7ptpW7a0ONqJjOyVgqTPinU/Oifg7iZi0trUPryB5y4QhRHdzB1J7x+6I6mgbEO2OzuBD9gtcfCeclJHjqE9fCuGLcTM4mi2aZtjbtW5WdVBwEry6QBO+586uGOpWcnUdZHJi097PRKFg7bVtQ32frUbBsEzlK0pMz3UqITr6ae1ElbHnp2rFSpUqBipUqVACpUqVACrE1msGgDBrzjxu3neulK0KXHJJ1ABUco16mP9TV28bYyu3twpBhSlBM+AgkkfKqGxi9U4y6twyXCtwyYJzKhJjx/SpjNNuJU8MlCOTs3QAOnQVxmt1CsBs+BpkIxNSmEuZUrVpIj66D61G8o+BqTsLZSAc6CEqiCRGx0/8ANDKUZPhEjyCGz3e9pIP3upM+tSPZMSrG7SDqFqPjoG1k/So9L0JV13zDY7Sk/PSpbsaT/wDnLeTH9r/21aU0Z9z0+4dNa858UoAvbwnXK66dOomffpVtdp1+W7dACiApSs0dUpTJB8qpJl8Ft1ZklQWr597/AC9qzjkuTj6HRlwacUcrfL4+n+wNurkrknxNM67OpMz409tsLzJBgmqbozxwc/lI2pLBrwIXBMBRAnoJOpNdU4MfwmpLBsOCFytvMkiCDrUuaSs6cfSTnJLglrBjlznhWZwqhUx1SIV6aa+VDfEbIBT7iI2AMDXrRTiLvLalIzNRlmdW5Ijz0Ox9qZcQMN8qSobab/FuCD1BqoZFONox6jDPBPRI9A9nVxmwmzJ//ikbzonQa+gFVp2tvJOIoUheb+Gkd1QIGUqnbrT3s04pzcP3DYMOWoUjzyuEqQfmVD2oIbCXA64dTOVJ3gJkH5qJ+tGrzUJ4l4XiN96AvEbvMtXQToKj6c3aO8T5muSGFHYH5U2Zx9jQGlNOU4erqCPatV2ahRaKcX3OKDrrRrw2YCssJ2nWJ8/lr7UEhNFWAOhSDJgpG8eUJ9QaqJlP0PTvB9lyrG3REENgn1V3j+dTNRXC+JJuLRh1Oym06eBSMqh7EGpWkWuBUqVKgYqVKlQAqVKlQAq1NbVrQBX/AGv3eS2QP7x/5cv61Td80pxs9RljzASSNv8AW1Wd24P9xCJAlPU7ZlpH6VV+JXADYKesAzsCTIjyisYfNJnT1DaxY4+zf4sFW7fM8EzI8faanrXDRoaIOxPDW3cTdDqEOJSwswpIWJK0gGDV3r4MsTr9kZ/wR+VXKLYdPlhj+ZWee0YaJGlSXENnna9B9Iq7zwNYn/8AVb/5h+tQ/EXZqw4yv7OksuZTEKUUq8lJJ+ormnhnad8Hq4+u6fS4OL3KAsGYzJVJMDbqPX6+1OeC8UFti1q5skPJSo7d1fcP0Ua2upQtQnKQYjzIggnyih24dOcK2I190mutPY8GcdM3E9AduN7lZSn+RX/MpKPymqyzZUJAIKYg+4mCKIe2PGS5yk7ywwVf8YzmgtV7oITAid9xtWcFUm/c6eol5McfRfm2yHTZKcuEtoSVFSgkJSCZ12AFGicLdR3VMOpA8WnB/wDWo/sxZz43aDwcKz/wIUo/lXqDmaRP1pzjqDpupeHtZ5zRanbIof8ACr9qdDD1gSG3I8Q2sj37u1egCqsF3z+tYvp77nor4q0toI804gyeWsDYpMjxjWPWm2MPj7OAEJylMo9AYMeBmZHSrV7UsGbAS+gBKlktriNSUkpVA+9oRPWqzvbRKbNB+I7+h6j1IPvWmJabizk6/IsqhkXf9CO4AxotKuGfu3DWU+rawsH5Zh71JtXRSwI0Kt407uu/lrQdYXOV8KA6nT1BFGFsyXGe6AYAB6Hup1+orRLzWckp/wApQ92CWIs/xMqQSSYEaySdIFGrOFlpsJcbcRAA7zS0eu6aHMIbzYpbJT/7hnz2cTP5V6xLkzoanJDV3Nuk6nwG2lZ5wyt7Sn5j9a1VYoI2Sfka9EO2rSvjbQT/ADISfzFML3hOzdSQq2a16pQEEeikwQax8F+p6S+JwfzQPLXEFkEODKIBG3pUlgSIZI8foN9fKSKmO1Xhv7E+lElSN0KO5QrofMEET6VC4U7KBBT5g+H/AIreF1ueR1WnxLjwy7+xHGM9s8wTJZcn/hcE/wDUFVZVUp2IX6UXV02dCUBcHyXrr1+KrmTcCrMUdaVaBwVvQMVKlSoAVKlWqlUAbVoVVzU5XMmgCoe2x7OpY/C22P8AEsk/QiqqvXpbG8wOu0ax7VY3aNepcuLlPUFAiJ0SU9OtV5iaIJE9DJGnh0rnw76vqd3XpRWNL+1Bx/R7H9au1Rs0gekuf5VeaXa89diF6hu8eQt3l8xrumYkoWCR5mJ0q8BjjITAczq6Zjln510NnEo2tiZ5hrmpsHefnUO1jyh8bKo/Eg5h8hrTxrEkq2+Wx+RpWmVokuTzdxO2G7+6b10dV7eHvE0KXTkkzvRZ2gLyYnc9e+T+YoPdXJk1MeAzf1GG/FN6X0ZljKpLdugp3jltpSaHVRAB3j5a/tRBfYLdIZeU6w4EgIXnKTBEoIIPmIqBuGBlKuuwG/8ArrRDua9VVRr0QS9ioH+2mpI0Q788hFelIAryhwTiiLXEGHnArIFELy7hK0lBI9Jn2r0HacTsJQcipnZSnUL9NAqiUqMoQ1rYKXkA71x+yI/CKGG8adJ7twyqeikxUjb31wd0tr80K/ekpp9jR4XFcoZdoWHBdgvKAClSFjTwVB+hNUklUNKaUIKVOpnxiFJH6ir7xhlx22dSUZZQd46Cdx6V5vv8YPPeLcFKlDpO0AnykiiLfie1GmRR+z13UvwB9tcLB8xRphbn8EpEwTljrCtyT0G9QOI4Jy0JczTmIIHkQFA/p7VPhWVkFI1gkgeIEe1ao4W9iJ4ScyYvanwuGxrp94CvVaF+P715HbdLVw28ROVxLnqEqzEfSvQttxParCVoBggKCi4EyDrtJqJOjbFBSQbKSDvrXM2/gSPf96gP/UqgQUN8xH8qxmHt1p7bcRNr07yD+FXdP13ppop45Iqv+kFaEC2WST8Q221n9TVW4KuNTqB08f8AQq2u354G3t9d1GBttGtUzYEzHjSiTmSqP0/ctTsP1xB8nZTCtfCHUVdfLjY/Wqc7D7MG5uCDryR7S4KuP7J5mrMUbJnoaeMunrTEW3nThi1O80MaH1KsCs0ihVxcNdqbu70AaTWBSNIUCA/tGs0/ZVlLaStQIzBIzaagg+1UhiWHd4LXoYnLufCSNo389K9J4xYc9lbcgFSVBKj0UQQD86pJPDZLpbXKUpVkVPxFQGwPQCKpIJNye4JYHgBXcjvloDvZwIUI1GXzirByLabzJfddATmOdRVImAY6TB+VaYtwklxoIT/DcOgVsTERH4qgV4mqzZXbOKLzzkITolKQhCcsE76b6+Nc023wztxQjGNyX+S0+E7VzUrKymJnp7VN3WKBBypZcWfGNPmaE+zjC3Q2VrzJQoDKnbYbx4GjlyzSoQZ18DH1rde5xu+x5W4mv1v39ytSTmW8slIB0AVEaeQFaI4acUnME+Bgz8ielW9iuAN2zjwYQBqTESCd5KjrQlhnHiS6W3k5SVhER5H6THzqHKuEaxxXTb5LE4N4saxW2XauoDbqUZFMkzISmApE6mDGnQ1UGDYOFvKSoiUlUg+AkDXxOtGF1b5XyttQbWgcweOhEd4a7mK64RgaRevXAPce76FbgJcAVv4hUzT1Jonw2p0wSbwxi2fJuUEpIhCTmAkePtEelFVzbNNIS42lKUBxtBCAIIJSFbaHVX0p/wAUM25Zm5Skgg5FE7qSNiNx4zVc2N8t0s2jeUNpcKzlClZjmBGc/egflWDWvg6/LhVMvXAsBYVC84JH3Bp7Kza/KnnEmIqtbdSmglIA0MiSSYGh33qL4d4HWpSVvlBSdYAUFEdOvdp/xlwqF2hQzCC2JQCTlkHMArfSRWkU0tkcspapbvYAcaskuA/aHHSSYJDqkxnGmgMAbj2oSwHBUJuFJKipGuWCBmAMCR1E/lUmkDFCnMtTRR3XEJUFJUpBOsH4Yk+oNFNphbYaSkJCk9VbaDaDvRBtOmb5YRmritivcbwYn7MkCU50tEAmRLmgnqO9UhjGG5LlxsABIcWAmTsCQPTYHanT2Du/bEAHOnNzBsDoRprvA1+VEeMOs2iwt4fxnVGQY7hKQdY9h71rrS2ZyRxuRWOLYermoTokk5SpQ0gmAT4jpRZhvDa2EpU24VjqjZJEZlR4EDrUdjGPpuGy0pOVW6TPhtv1096XBWJ3SHEKdBNslK0leWU6kH4h94lIEq6Vk5NrY6IwhB1ItTAMMZVbh9L7iUxMHQjyInxkUG4/jl0446hFxkbbzd4JBzBO5Tm2gET7057Py9dIcCcyW8znLXHdSCqQD+ITO3jUTi/CN4XlNPNLNvnLnMZlQWVaATEoEE6GqXBmnUgFxC3euHZLqnzrClEmBHyA9KcNYHlSSNDG+4Ox2HXejnCrJppJShDiIMBS0kDz0UJPrW2IYM0U50EhSRoRokxvI60Jjnhdck32H2+T7SVQVdxIg7pEmQPDb5VaOZW4OnhVfdkXDzrTCn3QU87VKFAgpSNt/HerCZZjSSa0RhwZCvEU7Zc0rgBWyEa0DQ7pVgVmkMVaqRW1KgDgpFaFFOqxloAalFRF9w4hwqOiSdzEz6g70QZawUCmAEYpwU4tspbfCSTMrQVQR1TB0NQWAdizaHQ/ePKuHQZA+FG+mm509vWrT5QrHKFSkkVKcpKmM0MACBt+1bcqngbFbZaZAI8TcK/aU9xamlwRnTrIPQg6EUEYd2MusLU4l1p1aj8TqFDKPIAkE/tVxFsVjlClSKTaKkxHs0vyVqQ/brUtOWClbegkjXXyok4I4MVa24bfyLOWCkSU+fxbnzo25IrcNCikNybdsFsW4CsbnLzbcKy7ZVrR/wBKhpTnC+EbS2/sLdtv0E/nvU+GRWeUKZLt8jYE1gjxEinXLFItCgRXWLdjtm47zWCu2WSSvlmUqnX4FSBr4VMN8FJCAkvOFQAGeEjb+UaUVloVryqTSKjKSVIF8I4JaZc5qlLdcGylHbWdANAPIRTjHOELW8GW4ZS4JmZKVA/3kkH61P8AKrPKp0hbld33YthywMqHW46odUZ9c+b6RU3gvBNvaIUm3bCQv4sylLzRG+YneKKeVS5VKgIlnD40iANgIA+Q2p+13RXfk0gyKdC3Gy4O4n1g/nXEWTebNkTm8co/apINjwrHIFPYe43g0kppwGRW4QKAG4Qa6tt10rNIBUqVKgD/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22886" name="Picture 6" descr="http://2.bp.blogspot.com/_KL3DvvHfsHY/TJlG5chp1UI/AAAAAAAAAW8/_LJuqzx7ukQ/s1600/Media+Monkeys.jpg"/>
          <p:cNvPicPr>
            <a:picLocks noChangeAspect="1" noChangeArrowheads="1"/>
          </p:cNvPicPr>
          <p:nvPr/>
        </p:nvPicPr>
        <p:blipFill>
          <a:blip r:embed="rId2" cstate="print"/>
          <a:srcRect/>
          <a:stretch>
            <a:fillRect/>
          </a:stretch>
        </p:blipFill>
        <p:spPr bwMode="auto">
          <a:xfrm>
            <a:off x="4800600" y="1828800"/>
            <a:ext cx="4114800" cy="4133851"/>
          </a:xfrm>
          <a:prstGeom prst="rect">
            <a:avLst/>
          </a:prstGeom>
          <a:noFill/>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04800"/>
            <a:ext cx="8229600" cy="914400"/>
          </a:xfrm>
        </p:spPr>
        <p:txBody>
          <a:bodyPr>
            <a:normAutofit fontScale="90000"/>
          </a:bodyPr>
          <a:lstStyle/>
          <a:p>
            <a:r>
              <a:rPr lang="en-US" dirty="0"/>
              <a:t>Decision-Making Biases and Errors</a:t>
            </a:r>
          </a:p>
        </p:txBody>
      </p:sp>
      <p:sp>
        <p:nvSpPr>
          <p:cNvPr id="6" name="Content Placeholder 5"/>
          <p:cNvSpPr>
            <a:spLocks noGrp="1"/>
          </p:cNvSpPr>
          <p:nvPr>
            <p:ph sz="half" idx="1"/>
          </p:nvPr>
        </p:nvSpPr>
        <p:spPr>
          <a:xfrm>
            <a:off x="457200" y="1524000"/>
            <a:ext cx="4038600" cy="4602163"/>
          </a:xfrm>
          <a:ln>
            <a:solidFill>
              <a:schemeClr val="accent1">
                <a:lumMod val="75000"/>
              </a:schemeClr>
            </a:solidFill>
          </a:ln>
        </p:spPr>
        <p:txBody>
          <a:bodyPr/>
          <a:lstStyle/>
          <a:p>
            <a:r>
              <a:rPr lang="en-US" b="1" dirty="0"/>
              <a:t>Confirmation Bias; </a:t>
            </a:r>
            <a:r>
              <a:rPr lang="en-US" sz="2600" dirty="0">
                <a:cs typeface="Arial" charset="0"/>
              </a:rPr>
              <a:t>Decision makers who seek out information that reaffirms their past choices and discount information that contradicts past judgments exhibit the </a:t>
            </a:r>
            <a:r>
              <a:rPr lang="en-US" sz="2600" i="1" dirty="0">
                <a:cs typeface="Arial" charset="0"/>
              </a:rPr>
              <a:t>confirmation bias.</a:t>
            </a:r>
          </a:p>
          <a:p>
            <a:endParaRPr lang="en-US" dirty="0"/>
          </a:p>
        </p:txBody>
      </p:sp>
      <p:sp>
        <p:nvSpPr>
          <p:cNvPr id="7" name="Content Placeholder 6"/>
          <p:cNvSpPr>
            <a:spLocks noGrp="1"/>
          </p:cNvSpPr>
          <p:nvPr>
            <p:ph sz="half" idx="2"/>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72</a:t>
            </a:fld>
            <a:endParaRPr lang="en-US"/>
          </a:p>
        </p:txBody>
      </p:sp>
      <p:pic>
        <p:nvPicPr>
          <p:cNvPr id="8" name="Picture 2" descr="http://blog.bufferapp.com/wp-content/uploads/2013/09/thinking-conf-bias.png"/>
          <p:cNvPicPr>
            <a:picLocks noChangeAspect="1" noChangeArrowheads="1"/>
          </p:cNvPicPr>
          <p:nvPr/>
        </p:nvPicPr>
        <p:blipFill>
          <a:blip r:embed="rId2" cstate="print"/>
          <a:srcRect/>
          <a:stretch>
            <a:fillRect/>
          </a:stretch>
        </p:blipFill>
        <p:spPr bwMode="auto">
          <a:xfrm>
            <a:off x="4876800" y="1524000"/>
            <a:ext cx="4267200" cy="4800600"/>
          </a:xfrm>
          <a:prstGeom prst="rect">
            <a:avLst/>
          </a:prstGeom>
          <a:noFill/>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Confirmation Bias</a:t>
            </a:r>
            <a:endParaRPr lang="en-IE" dirty="0"/>
          </a:p>
        </p:txBody>
      </p:sp>
      <p:sp>
        <p:nvSpPr>
          <p:cNvPr id="7" name="Content Placeholder 6"/>
          <p:cNvSpPr>
            <a:spLocks noGrp="1"/>
          </p:cNvSpPr>
          <p:nvPr>
            <p:ph idx="1"/>
          </p:nvPr>
        </p:nvSpPr>
        <p:spPr>
          <a:xfrm>
            <a:off x="457200" y="1447800"/>
            <a:ext cx="8229600" cy="4953000"/>
          </a:xfrm>
        </p:spPr>
        <p:txBody>
          <a:bodyPr>
            <a:normAutofit fontScale="85000" lnSpcReduction="10000"/>
          </a:bodyPr>
          <a:lstStyle/>
          <a:p>
            <a:pPr rtl="0"/>
            <a:r>
              <a:rPr lang="en-US" dirty="0">
                <a:cs typeface="Arial" charset="0"/>
              </a:rPr>
              <a:t>People who only seek evidence that supports their beliefs or expectations will make decisions that are affected by confirmation bias.</a:t>
            </a:r>
          </a:p>
          <a:p>
            <a:pPr rtl="0"/>
            <a:endParaRPr lang="en-US" dirty="0">
              <a:cs typeface="Arial" charset="0"/>
            </a:endParaRPr>
          </a:p>
          <a:p>
            <a:pPr rtl="0"/>
            <a:r>
              <a:rPr lang="en-US" dirty="0">
                <a:cs typeface="Arial" charset="0"/>
              </a:rPr>
              <a:t>This bias is often used when a person is in a debate and needs facts to support their desired outcome.  The problem comes when disconfirming evidence surprises and weakens their position.</a:t>
            </a:r>
          </a:p>
          <a:p>
            <a:pPr rtl="0"/>
            <a:endParaRPr lang="en-US" dirty="0">
              <a:cs typeface="Arial" charset="0"/>
            </a:endParaRPr>
          </a:p>
          <a:p>
            <a:pPr rtl="0"/>
            <a:r>
              <a:rPr lang="en-US" dirty="0">
                <a:cs typeface="Arial" charset="0"/>
              </a:rPr>
              <a:t>Avoid confirmation bias by applying professional skepticism to decisions. </a:t>
            </a:r>
          </a:p>
          <a:p>
            <a:pPr lvl="1" rtl="0"/>
            <a:r>
              <a:rPr lang="en-US" sz="2600" dirty="0">
                <a:cs typeface="Arial" charset="0"/>
              </a:rPr>
              <a:t>Consider the opposite or explain why your initial assessment could be incorrect. </a:t>
            </a:r>
          </a:p>
          <a:p>
            <a:pPr lvl="1" rtl="0"/>
            <a:r>
              <a:rPr lang="en-US" sz="2600" dirty="0">
                <a:cs typeface="Arial" charset="0"/>
              </a:rPr>
              <a:t>This exercise forces you to take the time and mental effort to thoughtfully consider the limitations of your chosen solution.</a:t>
            </a:r>
          </a:p>
          <a:p>
            <a:endParaRPr lang="en-IE"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73</a:t>
            </a:fld>
            <a:endParaRPr lang="en-US"/>
          </a:p>
        </p:txBody>
      </p:sp>
    </p:spTree>
    <p:extLst>
      <p:ext uri="{BB962C8B-B14F-4D97-AF65-F5344CB8AC3E}">
        <p14:creationId xmlns:p14="http://schemas.microsoft.com/office/powerpoint/2010/main" val="36153246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noAutofit/>
          </a:bodyPr>
          <a:lstStyle/>
          <a:p>
            <a:r>
              <a:rPr lang="en-US" sz="4000" dirty="0"/>
              <a:t>Decision-Making Biases and Errors</a:t>
            </a:r>
          </a:p>
        </p:txBody>
      </p:sp>
      <p:sp>
        <p:nvSpPr>
          <p:cNvPr id="3" name="Content Placeholder 2"/>
          <p:cNvSpPr>
            <a:spLocks noGrp="1"/>
          </p:cNvSpPr>
          <p:nvPr>
            <p:ph idx="1"/>
          </p:nvPr>
        </p:nvSpPr>
        <p:spPr>
          <a:xfrm>
            <a:off x="457200" y="1371600"/>
            <a:ext cx="5486400" cy="3200400"/>
          </a:xfrm>
          <a:ln>
            <a:solidFill>
              <a:schemeClr val="accent1">
                <a:lumMod val="75000"/>
              </a:schemeClr>
            </a:solidFill>
          </a:ln>
        </p:spPr>
        <p:txBody>
          <a:bodyPr>
            <a:noAutofit/>
          </a:bodyPr>
          <a:lstStyle/>
          <a:p>
            <a:pPr marL="342900" indent="-342900" eaLnBrk="0" hangingPunct="0">
              <a:spcBef>
                <a:spcPct val="10000"/>
              </a:spcBef>
              <a:buFont typeface="Arial" charset="0"/>
              <a:buChar char="•"/>
            </a:pPr>
            <a:r>
              <a:rPr lang="en-US" sz="2500" b="1" dirty="0"/>
              <a:t>Framing Bias </a:t>
            </a:r>
            <a:r>
              <a:rPr lang="en-US" sz="2500" dirty="0"/>
              <a:t>-  when decision makers select and highlight certain aspects of a situation while ignoring other aspects.</a:t>
            </a:r>
            <a:r>
              <a:rPr lang="en-US" sz="2500" dirty="0">
                <a:cs typeface="Arial" charset="0"/>
              </a:rPr>
              <a:t> </a:t>
            </a:r>
          </a:p>
          <a:p>
            <a:pPr marL="342900" indent="-342900" eaLnBrk="0" hangingPunct="0">
              <a:spcBef>
                <a:spcPct val="10000"/>
              </a:spcBef>
              <a:buFont typeface="Arial" charset="0"/>
              <a:buChar char="•"/>
            </a:pPr>
            <a:r>
              <a:rPr lang="en-US" sz="2000" dirty="0">
                <a:cs typeface="Arial" charset="0"/>
              </a:rPr>
              <a:t>By drawing attention to specific aspects of a situation and highlighting them, while at the same time downplaying or omitting other aspects, they distort what they see and create incorrect reference points. </a:t>
            </a:r>
            <a:endParaRPr lang="en-US" sz="2000" dirty="0"/>
          </a:p>
          <a:p>
            <a:pPr marL="342900" indent="-342900" eaLnBrk="0" hangingPunct="0">
              <a:spcBef>
                <a:spcPct val="35000"/>
              </a:spcBef>
              <a:buFont typeface="Arial" charset="0"/>
              <a:buChar char="•"/>
            </a:pPr>
            <a:endParaRPr lang="en-US" sz="2000" dirty="0">
              <a:cs typeface="Arial" charset="0"/>
            </a:endParaRPr>
          </a:p>
          <a:p>
            <a:pPr marL="342900" indent="-342900" eaLnBrk="0" hangingPunct="0">
              <a:spcBef>
                <a:spcPct val="35000"/>
              </a:spcBef>
              <a:buFont typeface="Arial" charset="0"/>
              <a:buChar char="•"/>
            </a:pPr>
            <a:endParaRPr lang="en-US" dirty="0"/>
          </a:p>
          <a:p>
            <a:endParaRPr 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74</a:t>
            </a:fld>
            <a:endParaRPr lang="en-US" dirty="0"/>
          </a:p>
        </p:txBody>
      </p:sp>
      <p:pic>
        <p:nvPicPr>
          <p:cNvPr id="40962" name="Picture 2" descr="http://uxmas.com/images/uploads/sketch06.jpg"/>
          <p:cNvPicPr>
            <a:picLocks noChangeAspect="1" noChangeArrowheads="1"/>
          </p:cNvPicPr>
          <p:nvPr/>
        </p:nvPicPr>
        <p:blipFill>
          <a:blip r:embed="rId2" cstate="print"/>
          <a:srcRect/>
          <a:stretch>
            <a:fillRect/>
          </a:stretch>
        </p:blipFill>
        <p:spPr bwMode="auto">
          <a:xfrm>
            <a:off x="6096000" y="1371600"/>
            <a:ext cx="2895600" cy="3200400"/>
          </a:xfrm>
          <a:prstGeom prst="rect">
            <a:avLst/>
          </a:prstGeom>
          <a:noFill/>
        </p:spPr>
      </p:pic>
      <p:pic>
        <p:nvPicPr>
          <p:cNvPr id="40964" name="Picture 4" descr="http://www.highiqpro.com/wp-content/uploads/2013/07/framing-effect-crash2.jpg"/>
          <p:cNvPicPr>
            <a:picLocks noChangeAspect="1" noChangeArrowheads="1"/>
          </p:cNvPicPr>
          <p:nvPr/>
        </p:nvPicPr>
        <p:blipFill>
          <a:blip r:embed="rId3" cstate="print"/>
          <a:srcRect/>
          <a:stretch>
            <a:fillRect/>
          </a:stretch>
        </p:blipFill>
        <p:spPr bwMode="auto">
          <a:xfrm>
            <a:off x="1295400" y="4724400"/>
            <a:ext cx="6781800" cy="1981200"/>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r>
              <a:rPr lang="en-US" dirty="0"/>
              <a:t>Decision-Making Biases and Errors </a:t>
            </a:r>
          </a:p>
        </p:txBody>
      </p:sp>
      <p:sp>
        <p:nvSpPr>
          <p:cNvPr id="3" name="Content Placeholder 2"/>
          <p:cNvSpPr>
            <a:spLocks noGrp="1"/>
          </p:cNvSpPr>
          <p:nvPr>
            <p:ph idx="1"/>
          </p:nvPr>
        </p:nvSpPr>
        <p:spPr>
          <a:xfrm>
            <a:off x="457200" y="1295400"/>
            <a:ext cx="8001000" cy="5181600"/>
          </a:xfrm>
          <a:ln>
            <a:solidFill>
              <a:schemeClr val="accent1">
                <a:lumMod val="75000"/>
              </a:schemeClr>
            </a:solidFill>
          </a:ln>
        </p:spPr>
        <p:txBody>
          <a:bodyPr>
            <a:normAutofit fontScale="77500" lnSpcReduction="20000"/>
          </a:bodyPr>
          <a:lstStyle/>
          <a:p>
            <a:pPr marL="342900" indent="-342900" eaLnBrk="0" hangingPunct="0">
              <a:spcBef>
                <a:spcPct val="10000"/>
              </a:spcBef>
              <a:buFont typeface="Arial" charset="0"/>
              <a:buChar char="•"/>
            </a:pPr>
            <a:r>
              <a:rPr lang="en-US" b="1" dirty="0"/>
              <a:t>Availability Bias </a:t>
            </a:r>
            <a:r>
              <a:rPr lang="en-US" dirty="0"/>
              <a:t>– can be seen when decision makers tend to remember events that are most recent and vivid in their memory.</a:t>
            </a:r>
          </a:p>
          <a:p>
            <a:pPr marL="342900" indent="-342900" eaLnBrk="0" hangingPunct="0">
              <a:spcBef>
                <a:spcPct val="10000"/>
              </a:spcBef>
              <a:buFont typeface="Arial" charset="0"/>
              <a:buChar char="•"/>
            </a:pPr>
            <a:endParaRPr lang="en-US" dirty="0"/>
          </a:p>
          <a:p>
            <a:pPr marL="342900" indent="-342900" eaLnBrk="0" hangingPunct="0">
              <a:spcBef>
                <a:spcPct val="10000"/>
              </a:spcBef>
              <a:buFont typeface="Arial" charset="0"/>
              <a:buChar char="•"/>
            </a:pPr>
            <a:r>
              <a:rPr lang="en-US" dirty="0"/>
              <a:t>Usually the first piece of information that we have on that subject.</a:t>
            </a:r>
          </a:p>
          <a:p>
            <a:pPr marL="342900" indent="-342900" eaLnBrk="0" hangingPunct="0">
              <a:spcBef>
                <a:spcPct val="10000"/>
              </a:spcBef>
              <a:buFont typeface="Arial" charset="0"/>
              <a:buChar char="•"/>
            </a:pPr>
            <a:endParaRPr lang="en-US" dirty="0"/>
          </a:p>
          <a:p>
            <a:pPr marL="342900" indent="-342900" eaLnBrk="0" hangingPunct="0">
              <a:spcBef>
                <a:spcPct val="10000"/>
              </a:spcBef>
              <a:buFont typeface="Arial" charset="0"/>
              <a:buChar char="•"/>
            </a:pPr>
            <a:r>
              <a:rPr lang="en-US" sz="2400" dirty="0">
                <a:cs typeface="Arial" charset="0"/>
              </a:rPr>
              <a:t>The result? It distorts their ability to recall events in an objective manner and results in distorted judgments and probability estimates. </a:t>
            </a:r>
          </a:p>
          <a:p>
            <a:pPr marL="342900" indent="-342900" eaLnBrk="0" hangingPunct="0">
              <a:spcBef>
                <a:spcPct val="10000"/>
              </a:spcBef>
              <a:buFont typeface="Arial" charset="0"/>
              <a:buChar char="•"/>
            </a:pPr>
            <a:endParaRPr lang="en-IE" sz="3200" dirty="0"/>
          </a:p>
          <a:p>
            <a:pPr marL="342900" indent="-342900" eaLnBrk="0" hangingPunct="0">
              <a:spcBef>
                <a:spcPct val="10000"/>
              </a:spcBef>
              <a:buFont typeface="Arial" charset="0"/>
              <a:buChar char="•"/>
            </a:pPr>
            <a:r>
              <a:rPr lang="en-IE" sz="3200" dirty="0"/>
              <a:t>Availability bias is especially misleading when information is subjective. </a:t>
            </a:r>
          </a:p>
          <a:p>
            <a:pPr marL="900684" lvl="1" indent="-342900" eaLnBrk="0" hangingPunct="0">
              <a:spcBef>
                <a:spcPct val="10000"/>
              </a:spcBef>
              <a:buFont typeface="Arial" charset="0"/>
              <a:buChar char="•"/>
            </a:pPr>
            <a:r>
              <a:rPr lang="en-IE" sz="2600" dirty="0"/>
              <a:t>If you are asked to evaluate your own performance relative to the performance of others, for example, most people will rate their own contribution to be higher, because that is the information they have most available.</a:t>
            </a:r>
          </a:p>
          <a:p>
            <a:pPr marL="900684" lvl="1" indent="-342900" eaLnBrk="0" hangingPunct="0">
              <a:spcBef>
                <a:spcPct val="10000"/>
              </a:spcBef>
              <a:buFont typeface="Arial" charset="0"/>
              <a:buChar char="•"/>
            </a:pPr>
            <a:r>
              <a:rPr lang="en-IE" sz="2600" dirty="0"/>
              <a:t>Avoid this bias by routinely asking for feedback from others before making a decision.</a:t>
            </a:r>
            <a:endParaRPr lang="en-US" sz="2600" b="1" dirty="0"/>
          </a:p>
          <a:p>
            <a:pPr marL="242316" indent="-342900" eaLnBrk="0" hangingPunct="0">
              <a:spcBef>
                <a:spcPct val="10000"/>
              </a:spcBef>
              <a:buFont typeface="Arial" charset="0"/>
              <a:buChar char="•"/>
            </a:pPr>
            <a:endParaRPr lang="en-US"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normAutofit/>
          </a:bodyPr>
          <a:lstStyle/>
          <a:p>
            <a:r>
              <a:rPr lang="en-US" dirty="0"/>
              <a:t>Example of Availability Bias</a:t>
            </a:r>
            <a:endParaRPr lang="en-IE" dirty="0"/>
          </a:p>
        </p:txBody>
      </p:sp>
      <p:sp>
        <p:nvSpPr>
          <p:cNvPr id="3" name="Content Placeholder 2"/>
          <p:cNvSpPr>
            <a:spLocks noGrp="1"/>
          </p:cNvSpPr>
          <p:nvPr>
            <p:ph idx="1"/>
          </p:nvPr>
        </p:nvSpPr>
        <p:spPr>
          <a:xfrm>
            <a:off x="457200" y="1469231"/>
            <a:ext cx="8229600" cy="4525963"/>
          </a:xfrm>
        </p:spPr>
        <p:txBody>
          <a:bodyPr>
            <a:noAutofit/>
          </a:bodyPr>
          <a:lstStyle/>
          <a:p>
            <a:r>
              <a:rPr lang="en-IE" sz="2400" dirty="0">
                <a:cs typeface="Arial" charset="0"/>
              </a:rPr>
              <a:t>A successful executive who attended Yale is likely to remember fellow alums he encounters in his business circle and his social life. </a:t>
            </a:r>
          </a:p>
          <a:p>
            <a:r>
              <a:rPr lang="en-IE" sz="2400" dirty="0">
                <a:cs typeface="Arial" charset="0"/>
              </a:rPr>
              <a:t>But his success places him in a narrow professional and social stratum. </a:t>
            </a:r>
          </a:p>
          <a:p>
            <a:r>
              <a:rPr lang="en-IE" sz="2400" dirty="0">
                <a:cs typeface="Arial" charset="0"/>
              </a:rPr>
              <a:t>Because of his special, restricted range of experiences he is likely to overestimate the relative proportion of successful Yale graduates (because he meets them all) and to underestimate the proportion of unsuccessful Yale graduates (because he never meets them). </a:t>
            </a:r>
          </a:p>
          <a:p>
            <a:endParaRPr lang="en-IE" dirty="0">
              <a:cs typeface="Arial" charset="0"/>
            </a:endParaRPr>
          </a:p>
          <a:p>
            <a:r>
              <a:rPr lang="en-IE" dirty="0">
                <a:cs typeface="Arial" charset="0"/>
              </a:rPr>
              <a:t> Range of experience can trigger the availability bias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76</a:t>
            </a:fld>
            <a:endParaRPr lang="en-US"/>
          </a:p>
        </p:txBody>
      </p:sp>
    </p:spTree>
    <p:extLst>
      <p:ext uri="{BB962C8B-B14F-4D97-AF65-F5344CB8AC3E}">
        <p14:creationId xmlns:p14="http://schemas.microsoft.com/office/powerpoint/2010/main" val="36251278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77</a:t>
            </a:fld>
            <a:endParaRPr lang="en-US"/>
          </a:p>
        </p:txBody>
      </p:sp>
      <p:pic>
        <p:nvPicPr>
          <p:cNvPr id="6" name="Picture 2" descr="http://us.beyondbullsandbears.com/wp-content/uploads/2012/10/FTISS_TAKESTOCK_0712_13_AVAILABILITY1.jpg"/>
          <p:cNvPicPr>
            <a:picLocks noChangeAspect="1" noChangeArrowheads="1"/>
          </p:cNvPicPr>
          <p:nvPr/>
        </p:nvPicPr>
        <p:blipFill>
          <a:blip r:embed="rId2" cstate="print"/>
          <a:srcRect/>
          <a:stretch>
            <a:fillRect/>
          </a:stretch>
        </p:blipFill>
        <p:spPr bwMode="auto">
          <a:xfrm>
            <a:off x="762000" y="304800"/>
            <a:ext cx="7696200" cy="7010400"/>
          </a:xfrm>
          <a:prstGeom prst="rect">
            <a:avLst/>
          </a:prstGeom>
          <a:noFill/>
        </p:spPr>
      </p:pic>
    </p:spTree>
    <p:extLst>
      <p:ext uri="{BB962C8B-B14F-4D97-AF65-F5344CB8AC3E}">
        <p14:creationId xmlns:p14="http://schemas.microsoft.com/office/powerpoint/2010/main" val="21354182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04800"/>
            <a:ext cx="8229600" cy="914400"/>
          </a:xfrm>
        </p:spPr>
        <p:txBody>
          <a:bodyPr>
            <a:normAutofit fontScale="90000"/>
          </a:bodyPr>
          <a:lstStyle/>
          <a:p>
            <a:r>
              <a:rPr lang="en-US" dirty="0"/>
              <a:t>Decision-Making Biases and Errors </a:t>
            </a:r>
          </a:p>
        </p:txBody>
      </p:sp>
      <p:sp>
        <p:nvSpPr>
          <p:cNvPr id="6" name="Content Placeholder 5"/>
          <p:cNvSpPr>
            <a:spLocks noGrp="1"/>
          </p:cNvSpPr>
          <p:nvPr>
            <p:ph sz="half" idx="1"/>
          </p:nvPr>
        </p:nvSpPr>
        <p:spPr>
          <a:xfrm>
            <a:off x="228600" y="1600200"/>
            <a:ext cx="4038600" cy="4525963"/>
          </a:xfrm>
          <a:ln>
            <a:solidFill>
              <a:schemeClr val="accent1">
                <a:lumMod val="75000"/>
              </a:schemeClr>
            </a:solidFill>
          </a:ln>
        </p:spPr>
        <p:txBody>
          <a:bodyPr/>
          <a:lstStyle/>
          <a:p>
            <a:pPr marL="342900" indent="-342900" eaLnBrk="0" hangingPunct="0">
              <a:spcBef>
                <a:spcPct val="10000"/>
              </a:spcBef>
              <a:buFont typeface="Arial" charset="0"/>
              <a:buChar char="•"/>
            </a:pPr>
            <a:r>
              <a:rPr lang="en-US" sz="2500" b="1" dirty="0"/>
              <a:t>Representation Bias; </a:t>
            </a:r>
            <a:r>
              <a:rPr lang="en-US" sz="2500" dirty="0">
                <a:cs typeface="Arial" charset="0"/>
              </a:rPr>
              <a:t>When decision makers assess the likelihood of an event based on how closely it resembles other events or sets of events.</a:t>
            </a:r>
          </a:p>
          <a:p>
            <a:pPr marL="342900" indent="-342900" eaLnBrk="0" hangingPunct="0">
              <a:spcBef>
                <a:spcPct val="10000"/>
              </a:spcBef>
              <a:buNone/>
            </a:pPr>
            <a:r>
              <a:rPr lang="en-US" sz="2500" dirty="0">
                <a:cs typeface="Arial" charset="0"/>
              </a:rPr>
              <a:t> </a:t>
            </a:r>
          </a:p>
          <a:p>
            <a:pPr marL="342900" indent="-342900" eaLnBrk="0" hangingPunct="0">
              <a:spcBef>
                <a:spcPct val="10000"/>
              </a:spcBef>
              <a:buFont typeface="Arial" charset="0"/>
              <a:buChar char="•"/>
            </a:pPr>
            <a:r>
              <a:rPr lang="en-US" sz="2200" dirty="0">
                <a:cs typeface="Arial" charset="0"/>
              </a:rPr>
              <a:t>Managers exhibiting this bias draw analogies and see identical situations where they do not exist! </a:t>
            </a:r>
          </a:p>
          <a:p>
            <a:endParaRPr lang="en-US" dirty="0"/>
          </a:p>
        </p:txBody>
      </p:sp>
      <p:sp>
        <p:nvSpPr>
          <p:cNvPr id="7" name="Content Placeholder 6"/>
          <p:cNvSpPr>
            <a:spLocks noGrp="1"/>
          </p:cNvSpPr>
          <p:nvPr>
            <p:ph sz="half" idx="2"/>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78</a:t>
            </a:fld>
            <a:endParaRPr lang="en-US"/>
          </a:p>
        </p:txBody>
      </p:sp>
      <p:pic>
        <p:nvPicPr>
          <p:cNvPr id="125954" name="Picture 2" descr="http://jeffreyhill.typepad.com/.a/6a00d8341d417153ef017ee9cc2faa970d-800wi"/>
          <p:cNvPicPr>
            <a:picLocks noChangeAspect="1" noChangeArrowheads="1"/>
          </p:cNvPicPr>
          <p:nvPr/>
        </p:nvPicPr>
        <p:blipFill>
          <a:blip r:embed="rId2" cstate="print"/>
          <a:srcRect/>
          <a:stretch>
            <a:fillRect/>
          </a:stretch>
        </p:blipFill>
        <p:spPr bwMode="auto">
          <a:xfrm>
            <a:off x="4343400" y="1600200"/>
            <a:ext cx="4495800" cy="4800600"/>
          </a:xfrm>
          <a:prstGeom prst="rect">
            <a:avLst/>
          </a:prstGeom>
          <a:noFill/>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382000" cy="914400"/>
          </a:xfrm>
        </p:spPr>
        <p:txBody>
          <a:bodyPr>
            <a:noAutofit/>
          </a:bodyPr>
          <a:lstStyle/>
          <a:p>
            <a:r>
              <a:rPr lang="en-US" sz="4000" dirty="0"/>
              <a:t>Decision-Making Biases and Errors</a:t>
            </a:r>
          </a:p>
        </p:txBody>
      </p:sp>
      <p:sp>
        <p:nvSpPr>
          <p:cNvPr id="3" name="Content Placeholder 2"/>
          <p:cNvSpPr>
            <a:spLocks noGrp="1"/>
          </p:cNvSpPr>
          <p:nvPr>
            <p:ph idx="1"/>
          </p:nvPr>
        </p:nvSpPr>
        <p:spPr>
          <a:xfrm>
            <a:off x="304800" y="1600200"/>
            <a:ext cx="4343400" cy="4724400"/>
          </a:xfrm>
          <a:ln>
            <a:solidFill>
              <a:schemeClr val="accent1">
                <a:lumMod val="75000"/>
              </a:schemeClr>
            </a:solidFill>
          </a:ln>
        </p:spPr>
        <p:txBody>
          <a:bodyPr>
            <a:normAutofit/>
          </a:bodyPr>
          <a:lstStyle/>
          <a:p>
            <a:pPr marL="342900" indent="-342900" eaLnBrk="0" hangingPunct="0">
              <a:spcBef>
                <a:spcPct val="10000"/>
              </a:spcBef>
              <a:buFont typeface="Arial" charset="0"/>
              <a:buChar char="•"/>
            </a:pPr>
            <a:r>
              <a:rPr lang="en-US" sz="2500" b="1" dirty="0"/>
              <a:t>Randomness Bias</a:t>
            </a:r>
            <a:r>
              <a:rPr lang="en-US" sz="2500" dirty="0"/>
              <a:t>;</a:t>
            </a:r>
            <a:r>
              <a:rPr lang="en-US" sz="2500" i="1" dirty="0">
                <a:cs typeface="Arial" charset="0"/>
              </a:rPr>
              <a:t> </a:t>
            </a:r>
            <a:r>
              <a:rPr lang="en-US" sz="2500" dirty="0">
                <a:cs typeface="Arial" charset="0"/>
              </a:rPr>
              <a:t>describes the actions of decision makers who try to create meaning out of random events. </a:t>
            </a:r>
          </a:p>
          <a:p>
            <a:pPr lvl="1"/>
            <a:r>
              <a:rPr lang="en-US" dirty="0">
                <a:cs typeface="Arial" charset="0"/>
              </a:rPr>
              <a:t>They do this because most decision makers have difficulty dealing with chance, </a:t>
            </a:r>
          </a:p>
          <a:p>
            <a:pPr lvl="2"/>
            <a:r>
              <a:rPr lang="en-US" sz="2200" dirty="0">
                <a:cs typeface="Arial" charset="0"/>
              </a:rPr>
              <a:t>even though random events happen to everyone, and there is nothing that can be done to predict them!</a:t>
            </a:r>
          </a:p>
          <a:p>
            <a:pPr lvl="1"/>
            <a:endParaRPr lang="en-GB" sz="2400" dirty="0">
              <a:cs typeface="Arial" charset="0"/>
            </a:endParaRPr>
          </a:p>
          <a:p>
            <a:endParaRPr lang="en-US" sz="3000" dirty="0">
              <a:cs typeface="Arial" charset="0"/>
            </a:endParaRPr>
          </a:p>
          <a:p>
            <a:pPr marL="342900" indent="-342900" eaLnBrk="0" hangingPunct="0">
              <a:spcBef>
                <a:spcPct val="10000"/>
              </a:spcBef>
              <a:buFont typeface="Arial" charset="0"/>
              <a:buChar char="•"/>
            </a:pPr>
            <a:endParaRPr lang="en-US" sz="4000"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79</a:t>
            </a:fld>
            <a:endParaRPr lang="en-US" dirty="0"/>
          </a:p>
        </p:txBody>
      </p:sp>
      <p:pic>
        <p:nvPicPr>
          <p:cNvPr id="6" name="Picture 2" descr="http://2.bp.blogspot.com/-FquEkpIPFQ0/TZqWnLqBWsI/AAAAAAAAAEg/RdeuNkPOUXE/s1600/decision_making_process_flip_coi_902095.jpg"/>
          <p:cNvPicPr>
            <a:picLocks noChangeAspect="1" noChangeArrowheads="1"/>
          </p:cNvPicPr>
          <p:nvPr/>
        </p:nvPicPr>
        <p:blipFill>
          <a:blip r:embed="rId2" cstate="print"/>
          <a:srcRect/>
          <a:stretch>
            <a:fillRect/>
          </a:stretch>
        </p:blipFill>
        <p:spPr bwMode="auto">
          <a:xfrm>
            <a:off x="4876800" y="1524000"/>
            <a:ext cx="4038600" cy="4724400"/>
          </a:xfrm>
          <a:prstGeom prst="rect">
            <a:avLst/>
          </a:prstGeo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Decision-Making Biases and Errors</a:t>
            </a:r>
          </a:p>
        </p:txBody>
      </p:sp>
      <p:sp>
        <p:nvSpPr>
          <p:cNvPr id="3" name="Content Placeholder 2"/>
          <p:cNvSpPr>
            <a:spLocks noGrp="1"/>
          </p:cNvSpPr>
          <p:nvPr>
            <p:ph idx="1"/>
          </p:nvPr>
        </p:nvSpPr>
        <p:spPr>
          <a:xfrm>
            <a:off x="478809" y="1524000"/>
            <a:ext cx="8229600" cy="4952999"/>
          </a:xfrm>
        </p:spPr>
        <p:txBody>
          <a:bodyPr>
            <a:normAutofit/>
          </a:bodyPr>
          <a:lstStyle/>
          <a:p>
            <a:pPr marL="342900" indent="-342900" eaLnBrk="0" hangingPunct="0">
              <a:spcBef>
                <a:spcPct val="10000"/>
              </a:spcBef>
              <a:buFont typeface="Arial" charset="0"/>
              <a:buChar char="•"/>
              <a:defRPr/>
            </a:pPr>
            <a:r>
              <a:rPr lang="en-US" sz="2500" b="1" dirty="0"/>
              <a:t>Sunk Costs Errors; </a:t>
            </a:r>
            <a:r>
              <a:rPr lang="en-US" sz="2500" dirty="0">
                <a:cs typeface="Arial" charset="0"/>
              </a:rPr>
              <a:t>decision makers forget that current choices can not correct the past. </a:t>
            </a:r>
          </a:p>
          <a:p>
            <a:pPr lvl="1">
              <a:defRPr/>
            </a:pPr>
            <a:r>
              <a:rPr lang="en-US" dirty="0">
                <a:cs typeface="Arial" charset="0"/>
              </a:rPr>
              <a:t>Instead of ignoring sunk costs, they can not forget them, </a:t>
            </a:r>
            <a:endParaRPr lang="en-US" b="1" dirty="0"/>
          </a:p>
          <a:p>
            <a:pPr lvl="1">
              <a:defRPr/>
            </a:pPr>
            <a:r>
              <a:rPr lang="en-US" dirty="0">
                <a:cs typeface="Arial" charset="0"/>
              </a:rPr>
              <a:t>They incorrectly fixate on past expenditures of time, money, or effort in assessing choices,  rather than on future consequences. </a:t>
            </a:r>
          </a:p>
          <a:p>
            <a:endParaRPr lang="en-IE" i="1" dirty="0"/>
          </a:p>
          <a:p>
            <a:r>
              <a:rPr lang="en-IE" sz="2500" dirty="0">
                <a:cs typeface="Arial" charset="0"/>
              </a:rPr>
              <a:t>If someone makes a decision about a current situation, based all or in part on what they have previously invested (money, time or otherwise) in the situation, they are suffering from sunk-cost error. </a:t>
            </a:r>
          </a:p>
          <a:p>
            <a:pPr lvl="1"/>
            <a:r>
              <a:rPr lang="en-IE" sz="2400" dirty="0">
                <a:cs typeface="Arial" charset="0"/>
              </a:rPr>
              <a:t> Not matter how much you are down on an investment, if it’s likely to never be recovered, then cut your losses and let it go.</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81</a:t>
            </a:fld>
            <a:endParaRPr lang="en-US"/>
          </a:p>
        </p:txBody>
      </p:sp>
      <p:pic>
        <p:nvPicPr>
          <p:cNvPr id="126978" name="Picture 2" descr="http://douglasecastleblog.com/wp-content/uploads/2013/10/Sunk-Costs-Emotional-Attachments-Which-Cause-Us-To-Continue-To-Invest-Despite-The-Apparent-And-Growing-Losses..jpg"/>
          <p:cNvPicPr>
            <a:picLocks noChangeAspect="1" noChangeArrowheads="1"/>
          </p:cNvPicPr>
          <p:nvPr/>
        </p:nvPicPr>
        <p:blipFill>
          <a:blip r:embed="rId2" cstate="print"/>
          <a:srcRect/>
          <a:stretch>
            <a:fillRect/>
          </a:stretch>
        </p:blipFill>
        <p:spPr bwMode="auto">
          <a:xfrm>
            <a:off x="990600" y="533400"/>
            <a:ext cx="7162800" cy="5638800"/>
          </a:xfrm>
          <a:prstGeom prst="rect">
            <a:avLst/>
          </a:prstGeom>
          <a:noFill/>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descr="http://memecrunch.com/meme/C6LG/not-sure-if-my-self-serving-bias-caused-me-to-blame-you-for-my-failure/image.png"/>
          <p:cNvPicPr>
            <a:picLocks noChangeAspect="1" noChangeArrowheads="1"/>
          </p:cNvPicPr>
          <p:nvPr/>
        </p:nvPicPr>
        <p:blipFill>
          <a:blip r:embed="rId2" cstate="print"/>
          <a:srcRect/>
          <a:stretch>
            <a:fillRect/>
          </a:stretch>
        </p:blipFill>
        <p:spPr bwMode="auto">
          <a:xfrm>
            <a:off x="5334000" y="3581400"/>
            <a:ext cx="3505200" cy="2895600"/>
          </a:xfrm>
          <a:prstGeom prst="rect">
            <a:avLst/>
          </a:prstGeom>
          <a:noFill/>
        </p:spPr>
      </p:pic>
      <p:sp>
        <p:nvSpPr>
          <p:cNvPr id="2" name="Title 1"/>
          <p:cNvSpPr>
            <a:spLocks noGrp="1"/>
          </p:cNvSpPr>
          <p:nvPr>
            <p:ph type="title"/>
          </p:nvPr>
        </p:nvSpPr>
        <p:spPr/>
        <p:txBody>
          <a:bodyPr>
            <a:normAutofit fontScale="90000"/>
          </a:bodyPr>
          <a:lstStyle/>
          <a:p>
            <a:r>
              <a:rPr lang="en-US" dirty="0"/>
              <a:t>Decision-Making Biases and Errors</a:t>
            </a:r>
          </a:p>
        </p:txBody>
      </p:sp>
      <p:sp>
        <p:nvSpPr>
          <p:cNvPr id="3" name="Content Placeholder 2"/>
          <p:cNvSpPr>
            <a:spLocks noGrp="1"/>
          </p:cNvSpPr>
          <p:nvPr>
            <p:ph idx="1"/>
          </p:nvPr>
        </p:nvSpPr>
        <p:spPr>
          <a:xfrm>
            <a:off x="457200" y="1752600"/>
            <a:ext cx="8229600" cy="4525963"/>
          </a:xfrm>
        </p:spPr>
        <p:txBody>
          <a:bodyPr/>
          <a:lstStyle/>
          <a:p>
            <a:pPr marL="342900" indent="-342900" eaLnBrk="0" hangingPunct="0">
              <a:spcBef>
                <a:spcPct val="10000"/>
              </a:spcBef>
              <a:buFont typeface="Arial" charset="0"/>
              <a:buChar char="•"/>
            </a:pPr>
            <a:r>
              <a:rPr lang="en-US" sz="2600" b="1" dirty="0"/>
              <a:t>Self-Serving Bias; </a:t>
            </a:r>
            <a:r>
              <a:rPr lang="en-US" sz="2600" dirty="0">
                <a:cs typeface="Arial" charset="0"/>
              </a:rPr>
              <a:t>Decision makers who are quick to take credit for their successes and to blame failure on outside factors, are exhibiting the </a:t>
            </a:r>
            <a:r>
              <a:rPr lang="en-US" sz="2600" i="1" dirty="0">
                <a:cs typeface="Arial" charset="0"/>
              </a:rPr>
              <a:t>self-serving bias. </a:t>
            </a:r>
            <a:endParaRPr lang="en-US" sz="2600" dirty="0"/>
          </a:p>
          <a:p>
            <a:pPr>
              <a:defRPr/>
            </a:pPr>
            <a:endParaRPr lang="en-US" b="1"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82</a:t>
            </a:fld>
            <a:endParaRPr lang="en-US"/>
          </a:p>
        </p:txBody>
      </p:sp>
      <p:pic>
        <p:nvPicPr>
          <p:cNvPr id="5" name="Picture 8" descr="https://encrypted-tbn3.gstatic.com/images?q=tbn:ANd9GcQ1iOiTI8rURzvUZgmPaQXzGuQpBl2Ev8oO5NjTFjeOcRMQQ_hYrA"/>
          <p:cNvPicPr>
            <a:picLocks noChangeAspect="1" noChangeArrowheads="1"/>
          </p:cNvPicPr>
          <p:nvPr/>
        </p:nvPicPr>
        <p:blipFill>
          <a:blip r:embed="rId3" cstate="print"/>
          <a:srcRect/>
          <a:stretch>
            <a:fillRect/>
          </a:stretch>
        </p:blipFill>
        <p:spPr bwMode="auto">
          <a:xfrm>
            <a:off x="381000" y="3581400"/>
            <a:ext cx="4648200" cy="2971800"/>
          </a:xfrm>
          <a:prstGeom prst="rect">
            <a:avLst/>
          </a:prstGeom>
          <a:noFill/>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normAutofit fontScale="90000"/>
          </a:bodyPr>
          <a:lstStyle/>
          <a:p>
            <a:r>
              <a:rPr lang="en-US" dirty="0"/>
              <a:t>Decision-Making Biases and Errors</a:t>
            </a:r>
          </a:p>
        </p:txBody>
      </p:sp>
      <p:sp>
        <p:nvSpPr>
          <p:cNvPr id="3" name="Content Placeholder 2"/>
          <p:cNvSpPr>
            <a:spLocks noGrp="1"/>
          </p:cNvSpPr>
          <p:nvPr>
            <p:ph idx="1"/>
          </p:nvPr>
        </p:nvSpPr>
        <p:spPr>
          <a:xfrm>
            <a:off x="304800" y="1524000"/>
            <a:ext cx="3581400" cy="4800600"/>
          </a:xfrm>
          <a:ln>
            <a:solidFill>
              <a:schemeClr val="accent1">
                <a:lumMod val="75000"/>
              </a:schemeClr>
            </a:solidFill>
          </a:ln>
        </p:spPr>
        <p:txBody>
          <a:bodyPr/>
          <a:lstStyle/>
          <a:p>
            <a:pPr marL="0" lvl="1" indent="-274320">
              <a:buClr>
                <a:schemeClr val="accent1"/>
              </a:buClr>
              <a:buSzPct val="80000"/>
              <a:buFont typeface="Wingdings 2" pitchFamily="18" charset="2"/>
              <a:buChar char=""/>
            </a:pPr>
            <a:r>
              <a:rPr lang="en-US" sz="2600" b="1" dirty="0"/>
              <a:t>Hindsight Bias </a:t>
            </a:r>
            <a:r>
              <a:rPr lang="en-US" sz="2600" dirty="0"/>
              <a:t>- </a:t>
            </a:r>
            <a:r>
              <a:rPr lang="en-US" sz="2600" dirty="0">
                <a:cs typeface="Arial" charset="0"/>
              </a:rPr>
              <a:t> </a:t>
            </a:r>
            <a:r>
              <a:rPr lang="en-US" sz="2400" dirty="0">
                <a:cs typeface="Arial" charset="0"/>
              </a:rPr>
              <a:t>the tendency for decision makers to falsely believe that they would have accurately predicted the outcome of an event once that outcome is actually known</a:t>
            </a:r>
            <a:r>
              <a:rPr lang="en-US" sz="2400" dirty="0"/>
              <a:t> (after-the-fact).</a:t>
            </a:r>
            <a:endParaRPr lang="en-US" sz="2500" dirty="0"/>
          </a:p>
          <a:p>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83</a:t>
            </a:fld>
            <a:endParaRPr lang="en-US"/>
          </a:p>
        </p:txBody>
      </p:sp>
      <p:pic>
        <p:nvPicPr>
          <p:cNvPr id="130052" name="Picture 4" descr="http://3.bp.blogspot.com/-I6Ibf-eSMBA/TuQqb4Tt8AI/AAAAAAAAAm4/Cn1tWYFJLIA/s400/Hindsight.jpg"/>
          <p:cNvPicPr>
            <a:picLocks noChangeAspect="1" noChangeArrowheads="1"/>
          </p:cNvPicPr>
          <p:nvPr/>
        </p:nvPicPr>
        <p:blipFill>
          <a:blip r:embed="rId2" cstate="print"/>
          <a:srcRect/>
          <a:stretch>
            <a:fillRect/>
          </a:stretch>
        </p:blipFill>
        <p:spPr bwMode="auto">
          <a:xfrm>
            <a:off x="4038600" y="1447800"/>
            <a:ext cx="4876800" cy="4876800"/>
          </a:xfrm>
          <a:prstGeom prst="rect">
            <a:avLst/>
          </a:prstGeom>
          <a:noFill/>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84</a:t>
            </a:fld>
            <a:endParaRPr lang="en-US"/>
          </a:p>
        </p:txBody>
      </p:sp>
      <p:pic>
        <p:nvPicPr>
          <p:cNvPr id="131074" name="Picture 2" descr="http://takshzilabeta.com/blogs/wp-content/uploads/2012/12/hindsight.jpg"/>
          <p:cNvPicPr>
            <a:picLocks noChangeAspect="1" noChangeArrowheads="1"/>
          </p:cNvPicPr>
          <p:nvPr/>
        </p:nvPicPr>
        <p:blipFill>
          <a:blip r:embed="rId2" cstate="print"/>
          <a:srcRect/>
          <a:stretch>
            <a:fillRect/>
          </a:stretch>
        </p:blipFill>
        <p:spPr bwMode="auto">
          <a:xfrm>
            <a:off x="381000" y="228600"/>
            <a:ext cx="8458200" cy="6172200"/>
          </a:xfrm>
          <a:prstGeom prst="rect">
            <a:avLst/>
          </a:prstGeom>
          <a:noFill/>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noChangeArrowheads="1"/>
          </p:cNvSpPr>
          <p:nvPr>
            <p:ph type="title" idx="4294967295"/>
          </p:nvPr>
        </p:nvSpPr>
        <p:spPr>
          <a:xfrm>
            <a:off x="457200" y="304800"/>
            <a:ext cx="8229600" cy="762000"/>
          </a:xfrm>
        </p:spPr>
        <p:txBody>
          <a:bodyPr>
            <a:normAutofit fontScale="90000"/>
          </a:bodyPr>
          <a:lstStyle/>
          <a:p>
            <a:br>
              <a:rPr lang="en-US" sz="3600" dirty="0"/>
            </a:br>
            <a:r>
              <a:rPr lang="en-US" sz="4400" dirty="0"/>
              <a:t>Common Decision-Making Biases  </a:t>
            </a:r>
            <a:r>
              <a:rPr lang="en-US" sz="1800" dirty="0"/>
              <a:t>(Source: Robbins &amp; Coulter, 2014)</a:t>
            </a:r>
            <a:endParaRPr lang="en-US" sz="1800" dirty="0">
              <a:latin typeface="Calibri" pitchFamily="34" charset="0"/>
            </a:endParaRPr>
          </a:p>
        </p:txBody>
      </p:sp>
      <p:sp>
        <p:nvSpPr>
          <p:cNvPr id="97282" name="Rectangle 3"/>
          <p:cNvSpPr txBox="1">
            <a:spLocks/>
          </p:cNvSpPr>
          <p:nvPr/>
        </p:nvSpPr>
        <p:spPr bwMode="auto">
          <a:xfrm>
            <a:off x="457200" y="1600200"/>
            <a:ext cx="8229600" cy="4525963"/>
          </a:xfrm>
          <a:prstGeom prst="rect">
            <a:avLst/>
          </a:prstGeom>
          <a:noFill/>
          <a:ln w="9525">
            <a:noFill/>
            <a:miter lim="800000"/>
            <a:headEnd/>
            <a:tailEnd/>
          </a:ln>
        </p:spPr>
        <p:txBody>
          <a:bodyPr/>
          <a:lstStyle/>
          <a:p>
            <a:pPr marL="342900" indent="-342900" eaLnBrk="0" hangingPunct="0">
              <a:spcBef>
                <a:spcPct val="20000"/>
              </a:spcBef>
              <a:buFont typeface="Arial" charset="0"/>
              <a:buChar char="•"/>
            </a:pPr>
            <a:endParaRPr lang="en-GB" sz="2800" dirty="0"/>
          </a:p>
        </p:txBody>
      </p:sp>
      <p:pic>
        <p:nvPicPr>
          <p:cNvPr id="97283" name="Picture 3"/>
          <p:cNvPicPr>
            <a:picLocks noGrp="1" noChangeAspect="1" noChangeArrowheads="1"/>
          </p:cNvPicPr>
          <p:nvPr/>
        </p:nvPicPr>
        <p:blipFill>
          <a:blip r:embed="rId3" cstate="print"/>
          <a:srcRect/>
          <a:stretch>
            <a:fillRect/>
          </a:stretch>
        </p:blipFill>
        <p:spPr bwMode="auto">
          <a:xfrm>
            <a:off x="685800" y="1371600"/>
            <a:ext cx="7772400" cy="5029200"/>
          </a:xfrm>
          <a:prstGeom prst="rect">
            <a:avLst/>
          </a:prstGeom>
          <a:noFill/>
          <a:ln w="9525">
            <a:noFill/>
            <a:miter lim="800000"/>
            <a:headEnd/>
            <a:tailEnd/>
          </a:ln>
        </p:spPr>
      </p:pic>
      <p:sp>
        <p:nvSpPr>
          <p:cNvPr id="5" name="Slide Number Placeholder 4"/>
          <p:cNvSpPr>
            <a:spLocks noGrp="1"/>
          </p:cNvSpPr>
          <p:nvPr>
            <p:ph type="sldNum" sz="quarter" idx="11"/>
          </p:nvPr>
        </p:nvSpPr>
        <p:spPr/>
        <p:txBody>
          <a:bodyPr/>
          <a:lstStyle/>
          <a:p>
            <a:fld id="{B6F15528-21DE-4FAA-801E-634DDDAF4B2B}" type="slidenum">
              <a:rPr lang="en-US" smtClean="0"/>
              <a:pPr/>
              <a:t>85</a:t>
            </a:fld>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04800"/>
            <a:ext cx="8229600" cy="1524000"/>
          </a:xfrm>
        </p:spPr>
        <p:txBody>
          <a:bodyPr>
            <a:noAutofit/>
          </a:bodyPr>
          <a:lstStyle/>
          <a:p>
            <a:r>
              <a:rPr lang="en-GB" sz="3600" dirty="0"/>
              <a:t>Some Interesting Data Regarding Decision Making</a:t>
            </a:r>
            <a:br>
              <a:rPr lang="en-GB" sz="3200" dirty="0"/>
            </a:br>
            <a:r>
              <a:rPr lang="en-GB" sz="2400" dirty="0"/>
              <a:t> </a:t>
            </a:r>
            <a:r>
              <a:rPr lang="en-GB" sz="1600" dirty="0"/>
              <a:t>(Source: </a:t>
            </a:r>
            <a:r>
              <a:rPr lang="en-GB" sz="1600" dirty="0" err="1"/>
              <a:t>Kahneman</a:t>
            </a:r>
            <a:r>
              <a:rPr lang="en-GB" sz="1600" dirty="0"/>
              <a:t>,  </a:t>
            </a:r>
            <a:r>
              <a:rPr lang="en-GB" sz="1600" dirty="0" err="1"/>
              <a:t>Lovallo</a:t>
            </a:r>
            <a:r>
              <a:rPr lang="en-GB" sz="1600" dirty="0"/>
              <a:t>  and </a:t>
            </a:r>
            <a:r>
              <a:rPr lang="en-GB" sz="1600" dirty="0" err="1"/>
              <a:t>Siboney</a:t>
            </a:r>
            <a:r>
              <a:rPr lang="en-GB" sz="1600" dirty="0"/>
              <a:t>, 2011) </a:t>
            </a:r>
            <a:endParaRPr lang="en-US" sz="1600" dirty="0"/>
          </a:p>
        </p:txBody>
      </p:sp>
      <p:sp>
        <p:nvSpPr>
          <p:cNvPr id="6" name="Content Placeholder 5"/>
          <p:cNvSpPr>
            <a:spLocks noGrp="1"/>
          </p:cNvSpPr>
          <p:nvPr>
            <p:ph sz="half" idx="1"/>
          </p:nvPr>
        </p:nvSpPr>
        <p:spPr>
          <a:xfrm>
            <a:off x="457200" y="1981200"/>
            <a:ext cx="4191000" cy="4495800"/>
          </a:xfrm>
          <a:ln w="28575">
            <a:solidFill>
              <a:schemeClr val="accent2">
                <a:lumMod val="60000"/>
                <a:lumOff val="40000"/>
              </a:schemeClr>
            </a:solidFill>
          </a:ln>
        </p:spPr>
        <p:txBody>
          <a:bodyPr>
            <a:normAutofit fontScale="77500" lnSpcReduction="20000"/>
          </a:bodyPr>
          <a:lstStyle/>
          <a:p>
            <a:r>
              <a:rPr lang="en-US" dirty="0"/>
              <a:t>7% </a:t>
            </a:r>
            <a:r>
              <a:rPr lang="en-GB" dirty="0"/>
              <a:t> higher returns is what organisations gained when they reduced the effect of bias in their decision-making processes.</a:t>
            </a:r>
          </a:p>
          <a:p>
            <a:endParaRPr lang="en-GB" dirty="0"/>
          </a:p>
          <a:p>
            <a:r>
              <a:rPr lang="en-GB" dirty="0"/>
              <a:t>90%  of people believe they are just a little more competent, smarter, or kinder than average.</a:t>
            </a:r>
          </a:p>
          <a:p>
            <a:endParaRPr lang="en-US" dirty="0"/>
          </a:p>
          <a:p>
            <a:r>
              <a:rPr lang="en-US" dirty="0"/>
              <a:t>91% </a:t>
            </a:r>
            <a:r>
              <a:rPr lang="en-GB" dirty="0"/>
              <a:t> of U.S. companies use teams and groups to solve specific problems.</a:t>
            </a:r>
          </a:p>
          <a:p>
            <a:pPr>
              <a:buNone/>
            </a:pPr>
            <a:endParaRPr lang="en-GB" dirty="0"/>
          </a:p>
          <a:p>
            <a:r>
              <a:rPr lang="en-US" dirty="0"/>
              <a:t>54%  o</a:t>
            </a:r>
            <a:r>
              <a:rPr lang="en-GB" dirty="0"/>
              <a:t>f managers said the amount of time given to each decision had decreased.</a:t>
            </a:r>
          </a:p>
          <a:p>
            <a:endParaRPr lang="en-US" dirty="0"/>
          </a:p>
        </p:txBody>
      </p:sp>
      <p:sp>
        <p:nvSpPr>
          <p:cNvPr id="7" name="Content Placeholder 6"/>
          <p:cNvSpPr>
            <a:spLocks noGrp="1"/>
          </p:cNvSpPr>
          <p:nvPr>
            <p:ph sz="half" idx="2"/>
          </p:nvPr>
        </p:nvSpPr>
        <p:spPr>
          <a:xfrm>
            <a:off x="5029200" y="1981200"/>
            <a:ext cx="3733800" cy="4495800"/>
          </a:xfrm>
          <a:ln w="28575">
            <a:solidFill>
              <a:schemeClr val="accent2">
                <a:lumMod val="60000"/>
                <a:lumOff val="40000"/>
              </a:schemeClr>
            </a:solidFill>
          </a:ln>
        </p:spPr>
        <p:txBody>
          <a:bodyPr>
            <a:normAutofit fontScale="77500" lnSpcReduction="20000"/>
          </a:bodyPr>
          <a:lstStyle/>
          <a:p>
            <a:r>
              <a:rPr lang="en-US" dirty="0"/>
              <a:t>77% </a:t>
            </a:r>
            <a:r>
              <a:rPr lang="en-GB" dirty="0"/>
              <a:t> of managers said the number of decisions they made during a typical workday had increased.</a:t>
            </a:r>
          </a:p>
          <a:p>
            <a:endParaRPr lang="en-GB" dirty="0"/>
          </a:p>
          <a:p>
            <a:r>
              <a:rPr lang="en-US" dirty="0"/>
              <a:t>59%</a:t>
            </a:r>
            <a:r>
              <a:rPr lang="en-GB" dirty="0"/>
              <a:t> of employees said a key obstacle to their job is that more attention is paid to placing blame than to solving </a:t>
            </a:r>
            <a:r>
              <a:rPr lang="en-US" dirty="0"/>
              <a:t>problems.</a:t>
            </a:r>
          </a:p>
          <a:p>
            <a:endParaRPr lang="en-US" dirty="0"/>
          </a:p>
          <a:p>
            <a:r>
              <a:rPr lang="en-US" dirty="0"/>
              <a:t>20% </a:t>
            </a:r>
            <a:r>
              <a:rPr lang="en-GB" dirty="0"/>
              <a:t> of American adults said they think most creatively in their cars.</a:t>
            </a:r>
            <a:endParaRPr lang="en-US"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Decision Makers …..</a:t>
            </a: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87</a:t>
            </a:fld>
            <a:endParaRPr lang="en-US"/>
          </a:p>
        </p:txBody>
      </p:sp>
      <p:pic>
        <p:nvPicPr>
          <p:cNvPr id="106498" name="Picture 2" descr="Dilbert - October 26, 2007"/>
          <p:cNvPicPr>
            <a:picLocks noChangeAspect="1" noChangeArrowheads="1"/>
          </p:cNvPicPr>
          <p:nvPr/>
        </p:nvPicPr>
        <p:blipFill>
          <a:blip r:embed="rId2" cstate="print"/>
          <a:srcRect/>
          <a:stretch>
            <a:fillRect/>
          </a:stretch>
        </p:blipFill>
        <p:spPr bwMode="auto">
          <a:xfrm>
            <a:off x="685800" y="1752599"/>
            <a:ext cx="7772400" cy="4648201"/>
          </a:xfrm>
          <a:prstGeom prst="rect">
            <a:avLst/>
          </a:prstGeom>
          <a:noFill/>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524000"/>
          </a:xfrm>
        </p:spPr>
        <p:txBody>
          <a:bodyPr>
            <a:noAutofit/>
          </a:bodyPr>
          <a:lstStyle/>
          <a:p>
            <a:r>
              <a:rPr lang="en-US" dirty="0"/>
              <a:t>Overview of Managerial Decision Making</a:t>
            </a:r>
            <a:endParaRPr lang="en-IE" dirty="0"/>
          </a:p>
        </p:txBody>
      </p:sp>
      <p:sp>
        <p:nvSpPr>
          <p:cNvPr id="3" name="Content Placeholder 2"/>
          <p:cNvSpPr>
            <a:spLocks noGrp="1"/>
          </p:cNvSpPr>
          <p:nvPr>
            <p:ph idx="1"/>
          </p:nvPr>
        </p:nvSpPr>
        <p:spPr>
          <a:xfrm>
            <a:off x="457200" y="2209800"/>
            <a:ext cx="8229600" cy="4343400"/>
          </a:xfrm>
        </p:spPr>
        <p:txBody>
          <a:bodyPr>
            <a:normAutofit lnSpcReduction="10000"/>
          </a:bodyPr>
          <a:lstStyle/>
          <a:p>
            <a:pPr hangingPunct="0"/>
            <a:r>
              <a:rPr lang="en-US" dirty="0"/>
              <a:t>Managers want to make good decisions because doing so is in their best interests.</a:t>
            </a:r>
          </a:p>
          <a:p>
            <a:endParaRPr lang="en-US" dirty="0">
              <a:cs typeface="Arial" charset="0"/>
            </a:endParaRPr>
          </a:p>
          <a:p>
            <a:r>
              <a:rPr lang="en-US" dirty="0">
                <a:cs typeface="Arial" charset="0"/>
              </a:rPr>
              <a:t>…. that is,</a:t>
            </a:r>
          </a:p>
          <a:p>
            <a:pPr lvl="1"/>
            <a:r>
              <a:rPr lang="en-US" sz="2600" dirty="0">
                <a:cs typeface="Arial" charset="0"/>
              </a:rPr>
              <a:t> choose the “best” alternative,.</a:t>
            </a:r>
          </a:p>
          <a:p>
            <a:pPr lvl="1"/>
            <a:r>
              <a:rPr lang="en-US" sz="2600" dirty="0">
                <a:cs typeface="Arial" charset="0"/>
              </a:rPr>
              <a:t>… implement it, …</a:t>
            </a:r>
          </a:p>
          <a:p>
            <a:pPr lvl="1"/>
            <a:r>
              <a:rPr lang="en-US" sz="2600" dirty="0">
                <a:cs typeface="Arial" charset="0"/>
              </a:rPr>
              <a:t>…. and determine whether it takes care of the problem.</a:t>
            </a:r>
          </a:p>
          <a:p>
            <a:endParaRPr lang="en-US" dirty="0">
              <a:cs typeface="Arial" charset="0"/>
            </a:endParaRPr>
          </a:p>
          <a:p>
            <a:r>
              <a:rPr lang="en-US" dirty="0">
                <a:cs typeface="Arial" charset="0"/>
              </a:rPr>
              <a:t>…. Which is the reason the decision was needed in the first place!</a:t>
            </a:r>
          </a:p>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872778"/>
            <a:ext cx="8229600" cy="604222"/>
          </a:xfrm>
        </p:spPr>
        <p:txBody>
          <a:bodyPr>
            <a:noAutofit/>
          </a:bodyPr>
          <a:lstStyle/>
          <a:p>
            <a:r>
              <a:rPr lang="en-GB" sz="3200" dirty="0"/>
              <a:t>An example of managerial decision making!!</a:t>
            </a:r>
            <a:endParaRPr lang="en-US" sz="3200"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89</a:t>
            </a:fld>
            <a:endParaRPr lang="en-US"/>
          </a:p>
        </p:txBody>
      </p:sp>
      <p:pic>
        <p:nvPicPr>
          <p:cNvPr id="104450" name="Picture 2" descr="http://www.greengaragedetroit.com/images/8/8f/Group_decision_making.jpg"/>
          <p:cNvPicPr>
            <a:picLocks noChangeAspect="1" noChangeArrowheads="1"/>
          </p:cNvPicPr>
          <p:nvPr/>
        </p:nvPicPr>
        <p:blipFill>
          <a:blip r:embed="rId2" cstate="print"/>
          <a:srcRect/>
          <a:stretch>
            <a:fillRect/>
          </a:stretch>
        </p:blipFill>
        <p:spPr bwMode="auto">
          <a:xfrm>
            <a:off x="762000" y="457200"/>
            <a:ext cx="7467600" cy="5296516"/>
          </a:xfrm>
          <a:prstGeom prst="rect">
            <a:avLst/>
          </a:prstGeom>
          <a:noFill/>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ChangeArrowheads="1"/>
          </p:cNvSpPr>
          <p:nvPr>
            <p:ph type="title" idx="4294967295"/>
          </p:nvPr>
        </p:nvSpPr>
        <p:spPr>
          <a:xfrm>
            <a:off x="457200" y="304800"/>
            <a:ext cx="8229600" cy="838200"/>
          </a:xfrm>
        </p:spPr>
        <p:txBody>
          <a:bodyPr>
            <a:noAutofit/>
          </a:bodyPr>
          <a:lstStyle/>
          <a:p>
            <a:r>
              <a:rPr lang="en-US" sz="3600" dirty="0"/>
              <a:t>Overview of Managerial Decision Making </a:t>
            </a:r>
            <a:r>
              <a:rPr lang="en-US" sz="1400" dirty="0"/>
              <a:t>(Source: Robbins &amp; Coulter, 2014)</a:t>
            </a:r>
            <a:endParaRPr lang="en-US" sz="3600" dirty="0">
              <a:latin typeface="Calibri" pitchFamily="34" charset="0"/>
            </a:endParaRPr>
          </a:p>
        </p:txBody>
      </p:sp>
      <p:pic>
        <p:nvPicPr>
          <p:cNvPr id="99330" name="Picture 3"/>
          <p:cNvPicPr>
            <a:picLocks noGrp="1" noChangeAspect="1" noChangeArrowheads="1"/>
          </p:cNvPicPr>
          <p:nvPr/>
        </p:nvPicPr>
        <p:blipFill>
          <a:blip r:embed="rId3" cstate="print"/>
          <a:srcRect/>
          <a:stretch>
            <a:fillRect/>
          </a:stretch>
        </p:blipFill>
        <p:spPr bwMode="auto">
          <a:xfrm>
            <a:off x="381000" y="1295400"/>
            <a:ext cx="8382000" cy="5257800"/>
          </a:xfrm>
          <a:prstGeom prst="rect">
            <a:avLst/>
          </a:prstGeom>
          <a:noFill/>
          <a:ln w="9525">
            <a:noFill/>
            <a:miter lim="800000"/>
            <a:headEnd/>
            <a:tailEnd/>
          </a:ln>
        </p:spPr>
      </p:pic>
      <p:sp>
        <p:nvSpPr>
          <p:cNvPr id="4" name="Slide Number Placeholder 3"/>
          <p:cNvSpPr>
            <a:spLocks noGrp="1"/>
          </p:cNvSpPr>
          <p:nvPr>
            <p:ph type="sldNum" sz="quarter" idx="11"/>
          </p:nvPr>
        </p:nvSpPr>
        <p:spPr/>
        <p:txBody>
          <a:bodyPr/>
          <a:lstStyle/>
          <a:p>
            <a:fld id="{B6F15528-21DE-4FAA-801E-634DDDAF4B2B}" type="slidenum">
              <a:rPr lang="en-US" smtClean="0"/>
              <a:pPr/>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6172200" cy="1447800"/>
          </a:xfrm>
        </p:spPr>
        <p:txBody>
          <a:bodyPr>
            <a:normAutofit fontScale="90000"/>
          </a:bodyPr>
          <a:lstStyle/>
          <a:p>
            <a:r>
              <a:rPr lang="en-US" dirty="0">
                <a:latin typeface="Calibri" pitchFamily="34" charset="0"/>
              </a:rPr>
              <a:t>Effective Decision Making for Today’s World</a:t>
            </a:r>
            <a:endParaRPr lang="en-US" dirty="0"/>
          </a:p>
        </p:txBody>
      </p:sp>
      <p:sp>
        <p:nvSpPr>
          <p:cNvPr id="3" name="Content Placeholder 2"/>
          <p:cNvSpPr>
            <a:spLocks noGrp="1"/>
          </p:cNvSpPr>
          <p:nvPr>
            <p:ph idx="1"/>
          </p:nvPr>
        </p:nvSpPr>
        <p:spPr>
          <a:xfrm>
            <a:off x="457200" y="2133600"/>
            <a:ext cx="8229600" cy="4724400"/>
          </a:xfrm>
        </p:spPr>
        <p:txBody>
          <a:bodyPr>
            <a:normAutofit lnSpcReduction="10000"/>
          </a:bodyPr>
          <a:lstStyle/>
          <a:p>
            <a:pPr hangingPunct="0"/>
            <a:r>
              <a:rPr lang="en-US" sz="2400" dirty="0">
                <a:cs typeface="Arial" charset="0"/>
              </a:rPr>
              <a:t>Decision making is serious business. </a:t>
            </a:r>
          </a:p>
          <a:p>
            <a:pPr hangingPunct="0"/>
            <a:endParaRPr lang="en-US" sz="1800" dirty="0">
              <a:cs typeface="Arial" charset="0"/>
            </a:endParaRPr>
          </a:p>
          <a:p>
            <a:pPr hangingPunct="0"/>
            <a:r>
              <a:rPr lang="en-US" sz="2400" dirty="0"/>
              <a:t>Today’s business world revolves around making decisions, which are often risky ones made with incomplete or inadequate information and under intense time pressure. </a:t>
            </a:r>
          </a:p>
          <a:p>
            <a:pPr hangingPunct="0"/>
            <a:endParaRPr lang="en-US" sz="2000" dirty="0"/>
          </a:p>
          <a:p>
            <a:pPr>
              <a:buFont typeface="Arial" pitchFamily="34" charset="0"/>
              <a:buChar char="•"/>
            </a:pPr>
            <a:r>
              <a:rPr lang="en-US" sz="2400" dirty="0">
                <a:cs typeface="Arial" charset="0"/>
              </a:rPr>
              <a:t>A  person’s abilities and track record as an effective decision maker will determine how their </a:t>
            </a:r>
            <a:r>
              <a:rPr lang="en-US" sz="2400" dirty="0" err="1">
                <a:cs typeface="Arial" charset="0"/>
              </a:rPr>
              <a:t>organisational</a:t>
            </a:r>
            <a:r>
              <a:rPr lang="en-US" sz="2400" dirty="0">
                <a:cs typeface="Arial" charset="0"/>
              </a:rPr>
              <a:t> work performance is evaluated and whether they will be promoted to higher positions of responsibility. </a:t>
            </a:r>
          </a:p>
          <a:p>
            <a:pPr>
              <a:buNone/>
            </a:pPr>
            <a:endParaRPr lang="en-GB" sz="2000" dirty="0"/>
          </a:p>
          <a:p>
            <a:pPr hangingPunct="0"/>
            <a:r>
              <a:rPr lang="en-US" sz="2400" dirty="0"/>
              <a:t>How can managers make effective decisions under these conditions?</a:t>
            </a:r>
          </a:p>
          <a:p>
            <a:pPr lvl="1" hangingPunct="0"/>
            <a:r>
              <a:rPr lang="en-US" sz="1800" dirty="0"/>
              <a:t>Following slides provide some guidelines for Effective Decision Making</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91</a:t>
            </a:fld>
            <a:endParaRPr lang="en-US"/>
          </a:p>
        </p:txBody>
      </p:sp>
      <p:pic>
        <p:nvPicPr>
          <p:cNvPr id="5" name="Picture 2" descr="http://1.bp.blogspot.com/-wj-rdtbyfyc/UCJ1mUJ7bMI/AAAAAAAAAQY/TaxfTWpio2U/s1600/Directions+Picture.jpg"/>
          <p:cNvPicPr>
            <a:picLocks noChangeAspect="1" noChangeArrowheads="1"/>
          </p:cNvPicPr>
          <p:nvPr/>
        </p:nvPicPr>
        <p:blipFill>
          <a:blip r:embed="rId2" cstate="print"/>
          <a:srcRect/>
          <a:stretch>
            <a:fillRect/>
          </a:stretch>
        </p:blipFill>
        <p:spPr bwMode="auto">
          <a:xfrm>
            <a:off x="6629400" y="0"/>
            <a:ext cx="2514600" cy="2514600"/>
          </a:xfrm>
          <a:prstGeom prst="rect">
            <a:avLst/>
          </a:prstGeom>
          <a:noFill/>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92</a:t>
            </a:fld>
            <a:endParaRPr lang="en-US"/>
          </a:p>
        </p:txBody>
      </p:sp>
      <p:pic>
        <p:nvPicPr>
          <p:cNvPr id="107522" name="Picture 2" descr="Working Daze - February 26, 2009"/>
          <p:cNvPicPr>
            <a:picLocks noChangeAspect="1" noChangeArrowheads="1"/>
          </p:cNvPicPr>
          <p:nvPr/>
        </p:nvPicPr>
        <p:blipFill>
          <a:blip r:embed="rId2" cstate="print"/>
          <a:srcRect/>
          <a:stretch>
            <a:fillRect/>
          </a:stretch>
        </p:blipFill>
        <p:spPr bwMode="auto">
          <a:xfrm>
            <a:off x="685800" y="685800"/>
            <a:ext cx="8001000" cy="6018615"/>
          </a:xfrm>
          <a:prstGeom prst="rect">
            <a:avLst/>
          </a:prstGeom>
          <a:noFill/>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458200" cy="1447800"/>
          </a:xfrm>
        </p:spPr>
        <p:txBody>
          <a:bodyPr>
            <a:noAutofit/>
          </a:bodyPr>
          <a:lstStyle/>
          <a:p>
            <a:r>
              <a:rPr lang="en-US" sz="4400" dirty="0">
                <a:latin typeface="Calibri" pitchFamily="34" charset="0"/>
              </a:rPr>
              <a:t>Guidelines for Making Effective Decisions</a:t>
            </a:r>
            <a:endParaRPr lang="en-US" sz="4400" dirty="0"/>
          </a:p>
        </p:txBody>
      </p:sp>
      <p:sp>
        <p:nvSpPr>
          <p:cNvPr id="3" name="Content Placeholder 2"/>
          <p:cNvSpPr>
            <a:spLocks noGrp="1"/>
          </p:cNvSpPr>
          <p:nvPr>
            <p:ph idx="1"/>
          </p:nvPr>
        </p:nvSpPr>
        <p:spPr>
          <a:xfrm>
            <a:off x="457200" y="2057400"/>
            <a:ext cx="8229600" cy="3429000"/>
          </a:xfrm>
        </p:spPr>
        <p:txBody>
          <a:bodyPr>
            <a:normAutofit/>
          </a:bodyPr>
          <a:lstStyle/>
          <a:p>
            <a:pPr marL="457200" indent="-457200" eaLnBrk="0" hangingPunct="0">
              <a:spcBef>
                <a:spcPct val="25000"/>
              </a:spcBef>
              <a:buNone/>
            </a:pPr>
            <a:r>
              <a:rPr lang="en-US" dirty="0">
                <a:solidFill>
                  <a:schemeClr val="accent1">
                    <a:lumMod val="75000"/>
                  </a:schemeClr>
                </a:solidFill>
              </a:rPr>
              <a:t>1.</a:t>
            </a:r>
            <a:r>
              <a:rPr lang="en-US" dirty="0"/>
              <a:t> Understand cultural differences</a:t>
            </a:r>
          </a:p>
          <a:p>
            <a:pPr marL="1014984" lvl="1" indent="-457200" eaLnBrk="0" hangingPunct="0">
              <a:spcBef>
                <a:spcPct val="25000"/>
              </a:spcBef>
            </a:pPr>
            <a:r>
              <a:rPr lang="en-US" sz="2400" dirty="0">
                <a:cs typeface="Arial" charset="0"/>
              </a:rPr>
              <a:t>Managers everywhere want to make good decisions. </a:t>
            </a:r>
          </a:p>
          <a:p>
            <a:pPr marL="1014984" lvl="1" indent="-457200" eaLnBrk="0" hangingPunct="0">
              <a:spcBef>
                <a:spcPct val="25000"/>
              </a:spcBef>
            </a:pPr>
            <a:r>
              <a:rPr lang="en-US" sz="2400" dirty="0">
                <a:cs typeface="Arial" charset="0"/>
              </a:rPr>
              <a:t>However, is there only one “best” way worldwide to make decisions? </a:t>
            </a:r>
          </a:p>
          <a:p>
            <a:pPr marL="1014984" lvl="1" indent="-457200" eaLnBrk="0" hangingPunct="0">
              <a:spcBef>
                <a:spcPct val="25000"/>
              </a:spcBef>
            </a:pPr>
            <a:r>
              <a:rPr lang="en-US" sz="2400" dirty="0">
                <a:cs typeface="Arial" charset="0"/>
              </a:rPr>
              <a:t>Or does the “best way depend on the values, beliefs, attitudes, and behavioral patterns of the people involved?”</a:t>
            </a:r>
          </a:p>
          <a:p>
            <a:pPr marL="457200" indent="-457200" eaLnBrk="0" hangingPunct="0">
              <a:spcBef>
                <a:spcPct val="25000"/>
              </a:spcBef>
              <a:buFont typeface="+mj-lt"/>
              <a:buAutoNum type="arabicPeriod"/>
            </a:pPr>
            <a:endParaRPr lang="en-US" sz="1600" dirty="0"/>
          </a:p>
          <a:p>
            <a:pPr marL="457200" indent="-457200" eaLnBrk="0" hangingPunct="0">
              <a:spcBef>
                <a:spcPct val="25000"/>
              </a:spcBef>
              <a:buNone/>
            </a:pPr>
            <a:endParaRPr lang="en-US" sz="2300" dirty="0"/>
          </a:p>
          <a:p>
            <a:pPr marL="457200" indent="-457200" eaLnBrk="0" hangingPunct="0">
              <a:spcBef>
                <a:spcPct val="25000"/>
              </a:spcBef>
              <a:buFont typeface="+mj-lt"/>
              <a:buAutoNum type="arabicPeriod"/>
            </a:pPr>
            <a:endParaRPr lang="en-US" sz="3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noAutofit/>
          </a:bodyPr>
          <a:lstStyle/>
          <a:p>
            <a:r>
              <a:rPr lang="en-US" sz="2800" dirty="0">
                <a:latin typeface="Calibri" pitchFamily="34" charset="0"/>
              </a:rPr>
              <a:t>Guidelines for Making Effective Decisions: Understanding Cultural Differences</a:t>
            </a:r>
            <a:endParaRPr lang="en-US" sz="2800"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94</a:t>
            </a:fld>
            <a:endParaRPr lang="en-US"/>
          </a:p>
        </p:txBody>
      </p:sp>
      <p:pic>
        <p:nvPicPr>
          <p:cNvPr id="132098" name="Picture 2" descr="http://www.newdirectionsconsulting.com/wp-content/uploads/2011/11/life-in-a-matrix-7-cross-cultural.jpg"/>
          <p:cNvPicPr>
            <a:picLocks noChangeAspect="1" noChangeArrowheads="1"/>
          </p:cNvPicPr>
          <p:nvPr/>
        </p:nvPicPr>
        <p:blipFill>
          <a:blip r:embed="rId2" cstate="print"/>
          <a:srcRect/>
          <a:stretch>
            <a:fillRect/>
          </a:stretch>
        </p:blipFill>
        <p:spPr bwMode="auto">
          <a:xfrm>
            <a:off x="457200" y="1447800"/>
            <a:ext cx="7848600" cy="5410200"/>
          </a:xfrm>
          <a:prstGeom prst="rect">
            <a:avLst/>
          </a:prstGeom>
          <a:noFill/>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95400"/>
          </a:xfrm>
        </p:spPr>
        <p:txBody>
          <a:bodyPr>
            <a:normAutofit fontScale="90000"/>
          </a:bodyPr>
          <a:lstStyle/>
          <a:p>
            <a:r>
              <a:rPr lang="en-US" dirty="0">
                <a:latin typeface="Calibri" pitchFamily="34" charset="0"/>
              </a:rPr>
              <a:t>Guidelines for Making Effective Decisions</a:t>
            </a:r>
            <a:endParaRPr lang="en-US" dirty="0"/>
          </a:p>
        </p:txBody>
      </p:sp>
      <p:sp>
        <p:nvSpPr>
          <p:cNvPr id="3" name="Content Placeholder 2"/>
          <p:cNvSpPr>
            <a:spLocks noGrp="1"/>
          </p:cNvSpPr>
          <p:nvPr>
            <p:ph idx="1"/>
          </p:nvPr>
        </p:nvSpPr>
        <p:spPr>
          <a:xfrm>
            <a:off x="304800" y="1828800"/>
            <a:ext cx="4419600" cy="4373563"/>
          </a:xfrm>
          <a:ln>
            <a:solidFill>
              <a:schemeClr val="accent1">
                <a:lumMod val="75000"/>
              </a:schemeClr>
            </a:solidFill>
          </a:ln>
        </p:spPr>
        <p:txBody>
          <a:bodyPr/>
          <a:lstStyle/>
          <a:p>
            <a:pPr marL="457200" indent="-457200" eaLnBrk="0" hangingPunct="0">
              <a:spcBef>
                <a:spcPct val="25000"/>
              </a:spcBef>
              <a:buNone/>
            </a:pPr>
            <a:r>
              <a:rPr lang="en-US" sz="2400" i="1" dirty="0"/>
              <a:t>2</a:t>
            </a:r>
            <a:r>
              <a:rPr lang="en-US" i="1" dirty="0"/>
              <a:t>. Create standards for good decision making </a:t>
            </a:r>
          </a:p>
          <a:p>
            <a:pPr marL="1014984" lvl="1" indent="-457200" eaLnBrk="0" hangingPunct="0">
              <a:spcBef>
                <a:spcPct val="25000"/>
              </a:spcBef>
            </a:pPr>
            <a:r>
              <a:rPr lang="en-US" sz="2400" dirty="0">
                <a:cs typeface="Arial" charset="0"/>
              </a:rPr>
              <a:t>Good decisions are forward-looking, </a:t>
            </a:r>
          </a:p>
          <a:p>
            <a:pPr marL="1014984" lvl="1" indent="-457200" eaLnBrk="0" hangingPunct="0">
              <a:spcBef>
                <a:spcPct val="25000"/>
              </a:spcBef>
            </a:pPr>
            <a:r>
              <a:rPr lang="en-US" sz="2400" dirty="0">
                <a:cs typeface="Arial" charset="0"/>
              </a:rPr>
              <a:t>use available information, </a:t>
            </a:r>
          </a:p>
          <a:p>
            <a:pPr marL="1014984" lvl="1" indent="-457200" eaLnBrk="0" hangingPunct="0">
              <a:spcBef>
                <a:spcPct val="25000"/>
              </a:spcBef>
            </a:pPr>
            <a:r>
              <a:rPr lang="en-US" sz="2400" dirty="0">
                <a:cs typeface="Arial" charset="0"/>
              </a:rPr>
              <a:t>consider all available and viable options, </a:t>
            </a:r>
          </a:p>
          <a:p>
            <a:pPr marL="1014984" lvl="1" indent="-457200" eaLnBrk="0" hangingPunct="0">
              <a:spcBef>
                <a:spcPct val="25000"/>
              </a:spcBef>
            </a:pPr>
            <a:r>
              <a:rPr lang="en-US" sz="2400" dirty="0">
                <a:cs typeface="Arial" charset="0"/>
              </a:rPr>
              <a:t>and do not create conflicts of interest.</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95</a:t>
            </a:fld>
            <a:endParaRPr lang="en-US"/>
          </a:p>
        </p:txBody>
      </p:sp>
      <p:pic>
        <p:nvPicPr>
          <p:cNvPr id="133122" name="Picture 2" descr="http://4.bp.blogspot.com/-3P5endH5VMU/U1-hj_gQtjI/AAAAAAAAB3M/Twf3nDVbfOk/s1600/Double+Standards.png"/>
          <p:cNvPicPr>
            <a:picLocks noChangeAspect="1" noChangeArrowheads="1"/>
          </p:cNvPicPr>
          <p:nvPr/>
        </p:nvPicPr>
        <p:blipFill>
          <a:blip r:embed="rId2" cstate="print"/>
          <a:srcRect/>
          <a:stretch>
            <a:fillRect/>
          </a:stretch>
        </p:blipFill>
        <p:spPr bwMode="auto">
          <a:xfrm>
            <a:off x="5257800" y="1752600"/>
            <a:ext cx="3657600" cy="4419600"/>
          </a:xfrm>
          <a:prstGeom prst="rect">
            <a:avLst/>
          </a:prstGeom>
          <a:noFill/>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371600"/>
          </a:xfrm>
        </p:spPr>
        <p:txBody>
          <a:bodyPr>
            <a:noAutofit/>
          </a:bodyPr>
          <a:lstStyle/>
          <a:p>
            <a:r>
              <a:rPr lang="en-US" sz="4000" dirty="0">
                <a:latin typeface="Calibri" pitchFamily="34" charset="0"/>
              </a:rPr>
              <a:t>Guidelines for Making Effective Decisions </a:t>
            </a:r>
            <a:endParaRPr lang="en-US" sz="4000" dirty="0"/>
          </a:p>
        </p:txBody>
      </p:sp>
      <p:sp>
        <p:nvSpPr>
          <p:cNvPr id="3" name="Content Placeholder 2"/>
          <p:cNvSpPr>
            <a:spLocks noGrp="1"/>
          </p:cNvSpPr>
          <p:nvPr>
            <p:ph idx="1"/>
          </p:nvPr>
        </p:nvSpPr>
        <p:spPr>
          <a:xfrm>
            <a:off x="533400" y="1905000"/>
            <a:ext cx="8077200" cy="4221163"/>
          </a:xfrm>
        </p:spPr>
        <p:txBody>
          <a:bodyPr>
            <a:normAutofit fontScale="92500"/>
          </a:bodyPr>
          <a:lstStyle/>
          <a:p>
            <a:pPr marL="457200" indent="-457200" eaLnBrk="0" hangingPunct="0">
              <a:spcBef>
                <a:spcPct val="25000"/>
              </a:spcBef>
              <a:buNone/>
            </a:pPr>
            <a:r>
              <a:rPr lang="en-US" sz="3400" dirty="0">
                <a:solidFill>
                  <a:schemeClr val="accent1">
                    <a:lumMod val="75000"/>
                  </a:schemeClr>
                </a:solidFill>
              </a:rPr>
              <a:t>3.</a:t>
            </a:r>
            <a:r>
              <a:rPr lang="en-US" sz="3400" dirty="0"/>
              <a:t> </a:t>
            </a:r>
            <a:r>
              <a:rPr lang="en-US" dirty="0"/>
              <a:t>Know when it’s time to call it quits</a:t>
            </a:r>
          </a:p>
          <a:p>
            <a:pPr marL="1014984" lvl="1" indent="-457200" eaLnBrk="0" hangingPunct="0">
              <a:spcBef>
                <a:spcPct val="25000"/>
              </a:spcBef>
            </a:pPr>
            <a:r>
              <a:rPr lang="en-US" sz="2400" dirty="0">
                <a:cs typeface="Arial" charset="0"/>
              </a:rPr>
              <a:t>When it is evident that a decision is not working, do not be afraid to pull the plug.</a:t>
            </a:r>
            <a:endParaRPr lang="en-US" sz="2400" dirty="0"/>
          </a:p>
          <a:p>
            <a:pPr marL="457200" indent="-457200" eaLnBrk="0" hangingPunct="0">
              <a:spcBef>
                <a:spcPct val="25000"/>
              </a:spcBef>
              <a:buFont typeface="+mj-lt"/>
              <a:buAutoNum type="arabicPeriod"/>
            </a:pPr>
            <a:endParaRPr lang="en-US" sz="1900" dirty="0"/>
          </a:p>
          <a:p>
            <a:pPr marL="457200" indent="-457200" eaLnBrk="0" hangingPunct="0">
              <a:spcBef>
                <a:spcPct val="25000"/>
              </a:spcBef>
              <a:buNone/>
            </a:pPr>
            <a:r>
              <a:rPr lang="en-US" dirty="0">
                <a:solidFill>
                  <a:schemeClr val="accent1">
                    <a:lumMod val="75000"/>
                  </a:schemeClr>
                </a:solidFill>
              </a:rPr>
              <a:t>4.</a:t>
            </a:r>
            <a:r>
              <a:rPr lang="en-US" dirty="0"/>
              <a:t> Use an effective decision making process</a:t>
            </a:r>
          </a:p>
          <a:p>
            <a:pPr marL="457200" indent="-457200" eaLnBrk="0" hangingPunct="0">
              <a:spcBef>
                <a:spcPct val="20000"/>
              </a:spcBef>
              <a:buFont typeface="+mj-lt"/>
              <a:buAutoNum type="arabicPeriod"/>
            </a:pPr>
            <a:endParaRPr lang="en-US" sz="2200" i="1" dirty="0"/>
          </a:p>
          <a:p>
            <a:pPr marL="457200" indent="-457200" eaLnBrk="0" hangingPunct="0">
              <a:spcBef>
                <a:spcPct val="20000"/>
              </a:spcBef>
              <a:buNone/>
            </a:pPr>
            <a:r>
              <a:rPr lang="en-US" dirty="0">
                <a:solidFill>
                  <a:schemeClr val="accent1">
                    <a:lumMod val="75000"/>
                  </a:schemeClr>
                </a:solidFill>
              </a:rPr>
              <a:t>5.</a:t>
            </a:r>
            <a:r>
              <a:rPr lang="en-US" i="1" dirty="0"/>
              <a:t> </a:t>
            </a:r>
            <a:r>
              <a:rPr lang="en-US" dirty="0"/>
              <a:t>Build an organisation that can spot the unexpected and quickly adapt to the changed environment</a:t>
            </a:r>
            <a:r>
              <a:rPr lang="en-US" dirty="0">
                <a:cs typeface="Arial" charset="0"/>
              </a:rPr>
              <a:t>.</a:t>
            </a:r>
          </a:p>
          <a:p>
            <a:pPr marL="1014984" lvl="1" indent="-457200" eaLnBrk="0" hangingPunct="0">
              <a:spcBef>
                <a:spcPct val="20000"/>
              </a:spcBef>
            </a:pPr>
            <a:r>
              <a:rPr lang="en-US" dirty="0"/>
              <a:t>Build highly reliable </a:t>
            </a:r>
            <a:r>
              <a:rPr lang="en-US" dirty="0" err="1"/>
              <a:t>organisations</a:t>
            </a:r>
            <a:r>
              <a:rPr lang="en-US" dirty="0"/>
              <a:t> (HROs) that practice five habits (see next slide)</a:t>
            </a:r>
          </a:p>
          <a:p>
            <a:pPr marL="457200" indent="-457200" eaLnBrk="0" hangingPunct="0">
              <a:spcBef>
                <a:spcPct val="20000"/>
              </a:spcBef>
              <a:buNone/>
            </a:pPr>
            <a:endParaRPr lang="en-US" dirty="0">
              <a:cs typeface="Arial" charset="0"/>
            </a:endParaRPr>
          </a:p>
          <a:p>
            <a:pPr marL="457200" indent="-457200" eaLnBrk="0" hangingPunct="0">
              <a:spcBef>
                <a:spcPct val="20000"/>
              </a:spcBef>
              <a:buNone/>
            </a:pPr>
            <a:endParaRPr lang="en-US"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encrypted-tbn3.gstatic.com/images?q=tbn:ANd9GcTI5Kg0Wi6f2mRiawOpYzMq0jd_9lFMfcFrIpZgV7XEVbBUsSQL6Q"/>
          <p:cNvPicPr>
            <a:picLocks noChangeAspect="1" noChangeArrowheads="1"/>
          </p:cNvPicPr>
          <p:nvPr/>
        </p:nvPicPr>
        <p:blipFill>
          <a:blip r:embed="rId2" cstate="print"/>
          <a:srcRect/>
          <a:stretch>
            <a:fillRect/>
          </a:stretch>
        </p:blipFill>
        <p:spPr bwMode="auto">
          <a:xfrm>
            <a:off x="6629400" y="2057400"/>
            <a:ext cx="2286000" cy="2971800"/>
          </a:xfrm>
          <a:prstGeom prst="rect">
            <a:avLst/>
          </a:prstGeom>
          <a:noFill/>
        </p:spPr>
      </p:pic>
      <p:sp>
        <p:nvSpPr>
          <p:cNvPr id="2" name="Title 1"/>
          <p:cNvSpPr>
            <a:spLocks noGrp="1"/>
          </p:cNvSpPr>
          <p:nvPr>
            <p:ph type="title"/>
          </p:nvPr>
        </p:nvSpPr>
        <p:spPr/>
        <p:txBody>
          <a:bodyPr>
            <a:normAutofit fontScale="90000"/>
          </a:bodyPr>
          <a:lstStyle/>
          <a:p>
            <a:r>
              <a:rPr lang="en-US" dirty="0">
                <a:latin typeface="Calibri" pitchFamily="34" charset="0"/>
              </a:rPr>
              <a:t>Guidelines for Making Effective Decisions </a:t>
            </a:r>
            <a:endParaRPr lang="en-US" dirty="0"/>
          </a:p>
        </p:txBody>
      </p:sp>
      <p:sp>
        <p:nvSpPr>
          <p:cNvPr id="3" name="Content Placeholder 2"/>
          <p:cNvSpPr>
            <a:spLocks noGrp="1"/>
          </p:cNvSpPr>
          <p:nvPr>
            <p:ph idx="1"/>
          </p:nvPr>
        </p:nvSpPr>
        <p:spPr>
          <a:xfrm>
            <a:off x="381000" y="1752600"/>
            <a:ext cx="6248400" cy="4525963"/>
          </a:xfrm>
          <a:ln>
            <a:solidFill>
              <a:schemeClr val="accent1">
                <a:lumMod val="75000"/>
              </a:schemeClr>
            </a:solidFill>
          </a:ln>
        </p:spPr>
        <p:txBody>
          <a:bodyPr>
            <a:normAutofit fontScale="92500" lnSpcReduction="20000"/>
          </a:bodyPr>
          <a:lstStyle/>
          <a:p>
            <a:pPr lvl="0" fontAlgn="base" hangingPunct="0"/>
            <a:r>
              <a:rPr lang="en-US" dirty="0"/>
              <a:t>Build highly reliable </a:t>
            </a:r>
            <a:r>
              <a:rPr lang="en-US" dirty="0" err="1"/>
              <a:t>organisations</a:t>
            </a:r>
            <a:r>
              <a:rPr lang="en-US" dirty="0"/>
              <a:t> (HROs) that practice the following five habits:</a:t>
            </a:r>
          </a:p>
          <a:p>
            <a:pPr lvl="0" hangingPunct="0"/>
            <a:endParaRPr lang="en-US" sz="1900" dirty="0"/>
          </a:p>
          <a:p>
            <a:pPr marL="240030" lvl="0" indent="-514350" hangingPunct="0">
              <a:buFont typeface="+mj-lt"/>
              <a:buAutoNum type="arabicPeriod"/>
            </a:pPr>
            <a:r>
              <a:rPr lang="en-US" sz="2600" dirty="0"/>
              <a:t>Do not be tricked by your own success.</a:t>
            </a:r>
          </a:p>
          <a:p>
            <a:pPr marL="240030" lvl="0" indent="-514350" hangingPunct="0">
              <a:buFont typeface="+mj-lt"/>
              <a:buAutoNum type="arabicPeriod"/>
            </a:pPr>
            <a:endParaRPr lang="en-US" sz="2600" dirty="0"/>
          </a:p>
          <a:p>
            <a:pPr marL="240030" lvl="0" indent="-514350" hangingPunct="0">
              <a:buFont typeface="+mj-lt"/>
              <a:buAutoNum type="arabicPeriod"/>
            </a:pPr>
            <a:r>
              <a:rPr lang="en-US" sz="2600" dirty="0"/>
              <a:t>Defer to the experts on the front lines.</a:t>
            </a:r>
          </a:p>
          <a:p>
            <a:pPr marL="240030" lvl="0" indent="-514350" hangingPunct="0">
              <a:buFont typeface="+mj-lt"/>
              <a:buAutoNum type="arabicPeriod"/>
            </a:pPr>
            <a:endParaRPr lang="en-US" sz="2600" dirty="0"/>
          </a:p>
          <a:p>
            <a:pPr marL="240030" lvl="0" indent="-514350" hangingPunct="0">
              <a:buFont typeface="+mj-lt"/>
              <a:buAutoNum type="arabicPeriod"/>
            </a:pPr>
            <a:r>
              <a:rPr lang="en-US" sz="2600" dirty="0"/>
              <a:t>Let unexpected circumstances provide the solution.</a:t>
            </a:r>
          </a:p>
          <a:p>
            <a:pPr marL="240030" lvl="0" indent="-514350" hangingPunct="0">
              <a:buFont typeface="+mj-lt"/>
              <a:buAutoNum type="arabicPeriod"/>
            </a:pPr>
            <a:endParaRPr lang="en-US" sz="2600" dirty="0"/>
          </a:p>
          <a:p>
            <a:pPr marL="240030" lvl="0" indent="-514350" hangingPunct="0">
              <a:buFont typeface="+mj-lt"/>
              <a:buAutoNum type="arabicPeriod"/>
            </a:pPr>
            <a:r>
              <a:rPr lang="en-US" sz="2600" dirty="0"/>
              <a:t>Embrace complexity.</a:t>
            </a:r>
          </a:p>
          <a:p>
            <a:pPr marL="240030" lvl="0" indent="-514350" hangingPunct="0">
              <a:buFont typeface="+mj-lt"/>
              <a:buAutoNum type="arabicPeriod"/>
            </a:pPr>
            <a:endParaRPr lang="en-US" sz="2600" dirty="0"/>
          </a:p>
          <a:p>
            <a:pPr marL="240030" lvl="0" indent="-514350" hangingPunct="0">
              <a:buFont typeface="+mj-lt"/>
              <a:buAutoNum type="arabicPeriod"/>
            </a:pPr>
            <a:r>
              <a:rPr lang="en-US" sz="2600" dirty="0"/>
              <a:t>Anticipate, but also </a:t>
            </a:r>
            <a:r>
              <a:rPr lang="en-US" sz="2600" dirty="0" err="1"/>
              <a:t>recognise</a:t>
            </a:r>
            <a:r>
              <a:rPr lang="en-US" sz="2600" dirty="0"/>
              <a:t> the limits to your ability to anticipate.</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5867400" cy="1295400"/>
          </a:xfrm>
        </p:spPr>
        <p:txBody>
          <a:bodyPr>
            <a:normAutofit fontScale="90000"/>
          </a:bodyPr>
          <a:lstStyle/>
          <a:p>
            <a:r>
              <a:rPr lang="en-US" dirty="0"/>
              <a:t>Design Thinking  </a:t>
            </a:r>
            <a:br>
              <a:rPr lang="en-US" dirty="0"/>
            </a:br>
            <a:r>
              <a:rPr lang="en-US" dirty="0"/>
              <a:t>and Decision Making</a:t>
            </a:r>
          </a:p>
        </p:txBody>
      </p:sp>
      <p:pic>
        <p:nvPicPr>
          <p:cNvPr id="2050" name="Picture 2" descr="http://www.rachelstarobinsky.com/wp-content/uploads/2011/08/designthinking1.jpg"/>
          <p:cNvPicPr>
            <a:picLocks noChangeAspect="1" noChangeArrowheads="1"/>
          </p:cNvPicPr>
          <p:nvPr/>
        </p:nvPicPr>
        <p:blipFill>
          <a:blip r:embed="rId2" cstate="print"/>
          <a:srcRect/>
          <a:stretch>
            <a:fillRect/>
          </a:stretch>
        </p:blipFill>
        <p:spPr bwMode="auto">
          <a:xfrm>
            <a:off x="6553200" y="0"/>
            <a:ext cx="2876550" cy="2753270"/>
          </a:xfrm>
          <a:prstGeom prst="rect">
            <a:avLst/>
          </a:prstGeom>
          <a:noFill/>
        </p:spPr>
      </p:pic>
      <p:sp>
        <p:nvSpPr>
          <p:cNvPr id="3" name="Content Placeholder 2"/>
          <p:cNvSpPr>
            <a:spLocks noGrp="1"/>
          </p:cNvSpPr>
          <p:nvPr>
            <p:ph idx="1"/>
          </p:nvPr>
        </p:nvSpPr>
        <p:spPr>
          <a:xfrm>
            <a:off x="457200" y="1752600"/>
            <a:ext cx="8229600" cy="4953000"/>
          </a:xfrm>
        </p:spPr>
        <p:txBody>
          <a:bodyPr>
            <a:normAutofit lnSpcReduction="10000"/>
          </a:bodyPr>
          <a:lstStyle/>
          <a:p>
            <a:pPr marL="342900" indent="-342900" eaLnBrk="0" hangingPunct="0">
              <a:buFont typeface="Arial" charset="0"/>
              <a:buChar char="•"/>
            </a:pPr>
            <a:r>
              <a:rPr lang="en-US" sz="2400" b="1" dirty="0"/>
              <a:t>Design thinking  - </a:t>
            </a:r>
            <a:r>
              <a:rPr lang="en-US" sz="2400" dirty="0"/>
              <a:t>is described as “approaching management problems, as designers approach design problems”.</a:t>
            </a:r>
            <a:r>
              <a:rPr lang="en-US" sz="2400" dirty="0">
                <a:cs typeface="Arial" charset="0"/>
              </a:rPr>
              <a:t> </a:t>
            </a:r>
          </a:p>
          <a:p>
            <a:pPr marL="1156716" lvl="2" indent="-342900" eaLnBrk="0" hangingPunct="0">
              <a:buFont typeface="Arial" charset="0"/>
              <a:buChar char="•"/>
            </a:pPr>
            <a:r>
              <a:rPr lang="en-US" sz="1600" dirty="0">
                <a:cs typeface="Arial" charset="0"/>
              </a:rPr>
              <a:t>(Dunne &amp; Martin, 2006)</a:t>
            </a:r>
            <a:endParaRPr lang="en-US" sz="1600" dirty="0"/>
          </a:p>
          <a:p>
            <a:pPr marL="342900" indent="-342900" eaLnBrk="0" hangingPunct="0">
              <a:buFont typeface="Arial" charset="0"/>
              <a:buChar char="•"/>
            </a:pPr>
            <a:endParaRPr lang="en-US" sz="1200" dirty="0">
              <a:cs typeface="Arial" charset="0"/>
            </a:endParaRPr>
          </a:p>
          <a:p>
            <a:pPr hangingPunct="0"/>
            <a:r>
              <a:rPr lang="en-US" sz="2000" dirty="0"/>
              <a:t>It can be useful when identifying problems and when identifying and evaluating alternatives.</a:t>
            </a:r>
          </a:p>
          <a:p>
            <a:pPr marL="342900" indent="-342900" eaLnBrk="0" hangingPunct="0">
              <a:buFont typeface="Arial" charset="0"/>
              <a:buChar char="•"/>
            </a:pPr>
            <a:endParaRPr lang="en-US" sz="1200" dirty="0">
              <a:cs typeface="Arial" charset="0"/>
            </a:endParaRPr>
          </a:p>
          <a:p>
            <a:pPr marL="342900" indent="-342900" eaLnBrk="0" hangingPunct="0">
              <a:buFont typeface="Arial" charset="0"/>
              <a:buChar char="•"/>
            </a:pPr>
            <a:r>
              <a:rPr lang="en-US" sz="2000" dirty="0">
                <a:cs typeface="Arial" charset="0"/>
              </a:rPr>
              <a:t>The way managers approach decision making;</a:t>
            </a:r>
          </a:p>
          <a:p>
            <a:pPr marL="800100" lvl="1" indent="-342900" eaLnBrk="0" hangingPunct="0">
              <a:buFont typeface="Arial" charset="0"/>
              <a:buChar char="•"/>
            </a:pPr>
            <a:r>
              <a:rPr lang="en-US" sz="2000" dirty="0">
                <a:cs typeface="Arial" charset="0"/>
              </a:rPr>
              <a:t>using a rational and analytical mindset in identifying problems, </a:t>
            </a:r>
          </a:p>
          <a:p>
            <a:pPr marL="800100" lvl="1" indent="-342900" eaLnBrk="0" hangingPunct="0">
              <a:buFont typeface="Arial" charset="0"/>
              <a:buChar char="•"/>
            </a:pPr>
            <a:r>
              <a:rPr lang="en-US" sz="2000" dirty="0">
                <a:cs typeface="Arial" charset="0"/>
              </a:rPr>
              <a:t>coming up with alternatives, </a:t>
            </a:r>
          </a:p>
          <a:p>
            <a:pPr marL="800100" lvl="1" indent="-342900" eaLnBrk="0" hangingPunct="0">
              <a:buFont typeface="Arial" charset="0"/>
              <a:buChar char="•"/>
            </a:pPr>
            <a:r>
              <a:rPr lang="en-US" sz="2000" dirty="0">
                <a:cs typeface="Arial" charset="0"/>
              </a:rPr>
              <a:t>evaluating alternatives, </a:t>
            </a:r>
          </a:p>
          <a:p>
            <a:pPr marL="800100" lvl="1" indent="-342900" eaLnBrk="0" hangingPunct="0">
              <a:buFont typeface="Arial" charset="0"/>
              <a:buChar char="•"/>
            </a:pPr>
            <a:r>
              <a:rPr lang="en-US" sz="2000" dirty="0">
                <a:cs typeface="Arial" charset="0"/>
              </a:rPr>
              <a:t>and choosing one of those alternatives</a:t>
            </a:r>
          </a:p>
          <a:p>
            <a:pPr marL="342900" indent="-342900" eaLnBrk="0" hangingPunct="0">
              <a:buFont typeface="Arial" charset="0"/>
              <a:buChar char="•"/>
            </a:pPr>
            <a:endParaRPr lang="en-US" sz="2400" dirty="0">
              <a:cs typeface="Arial" charset="0"/>
            </a:endParaRPr>
          </a:p>
          <a:p>
            <a:pPr marL="342900" indent="-342900" eaLnBrk="0" hangingPunct="0">
              <a:buFont typeface="Arial" charset="0"/>
              <a:buChar char="•"/>
            </a:pPr>
            <a:r>
              <a:rPr lang="en-US" sz="2000" dirty="0">
                <a:cs typeface="Arial" charset="0"/>
              </a:rPr>
              <a:t>May not be best and certainly not the only choice in today’s environment ….</a:t>
            </a:r>
          </a:p>
          <a:p>
            <a:pPr marL="342900" indent="-342900" eaLnBrk="0" hangingPunct="0">
              <a:buFont typeface="Arial" charset="0"/>
              <a:buChar char="•"/>
            </a:pPr>
            <a:r>
              <a:rPr lang="en-US" sz="2000" dirty="0">
                <a:cs typeface="Arial" charset="0"/>
              </a:rPr>
              <a:t>…. That is  where ‘Design Thinking’ comes in. </a:t>
            </a:r>
          </a:p>
          <a:p>
            <a:pPr marL="342900" indent="-342900" eaLnBrk="0" hangingPunct="0">
              <a:spcBef>
                <a:spcPct val="20000"/>
              </a:spcBef>
              <a:buNone/>
            </a:pPr>
            <a:endParaRPr lang="en-GB"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99</a:t>
            </a:fld>
            <a:endParaRPr lang="en-US"/>
          </a:p>
        </p:txBody>
      </p:sp>
      <p:pic>
        <p:nvPicPr>
          <p:cNvPr id="134146" name="Picture 2" descr="https://encrypted-tbn0.gstatic.com/images?q=tbn:ANd9GcTKDXbyhmJ-b0c5JKPBR9UYdhEG2syVlV91zvzgGN0q_XmN-KITcg"/>
          <p:cNvPicPr>
            <a:picLocks noChangeAspect="1" noChangeArrowheads="1"/>
          </p:cNvPicPr>
          <p:nvPr/>
        </p:nvPicPr>
        <p:blipFill>
          <a:blip r:embed="rId2" cstate="print"/>
          <a:srcRect/>
          <a:stretch>
            <a:fillRect/>
          </a:stretch>
        </p:blipFill>
        <p:spPr bwMode="auto">
          <a:xfrm>
            <a:off x="1143000" y="1295400"/>
            <a:ext cx="6629400" cy="4743451"/>
          </a:xfrm>
          <a:prstGeom prst="rect">
            <a:avLst/>
          </a:prstGeom>
          <a:noFill/>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5410200" cy="1295400"/>
          </a:xfrm>
        </p:spPr>
        <p:txBody>
          <a:bodyPr>
            <a:noAutofit/>
          </a:bodyPr>
          <a:lstStyle/>
          <a:p>
            <a:r>
              <a:rPr lang="en-US" sz="4000" dirty="0"/>
              <a:t>Design Thinking  </a:t>
            </a:r>
            <a:br>
              <a:rPr lang="en-US" sz="4000" dirty="0"/>
            </a:br>
            <a:r>
              <a:rPr lang="en-US" sz="4000" dirty="0"/>
              <a:t>and Decision Making</a:t>
            </a:r>
          </a:p>
        </p:txBody>
      </p:sp>
      <p:sp>
        <p:nvSpPr>
          <p:cNvPr id="3" name="Content Placeholder 2"/>
          <p:cNvSpPr>
            <a:spLocks noGrp="1"/>
          </p:cNvSpPr>
          <p:nvPr>
            <p:ph idx="1"/>
          </p:nvPr>
        </p:nvSpPr>
        <p:spPr>
          <a:xfrm>
            <a:off x="457200" y="1981200"/>
            <a:ext cx="8229600" cy="4495800"/>
          </a:xfrm>
        </p:spPr>
        <p:txBody>
          <a:bodyPr>
            <a:noAutofit/>
          </a:bodyPr>
          <a:lstStyle/>
          <a:p>
            <a:r>
              <a:rPr lang="en-GB" sz="2400" dirty="0"/>
              <a:t>More organisations are beginning to recognise how design thinking can benefit them.</a:t>
            </a:r>
          </a:p>
          <a:p>
            <a:endParaRPr lang="en-GB" sz="2400" dirty="0"/>
          </a:p>
          <a:p>
            <a:r>
              <a:rPr lang="en-GB" sz="2400" dirty="0"/>
              <a:t>Apple has long been celebrated for its design thinking.</a:t>
            </a:r>
          </a:p>
          <a:p>
            <a:pPr lvl="1"/>
            <a:r>
              <a:rPr lang="en-GB" dirty="0"/>
              <a:t>The company's lead designer, Jonathan "</a:t>
            </a:r>
            <a:r>
              <a:rPr lang="en-GB" dirty="0" err="1"/>
              <a:t>Jony</a:t>
            </a:r>
            <a:r>
              <a:rPr lang="en-GB" dirty="0"/>
              <a:t>" </a:t>
            </a:r>
            <a:r>
              <a:rPr lang="en-GB" dirty="0" err="1"/>
              <a:t>Ive</a:t>
            </a:r>
            <a:r>
              <a:rPr lang="en-GB" dirty="0"/>
              <a:t>  (who was behind some of Apples most successful products, including the iPod and </a:t>
            </a:r>
            <a:r>
              <a:rPr lang="en-GB" dirty="0" err="1"/>
              <a:t>iPhone</a:t>
            </a:r>
            <a:r>
              <a:rPr lang="en-GB" dirty="0"/>
              <a:t> and was just knighted in the United Kingdom for services to design and enterprise)  said about Apple's design approach:</a:t>
            </a:r>
          </a:p>
          <a:p>
            <a:pPr lvl="2"/>
            <a:r>
              <a:rPr lang="en-GB" sz="2200" dirty="0"/>
              <a:t> "We try to develop products that seem somehow inevitable - that leave you with the sense that, that is the only possible solution that makes sense.” </a:t>
            </a:r>
          </a:p>
          <a:p>
            <a:pPr lvl="3"/>
            <a:r>
              <a:rPr lang="en-GB" dirty="0"/>
              <a:t>(Martin &amp; </a:t>
            </a:r>
            <a:r>
              <a:rPr lang="en-GB" dirty="0" err="1"/>
              <a:t>Euchner</a:t>
            </a:r>
            <a:r>
              <a:rPr lang="en-GB" dirty="0"/>
              <a:t>, 2012)</a:t>
            </a:r>
          </a:p>
          <a:p>
            <a:endParaRPr lang="en-GB" sz="3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100</a:t>
            </a:fld>
            <a:endParaRPr lang="en-US"/>
          </a:p>
        </p:txBody>
      </p:sp>
      <p:pic>
        <p:nvPicPr>
          <p:cNvPr id="28674" name="Picture 2" descr="http://cdn.news-sap.com/wp-content/blogs.dir/1/files/Deployment_Cockpit_Fotolia.jpg"/>
          <p:cNvPicPr>
            <a:picLocks noChangeAspect="1" noChangeArrowheads="1"/>
          </p:cNvPicPr>
          <p:nvPr/>
        </p:nvPicPr>
        <p:blipFill>
          <a:blip r:embed="rId2" cstate="print"/>
          <a:srcRect/>
          <a:stretch>
            <a:fillRect/>
          </a:stretch>
        </p:blipFill>
        <p:spPr bwMode="auto">
          <a:xfrm>
            <a:off x="6248400" y="0"/>
            <a:ext cx="2895600" cy="1743740"/>
          </a:xfrm>
          <a:prstGeom prst="rect">
            <a:avLst/>
          </a:prstGeom>
          <a:noFill/>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Autofit/>
          </a:bodyPr>
          <a:lstStyle/>
          <a:p>
            <a:r>
              <a:rPr lang="en-US" sz="3600" dirty="0"/>
              <a:t>Design Thinking and Decision Making</a:t>
            </a:r>
          </a:p>
        </p:txBody>
      </p:sp>
      <p:sp>
        <p:nvSpPr>
          <p:cNvPr id="3" name="Content Placeholder 2"/>
          <p:cNvSpPr>
            <a:spLocks noGrp="1"/>
          </p:cNvSpPr>
          <p:nvPr>
            <p:ph idx="1"/>
          </p:nvPr>
        </p:nvSpPr>
        <p:spPr>
          <a:xfrm>
            <a:off x="457200" y="1447800"/>
            <a:ext cx="8229600" cy="5105400"/>
          </a:xfrm>
        </p:spPr>
        <p:txBody>
          <a:bodyPr>
            <a:normAutofit fontScale="92500" lnSpcReduction="20000"/>
          </a:bodyPr>
          <a:lstStyle/>
          <a:p>
            <a:r>
              <a:rPr lang="en-GB" sz="2600" dirty="0"/>
              <a:t>“A traditional manager (educated in a business school, of course) would take the options that have been presented, and analyse them based on deductive reasoning and then select the one with the highest net present value.  However, using design thinking, a manager would say, "What is something completely new that would be lovely if it existed but doesn't now?”</a:t>
            </a:r>
          </a:p>
          <a:p>
            <a:pPr lvl="1"/>
            <a:r>
              <a:rPr lang="en-GB" sz="1900" dirty="0"/>
              <a:t>(Dunne and Martin, 2006)</a:t>
            </a:r>
            <a:endParaRPr lang="en-GB" sz="2700" dirty="0"/>
          </a:p>
          <a:p>
            <a:endParaRPr lang="en-GB" sz="3300" dirty="0"/>
          </a:p>
          <a:p>
            <a:r>
              <a:rPr lang="en-GB" sz="2600" i="1" dirty="0"/>
              <a:t>Design Thinking </a:t>
            </a:r>
            <a:r>
              <a:rPr lang="en-GB" sz="2600" dirty="0"/>
              <a:t>means opening up your perspective and gaining insights by using observation and inquiry skills and not relying simply on rational analysis. </a:t>
            </a:r>
          </a:p>
          <a:p>
            <a:endParaRPr lang="en-GB" sz="2600" dirty="0"/>
          </a:p>
          <a:p>
            <a:r>
              <a:rPr lang="en-GB" sz="2600" dirty="0"/>
              <a:t>This is not to say that rational analysis is not needed … what is suggested is that there is more needed in making effective decisions, especially in today's world. </a:t>
            </a:r>
          </a:p>
          <a:p>
            <a:pPr>
              <a:buNone/>
            </a:pPr>
            <a:endParaRPr lang="en-GB" sz="33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cstate="print"/>
          <a:srcRect/>
          <a:stretch>
            <a:fillRect/>
          </a:stretch>
        </p:blipFill>
        <p:spPr bwMode="auto">
          <a:xfrm>
            <a:off x="6934200" y="0"/>
            <a:ext cx="2209800" cy="2695904"/>
          </a:xfrm>
          <a:prstGeom prst="rect">
            <a:avLst/>
          </a:prstGeom>
          <a:noFill/>
          <a:ln w="9525">
            <a:noFill/>
            <a:miter lim="800000"/>
            <a:headEnd/>
            <a:tailEnd/>
          </a:ln>
        </p:spPr>
      </p:pic>
      <p:sp>
        <p:nvSpPr>
          <p:cNvPr id="2" name="Title 1"/>
          <p:cNvSpPr>
            <a:spLocks noGrp="1"/>
          </p:cNvSpPr>
          <p:nvPr>
            <p:ph type="title"/>
          </p:nvPr>
        </p:nvSpPr>
        <p:spPr>
          <a:xfrm>
            <a:off x="457200" y="304800"/>
            <a:ext cx="6400800" cy="990600"/>
          </a:xfrm>
        </p:spPr>
        <p:txBody>
          <a:bodyPr>
            <a:noAutofit/>
          </a:bodyPr>
          <a:lstStyle/>
          <a:p>
            <a:r>
              <a:rPr lang="en-US" sz="2800" dirty="0"/>
              <a:t>Design Thinking and Decision Making – </a:t>
            </a:r>
            <a:r>
              <a:rPr lang="en-US" sz="3200" dirty="0"/>
              <a:t>Example – Boeing Concept Centre</a:t>
            </a:r>
          </a:p>
        </p:txBody>
      </p:sp>
      <p:sp>
        <p:nvSpPr>
          <p:cNvPr id="3" name="Content Placeholder 2"/>
          <p:cNvSpPr>
            <a:spLocks noGrp="1"/>
          </p:cNvSpPr>
          <p:nvPr>
            <p:ph idx="1"/>
          </p:nvPr>
        </p:nvSpPr>
        <p:spPr>
          <a:xfrm>
            <a:off x="457200" y="1676400"/>
            <a:ext cx="8229600" cy="5181600"/>
          </a:xfrm>
        </p:spPr>
        <p:txBody>
          <a:bodyPr>
            <a:normAutofit fontScale="77500" lnSpcReduction="20000"/>
          </a:bodyPr>
          <a:lstStyle/>
          <a:p>
            <a:r>
              <a:rPr lang="en-GB" dirty="0"/>
              <a:t>The design thinking approach to decision making is                             at the heart of Boeing's Concept Centre, a                              developmental studio where engineers and designers                         create innovative concepts for airplane interiors                                 through research, prototypes, mock- ups, and interactive  workshops. </a:t>
            </a:r>
          </a:p>
          <a:p>
            <a:endParaRPr lang="en-GB" sz="2600" dirty="0"/>
          </a:p>
          <a:p>
            <a:r>
              <a:rPr lang="en-GB" dirty="0"/>
              <a:t>The goal of the centre is to help Boeing's airline provide their passengers and crew members with innovative products and services that enhance the flying experience. </a:t>
            </a:r>
          </a:p>
          <a:p>
            <a:endParaRPr lang="en-GB" sz="2600" dirty="0"/>
          </a:p>
          <a:p>
            <a:r>
              <a:rPr lang="en-GB" dirty="0"/>
              <a:t>In this photo, Alan Anderson, director of the centre, poses in a prototype of an inflatable crew rest module that features a sound system and adjustable recliner and that can be deflated to a fraction of its size for ease of installation and removal. </a:t>
            </a:r>
          </a:p>
          <a:p>
            <a:endParaRPr lang="en-GB" sz="2600" dirty="0"/>
          </a:p>
          <a:p>
            <a:r>
              <a:rPr lang="en-GB" dirty="0"/>
              <a:t>Design thinking has helped underscore Boeing's reputation as a customer-focused and innovative company.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normAutofit/>
          </a:bodyPr>
          <a:lstStyle/>
          <a:p>
            <a:r>
              <a:rPr lang="en-GB" sz="4000" dirty="0"/>
              <a:t>Design Thinking … not always easy!</a:t>
            </a:r>
            <a:endParaRPr lang="en-US" sz="4000"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103</a:t>
            </a:fld>
            <a:endParaRPr lang="en-US"/>
          </a:p>
        </p:txBody>
      </p:sp>
      <p:pic>
        <p:nvPicPr>
          <p:cNvPr id="135170" name="Picture 2" descr="http://tomfishburne.com.s3.amazonaws.com/site/wp-content/uploads/2012/02/120227.design1.jpg"/>
          <p:cNvPicPr>
            <a:picLocks noChangeAspect="1" noChangeArrowheads="1"/>
          </p:cNvPicPr>
          <p:nvPr/>
        </p:nvPicPr>
        <p:blipFill>
          <a:blip r:embed="rId2" cstate="print"/>
          <a:srcRect/>
          <a:stretch>
            <a:fillRect/>
          </a:stretch>
        </p:blipFill>
        <p:spPr bwMode="auto">
          <a:xfrm>
            <a:off x="762001" y="1600200"/>
            <a:ext cx="7696200" cy="4878601"/>
          </a:xfrm>
          <a:prstGeom prst="rect">
            <a:avLst/>
          </a:prstGeom>
          <a:noFill/>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28600"/>
            <a:ext cx="8229600" cy="685800"/>
          </a:xfrm>
        </p:spPr>
        <p:txBody>
          <a:bodyPr>
            <a:normAutofit fontScale="90000"/>
          </a:bodyPr>
          <a:lstStyle/>
          <a:p>
            <a:r>
              <a:rPr lang="en-GB" dirty="0"/>
              <a:t>Class Exercise</a:t>
            </a:r>
            <a:endParaRPr lang="en-US" dirty="0"/>
          </a:p>
        </p:txBody>
      </p:sp>
      <p:sp>
        <p:nvSpPr>
          <p:cNvPr id="7" name="Content Placeholder 6"/>
          <p:cNvSpPr>
            <a:spLocks noGrp="1"/>
          </p:cNvSpPr>
          <p:nvPr>
            <p:ph idx="1"/>
          </p:nvPr>
        </p:nvSpPr>
        <p:spPr>
          <a:xfrm>
            <a:off x="457200" y="914400"/>
            <a:ext cx="8305800" cy="5943600"/>
          </a:xfrm>
        </p:spPr>
        <p:txBody>
          <a:bodyPr>
            <a:normAutofit fontScale="70000" lnSpcReduction="20000"/>
          </a:bodyPr>
          <a:lstStyle/>
          <a:p>
            <a:r>
              <a:rPr lang="en-GB" dirty="0"/>
              <a:t>Being effective in decision making is something that managers obviously want. </a:t>
            </a:r>
          </a:p>
          <a:p>
            <a:endParaRPr lang="en-GB" dirty="0"/>
          </a:p>
          <a:p>
            <a:r>
              <a:rPr lang="en-GB" dirty="0"/>
              <a:t>What is involved with being a good decision maker? </a:t>
            </a:r>
          </a:p>
          <a:p>
            <a:endParaRPr lang="en-GB" dirty="0"/>
          </a:p>
          <a:p>
            <a:r>
              <a:rPr lang="en-GB" dirty="0"/>
              <a:t>Form groups of three to four students. </a:t>
            </a:r>
          </a:p>
          <a:p>
            <a:endParaRPr lang="en-GB" dirty="0"/>
          </a:p>
          <a:p>
            <a:r>
              <a:rPr lang="en-GB" dirty="0"/>
              <a:t>Discuss your experiences making decisions</a:t>
            </a:r>
          </a:p>
          <a:p>
            <a:pPr lvl="1"/>
            <a:r>
              <a:rPr lang="en-GB" dirty="0"/>
              <a:t> (e.g. buying a car or some other purchase,  choosing college, making summer or holiday  plans) </a:t>
            </a:r>
          </a:p>
          <a:p>
            <a:endParaRPr lang="en-GB" dirty="0"/>
          </a:p>
          <a:p>
            <a:r>
              <a:rPr lang="en-GB" dirty="0"/>
              <a:t>Each of you should share times when you felt you made good decisions. </a:t>
            </a:r>
          </a:p>
          <a:p>
            <a:endParaRPr lang="en-GB" dirty="0"/>
          </a:p>
          <a:p>
            <a:r>
              <a:rPr lang="en-GB" dirty="0"/>
              <a:t>Analyse what happened during that decision-making process that contributed to it being a good decision. </a:t>
            </a:r>
          </a:p>
          <a:p>
            <a:endParaRPr lang="en-GB" dirty="0"/>
          </a:p>
          <a:p>
            <a:r>
              <a:rPr lang="en-GB" dirty="0"/>
              <a:t>Now …  consider some decisions that you felt were bad. </a:t>
            </a:r>
          </a:p>
          <a:p>
            <a:pPr lvl="1"/>
            <a:r>
              <a:rPr lang="en-GB" sz="2900" dirty="0"/>
              <a:t>What happened to make them bad? </a:t>
            </a:r>
          </a:p>
          <a:p>
            <a:pPr lvl="1"/>
            <a:r>
              <a:rPr lang="en-GB" sz="2900" dirty="0"/>
              <a:t>What common characteristics, if any, did you identify among the good decisions? The bad decisions? </a:t>
            </a:r>
          </a:p>
          <a:p>
            <a:endParaRPr lang="en-GB" dirty="0"/>
          </a:p>
          <a:p>
            <a:r>
              <a:rPr lang="en-GB" dirty="0"/>
              <a:t>Come up with a bulleted list of practical suggestions for making good decisions.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normAutofit/>
          </a:bodyPr>
          <a:lstStyle/>
          <a:p>
            <a:r>
              <a:rPr lang="en-GB" dirty="0"/>
              <a:t>Reference List</a:t>
            </a:r>
            <a:endParaRPr lang="en-US" dirty="0"/>
          </a:p>
        </p:txBody>
      </p:sp>
      <p:sp>
        <p:nvSpPr>
          <p:cNvPr id="3" name="Content Placeholder 2"/>
          <p:cNvSpPr>
            <a:spLocks noGrp="1"/>
          </p:cNvSpPr>
          <p:nvPr>
            <p:ph idx="1"/>
          </p:nvPr>
        </p:nvSpPr>
        <p:spPr>
          <a:xfrm>
            <a:off x="457200" y="1524000"/>
            <a:ext cx="8229600" cy="5105400"/>
          </a:xfrm>
        </p:spPr>
        <p:txBody>
          <a:bodyPr>
            <a:normAutofit/>
          </a:bodyPr>
          <a:lstStyle/>
          <a:p>
            <a:r>
              <a:rPr lang="en-GB" sz="1800" dirty="0"/>
              <a:t>Dunne, D  and Martin, R.,  (2006) "Design Thinking and How It Will Change Management Education: An Interview and Discussion," </a:t>
            </a:r>
            <a:r>
              <a:rPr lang="en-GB" sz="1800" i="1" dirty="0"/>
              <a:t>Academy of Management Learning &amp; Education, December, p. 512.</a:t>
            </a:r>
          </a:p>
          <a:p>
            <a:endParaRPr lang="en-GB" sz="1800" i="1" dirty="0"/>
          </a:p>
          <a:p>
            <a:r>
              <a:rPr lang="en-GB" sz="1800" dirty="0" err="1"/>
              <a:t>Kahneman</a:t>
            </a:r>
            <a:r>
              <a:rPr lang="en-GB" sz="1800" dirty="0"/>
              <a:t>., D, </a:t>
            </a:r>
            <a:r>
              <a:rPr lang="en-GB" sz="1800" dirty="0" err="1"/>
              <a:t>Lovallo</a:t>
            </a:r>
            <a:r>
              <a:rPr lang="en-GB" sz="1800" dirty="0"/>
              <a:t>, D.  and </a:t>
            </a:r>
            <a:r>
              <a:rPr lang="en-GB" sz="1800" dirty="0" err="1"/>
              <a:t>Siboney</a:t>
            </a:r>
            <a:r>
              <a:rPr lang="en-GB" sz="1800" dirty="0"/>
              <a:t>, O., (2011) “Before You Make That Big Decision. </a:t>
            </a:r>
            <a:r>
              <a:rPr lang="en-GB" sz="1800" i="1" dirty="0"/>
              <a:t>Harvard Business Review, June , pp. 50-60</a:t>
            </a:r>
          </a:p>
          <a:p>
            <a:endParaRPr lang="en-US" sz="1800" i="1" dirty="0"/>
          </a:p>
          <a:p>
            <a:r>
              <a:rPr lang="en-US" sz="1800" i="1" dirty="0"/>
              <a:t>Martin, R.  and  </a:t>
            </a:r>
            <a:r>
              <a:rPr lang="en-US" sz="1800" i="1" dirty="0" err="1"/>
              <a:t>Euchner</a:t>
            </a:r>
            <a:r>
              <a:rPr lang="en-US" sz="1800" i="1" dirty="0"/>
              <a:t> , J. (2012)  "Design Thinking," Research Technology Management, </a:t>
            </a:r>
            <a:r>
              <a:rPr lang="en-US" sz="1800" dirty="0"/>
              <a:t>May/June </a:t>
            </a:r>
          </a:p>
          <a:p>
            <a:endParaRPr lang="en-GB" sz="1800" dirty="0"/>
          </a:p>
          <a:p>
            <a:r>
              <a:rPr lang="en-GB" sz="1800" dirty="0"/>
              <a:t>Robbins, S. and Coulter, M. (2104), </a:t>
            </a:r>
            <a:r>
              <a:rPr lang="en-GB" sz="1800" i="1" dirty="0"/>
              <a:t>Management</a:t>
            </a:r>
            <a:r>
              <a:rPr lang="en-GB" sz="1800" dirty="0"/>
              <a:t>, Pearson</a:t>
            </a:r>
            <a:endParaRPr lang="en-US" sz="1800" dirty="0"/>
          </a:p>
          <a:p>
            <a:endParaRPr lang="en-GB" sz="1800" i="1" dirty="0"/>
          </a:p>
          <a:p>
            <a:endParaRPr lang="en-GB" sz="1800"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105</a:t>
            </a:fld>
            <a:endParaRPr lang="en-US"/>
          </a:p>
        </p:txBody>
      </p:sp>
    </p:spTree>
  </p:cSld>
  <p:clrMapOvr>
    <a:masterClrMapping/>
  </p:clrMapOvr>
</p:sld>
</file>

<file path=ppt/theme/theme1.xml><?xml version="1.0" encoding="utf-8"?>
<a:theme xmlns:a="http://schemas.openxmlformats.org/drawingml/2006/main" name="Human">
  <a:themeElements>
    <a:clrScheme name="Custom 1">
      <a:dk1>
        <a:sysClr val="windowText" lastClr="000000"/>
      </a:dk1>
      <a:lt1>
        <a:srgbClr val="000000"/>
      </a:lt1>
      <a:dk2>
        <a:srgbClr val="9F1C00"/>
      </a:dk2>
      <a:lt2>
        <a:srgbClr val="EEECE1"/>
      </a:lt2>
      <a:accent1>
        <a:srgbClr val="FF881F"/>
      </a:accent1>
      <a:accent2>
        <a:srgbClr val="771C00"/>
      </a:accent2>
      <a:accent3>
        <a:srgbClr val="576A2C"/>
      </a:accent3>
      <a:accent4>
        <a:srgbClr val="A24D00"/>
      </a:accent4>
      <a:accent5>
        <a:srgbClr val="244872"/>
      </a:accent5>
      <a:accent6>
        <a:srgbClr val="5E341C"/>
      </a:accent6>
      <a:hlink>
        <a:srgbClr val="FF912E"/>
      </a:hlink>
      <a:folHlink>
        <a:srgbClr val="B5CB83"/>
      </a:folHlink>
    </a:clrScheme>
    <a:fontScheme name="Human">
      <a:majorFont>
        <a:latin typeface="Candara"/>
        <a:ea typeface=""/>
        <a:cs typeface=""/>
        <a:font script="Jpan" typeface="ＭＳ Ｐゴシック"/>
        <a:font script="Hang" typeface="HY견명조"/>
        <a:font script="Hans" typeface="华文新魏"/>
        <a:font script="Hant" typeface="新細明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ndara"/>
        <a:ea typeface=""/>
        <a:cs typeface=""/>
        <a:font script="Jpan" typeface="ＭＳ Ｐゴシック"/>
        <a:font script="Hang" typeface="HY견명조"/>
        <a:font script="Hans" typeface="华文楷体"/>
        <a:font script="Hant" typeface="新細明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Human">
      <a:fillStyleLst>
        <a:solidFill>
          <a:schemeClr val="phClr"/>
        </a:solidFill>
        <a:gradFill>
          <a:gsLst>
            <a:gs pos="0">
              <a:schemeClr val="phClr">
                <a:tint val="30000"/>
                <a:satMod val="175000"/>
              </a:schemeClr>
            </a:gs>
            <a:gs pos="50000">
              <a:schemeClr val="phClr">
                <a:tint val="55000"/>
                <a:satMod val="200000"/>
              </a:schemeClr>
            </a:gs>
            <a:gs pos="70000">
              <a:schemeClr val="phClr">
                <a:tint val="70000"/>
                <a:satMod val="175000"/>
              </a:schemeClr>
            </a:gs>
            <a:gs pos="100000">
              <a:schemeClr val="phClr">
                <a:tint val="85000"/>
                <a:satMod val="175000"/>
              </a:schemeClr>
            </a:gs>
          </a:gsLst>
          <a:lin ang="8000000" scaled="1"/>
        </a:gradFill>
        <a:gradFill>
          <a:gsLst>
            <a:gs pos="0">
              <a:schemeClr val="phClr">
                <a:shade val="100000"/>
                <a:satMod val="140000"/>
              </a:schemeClr>
            </a:gs>
            <a:gs pos="40000">
              <a:schemeClr val="phClr">
                <a:shade val="65000"/>
                <a:satMod val="140000"/>
              </a:schemeClr>
            </a:gs>
            <a:gs pos="70000">
              <a:schemeClr val="phClr">
                <a:shade val="40000"/>
                <a:satMod val="115000"/>
              </a:schemeClr>
            </a:gs>
            <a:gs pos="100000">
              <a:schemeClr val="phClr">
                <a:shade val="20000"/>
                <a:satMod val="115000"/>
              </a:schemeClr>
            </a:gs>
          </a:gsLst>
          <a:lin ang="8000000" scaled="1"/>
        </a:gradFill>
      </a:fillStyleLst>
      <a:lnStyleLst>
        <a:ln w="5000" cap="rnd" cmpd="sng" algn="ctr">
          <a:solidFill>
            <a:schemeClr val="phClr"/>
          </a:solidFill>
          <a:prstDash val="solid"/>
        </a:ln>
        <a:ln w="12700" cap="rnd" cmpd="sng" algn="ctr">
          <a:solidFill>
            <a:schemeClr val="phClr"/>
          </a:solidFill>
          <a:prstDash val="solid"/>
        </a:ln>
        <a:ln w="28100" cap="rnd" cmpd="sng" algn="ctr">
          <a:solidFill>
            <a:schemeClr val="phClr"/>
          </a:solidFill>
          <a:prstDash val="solid"/>
        </a:ln>
      </a:lnStyleLst>
      <a:effectStyleLst>
        <a:effectStyle>
          <a:effectLst>
            <a:outerShdw blurRad="39000" dist="25400" dir="9000000" rotWithShape="0">
              <a:srgbClr val="1A0000">
                <a:alpha val="35000"/>
              </a:srgbClr>
            </a:outerShdw>
          </a:effectLst>
        </a:effectStyle>
        <a:effectStyle>
          <a:effectLst>
            <a:outerShdw blurRad="39000" dist="25400" dir="9000000" rotWithShape="0">
              <a:srgbClr val="1A0000">
                <a:alpha val="40000"/>
              </a:srgbClr>
            </a:outerShdw>
          </a:effectLst>
        </a:effectStyle>
        <a:effectStyle>
          <a:effectLst>
            <a:outerShdw blurRad="39000" dist="25400" dir="9000000" rotWithShape="0">
              <a:srgbClr val="000000">
                <a:alpha val="40000"/>
              </a:srgbClr>
            </a:outerShdw>
          </a:effectLst>
          <a:scene3d>
            <a:camera prst="orthographicFront">
              <a:rot lat="0" lon="0" rev="0"/>
            </a:camera>
            <a:lightRig rig="brightRoom" dir="tr">
              <a:rot lat="0" lon="0" rev="3540000"/>
            </a:lightRig>
          </a:scene3d>
          <a:sp3d prstMaterial="matte">
            <a:bevelT w="190500" h="44450" prst="cross"/>
          </a:sp3d>
        </a:effectStyle>
      </a:effectStyleLst>
      <a:bgFillStyleLst>
        <a:solidFill>
          <a:schemeClr val="phClr"/>
        </a:solidFill>
        <a:gradFill rotWithShape="1">
          <a:gsLst>
            <a:gs pos="0">
              <a:schemeClr val="phClr">
                <a:tint val="85000"/>
                <a:satMod val="275000"/>
              </a:schemeClr>
            </a:gs>
            <a:gs pos="3000">
              <a:schemeClr val="phClr">
                <a:tint val="87000"/>
                <a:satMod val="275000"/>
              </a:schemeClr>
            </a:gs>
            <a:gs pos="10000">
              <a:schemeClr val="phClr">
                <a:tint val="90000"/>
                <a:satMod val="275000"/>
              </a:schemeClr>
            </a:gs>
            <a:gs pos="70000">
              <a:schemeClr val="phClr">
                <a:shade val="38000"/>
                <a:satMod val="275000"/>
              </a:schemeClr>
            </a:gs>
            <a:gs pos="90000">
              <a:schemeClr val="phClr">
                <a:shade val="25000"/>
                <a:satMod val="300000"/>
              </a:schemeClr>
            </a:gs>
            <a:gs pos="100000">
              <a:schemeClr val="phClr">
                <a:shade val="22000"/>
                <a:satMod val="300000"/>
              </a:schemeClr>
            </a:gs>
          </a:gsLst>
          <a:path path="circle">
            <a:fillToRect l="60000" t="-3300" b="200000"/>
          </a:path>
        </a:gradFill>
        <a:gradFill rotWithShape="1">
          <a:gsLst>
            <a:gs pos="0">
              <a:schemeClr val="phClr">
                <a:tint val="57000"/>
                <a:satMod val="400000"/>
              </a:schemeClr>
            </a:gs>
            <a:gs pos="100000">
              <a:schemeClr val="phClr">
                <a:tint val="87000"/>
                <a:shade val="40000"/>
                <a:satMod val="5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Human</Template>
  <TotalTime>1798</TotalTime>
  <Words>5919</Words>
  <Application>Microsoft Office PowerPoint</Application>
  <PresentationFormat>On-screen Show (4:3)</PresentationFormat>
  <Paragraphs>675</Paragraphs>
  <Slides>105</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105</vt:i4>
      </vt:variant>
    </vt:vector>
  </HeadingPairs>
  <TitlesOfParts>
    <vt:vector size="110" baseType="lpstr">
      <vt:lpstr>Arial</vt:lpstr>
      <vt:lpstr>Calibri</vt:lpstr>
      <vt:lpstr>Candara</vt:lpstr>
      <vt:lpstr>Wingdings 2</vt:lpstr>
      <vt:lpstr>Human</vt:lpstr>
      <vt:lpstr>Decision Making </vt:lpstr>
      <vt:lpstr>Areas discussed include….</vt:lpstr>
      <vt:lpstr>Video Clip</vt:lpstr>
      <vt:lpstr>PowerPoint Presentation</vt:lpstr>
      <vt:lpstr>The Decision Making Process</vt:lpstr>
      <vt:lpstr>PowerPoint Presentation</vt:lpstr>
      <vt:lpstr>Quotes on Decision Making</vt:lpstr>
      <vt:lpstr>PowerPoint Presentation</vt:lpstr>
      <vt:lpstr>The Decision Making Process</vt:lpstr>
      <vt:lpstr>Decision Making Process (Source: Robbins &amp; Coulter, 2014)</vt:lpstr>
      <vt:lpstr>PowerPoint Presentation</vt:lpstr>
      <vt:lpstr>The Decision-Making Process: Step 1</vt:lpstr>
      <vt:lpstr>“I need you to identify the problem.   Here’s your mirror”</vt:lpstr>
      <vt:lpstr>The Decision-Making Process: Step 1</vt:lpstr>
      <vt:lpstr>The Decision-Making Process: Step 2</vt:lpstr>
      <vt:lpstr>The Decision-Making Process: Step 3</vt:lpstr>
      <vt:lpstr>Important Decision Criteria  (for Amanda’s decision)</vt:lpstr>
      <vt:lpstr>The Decision-Making Process: Step 4</vt:lpstr>
      <vt:lpstr>Possible Alternatives  (for Amanda’s decision)</vt:lpstr>
      <vt:lpstr>The Decision-Making Process: Step 5</vt:lpstr>
      <vt:lpstr>The Decision-Making Process: Step 5</vt:lpstr>
      <vt:lpstr>Evaluation of Alternatives</vt:lpstr>
      <vt:lpstr>The Decision-Making Process: Step 6</vt:lpstr>
      <vt:lpstr>“OK, all those in favour of delegating decision making, shrug your shoulders”</vt:lpstr>
      <vt:lpstr>The Decision-Making Process: Step 7</vt:lpstr>
      <vt:lpstr>The Decision-Making Process: Step 8</vt:lpstr>
      <vt:lpstr>Decision Making Process (Source: Robbins &amp; Coulter, 2014)</vt:lpstr>
      <vt:lpstr>Managers Making Decisions</vt:lpstr>
      <vt:lpstr>How Decision Making Fits into the Four Functions of Management  (Source: Robbins &amp; Coulter, 2014)</vt:lpstr>
      <vt:lpstr>How Decision Making Fits into the Four Functions of Management (Source: Robbins &amp; Coulter, 2014)</vt:lpstr>
      <vt:lpstr>PowerPoint Presentation</vt:lpstr>
      <vt:lpstr>Making Decisions: Rationality</vt:lpstr>
      <vt:lpstr>PowerPoint Presentation</vt:lpstr>
      <vt:lpstr>Making Decisions: Rationality</vt:lpstr>
      <vt:lpstr>PowerPoint Presentation</vt:lpstr>
      <vt:lpstr>Making Decisions: Bounded Rationality</vt:lpstr>
      <vt:lpstr>PowerPoint Presentation</vt:lpstr>
      <vt:lpstr>Making Decisions:  Bounded Rationality</vt:lpstr>
      <vt:lpstr>Escalation of Commitment!</vt:lpstr>
      <vt:lpstr>Escalation of Commitment!</vt:lpstr>
      <vt:lpstr>Making Decisions:  The Role of Intuition</vt:lpstr>
      <vt:lpstr>5 Different Aspects of Intuition  (Source: Robbins &amp; Coulter, 2014)</vt:lpstr>
      <vt:lpstr>Intuition ….</vt:lpstr>
      <vt:lpstr>Making Decisions: The Role of Evidence-Based Management</vt:lpstr>
      <vt:lpstr>Making Decisions: The Role of Evidence-Based Management</vt:lpstr>
      <vt:lpstr>TYPES OF DECISIONS AND DECISION-MAKING CONDITIONS</vt:lpstr>
      <vt:lpstr>Types of Decisions:  Structured Problems </vt:lpstr>
      <vt:lpstr>Structured Problems and Programmed Decisions</vt:lpstr>
      <vt:lpstr>Structured Problems and Programmed Decisions</vt:lpstr>
      <vt:lpstr>Structured Problems and Programmed Decisions</vt:lpstr>
      <vt:lpstr>Structured Problems and Programmed Decisions </vt:lpstr>
      <vt:lpstr>Unstructured Problems and Non-Programmed Decisions</vt:lpstr>
      <vt:lpstr> Differences Between Programmed Versus Non- programmed Decisions (Source: Robbins &amp; Coulter, 2014)</vt:lpstr>
      <vt:lpstr>PowerPoint Presentation</vt:lpstr>
      <vt:lpstr>Decision-Making Conditions</vt:lpstr>
      <vt:lpstr>Decision-Making Conditions: Certainty</vt:lpstr>
      <vt:lpstr>Decision-Making Conditions:  Risk &amp; Uncertainty</vt:lpstr>
      <vt:lpstr>Decision-Making Conditions:  Risk &amp; Uncertainty</vt:lpstr>
      <vt:lpstr>PowerPoint Presentation</vt:lpstr>
      <vt:lpstr>Decision-Making Styles</vt:lpstr>
      <vt:lpstr>Decision-Making Styles</vt:lpstr>
      <vt:lpstr>Decision-Making Styles</vt:lpstr>
      <vt:lpstr>Decision-Making Biases  and Errors</vt:lpstr>
      <vt:lpstr> Common Decision-Making Biases  (Source: Robbins &amp; Coulter, 2014)</vt:lpstr>
      <vt:lpstr>Decision-Making Biases and Errors</vt:lpstr>
      <vt:lpstr>Overconfidence Bias</vt:lpstr>
      <vt:lpstr>Over confidence – always a bit risky!</vt:lpstr>
      <vt:lpstr>Decision-Making Biases and Errors</vt:lpstr>
      <vt:lpstr>Decision-Making Biases and Errors</vt:lpstr>
      <vt:lpstr>Anchoring Effect</vt:lpstr>
      <vt:lpstr>Decision-Making Biases and Errors</vt:lpstr>
      <vt:lpstr>Decision-Making Biases and Errors</vt:lpstr>
      <vt:lpstr>Confirmation Bias</vt:lpstr>
      <vt:lpstr>Decision-Making Biases and Errors</vt:lpstr>
      <vt:lpstr>Decision-Making Biases and Errors </vt:lpstr>
      <vt:lpstr>Example of Availability Bias</vt:lpstr>
      <vt:lpstr>PowerPoint Presentation</vt:lpstr>
      <vt:lpstr>Decision-Making Biases and Errors </vt:lpstr>
      <vt:lpstr>Decision-Making Biases and Errors</vt:lpstr>
      <vt:lpstr>Decision-Making Biases and Errors</vt:lpstr>
      <vt:lpstr>PowerPoint Presentation</vt:lpstr>
      <vt:lpstr>Decision-Making Biases and Errors</vt:lpstr>
      <vt:lpstr>Decision-Making Biases and Errors</vt:lpstr>
      <vt:lpstr>PowerPoint Presentation</vt:lpstr>
      <vt:lpstr> Common Decision-Making Biases  (Source: Robbins &amp; Coulter, 2014)</vt:lpstr>
      <vt:lpstr>Some Interesting Data Regarding Decision Making  (Source: Kahneman,  Lovallo  and Siboney, 2011) </vt:lpstr>
      <vt:lpstr>Decision Makers …..</vt:lpstr>
      <vt:lpstr>Overview of Managerial Decision Making</vt:lpstr>
      <vt:lpstr>An example of managerial decision making!!</vt:lpstr>
      <vt:lpstr>Overview of Managerial Decision Making (Source: Robbins &amp; Coulter, 2014)</vt:lpstr>
      <vt:lpstr>Effective Decision Making for Today’s World</vt:lpstr>
      <vt:lpstr>PowerPoint Presentation</vt:lpstr>
      <vt:lpstr>Guidelines for Making Effective Decisions</vt:lpstr>
      <vt:lpstr>Guidelines for Making Effective Decisions: Understanding Cultural Differences</vt:lpstr>
      <vt:lpstr>Guidelines for Making Effective Decisions</vt:lpstr>
      <vt:lpstr>Guidelines for Making Effective Decisions </vt:lpstr>
      <vt:lpstr>Guidelines for Making Effective Decisions </vt:lpstr>
      <vt:lpstr>Design Thinking   and Decision Making</vt:lpstr>
      <vt:lpstr>PowerPoint Presentation</vt:lpstr>
      <vt:lpstr>Design Thinking   and Decision Making</vt:lpstr>
      <vt:lpstr>Design Thinking and Decision Making</vt:lpstr>
      <vt:lpstr>Design Thinking and Decision Making – Example – Boeing Concept Centre</vt:lpstr>
      <vt:lpstr>Design Thinking … not always easy!</vt:lpstr>
      <vt:lpstr>Class Exercise</vt:lpstr>
      <vt:lpstr>Reference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Making</dc:title>
  <dc:creator>Orla Gregory</dc:creator>
  <cp:lastModifiedBy>orla gregory</cp:lastModifiedBy>
  <cp:revision>236</cp:revision>
  <dcterms:created xsi:type="dcterms:W3CDTF">2006-08-16T00:00:00Z</dcterms:created>
  <dcterms:modified xsi:type="dcterms:W3CDTF">2020-12-28T16:38:02Z</dcterms:modified>
</cp:coreProperties>
</file>