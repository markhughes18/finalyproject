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57" d="100"/>
          <a:sy n="57" d="100"/>
        </p:scale>
        <p:origin x="10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7C04D-FEE9-47CE-A46C-C60481A299B8}" type="datetimeFigureOut">
              <a:rPr lang="en-GB" smtClean="0"/>
              <a:t>01/06/2019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66C58-A262-4AA9-A832-4980E1EB97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8943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7C04D-FEE9-47CE-A46C-C60481A299B8}" type="datetimeFigureOut">
              <a:rPr lang="en-GB" smtClean="0"/>
              <a:t>01/06/2019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66C58-A262-4AA9-A832-4980E1EB97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1387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7C04D-FEE9-47CE-A46C-C60481A299B8}" type="datetimeFigureOut">
              <a:rPr lang="en-GB" smtClean="0"/>
              <a:t>01/06/2019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66C58-A262-4AA9-A832-4980E1EB97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3063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7C04D-FEE9-47CE-A46C-C60481A299B8}" type="datetimeFigureOut">
              <a:rPr lang="en-GB" smtClean="0"/>
              <a:t>01/06/2019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66C58-A262-4AA9-A832-4980E1EB97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5681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7C04D-FEE9-47CE-A46C-C60481A299B8}" type="datetimeFigureOut">
              <a:rPr lang="en-GB" smtClean="0"/>
              <a:t>01/06/2019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66C58-A262-4AA9-A832-4980E1EB97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498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7C04D-FEE9-47CE-A46C-C60481A299B8}" type="datetimeFigureOut">
              <a:rPr lang="en-GB" smtClean="0"/>
              <a:t>01/06/2019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66C58-A262-4AA9-A832-4980E1EB97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061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7C04D-FEE9-47CE-A46C-C60481A299B8}" type="datetimeFigureOut">
              <a:rPr lang="en-GB" smtClean="0"/>
              <a:t>01/06/2019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66C58-A262-4AA9-A832-4980E1EB97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4023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7C04D-FEE9-47CE-A46C-C60481A299B8}" type="datetimeFigureOut">
              <a:rPr lang="en-GB" smtClean="0"/>
              <a:t>01/06/2019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66C58-A262-4AA9-A832-4980E1EB97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3736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7C04D-FEE9-47CE-A46C-C60481A299B8}" type="datetimeFigureOut">
              <a:rPr lang="en-GB" smtClean="0"/>
              <a:t>01/06/2019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66C58-A262-4AA9-A832-4980E1EB97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0006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7C04D-FEE9-47CE-A46C-C60481A299B8}" type="datetimeFigureOut">
              <a:rPr lang="en-GB" smtClean="0"/>
              <a:t>01/06/2019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66C58-A262-4AA9-A832-4980E1EB97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164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7C04D-FEE9-47CE-A46C-C60481A299B8}" type="datetimeFigureOut">
              <a:rPr lang="en-GB" smtClean="0"/>
              <a:t>01/06/2019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66C58-A262-4AA9-A832-4980E1EB97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8554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7C04D-FEE9-47CE-A46C-C60481A299B8}" type="datetimeFigureOut">
              <a:rPr lang="en-GB" smtClean="0"/>
              <a:t>01/06/2019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66C58-A262-4AA9-A832-4980E1EB97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5373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Cultural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9203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Cultural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i="1" u="sng" dirty="0"/>
              <a:t>ability to interact effectively in multiple cultures </a:t>
            </a:r>
            <a:r>
              <a:rPr lang="en-GB" dirty="0"/>
              <a:t>is not a skill* possessed by all, it is however, becoming more important in today’s global business world.</a:t>
            </a:r>
          </a:p>
          <a:p>
            <a:r>
              <a:rPr lang="en-GB" dirty="0"/>
              <a:t>This skill* has been labelled CULTURAL INTELLIGENCE  whose measure is called (CQ) </a:t>
            </a:r>
            <a:r>
              <a:rPr lang="en-GB"/>
              <a:t>Cultural Quotient.</a:t>
            </a:r>
            <a:endParaRPr lang="en-GB" dirty="0"/>
          </a:p>
          <a:p>
            <a:r>
              <a:rPr lang="en-GB" dirty="0"/>
              <a:t>CQ has been defined as a “multifaceted competency consisting of </a:t>
            </a:r>
            <a:r>
              <a:rPr lang="en-GB" i="1" dirty="0"/>
              <a:t>cultural knowledge</a:t>
            </a:r>
            <a:r>
              <a:rPr lang="en-GB" dirty="0"/>
              <a:t>, the practice of </a:t>
            </a:r>
            <a:r>
              <a:rPr lang="en-GB" i="1" dirty="0"/>
              <a:t>mindfulness</a:t>
            </a:r>
            <a:r>
              <a:rPr lang="en-GB" dirty="0"/>
              <a:t>, and the repertoire of </a:t>
            </a:r>
            <a:r>
              <a:rPr lang="en-GB" i="1" dirty="0"/>
              <a:t>behavioural skills</a:t>
            </a:r>
            <a:r>
              <a:rPr lang="en-GB" dirty="0"/>
              <a:t>” (Thomas &amp; </a:t>
            </a:r>
            <a:r>
              <a:rPr lang="en-GB" dirty="0" err="1"/>
              <a:t>Inkson</a:t>
            </a:r>
            <a:r>
              <a:rPr lang="en-GB" dirty="0"/>
              <a:t>, 2004, pp.182-183)</a:t>
            </a:r>
          </a:p>
          <a:p>
            <a:r>
              <a:rPr lang="en-GB" dirty="0"/>
              <a:t>CQ is the capability allowing people to understand and act appropriately across a wide range of cultures (Thomas, 2006)</a:t>
            </a:r>
          </a:p>
        </p:txBody>
      </p:sp>
    </p:spTree>
    <p:extLst>
      <p:ext uri="{BB962C8B-B14F-4D97-AF65-F5344CB8AC3E}">
        <p14:creationId xmlns:p14="http://schemas.microsoft.com/office/powerpoint/2010/main" val="693430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Cultural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CQ is believed to be “a culture-free construct that applies across specific cultural circumstances” (Ng &amp; Early 2006, p.10)</a:t>
            </a:r>
          </a:p>
          <a:p>
            <a:r>
              <a:rPr lang="en-GB" dirty="0"/>
              <a:t>A person’s capability to adjust to diverse cultural situations and effectively adapt to these various cultural settings – (</a:t>
            </a:r>
            <a:r>
              <a:rPr lang="en-GB" dirty="0" err="1"/>
              <a:t>Ang</a:t>
            </a:r>
            <a:r>
              <a:rPr lang="en-GB" dirty="0"/>
              <a:t>, van Dyke &amp; </a:t>
            </a:r>
            <a:r>
              <a:rPr lang="en-GB" dirty="0" err="1"/>
              <a:t>Koh</a:t>
            </a:r>
            <a:r>
              <a:rPr lang="en-GB" dirty="0"/>
              <a:t>, 2006 &amp; Early &amp; </a:t>
            </a:r>
            <a:r>
              <a:rPr lang="en-GB" dirty="0" err="1"/>
              <a:t>Ang</a:t>
            </a:r>
            <a:r>
              <a:rPr lang="en-GB" dirty="0"/>
              <a:t>, 2003)</a:t>
            </a:r>
          </a:p>
          <a:p>
            <a:r>
              <a:rPr lang="en-GB" dirty="0"/>
              <a:t>CQ may be understood as the ability to engage in a set of behaviours that employs a set of skills and qualities that are tuned appropriately to the culture-based values and attitudes of the people with whom one interacts (Peterson, 2004)</a:t>
            </a:r>
          </a:p>
        </p:txBody>
      </p:sp>
    </p:spTree>
    <p:extLst>
      <p:ext uri="{BB962C8B-B14F-4D97-AF65-F5344CB8AC3E}">
        <p14:creationId xmlns:p14="http://schemas.microsoft.com/office/powerpoint/2010/main" val="3649161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Cultural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Having a strong CQ i.e. in order to be culturally intelligent, an individual needs to know how to suspend judgment of a situation until multiple cues can be assessed (Cf. critical thinking skills), as well as integrate and understand the knowledge gained </a:t>
            </a:r>
            <a:r>
              <a:rPr lang="en-GB" dirty="0" err="1"/>
              <a:t>feom</a:t>
            </a:r>
            <a:r>
              <a:rPr lang="en-GB" dirty="0"/>
              <a:t> the situation. (</a:t>
            </a:r>
            <a:r>
              <a:rPr lang="en-GB" dirty="0" err="1"/>
              <a:t>Triandis</a:t>
            </a:r>
            <a:r>
              <a:rPr lang="en-GB" dirty="0"/>
              <a:t>, 2006)</a:t>
            </a:r>
          </a:p>
          <a:p>
            <a:r>
              <a:rPr lang="en-GB" dirty="0"/>
              <a:t>Why are some individuals more effective than others in adapting to new cultural settings? What contributes to this ability?</a:t>
            </a:r>
          </a:p>
          <a:p>
            <a:r>
              <a:rPr lang="en-GB" dirty="0"/>
              <a:t>Multiple intelligences theory (</a:t>
            </a:r>
            <a:r>
              <a:rPr lang="en-GB" dirty="0" err="1"/>
              <a:t>Alon</a:t>
            </a:r>
            <a:r>
              <a:rPr lang="en-GB" dirty="0"/>
              <a:t> &amp; Higgins 2005; </a:t>
            </a:r>
            <a:r>
              <a:rPr lang="en-GB" dirty="0" err="1"/>
              <a:t>Ang</a:t>
            </a:r>
            <a:r>
              <a:rPr lang="en-GB" dirty="0"/>
              <a:t>, Van Dyne, Yee &amp; </a:t>
            </a:r>
            <a:r>
              <a:rPr lang="en-GB" dirty="0" err="1"/>
              <a:t>Koh</a:t>
            </a:r>
            <a:r>
              <a:rPr lang="en-GB" dirty="0"/>
              <a:t> 2004)</a:t>
            </a:r>
          </a:p>
        </p:txBody>
      </p:sp>
    </p:spTree>
    <p:extLst>
      <p:ext uri="{BB962C8B-B14F-4D97-AF65-F5344CB8AC3E}">
        <p14:creationId xmlns:p14="http://schemas.microsoft.com/office/powerpoint/2010/main" val="260087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Cultural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CQ comprises four parts:</a:t>
            </a:r>
          </a:p>
          <a:p>
            <a:pPr lvl="1"/>
            <a:r>
              <a:rPr lang="en-GB" dirty="0"/>
              <a:t>Meta-cognition</a:t>
            </a:r>
          </a:p>
          <a:p>
            <a:pPr lvl="1"/>
            <a:r>
              <a:rPr lang="en-GB" dirty="0"/>
              <a:t>Cognition</a:t>
            </a:r>
          </a:p>
          <a:p>
            <a:pPr lvl="1"/>
            <a:r>
              <a:rPr lang="en-GB" dirty="0"/>
              <a:t>Motivation</a:t>
            </a:r>
          </a:p>
          <a:p>
            <a:pPr lvl="1"/>
            <a:r>
              <a:rPr lang="en-GB" dirty="0"/>
              <a:t>Behaviour</a:t>
            </a:r>
          </a:p>
          <a:p>
            <a:r>
              <a:rPr lang="en-GB" dirty="0"/>
              <a:t>Typically, high CQ individuals use all four in unison (together)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4360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Cultural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Meta-cognition</a:t>
            </a:r>
          </a:p>
          <a:p>
            <a:pPr lvl="1"/>
            <a:r>
              <a:rPr lang="en-GB" dirty="0"/>
              <a:t> “ an individuals’ knowledge or control over cognitions leading to deep information processing”  ultimately an individual must be flexible in his/her self-concept* and have the ability to integrate new components into his/her self-concept (Early &amp; </a:t>
            </a:r>
            <a:r>
              <a:rPr lang="en-GB" dirty="0" err="1"/>
              <a:t>Ang</a:t>
            </a:r>
            <a:r>
              <a:rPr lang="en-GB" dirty="0"/>
              <a:t> 2003)</a:t>
            </a:r>
          </a:p>
          <a:p>
            <a:pPr lvl="1"/>
            <a:endParaRPr lang="en-GB" dirty="0"/>
          </a:p>
          <a:p>
            <a:r>
              <a:rPr lang="en-GB" dirty="0"/>
              <a:t>Cognition</a:t>
            </a:r>
          </a:p>
          <a:p>
            <a:pPr lvl="1"/>
            <a:r>
              <a:rPr lang="en-GB" dirty="0"/>
              <a:t>This refers to using knowledge of self, the social environment and information processing; with respect to CQ it involves the general knowledge about the structures of a culture</a:t>
            </a:r>
          </a:p>
          <a:p>
            <a:pPr lvl="1"/>
            <a:r>
              <a:rPr lang="en-GB" dirty="0"/>
              <a:t>Information gained from experience and education that involves specific norms, practices and conventions (universal facets and culture-specific differences)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1203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Cultural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Motivation</a:t>
            </a:r>
          </a:p>
          <a:p>
            <a:pPr lvl="1"/>
            <a:r>
              <a:rPr lang="en-GB" dirty="0"/>
              <a:t>This aspect of CQ  involves a person’s interest in learning &amp; functioning in cross-cultural situations (</a:t>
            </a:r>
            <a:r>
              <a:rPr lang="en-GB" dirty="0" err="1"/>
              <a:t>Ang</a:t>
            </a:r>
            <a:r>
              <a:rPr lang="en-GB" dirty="0"/>
              <a:t> et al, 2004) 3 primary motivators:</a:t>
            </a:r>
          </a:p>
          <a:p>
            <a:pPr lvl="2"/>
            <a:r>
              <a:rPr lang="en-GB" dirty="0"/>
              <a:t>Enhancement (wanting to feel good about oneself)</a:t>
            </a:r>
          </a:p>
          <a:p>
            <a:pPr lvl="2"/>
            <a:r>
              <a:rPr lang="en-GB" dirty="0"/>
              <a:t>Growth (wanting to challenge and improve oneself)</a:t>
            </a:r>
          </a:p>
          <a:p>
            <a:pPr lvl="2"/>
            <a:r>
              <a:rPr lang="en-GB" dirty="0"/>
              <a:t>Continuality  (desire for continuity)</a:t>
            </a:r>
          </a:p>
          <a:p>
            <a:pPr lvl="2"/>
            <a:r>
              <a:rPr lang="en-GB" dirty="0"/>
              <a:t>ENHANCEMENT-EFFICACY-CONSISTENCY</a:t>
            </a:r>
          </a:p>
          <a:p>
            <a:r>
              <a:rPr lang="en-GB" dirty="0"/>
              <a:t>Behaviour</a:t>
            </a:r>
          </a:p>
          <a:p>
            <a:pPr lvl="1"/>
            <a:r>
              <a:rPr lang="en-GB" dirty="0"/>
              <a:t>The action aspect of the construct – a person’s ability to exhibit the appropriate verbal and non-verbal behaviours when interacting with others from a different cultural background and to generally interact competently with individuals from diverse cultural backgrounds (Early and </a:t>
            </a:r>
            <a:r>
              <a:rPr lang="en-GB" dirty="0" err="1"/>
              <a:t>Ang</a:t>
            </a:r>
            <a:r>
              <a:rPr lang="en-GB"/>
              <a:t>, 2003) (Early 2003), (Thomas</a:t>
            </a:r>
            <a:r>
              <a:rPr lang="en-GB" dirty="0"/>
              <a:t>, 2006)</a:t>
            </a:r>
          </a:p>
        </p:txBody>
      </p:sp>
    </p:spTree>
    <p:extLst>
      <p:ext uri="{BB962C8B-B14F-4D97-AF65-F5344CB8AC3E}">
        <p14:creationId xmlns:p14="http://schemas.microsoft.com/office/powerpoint/2010/main" val="2453871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552</Words>
  <Application>Microsoft Office PowerPoint</Application>
  <PresentationFormat>Widescreen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Cultural Intelligence</vt:lpstr>
      <vt:lpstr>Cultural Intelligence</vt:lpstr>
      <vt:lpstr>Cultural Intelligence</vt:lpstr>
      <vt:lpstr>Cultural Intelligence</vt:lpstr>
      <vt:lpstr>Cultural Intelligence</vt:lpstr>
      <vt:lpstr>Cultural Intelligence</vt:lpstr>
      <vt:lpstr>Cultural Intelligence</vt:lpstr>
    </vt:vector>
  </TitlesOfParts>
  <Company>Dublin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Cultural Intelligence</dc:title>
  <dc:creator>Marc Gerard Gallagher</dc:creator>
  <cp:lastModifiedBy>Owner</cp:lastModifiedBy>
  <cp:revision>8</cp:revision>
  <dcterms:created xsi:type="dcterms:W3CDTF">2018-05-16T13:25:51Z</dcterms:created>
  <dcterms:modified xsi:type="dcterms:W3CDTF">2019-06-01T06:46:44Z</dcterms:modified>
</cp:coreProperties>
</file>