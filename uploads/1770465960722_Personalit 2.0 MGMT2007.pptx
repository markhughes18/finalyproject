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3" r:id="rId1"/>
  </p:sldMasterIdLst>
  <p:notesMasterIdLst>
    <p:notesMasterId r:id="rId84"/>
  </p:notesMasterIdLst>
  <p:sldIdLst>
    <p:sldId id="256" r:id="rId2"/>
    <p:sldId id="349" r:id="rId3"/>
    <p:sldId id="265" r:id="rId4"/>
    <p:sldId id="267" r:id="rId5"/>
    <p:sldId id="268" r:id="rId6"/>
    <p:sldId id="269" r:id="rId7"/>
    <p:sldId id="278" r:id="rId8"/>
    <p:sldId id="270" r:id="rId9"/>
    <p:sldId id="271" r:id="rId10"/>
    <p:sldId id="350" r:id="rId11"/>
    <p:sldId id="358" r:id="rId12"/>
    <p:sldId id="352" r:id="rId13"/>
    <p:sldId id="280" r:id="rId14"/>
    <p:sldId id="281" r:id="rId15"/>
    <p:sldId id="283" r:id="rId16"/>
    <p:sldId id="284" r:id="rId17"/>
    <p:sldId id="285" r:id="rId18"/>
    <p:sldId id="286" r:id="rId19"/>
    <p:sldId id="288" r:id="rId20"/>
    <p:sldId id="291" r:id="rId21"/>
    <p:sldId id="292" r:id="rId22"/>
    <p:sldId id="293" r:id="rId23"/>
    <p:sldId id="294" r:id="rId24"/>
    <p:sldId id="345" r:id="rId25"/>
    <p:sldId id="296" r:id="rId26"/>
    <p:sldId id="297" r:id="rId27"/>
    <p:sldId id="346" r:id="rId28"/>
    <p:sldId id="387" r:id="rId29"/>
    <p:sldId id="361" r:id="rId30"/>
    <p:sldId id="359" r:id="rId31"/>
    <p:sldId id="347" r:id="rId32"/>
    <p:sldId id="301" r:id="rId33"/>
    <p:sldId id="370" r:id="rId34"/>
    <p:sldId id="302" r:id="rId35"/>
    <p:sldId id="371" r:id="rId36"/>
    <p:sldId id="303" r:id="rId37"/>
    <p:sldId id="304" r:id="rId38"/>
    <p:sldId id="305" r:id="rId39"/>
    <p:sldId id="306" r:id="rId40"/>
    <p:sldId id="307" r:id="rId41"/>
    <p:sldId id="308" r:id="rId42"/>
    <p:sldId id="309" r:id="rId43"/>
    <p:sldId id="348" r:id="rId44"/>
    <p:sldId id="390" r:id="rId45"/>
    <p:sldId id="389" r:id="rId46"/>
    <p:sldId id="391" r:id="rId47"/>
    <p:sldId id="310" r:id="rId48"/>
    <p:sldId id="311" r:id="rId49"/>
    <p:sldId id="312" r:id="rId50"/>
    <p:sldId id="314" r:id="rId51"/>
    <p:sldId id="341" r:id="rId52"/>
    <p:sldId id="342" r:id="rId53"/>
    <p:sldId id="343" r:id="rId54"/>
    <p:sldId id="332" r:id="rId55"/>
    <p:sldId id="333" r:id="rId56"/>
    <p:sldId id="392" r:id="rId57"/>
    <p:sldId id="393" r:id="rId58"/>
    <p:sldId id="394" r:id="rId59"/>
    <p:sldId id="388" r:id="rId60"/>
    <p:sldId id="334" r:id="rId61"/>
    <p:sldId id="386" r:id="rId62"/>
    <p:sldId id="365" r:id="rId63"/>
    <p:sldId id="337" r:id="rId64"/>
    <p:sldId id="260" r:id="rId65"/>
    <p:sldId id="366" r:id="rId66"/>
    <p:sldId id="338" r:id="rId67"/>
    <p:sldId id="339" r:id="rId68"/>
    <p:sldId id="279" r:id="rId69"/>
    <p:sldId id="369" r:id="rId70"/>
    <p:sldId id="372" r:id="rId71"/>
    <p:sldId id="287" r:id="rId72"/>
    <p:sldId id="373" r:id="rId73"/>
    <p:sldId id="374" r:id="rId74"/>
    <p:sldId id="290" r:id="rId75"/>
    <p:sldId id="375" r:id="rId76"/>
    <p:sldId id="376" r:id="rId77"/>
    <p:sldId id="377" r:id="rId78"/>
    <p:sldId id="282" r:id="rId79"/>
    <p:sldId id="378" r:id="rId80"/>
    <p:sldId id="379" r:id="rId81"/>
    <p:sldId id="340" r:id="rId82"/>
    <p:sldId id="262" r:id="rId83"/>
  </p:sldIdLst>
  <p:sldSz cx="12192000" cy="6858000"/>
  <p:notesSz cx="6797675" cy="9928225"/>
  <p:custDataLst>
    <p:tags r:id="rId8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74" autoAdjust="0"/>
    <p:restoredTop sz="74212" autoAdjust="0"/>
  </p:normalViewPr>
  <p:slideViewPr>
    <p:cSldViewPr snapToGrid="0">
      <p:cViewPr varScale="1">
        <p:scale>
          <a:sx n="53" d="100"/>
          <a:sy n="53" d="100"/>
        </p:scale>
        <p:origin x="151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gs" Target="tags/tag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iagrams/_rels/data7.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png"/><Relationship Id="rId7" Type="http://schemas.openxmlformats.org/officeDocument/2006/relationships/image" Target="../media/image41.png"/><Relationship Id="rId12" Type="http://schemas.openxmlformats.org/officeDocument/2006/relationships/image" Target="../media/image46.sv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11" Type="http://schemas.openxmlformats.org/officeDocument/2006/relationships/image" Target="../media/image45.png"/><Relationship Id="rId5" Type="http://schemas.openxmlformats.org/officeDocument/2006/relationships/image" Target="../media/image39.png"/><Relationship Id="rId10" Type="http://schemas.openxmlformats.org/officeDocument/2006/relationships/image" Target="../media/image44.svg"/><Relationship Id="rId4" Type="http://schemas.openxmlformats.org/officeDocument/2006/relationships/image" Target="../media/image38.svg"/><Relationship Id="rId9" Type="http://schemas.openxmlformats.org/officeDocument/2006/relationships/image" Target="../media/image43.png"/></Relationships>
</file>

<file path=ppt/diagrams/_rels/drawing7.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png"/><Relationship Id="rId7" Type="http://schemas.openxmlformats.org/officeDocument/2006/relationships/image" Target="../media/image41.png"/><Relationship Id="rId12" Type="http://schemas.openxmlformats.org/officeDocument/2006/relationships/image" Target="../media/image46.sv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11" Type="http://schemas.openxmlformats.org/officeDocument/2006/relationships/image" Target="../media/image45.png"/><Relationship Id="rId5" Type="http://schemas.openxmlformats.org/officeDocument/2006/relationships/image" Target="../media/image39.png"/><Relationship Id="rId10" Type="http://schemas.openxmlformats.org/officeDocument/2006/relationships/image" Target="../media/image44.svg"/><Relationship Id="rId4" Type="http://schemas.openxmlformats.org/officeDocument/2006/relationships/image" Target="../media/image38.svg"/><Relationship Id="rId9" Type="http://schemas.openxmlformats.org/officeDocument/2006/relationships/image" Target="../media/image43.pn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A5B1A6-924B-423E-8F6A-9C9177FCEB66}"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FDC2A180-1848-49A3-85DC-9829B9359B46}">
      <dgm:prSet/>
      <dgm:spPr/>
      <dgm:t>
        <a:bodyPr/>
        <a:lstStyle/>
        <a:p>
          <a:r>
            <a:rPr lang="en-IE"/>
            <a:t>Assessment for suitability for promotion</a:t>
          </a:r>
          <a:endParaRPr lang="en-US"/>
        </a:p>
      </dgm:t>
    </dgm:pt>
    <dgm:pt modelId="{F6CC88B3-2EDA-4DA8-B433-9CDDB029BC8D}" type="parTrans" cxnId="{836B6DAE-E348-4F10-AC7D-58D221433C83}">
      <dgm:prSet/>
      <dgm:spPr/>
      <dgm:t>
        <a:bodyPr/>
        <a:lstStyle/>
        <a:p>
          <a:endParaRPr lang="en-US"/>
        </a:p>
      </dgm:t>
    </dgm:pt>
    <dgm:pt modelId="{4FF21408-1461-412D-851A-E119163DDB10}" type="sibTrans" cxnId="{836B6DAE-E348-4F10-AC7D-58D221433C83}">
      <dgm:prSet/>
      <dgm:spPr/>
      <dgm:t>
        <a:bodyPr/>
        <a:lstStyle/>
        <a:p>
          <a:endParaRPr lang="en-US"/>
        </a:p>
      </dgm:t>
    </dgm:pt>
    <dgm:pt modelId="{EF5A8E24-0012-4553-A492-06901D09575C}">
      <dgm:prSet/>
      <dgm:spPr/>
      <dgm:t>
        <a:bodyPr/>
        <a:lstStyle/>
        <a:p>
          <a:r>
            <a:rPr lang="en-IE"/>
            <a:t>Assessment for redeployment purposes</a:t>
          </a:r>
          <a:endParaRPr lang="en-US"/>
        </a:p>
      </dgm:t>
    </dgm:pt>
    <dgm:pt modelId="{5A25279C-60FD-48B6-B926-D6BD9EF97125}" type="parTrans" cxnId="{50BEF32E-55EE-4559-8A48-0F590157A13F}">
      <dgm:prSet/>
      <dgm:spPr/>
      <dgm:t>
        <a:bodyPr/>
        <a:lstStyle/>
        <a:p>
          <a:endParaRPr lang="en-US"/>
        </a:p>
      </dgm:t>
    </dgm:pt>
    <dgm:pt modelId="{D30C6427-FEE5-471C-BA7A-1F1182E3766B}" type="sibTrans" cxnId="{50BEF32E-55EE-4559-8A48-0F590157A13F}">
      <dgm:prSet/>
      <dgm:spPr/>
      <dgm:t>
        <a:bodyPr/>
        <a:lstStyle/>
        <a:p>
          <a:endParaRPr lang="en-US"/>
        </a:p>
      </dgm:t>
    </dgm:pt>
    <dgm:pt modelId="{C4D2437B-92A2-47C6-9DDE-5CDF2439FE89}">
      <dgm:prSet/>
      <dgm:spPr/>
      <dgm:t>
        <a:bodyPr/>
        <a:lstStyle/>
        <a:p>
          <a:r>
            <a:rPr lang="en-IE"/>
            <a:t>Evaluation of training potential</a:t>
          </a:r>
          <a:endParaRPr lang="en-US"/>
        </a:p>
      </dgm:t>
    </dgm:pt>
    <dgm:pt modelId="{68BCD337-3AB3-4D97-B2BC-071562709019}" type="parTrans" cxnId="{8EED52F1-8738-4FC5-BF24-1C8D04A29EAE}">
      <dgm:prSet/>
      <dgm:spPr/>
      <dgm:t>
        <a:bodyPr/>
        <a:lstStyle/>
        <a:p>
          <a:endParaRPr lang="en-US"/>
        </a:p>
      </dgm:t>
    </dgm:pt>
    <dgm:pt modelId="{BC43B93D-C108-4268-A415-9676E71DDC33}" type="sibTrans" cxnId="{8EED52F1-8738-4FC5-BF24-1C8D04A29EAE}">
      <dgm:prSet/>
      <dgm:spPr/>
      <dgm:t>
        <a:bodyPr/>
        <a:lstStyle/>
        <a:p>
          <a:endParaRPr lang="en-US"/>
        </a:p>
      </dgm:t>
    </dgm:pt>
    <dgm:pt modelId="{C93FC515-D852-4C7A-AB4D-B8525C94E2EA}">
      <dgm:prSet/>
      <dgm:spPr/>
      <dgm:t>
        <a:bodyPr/>
        <a:lstStyle/>
        <a:p>
          <a:r>
            <a:rPr lang="en-IE"/>
            <a:t>Team and leadership development</a:t>
          </a:r>
          <a:endParaRPr lang="en-US"/>
        </a:p>
      </dgm:t>
    </dgm:pt>
    <dgm:pt modelId="{E9E2E210-947D-4DD0-AC3A-E4B9BFB98D2E}" type="parTrans" cxnId="{31D9566D-6B55-4C10-B349-BE98C941F981}">
      <dgm:prSet/>
      <dgm:spPr/>
      <dgm:t>
        <a:bodyPr/>
        <a:lstStyle/>
        <a:p>
          <a:endParaRPr lang="en-US"/>
        </a:p>
      </dgm:t>
    </dgm:pt>
    <dgm:pt modelId="{76742982-4E83-4ACE-9EB4-755CA61A68DC}" type="sibTrans" cxnId="{31D9566D-6B55-4C10-B349-BE98C941F981}">
      <dgm:prSet/>
      <dgm:spPr/>
      <dgm:t>
        <a:bodyPr/>
        <a:lstStyle/>
        <a:p>
          <a:endParaRPr lang="en-US"/>
        </a:p>
      </dgm:t>
    </dgm:pt>
    <dgm:pt modelId="{60054597-3303-43D0-B177-A25E44DE745E}">
      <dgm:prSet/>
      <dgm:spPr/>
      <dgm:t>
        <a:bodyPr/>
        <a:lstStyle/>
        <a:p>
          <a:r>
            <a:rPr lang="en-IE"/>
            <a:t>Career counselling and development</a:t>
          </a:r>
          <a:endParaRPr lang="en-US"/>
        </a:p>
      </dgm:t>
    </dgm:pt>
    <dgm:pt modelId="{778D0B59-F713-4539-A414-3A1C04B427DC}" type="parTrans" cxnId="{542371C1-9A70-437D-95EE-CDA641F45F79}">
      <dgm:prSet/>
      <dgm:spPr/>
      <dgm:t>
        <a:bodyPr/>
        <a:lstStyle/>
        <a:p>
          <a:endParaRPr lang="en-US"/>
        </a:p>
      </dgm:t>
    </dgm:pt>
    <dgm:pt modelId="{DE9D40F1-3793-49B9-964F-5CA5510A70A8}" type="sibTrans" cxnId="{542371C1-9A70-437D-95EE-CDA641F45F79}">
      <dgm:prSet/>
      <dgm:spPr/>
      <dgm:t>
        <a:bodyPr/>
        <a:lstStyle/>
        <a:p>
          <a:endParaRPr lang="en-US"/>
        </a:p>
      </dgm:t>
    </dgm:pt>
    <dgm:pt modelId="{18846703-A256-4DB5-A547-88B949B6D64A}">
      <dgm:prSet/>
      <dgm:spPr/>
      <dgm:t>
        <a:bodyPr/>
        <a:lstStyle/>
        <a:p>
          <a:r>
            <a:rPr lang="en-IE"/>
            <a:t>Graduate recruitment</a:t>
          </a:r>
          <a:endParaRPr lang="en-US"/>
        </a:p>
      </dgm:t>
    </dgm:pt>
    <dgm:pt modelId="{D02FC73F-F9DF-4641-A2FD-0E1BB5431860}" type="parTrans" cxnId="{86A5D902-0931-4CBC-A594-280D9469DE5F}">
      <dgm:prSet/>
      <dgm:spPr/>
      <dgm:t>
        <a:bodyPr/>
        <a:lstStyle/>
        <a:p>
          <a:endParaRPr lang="en-US"/>
        </a:p>
      </dgm:t>
    </dgm:pt>
    <dgm:pt modelId="{91B315F0-0E0A-4F78-8E69-6ED4D2BCC774}" type="sibTrans" cxnId="{86A5D902-0931-4CBC-A594-280D9469DE5F}">
      <dgm:prSet/>
      <dgm:spPr/>
      <dgm:t>
        <a:bodyPr/>
        <a:lstStyle/>
        <a:p>
          <a:endParaRPr lang="en-US"/>
        </a:p>
      </dgm:t>
    </dgm:pt>
    <dgm:pt modelId="{9D0334B4-0F06-4E93-8A10-8F4E0B25657F}">
      <dgm:prSet/>
      <dgm:spPr/>
      <dgm:t>
        <a:bodyPr/>
        <a:lstStyle/>
        <a:p>
          <a:r>
            <a:rPr lang="en-IE"/>
            <a:t>Vocational guidance</a:t>
          </a:r>
          <a:endParaRPr lang="en-US"/>
        </a:p>
      </dgm:t>
    </dgm:pt>
    <dgm:pt modelId="{1C4401A7-8384-49DB-B918-57FA5B81B0AA}" type="parTrans" cxnId="{5CC4EE7C-3965-4DB3-8461-8C5F759002AF}">
      <dgm:prSet/>
      <dgm:spPr/>
      <dgm:t>
        <a:bodyPr/>
        <a:lstStyle/>
        <a:p>
          <a:endParaRPr lang="en-US"/>
        </a:p>
      </dgm:t>
    </dgm:pt>
    <dgm:pt modelId="{85FD9350-295A-4C18-AFDC-D7C932057368}" type="sibTrans" cxnId="{5CC4EE7C-3965-4DB3-8461-8C5F759002AF}">
      <dgm:prSet/>
      <dgm:spPr/>
      <dgm:t>
        <a:bodyPr/>
        <a:lstStyle/>
        <a:p>
          <a:endParaRPr lang="en-US"/>
        </a:p>
      </dgm:t>
    </dgm:pt>
    <dgm:pt modelId="{11F35AE8-26CB-4738-9AF0-2818D767664C}">
      <dgm:prSet/>
      <dgm:spPr/>
      <dgm:t>
        <a:bodyPr/>
        <a:lstStyle/>
        <a:p>
          <a:r>
            <a:rPr lang="en-IE"/>
            <a:t>Redundancy counselling</a:t>
          </a:r>
          <a:endParaRPr lang="en-US"/>
        </a:p>
      </dgm:t>
    </dgm:pt>
    <dgm:pt modelId="{B3B30F77-5AA4-4B6D-9AA1-56189BE4D98F}" type="parTrans" cxnId="{397A5F2D-5D81-4170-A9DD-0B80B340D43B}">
      <dgm:prSet/>
      <dgm:spPr/>
      <dgm:t>
        <a:bodyPr/>
        <a:lstStyle/>
        <a:p>
          <a:endParaRPr lang="en-US"/>
        </a:p>
      </dgm:t>
    </dgm:pt>
    <dgm:pt modelId="{3AAEF9AA-93DA-4C34-9F9F-9A5CB1D515B4}" type="sibTrans" cxnId="{397A5F2D-5D81-4170-A9DD-0B80B340D43B}">
      <dgm:prSet/>
      <dgm:spPr/>
      <dgm:t>
        <a:bodyPr/>
        <a:lstStyle/>
        <a:p>
          <a:endParaRPr lang="en-US"/>
        </a:p>
      </dgm:t>
    </dgm:pt>
    <dgm:pt modelId="{9EA4018A-699C-4B49-B323-85E8DF4A8FF8}" type="pres">
      <dgm:prSet presAssocID="{18A5B1A6-924B-423E-8F6A-9C9177FCEB66}" presName="vert0" presStyleCnt="0">
        <dgm:presLayoutVars>
          <dgm:dir/>
          <dgm:animOne val="branch"/>
          <dgm:animLvl val="lvl"/>
        </dgm:presLayoutVars>
      </dgm:prSet>
      <dgm:spPr/>
    </dgm:pt>
    <dgm:pt modelId="{0AD33119-EB1E-42A2-AF86-6A03D7EBF7F7}" type="pres">
      <dgm:prSet presAssocID="{FDC2A180-1848-49A3-85DC-9829B9359B46}" presName="thickLine" presStyleLbl="alignNode1" presStyleIdx="0" presStyleCnt="8"/>
      <dgm:spPr/>
    </dgm:pt>
    <dgm:pt modelId="{C81C6B95-FA83-428B-874B-8C2019D92A2D}" type="pres">
      <dgm:prSet presAssocID="{FDC2A180-1848-49A3-85DC-9829B9359B46}" presName="horz1" presStyleCnt="0"/>
      <dgm:spPr/>
    </dgm:pt>
    <dgm:pt modelId="{D7EAE19A-AC48-41F3-8394-384711957F72}" type="pres">
      <dgm:prSet presAssocID="{FDC2A180-1848-49A3-85DC-9829B9359B46}" presName="tx1" presStyleLbl="revTx" presStyleIdx="0" presStyleCnt="8"/>
      <dgm:spPr/>
    </dgm:pt>
    <dgm:pt modelId="{6F97B7CC-4AC2-49C0-BABE-FC18D76F61EE}" type="pres">
      <dgm:prSet presAssocID="{FDC2A180-1848-49A3-85DC-9829B9359B46}" presName="vert1" presStyleCnt="0"/>
      <dgm:spPr/>
    </dgm:pt>
    <dgm:pt modelId="{C366A252-9136-4237-8CAF-E6CFF47B2B45}" type="pres">
      <dgm:prSet presAssocID="{EF5A8E24-0012-4553-A492-06901D09575C}" presName="thickLine" presStyleLbl="alignNode1" presStyleIdx="1" presStyleCnt="8"/>
      <dgm:spPr/>
    </dgm:pt>
    <dgm:pt modelId="{5B761E38-AE50-49FE-8756-600EC13A9028}" type="pres">
      <dgm:prSet presAssocID="{EF5A8E24-0012-4553-A492-06901D09575C}" presName="horz1" presStyleCnt="0"/>
      <dgm:spPr/>
    </dgm:pt>
    <dgm:pt modelId="{BAD33AC7-91F1-4E62-ACDB-1D37B11BC934}" type="pres">
      <dgm:prSet presAssocID="{EF5A8E24-0012-4553-A492-06901D09575C}" presName="tx1" presStyleLbl="revTx" presStyleIdx="1" presStyleCnt="8"/>
      <dgm:spPr/>
    </dgm:pt>
    <dgm:pt modelId="{4C790BD9-876D-46D5-A643-3F0B7C2D5B5C}" type="pres">
      <dgm:prSet presAssocID="{EF5A8E24-0012-4553-A492-06901D09575C}" presName="vert1" presStyleCnt="0"/>
      <dgm:spPr/>
    </dgm:pt>
    <dgm:pt modelId="{EC924A3F-E276-45A6-9B44-AB53B85CE6D6}" type="pres">
      <dgm:prSet presAssocID="{C4D2437B-92A2-47C6-9DDE-5CDF2439FE89}" presName="thickLine" presStyleLbl="alignNode1" presStyleIdx="2" presStyleCnt="8"/>
      <dgm:spPr/>
    </dgm:pt>
    <dgm:pt modelId="{A936A12A-CDDF-4ADB-8D65-FD9DEB7EBED5}" type="pres">
      <dgm:prSet presAssocID="{C4D2437B-92A2-47C6-9DDE-5CDF2439FE89}" presName="horz1" presStyleCnt="0"/>
      <dgm:spPr/>
    </dgm:pt>
    <dgm:pt modelId="{D2E403E6-F767-460A-BBF2-4B61A39F347B}" type="pres">
      <dgm:prSet presAssocID="{C4D2437B-92A2-47C6-9DDE-5CDF2439FE89}" presName="tx1" presStyleLbl="revTx" presStyleIdx="2" presStyleCnt="8"/>
      <dgm:spPr/>
    </dgm:pt>
    <dgm:pt modelId="{BD6DC088-712D-4C6A-8EAA-D9E83F03DC26}" type="pres">
      <dgm:prSet presAssocID="{C4D2437B-92A2-47C6-9DDE-5CDF2439FE89}" presName="vert1" presStyleCnt="0"/>
      <dgm:spPr/>
    </dgm:pt>
    <dgm:pt modelId="{06250951-12C1-41F8-B9F7-94E759E41F21}" type="pres">
      <dgm:prSet presAssocID="{C93FC515-D852-4C7A-AB4D-B8525C94E2EA}" presName="thickLine" presStyleLbl="alignNode1" presStyleIdx="3" presStyleCnt="8"/>
      <dgm:spPr/>
    </dgm:pt>
    <dgm:pt modelId="{CD08794B-B94F-4740-A70E-AFAD48B955D8}" type="pres">
      <dgm:prSet presAssocID="{C93FC515-D852-4C7A-AB4D-B8525C94E2EA}" presName="horz1" presStyleCnt="0"/>
      <dgm:spPr/>
    </dgm:pt>
    <dgm:pt modelId="{CEF4C800-CBC3-412E-B340-277F5C22A30D}" type="pres">
      <dgm:prSet presAssocID="{C93FC515-D852-4C7A-AB4D-B8525C94E2EA}" presName="tx1" presStyleLbl="revTx" presStyleIdx="3" presStyleCnt="8"/>
      <dgm:spPr/>
    </dgm:pt>
    <dgm:pt modelId="{8AC74497-EBBE-40DA-9C03-BD3183F22982}" type="pres">
      <dgm:prSet presAssocID="{C93FC515-D852-4C7A-AB4D-B8525C94E2EA}" presName="vert1" presStyleCnt="0"/>
      <dgm:spPr/>
    </dgm:pt>
    <dgm:pt modelId="{83319537-BB38-4D83-A336-7C8172FD6FF3}" type="pres">
      <dgm:prSet presAssocID="{60054597-3303-43D0-B177-A25E44DE745E}" presName="thickLine" presStyleLbl="alignNode1" presStyleIdx="4" presStyleCnt="8"/>
      <dgm:spPr/>
    </dgm:pt>
    <dgm:pt modelId="{9EF236B1-3296-41E7-96ED-43BB7243C554}" type="pres">
      <dgm:prSet presAssocID="{60054597-3303-43D0-B177-A25E44DE745E}" presName="horz1" presStyleCnt="0"/>
      <dgm:spPr/>
    </dgm:pt>
    <dgm:pt modelId="{772BFA36-2ED0-47E0-85A4-17482585B106}" type="pres">
      <dgm:prSet presAssocID="{60054597-3303-43D0-B177-A25E44DE745E}" presName="tx1" presStyleLbl="revTx" presStyleIdx="4" presStyleCnt="8"/>
      <dgm:spPr/>
    </dgm:pt>
    <dgm:pt modelId="{CBB9F24C-9DDC-40EB-8826-7E8C1C44B562}" type="pres">
      <dgm:prSet presAssocID="{60054597-3303-43D0-B177-A25E44DE745E}" presName="vert1" presStyleCnt="0"/>
      <dgm:spPr/>
    </dgm:pt>
    <dgm:pt modelId="{6A801664-DD2B-4172-B1E2-6452B126C647}" type="pres">
      <dgm:prSet presAssocID="{18846703-A256-4DB5-A547-88B949B6D64A}" presName="thickLine" presStyleLbl="alignNode1" presStyleIdx="5" presStyleCnt="8"/>
      <dgm:spPr/>
    </dgm:pt>
    <dgm:pt modelId="{CCB1CA57-3D6D-442C-B0DE-B19B74323291}" type="pres">
      <dgm:prSet presAssocID="{18846703-A256-4DB5-A547-88B949B6D64A}" presName="horz1" presStyleCnt="0"/>
      <dgm:spPr/>
    </dgm:pt>
    <dgm:pt modelId="{ECCE0025-E9CC-4C9C-82AF-2CE1BC02954B}" type="pres">
      <dgm:prSet presAssocID="{18846703-A256-4DB5-A547-88B949B6D64A}" presName="tx1" presStyleLbl="revTx" presStyleIdx="5" presStyleCnt="8"/>
      <dgm:spPr/>
    </dgm:pt>
    <dgm:pt modelId="{B2095CCC-ABDD-4DD5-AA3F-2C2E31642607}" type="pres">
      <dgm:prSet presAssocID="{18846703-A256-4DB5-A547-88B949B6D64A}" presName="vert1" presStyleCnt="0"/>
      <dgm:spPr/>
    </dgm:pt>
    <dgm:pt modelId="{26BA3F48-3AAB-4AA2-9A43-1FCEC43728B9}" type="pres">
      <dgm:prSet presAssocID="{9D0334B4-0F06-4E93-8A10-8F4E0B25657F}" presName="thickLine" presStyleLbl="alignNode1" presStyleIdx="6" presStyleCnt="8"/>
      <dgm:spPr/>
    </dgm:pt>
    <dgm:pt modelId="{5FFE8B70-02DD-4332-859A-D9EC7A3D7FFA}" type="pres">
      <dgm:prSet presAssocID="{9D0334B4-0F06-4E93-8A10-8F4E0B25657F}" presName="horz1" presStyleCnt="0"/>
      <dgm:spPr/>
    </dgm:pt>
    <dgm:pt modelId="{093B932C-8D31-4E19-84E6-3F7AB30B106F}" type="pres">
      <dgm:prSet presAssocID="{9D0334B4-0F06-4E93-8A10-8F4E0B25657F}" presName="tx1" presStyleLbl="revTx" presStyleIdx="6" presStyleCnt="8"/>
      <dgm:spPr/>
    </dgm:pt>
    <dgm:pt modelId="{648B36D9-64EE-41B3-AC70-B0CEBD37D6FF}" type="pres">
      <dgm:prSet presAssocID="{9D0334B4-0F06-4E93-8A10-8F4E0B25657F}" presName="vert1" presStyleCnt="0"/>
      <dgm:spPr/>
    </dgm:pt>
    <dgm:pt modelId="{4E79E3F2-04D1-47B3-BBC8-D968C18AF29E}" type="pres">
      <dgm:prSet presAssocID="{11F35AE8-26CB-4738-9AF0-2818D767664C}" presName="thickLine" presStyleLbl="alignNode1" presStyleIdx="7" presStyleCnt="8"/>
      <dgm:spPr/>
    </dgm:pt>
    <dgm:pt modelId="{B2991E67-AEEF-414E-90FF-0E26F5B7B9AC}" type="pres">
      <dgm:prSet presAssocID="{11F35AE8-26CB-4738-9AF0-2818D767664C}" presName="horz1" presStyleCnt="0"/>
      <dgm:spPr/>
    </dgm:pt>
    <dgm:pt modelId="{6E11BE84-D47D-4B6F-A13E-6068A8905F59}" type="pres">
      <dgm:prSet presAssocID="{11F35AE8-26CB-4738-9AF0-2818D767664C}" presName="tx1" presStyleLbl="revTx" presStyleIdx="7" presStyleCnt="8"/>
      <dgm:spPr/>
    </dgm:pt>
    <dgm:pt modelId="{1F913D59-AD0B-45D6-9C85-992C9067DC48}" type="pres">
      <dgm:prSet presAssocID="{11F35AE8-26CB-4738-9AF0-2818D767664C}" presName="vert1" presStyleCnt="0"/>
      <dgm:spPr/>
    </dgm:pt>
  </dgm:ptLst>
  <dgm:cxnLst>
    <dgm:cxn modelId="{86A5D902-0931-4CBC-A594-280D9469DE5F}" srcId="{18A5B1A6-924B-423E-8F6A-9C9177FCEB66}" destId="{18846703-A256-4DB5-A547-88B949B6D64A}" srcOrd="5" destOrd="0" parTransId="{D02FC73F-F9DF-4641-A2FD-0E1BB5431860}" sibTransId="{91B315F0-0E0A-4F78-8E69-6ED4D2BCC774}"/>
    <dgm:cxn modelId="{397A5F2D-5D81-4170-A9DD-0B80B340D43B}" srcId="{18A5B1A6-924B-423E-8F6A-9C9177FCEB66}" destId="{11F35AE8-26CB-4738-9AF0-2818D767664C}" srcOrd="7" destOrd="0" parTransId="{B3B30F77-5AA4-4B6D-9AA1-56189BE4D98F}" sibTransId="{3AAEF9AA-93DA-4C34-9F9F-9A5CB1D515B4}"/>
    <dgm:cxn modelId="{50BEF32E-55EE-4559-8A48-0F590157A13F}" srcId="{18A5B1A6-924B-423E-8F6A-9C9177FCEB66}" destId="{EF5A8E24-0012-4553-A492-06901D09575C}" srcOrd="1" destOrd="0" parTransId="{5A25279C-60FD-48B6-B926-D6BD9EF97125}" sibTransId="{D30C6427-FEE5-471C-BA7A-1F1182E3766B}"/>
    <dgm:cxn modelId="{C9909B33-4D52-4884-9F57-93C13849C447}" type="presOf" srcId="{60054597-3303-43D0-B177-A25E44DE745E}" destId="{772BFA36-2ED0-47E0-85A4-17482585B106}" srcOrd="0" destOrd="0" presId="urn:microsoft.com/office/officeart/2008/layout/LinedList"/>
    <dgm:cxn modelId="{725C0041-9532-4989-A868-927E1591DE10}" type="presOf" srcId="{C93FC515-D852-4C7A-AB4D-B8525C94E2EA}" destId="{CEF4C800-CBC3-412E-B340-277F5C22A30D}" srcOrd="0" destOrd="0" presId="urn:microsoft.com/office/officeart/2008/layout/LinedList"/>
    <dgm:cxn modelId="{0943DB64-2ADD-4A3B-82F8-1F1E7DA7B212}" type="presOf" srcId="{EF5A8E24-0012-4553-A492-06901D09575C}" destId="{BAD33AC7-91F1-4E62-ACDB-1D37B11BC934}" srcOrd="0" destOrd="0" presId="urn:microsoft.com/office/officeart/2008/layout/LinedList"/>
    <dgm:cxn modelId="{EAA37546-2AAD-4A01-96D2-EC43408CDA53}" type="presOf" srcId="{9D0334B4-0F06-4E93-8A10-8F4E0B25657F}" destId="{093B932C-8D31-4E19-84E6-3F7AB30B106F}" srcOrd="0" destOrd="0" presId="urn:microsoft.com/office/officeart/2008/layout/LinedList"/>
    <dgm:cxn modelId="{31D9566D-6B55-4C10-B349-BE98C941F981}" srcId="{18A5B1A6-924B-423E-8F6A-9C9177FCEB66}" destId="{C93FC515-D852-4C7A-AB4D-B8525C94E2EA}" srcOrd="3" destOrd="0" parTransId="{E9E2E210-947D-4DD0-AC3A-E4B9BFB98D2E}" sibTransId="{76742982-4E83-4ACE-9EB4-755CA61A68DC}"/>
    <dgm:cxn modelId="{5CC4EE7C-3965-4DB3-8461-8C5F759002AF}" srcId="{18A5B1A6-924B-423E-8F6A-9C9177FCEB66}" destId="{9D0334B4-0F06-4E93-8A10-8F4E0B25657F}" srcOrd="6" destOrd="0" parTransId="{1C4401A7-8384-49DB-B918-57FA5B81B0AA}" sibTransId="{85FD9350-295A-4C18-AFDC-D7C932057368}"/>
    <dgm:cxn modelId="{7C14AA96-18FF-48EE-92D9-760620601515}" type="presOf" srcId="{C4D2437B-92A2-47C6-9DDE-5CDF2439FE89}" destId="{D2E403E6-F767-460A-BBF2-4B61A39F347B}" srcOrd="0" destOrd="0" presId="urn:microsoft.com/office/officeart/2008/layout/LinedList"/>
    <dgm:cxn modelId="{836B6DAE-E348-4F10-AC7D-58D221433C83}" srcId="{18A5B1A6-924B-423E-8F6A-9C9177FCEB66}" destId="{FDC2A180-1848-49A3-85DC-9829B9359B46}" srcOrd="0" destOrd="0" parTransId="{F6CC88B3-2EDA-4DA8-B433-9CDDB029BC8D}" sibTransId="{4FF21408-1461-412D-851A-E119163DDB10}"/>
    <dgm:cxn modelId="{542371C1-9A70-437D-95EE-CDA641F45F79}" srcId="{18A5B1A6-924B-423E-8F6A-9C9177FCEB66}" destId="{60054597-3303-43D0-B177-A25E44DE745E}" srcOrd="4" destOrd="0" parTransId="{778D0B59-F713-4539-A414-3A1C04B427DC}" sibTransId="{DE9D40F1-3793-49B9-964F-5CA5510A70A8}"/>
    <dgm:cxn modelId="{166123D4-56AE-4260-BCCC-B20B9B9E455B}" type="presOf" srcId="{11F35AE8-26CB-4738-9AF0-2818D767664C}" destId="{6E11BE84-D47D-4B6F-A13E-6068A8905F59}" srcOrd="0" destOrd="0" presId="urn:microsoft.com/office/officeart/2008/layout/LinedList"/>
    <dgm:cxn modelId="{7B9190E2-D946-419D-9E77-D123EC80D0CD}" type="presOf" srcId="{18846703-A256-4DB5-A547-88B949B6D64A}" destId="{ECCE0025-E9CC-4C9C-82AF-2CE1BC02954B}" srcOrd="0" destOrd="0" presId="urn:microsoft.com/office/officeart/2008/layout/LinedList"/>
    <dgm:cxn modelId="{DFA8BCE4-2F1A-4592-BF5B-99B440E004A7}" type="presOf" srcId="{FDC2A180-1848-49A3-85DC-9829B9359B46}" destId="{D7EAE19A-AC48-41F3-8394-384711957F72}" srcOrd="0" destOrd="0" presId="urn:microsoft.com/office/officeart/2008/layout/LinedList"/>
    <dgm:cxn modelId="{B66A7DEE-2812-4450-87F0-88E749A273ED}" type="presOf" srcId="{18A5B1A6-924B-423E-8F6A-9C9177FCEB66}" destId="{9EA4018A-699C-4B49-B323-85E8DF4A8FF8}" srcOrd="0" destOrd="0" presId="urn:microsoft.com/office/officeart/2008/layout/LinedList"/>
    <dgm:cxn modelId="{8EED52F1-8738-4FC5-BF24-1C8D04A29EAE}" srcId="{18A5B1A6-924B-423E-8F6A-9C9177FCEB66}" destId="{C4D2437B-92A2-47C6-9DDE-5CDF2439FE89}" srcOrd="2" destOrd="0" parTransId="{68BCD337-3AB3-4D97-B2BC-071562709019}" sibTransId="{BC43B93D-C108-4268-A415-9676E71DDC33}"/>
    <dgm:cxn modelId="{A19C75D0-22B5-43D3-8E7C-B74E9C6618D8}" type="presParOf" srcId="{9EA4018A-699C-4B49-B323-85E8DF4A8FF8}" destId="{0AD33119-EB1E-42A2-AF86-6A03D7EBF7F7}" srcOrd="0" destOrd="0" presId="urn:microsoft.com/office/officeart/2008/layout/LinedList"/>
    <dgm:cxn modelId="{54800BEF-8552-4299-815C-E931EBF60CE0}" type="presParOf" srcId="{9EA4018A-699C-4B49-B323-85E8DF4A8FF8}" destId="{C81C6B95-FA83-428B-874B-8C2019D92A2D}" srcOrd="1" destOrd="0" presId="urn:microsoft.com/office/officeart/2008/layout/LinedList"/>
    <dgm:cxn modelId="{6E889110-1431-46D6-A961-E789E4E08CCE}" type="presParOf" srcId="{C81C6B95-FA83-428B-874B-8C2019D92A2D}" destId="{D7EAE19A-AC48-41F3-8394-384711957F72}" srcOrd="0" destOrd="0" presId="urn:microsoft.com/office/officeart/2008/layout/LinedList"/>
    <dgm:cxn modelId="{17770956-93E3-489A-B5C7-88DC791E9FE8}" type="presParOf" srcId="{C81C6B95-FA83-428B-874B-8C2019D92A2D}" destId="{6F97B7CC-4AC2-49C0-BABE-FC18D76F61EE}" srcOrd="1" destOrd="0" presId="urn:microsoft.com/office/officeart/2008/layout/LinedList"/>
    <dgm:cxn modelId="{D45FD8DE-8DA3-4B2C-B0AA-C72CCD04D655}" type="presParOf" srcId="{9EA4018A-699C-4B49-B323-85E8DF4A8FF8}" destId="{C366A252-9136-4237-8CAF-E6CFF47B2B45}" srcOrd="2" destOrd="0" presId="urn:microsoft.com/office/officeart/2008/layout/LinedList"/>
    <dgm:cxn modelId="{919277C6-931A-4210-9719-BD533B7673DA}" type="presParOf" srcId="{9EA4018A-699C-4B49-B323-85E8DF4A8FF8}" destId="{5B761E38-AE50-49FE-8756-600EC13A9028}" srcOrd="3" destOrd="0" presId="urn:microsoft.com/office/officeart/2008/layout/LinedList"/>
    <dgm:cxn modelId="{B4F407BB-464E-446E-9B9F-7F55DD0B6FCA}" type="presParOf" srcId="{5B761E38-AE50-49FE-8756-600EC13A9028}" destId="{BAD33AC7-91F1-4E62-ACDB-1D37B11BC934}" srcOrd="0" destOrd="0" presId="urn:microsoft.com/office/officeart/2008/layout/LinedList"/>
    <dgm:cxn modelId="{054DAEEB-1E9B-48FA-9750-BAEBFC296333}" type="presParOf" srcId="{5B761E38-AE50-49FE-8756-600EC13A9028}" destId="{4C790BD9-876D-46D5-A643-3F0B7C2D5B5C}" srcOrd="1" destOrd="0" presId="urn:microsoft.com/office/officeart/2008/layout/LinedList"/>
    <dgm:cxn modelId="{E68B4310-AB05-430A-8814-00548DA3E559}" type="presParOf" srcId="{9EA4018A-699C-4B49-B323-85E8DF4A8FF8}" destId="{EC924A3F-E276-45A6-9B44-AB53B85CE6D6}" srcOrd="4" destOrd="0" presId="urn:microsoft.com/office/officeart/2008/layout/LinedList"/>
    <dgm:cxn modelId="{F1BC7D6C-27E3-44FA-8571-09E89EFE748F}" type="presParOf" srcId="{9EA4018A-699C-4B49-B323-85E8DF4A8FF8}" destId="{A936A12A-CDDF-4ADB-8D65-FD9DEB7EBED5}" srcOrd="5" destOrd="0" presId="urn:microsoft.com/office/officeart/2008/layout/LinedList"/>
    <dgm:cxn modelId="{0550C8F2-A329-4D79-BCBB-700ECFDD67FD}" type="presParOf" srcId="{A936A12A-CDDF-4ADB-8D65-FD9DEB7EBED5}" destId="{D2E403E6-F767-460A-BBF2-4B61A39F347B}" srcOrd="0" destOrd="0" presId="urn:microsoft.com/office/officeart/2008/layout/LinedList"/>
    <dgm:cxn modelId="{CC498F72-BD72-4D63-ADEF-01FBAABFD178}" type="presParOf" srcId="{A936A12A-CDDF-4ADB-8D65-FD9DEB7EBED5}" destId="{BD6DC088-712D-4C6A-8EAA-D9E83F03DC26}" srcOrd="1" destOrd="0" presId="urn:microsoft.com/office/officeart/2008/layout/LinedList"/>
    <dgm:cxn modelId="{F8363B00-3737-4634-BCD5-0A4E910FEE09}" type="presParOf" srcId="{9EA4018A-699C-4B49-B323-85E8DF4A8FF8}" destId="{06250951-12C1-41F8-B9F7-94E759E41F21}" srcOrd="6" destOrd="0" presId="urn:microsoft.com/office/officeart/2008/layout/LinedList"/>
    <dgm:cxn modelId="{978D1978-B6CA-4E31-A142-95624226BA25}" type="presParOf" srcId="{9EA4018A-699C-4B49-B323-85E8DF4A8FF8}" destId="{CD08794B-B94F-4740-A70E-AFAD48B955D8}" srcOrd="7" destOrd="0" presId="urn:microsoft.com/office/officeart/2008/layout/LinedList"/>
    <dgm:cxn modelId="{06953ED8-F9DF-4503-8BD2-F04CA7A6C70B}" type="presParOf" srcId="{CD08794B-B94F-4740-A70E-AFAD48B955D8}" destId="{CEF4C800-CBC3-412E-B340-277F5C22A30D}" srcOrd="0" destOrd="0" presId="urn:microsoft.com/office/officeart/2008/layout/LinedList"/>
    <dgm:cxn modelId="{59FF4B95-FD9F-47E7-A1C4-91B0FB022AC2}" type="presParOf" srcId="{CD08794B-B94F-4740-A70E-AFAD48B955D8}" destId="{8AC74497-EBBE-40DA-9C03-BD3183F22982}" srcOrd="1" destOrd="0" presId="urn:microsoft.com/office/officeart/2008/layout/LinedList"/>
    <dgm:cxn modelId="{F8BA18CE-7FC5-4336-8C7A-73075F432986}" type="presParOf" srcId="{9EA4018A-699C-4B49-B323-85E8DF4A8FF8}" destId="{83319537-BB38-4D83-A336-7C8172FD6FF3}" srcOrd="8" destOrd="0" presId="urn:microsoft.com/office/officeart/2008/layout/LinedList"/>
    <dgm:cxn modelId="{59420A7B-7877-4514-8F67-3F8D3361FC1D}" type="presParOf" srcId="{9EA4018A-699C-4B49-B323-85E8DF4A8FF8}" destId="{9EF236B1-3296-41E7-96ED-43BB7243C554}" srcOrd="9" destOrd="0" presId="urn:microsoft.com/office/officeart/2008/layout/LinedList"/>
    <dgm:cxn modelId="{774A5E76-20B1-4867-AD29-CBEA8E9A04BC}" type="presParOf" srcId="{9EF236B1-3296-41E7-96ED-43BB7243C554}" destId="{772BFA36-2ED0-47E0-85A4-17482585B106}" srcOrd="0" destOrd="0" presId="urn:microsoft.com/office/officeart/2008/layout/LinedList"/>
    <dgm:cxn modelId="{1A516FF7-7448-4FA9-921A-039C22488CDD}" type="presParOf" srcId="{9EF236B1-3296-41E7-96ED-43BB7243C554}" destId="{CBB9F24C-9DDC-40EB-8826-7E8C1C44B562}" srcOrd="1" destOrd="0" presId="urn:microsoft.com/office/officeart/2008/layout/LinedList"/>
    <dgm:cxn modelId="{974F38DE-A079-40B9-9833-D7720C54C7DD}" type="presParOf" srcId="{9EA4018A-699C-4B49-B323-85E8DF4A8FF8}" destId="{6A801664-DD2B-4172-B1E2-6452B126C647}" srcOrd="10" destOrd="0" presId="urn:microsoft.com/office/officeart/2008/layout/LinedList"/>
    <dgm:cxn modelId="{4AC5A6F3-871C-4D6D-8D76-E5ECEAC534E6}" type="presParOf" srcId="{9EA4018A-699C-4B49-B323-85E8DF4A8FF8}" destId="{CCB1CA57-3D6D-442C-B0DE-B19B74323291}" srcOrd="11" destOrd="0" presId="urn:microsoft.com/office/officeart/2008/layout/LinedList"/>
    <dgm:cxn modelId="{AF693849-75B8-4FE7-B58B-FED50DB64E7B}" type="presParOf" srcId="{CCB1CA57-3D6D-442C-B0DE-B19B74323291}" destId="{ECCE0025-E9CC-4C9C-82AF-2CE1BC02954B}" srcOrd="0" destOrd="0" presId="urn:microsoft.com/office/officeart/2008/layout/LinedList"/>
    <dgm:cxn modelId="{79E43119-51B2-4BFC-97B3-F99982BD0643}" type="presParOf" srcId="{CCB1CA57-3D6D-442C-B0DE-B19B74323291}" destId="{B2095CCC-ABDD-4DD5-AA3F-2C2E31642607}" srcOrd="1" destOrd="0" presId="urn:microsoft.com/office/officeart/2008/layout/LinedList"/>
    <dgm:cxn modelId="{3D9B2CD9-B96C-49FD-902E-318915A5D2CD}" type="presParOf" srcId="{9EA4018A-699C-4B49-B323-85E8DF4A8FF8}" destId="{26BA3F48-3AAB-4AA2-9A43-1FCEC43728B9}" srcOrd="12" destOrd="0" presId="urn:microsoft.com/office/officeart/2008/layout/LinedList"/>
    <dgm:cxn modelId="{7A62033F-F656-4688-8B17-1EB7B9E83598}" type="presParOf" srcId="{9EA4018A-699C-4B49-B323-85E8DF4A8FF8}" destId="{5FFE8B70-02DD-4332-859A-D9EC7A3D7FFA}" srcOrd="13" destOrd="0" presId="urn:microsoft.com/office/officeart/2008/layout/LinedList"/>
    <dgm:cxn modelId="{D764B351-4736-45F5-9D00-913D0786FD27}" type="presParOf" srcId="{5FFE8B70-02DD-4332-859A-D9EC7A3D7FFA}" destId="{093B932C-8D31-4E19-84E6-3F7AB30B106F}" srcOrd="0" destOrd="0" presId="urn:microsoft.com/office/officeart/2008/layout/LinedList"/>
    <dgm:cxn modelId="{D59B0DAE-2238-4C82-A6F4-5DFE3624AC9D}" type="presParOf" srcId="{5FFE8B70-02DD-4332-859A-D9EC7A3D7FFA}" destId="{648B36D9-64EE-41B3-AC70-B0CEBD37D6FF}" srcOrd="1" destOrd="0" presId="urn:microsoft.com/office/officeart/2008/layout/LinedList"/>
    <dgm:cxn modelId="{7F6FB983-4393-4D75-A97A-0D89335AB424}" type="presParOf" srcId="{9EA4018A-699C-4B49-B323-85E8DF4A8FF8}" destId="{4E79E3F2-04D1-47B3-BBC8-D968C18AF29E}" srcOrd="14" destOrd="0" presId="urn:microsoft.com/office/officeart/2008/layout/LinedList"/>
    <dgm:cxn modelId="{224E0346-5C27-4046-99A3-4CCC8CFD1393}" type="presParOf" srcId="{9EA4018A-699C-4B49-B323-85E8DF4A8FF8}" destId="{B2991E67-AEEF-414E-90FF-0E26F5B7B9AC}" srcOrd="15" destOrd="0" presId="urn:microsoft.com/office/officeart/2008/layout/LinedList"/>
    <dgm:cxn modelId="{723CD182-BE61-4264-819D-21089A4C7FFA}" type="presParOf" srcId="{B2991E67-AEEF-414E-90FF-0E26F5B7B9AC}" destId="{6E11BE84-D47D-4B6F-A13E-6068A8905F59}" srcOrd="0" destOrd="0" presId="urn:microsoft.com/office/officeart/2008/layout/LinedList"/>
    <dgm:cxn modelId="{71DD7190-E415-46BF-8895-BF48405F4BC6}" type="presParOf" srcId="{B2991E67-AEEF-414E-90FF-0E26F5B7B9AC}" destId="{1F913D59-AD0B-45D6-9C85-992C9067DC4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E8AD3E5-761C-4B33-8866-7B140FAB1B71}"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3023FA44-1D65-4721-8DE6-B4A1444D6EAE}">
      <dgm:prSet/>
      <dgm:spPr/>
      <dgm:t>
        <a:bodyPr/>
        <a:lstStyle/>
        <a:p>
          <a:r>
            <a:rPr lang="en-GB"/>
            <a:t>Test results numerical, allowing direct comparison of candidates on same criterion</a:t>
          </a:r>
          <a:endParaRPr lang="en-US"/>
        </a:p>
      </dgm:t>
    </dgm:pt>
    <dgm:pt modelId="{6BCAECF3-B8DE-4381-A700-8C199A1C3F07}" type="parTrans" cxnId="{0F9C5AF9-C48F-4C67-BE46-FD9351270738}">
      <dgm:prSet/>
      <dgm:spPr/>
      <dgm:t>
        <a:bodyPr/>
        <a:lstStyle/>
        <a:p>
          <a:endParaRPr lang="en-US"/>
        </a:p>
      </dgm:t>
    </dgm:pt>
    <dgm:pt modelId="{7266823E-B537-4BD2-A083-35BBEE0EC96B}" type="sibTrans" cxnId="{0F9C5AF9-C48F-4C67-BE46-FD9351270738}">
      <dgm:prSet/>
      <dgm:spPr/>
      <dgm:t>
        <a:bodyPr/>
        <a:lstStyle/>
        <a:p>
          <a:endParaRPr lang="en-US"/>
        </a:p>
      </dgm:t>
    </dgm:pt>
    <dgm:pt modelId="{9D262A20-3F38-4E01-98D7-477F4729BF6F}">
      <dgm:prSet/>
      <dgm:spPr/>
      <dgm:t>
        <a:bodyPr/>
        <a:lstStyle/>
        <a:p>
          <a:r>
            <a:rPr lang="en-GB"/>
            <a:t>Provide hard data that can be evaluated for their predictive usefulness in later years</a:t>
          </a:r>
          <a:endParaRPr lang="en-US"/>
        </a:p>
      </dgm:t>
    </dgm:pt>
    <dgm:pt modelId="{9F741BD0-A1D7-44E5-9E08-9F4B98BDCF5B}" type="parTrans" cxnId="{7DA95E8E-7892-4737-BE7D-571A96F068A0}">
      <dgm:prSet/>
      <dgm:spPr/>
      <dgm:t>
        <a:bodyPr/>
        <a:lstStyle/>
        <a:p>
          <a:endParaRPr lang="en-US"/>
        </a:p>
      </dgm:t>
    </dgm:pt>
    <dgm:pt modelId="{0DEF82B9-85C0-4A6B-9EC4-9B4071B7E842}" type="sibTrans" cxnId="{7DA95E8E-7892-4737-BE7D-571A96F068A0}">
      <dgm:prSet/>
      <dgm:spPr/>
      <dgm:t>
        <a:bodyPr/>
        <a:lstStyle/>
        <a:p>
          <a:endParaRPr lang="en-US"/>
        </a:p>
      </dgm:t>
    </dgm:pt>
    <dgm:pt modelId="{EAAA6552-A996-42E2-ACDD-4199422044AE}">
      <dgm:prSet/>
      <dgm:spPr/>
      <dgm:t>
        <a:bodyPr/>
        <a:lstStyle/>
        <a:p>
          <a:r>
            <a:rPr lang="en-GB"/>
            <a:t>Provide explicit and specific results unlike interviews and references which can be value</a:t>
          </a:r>
          <a:endParaRPr lang="en-US"/>
        </a:p>
      </dgm:t>
    </dgm:pt>
    <dgm:pt modelId="{B2B042D6-84BC-45A3-A9FF-444B17B36B23}" type="parTrans" cxnId="{0648BC87-315C-4038-9F2B-4AE9ECCD54AE}">
      <dgm:prSet/>
      <dgm:spPr/>
      <dgm:t>
        <a:bodyPr/>
        <a:lstStyle/>
        <a:p>
          <a:endParaRPr lang="en-US"/>
        </a:p>
      </dgm:t>
    </dgm:pt>
    <dgm:pt modelId="{FBD937A4-4688-4C8D-8921-00C9A9101BB1}" type="sibTrans" cxnId="{0648BC87-315C-4038-9F2B-4AE9ECCD54AE}">
      <dgm:prSet/>
      <dgm:spPr/>
      <dgm:t>
        <a:bodyPr/>
        <a:lstStyle/>
        <a:p>
          <a:endParaRPr lang="en-US"/>
        </a:p>
      </dgm:t>
    </dgm:pt>
    <dgm:pt modelId="{7E4C1012-39C2-4737-9F4B-BA67CCF8ABE5}">
      <dgm:prSet/>
      <dgm:spPr/>
      <dgm:t>
        <a:bodyPr/>
        <a:lstStyle/>
        <a:p>
          <a:r>
            <a:rPr lang="en-GB"/>
            <a:t>Tests measures substance rather than image</a:t>
          </a:r>
          <a:endParaRPr lang="en-US"/>
        </a:p>
      </dgm:t>
    </dgm:pt>
    <dgm:pt modelId="{515B804E-927B-451A-A1C6-BDECAAF3267A}" type="parTrans" cxnId="{FC4A68DF-7BFE-4DF2-B172-E3FCD17A79B7}">
      <dgm:prSet/>
      <dgm:spPr/>
      <dgm:t>
        <a:bodyPr/>
        <a:lstStyle/>
        <a:p>
          <a:endParaRPr lang="en-US"/>
        </a:p>
      </dgm:t>
    </dgm:pt>
    <dgm:pt modelId="{7A111E0D-CE75-4AA3-87FD-A35863DB7546}" type="sibTrans" cxnId="{FC4A68DF-7BFE-4DF2-B172-E3FCD17A79B7}">
      <dgm:prSet/>
      <dgm:spPr/>
      <dgm:t>
        <a:bodyPr/>
        <a:lstStyle/>
        <a:p>
          <a:endParaRPr lang="en-US"/>
        </a:p>
      </dgm:t>
    </dgm:pt>
    <dgm:pt modelId="{FC92195E-79B6-430B-B06C-83B3ADF88429}">
      <dgm:prSet/>
      <dgm:spPr/>
      <dgm:t>
        <a:bodyPr/>
        <a:lstStyle/>
        <a:p>
          <a:r>
            <a:rPr lang="en-GB"/>
            <a:t>Tests are ‘scientific’, empirically based with a grounding in theory</a:t>
          </a:r>
          <a:endParaRPr lang="en-US"/>
        </a:p>
      </dgm:t>
    </dgm:pt>
    <dgm:pt modelId="{C1614F35-BCD2-4FC8-8727-061F87C1C8C3}" type="parTrans" cxnId="{8805336D-2A33-4840-8CE1-9FCBEB6A4806}">
      <dgm:prSet/>
      <dgm:spPr/>
      <dgm:t>
        <a:bodyPr/>
        <a:lstStyle/>
        <a:p>
          <a:endParaRPr lang="en-US"/>
        </a:p>
      </dgm:t>
    </dgm:pt>
    <dgm:pt modelId="{2FE5FDBA-1A89-4CAF-B47E-88C87417B7FE}" type="sibTrans" cxnId="{8805336D-2A33-4840-8CE1-9FCBEB6A4806}">
      <dgm:prSet/>
      <dgm:spPr/>
      <dgm:t>
        <a:bodyPr/>
        <a:lstStyle/>
        <a:p>
          <a:endParaRPr lang="en-US"/>
        </a:p>
      </dgm:t>
    </dgm:pt>
    <dgm:pt modelId="{D8CF43D9-A42F-4E73-B766-74C1ED04E87F}">
      <dgm:prSet/>
      <dgm:spPr/>
      <dgm:t>
        <a:bodyPr/>
        <a:lstStyle/>
        <a:p>
          <a:r>
            <a:rPr lang="en-GB"/>
            <a:t>Provide a conceptual language to users</a:t>
          </a:r>
          <a:endParaRPr lang="en-US"/>
        </a:p>
      </dgm:t>
    </dgm:pt>
    <dgm:pt modelId="{7D3B0F2C-D54C-437F-8FAF-DA4860EC30C1}" type="parTrans" cxnId="{45E8841D-632E-4643-A97B-7D547F623538}">
      <dgm:prSet/>
      <dgm:spPr/>
      <dgm:t>
        <a:bodyPr/>
        <a:lstStyle/>
        <a:p>
          <a:endParaRPr lang="en-US"/>
        </a:p>
      </dgm:t>
    </dgm:pt>
    <dgm:pt modelId="{52028686-8B36-4B43-BE76-F3BC6605B0BD}" type="sibTrans" cxnId="{45E8841D-632E-4643-A97B-7D547F623538}">
      <dgm:prSet/>
      <dgm:spPr/>
      <dgm:t>
        <a:bodyPr/>
        <a:lstStyle/>
        <a:p>
          <a:endParaRPr lang="en-US"/>
        </a:p>
      </dgm:t>
    </dgm:pt>
    <dgm:pt modelId="{88CA1F64-6098-45DD-B5A3-E40FF684EB57}">
      <dgm:prSet/>
      <dgm:spPr/>
      <dgm:t>
        <a:bodyPr/>
        <a:lstStyle/>
        <a:p>
          <a:r>
            <a:rPr lang="en-GB"/>
            <a:t>Empirical data from tests provide objective evidence to justify decisions</a:t>
          </a:r>
          <a:endParaRPr lang="en-US"/>
        </a:p>
      </dgm:t>
    </dgm:pt>
    <dgm:pt modelId="{EB61B471-6247-480F-A164-E35375AEB10B}" type="parTrans" cxnId="{0CBD3E5D-8F40-4078-9D8B-9E209B6D371D}">
      <dgm:prSet/>
      <dgm:spPr/>
      <dgm:t>
        <a:bodyPr/>
        <a:lstStyle/>
        <a:p>
          <a:endParaRPr lang="en-US"/>
        </a:p>
      </dgm:t>
    </dgm:pt>
    <dgm:pt modelId="{828D49B8-0A90-49A1-BF06-BAF0A8BA551A}" type="sibTrans" cxnId="{0CBD3E5D-8F40-4078-9D8B-9E209B6D371D}">
      <dgm:prSet/>
      <dgm:spPr/>
      <dgm:t>
        <a:bodyPr/>
        <a:lstStyle/>
        <a:p>
          <a:endParaRPr lang="en-US"/>
        </a:p>
      </dgm:t>
    </dgm:pt>
    <dgm:pt modelId="{641AFDEF-FA9A-4AEF-AB9E-E9E57D13FE51}">
      <dgm:prSet/>
      <dgm:spPr/>
      <dgm:t>
        <a:bodyPr/>
        <a:lstStyle/>
        <a:p>
          <a:r>
            <a:rPr lang="en-GB"/>
            <a:t>Provide insights and explanations for behaviour.</a:t>
          </a:r>
          <a:endParaRPr lang="en-US"/>
        </a:p>
      </dgm:t>
    </dgm:pt>
    <dgm:pt modelId="{39F2C0F7-83DF-45F4-BA0D-EA166A7DE848}" type="parTrans" cxnId="{46124E3A-54CC-4222-AB0E-04CF59C510B7}">
      <dgm:prSet/>
      <dgm:spPr/>
      <dgm:t>
        <a:bodyPr/>
        <a:lstStyle/>
        <a:p>
          <a:endParaRPr lang="en-US"/>
        </a:p>
      </dgm:t>
    </dgm:pt>
    <dgm:pt modelId="{8179BFCE-B6B4-4AA4-86F7-8AC800FFB016}" type="sibTrans" cxnId="{46124E3A-54CC-4222-AB0E-04CF59C510B7}">
      <dgm:prSet/>
      <dgm:spPr/>
      <dgm:t>
        <a:bodyPr/>
        <a:lstStyle/>
        <a:p>
          <a:endParaRPr lang="en-US"/>
        </a:p>
      </dgm:t>
    </dgm:pt>
    <dgm:pt modelId="{40613FEE-BDB0-416F-821F-FDF3853A36F1}" type="pres">
      <dgm:prSet presAssocID="{9E8AD3E5-761C-4B33-8866-7B140FAB1B71}" presName="vert0" presStyleCnt="0">
        <dgm:presLayoutVars>
          <dgm:dir/>
          <dgm:animOne val="branch"/>
          <dgm:animLvl val="lvl"/>
        </dgm:presLayoutVars>
      </dgm:prSet>
      <dgm:spPr/>
    </dgm:pt>
    <dgm:pt modelId="{9CD7FDA2-8787-4176-90EC-609727735AE1}" type="pres">
      <dgm:prSet presAssocID="{3023FA44-1D65-4721-8DE6-B4A1444D6EAE}" presName="thickLine" presStyleLbl="alignNode1" presStyleIdx="0" presStyleCnt="8"/>
      <dgm:spPr/>
    </dgm:pt>
    <dgm:pt modelId="{C6135526-5C39-4A81-A887-6C9B8B4E38DC}" type="pres">
      <dgm:prSet presAssocID="{3023FA44-1D65-4721-8DE6-B4A1444D6EAE}" presName="horz1" presStyleCnt="0"/>
      <dgm:spPr/>
    </dgm:pt>
    <dgm:pt modelId="{B826CB04-635F-401E-89A8-26FD2B12B0D0}" type="pres">
      <dgm:prSet presAssocID="{3023FA44-1D65-4721-8DE6-B4A1444D6EAE}" presName="tx1" presStyleLbl="revTx" presStyleIdx="0" presStyleCnt="8"/>
      <dgm:spPr/>
    </dgm:pt>
    <dgm:pt modelId="{4B4B9B1D-1176-42CA-B661-413E4745C677}" type="pres">
      <dgm:prSet presAssocID="{3023FA44-1D65-4721-8DE6-B4A1444D6EAE}" presName="vert1" presStyleCnt="0"/>
      <dgm:spPr/>
    </dgm:pt>
    <dgm:pt modelId="{6F89351C-B45B-45B2-A894-1B64AA5A31F5}" type="pres">
      <dgm:prSet presAssocID="{9D262A20-3F38-4E01-98D7-477F4729BF6F}" presName="thickLine" presStyleLbl="alignNode1" presStyleIdx="1" presStyleCnt="8"/>
      <dgm:spPr/>
    </dgm:pt>
    <dgm:pt modelId="{849E6E84-33B5-46F2-BDCD-A61085BFE108}" type="pres">
      <dgm:prSet presAssocID="{9D262A20-3F38-4E01-98D7-477F4729BF6F}" presName="horz1" presStyleCnt="0"/>
      <dgm:spPr/>
    </dgm:pt>
    <dgm:pt modelId="{658B1740-72DF-4387-800A-4C2C28C405E6}" type="pres">
      <dgm:prSet presAssocID="{9D262A20-3F38-4E01-98D7-477F4729BF6F}" presName="tx1" presStyleLbl="revTx" presStyleIdx="1" presStyleCnt="8"/>
      <dgm:spPr/>
    </dgm:pt>
    <dgm:pt modelId="{6E352922-7661-4E1D-ABC2-5B505636D92E}" type="pres">
      <dgm:prSet presAssocID="{9D262A20-3F38-4E01-98D7-477F4729BF6F}" presName="vert1" presStyleCnt="0"/>
      <dgm:spPr/>
    </dgm:pt>
    <dgm:pt modelId="{58D8AA7C-8FBB-45E7-B5D3-9BA8DB435A26}" type="pres">
      <dgm:prSet presAssocID="{EAAA6552-A996-42E2-ACDD-4199422044AE}" presName="thickLine" presStyleLbl="alignNode1" presStyleIdx="2" presStyleCnt="8"/>
      <dgm:spPr/>
    </dgm:pt>
    <dgm:pt modelId="{13F7953D-3043-4933-89C1-BD40277DC2D3}" type="pres">
      <dgm:prSet presAssocID="{EAAA6552-A996-42E2-ACDD-4199422044AE}" presName="horz1" presStyleCnt="0"/>
      <dgm:spPr/>
    </dgm:pt>
    <dgm:pt modelId="{5E1372B1-4419-4502-A208-A91F128EBE02}" type="pres">
      <dgm:prSet presAssocID="{EAAA6552-A996-42E2-ACDD-4199422044AE}" presName="tx1" presStyleLbl="revTx" presStyleIdx="2" presStyleCnt="8"/>
      <dgm:spPr/>
    </dgm:pt>
    <dgm:pt modelId="{BFCD3F12-F5BB-4803-83BC-C6F541DE21F2}" type="pres">
      <dgm:prSet presAssocID="{EAAA6552-A996-42E2-ACDD-4199422044AE}" presName="vert1" presStyleCnt="0"/>
      <dgm:spPr/>
    </dgm:pt>
    <dgm:pt modelId="{D5E08557-2074-4234-A68A-EC49A4AF086B}" type="pres">
      <dgm:prSet presAssocID="{7E4C1012-39C2-4737-9F4B-BA67CCF8ABE5}" presName="thickLine" presStyleLbl="alignNode1" presStyleIdx="3" presStyleCnt="8"/>
      <dgm:spPr/>
    </dgm:pt>
    <dgm:pt modelId="{512A652F-A6DC-4FF5-8BAA-E1CB456616C7}" type="pres">
      <dgm:prSet presAssocID="{7E4C1012-39C2-4737-9F4B-BA67CCF8ABE5}" presName="horz1" presStyleCnt="0"/>
      <dgm:spPr/>
    </dgm:pt>
    <dgm:pt modelId="{46CAEA6D-ED3A-466F-ABEA-77CD2604E531}" type="pres">
      <dgm:prSet presAssocID="{7E4C1012-39C2-4737-9F4B-BA67CCF8ABE5}" presName="tx1" presStyleLbl="revTx" presStyleIdx="3" presStyleCnt="8"/>
      <dgm:spPr/>
    </dgm:pt>
    <dgm:pt modelId="{B695B85D-C8E7-47EF-9606-49F70306CD3B}" type="pres">
      <dgm:prSet presAssocID="{7E4C1012-39C2-4737-9F4B-BA67CCF8ABE5}" presName="vert1" presStyleCnt="0"/>
      <dgm:spPr/>
    </dgm:pt>
    <dgm:pt modelId="{D86C7C91-4FED-4BC3-8C42-F1091DF7BF8A}" type="pres">
      <dgm:prSet presAssocID="{FC92195E-79B6-430B-B06C-83B3ADF88429}" presName="thickLine" presStyleLbl="alignNode1" presStyleIdx="4" presStyleCnt="8"/>
      <dgm:spPr/>
    </dgm:pt>
    <dgm:pt modelId="{DBB849E0-49D2-49CF-AB99-66C43410E937}" type="pres">
      <dgm:prSet presAssocID="{FC92195E-79B6-430B-B06C-83B3ADF88429}" presName="horz1" presStyleCnt="0"/>
      <dgm:spPr/>
    </dgm:pt>
    <dgm:pt modelId="{945AB06E-2594-4EEA-A31E-0B93777BE0DF}" type="pres">
      <dgm:prSet presAssocID="{FC92195E-79B6-430B-B06C-83B3ADF88429}" presName="tx1" presStyleLbl="revTx" presStyleIdx="4" presStyleCnt="8"/>
      <dgm:spPr/>
    </dgm:pt>
    <dgm:pt modelId="{14547F37-8449-4781-943C-34B4EB61075B}" type="pres">
      <dgm:prSet presAssocID="{FC92195E-79B6-430B-B06C-83B3ADF88429}" presName="vert1" presStyleCnt="0"/>
      <dgm:spPr/>
    </dgm:pt>
    <dgm:pt modelId="{056BE6E6-4397-4C59-A4E6-B5424052C370}" type="pres">
      <dgm:prSet presAssocID="{D8CF43D9-A42F-4E73-B766-74C1ED04E87F}" presName="thickLine" presStyleLbl="alignNode1" presStyleIdx="5" presStyleCnt="8"/>
      <dgm:spPr/>
    </dgm:pt>
    <dgm:pt modelId="{A43589D9-3301-4FC4-ABE4-F32D85D8DA49}" type="pres">
      <dgm:prSet presAssocID="{D8CF43D9-A42F-4E73-B766-74C1ED04E87F}" presName="horz1" presStyleCnt="0"/>
      <dgm:spPr/>
    </dgm:pt>
    <dgm:pt modelId="{B66B702E-05AE-4007-AADF-60B12098BE6A}" type="pres">
      <dgm:prSet presAssocID="{D8CF43D9-A42F-4E73-B766-74C1ED04E87F}" presName="tx1" presStyleLbl="revTx" presStyleIdx="5" presStyleCnt="8"/>
      <dgm:spPr/>
    </dgm:pt>
    <dgm:pt modelId="{1EE403B3-746F-4D2B-B9CC-B1A2298C20BA}" type="pres">
      <dgm:prSet presAssocID="{D8CF43D9-A42F-4E73-B766-74C1ED04E87F}" presName="vert1" presStyleCnt="0"/>
      <dgm:spPr/>
    </dgm:pt>
    <dgm:pt modelId="{10586E4E-93A2-4710-B1E0-7AF799A53DBA}" type="pres">
      <dgm:prSet presAssocID="{88CA1F64-6098-45DD-B5A3-E40FF684EB57}" presName="thickLine" presStyleLbl="alignNode1" presStyleIdx="6" presStyleCnt="8"/>
      <dgm:spPr/>
    </dgm:pt>
    <dgm:pt modelId="{945705E3-8A78-4E53-BF22-C626D5298DC4}" type="pres">
      <dgm:prSet presAssocID="{88CA1F64-6098-45DD-B5A3-E40FF684EB57}" presName="horz1" presStyleCnt="0"/>
      <dgm:spPr/>
    </dgm:pt>
    <dgm:pt modelId="{36556C48-C9DD-42EF-BCCD-0D85C1333399}" type="pres">
      <dgm:prSet presAssocID="{88CA1F64-6098-45DD-B5A3-E40FF684EB57}" presName="tx1" presStyleLbl="revTx" presStyleIdx="6" presStyleCnt="8"/>
      <dgm:spPr/>
    </dgm:pt>
    <dgm:pt modelId="{A78DBBFB-26B1-443C-95FF-EDA9D93A2FC2}" type="pres">
      <dgm:prSet presAssocID="{88CA1F64-6098-45DD-B5A3-E40FF684EB57}" presName="vert1" presStyleCnt="0"/>
      <dgm:spPr/>
    </dgm:pt>
    <dgm:pt modelId="{D30D7236-BFCE-4FD9-92DC-1A22D69ED010}" type="pres">
      <dgm:prSet presAssocID="{641AFDEF-FA9A-4AEF-AB9E-E9E57D13FE51}" presName="thickLine" presStyleLbl="alignNode1" presStyleIdx="7" presStyleCnt="8"/>
      <dgm:spPr/>
    </dgm:pt>
    <dgm:pt modelId="{38A9D53C-012F-45F3-881E-BADD89D9587E}" type="pres">
      <dgm:prSet presAssocID="{641AFDEF-FA9A-4AEF-AB9E-E9E57D13FE51}" presName="horz1" presStyleCnt="0"/>
      <dgm:spPr/>
    </dgm:pt>
    <dgm:pt modelId="{F05F91B6-7C63-4D6A-ACC0-F54E65CC55AD}" type="pres">
      <dgm:prSet presAssocID="{641AFDEF-FA9A-4AEF-AB9E-E9E57D13FE51}" presName="tx1" presStyleLbl="revTx" presStyleIdx="7" presStyleCnt="8"/>
      <dgm:spPr/>
    </dgm:pt>
    <dgm:pt modelId="{AE00A43F-0DED-4C90-912A-A6F075388453}" type="pres">
      <dgm:prSet presAssocID="{641AFDEF-FA9A-4AEF-AB9E-E9E57D13FE51}" presName="vert1" presStyleCnt="0"/>
      <dgm:spPr/>
    </dgm:pt>
  </dgm:ptLst>
  <dgm:cxnLst>
    <dgm:cxn modelId="{9C4E4002-DB11-4A14-A2A0-FB1827C4F6A7}" type="presOf" srcId="{9D262A20-3F38-4E01-98D7-477F4729BF6F}" destId="{658B1740-72DF-4387-800A-4C2C28C405E6}" srcOrd="0" destOrd="0" presId="urn:microsoft.com/office/officeart/2008/layout/LinedList"/>
    <dgm:cxn modelId="{ED574609-7CE3-49B3-B45A-979B97A4C170}" type="presOf" srcId="{7E4C1012-39C2-4737-9F4B-BA67CCF8ABE5}" destId="{46CAEA6D-ED3A-466F-ABEA-77CD2604E531}" srcOrd="0" destOrd="0" presId="urn:microsoft.com/office/officeart/2008/layout/LinedList"/>
    <dgm:cxn modelId="{6F360E11-F5D5-4FF9-871C-3D2B1CDAF7B5}" type="presOf" srcId="{EAAA6552-A996-42E2-ACDD-4199422044AE}" destId="{5E1372B1-4419-4502-A208-A91F128EBE02}" srcOrd="0" destOrd="0" presId="urn:microsoft.com/office/officeart/2008/layout/LinedList"/>
    <dgm:cxn modelId="{45E8841D-632E-4643-A97B-7D547F623538}" srcId="{9E8AD3E5-761C-4B33-8866-7B140FAB1B71}" destId="{D8CF43D9-A42F-4E73-B766-74C1ED04E87F}" srcOrd="5" destOrd="0" parTransId="{7D3B0F2C-D54C-437F-8FAF-DA4860EC30C1}" sibTransId="{52028686-8B36-4B43-BE76-F3BC6605B0BD}"/>
    <dgm:cxn modelId="{0E3F7135-3211-4FC5-A540-C7D0AED0799F}" type="presOf" srcId="{3023FA44-1D65-4721-8DE6-B4A1444D6EAE}" destId="{B826CB04-635F-401E-89A8-26FD2B12B0D0}" srcOrd="0" destOrd="0" presId="urn:microsoft.com/office/officeart/2008/layout/LinedList"/>
    <dgm:cxn modelId="{46124E3A-54CC-4222-AB0E-04CF59C510B7}" srcId="{9E8AD3E5-761C-4B33-8866-7B140FAB1B71}" destId="{641AFDEF-FA9A-4AEF-AB9E-E9E57D13FE51}" srcOrd="7" destOrd="0" parTransId="{39F2C0F7-83DF-45F4-BA0D-EA166A7DE848}" sibTransId="{8179BFCE-B6B4-4AA4-86F7-8AC800FFB016}"/>
    <dgm:cxn modelId="{0CBD3E5D-8F40-4078-9D8B-9E209B6D371D}" srcId="{9E8AD3E5-761C-4B33-8866-7B140FAB1B71}" destId="{88CA1F64-6098-45DD-B5A3-E40FF684EB57}" srcOrd="6" destOrd="0" parTransId="{EB61B471-6247-480F-A164-E35375AEB10B}" sibTransId="{828D49B8-0A90-49A1-BF06-BAF0A8BA551A}"/>
    <dgm:cxn modelId="{A763A760-7FCC-4619-8604-A9CECE0BCEE8}" type="presOf" srcId="{FC92195E-79B6-430B-B06C-83B3ADF88429}" destId="{945AB06E-2594-4EEA-A31E-0B93777BE0DF}" srcOrd="0" destOrd="0" presId="urn:microsoft.com/office/officeart/2008/layout/LinedList"/>
    <dgm:cxn modelId="{ABC1E760-ABAA-43E0-9CD9-06342DD39F90}" type="presOf" srcId="{D8CF43D9-A42F-4E73-B766-74C1ED04E87F}" destId="{B66B702E-05AE-4007-AADF-60B12098BE6A}" srcOrd="0" destOrd="0" presId="urn:microsoft.com/office/officeart/2008/layout/LinedList"/>
    <dgm:cxn modelId="{3C7B1967-24C2-46E8-8599-AD70FD36DDD5}" type="presOf" srcId="{88CA1F64-6098-45DD-B5A3-E40FF684EB57}" destId="{36556C48-C9DD-42EF-BCCD-0D85C1333399}" srcOrd="0" destOrd="0" presId="urn:microsoft.com/office/officeart/2008/layout/LinedList"/>
    <dgm:cxn modelId="{8805336D-2A33-4840-8CE1-9FCBEB6A4806}" srcId="{9E8AD3E5-761C-4B33-8866-7B140FAB1B71}" destId="{FC92195E-79B6-430B-B06C-83B3ADF88429}" srcOrd="4" destOrd="0" parTransId="{C1614F35-BCD2-4FC8-8727-061F87C1C8C3}" sibTransId="{2FE5FDBA-1A89-4CAF-B47E-88C87417B7FE}"/>
    <dgm:cxn modelId="{0648BC87-315C-4038-9F2B-4AE9ECCD54AE}" srcId="{9E8AD3E5-761C-4B33-8866-7B140FAB1B71}" destId="{EAAA6552-A996-42E2-ACDD-4199422044AE}" srcOrd="2" destOrd="0" parTransId="{B2B042D6-84BC-45A3-A9FF-444B17B36B23}" sibTransId="{FBD937A4-4688-4C8D-8921-00C9A9101BB1}"/>
    <dgm:cxn modelId="{7DA95E8E-7892-4737-BE7D-571A96F068A0}" srcId="{9E8AD3E5-761C-4B33-8866-7B140FAB1B71}" destId="{9D262A20-3F38-4E01-98D7-477F4729BF6F}" srcOrd="1" destOrd="0" parTransId="{9F741BD0-A1D7-44E5-9E08-9F4B98BDCF5B}" sibTransId="{0DEF82B9-85C0-4A6B-9EC4-9B4071B7E842}"/>
    <dgm:cxn modelId="{767052B0-9CF5-45E8-8572-7FF68A708E74}" type="presOf" srcId="{641AFDEF-FA9A-4AEF-AB9E-E9E57D13FE51}" destId="{F05F91B6-7C63-4D6A-ACC0-F54E65CC55AD}" srcOrd="0" destOrd="0" presId="urn:microsoft.com/office/officeart/2008/layout/LinedList"/>
    <dgm:cxn modelId="{FC4A68DF-7BFE-4DF2-B172-E3FCD17A79B7}" srcId="{9E8AD3E5-761C-4B33-8866-7B140FAB1B71}" destId="{7E4C1012-39C2-4737-9F4B-BA67CCF8ABE5}" srcOrd="3" destOrd="0" parTransId="{515B804E-927B-451A-A1C6-BDECAAF3267A}" sibTransId="{7A111E0D-CE75-4AA3-87FD-A35863DB7546}"/>
    <dgm:cxn modelId="{C8F17DE7-DC36-4AF0-BAB8-96DB856D1FC8}" type="presOf" srcId="{9E8AD3E5-761C-4B33-8866-7B140FAB1B71}" destId="{40613FEE-BDB0-416F-821F-FDF3853A36F1}" srcOrd="0" destOrd="0" presId="urn:microsoft.com/office/officeart/2008/layout/LinedList"/>
    <dgm:cxn modelId="{0F9C5AF9-C48F-4C67-BE46-FD9351270738}" srcId="{9E8AD3E5-761C-4B33-8866-7B140FAB1B71}" destId="{3023FA44-1D65-4721-8DE6-B4A1444D6EAE}" srcOrd="0" destOrd="0" parTransId="{6BCAECF3-B8DE-4381-A700-8C199A1C3F07}" sibTransId="{7266823E-B537-4BD2-A083-35BBEE0EC96B}"/>
    <dgm:cxn modelId="{F40E1C1B-7EE8-4573-A42B-6099C8052905}" type="presParOf" srcId="{40613FEE-BDB0-416F-821F-FDF3853A36F1}" destId="{9CD7FDA2-8787-4176-90EC-609727735AE1}" srcOrd="0" destOrd="0" presId="urn:microsoft.com/office/officeart/2008/layout/LinedList"/>
    <dgm:cxn modelId="{96B8332B-1FB1-467A-821B-91D0699148C2}" type="presParOf" srcId="{40613FEE-BDB0-416F-821F-FDF3853A36F1}" destId="{C6135526-5C39-4A81-A887-6C9B8B4E38DC}" srcOrd="1" destOrd="0" presId="urn:microsoft.com/office/officeart/2008/layout/LinedList"/>
    <dgm:cxn modelId="{B30C7BB2-BBF1-4C60-A84E-29BF5AC928AE}" type="presParOf" srcId="{C6135526-5C39-4A81-A887-6C9B8B4E38DC}" destId="{B826CB04-635F-401E-89A8-26FD2B12B0D0}" srcOrd="0" destOrd="0" presId="urn:microsoft.com/office/officeart/2008/layout/LinedList"/>
    <dgm:cxn modelId="{4DFF4239-494D-4D83-A553-492023A92CA7}" type="presParOf" srcId="{C6135526-5C39-4A81-A887-6C9B8B4E38DC}" destId="{4B4B9B1D-1176-42CA-B661-413E4745C677}" srcOrd="1" destOrd="0" presId="urn:microsoft.com/office/officeart/2008/layout/LinedList"/>
    <dgm:cxn modelId="{1AC2B2C6-7EE0-406B-82F5-E0B3A3A2CBF8}" type="presParOf" srcId="{40613FEE-BDB0-416F-821F-FDF3853A36F1}" destId="{6F89351C-B45B-45B2-A894-1B64AA5A31F5}" srcOrd="2" destOrd="0" presId="urn:microsoft.com/office/officeart/2008/layout/LinedList"/>
    <dgm:cxn modelId="{14A7F9C4-78CB-4004-9CAF-99B2E00E209F}" type="presParOf" srcId="{40613FEE-BDB0-416F-821F-FDF3853A36F1}" destId="{849E6E84-33B5-46F2-BDCD-A61085BFE108}" srcOrd="3" destOrd="0" presId="urn:microsoft.com/office/officeart/2008/layout/LinedList"/>
    <dgm:cxn modelId="{0C91DEFB-B58A-4112-9738-5E004732E8FE}" type="presParOf" srcId="{849E6E84-33B5-46F2-BDCD-A61085BFE108}" destId="{658B1740-72DF-4387-800A-4C2C28C405E6}" srcOrd="0" destOrd="0" presId="urn:microsoft.com/office/officeart/2008/layout/LinedList"/>
    <dgm:cxn modelId="{8E1513E2-466E-498F-8097-FE6ABE807D98}" type="presParOf" srcId="{849E6E84-33B5-46F2-BDCD-A61085BFE108}" destId="{6E352922-7661-4E1D-ABC2-5B505636D92E}" srcOrd="1" destOrd="0" presId="urn:microsoft.com/office/officeart/2008/layout/LinedList"/>
    <dgm:cxn modelId="{1D36BC1C-9645-4908-9868-7B77BFB06650}" type="presParOf" srcId="{40613FEE-BDB0-416F-821F-FDF3853A36F1}" destId="{58D8AA7C-8FBB-45E7-B5D3-9BA8DB435A26}" srcOrd="4" destOrd="0" presId="urn:microsoft.com/office/officeart/2008/layout/LinedList"/>
    <dgm:cxn modelId="{63AB5D05-9F12-401D-AC0E-733C459B5E56}" type="presParOf" srcId="{40613FEE-BDB0-416F-821F-FDF3853A36F1}" destId="{13F7953D-3043-4933-89C1-BD40277DC2D3}" srcOrd="5" destOrd="0" presId="urn:microsoft.com/office/officeart/2008/layout/LinedList"/>
    <dgm:cxn modelId="{B7CFC1F0-4916-40CB-9F78-130C153E10F3}" type="presParOf" srcId="{13F7953D-3043-4933-89C1-BD40277DC2D3}" destId="{5E1372B1-4419-4502-A208-A91F128EBE02}" srcOrd="0" destOrd="0" presId="urn:microsoft.com/office/officeart/2008/layout/LinedList"/>
    <dgm:cxn modelId="{6603AD65-E6B5-48A4-9737-B4A7819C60FB}" type="presParOf" srcId="{13F7953D-3043-4933-89C1-BD40277DC2D3}" destId="{BFCD3F12-F5BB-4803-83BC-C6F541DE21F2}" srcOrd="1" destOrd="0" presId="urn:microsoft.com/office/officeart/2008/layout/LinedList"/>
    <dgm:cxn modelId="{C7607D42-4FF0-4C68-BF4C-F6A33FFB3803}" type="presParOf" srcId="{40613FEE-BDB0-416F-821F-FDF3853A36F1}" destId="{D5E08557-2074-4234-A68A-EC49A4AF086B}" srcOrd="6" destOrd="0" presId="urn:microsoft.com/office/officeart/2008/layout/LinedList"/>
    <dgm:cxn modelId="{D1743EA8-E04C-462A-967E-72FE80C596C6}" type="presParOf" srcId="{40613FEE-BDB0-416F-821F-FDF3853A36F1}" destId="{512A652F-A6DC-4FF5-8BAA-E1CB456616C7}" srcOrd="7" destOrd="0" presId="urn:microsoft.com/office/officeart/2008/layout/LinedList"/>
    <dgm:cxn modelId="{B4CDB6F1-2ED9-4942-A729-32265D46558E}" type="presParOf" srcId="{512A652F-A6DC-4FF5-8BAA-E1CB456616C7}" destId="{46CAEA6D-ED3A-466F-ABEA-77CD2604E531}" srcOrd="0" destOrd="0" presId="urn:microsoft.com/office/officeart/2008/layout/LinedList"/>
    <dgm:cxn modelId="{66D6E0CF-7EEE-4DA9-8CC1-58F7DA673702}" type="presParOf" srcId="{512A652F-A6DC-4FF5-8BAA-E1CB456616C7}" destId="{B695B85D-C8E7-47EF-9606-49F70306CD3B}" srcOrd="1" destOrd="0" presId="urn:microsoft.com/office/officeart/2008/layout/LinedList"/>
    <dgm:cxn modelId="{2ED983C5-7E07-43B4-9AC6-0774FADC70B1}" type="presParOf" srcId="{40613FEE-BDB0-416F-821F-FDF3853A36F1}" destId="{D86C7C91-4FED-4BC3-8C42-F1091DF7BF8A}" srcOrd="8" destOrd="0" presId="urn:microsoft.com/office/officeart/2008/layout/LinedList"/>
    <dgm:cxn modelId="{E46304CF-3E92-4578-871B-D36DFE190D67}" type="presParOf" srcId="{40613FEE-BDB0-416F-821F-FDF3853A36F1}" destId="{DBB849E0-49D2-49CF-AB99-66C43410E937}" srcOrd="9" destOrd="0" presId="urn:microsoft.com/office/officeart/2008/layout/LinedList"/>
    <dgm:cxn modelId="{7F2198D8-21AD-44B8-B9AE-C99D7E367A47}" type="presParOf" srcId="{DBB849E0-49D2-49CF-AB99-66C43410E937}" destId="{945AB06E-2594-4EEA-A31E-0B93777BE0DF}" srcOrd="0" destOrd="0" presId="urn:microsoft.com/office/officeart/2008/layout/LinedList"/>
    <dgm:cxn modelId="{DE7ECE20-3DBA-48EB-AC1B-67311A7D1621}" type="presParOf" srcId="{DBB849E0-49D2-49CF-AB99-66C43410E937}" destId="{14547F37-8449-4781-943C-34B4EB61075B}" srcOrd="1" destOrd="0" presId="urn:microsoft.com/office/officeart/2008/layout/LinedList"/>
    <dgm:cxn modelId="{5A2833F8-BECD-4B3C-8F49-5A5AB5B244FE}" type="presParOf" srcId="{40613FEE-BDB0-416F-821F-FDF3853A36F1}" destId="{056BE6E6-4397-4C59-A4E6-B5424052C370}" srcOrd="10" destOrd="0" presId="urn:microsoft.com/office/officeart/2008/layout/LinedList"/>
    <dgm:cxn modelId="{6D029BFB-7D02-4563-BEC2-BD2FB23B489D}" type="presParOf" srcId="{40613FEE-BDB0-416F-821F-FDF3853A36F1}" destId="{A43589D9-3301-4FC4-ABE4-F32D85D8DA49}" srcOrd="11" destOrd="0" presId="urn:microsoft.com/office/officeart/2008/layout/LinedList"/>
    <dgm:cxn modelId="{1A21E102-7A95-4540-9416-7C9D075D075C}" type="presParOf" srcId="{A43589D9-3301-4FC4-ABE4-F32D85D8DA49}" destId="{B66B702E-05AE-4007-AADF-60B12098BE6A}" srcOrd="0" destOrd="0" presId="urn:microsoft.com/office/officeart/2008/layout/LinedList"/>
    <dgm:cxn modelId="{49480753-2FCE-438D-B53D-F160FA79A719}" type="presParOf" srcId="{A43589D9-3301-4FC4-ABE4-F32D85D8DA49}" destId="{1EE403B3-746F-4D2B-B9CC-B1A2298C20BA}" srcOrd="1" destOrd="0" presId="urn:microsoft.com/office/officeart/2008/layout/LinedList"/>
    <dgm:cxn modelId="{0EA49733-6084-491B-BCB7-C6F4882E52C6}" type="presParOf" srcId="{40613FEE-BDB0-416F-821F-FDF3853A36F1}" destId="{10586E4E-93A2-4710-B1E0-7AF799A53DBA}" srcOrd="12" destOrd="0" presId="urn:microsoft.com/office/officeart/2008/layout/LinedList"/>
    <dgm:cxn modelId="{5880A727-9B37-4751-8DCA-B138E899E92C}" type="presParOf" srcId="{40613FEE-BDB0-416F-821F-FDF3853A36F1}" destId="{945705E3-8A78-4E53-BF22-C626D5298DC4}" srcOrd="13" destOrd="0" presId="urn:microsoft.com/office/officeart/2008/layout/LinedList"/>
    <dgm:cxn modelId="{5743DE69-BB38-4CEB-B5CD-9594922A3B24}" type="presParOf" srcId="{945705E3-8A78-4E53-BF22-C626D5298DC4}" destId="{36556C48-C9DD-42EF-BCCD-0D85C1333399}" srcOrd="0" destOrd="0" presId="urn:microsoft.com/office/officeart/2008/layout/LinedList"/>
    <dgm:cxn modelId="{D2B8B782-5EAA-4377-83FA-E880FFBAE9DD}" type="presParOf" srcId="{945705E3-8A78-4E53-BF22-C626D5298DC4}" destId="{A78DBBFB-26B1-443C-95FF-EDA9D93A2FC2}" srcOrd="1" destOrd="0" presId="urn:microsoft.com/office/officeart/2008/layout/LinedList"/>
    <dgm:cxn modelId="{B29B16F9-DC4E-4851-8524-5B15EB397C0C}" type="presParOf" srcId="{40613FEE-BDB0-416F-821F-FDF3853A36F1}" destId="{D30D7236-BFCE-4FD9-92DC-1A22D69ED010}" srcOrd="14" destOrd="0" presId="urn:microsoft.com/office/officeart/2008/layout/LinedList"/>
    <dgm:cxn modelId="{1676484C-9D98-4C7B-AB06-4D84CA7F023A}" type="presParOf" srcId="{40613FEE-BDB0-416F-821F-FDF3853A36F1}" destId="{38A9D53C-012F-45F3-881E-BADD89D9587E}" srcOrd="15" destOrd="0" presId="urn:microsoft.com/office/officeart/2008/layout/LinedList"/>
    <dgm:cxn modelId="{E406572A-2B04-49DE-BEBA-80C28C6FD981}" type="presParOf" srcId="{38A9D53C-012F-45F3-881E-BADD89D9587E}" destId="{F05F91B6-7C63-4D6A-ACC0-F54E65CC55AD}" srcOrd="0" destOrd="0" presId="urn:microsoft.com/office/officeart/2008/layout/LinedList"/>
    <dgm:cxn modelId="{016C16B2-65AC-4C0D-9FF9-0D3D5E1B0796}" type="presParOf" srcId="{38A9D53C-012F-45F3-881E-BADD89D9587E}" destId="{AE00A43F-0DED-4C90-912A-A6F07538845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785B872-813D-496C-8686-C0A7D68FF8F7}"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EEC23261-6289-466B-9347-767A57925574}">
      <dgm:prSet/>
      <dgm:spPr/>
      <dgm:t>
        <a:bodyPr/>
        <a:lstStyle/>
        <a:p>
          <a:r>
            <a:rPr lang="en-GB"/>
            <a:t>Issues of faking</a:t>
          </a:r>
          <a:endParaRPr lang="en-US"/>
        </a:p>
      </dgm:t>
    </dgm:pt>
    <dgm:pt modelId="{E50F4222-A332-49D4-8A5A-8125DFEF3F20}" type="parTrans" cxnId="{4D68A901-57A9-4221-AE1E-88F068AE0FCB}">
      <dgm:prSet/>
      <dgm:spPr/>
      <dgm:t>
        <a:bodyPr/>
        <a:lstStyle/>
        <a:p>
          <a:endParaRPr lang="en-US"/>
        </a:p>
      </dgm:t>
    </dgm:pt>
    <dgm:pt modelId="{BAFFC1DF-758A-445D-8647-2FFD38A411C1}" type="sibTrans" cxnId="{4D68A901-57A9-4221-AE1E-88F068AE0FCB}">
      <dgm:prSet/>
      <dgm:spPr/>
      <dgm:t>
        <a:bodyPr/>
        <a:lstStyle/>
        <a:p>
          <a:endParaRPr lang="en-US"/>
        </a:p>
      </dgm:t>
    </dgm:pt>
    <dgm:pt modelId="{E12F886A-D8F1-4823-946F-544BA205D2C9}">
      <dgm:prSet/>
      <dgm:spPr/>
      <dgm:t>
        <a:bodyPr/>
        <a:lstStyle/>
        <a:p>
          <a:r>
            <a:rPr lang="en-GB"/>
            <a:t>Some people lack sufficient self-insight to give accurate responses</a:t>
          </a:r>
          <a:endParaRPr lang="en-US"/>
        </a:p>
      </dgm:t>
    </dgm:pt>
    <dgm:pt modelId="{AFDF6E3F-E17C-4DBE-930A-790E411E4139}" type="parTrans" cxnId="{79609B1A-1AE2-4B79-9343-F9E440CCDFA8}">
      <dgm:prSet/>
      <dgm:spPr/>
      <dgm:t>
        <a:bodyPr/>
        <a:lstStyle/>
        <a:p>
          <a:endParaRPr lang="en-US"/>
        </a:p>
      </dgm:t>
    </dgm:pt>
    <dgm:pt modelId="{D5F308C6-F6F5-4FDB-BC3D-894657DD7CED}" type="sibTrans" cxnId="{79609B1A-1AE2-4B79-9343-F9E440CCDFA8}">
      <dgm:prSet/>
      <dgm:spPr/>
      <dgm:t>
        <a:bodyPr/>
        <a:lstStyle/>
        <a:p>
          <a:endParaRPr lang="en-US"/>
        </a:p>
      </dgm:t>
    </dgm:pt>
    <dgm:pt modelId="{A9C3754A-ADAE-4FBF-8FA8-EFED6D044B39}">
      <dgm:prSet/>
      <dgm:spPr/>
      <dgm:t>
        <a:bodyPr/>
        <a:lstStyle/>
        <a:p>
          <a:r>
            <a:rPr lang="en-GB"/>
            <a:t>Unreliable - temporary factors (eg illness) can affect results</a:t>
          </a:r>
          <a:endParaRPr lang="en-US"/>
        </a:p>
      </dgm:t>
    </dgm:pt>
    <dgm:pt modelId="{E46F723D-47D4-43ED-A254-8C2F318943E3}" type="parTrans" cxnId="{FB8755B9-44BE-4585-84DF-67350E676BD5}">
      <dgm:prSet/>
      <dgm:spPr/>
      <dgm:t>
        <a:bodyPr/>
        <a:lstStyle/>
        <a:p>
          <a:endParaRPr lang="en-US"/>
        </a:p>
      </dgm:t>
    </dgm:pt>
    <dgm:pt modelId="{A4584177-4E67-4ABB-82DB-BBD15F5FB37A}" type="sibTrans" cxnId="{FB8755B9-44BE-4585-84DF-67350E676BD5}">
      <dgm:prSet/>
      <dgm:spPr/>
      <dgm:t>
        <a:bodyPr/>
        <a:lstStyle/>
        <a:p>
          <a:endParaRPr lang="en-US"/>
        </a:p>
      </dgm:t>
    </dgm:pt>
    <dgm:pt modelId="{28596D93-45C2-4A3C-8C64-24A7700340F4}">
      <dgm:prSet/>
      <dgm:spPr/>
      <dgm:t>
        <a:bodyPr/>
        <a:lstStyle/>
        <a:p>
          <a:r>
            <a:rPr lang="en-GB"/>
            <a:t>Invalid – many do not measure what they say they measure</a:t>
          </a:r>
          <a:endParaRPr lang="en-US"/>
        </a:p>
      </dgm:t>
    </dgm:pt>
    <dgm:pt modelId="{E24D8F59-9835-421F-9575-FDA27436596D}" type="parTrans" cxnId="{034C6B3B-7031-45FC-A9AA-5FFFBD139D36}">
      <dgm:prSet/>
      <dgm:spPr/>
      <dgm:t>
        <a:bodyPr/>
        <a:lstStyle/>
        <a:p>
          <a:endParaRPr lang="en-US"/>
        </a:p>
      </dgm:t>
    </dgm:pt>
    <dgm:pt modelId="{E1E254B2-7409-41FC-99F9-516CEB71BC94}" type="sibTrans" cxnId="{034C6B3B-7031-45FC-A9AA-5FFFBD139D36}">
      <dgm:prSet/>
      <dgm:spPr/>
      <dgm:t>
        <a:bodyPr/>
        <a:lstStyle/>
        <a:p>
          <a:endParaRPr lang="en-US"/>
        </a:p>
      </dgm:t>
    </dgm:pt>
    <dgm:pt modelId="{5BCBA574-2C9F-4C95-9862-BA66DBFC5626}">
      <dgm:prSet/>
      <dgm:spPr/>
      <dgm:t>
        <a:bodyPr/>
        <a:lstStyle/>
        <a:p>
          <a:r>
            <a:rPr lang="en-GB"/>
            <a:t>Irrelevant – many do not measure qualities that are relevant to a specific organisation</a:t>
          </a:r>
          <a:endParaRPr lang="en-US"/>
        </a:p>
      </dgm:t>
    </dgm:pt>
    <dgm:pt modelId="{66AF69EE-8D1E-4071-BC36-0F337A01489A}" type="parTrans" cxnId="{40C7B8C1-7546-4FE9-B680-5C115D94CC6F}">
      <dgm:prSet/>
      <dgm:spPr/>
      <dgm:t>
        <a:bodyPr/>
        <a:lstStyle/>
        <a:p>
          <a:endParaRPr lang="en-US"/>
        </a:p>
      </dgm:t>
    </dgm:pt>
    <dgm:pt modelId="{A1F2671D-5ECF-46A2-9B41-048877995682}" type="sibTrans" cxnId="{40C7B8C1-7546-4FE9-B680-5C115D94CC6F}">
      <dgm:prSet/>
      <dgm:spPr/>
      <dgm:t>
        <a:bodyPr/>
        <a:lstStyle/>
        <a:p>
          <a:endParaRPr lang="en-US"/>
        </a:p>
      </dgm:t>
    </dgm:pt>
    <dgm:pt modelId="{19EBD1F7-13DF-42D8-9AD2-F936C6DE4C67}">
      <dgm:prSet/>
      <dgm:spPr/>
      <dgm:t>
        <a:bodyPr/>
        <a:lstStyle/>
        <a:p>
          <a:r>
            <a:rPr lang="en-GB"/>
            <a:t>Require minimum literacy and a grasp of American jargon</a:t>
          </a:r>
          <a:endParaRPr lang="en-US"/>
        </a:p>
      </dgm:t>
    </dgm:pt>
    <dgm:pt modelId="{FAC58383-DD4E-4E11-9581-025A13DFB8C0}" type="parTrans" cxnId="{13B5AD05-CF40-4532-B1C4-220E2EA4F2F4}">
      <dgm:prSet/>
      <dgm:spPr/>
      <dgm:t>
        <a:bodyPr/>
        <a:lstStyle/>
        <a:p>
          <a:endParaRPr lang="en-US"/>
        </a:p>
      </dgm:t>
    </dgm:pt>
    <dgm:pt modelId="{AD7CAAE4-4D84-4AD4-AF9B-C634A38DFE73}" type="sibTrans" cxnId="{13B5AD05-CF40-4532-B1C4-220E2EA4F2F4}">
      <dgm:prSet/>
      <dgm:spPr/>
      <dgm:t>
        <a:bodyPr/>
        <a:lstStyle/>
        <a:p>
          <a:endParaRPr lang="en-US"/>
        </a:p>
      </dgm:t>
    </dgm:pt>
    <dgm:pt modelId="{7831D4EF-1F1F-4055-8488-03B43632E69C}">
      <dgm:prSet/>
      <dgm:spPr/>
      <dgm:t>
        <a:bodyPr/>
        <a:lstStyle/>
        <a:p>
          <a:r>
            <a:rPr lang="en-GB"/>
            <a:t>Good norms do not exist for most populations</a:t>
          </a:r>
          <a:endParaRPr lang="en-US"/>
        </a:p>
      </dgm:t>
    </dgm:pt>
    <dgm:pt modelId="{75A196CA-D265-41DC-962E-214FB0A96074}" type="parTrans" cxnId="{472410B2-3EE7-48F7-9174-CBAA1ECF39D8}">
      <dgm:prSet/>
      <dgm:spPr/>
      <dgm:t>
        <a:bodyPr/>
        <a:lstStyle/>
        <a:p>
          <a:endParaRPr lang="en-US"/>
        </a:p>
      </dgm:t>
    </dgm:pt>
    <dgm:pt modelId="{C0AF4231-E2A0-4AC8-A265-8CA3921CEB11}" type="sibTrans" cxnId="{472410B2-3EE7-48F7-9174-CBAA1ECF39D8}">
      <dgm:prSet/>
      <dgm:spPr/>
      <dgm:t>
        <a:bodyPr/>
        <a:lstStyle/>
        <a:p>
          <a:endParaRPr lang="en-US"/>
        </a:p>
      </dgm:t>
    </dgm:pt>
    <dgm:pt modelId="{05464D4B-4D2A-4F3C-9A1C-CC8CD6968E52}">
      <dgm:prSet/>
      <dgm:spPr/>
      <dgm:t>
        <a:bodyPr/>
        <a:lstStyle/>
        <a:p>
          <a:r>
            <a:rPr lang="en-GB"/>
            <a:t>Unfair to anyone who is not a white, middle-class male American</a:t>
          </a:r>
          <a:endParaRPr lang="en-US"/>
        </a:p>
      </dgm:t>
    </dgm:pt>
    <dgm:pt modelId="{4C33CE62-B703-492E-9400-BDFD43DE4F55}" type="parTrans" cxnId="{AB153068-7335-4568-A5E5-DFAF93A4012B}">
      <dgm:prSet/>
      <dgm:spPr/>
      <dgm:t>
        <a:bodyPr/>
        <a:lstStyle/>
        <a:p>
          <a:endParaRPr lang="en-US"/>
        </a:p>
      </dgm:t>
    </dgm:pt>
    <dgm:pt modelId="{497144FE-B42C-4014-810D-ABF54F9ADFDC}" type="sibTrans" cxnId="{AB153068-7335-4568-A5E5-DFAF93A4012B}">
      <dgm:prSet/>
      <dgm:spPr/>
      <dgm:t>
        <a:bodyPr/>
        <a:lstStyle/>
        <a:p>
          <a:endParaRPr lang="en-US"/>
        </a:p>
      </dgm:t>
    </dgm:pt>
    <dgm:pt modelId="{843B17E9-EF32-4D16-82E4-F4BBC982AD09}">
      <dgm:prSet/>
      <dgm:spPr/>
      <dgm:t>
        <a:bodyPr/>
        <a:lstStyle/>
        <a:p>
          <a:r>
            <a:rPr lang="en-GB"/>
            <a:t>Freedom of information legislation opens ‘objective’ date to greater scope for challenge than value, unrecorded interview data</a:t>
          </a:r>
          <a:endParaRPr lang="en-US"/>
        </a:p>
      </dgm:t>
    </dgm:pt>
    <dgm:pt modelId="{B9D45757-D6FC-4A91-BD78-526CE033BAA2}" type="parTrans" cxnId="{E89ECF9E-434C-4397-A34C-8CAD39040CAD}">
      <dgm:prSet/>
      <dgm:spPr/>
      <dgm:t>
        <a:bodyPr/>
        <a:lstStyle/>
        <a:p>
          <a:endParaRPr lang="en-US"/>
        </a:p>
      </dgm:t>
    </dgm:pt>
    <dgm:pt modelId="{031100B1-CC9E-44A0-915C-1B48DC658F02}" type="sibTrans" cxnId="{E89ECF9E-434C-4397-A34C-8CAD39040CAD}">
      <dgm:prSet/>
      <dgm:spPr/>
      <dgm:t>
        <a:bodyPr/>
        <a:lstStyle/>
        <a:p>
          <a:endParaRPr lang="en-US"/>
        </a:p>
      </dgm:t>
    </dgm:pt>
    <dgm:pt modelId="{3DB2C3D3-E0E8-4EEF-95B3-E53F896A0F28}">
      <dgm:prSet/>
      <dgm:spPr/>
      <dgm:t>
        <a:bodyPr/>
        <a:lstStyle/>
        <a:p>
          <a:r>
            <a:rPr lang="en-GB"/>
            <a:t>Firms tend to use the same tests so that practice effects and knowledge of desirable answers can destroy their value</a:t>
          </a:r>
          <a:endParaRPr lang="en-US"/>
        </a:p>
      </dgm:t>
    </dgm:pt>
    <dgm:pt modelId="{37435F1A-781D-4755-A66B-B3EEC79386AC}" type="parTrans" cxnId="{6CD26505-572D-4268-81A0-270E824C09FD}">
      <dgm:prSet/>
      <dgm:spPr/>
      <dgm:t>
        <a:bodyPr/>
        <a:lstStyle/>
        <a:p>
          <a:endParaRPr lang="en-US"/>
        </a:p>
      </dgm:t>
    </dgm:pt>
    <dgm:pt modelId="{96178F90-388D-4060-B256-F34DBC00ECB7}" type="sibTrans" cxnId="{6CD26505-572D-4268-81A0-270E824C09FD}">
      <dgm:prSet/>
      <dgm:spPr/>
      <dgm:t>
        <a:bodyPr/>
        <a:lstStyle/>
        <a:p>
          <a:endParaRPr lang="en-US"/>
        </a:p>
      </dgm:t>
    </dgm:pt>
    <dgm:pt modelId="{1D4BAC72-0DEA-414F-AC24-0028F386F489}" type="pres">
      <dgm:prSet presAssocID="{D785B872-813D-496C-8686-C0A7D68FF8F7}" presName="vert0" presStyleCnt="0">
        <dgm:presLayoutVars>
          <dgm:dir/>
          <dgm:animOne val="branch"/>
          <dgm:animLvl val="lvl"/>
        </dgm:presLayoutVars>
      </dgm:prSet>
      <dgm:spPr/>
    </dgm:pt>
    <dgm:pt modelId="{3B494AAF-5F6E-476A-875A-187D2BC51E17}" type="pres">
      <dgm:prSet presAssocID="{EEC23261-6289-466B-9347-767A57925574}" presName="thickLine" presStyleLbl="alignNode1" presStyleIdx="0" presStyleCnt="10"/>
      <dgm:spPr/>
    </dgm:pt>
    <dgm:pt modelId="{C95B0C83-BABF-41DA-B290-7E72FEC64C99}" type="pres">
      <dgm:prSet presAssocID="{EEC23261-6289-466B-9347-767A57925574}" presName="horz1" presStyleCnt="0"/>
      <dgm:spPr/>
    </dgm:pt>
    <dgm:pt modelId="{3C2446EC-1728-4961-8FEE-22618AC8BD5A}" type="pres">
      <dgm:prSet presAssocID="{EEC23261-6289-466B-9347-767A57925574}" presName="tx1" presStyleLbl="revTx" presStyleIdx="0" presStyleCnt="10"/>
      <dgm:spPr/>
    </dgm:pt>
    <dgm:pt modelId="{0E5F9A11-BA30-4BC3-9F75-95502CAE6495}" type="pres">
      <dgm:prSet presAssocID="{EEC23261-6289-466B-9347-767A57925574}" presName="vert1" presStyleCnt="0"/>
      <dgm:spPr/>
    </dgm:pt>
    <dgm:pt modelId="{CCE5050B-B793-4B6C-9EF5-81DA85EC629C}" type="pres">
      <dgm:prSet presAssocID="{E12F886A-D8F1-4823-946F-544BA205D2C9}" presName="thickLine" presStyleLbl="alignNode1" presStyleIdx="1" presStyleCnt="10"/>
      <dgm:spPr/>
    </dgm:pt>
    <dgm:pt modelId="{45FF1D49-B24E-4856-9FBF-F012BC9BBB67}" type="pres">
      <dgm:prSet presAssocID="{E12F886A-D8F1-4823-946F-544BA205D2C9}" presName="horz1" presStyleCnt="0"/>
      <dgm:spPr/>
    </dgm:pt>
    <dgm:pt modelId="{468C937C-B211-4E28-B847-A15B7BC1ADE6}" type="pres">
      <dgm:prSet presAssocID="{E12F886A-D8F1-4823-946F-544BA205D2C9}" presName="tx1" presStyleLbl="revTx" presStyleIdx="1" presStyleCnt="10"/>
      <dgm:spPr/>
    </dgm:pt>
    <dgm:pt modelId="{51986E79-2852-4C0D-9FE2-928B2F3B322E}" type="pres">
      <dgm:prSet presAssocID="{E12F886A-D8F1-4823-946F-544BA205D2C9}" presName="vert1" presStyleCnt="0"/>
      <dgm:spPr/>
    </dgm:pt>
    <dgm:pt modelId="{0146F48B-1CB6-43A0-BB09-9AB73932D247}" type="pres">
      <dgm:prSet presAssocID="{A9C3754A-ADAE-4FBF-8FA8-EFED6D044B39}" presName="thickLine" presStyleLbl="alignNode1" presStyleIdx="2" presStyleCnt="10"/>
      <dgm:spPr/>
    </dgm:pt>
    <dgm:pt modelId="{408C4470-2682-421C-BFE1-05167BBBF6DE}" type="pres">
      <dgm:prSet presAssocID="{A9C3754A-ADAE-4FBF-8FA8-EFED6D044B39}" presName="horz1" presStyleCnt="0"/>
      <dgm:spPr/>
    </dgm:pt>
    <dgm:pt modelId="{C463BD35-B34C-4089-8742-CB123F54A8E2}" type="pres">
      <dgm:prSet presAssocID="{A9C3754A-ADAE-4FBF-8FA8-EFED6D044B39}" presName="tx1" presStyleLbl="revTx" presStyleIdx="2" presStyleCnt="10"/>
      <dgm:spPr/>
    </dgm:pt>
    <dgm:pt modelId="{A0486460-69C0-45C2-A52A-27AE422E9F15}" type="pres">
      <dgm:prSet presAssocID="{A9C3754A-ADAE-4FBF-8FA8-EFED6D044B39}" presName="vert1" presStyleCnt="0"/>
      <dgm:spPr/>
    </dgm:pt>
    <dgm:pt modelId="{13742727-5AE0-4B4F-9FA5-2CC07D5E2CB5}" type="pres">
      <dgm:prSet presAssocID="{28596D93-45C2-4A3C-8C64-24A7700340F4}" presName="thickLine" presStyleLbl="alignNode1" presStyleIdx="3" presStyleCnt="10"/>
      <dgm:spPr/>
    </dgm:pt>
    <dgm:pt modelId="{148C3987-1AC5-429B-83B1-55BE95531989}" type="pres">
      <dgm:prSet presAssocID="{28596D93-45C2-4A3C-8C64-24A7700340F4}" presName="horz1" presStyleCnt="0"/>
      <dgm:spPr/>
    </dgm:pt>
    <dgm:pt modelId="{E7370727-B2FF-4811-A551-D961CFA8C617}" type="pres">
      <dgm:prSet presAssocID="{28596D93-45C2-4A3C-8C64-24A7700340F4}" presName="tx1" presStyleLbl="revTx" presStyleIdx="3" presStyleCnt="10"/>
      <dgm:spPr/>
    </dgm:pt>
    <dgm:pt modelId="{D76DDA9B-D7BA-4D13-A6DD-071397433E89}" type="pres">
      <dgm:prSet presAssocID="{28596D93-45C2-4A3C-8C64-24A7700340F4}" presName="vert1" presStyleCnt="0"/>
      <dgm:spPr/>
    </dgm:pt>
    <dgm:pt modelId="{4B562114-2EAE-471B-B1AA-DE9E82BB56A3}" type="pres">
      <dgm:prSet presAssocID="{5BCBA574-2C9F-4C95-9862-BA66DBFC5626}" presName="thickLine" presStyleLbl="alignNode1" presStyleIdx="4" presStyleCnt="10"/>
      <dgm:spPr/>
    </dgm:pt>
    <dgm:pt modelId="{92DA8CDD-5B06-4B47-BD15-828B721C689F}" type="pres">
      <dgm:prSet presAssocID="{5BCBA574-2C9F-4C95-9862-BA66DBFC5626}" presName="horz1" presStyleCnt="0"/>
      <dgm:spPr/>
    </dgm:pt>
    <dgm:pt modelId="{15A66F0C-5DED-4671-8A1D-33998F6BF9B4}" type="pres">
      <dgm:prSet presAssocID="{5BCBA574-2C9F-4C95-9862-BA66DBFC5626}" presName="tx1" presStyleLbl="revTx" presStyleIdx="4" presStyleCnt="10"/>
      <dgm:spPr/>
    </dgm:pt>
    <dgm:pt modelId="{4385C62E-C2C9-4EB2-9064-14C0C09D8740}" type="pres">
      <dgm:prSet presAssocID="{5BCBA574-2C9F-4C95-9862-BA66DBFC5626}" presName="vert1" presStyleCnt="0"/>
      <dgm:spPr/>
    </dgm:pt>
    <dgm:pt modelId="{2DCBA6C6-AF02-44DE-9247-D2F065F52377}" type="pres">
      <dgm:prSet presAssocID="{19EBD1F7-13DF-42D8-9AD2-F936C6DE4C67}" presName="thickLine" presStyleLbl="alignNode1" presStyleIdx="5" presStyleCnt="10"/>
      <dgm:spPr/>
    </dgm:pt>
    <dgm:pt modelId="{914C19C5-DE46-4C92-B5CE-6758CEE2FB6D}" type="pres">
      <dgm:prSet presAssocID="{19EBD1F7-13DF-42D8-9AD2-F936C6DE4C67}" presName="horz1" presStyleCnt="0"/>
      <dgm:spPr/>
    </dgm:pt>
    <dgm:pt modelId="{A8EB4285-B29A-4743-88AB-E73E63DA0623}" type="pres">
      <dgm:prSet presAssocID="{19EBD1F7-13DF-42D8-9AD2-F936C6DE4C67}" presName="tx1" presStyleLbl="revTx" presStyleIdx="5" presStyleCnt="10"/>
      <dgm:spPr/>
    </dgm:pt>
    <dgm:pt modelId="{18A336C6-A382-4274-91AC-983C41595CAB}" type="pres">
      <dgm:prSet presAssocID="{19EBD1F7-13DF-42D8-9AD2-F936C6DE4C67}" presName="vert1" presStyleCnt="0"/>
      <dgm:spPr/>
    </dgm:pt>
    <dgm:pt modelId="{DD0DF90F-10AC-4D4E-A2B1-D1C894439D3B}" type="pres">
      <dgm:prSet presAssocID="{7831D4EF-1F1F-4055-8488-03B43632E69C}" presName="thickLine" presStyleLbl="alignNode1" presStyleIdx="6" presStyleCnt="10"/>
      <dgm:spPr/>
    </dgm:pt>
    <dgm:pt modelId="{3A024BDA-6D04-4105-8588-3A483B5D1D04}" type="pres">
      <dgm:prSet presAssocID="{7831D4EF-1F1F-4055-8488-03B43632E69C}" presName="horz1" presStyleCnt="0"/>
      <dgm:spPr/>
    </dgm:pt>
    <dgm:pt modelId="{02D98E51-05CB-40CF-AA5C-0507B02A9072}" type="pres">
      <dgm:prSet presAssocID="{7831D4EF-1F1F-4055-8488-03B43632E69C}" presName="tx1" presStyleLbl="revTx" presStyleIdx="6" presStyleCnt="10"/>
      <dgm:spPr/>
    </dgm:pt>
    <dgm:pt modelId="{556B8C71-DD72-4EFD-81D0-519B958E9748}" type="pres">
      <dgm:prSet presAssocID="{7831D4EF-1F1F-4055-8488-03B43632E69C}" presName="vert1" presStyleCnt="0"/>
      <dgm:spPr/>
    </dgm:pt>
    <dgm:pt modelId="{07114E11-9921-41DD-BF0B-938071C7B423}" type="pres">
      <dgm:prSet presAssocID="{05464D4B-4D2A-4F3C-9A1C-CC8CD6968E52}" presName="thickLine" presStyleLbl="alignNode1" presStyleIdx="7" presStyleCnt="10"/>
      <dgm:spPr/>
    </dgm:pt>
    <dgm:pt modelId="{37E2FFFA-12F7-4A33-9A6A-8EE32CFCE254}" type="pres">
      <dgm:prSet presAssocID="{05464D4B-4D2A-4F3C-9A1C-CC8CD6968E52}" presName="horz1" presStyleCnt="0"/>
      <dgm:spPr/>
    </dgm:pt>
    <dgm:pt modelId="{547CE18C-C8F3-4EB1-8B2C-301537695C32}" type="pres">
      <dgm:prSet presAssocID="{05464D4B-4D2A-4F3C-9A1C-CC8CD6968E52}" presName="tx1" presStyleLbl="revTx" presStyleIdx="7" presStyleCnt="10"/>
      <dgm:spPr/>
    </dgm:pt>
    <dgm:pt modelId="{D27A442C-98D0-401E-89E0-83BDB768861C}" type="pres">
      <dgm:prSet presAssocID="{05464D4B-4D2A-4F3C-9A1C-CC8CD6968E52}" presName="vert1" presStyleCnt="0"/>
      <dgm:spPr/>
    </dgm:pt>
    <dgm:pt modelId="{4BDB7927-F096-4A64-9FBB-DF82F03EB65B}" type="pres">
      <dgm:prSet presAssocID="{843B17E9-EF32-4D16-82E4-F4BBC982AD09}" presName="thickLine" presStyleLbl="alignNode1" presStyleIdx="8" presStyleCnt="10"/>
      <dgm:spPr/>
    </dgm:pt>
    <dgm:pt modelId="{2DA83DC7-0F16-4138-96D3-60AF599F6523}" type="pres">
      <dgm:prSet presAssocID="{843B17E9-EF32-4D16-82E4-F4BBC982AD09}" presName="horz1" presStyleCnt="0"/>
      <dgm:spPr/>
    </dgm:pt>
    <dgm:pt modelId="{8225354B-D0D9-4EC6-8AC5-C5D2AAF17516}" type="pres">
      <dgm:prSet presAssocID="{843B17E9-EF32-4D16-82E4-F4BBC982AD09}" presName="tx1" presStyleLbl="revTx" presStyleIdx="8" presStyleCnt="10"/>
      <dgm:spPr/>
    </dgm:pt>
    <dgm:pt modelId="{E8D60E5F-567C-4327-BD37-922626810BA2}" type="pres">
      <dgm:prSet presAssocID="{843B17E9-EF32-4D16-82E4-F4BBC982AD09}" presName="vert1" presStyleCnt="0"/>
      <dgm:spPr/>
    </dgm:pt>
    <dgm:pt modelId="{A87D150A-B081-47B5-85D0-01452E5EBE4A}" type="pres">
      <dgm:prSet presAssocID="{3DB2C3D3-E0E8-4EEF-95B3-E53F896A0F28}" presName="thickLine" presStyleLbl="alignNode1" presStyleIdx="9" presStyleCnt="10"/>
      <dgm:spPr/>
    </dgm:pt>
    <dgm:pt modelId="{D7B35C53-CEF9-4425-A0F9-24642DEFB81A}" type="pres">
      <dgm:prSet presAssocID="{3DB2C3D3-E0E8-4EEF-95B3-E53F896A0F28}" presName="horz1" presStyleCnt="0"/>
      <dgm:spPr/>
    </dgm:pt>
    <dgm:pt modelId="{9AE944CD-4644-4563-A5B6-5850311DD2F3}" type="pres">
      <dgm:prSet presAssocID="{3DB2C3D3-E0E8-4EEF-95B3-E53F896A0F28}" presName="tx1" presStyleLbl="revTx" presStyleIdx="9" presStyleCnt="10"/>
      <dgm:spPr/>
    </dgm:pt>
    <dgm:pt modelId="{63C787DC-6145-48E5-BDB1-A3BC958F2BC2}" type="pres">
      <dgm:prSet presAssocID="{3DB2C3D3-E0E8-4EEF-95B3-E53F896A0F28}" presName="vert1" presStyleCnt="0"/>
      <dgm:spPr/>
    </dgm:pt>
  </dgm:ptLst>
  <dgm:cxnLst>
    <dgm:cxn modelId="{4D68A901-57A9-4221-AE1E-88F068AE0FCB}" srcId="{D785B872-813D-496C-8686-C0A7D68FF8F7}" destId="{EEC23261-6289-466B-9347-767A57925574}" srcOrd="0" destOrd="0" parTransId="{E50F4222-A332-49D4-8A5A-8125DFEF3F20}" sibTransId="{BAFFC1DF-758A-445D-8647-2FFD38A411C1}"/>
    <dgm:cxn modelId="{7CE35304-585F-43F8-A7A8-B68555175DB8}" type="presOf" srcId="{D785B872-813D-496C-8686-C0A7D68FF8F7}" destId="{1D4BAC72-0DEA-414F-AC24-0028F386F489}" srcOrd="0" destOrd="0" presId="urn:microsoft.com/office/officeart/2008/layout/LinedList"/>
    <dgm:cxn modelId="{6CD26505-572D-4268-81A0-270E824C09FD}" srcId="{D785B872-813D-496C-8686-C0A7D68FF8F7}" destId="{3DB2C3D3-E0E8-4EEF-95B3-E53F896A0F28}" srcOrd="9" destOrd="0" parTransId="{37435F1A-781D-4755-A66B-B3EEC79386AC}" sibTransId="{96178F90-388D-4060-B256-F34DBC00ECB7}"/>
    <dgm:cxn modelId="{13B5AD05-CF40-4532-B1C4-220E2EA4F2F4}" srcId="{D785B872-813D-496C-8686-C0A7D68FF8F7}" destId="{19EBD1F7-13DF-42D8-9AD2-F936C6DE4C67}" srcOrd="5" destOrd="0" parTransId="{FAC58383-DD4E-4E11-9581-025A13DFB8C0}" sibTransId="{AD7CAAE4-4D84-4AD4-AF9B-C634A38DFE73}"/>
    <dgm:cxn modelId="{F5F9F90C-572E-4C4F-89D8-C9DF2C28B27C}" type="presOf" srcId="{E12F886A-D8F1-4823-946F-544BA205D2C9}" destId="{468C937C-B211-4E28-B847-A15B7BC1ADE6}" srcOrd="0" destOrd="0" presId="urn:microsoft.com/office/officeart/2008/layout/LinedList"/>
    <dgm:cxn modelId="{79609B1A-1AE2-4B79-9343-F9E440CCDFA8}" srcId="{D785B872-813D-496C-8686-C0A7D68FF8F7}" destId="{E12F886A-D8F1-4823-946F-544BA205D2C9}" srcOrd="1" destOrd="0" parTransId="{AFDF6E3F-E17C-4DBE-930A-790E411E4139}" sibTransId="{D5F308C6-F6F5-4FDB-BC3D-894657DD7CED}"/>
    <dgm:cxn modelId="{0591A71C-AC93-43DF-A375-19CA87E87E90}" type="presOf" srcId="{5BCBA574-2C9F-4C95-9862-BA66DBFC5626}" destId="{15A66F0C-5DED-4671-8A1D-33998F6BF9B4}" srcOrd="0" destOrd="0" presId="urn:microsoft.com/office/officeart/2008/layout/LinedList"/>
    <dgm:cxn modelId="{E8832420-601C-431E-89E8-72F0B2875ED2}" type="presOf" srcId="{EEC23261-6289-466B-9347-767A57925574}" destId="{3C2446EC-1728-4961-8FEE-22618AC8BD5A}" srcOrd="0" destOrd="0" presId="urn:microsoft.com/office/officeart/2008/layout/LinedList"/>
    <dgm:cxn modelId="{034C6B3B-7031-45FC-A9AA-5FFFBD139D36}" srcId="{D785B872-813D-496C-8686-C0A7D68FF8F7}" destId="{28596D93-45C2-4A3C-8C64-24A7700340F4}" srcOrd="3" destOrd="0" parTransId="{E24D8F59-9835-421F-9575-FDA27436596D}" sibTransId="{E1E254B2-7409-41FC-99F9-516CEB71BC94}"/>
    <dgm:cxn modelId="{E1D2A640-3371-46CE-BE25-5DA5FD253DE8}" type="presOf" srcId="{05464D4B-4D2A-4F3C-9A1C-CC8CD6968E52}" destId="{547CE18C-C8F3-4EB1-8B2C-301537695C32}" srcOrd="0" destOrd="0" presId="urn:microsoft.com/office/officeart/2008/layout/LinedList"/>
    <dgm:cxn modelId="{3E426F44-2CBF-4C0C-ABE7-D37E16F309C9}" type="presOf" srcId="{7831D4EF-1F1F-4055-8488-03B43632E69C}" destId="{02D98E51-05CB-40CF-AA5C-0507B02A9072}" srcOrd="0" destOrd="0" presId="urn:microsoft.com/office/officeart/2008/layout/LinedList"/>
    <dgm:cxn modelId="{AB153068-7335-4568-A5E5-DFAF93A4012B}" srcId="{D785B872-813D-496C-8686-C0A7D68FF8F7}" destId="{05464D4B-4D2A-4F3C-9A1C-CC8CD6968E52}" srcOrd="7" destOrd="0" parTransId="{4C33CE62-B703-492E-9400-BDFD43DE4F55}" sibTransId="{497144FE-B42C-4014-810D-ABF54F9ADFDC}"/>
    <dgm:cxn modelId="{3317C06A-69E0-49D9-A977-60853E8A57A8}" type="presOf" srcId="{3DB2C3D3-E0E8-4EEF-95B3-E53F896A0F28}" destId="{9AE944CD-4644-4563-A5B6-5850311DD2F3}" srcOrd="0" destOrd="0" presId="urn:microsoft.com/office/officeart/2008/layout/LinedList"/>
    <dgm:cxn modelId="{8A6A924E-D0A2-4D8B-8B03-9452440CE7E5}" type="presOf" srcId="{28596D93-45C2-4A3C-8C64-24A7700340F4}" destId="{E7370727-B2FF-4811-A551-D961CFA8C617}" srcOrd="0" destOrd="0" presId="urn:microsoft.com/office/officeart/2008/layout/LinedList"/>
    <dgm:cxn modelId="{0BB8A250-246C-4043-8EF4-4665F8958FF4}" type="presOf" srcId="{19EBD1F7-13DF-42D8-9AD2-F936C6DE4C67}" destId="{A8EB4285-B29A-4743-88AB-E73E63DA0623}" srcOrd="0" destOrd="0" presId="urn:microsoft.com/office/officeart/2008/layout/LinedList"/>
    <dgm:cxn modelId="{E89ECF9E-434C-4397-A34C-8CAD39040CAD}" srcId="{D785B872-813D-496C-8686-C0A7D68FF8F7}" destId="{843B17E9-EF32-4D16-82E4-F4BBC982AD09}" srcOrd="8" destOrd="0" parTransId="{B9D45757-D6FC-4A91-BD78-526CE033BAA2}" sibTransId="{031100B1-CC9E-44A0-915C-1B48DC658F02}"/>
    <dgm:cxn modelId="{472410B2-3EE7-48F7-9174-CBAA1ECF39D8}" srcId="{D785B872-813D-496C-8686-C0A7D68FF8F7}" destId="{7831D4EF-1F1F-4055-8488-03B43632E69C}" srcOrd="6" destOrd="0" parTransId="{75A196CA-D265-41DC-962E-214FB0A96074}" sibTransId="{C0AF4231-E2A0-4AC8-A265-8CA3921CEB11}"/>
    <dgm:cxn modelId="{FB8755B9-44BE-4585-84DF-67350E676BD5}" srcId="{D785B872-813D-496C-8686-C0A7D68FF8F7}" destId="{A9C3754A-ADAE-4FBF-8FA8-EFED6D044B39}" srcOrd="2" destOrd="0" parTransId="{E46F723D-47D4-43ED-A254-8C2F318943E3}" sibTransId="{A4584177-4E67-4ABB-82DB-BBD15F5FB37A}"/>
    <dgm:cxn modelId="{40C7B8C1-7546-4FE9-B680-5C115D94CC6F}" srcId="{D785B872-813D-496C-8686-C0A7D68FF8F7}" destId="{5BCBA574-2C9F-4C95-9862-BA66DBFC5626}" srcOrd="4" destOrd="0" parTransId="{66AF69EE-8D1E-4071-BC36-0F337A01489A}" sibTransId="{A1F2671D-5ECF-46A2-9B41-048877995682}"/>
    <dgm:cxn modelId="{8A553CD3-EE10-41F0-B69D-DBBDF10CF839}" type="presOf" srcId="{843B17E9-EF32-4D16-82E4-F4BBC982AD09}" destId="{8225354B-D0D9-4EC6-8AC5-C5D2AAF17516}" srcOrd="0" destOrd="0" presId="urn:microsoft.com/office/officeart/2008/layout/LinedList"/>
    <dgm:cxn modelId="{0F0F76F2-9ADC-4BCA-BF7E-3900CDD3E0A6}" type="presOf" srcId="{A9C3754A-ADAE-4FBF-8FA8-EFED6D044B39}" destId="{C463BD35-B34C-4089-8742-CB123F54A8E2}" srcOrd="0" destOrd="0" presId="urn:microsoft.com/office/officeart/2008/layout/LinedList"/>
    <dgm:cxn modelId="{C504AA48-EC38-4B12-9240-E5B58BEC9EA3}" type="presParOf" srcId="{1D4BAC72-0DEA-414F-AC24-0028F386F489}" destId="{3B494AAF-5F6E-476A-875A-187D2BC51E17}" srcOrd="0" destOrd="0" presId="urn:microsoft.com/office/officeart/2008/layout/LinedList"/>
    <dgm:cxn modelId="{1D7BBF97-55DE-443D-8D64-44DE7EE2BD92}" type="presParOf" srcId="{1D4BAC72-0DEA-414F-AC24-0028F386F489}" destId="{C95B0C83-BABF-41DA-B290-7E72FEC64C99}" srcOrd="1" destOrd="0" presId="urn:microsoft.com/office/officeart/2008/layout/LinedList"/>
    <dgm:cxn modelId="{C09F9616-B685-45B4-A4CE-BEC858547FBD}" type="presParOf" srcId="{C95B0C83-BABF-41DA-B290-7E72FEC64C99}" destId="{3C2446EC-1728-4961-8FEE-22618AC8BD5A}" srcOrd="0" destOrd="0" presId="urn:microsoft.com/office/officeart/2008/layout/LinedList"/>
    <dgm:cxn modelId="{04EE1C1D-A25D-4D44-9257-FFFF1B2351B6}" type="presParOf" srcId="{C95B0C83-BABF-41DA-B290-7E72FEC64C99}" destId="{0E5F9A11-BA30-4BC3-9F75-95502CAE6495}" srcOrd="1" destOrd="0" presId="urn:microsoft.com/office/officeart/2008/layout/LinedList"/>
    <dgm:cxn modelId="{B9F8D113-177C-41C4-B516-E3A201BDD075}" type="presParOf" srcId="{1D4BAC72-0DEA-414F-AC24-0028F386F489}" destId="{CCE5050B-B793-4B6C-9EF5-81DA85EC629C}" srcOrd="2" destOrd="0" presId="urn:microsoft.com/office/officeart/2008/layout/LinedList"/>
    <dgm:cxn modelId="{C453C614-4C7A-4FA8-8628-FDAF8B53B54F}" type="presParOf" srcId="{1D4BAC72-0DEA-414F-AC24-0028F386F489}" destId="{45FF1D49-B24E-4856-9FBF-F012BC9BBB67}" srcOrd="3" destOrd="0" presId="urn:microsoft.com/office/officeart/2008/layout/LinedList"/>
    <dgm:cxn modelId="{9C86D3D3-DE94-4146-9814-24B6D8DE78E8}" type="presParOf" srcId="{45FF1D49-B24E-4856-9FBF-F012BC9BBB67}" destId="{468C937C-B211-4E28-B847-A15B7BC1ADE6}" srcOrd="0" destOrd="0" presId="urn:microsoft.com/office/officeart/2008/layout/LinedList"/>
    <dgm:cxn modelId="{19D36F2C-6FC4-4CF1-97D0-82DC5DCA4BA8}" type="presParOf" srcId="{45FF1D49-B24E-4856-9FBF-F012BC9BBB67}" destId="{51986E79-2852-4C0D-9FE2-928B2F3B322E}" srcOrd="1" destOrd="0" presId="urn:microsoft.com/office/officeart/2008/layout/LinedList"/>
    <dgm:cxn modelId="{73645799-5078-40C8-9F3F-CD441B4BEE6C}" type="presParOf" srcId="{1D4BAC72-0DEA-414F-AC24-0028F386F489}" destId="{0146F48B-1CB6-43A0-BB09-9AB73932D247}" srcOrd="4" destOrd="0" presId="urn:microsoft.com/office/officeart/2008/layout/LinedList"/>
    <dgm:cxn modelId="{4FFB234A-40D6-42FB-891F-8C73DFC7D3EF}" type="presParOf" srcId="{1D4BAC72-0DEA-414F-AC24-0028F386F489}" destId="{408C4470-2682-421C-BFE1-05167BBBF6DE}" srcOrd="5" destOrd="0" presId="urn:microsoft.com/office/officeart/2008/layout/LinedList"/>
    <dgm:cxn modelId="{5B5B7539-8B4B-4F1E-87AA-DB689ADEDB2C}" type="presParOf" srcId="{408C4470-2682-421C-BFE1-05167BBBF6DE}" destId="{C463BD35-B34C-4089-8742-CB123F54A8E2}" srcOrd="0" destOrd="0" presId="urn:microsoft.com/office/officeart/2008/layout/LinedList"/>
    <dgm:cxn modelId="{C127BF11-34CD-43AF-8800-DAC414F81155}" type="presParOf" srcId="{408C4470-2682-421C-BFE1-05167BBBF6DE}" destId="{A0486460-69C0-45C2-A52A-27AE422E9F15}" srcOrd="1" destOrd="0" presId="urn:microsoft.com/office/officeart/2008/layout/LinedList"/>
    <dgm:cxn modelId="{91E77DCC-7455-44E8-BC92-FC621BFD1B7D}" type="presParOf" srcId="{1D4BAC72-0DEA-414F-AC24-0028F386F489}" destId="{13742727-5AE0-4B4F-9FA5-2CC07D5E2CB5}" srcOrd="6" destOrd="0" presId="urn:microsoft.com/office/officeart/2008/layout/LinedList"/>
    <dgm:cxn modelId="{88219CC1-87F6-4938-8DBB-E2D3FEDF8A05}" type="presParOf" srcId="{1D4BAC72-0DEA-414F-AC24-0028F386F489}" destId="{148C3987-1AC5-429B-83B1-55BE95531989}" srcOrd="7" destOrd="0" presId="urn:microsoft.com/office/officeart/2008/layout/LinedList"/>
    <dgm:cxn modelId="{3FA8D2BF-70B1-4079-B8A8-6E7AC39BD4EE}" type="presParOf" srcId="{148C3987-1AC5-429B-83B1-55BE95531989}" destId="{E7370727-B2FF-4811-A551-D961CFA8C617}" srcOrd="0" destOrd="0" presId="urn:microsoft.com/office/officeart/2008/layout/LinedList"/>
    <dgm:cxn modelId="{60B1F5DB-2D06-48EF-92A9-2CBD06319D8A}" type="presParOf" srcId="{148C3987-1AC5-429B-83B1-55BE95531989}" destId="{D76DDA9B-D7BA-4D13-A6DD-071397433E89}" srcOrd="1" destOrd="0" presId="urn:microsoft.com/office/officeart/2008/layout/LinedList"/>
    <dgm:cxn modelId="{64EB4B8F-0E43-48B9-904B-CC71EAF9A860}" type="presParOf" srcId="{1D4BAC72-0DEA-414F-AC24-0028F386F489}" destId="{4B562114-2EAE-471B-B1AA-DE9E82BB56A3}" srcOrd="8" destOrd="0" presId="urn:microsoft.com/office/officeart/2008/layout/LinedList"/>
    <dgm:cxn modelId="{A73D1BA3-FFCE-4FA7-A9EC-A24BE4795ED3}" type="presParOf" srcId="{1D4BAC72-0DEA-414F-AC24-0028F386F489}" destId="{92DA8CDD-5B06-4B47-BD15-828B721C689F}" srcOrd="9" destOrd="0" presId="urn:microsoft.com/office/officeart/2008/layout/LinedList"/>
    <dgm:cxn modelId="{55EAB3BC-79B8-4BF1-8C02-055FABDC1B4C}" type="presParOf" srcId="{92DA8CDD-5B06-4B47-BD15-828B721C689F}" destId="{15A66F0C-5DED-4671-8A1D-33998F6BF9B4}" srcOrd="0" destOrd="0" presId="urn:microsoft.com/office/officeart/2008/layout/LinedList"/>
    <dgm:cxn modelId="{657277C3-048B-4085-8206-C06C25B7C4D6}" type="presParOf" srcId="{92DA8CDD-5B06-4B47-BD15-828B721C689F}" destId="{4385C62E-C2C9-4EB2-9064-14C0C09D8740}" srcOrd="1" destOrd="0" presId="urn:microsoft.com/office/officeart/2008/layout/LinedList"/>
    <dgm:cxn modelId="{41049A03-2E9D-440E-ABAC-67938C06F890}" type="presParOf" srcId="{1D4BAC72-0DEA-414F-AC24-0028F386F489}" destId="{2DCBA6C6-AF02-44DE-9247-D2F065F52377}" srcOrd="10" destOrd="0" presId="urn:microsoft.com/office/officeart/2008/layout/LinedList"/>
    <dgm:cxn modelId="{23D1552C-7B5A-46FF-A54C-353202043A4D}" type="presParOf" srcId="{1D4BAC72-0DEA-414F-AC24-0028F386F489}" destId="{914C19C5-DE46-4C92-B5CE-6758CEE2FB6D}" srcOrd="11" destOrd="0" presId="urn:microsoft.com/office/officeart/2008/layout/LinedList"/>
    <dgm:cxn modelId="{A53E1AEB-690D-49B6-B571-A239C066D589}" type="presParOf" srcId="{914C19C5-DE46-4C92-B5CE-6758CEE2FB6D}" destId="{A8EB4285-B29A-4743-88AB-E73E63DA0623}" srcOrd="0" destOrd="0" presId="urn:microsoft.com/office/officeart/2008/layout/LinedList"/>
    <dgm:cxn modelId="{79B4600F-2436-4B20-944D-BDF3CB65210D}" type="presParOf" srcId="{914C19C5-DE46-4C92-B5CE-6758CEE2FB6D}" destId="{18A336C6-A382-4274-91AC-983C41595CAB}" srcOrd="1" destOrd="0" presId="urn:microsoft.com/office/officeart/2008/layout/LinedList"/>
    <dgm:cxn modelId="{EF70F52D-9B80-4A3B-BFB5-70AAA2AF59AC}" type="presParOf" srcId="{1D4BAC72-0DEA-414F-AC24-0028F386F489}" destId="{DD0DF90F-10AC-4D4E-A2B1-D1C894439D3B}" srcOrd="12" destOrd="0" presId="urn:microsoft.com/office/officeart/2008/layout/LinedList"/>
    <dgm:cxn modelId="{4A6FC390-1A8E-4927-A270-43947E22702F}" type="presParOf" srcId="{1D4BAC72-0DEA-414F-AC24-0028F386F489}" destId="{3A024BDA-6D04-4105-8588-3A483B5D1D04}" srcOrd="13" destOrd="0" presId="urn:microsoft.com/office/officeart/2008/layout/LinedList"/>
    <dgm:cxn modelId="{E8874974-D39B-41DE-9FCC-24BF82BCA8B7}" type="presParOf" srcId="{3A024BDA-6D04-4105-8588-3A483B5D1D04}" destId="{02D98E51-05CB-40CF-AA5C-0507B02A9072}" srcOrd="0" destOrd="0" presId="urn:microsoft.com/office/officeart/2008/layout/LinedList"/>
    <dgm:cxn modelId="{C073C4CD-22FC-4909-812C-4237F2CD7042}" type="presParOf" srcId="{3A024BDA-6D04-4105-8588-3A483B5D1D04}" destId="{556B8C71-DD72-4EFD-81D0-519B958E9748}" srcOrd="1" destOrd="0" presId="urn:microsoft.com/office/officeart/2008/layout/LinedList"/>
    <dgm:cxn modelId="{988FD983-34AD-4E6B-999A-80C7C0CC3A8C}" type="presParOf" srcId="{1D4BAC72-0DEA-414F-AC24-0028F386F489}" destId="{07114E11-9921-41DD-BF0B-938071C7B423}" srcOrd="14" destOrd="0" presId="urn:microsoft.com/office/officeart/2008/layout/LinedList"/>
    <dgm:cxn modelId="{C4B01437-62F6-43B9-934B-E8BB563B1C9A}" type="presParOf" srcId="{1D4BAC72-0DEA-414F-AC24-0028F386F489}" destId="{37E2FFFA-12F7-4A33-9A6A-8EE32CFCE254}" srcOrd="15" destOrd="0" presId="urn:microsoft.com/office/officeart/2008/layout/LinedList"/>
    <dgm:cxn modelId="{4D4BBB06-08EE-4093-BBC7-217422C7861B}" type="presParOf" srcId="{37E2FFFA-12F7-4A33-9A6A-8EE32CFCE254}" destId="{547CE18C-C8F3-4EB1-8B2C-301537695C32}" srcOrd="0" destOrd="0" presId="urn:microsoft.com/office/officeart/2008/layout/LinedList"/>
    <dgm:cxn modelId="{F69923DD-F566-464B-ADEA-83B69F95B29E}" type="presParOf" srcId="{37E2FFFA-12F7-4A33-9A6A-8EE32CFCE254}" destId="{D27A442C-98D0-401E-89E0-83BDB768861C}" srcOrd="1" destOrd="0" presId="urn:microsoft.com/office/officeart/2008/layout/LinedList"/>
    <dgm:cxn modelId="{5585B136-E3AA-4A51-870E-21F300E53E6C}" type="presParOf" srcId="{1D4BAC72-0DEA-414F-AC24-0028F386F489}" destId="{4BDB7927-F096-4A64-9FBB-DF82F03EB65B}" srcOrd="16" destOrd="0" presId="urn:microsoft.com/office/officeart/2008/layout/LinedList"/>
    <dgm:cxn modelId="{BB5C5FAC-86F8-4AE9-ADFC-866D9861A4EC}" type="presParOf" srcId="{1D4BAC72-0DEA-414F-AC24-0028F386F489}" destId="{2DA83DC7-0F16-4138-96D3-60AF599F6523}" srcOrd="17" destOrd="0" presId="urn:microsoft.com/office/officeart/2008/layout/LinedList"/>
    <dgm:cxn modelId="{E7DCC673-D4BD-4ABB-AFDA-ABD9D9DA28C6}" type="presParOf" srcId="{2DA83DC7-0F16-4138-96D3-60AF599F6523}" destId="{8225354B-D0D9-4EC6-8AC5-C5D2AAF17516}" srcOrd="0" destOrd="0" presId="urn:microsoft.com/office/officeart/2008/layout/LinedList"/>
    <dgm:cxn modelId="{AA525F41-2E35-448F-8BBD-70D2AF689B3E}" type="presParOf" srcId="{2DA83DC7-0F16-4138-96D3-60AF599F6523}" destId="{E8D60E5F-567C-4327-BD37-922626810BA2}" srcOrd="1" destOrd="0" presId="urn:microsoft.com/office/officeart/2008/layout/LinedList"/>
    <dgm:cxn modelId="{43601290-405B-4E94-9E1B-A7C9C9803C95}" type="presParOf" srcId="{1D4BAC72-0DEA-414F-AC24-0028F386F489}" destId="{A87D150A-B081-47B5-85D0-01452E5EBE4A}" srcOrd="18" destOrd="0" presId="urn:microsoft.com/office/officeart/2008/layout/LinedList"/>
    <dgm:cxn modelId="{B5A72FFB-7A35-4C79-90BF-925AEA5ED786}" type="presParOf" srcId="{1D4BAC72-0DEA-414F-AC24-0028F386F489}" destId="{D7B35C53-CEF9-4425-A0F9-24642DEFB81A}" srcOrd="19" destOrd="0" presId="urn:microsoft.com/office/officeart/2008/layout/LinedList"/>
    <dgm:cxn modelId="{9102014B-405B-4BD9-A7CF-B22A1374439A}" type="presParOf" srcId="{D7B35C53-CEF9-4425-A0F9-24642DEFB81A}" destId="{9AE944CD-4644-4563-A5B6-5850311DD2F3}" srcOrd="0" destOrd="0" presId="urn:microsoft.com/office/officeart/2008/layout/LinedList"/>
    <dgm:cxn modelId="{72CAE46C-64D3-422B-8314-B35CB847EEFF}" type="presParOf" srcId="{D7B35C53-CEF9-4425-A0F9-24642DEFB81A}" destId="{63C787DC-6145-48E5-BDB1-A3BC958F2BC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F777B4E-5234-4287-83F5-3796203DDCA1}" type="doc">
      <dgm:prSet loTypeId="urn:microsoft.com/office/officeart/2005/8/layout/hierarchy2" loCatId="hierarchy" qsTypeId="urn:microsoft.com/office/officeart/2005/8/quickstyle/simple1" qsCatId="simple" csTypeId="urn:microsoft.com/office/officeart/2005/8/colors/colorful2" csCatId="colorful"/>
      <dgm:spPr/>
      <dgm:t>
        <a:bodyPr/>
        <a:lstStyle/>
        <a:p>
          <a:endParaRPr lang="en-US"/>
        </a:p>
      </dgm:t>
    </dgm:pt>
    <dgm:pt modelId="{2D8C6EFF-A357-4BEF-83C5-0DEC906B3232}">
      <dgm:prSet/>
      <dgm:spPr/>
      <dgm:t>
        <a:bodyPr/>
        <a:lstStyle/>
        <a:p>
          <a:r>
            <a:rPr lang="en-IE"/>
            <a:t>Availability</a:t>
          </a:r>
          <a:endParaRPr lang="en-US"/>
        </a:p>
      </dgm:t>
    </dgm:pt>
    <dgm:pt modelId="{9D637C3B-35D8-4D5C-BFEA-D33BE7BBEEE4}" type="parTrans" cxnId="{86C1684D-EF0E-4DD3-BCA5-BFB0091B15AB}">
      <dgm:prSet/>
      <dgm:spPr/>
      <dgm:t>
        <a:bodyPr/>
        <a:lstStyle/>
        <a:p>
          <a:endParaRPr lang="en-US"/>
        </a:p>
      </dgm:t>
    </dgm:pt>
    <dgm:pt modelId="{B62E1693-C604-4BF1-BC5E-7D9D51B723B3}" type="sibTrans" cxnId="{86C1684D-EF0E-4DD3-BCA5-BFB0091B15AB}">
      <dgm:prSet/>
      <dgm:spPr/>
      <dgm:t>
        <a:bodyPr/>
        <a:lstStyle/>
        <a:p>
          <a:endParaRPr lang="en-US"/>
        </a:p>
      </dgm:t>
    </dgm:pt>
    <dgm:pt modelId="{EE84186D-02C8-4CB2-AAD3-702A8598413D}">
      <dgm:prSet/>
      <dgm:spPr/>
      <dgm:t>
        <a:bodyPr/>
        <a:lstStyle/>
        <a:p>
          <a:r>
            <a:rPr lang="en-IE"/>
            <a:t>Appropriateness</a:t>
          </a:r>
          <a:endParaRPr lang="en-US"/>
        </a:p>
      </dgm:t>
    </dgm:pt>
    <dgm:pt modelId="{08E60A4F-BB1C-4276-8C7D-6F84D6F65650}" type="parTrans" cxnId="{2B987F12-3087-4640-B5EE-0341D930C7B2}">
      <dgm:prSet/>
      <dgm:spPr/>
      <dgm:t>
        <a:bodyPr/>
        <a:lstStyle/>
        <a:p>
          <a:endParaRPr lang="en-US"/>
        </a:p>
      </dgm:t>
    </dgm:pt>
    <dgm:pt modelId="{19B5FD17-1937-4161-9F66-3B71BA436BD5}" type="sibTrans" cxnId="{2B987F12-3087-4640-B5EE-0341D930C7B2}">
      <dgm:prSet/>
      <dgm:spPr/>
      <dgm:t>
        <a:bodyPr/>
        <a:lstStyle/>
        <a:p>
          <a:endParaRPr lang="en-US"/>
        </a:p>
      </dgm:t>
    </dgm:pt>
    <dgm:pt modelId="{E115ED29-12AB-4A4C-B8F0-C49474152DF1}">
      <dgm:prSet/>
      <dgm:spPr/>
      <dgm:t>
        <a:bodyPr/>
        <a:lstStyle/>
        <a:p>
          <a:r>
            <a:rPr lang="en-IE"/>
            <a:t>Evidence of Reliability</a:t>
          </a:r>
          <a:endParaRPr lang="en-US"/>
        </a:p>
      </dgm:t>
    </dgm:pt>
    <dgm:pt modelId="{8C0A24B1-4E69-44AF-B413-8FF0808F3A6C}" type="parTrans" cxnId="{779F7F99-8417-49CC-BAA2-4A84B9B5797B}">
      <dgm:prSet/>
      <dgm:spPr/>
      <dgm:t>
        <a:bodyPr/>
        <a:lstStyle/>
        <a:p>
          <a:endParaRPr lang="en-US"/>
        </a:p>
      </dgm:t>
    </dgm:pt>
    <dgm:pt modelId="{CEEBC66C-063F-465E-94B4-BD07B7C800AE}" type="sibTrans" cxnId="{779F7F99-8417-49CC-BAA2-4A84B9B5797B}">
      <dgm:prSet/>
      <dgm:spPr/>
      <dgm:t>
        <a:bodyPr/>
        <a:lstStyle/>
        <a:p>
          <a:endParaRPr lang="en-US"/>
        </a:p>
      </dgm:t>
    </dgm:pt>
    <dgm:pt modelId="{0B58DB5F-0561-4B5F-B0B1-D1CD176C2468}">
      <dgm:prSet/>
      <dgm:spPr/>
      <dgm:t>
        <a:bodyPr/>
        <a:lstStyle/>
        <a:p>
          <a:r>
            <a:rPr lang="en-IE"/>
            <a:t>Evidence of Validity</a:t>
          </a:r>
          <a:endParaRPr lang="en-US"/>
        </a:p>
      </dgm:t>
    </dgm:pt>
    <dgm:pt modelId="{9C169238-6779-4EB2-834E-E26651BE55F0}" type="parTrans" cxnId="{65946F72-45C0-491E-8871-2FE0D7F0F820}">
      <dgm:prSet/>
      <dgm:spPr/>
      <dgm:t>
        <a:bodyPr/>
        <a:lstStyle/>
        <a:p>
          <a:endParaRPr lang="en-US"/>
        </a:p>
      </dgm:t>
    </dgm:pt>
    <dgm:pt modelId="{5B3277A8-F74B-471F-9CF8-1C54457B0F86}" type="sibTrans" cxnId="{65946F72-45C0-491E-8871-2FE0D7F0F820}">
      <dgm:prSet/>
      <dgm:spPr/>
      <dgm:t>
        <a:bodyPr/>
        <a:lstStyle/>
        <a:p>
          <a:endParaRPr lang="en-US"/>
        </a:p>
      </dgm:t>
    </dgm:pt>
    <dgm:pt modelId="{1D82636D-2316-47E1-925B-2A8CE9109E4A}">
      <dgm:prSet/>
      <dgm:spPr/>
      <dgm:t>
        <a:bodyPr/>
        <a:lstStyle/>
        <a:p>
          <a:r>
            <a:rPr lang="en-IE"/>
            <a:t>Face/Faith Validity</a:t>
          </a:r>
          <a:endParaRPr lang="en-US"/>
        </a:p>
      </dgm:t>
    </dgm:pt>
    <dgm:pt modelId="{352021A1-25BD-45DD-B944-051F4970A22E}" type="parTrans" cxnId="{12C81CC9-853D-4E22-923B-471356D04AED}">
      <dgm:prSet/>
      <dgm:spPr/>
      <dgm:t>
        <a:bodyPr/>
        <a:lstStyle/>
        <a:p>
          <a:endParaRPr lang="en-US"/>
        </a:p>
      </dgm:t>
    </dgm:pt>
    <dgm:pt modelId="{FFB93C3A-2E40-4F28-B488-1AAA145F9D81}" type="sibTrans" cxnId="{12C81CC9-853D-4E22-923B-471356D04AED}">
      <dgm:prSet/>
      <dgm:spPr/>
      <dgm:t>
        <a:bodyPr/>
        <a:lstStyle/>
        <a:p>
          <a:endParaRPr lang="en-US"/>
        </a:p>
      </dgm:t>
    </dgm:pt>
    <dgm:pt modelId="{EC2F0EB6-951E-4A5B-9E20-0A54465634EF}">
      <dgm:prSet/>
      <dgm:spPr/>
      <dgm:t>
        <a:bodyPr/>
        <a:lstStyle/>
        <a:p>
          <a:r>
            <a:rPr lang="en-IE"/>
            <a:t>Content</a:t>
          </a:r>
          <a:endParaRPr lang="en-US"/>
        </a:p>
      </dgm:t>
    </dgm:pt>
    <dgm:pt modelId="{55AA1FD3-3673-44AC-A283-582BE2DCD92A}" type="parTrans" cxnId="{356A2396-0F04-4321-941F-A70BC5BCE595}">
      <dgm:prSet/>
      <dgm:spPr/>
      <dgm:t>
        <a:bodyPr/>
        <a:lstStyle/>
        <a:p>
          <a:endParaRPr lang="en-US"/>
        </a:p>
      </dgm:t>
    </dgm:pt>
    <dgm:pt modelId="{75DEDF13-1CAD-4588-89B4-9BDDDD3CA2FF}" type="sibTrans" cxnId="{356A2396-0F04-4321-941F-A70BC5BCE595}">
      <dgm:prSet/>
      <dgm:spPr/>
      <dgm:t>
        <a:bodyPr/>
        <a:lstStyle/>
        <a:p>
          <a:endParaRPr lang="en-US"/>
        </a:p>
      </dgm:t>
    </dgm:pt>
    <dgm:pt modelId="{B35DABCC-5105-4700-AA94-AE786DD2F910}">
      <dgm:prSet/>
      <dgm:spPr/>
      <dgm:t>
        <a:bodyPr/>
        <a:lstStyle/>
        <a:p>
          <a:r>
            <a:rPr lang="en-IE"/>
            <a:t>Construct</a:t>
          </a:r>
          <a:endParaRPr lang="en-US"/>
        </a:p>
      </dgm:t>
    </dgm:pt>
    <dgm:pt modelId="{ADF0E1B6-67BB-485E-AB65-113091A5C064}" type="parTrans" cxnId="{70D11CDD-871E-45C0-8638-2EC54C93564F}">
      <dgm:prSet/>
      <dgm:spPr/>
      <dgm:t>
        <a:bodyPr/>
        <a:lstStyle/>
        <a:p>
          <a:endParaRPr lang="en-US"/>
        </a:p>
      </dgm:t>
    </dgm:pt>
    <dgm:pt modelId="{A26F5F76-C2A5-4A72-AF71-7451CA373624}" type="sibTrans" cxnId="{70D11CDD-871E-45C0-8638-2EC54C93564F}">
      <dgm:prSet/>
      <dgm:spPr/>
      <dgm:t>
        <a:bodyPr/>
        <a:lstStyle/>
        <a:p>
          <a:endParaRPr lang="en-US"/>
        </a:p>
      </dgm:t>
    </dgm:pt>
    <dgm:pt modelId="{6B0DBCDB-6481-4C9B-831D-82D5D0ECD6F3}">
      <dgm:prSet/>
      <dgm:spPr/>
      <dgm:t>
        <a:bodyPr/>
        <a:lstStyle/>
        <a:p>
          <a:r>
            <a:rPr lang="en-IE"/>
            <a:t>Criterion</a:t>
          </a:r>
          <a:endParaRPr lang="en-US"/>
        </a:p>
      </dgm:t>
    </dgm:pt>
    <dgm:pt modelId="{E2D92498-D013-461C-933F-DEB51E6B7368}" type="parTrans" cxnId="{1D7F9DC8-0E12-4FB9-B002-6E4D1CDE4EE3}">
      <dgm:prSet/>
      <dgm:spPr/>
      <dgm:t>
        <a:bodyPr/>
        <a:lstStyle/>
        <a:p>
          <a:endParaRPr lang="en-US"/>
        </a:p>
      </dgm:t>
    </dgm:pt>
    <dgm:pt modelId="{1E167772-6BC5-4F88-B23E-AE724F21D828}" type="sibTrans" cxnId="{1D7F9DC8-0E12-4FB9-B002-6E4D1CDE4EE3}">
      <dgm:prSet/>
      <dgm:spPr/>
      <dgm:t>
        <a:bodyPr/>
        <a:lstStyle/>
        <a:p>
          <a:endParaRPr lang="en-US"/>
        </a:p>
      </dgm:t>
    </dgm:pt>
    <dgm:pt modelId="{1FAD2511-04AF-4B78-9835-3992058CE61E}">
      <dgm:prSet/>
      <dgm:spPr/>
      <dgm:t>
        <a:bodyPr/>
        <a:lstStyle/>
        <a:p>
          <a:r>
            <a:rPr lang="en-IE"/>
            <a:t>Evidence of the use of test elsewhere</a:t>
          </a:r>
          <a:endParaRPr lang="en-US"/>
        </a:p>
      </dgm:t>
    </dgm:pt>
    <dgm:pt modelId="{B07980B4-FD94-4E73-990C-C1D58B2A0131}" type="parTrans" cxnId="{9E36AA75-1D4F-40A1-976D-1418931F5C2A}">
      <dgm:prSet/>
      <dgm:spPr/>
      <dgm:t>
        <a:bodyPr/>
        <a:lstStyle/>
        <a:p>
          <a:endParaRPr lang="en-US"/>
        </a:p>
      </dgm:t>
    </dgm:pt>
    <dgm:pt modelId="{94376AAA-A20D-42A1-882E-D2FE014FB2A7}" type="sibTrans" cxnId="{9E36AA75-1D4F-40A1-976D-1418931F5C2A}">
      <dgm:prSet/>
      <dgm:spPr/>
      <dgm:t>
        <a:bodyPr/>
        <a:lstStyle/>
        <a:p>
          <a:endParaRPr lang="en-US"/>
        </a:p>
      </dgm:t>
    </dgm:pt>
    <dgm:pt modelId="{EB13AAF5-8334-46E7-97C1-1AB1DD3DD902}">
      <dgm:prSet/>
      <dgm:spPr/>
      <dgm:t>
        <a:bodyPr/>
        <a:lstStyle/>
        <a:p>
          <a:r>
            <a:rPr lang="en-IE"/>
            <a:t>Sensitive</a:t>
          </a:r>
          <a:endParaRPr lang="en-US"/>
        </a:p>
      </dgm:t>
    </dgm:pt>
    <dgm:pt modelId="{F8A3234A-BF92-4FC2-B2D3-8AECEFE5B7B1}" type="parTrans" cxnId="{4100AFE5-D787-4E6A-B0E9-D6AAF3B849C9}">
      <dgm:prSet/>
      <dgm:spPr/>
      <dgm:t>
        <a:bodyPr/>
        <a:lstStyle/>
        <a:p>
          <a:endParaRPr lang="en-US"/>
        </a:p>
      </dgm:t>
    </dgm:pt>
    <dgm:pt modelId="{003B1790-D517-4A37-8440-214C1F94AA9D}" type="sibTrans" cxnId="{4100AFE5-D787-4E6A-B0E9-D6AAF3B849C9}">
      <dgm:prSet/>
      <dgm:spPr/>
      <dgm:t>
        <a:bodyPr/>
        <a:lstStyle/>
        <a:p>
          <a:endParaRPr lang="en-US"/>
        </a:p>
      </dgm:t>
    </dgm:pt>
    <dgm:pt modelId="{7514AD88-3E12-4E2D-B4AA-6E943B78AFA3}">
      <dgm:prSet/>
      <dgm:spPr/>
      <dgm:t>
        <a:bodyPr/>
        <a:lstStyle/>
        <a:p>
          <a:r>
            <a:rPr lang="en-IE"/>
            <a:t>Prevents unfair Discrimination</a:t>
          </a:r>
          <a:endParaRPr lang="en-US"/>
        </a:p>
      </dgm:t>
    </dgm:pt>
    <dgm:pt modelId="{8FBDABF8-D31A-490B-AD25-38350E66B6CE}" type="parTrans" cxnId="{836D72F3-F7EC-4560-9332-9B58B22BFC61}">
      <dgm:prSet/>
      <dgm:spPr/>
      <dgm:t>
        <a:bodyPr/>
        <a:lstStyle/>
        <a:p>
          <a:endParaRPr lang="en-US"/>
        </a:p>
      </dgm:t>
    </dgm:pt>
    <dgm:pt modelId="{32CBAEE1-89C4-4C4F-AC96-7748B62E5CFE}" type="sibTrans" cxnId="{836D72F3-F7EC-4560-9332-9B58B22BFC61}">
      <dgm:prSet/>
      <dgm:spPr/>
      <dgm:t>
        <a:bodyPr/>
        <a:lstStyle/>
        <a:p>
          <a:endParaRPr lang="en-US"/>
        </a:p>
      </dgm:t>
    </dgm:pt>
    <dgm:pt modelId="{DDF1B264-EF8B-4555-B72D-177CB390BB7B}" type="pres">
      <dgm:prSet presAssocID="{BF777B4E-5234-4287-83F5-3796203DDCA1}" presName="diagram" presStyleCnt="0">
        <dgm:presLayoutVars>
          <dgm:chPref val="1"/>
          <dgm:dir/>
          <dgm:animOne val="branch"/>
          <dgm:animLvl val="lvl"/>
          <dgm:resizeHandles val="exact"/>
        </dgm:presLayoutVars>
      </dgm:prSet>
      <dgm:spPr/>
    </dgm:pt>
    <dgm:pt modelId="{19B791B7-85C1-408E-8D86-604AE4427F32}" type="pres">
      <dgm:prSet presAssocID="{2D8C6EFF-A357-4BEF-83C5-0DEC906B3232}" presName="root1" presStyleCnt="0"/>
      <dgm:spPr/>
    </dgm:pt>
    <dgm:pt modelId="{9C384CDA-C1A7-4606-B7B4-12F7E96B2DAC}" type="pres">
      <dgm:prSet presAssocID="{2D8C6EFF-A357-4BEF-83C5-0DEC906B3232}" presName="LevelOneTextNode" presStyleLbl="node0" presStyleIdx="0" presStyleCnt="2">
        <dgm:presLayoutVars>
          <dgm:chPref val="3"/>
        </dgm:presLayoutVars>
      </dgm:prSet>
      <dgm:spPr/>
    </dgm:pt>
    <dgm:pt modelId="{934238B7-B6E7-4534-940B-08F92359E51E}" type="pres">
      <dgm:prSet presAssocID="{2D8C6EFF-A357-4BEF-83C5-0DEC906B3232}" presName="level2hierChild" presStyleCnt="0"/>
      <dgm:spPr/>
    </dgm:pt>
    <dgm:pt modelId="{E61C47C9-1BB2-4D69-AB8A-0BE8DB9E70BF}" type="pres">
      <dgm:prSet presAssocID="{EE84186D-02C8-4CB2-AAD3-702A8598413D}" presName="root1" presStyleCnt="0"/>
      <dgm:spPr/>
    </dgm:pt>
    <dgm:pt modelId="{5CEE28D1-7C68-453F-B9D4-1C9B1C8E42FD}" type="pres">
      <dgm:prSet presAssocID="{EE84186D-02C8-4CB2-AAD3-702A8598413D}" presName="LevelOneTextNode" presStyleLbl="node0" presStyleIdx="1" presStyleCnt="2">
        <dgm:presLayoutVars>
          <dgm:chPref val="3"/>
        </dgm:presLayoutVars>
      </dgm:prSet>
      <dgm:spPr/>
    </dgm:pt>
    <dgm:pt modelId="{BB9E1F33-9154-4227-99A7-52232CBC4564}" type="pres">
      <dgm:prSet presAssocID="{EE84186D-02C8-4CB2-AAD3-702A8598413D}" presName="level2hierChild" presStyleCnt="0"/>
      <dgm:spPr/>
    </dgm:pt>
    <dgm:pt modelId="{D6DBB6DC-6A07-4A82-BB89-C2C2BEE7A928}" type="pres">
      <dgm:prSet presAssocID="{8C0A24B1-4E69-44AF-B413-8FF0808F3A6C}" presName="conn2-1" presStyleLbl="parChTrans1D2" presStyleIdx="0" presStyleCnt="5"/>
      <dgm:spPr/>
    </dgm:pt>
    <dgm:pt modelId="{01F4E7EF-2AA2-4A02-89F6-668B54351D2F}" type="pres">
      <dgm:prSet presAssocID="{8C0A24B1-4E69-44AF-B413-8FF0808F3A6C}" presName="connTx" presStyleLbl="parChTrans1D2" presStyleIdx="0" presStyleCnt="5"/>
      <dgm:spPr/>
    </dgm:pt>
    <dgm:pt modelId="{48821ECB-062F-4A81-900A-61A77C42B392}" type="pres">
      <dgm:prSet presAssocID="{E115ED29-12AB-4A4C-B8F0-C49474152DF1}" presName="root2" presStyleCnt="0"/>
      <dgm:spPr/>
    </dgm:pt>
    <dgm:pt modelId="{F7094FB9-521C-4CFD-91B8-56CE7DD009C4}" type="pres">
      <dgm:prSet presAssocID="{E115ED29-12AB-4A4C-B8F0-C49474152DF1}" presName="LevelTwoTextNode" presStyleLbl="node2" presStyleIdx="0" presStyleCnt="5">
        <dgm:presLayoutVars>
          <dgm:chPref val="3"/>
        </dgm:presLayoutVars>
      </dgm:prSet>
      <dgm:spPr/>
    </dgm:pt>
    <dgm:pt modelId="{EAC648F0-CF4F-454A-938C-E37101EB6150}" type="pres">
      <dgm:prSet presAssocID="{E115ED29-12AB-4A4C-B8F0-C49474152DF1}" presName="level3hierChild" presStyleCnt="0"/>
      <dgm:spPr/>
    </dgm:pt>
    <dgm:pt modelId="{53644E3E-87D4-4E07-BA26-388C032FACAA}" type="pres">
      <dgm:prSet presAssocID="{9C169238-6779-4EB2-834E-E26651BE55F0}" presName="conn2-1" presStyleLbl="parChTrans1D2" presStyleIdx="1" presStyleCnt="5"/>
      <dgm:spPr/>
    </dgm:pt>
    <dgm:pt modelId="{78807E71-C9AF-4324-B863-9BC1028FF3B5}" type="pres">
      <dgm:prSet presAssocID="{9C169238-6779-4EB2-834E-E26651BE55F0}" presName="connTx" presStyleLbl="parChTrans1D2" presStyleIdx="1" presStyleCnt="5"/>
      <dgm:spPr/>
    </dgm:pt>
    <dgm:pt modelId="{A7F2BDE1-7219-4EAE-B4C0-EC87CAE48EF8}" type="pres">
      <dgm:prSet presAssocID="{0B58DB5F-0561-4B5F-B0B1-D1CD176C2468}" presName="root2" presStyleCnt="0"/>
      <dgm:spPr/>
    </dgm:pt>
    <dgm:pt modelId="{3C73A2C1-A7E5-4D66-8B07-B15BA31F0F21}" type="pres">
      <dgm:prSet presAssocID="{0B58DB5F-0561-4B5F-B0B1-D1CD176C2468}" presName="LevelTwoTextNode" presStyleLbl="node2" presStyleIdx="1" presStyleCnt="5">
        <dgm:presLayoutVars>
          <dgm:chPref val="3"/>
        </dgm:presLayoutVars>
      </dgm:prSet>
      <dgm:spPr/>
    </dgm:pt>
    <dgm:pt modelId="{1FD96C46-FD2D-42E1-A569-A84DBF01AF2E}" type="pres">
      <dgm:prSet presAssocID="{0B58DB5F-0561-4B5F-B0B1-D1CD176C2468}" presName="level3hierChild" presStyleCnt="0"/>
      <dgm:spPr/>
    </dgm:pt>
    <dgm:pt modelId="{27BEBCED-4994-44FE-95BE-9ED8C8EEECA7}" type="pres">
      <dgm:prSet presAssocID="{352021A1-25BD-45DD-B944-051F4970A22E}" presName="conn2-1" presStyleLbl="parChTrans1D3" presStyleIdx="0" presStyleCnt="4"/>
      <dgm:spPr/>
    </dgm:pt>
    <dgm:pt modelId="{78BB8AC0-CBF6-41AA-90CF-9E89C8C027FE}" type="pres">
      <dgm:prSet presAssocID="{352021A1-25BD-45DD-B944-051F4970A22E}" presName="connTx" presStyleLbl="parChTrans1D3" presStyleIdx="0" presStyleCnt="4"/>
      <dgm:spPr/>
    </dgm:pt>
    <dgm:pt modelId="{1603D37A-D79D-4774-9F50-606A89BB4EC0}" type="pres">
      <dgm:prSet presAssocID="{1D82636D-2316-47E1-925B-2A8CE9109E4A}" presName="root2" presStyleCnt="0"/>
      <dgm:spPr/>
    </dgm:pt>
    <dgm:pt modelId="{CCF43796-C513-48AE-A778-3441C30EF05E}" type="pres">
      <dgm:prSet presAssocID="{1D82636D-2316-47E1-925B-2A8CE9109E4A}" presName="LevelTwoTextNode" presStyleLbl="node3" presStyleIdx="0" presStyleCnt="4">
        <dgm:presLayoutVars>
          <dgm:chPref val="3"/>
        </dgm:presLayoutVars>
      </dgm:prSet>
      <dgm:spPr/>
    </dgm:pt>
    <dgm:pt modelId="{E3569C0A-0B99-4E45-B49C-886A69894BD6}" type="pres">
      <dgm:prSet presAssocID="{1D82636D-2316-47E1-925B-2A8CE9109E4A}" presName="level3hierChild" presStyleCnt="0"/>
      <dgm:spPr/>
    </dgm:pt>
    <dgm:pt modelId="{CF957A3B-9AAB-46F5-BC4B-FC524D9F44B6}" type="pres">
      <dgm:prSet presAssocID="{55AA1FD3-3673-44AC-A283-582BE2DCD92A}" presName="conn2-1" presStyleLbl="parChTrans1D3" presStyleIdx="1" presStyleCnt="4"/>
      <dgm:spPr/>
    </dgm:pt>
    <dgm:pt modelId="{066B23D1-F06C-48A1-8627-9F44049F1734}" type="pres">
      <dgm:prSet presAssocID="{55AA1FD3-3673-44AC-A283-582BE2DCD92A}" presName="connTx" presStyleLbl="parChTrans1D3" presStyleIdx="1" presStyleCnt="4"/>
      <dgm:spPr/>
    </dgm:pt>
    <dgm:pt modelId="{DE732192-9470-4B51-BE36-72CE7E6D759E}" type="pres">
      <dgm:prSet presAssocID="{EC2F0EB6-951E-4A5B-9E20-0A54465634EF}" presName="root2" presStyleCnt="0"/>
      <dgm:spPr/>
    </dgm:pt>
    <dgm:pt modelId="{2F96302E-A09A-44B7-8A49-8CF3547FF23C}" type="pres">
      <dgm:prSet presAssocID="{EC2F0EB6-951E-4A5B-9E20-0A54465634EF}" presName="LevelTwoTextNode" presStyleLbl="node3" presStyleIdx="1" presStyleCnt="4">
        <dgm:presLayoutVars>
          <dgm:chPref val="3"/>
        </dgm:presLayoutVars>
      </dgm:prSet>
      <dgm:spPr/>
    </dgm:pt>
    <dgm:pt modelId="{DF9AD475-2036-4C99-AE5E-E886AE21B147}" type="pres">
      <dgm:prSet presAssocID="{EC2F0EB6-951E-4A5B-9E20-0A54465634EF}" presName="level3hierChild" presStyleCnt="0"/>
      <dgm:spPr/>
    </dgm:pt>
    <dgm:pt modelId="{9ED42608-F681-4A32-8858-B8D03BFC7C56}" type="pres">
      <dgm:prSet presAssocID="{ADF0E1B6-67BB-485E-AB65-113091A5C064}" presName="conn2-1" presStyleLbl="parChTrans1D3" presStyleIdx="2" presStyleCnt="4"/>
      <dgm:spPr/>
    </dgm:pt>
    <dgm:pt modelId="{23A93A01-5905-48EC-89F0-AC5D9B2DD2CE}" type="pres">
      <dgm:prSet presAssocID="{ADF0E1B6-67BB-485E-AB65-113091A5C064}" presName="connTx" presStyleLbl="parChTrans1D3" presStyleIdx="2" presStyleCnt="4"/>
      <dgm:spPr/>
    </dgm:pt>
    <dgm:pt modelId="{B6C6EC59-A4EE-4190-8A34-40B40B4274B6}" type="pres">
      <dgm:prSet presAssocID="{B35DABCC-5105-4700-AA94-AE786DD2F910}" presName="root2" presStyleCnt="0"/>
      <dgm:spPr/>
    </dgm:pt>
    <dgm:pt modelId="{F6CC9F99-235C-4112-BE80-F8F34F85A92D}" type="pres">
      <dgm:prSet presAssocID="{B35DABCC-5105-4700-AA94-AE786DD2F910}" presName="LevelTwoTextNode" presStyleLbl="node3" presStyleIdx="2" presStyleCnt="4">
        <dgm:presLayoutVars>
          <dgm:chPref val="3"/>
        </dgm:presLayoutVars>
      </dgm:prSet>
      <dgm:spPr/>
    </dgm:pt>
    <dgm:pt modelId="{3AA59DCC-A915-4C30-BB28-9CF2C4A40241}" type="pres">
      <dgm:prSet presAssocID="{B35DABCC-5105-4700-AA94-AE786DD2F910}" presName="level3hierChild" presStyleCnt="0"/>
      <dgm:spPr/>
    </dgm:pt>
    <dgm:pt modelId="{0AE5C326-0798-46BC-BAF3-6CD41E44F5DD}" type="pres">
      <dgm:prSet presAssocID="{E2D92498-D013-461C-933F-DEB51E6B7368}" presName="conn2-1" presStyleLbl="parChTrans1D3" presStyleIdx="3" presStyleCnt="4"/>
      <dgm:spPr/>
    </dgm:pt>
    <dgm:pt modelId="{92F5718F-E224-49A1-A25D-E7EF241C95C3}" type="pres">
      <dgm:prSet presAssocID="{E2D92498-D013-461C-933F-DEB51E6B7368}" presName="connTx" presStyleLbl="parChTrans1D3" presStyleIdx="3" presStyleCnt="4"/>
      <dgm:spPr/>
    </dgm:pt>
    <dgm:pt modelId="{7D81BC6D-6CC5-43B3-8767-99579CB2E8CC}" type="pres">
      <dgm:prSet presAssocID="{6B0DBCDB-6481-4C9B-831D-82D5D0ECD6F3}" presName="root2" presStyleCnt="0"/>
      <dgm:spPr/>
    </dgm:pt>
    <dgm:pt modelId="{6178293C-9865-4F3A-9D07-217CD186ED82}" type="pres">
      <dgm:prSet presAssocID="{6B0DBCDB-6481-4C9B-831D-82D5D0ECD6F3}" presName="LevelTwoTextNode" presStyleLbl="node3" presStyleIdx="3" presStyleCnt="4">
        <dgm:presLayoutVars>
          <dgm:chPref val="3"/>
        </dgm:presLayoutVars>
      </dgm:prSet>
      <dgm:spPr/>
    </dgm:pt>
    <dgm:pt modelId="{78FFF082-F9D0-4A30-9178-B3BB9730A9BC}" type="pres">
      <dgm:prSet presAssocID="{6B0DBCDB-6481-4C9B-831D-82D5D0ECD6F3}" presName="level3hierChild" presStyleCnt="0"/>
      <dgm:spPr/>
    </dgm:pt>
    <dgm:pt modelId="{149E333F-6438-4CCF-829E-44EB95E80F93}" type="pres">
      <dgm:prSet presAssocID="{B07980B4-FD94-4E73-990C-C1D58B2A0131}" presName="conn2-1" presStyleLbl="parChTrans1D2" presStyleIdx="2" presStyleCnt="5"/>
      <dgm:spPr/>
    </dgm:pt>
    <dgm:pt modelId="{E060F152-FEEF-4390-8211-278F570C6967}" type="pres">
      <dgm:prSet presAssocID="{B07980B4-FD94-4E73-990C-C1D58B2A0131}" presName="connTx" presStyleLbl="parChTrans1D2" presStyleIdx="2" presStyleCnt="5"/>
      <dgm:spPr/>
    </dgm:pt>
    <dgm:pt modelId="{B32F9A92-9FEA-49D6-9544-65C3FD6073EB}" type="pres">
      <dgm:prSet presAssocID="{1FAD2511-04AF-4B78-9835-3992058CE61E}" presName="root2" presStyleCnt="0"/>
      <dgm:spPr/>
    </dgm:pt>
    <dgm:pt modelId="{F7AC7511-BDB7-476C-BC86-CAAFEB00BD90}" type="pres">
      <dgm:prSet presAssocID="{1FAD2511-04AF-4B78-9835-3992058CE61E}" presName="LevelTwoTextNode" presStyleLbl="node2" presStyleIdx="2" presStyleCnt="5">
        <dgm:presLayoutVars>
          <dgm:chPref val="3"/>
        </dgm:presLayoutVars>
      </dgm:prSet>
      <dgm:spPr/>
    </dgm:pt>
    <dgm:pt modelId="{F899026F-5DA5-463F-943C-B885CA2C0D48}" type="pres">
      <dgm:prSet presAssocID="{1FAD2511-04AF-4B78-9835-3992058CE61E}" presName="level3hierChild" presStyleCnt="0"/>
      <dgm:spPr/>
    </dgm:pt>
    <dgm:pt modelId="{456EF8B4-1247-475D-B5AB-8CFD7960ABB5}" type="pres">
      <dgm:prSet presAssocID="{F8A3234A-BF92-4FC2-B2D3-8AECEFE5B7B1}" presName="conn2-1" presStyleLbl="parChTrans1D2" presStyleIdx="3" presStyleCnt="5"/>
      <dgm:spPr/>
    </dgm:pt>
    <dgm:pt modelId="{4B0CBE80-0879-4ECC-B322-6563645F60D2}" type="pres">
      <dgm:prSet presAssocID="{F8A3234A-BF92-4FC2-B2D3-8AECEFE5B7B1}" presName="connTx" presStyleLbl="parChTrans1D2" presStyleIdx="3" presStyleCnt="5"/>
      <dgm:spPr/>
    </dgm:pt>
    <dgm:pt modelId="{22CDC3A1-785C-4B6A-8FFF-1D431486BB8B}" type="pres">
      <dgm:prSet presAssocID="{EB13AAF5-8334-46E7-97C1-1AB1DD3DD902}" presName="root2" presStyleCnt="0"/>
      <dgm:spPr/>
    </dgm:pt>
    <dgm:pt modelId="{10A5AB35-2B94-44F5-B2C1-2DB9372F4BC9}" type="pres">
      <dgm:prSet presAssocID="{EB13AAF5-8334-46E7-97C1-1AB1DD3DD902}" presName="LevelTwoTextNode" presStyleLbl="node2" presStyleIdx="3" presStyleCnt="5">
        <dgm:presLayoutVars>
          <dgm:chPref val="3"/>
        </dgm:presLayoutVars>
      </dgm:prSet>
      <dgm:spPr/>
    </dgm:pt>
    <dgm:pt modelId="{2884D480-9EDF-4C8E-B280-10E80EC27A6A}" type="pres">
      <dgm:prSet presAssocID="{EB13AAF5-8334-46E7-97C1-1AB1DD3DD902}" presName="level3hierChild" presStyleCnt="0"/>
      <dgm:spPr/>
    </dgm:pt>
    <dgm:pt modelId="{A3BAD5DC-6503-4E8B-AB93-1EA389F9F9DB}" type="pres">
      <dgm:prSet presAssocID="{8FBDABF8-D31A-490B-AD25-38350E66B6CE}" presName="conn2-1" presStyleLbl="parChTrans1D2" presStyleIdx="4" presStyleCnt="5"/>
      <dgm:spPr/>
    </dgm:pt>
    <dgm:pt modelId="{20E32914-5836-4A11-950F-075F4C305CD4}" type="pres">
      <dgm:prSet presAssocID="{8FBDABF8-D31A-490B-AD25-38350E66B6CE}" presName="connTx" presStyleLbl="parChTrans1D2" presStyleIdx="4" presStyleCnt="5"/>
      <dgm:spPr/>
    </dgm:pt>
    <dgm:pt modelId="{5D48D7D0-188C-491D-8175-22FC7F71063D}" type="pres">
      <dgm:prSet presAssocID="{7514AD88-3E12-4E2D-B4AA-6E943B78AFA3}" presName="root2" presStyleCnt="0"/>
      <dgm:spPr/>
    </dgm:pt>
    <dgm:pt modelId="{44BB25AF-5959-4DC4-9395-4FFBD842D9E2}" type="pres">
      <dgm:prSet presAssocID="{7514AD88-3E12-4E2D-B4AA-6E943B78AFA3}" presName="LevelTwoTextNode" presStyleLbl="node2" presStyleIdx="4" presStyleCnt="5">
        <dgm:presLayoutVars>
          <dgm:chPref val="3"/>
        </dgm:presLayoutVars>
      </dgm:prSet>
      <dgm:spPr/>
    </dgm:pt>
    <dgm:pt modelId="{FAA221C2-991E-4F83-AED6-D13D549B81FB}" type="pres">
      <dgm:prSet presAssocID="{7514AD88-3E12-4E2D-B4AA-6E943B78AFA3}" presName="level3hierChild" presStyleCnt="0"/>
      <dgm:spPr/>
    </dgm:pt>
  </dgm:ptLst>
  <dgm:cxnLst>
    <dgm:cxn modelId="{A4D2CB0A-CA29-4CCD-B493-FCDF6A3EAD91}" type="presOf" srcId="{B07980B4-FD94-4E73-990C-C1D58B2A0131}" destId="{E060F152-FEEF-4390-8211-278F570C6967}" srcOrd="1" destOrd="0" presId="urn:microsoft.com/office/officeart/2005/8/layout/hierarchy2"/>
    <dgm:cxn modelId="{84DCAE0B-8ADF-4273-9529-076A6F4EA057}" type="presOf" srcId="{F8A3234A-BF92-4FC2-B2D3-8AECEFE5B7B1}" destId="{4B0CBE80-0879-4ECC-B322-6563645F60D2}" srcOrd="1" destOrd="0" presId="urn:microsoft.com/office/officeart/2005/8/layout/hierarchy2"/>
    <dgm:cxn modelId="{2B987F12-3087-4640-B5EE-0341D930C7B2}" srcId="{BF777B4E-5234-4287-83F5-3796203DDCA1}" destId="{EE84186D-02C8-4CB2-AAD3-702A8598413D}" srcOrd="1" destOrd="0" parTransId="{08E60A4F-BB1C-4276-8C7D-6F84D6F65650}" sibTransId="{19B5FD17-1937-4161-9F66-3B71BA436BD5}"/>
    <dgm:cxn modelId="{AEB1A815-4872-4C6B-A1B6-867A57BB9E9A}" type="presOf" srcId="{6B0DBCDB-6481-4C9B-831D-82D5D0ECD6F3}" destId="{6178293C-9865-4F3A-9D07-217CD186ED82}" srcOrd="0" destOrd="0" presId="urn:microsoft.com/office/officeart/2005/8/layout/hierarchy2"/>
    <dgm:cxn modelId="{40B9091B-EAE8-47CA-AE6D-5E8F37D96CA0}" type="presOf" srcId="{55AA1FD3-3673-44AC-A283-582BE2DCD92A}" destId="{CF957A3B-9AAB-46F5-BC4B-FC524D9F44B6}" srcOrd="0" destOrd="0" presId="urn:microsoft.com/office/officeart/2005/8/layout/hierarchy2"/>
    <dgm:cxn modelId="{BEE01A23-C918-4C88-8DA8-523CAE69432B}" type="presOf" srcId="{B35DABCC-5105-4700-AA94-AE786DD2F910}" destId="{F6CC9F99-235C-4112-BE80-F8F34F85A92D}" srcOrd="0" destOrd="0" presId="urn:microsoft.com/office/officeart/2005/8/layout/hierarchy2"/>
    <dgm:cxn modelId="{A096563A-1D14-45F6-8840-42C9322CD092}" type="presOf" srcId="{352021A1-25BD-45DD-B944-051F4970A22E}" destId="{27BEBCED-4994-44FE-95BE-9ED8C8EEECA7}" srcOrd="0" destOrd="0" presId="urn:microsoft.com/office/officeart/2005/8/layout/hierarchy2"/>
    <dgm:cxn modelId="{CA0BA53B-E709-4338-B25F-66E10AAC1A9A}" type="presOf" srcId="{E2D92498-D013-461C-933F-DEB51E6B7368}" destId="{92F5718F-E224-49A1-A25D-E7EF241C95C3}" srcOrd="1" destOrd="0" presId="urn:microsoft.com/office/officeart/2005/8/layout/hierarchy2"/>
    <dgm:cxn modelId="{391F9F61-6F1B-4058-A2A7-4DBA2F06EDCC}" type="presOf" srcId="{E115ED29-12AB-4A4C-B8F0-C49474152DF1}" destId="{F7094FB9-521C-4CFD-91B8-56CE7DD009C4}" srcOrd="0" destOrd="0" presId="urn:microsoft.com/office/officeart/2005/8/layout/hierarchy2"/>
    <dgm:cxn modelId="{16189463-EA8D-4647-908E-2839D1AE60BC}" type="presOf" srcId="{0B58DB5F-0561-4B5F-B0B1-D1CD176C2468}" destId="{3C73A2C1-A7E5-4D66-8B07-B15BA31F0F21}" srcOrd="0" destOrd="0" presId="urn:microsoft.com/office/officeart/2005/8/layout/hierarchy2"/>
    <dgm:cxn modelId="{A4853245-1E8B-42D8-A2B3-C6F4C58AA7E0}" type="presOf" srcId="{8C0A24B1-4E69-44AF-B413-8FF0808F3A6C}" destId="{D6DBB6DC-6A07-4A82-BB89-C2C2BEE7A928}" srcOrd="0" destOrd="0" presId="urn:microsoft.com/office/officeart/2005/8/layout/hierarchy2"/>
    <dgm:cxn modelId="{6005CD6C-BD69-439F-A9FC-59005128AF0A}" type="presOf" srcId="{7514AD88-3E12-4E2D-B4AA-6E943B78AFA3}" destId="{44BB25AF-5959-4DC4-9395-4FFBD842D9E2}" srcOrd="0" destOrd="0" presId="urn:microsoft.com/office/officeart/2005/8/layout/hierarchy2"/>
    <dgm:cxn modelId="{86C1684D-EF0E-4DD3-BCA5-BFB0091B15AB}" srcId="{BF777B4E-5234-4287-83F5-3796203DDCA1}" destId="{2D8C6EFF-A357-4BEF-83C5-0DEC906B3232}" srcOrd="0" destOrd="0" parTransId="{9D637C3B-35D8-4D5C-BFEA-D33BE7BBEEE4}" sibTransId="{B62E1693-C604-4BF1-BC5E-7D9D51B723B3}"/>
    <dgm:cxn modelId="{FC0E1A4E-CDFE-4046-94E4-3E72663BDC8B}" type="presOf" srcId="{ADF0E1B6-67BB-485E-AB65-113091A5C064}" destId="{9ED42608-F681-4A32-8858-B8D03BFC7C56}" srcOrd="0" destOrd="0" presId="urn:microsoft.com/office/officeart/2005/8/layout/hierarchy2"/>
    <dgm:cxn modelId="{65946F72-45C0-491E-8871-2FE0D7F0F820}" srcId="{EE84186D-02C8-4CB2-AAD3-702A8598413D}" destId="{0B58DB5F-0561-4B5F-B0B1-D1CD176C2468}" srcOrd="1" destOrd="0" parTransId="{9C169238-6779-4EB2-834E-E26651BE55F0}" sibTransId="{5B3277A8-F74B-471F-9CF8-1C54457B0F86}"/>
    <dgm:cxn modelId="{9E36AA75-1D4F-40A1-976D-1418931F5C2A}" srcId="{EE84186D-02C8-4CB2-AAD3-702A8598413D}" destId="{1FAD2511-04AF-4B78-9835-3992058CE61E}" srcOrd="2" destOrd="0" parTransId="{B07980B4-FD94-4E73-990C-C1D58B2A0131}" sibTransId="{94376AAA-A20D-42A1-882E-D2FE014FB2A7}"/>
    <dgm:cxn modelId="{01C8C255-9BCD-45E9-B22D-9C4587A8AE0E}" type="presOf" srcId="{9C169238-6779-4EB2-834E-E26651BE55F0}" destId="{78807E71-C9AF-4324-B863-9BC1028FF3B5}" srcOrd="1" destOrd="0" presId="urn:microsoft.com/office/officeart/2005/8/layout/hierarchy2"/>
    <dgm:cxn modelId="{9181F876-BDCF-4468-B6F1-844B86A88BAC}" type="presOf" srcId="{8C0A24B1-4E69-44AF-B413-8FF0808F3A6C}" destId="{01F4E7EF-2AA2-4A02-89F6-668B54351D2F}" srcOrd="1" destOrd="0" presId="urn:microsoft.com/office/officeart/2005/8/layout/hierarchy2"/>
    <dgm:cxn modelId="{930F827C-CFAD-47D4-9313-3736B0A99000}" type="presOf" srcId="{EC2F0EB6-951E-4A5B-9E20-0A54465634EF}" destId="{2F96302E-A09A-44B7-8A49-8CF3547FF23C}" srcOrd="0" destOrd="0" presId="urn:microsoft.com/office/officeart/2005/8/layout/hierarchy2"/>
    <dgm:cxn modelId="{468D6C8E-8FDC-4B9A-8571-B1A94627A786}" type="presOf" srcId="{9C169238-6779-4EB2-834E-E26651BE55F0}" destId="{53644E3E-87D4-4E07-BA26-388C032FACAA}" srcOrd="0" destOrd="0" presId="urn:microsoft.com/office/officeart/2005/8/layout/hierarchy2"/>
    <dgm:cxn modelId="{EEA28C8F-4A24-423E-9B42-C25732AE80E1}" type="presOf" srcId="{1FAD2511-04AF-4B78-9835-3992058CE61E}" destId="{F7AC7511-BDB7-476C-BC86-CAAFEB00BD90}" srcOrd="0" destOrd="0" presId="urn:microsoft.com/office/officeart/2005/8/layout/hierarchy2"/>
    <dgm:cxn modelId="{DB3A3690-9ED2-45E6-AC25-A1F6D95959CC}" type="presOf" srcId="{1D82636D-2316-47E1-925B-2A8CE9109E4A}" destId="{CCF43796-C513-48AE-A778-3441C30EF05E}" srcOrd="0" destOrd="0" presId="urn:microsoft.com/office/officeart/2005/8/layout/hierarchy2"/>
    <dgm:cxn modelId="{F9133492-EFA4-4841-9B7B-CBE0C0A63FC4}" type="presOf" srcId="{EE84186D-02C8-4CB2-AAD3-702A8598413D}" destId="{5CEE28D1-7C68-453F-B9D4-1C9B1C8E42FD}" srcOrd="0" destOrd="0" presId="urn:microsoft.com/office/officeart/2005/8/layout/hierarchy2"/>
    <dgm:cxn modelId="{73C08C93-46FC-4A01-BBBA-997940E13EA4}" type="presOf" srcId="{BF777B4E-5234-4287-83F5-3796203DDCA1}" destId="{DDF1B264-EF8B-4555-B72D-177CB390BB7B}" srcOrd="0" destOrd="0" presId="urn:microsoft.com/office/officeart/2005/8/layout/hierarchy2"/>
    <dgm:cxn modelId="{356A2396-0F04-4321-941F-A70BC5BCE595}" srcId="{0B58DB5F-0561-4B5F-B0B1-D1CD176C2468}" destId="{EC2F0EB6-951E-4A5B-9E20-0A54465634EF}" srcOrd="1" destOrd="0" parTransId="{55AA1FD3-3673-44AC-A283-582BE2DCD92A}" sibTransId="{75DEDF13-1CAD-4588-89B4-9BDDDD3CA2FF}"/>
    <dgm:cxn modelId="{779F7F99-8417-49CC-BAA2-4A84B9B5797B}" srcId="{EE84186D-02C8-4CB2-AAD3-702A8598413D}" destId="{E115ED29-12AB-4A4C-B8F0-C49474152DF1}" srcOrd="0" destOrd="0" parTransId="{8C0A24B1-4E69-44AF-B413-8FF0808F3A6C}" sibTransId="{CEEBC66C-063F-465E-94B4-BD07B7C800AE}"/>
    <dgm:cxn modelId="{76B9CAB3-129F-49FC-83A4-7B49CC410CA7}" type="presOf" srcId="{F8A3234A-BF92-4FC2-B2D3-8AECEFE5B7B1}" destId="{456EF8B4-1247-475D-B5AB-8CFD7960ABB5}" srcOrd="0" destOrd="0" presId="urn:microsoft.com/office/officeart/2005/8/layout/hierarchy2"/>
    <dgm:cxn modelId="{F3A44DB5-F086-4719-A3C3-5929C4D55654}" type="presOf" srcId="{EB13AAF5-8334-46E7-97C1-1AB1DD3DD902}" destId="{10A5AB35-2B94-44F5-B2C1-2DB9372F4BC9}" srcOrd="0" destOrd="0" presId="urn:microsoft.com/office/officeart/2005/8/layout/hierarchy2"/>
    <dgm:cxn modelId="{9BC752BC-F668-4528-BA99-D92633CCF53C}" type="presOf" srcId="{B07980B4-FD94-4E73-990C-C1D58B2A0131}" destId="{149E333F-6438-4CCF-829E-44EB95E80F93}" srcOrd="0" destOrd="0" presId="urn:microsoft.com/office/officeart/2005/8/layout/hierarchy2"/>
    <dgm:cxn modelId="{A76B99C6-6059-4EDE-B974-1C4F42826459}" type="presOf" srcId="{2D8C6EFF-A357-4BEF-83C5-0DEC906B3232}" destId="{9C384CDA-C1A7-4606-B7B4-12F7E96B2DAC}" srcOrd="0" destOrd="0" presId="urn:microsoft.com/office/officeart/2005/8/layout/hierarchy2"/>
    <dgm:cxn modelId="{07BB1AC7-4791-4439-9D29-1B47B86A0E99}" type="presOf" srcId="{8FBDABF8-D31A-490B-AD25-38350E66B6CE}" destId="{20E32914-5836-4A11-950F-075F4C305CD4}" srcOrd="1" destOrd="0" presId="urn:microsoft.com/office/officeart/2005/8/layout/hierarchy2"/>
    <dgm:cxn modelId="{1D7F9DC8-0E12-4FB9-B002-6E4D1CDE4EE3}" srcId="{0B58DB5F-0561-4B5F-B0B1-D1CD176C2468}" destId="{6B0DBCDB-6481-4C9B-831D-82D5D0ECD6F3}" srcOrd="3" destOrd="0" parTransId="{E2D92498-D013-461C-933F-DEB51E6B7368}" sibTransId="{1E167772-6BC5-4F88-B23E-AE724F21D828}"/>
    <dgm:cxn modelId="{12C81CC9-853D-4E22-923B-471356D04AED}" srcId="{0B58DB5F-0561-4B5F-B0B1-D1CD176C2468}" destId="{1D82636D-2316-47E1-925B-2A8CE9109E4A}" srcOrd="0" destOrd="0" parTransId="{352021A1-25BD-45DD-B944-051F4970A22E}" sibTransId="{FFB93C3A-2E40-4F28-B488-1AAA145F9D81}"/>
    <dgm:cxn modelId="{392B62CB-8EFC-4F5E-8838-9B115CF2B8B5}" type="presOf" srcId="{55AA1FD3-3673-44AC-A283-582BE2DCD92A}" destId="{066B23D1-F06C-48A1-8627-9F44049F1734}" srcOrd="1" destOrd="0" presId="urn:microsoft.com/office/officeart/2005/8/layout/hierarchy2"/>
    <dgm:cxn modelId="{58EF39D4-C404-4B16-B50D-B9AB4C1283E4}" type="presOf" srcId="{8FBDABF8-D31A-490B-AD25-38350E66B6CE}" destId="{A3BAD5DC-6503-4E8B-AB93-1EA389F9F9DB}" srcOrd="0" destOrd="0" presId="urn:microsoft.com/office/officeart/2005/8/layout/hierarchy2"/>
    <dgm:cxn modelId="{6459BBD8-3041-4DCA-9067-DB96F517AA8C}" type="presOf" srcId="{ADF0E1B6-67BB-485E-AB65-113091A5C064}" destId="{23A93A01-5905-48EC-89F0-AC5D9B2DD2CE}" srcOrd="1" destOrd="0" presId="urn:microsoft.com/office/officeart/2005/8/layout/hierarchy2"/>
    <dgm:cxn modelId="{70D11CDD-871E-45C0-8638-2EC54C93564F}" srcId="{0B58DB5F-0561-4B5F-B0B1-D1CD176C2468}" destId="{B35DABCC-5105-4700-AA94-AE786DD2F910}" srcOrd="2" destOrd="0" parTransId="{ADF0E1B6-67BB-485E-AB65-113091A5C064}" sibTransId="{A26F5F76-C2A5-4A72-AF71-7451CA373624}"/>
    <dgm:cxn modelId="{4100AFE5-D787-4E6A-B0E9-D6AAF3B849C9}" srcId="{EE84186D-02C8-4CB2-AAD3-702A8598413D}" destId="{EB13AAF5-8334-46E7-97C1-1AB1DD3DD902}" srcOrd="3" destOrd="0" parTransId="{F8A3234A-BF92-4FC2-B2D3-8AECEFE5B7B1}" sibTransId="{003B1790-D517-4A37-8440-214C1F94AA9D}"/>
    <dgm:cxn modelId="{538556E8-017C-4C6E-BDF5-7F39790A0E29}" type="presOf" srcId="{E2D92498-D013-461C-933F-DEB51E6B7368}" destId="{0AE5C326-0798-46BC-BAF3-6CD41E44F5DD}" srcOrd="0" destOrd="0" presId="urn:microsoft.com/office/officeart/2005/8/layout/hierarchy2"/>
    <dgm:cxn modelId="{E52713ED-9B0B-4CE3-B307-CB5667118DC1}" type="presOf" srcId="{352021A1-25BD-45DD-B944-051F4970A22E}" destId="{78BB8AC0-CBF6-41AA-90CF-9E89C8C027FE}" srcOrd="1" destOrd="0" presId="urn:microsoft.com/office/officeart/2005/8/layout/hierarchy2"/>
    <dgm:cxn modelId="{836D72F3-F7EC-4560-9332-9B58B22BFC61}" srcId="{EE84186D-02C8-4CB2-AAD3-702A8598413D}" destId="{7514AD88-3E12-4E2D-B4AA-6E943B78AFA3}" srcOrd="4" destOrd="0" parTransId="{8FBDABF8-D31A-490B-AD25-38350E66B6CE}" sibTransId="{32CBAEE1-89C4-4C4F-AC96-7748B62E5CFE}"/>
    <dgm:cxn modelId="{0A947FE3-62EF-4941-9F24-F20B4E4439BF}" type="presParOf" srcId="{DDF1B264-EF8B-4555-B72D-177CB390BB7B}" destId="{19B791B7-85C1-408E-8D86-604AE4427F32}" srcOrd="0" destOrd="0" presId="urn:microsoft.com/office/officeart/2005/8/layout/hierarchy2"/>
    <dgm:cxn modelId="{4923D9BC-C3CF-41F6-A778-F809733A8F72}" type="presParOf" srcId="{19B791B7-85C1-408E-8D86-604AE4427F32}" destId="{9C384CDA-C1A7-4606-B7B4-12F7E96B2DAC}" srcOrd="0" destOrd="0" presId="urn:microsoft.com/office/officeart/2005/8/layout/hierarchy2"/>
    <dgm:cxn modelId="{3E286765-53C1-4ADA-B05D-BE0918A1F64B}" type="presParOf" srcId="{19B791B7-85C1-408E-8D86-604AE4427F32}" destId="{934238B7-B6E7-4534-940B-08F92359E51E}" srcOrd="1" destOrd="0" presId="urn:microsoft.com/office/officeart/2005/8/layout/hierarchy2"/>
    <dgm:cxn modelId="{BF74BC55-837F-4E1F-B015-8DB9A6F90EFD}" type="presParOf" srcId="{DDF1B264-EF8B-4555-B72D-177CB390BB7B}" destId="{E61C47C9-1BB2-4D69-AB8A-0BE8DB9E70BF}" srcOrd="1" destOrd="0" presId="urn:microsoft.com/office/officeart/2005/8/layout/hierarchy2"/>
    <dgm:cxn modelId="{3167D619-FCAD-4283-8DAD-8D40C6607652}" type="presParOf" srcId="{E61C47C9-1BB2-4D69-AB8A-0BE8DB9E70BF}" destId="{5CEE28D1-7C68-453F-B9D4-1C9B1C8E42FD}" srcOrd="0" destOrd="0" presId="urn:microsoft.com/office/officeart/2005/8/layout/hierarchy2"/>
    <dgm:cxn modelId="{9AAC59D8-F9EB-471D-BEA0-DE1C85CB0B9B}" type="presParOf" srcId="{E61C47C9-1BB2-4D69-AB8A-0BE8DB9E70BF}" destId="{BB9E1F33-9154-4227-99A7-52232CBC4564}" srcOrd="1" destOrd="0" presId="urn:microsoft.com/office/officeart/2005/8/layout/hierarchy2"/>
    <dgm:cxn modelId="{BCE905D7-AA2C-400E-B89E-E19A07C841E7}" type="presParOf" srcId="{BB9E1F33-9154-4227-99A7-52232CBC4564}" destId="{D6DBB6DC-6A07-4A82-BB89-C2C2BEE7A928}" srcOrd="0" destOrd="0" presId="urn:microsoft.com/office/officeart/2005/8/layout/hierarchy2"/>
    <dgm:cxn modelId="{C60AB4C7-535C-40DA-B868-052111C057B8}" type="presParOf" srcId="{D6DBB6DC-6A07-4A82-BB89-C2C2BEE7A928}" destId="{01F4E7EF-2AA2-4A02-89F6-668B54351D2F}" srcOrd="0" destOrd="0" presId="urn:microsoft.com/office/officeart/2005/8/layout/hierarchy2"/>
    <dgm:cxn modelId="{7565FA01-D78D-400A-8019-808D3F421698}" type="presParOf" srcId="{BB9E1F33-9154-4227-99A7-52232CBC4564}" destId="{48821ECB-062F-4A81-900A-61A77C42B392}" srcOrd="1" destOrd="0" presId="urn:microsoft.com/office/officeart/2005/8/layout/hierarchy2"/>
    <dgm:cxn modelId="{724CEE7F-1111-43E2-BF78-F7863D4A9BDD}" type="presParOf" srcId="{48821ECB-062F-4A81-900A-61A77C42B392}" destId="{F7094FB9-521C-4CFD-91B8-56CE7DD009C4}" srcOrd="0" destOrd="0" presId="urn:microsoft.com/office/officeart/2005/8/layout/hierarchy2"/>
    <dgm:cxn modelId="{E7F2D4CC-55F9-443D-8B06-F73DED62480D}" type="presParOf" srcId="{48821ECB-062F-4A81-900A-61A77C42B392}" destId="{EAC648F0-CF4F-454A-938C-E37101EB6150}" srcOrd="1" destOrd="0" presId="urn:microsoft.com/office/officeart/2005/8/layout/hierarchy2"/>
    <dgm:cxn modelId="{2DFD59E5-CA75-4BCA-9E0E-ABBFB9A99A22}" type="presParOf" srcId="{BB9E1F33-9154-4227-99A7-52232CBC4564}" destId="{53644E3E-87D4-4E07-BA26-388C032FACAA}" srcOrd="2" destOrd="0" presId="urn:microsoft.com/office/officeart/2005/8/layout/hierarchy2"/>
    <dgm:cxn modelId="{D2F7CDDC-1442-43DB-B1E2-7E3AFC412B17}" type="presParOf" srcId="{53644E3E-87D4-4E07-BA26-388C032FACAA}" destId="{78807E71-C9AF-4324-B863-9BC1028FF3B5}" srcOrd="0" destOrd="0" presId="urn:microsoft.com/office/officeart/2005/8/layout/hierarchy2"/>
    <dgm:cxn modelId="{A8D3A584-B6D6-48A7-B7DA-6F380861E5F7}" type="presParOf" srcId="{BB9E1F33-9154-4227-99A7-52232CBC4564}" destId="{A7F2BDE1-7219-4EAE-B4C0-EC87CAE48EF8}" srcOrd="3" destOrd="0" presId="urn:microsoft.com/office/officeart/2005/8/layout/hierarchy2"/>
    <dgm:cxn modelId="{0CC023A6-AFD2-4C43-9520-FFC4E1BC6946}" type="presParOf" srcId="{A7F2BDE1-7219-4EAE-B4C0-EC87CAE48EF8}" destId="{3C73A2C1-A7E5-4D66-8B07-B15BA31F0F21}" srcOrd="0" destOrd="0" presId="urn:microsoft.com/office/officeart/2005/8/layout/hierarchy2"/>
    <dgm:cxn modelId="{AF887A48-A177-40E4-8F5C-382675BA08E0}" type="presParOf" srcId="{A7F2BDE1-7219-4EAE-B4C0-EC87CAE48EF8}" destId="{1FD96C46-FD2D-42E1-A569-A84DBF01AF2E}" srcOrd="1" destOrd="0" presId="urn:microsoft.com/office/officeart/2005/8/layout/hierarchy2"/>
    <dgm:cxn modelId="{1A171970-EEF0-4ECE-98D9-D0AAA8B319DF}" type="presParOf" srcId="{1FD96C46-FD2D-42E1-A569-A84DBF01AF2E}" destId="{27BEBCED-4994-44FE-95BE-9ED8C8EEECA7}" srcOrd="0" destOrd="0" presId="urn:microsoft.com/office/officeart/2005/8/layout/hierarchy2"/>
    <dgm:cxn modelId="{FA2394D0-5A84-4291-AA47-18B32C2E2818}" type="presParOf" srcId="{27BEBCED-4994-44FE-95BE-9ED8C8EEECA7}" destId="{78BB8AC0-CBF6-41AA-90CF-9E89C8C027FE}" srcOrd="0" destOrd="0" presId="urn:microsoft.com/office/officeart/2005/8/layout/hierarchy2"/>
    <dgm:cxn modelId="{519362E1-5426-4E25-8C87-C7E49DCB703E}" type="presParOf" srcId="{1FD96C46-FD2D-42E1-A569-A84DBF01AF2E}" destId="{1603D37A-D79D-4774-9F50-606A89BB4EC0}" srcOrd="1" destOrd="0" presId="urn:microsoft.com/office/officeart/2005/8/layout/hierarchy2"/>
    <dgm:cxn modelId="{D5CF8CAB-ABE8-4F59-A863-9E174778A2A1}" type="presParOf" srcId="{1603D37A-D79D-4774-9F50-606A89BB4EC0}" destId="{CCF43796-C513-48AE-A778-3441C30EF05E}" srcOrd="0" destOrd="0" presId="urn:microsoft.com/office/officeart/2005/8/layout/hierarchy2"/>
    <dgm:cxn modelId="{9B799A14-3339-4663-B75D-90D2E43EEA9C}" type="presParOf" srcId="{1603D37A-D79D-4774-9F50-606A89BB4EC0}" destId="{E3569C0A-0B99-4E45-B49C-886A69894BD6}" srcOrd="1" destOrd="0" presId="urn:microsoft.com/office/officeart/2005/8/layout/hierarchy2"/>
    <dgm:cxn modelId="{2B6E4333-9BF6-45D4-8ED7-2E13E4D5085E}" type="presParOf" srcId="{1FD96C46-FD2D-42E1-A569-A84DBF01AF2E}" destId="{CF957A3B-9AAB-46F5-BC4B-FC524D9F44B6}" srcOrd="2" destOrd="0" presId="urn:microsoft.com/office/officeart/2005/8/layout/hierarchy2"/>
    <dgm:cxn modelId="{18FE61EE-585E-4C86-B463-9E1B5520A81B}" type="presParOf" srcId="{CF957A3B-9AAB-46F5-BC4B-FC524D9F44B6}" destId="{066B23D1-F06C-48A1-8627-9F44049F1734}" srcOrd="0" destOrd="0" presId="urn:microsoft.com/office/officeart/2005/8/layout/hierarchy2"/>
    <dgm:cxn modelId="{44FB0973-92AE-4A41-BDC4-480F87F022D4}" type="presParOf" srcId="{1FD96C46-FD2D-42E1-A569-A84DBF01AF2E}" destId="{DE732192-9470-4B51-BE36-72CE7E6D759E}" srcOrd="3" destOrd="0" presId="urn:microsoft.com/office/officeart/2005/8/layout/hierarchy2"/>
    <dgm:cxn modelId="{DF49332E-C5C0-49C5-9DC6-4CD71BBCD554}" type="presParOf" srcId="{DE732192-9470-4B51-BE36-72CE7E6D759E}" destId="{2F96302E-A09A-44B7-8A49-8CF3547FF23C}" srcOrd="0" destOrd="0" presId="urn:microsoft.com/office/officeart/2005/8/layout/hierarchy2"/>
    <dgm:cxn modelId="{EBF83940-CC49-421E-B561-0D2F9E445A62}" type="presParOf" srcId="{DE732192-9470-4B51-BE36-72CE7E6D759E}" destId="{DF9AD475-2036-4C99-AE5E-E886AE21B147}" srcOrd="1" destOrd="0" presId="urn:microsoft.com/office/officeart/2005/8/layout/hierarchy2"/>
    <dgm:cxn modelId="{3E978BD7-8CA3-4118-BDB5-2730F18716D8}" type="presParOf" srcId="{1FD96C46-FD2D-42E1-A569-A84DBF01AF2E}" destId="{9ED42608-F681-4A32-8858-B8D03BFC7C56}" srcOrd="4" destOrd="0" presId="urn:microsoft.com/office/officeart/2005/8/layout/hierarchy2"/>
    <dgm:cxn modelId="{6B483D8C-A628-44CC-89D1-9FFE53C6453F}" type="presParOf" srcId="{9ED42608-F681-4A32-8858-B8D03BFC7C56}" destId="{23A93A01-5905-48EC-89F0-AC5D9B2DD2CE}" srcOrd="0" destOrd="0" presId="urn:microsoft.com/office/officeart/2005/8/layout/hierarchy2"/>
    <dgm:cxn modelId="{0A6FC8BE-C85B-4995-8411-5395C75D36BB}" type="presParOf" srcId="{1FD96C46-FD2D-42E1-A569-A84DBF01AF2E}" destId="{B6C6EC59-A4EE-4190-8A34-40B40B4274B6}" srcOrd="5" destOrd="0" presId="urn:microsoft.com/office/officeart/2005/8/layout/hierarchy2"/>
    <dgm:cxn modelId="{DAE47F53-7C32-4952-9D51-8B70D0BB9CD8}" type="presParOf" srcId="{B6C6EC59-A4EE-4190-8A34-40B40B4274B6}" destId="{F6CC9F99-235C-4112-BE80-F8F34F85A92D}" srcOrd="0" destOrd="0" presId="urn:microsoft.com/office/officeart/2005/8/layout/hierarchy2"/>
    <dgm:cxn modelId="{4989C1AF-B74A-4C6F-B1C4-FE8A353C3B68}" type="presParOf" srcId="{B6C6EC59-A4EE-4190-8A34-40B40B4274B6}" destId="{3AA59DCC-A915-4C30-BB28-9CF2C4A40241}" srcOrd="1" destOrd="0" presId="urn:microsoft.com/office/officeart/2005/8/layout/hierarchy2"/>
    <dgm:cxn modelId="{B884E958-C30E-4FEA-A781-878E7AB7A6D5}" type="presParOf" srcId="{1FD96C46-FD2D-42E1-A569-A84DBF01AF2E}" destId="{0AE5C326-0798-46BC-BAF3-6CD41E44F5DD}" srcOrd="6" destOrd="0" presId="urn:microsoft.com/office/officeart/2005/8/layout/hierarchy2"/>
    <dgm:cxn modelId="{09800A56-8335-4AFD-88A0-D3F3D1998F38}" type="presParOf" srcId="{0AE5C326-0798-46BC-BAF3-6CD41E44F5DD}" destId="{92F5718F-E224-49A1-A25D-E7EF241C95C3}" srcOrd="0" destOrd="0" presId="urn:microsoft.com/office/officeart/2005/8/layout/hierarchy2"/>
    <dgm:cxn modelId="{862E260A-7986-4E13-B178-E499416C69BC}" type="presParOf" srcId="{1FD96C46-FD2D-42E1-A569-A84DBF01AF2E}" destId="{7D81BC6D-6CC5-43B3-8767-99579CB2E8CC}" srcOrd="7" destOrd="0" presId="urn:microsoft.com/office/officeart/2005/8/layout/hierarchy2"/>
    <dgm:cxn modelId="{776C0DC4-A343-4710-AB2A-C8B863E7142A}" type="presParOf" srcId="{7D81BC6D-6CC5-43B3-8767-99579CB2E8CC}" destId="{6178293C-9865-4F3A-9D07-217CD186ED82}" srcOrd="0" destOrd="0" presId="urn:microsoft.com/office/officeart/2005/8/layout/hierarchy2"/>
    <dgm:cxn modelId="{8EA99359-E272-46C0-B6FD-E813E1840AB5}" type="presParOf" srcId="{7D81BC6D-6CC5-43B3-8767-99579CB2E8CC}" destId="{78FFF082-F9D0-4A30-9178-B3BB9730A9BC}" srcOrd="1" destOrd="0" presId="urn:microsoft.com/office/officeart/2005/8/layout/hierarchy2"/>
    <dgm:cxn modelId="{C3D6A41E-B4ED-4579-B8A8-A4B65E95F633}" type="presParOf" srcId="{BB9E1F33-9154-4227-99A7-52232CBC4564}" destId="{149E333F-6438-4CCF-829E-44EB95E80F93}" srcOrd="4" destOrd="0" presId="urn:microsoft.com/office/officeart/2005/8/layout/hierarchy2"/>
    <dgm:cxn modelId="{74A09DEC-14E2-4855-9594-18ABA7F55663}" type="presParOf" srcId="{149E333F-6438-4CCF-829E-44EB95E80F93}" destId="{E060F152-FEEF-4390-8211-278F570C6967}" srcOrd="0" destOrd="0" presId="urn:microsoft.com/office/officeart/2005/8/layout/hierarchy2"/>
    <dgm:cxn modelId="{B78244B4-531E-49B2-8161-A70E48B80288}" type="presParOf" srcId="{BB9E1F33-9154-4227-99A7-52232CBC4564}" destId="{B32F9A92-9FEA-49D6-9544-65C3FD6073EB}" srcOrd="5" destOrd="0" presId="urn:microsoft.com/office/officeart/2005/8/layout/hierarchy2"/>
    <dgm:cxn modelId="{DA1FDA1E-9326-47AE-941E-6F87507DA0D1}" type="presParOf" srcId="{B32F9A92-9FEA-49D6-9544-65C3FD6073EB}" destId="{F7AC7511-BDB7-476C-BC86-CAAFEB00BD90}" srcOrd="0" destOrd="0" presId="urn:microsoft.com/office/officeart/2005/8/layout/hierarchy2"/>
    <dgm:cxn modelId="{C4A0CCB1-B719-42D4-A053-49B1BB97E31D}" type="presParOf" srcId="{B32F9A92-9FEA-49D6-9544-65C3FD6073EB}" destId="{F899026F-5DA5-463F-943C-B885CA2C0D48}" srcOrd="1" destOrd="0" presId="urn:microsoft.com/office/officeart/2005/8/layout/hierarchy2"/>
    <dgm:cxn modelId="{74A2C90B-7DCA-4A58-9770-B3BD3242E510}" type="presParOf" srcId="{BB9E1F33-9154-4227-99A7-52232CBC4564}" destId="{456EF8B4-1247-475D-B5AB-8CFD7960ABB5}" srcOrd="6" destOrd="0" presId="urn:microsoft.com/office/officeart/2005/8/layout/hierarchy2"/>
    <dgm:cxn modelId="{0AB6D341-E5A6-4C3C-9776-C8492BD2354F}" type="presParOf" srcId="{456EF8B4-1247-475D-B5AB-8CFD7960ABB5}" destId="{4B0CBE80-0879-4ECC-B322-6563645F60D2}" srcOrd="0" destOrd="0" presId="urn:microsoft.com/office/officeart/2005/8/layout/hierarchy2"/>
    <dgm:cxn modelId="{13712A11-E014-4F5C-9ED9-9D4554141823}" type="presParOf" srcId="{BB9E1F33-9154-4227-99A7-52232CBC4564}" destId="{22CDC3A1-785C-4B6A-8FFF-1D431486BB8B}" srcOrd="7" destOrd="0" presId="urn:microsoft.com/office/officeart/2005/8/layout/hierarchy2"/>
    <dgm:cxn modelId="{AD6AA1F4-E0CC-48D7-8D6E-A2E7F084D102}" type="presParOf" srcId="{22CDC3A1-785C-4B6A-8FFF-1D431486BB8B}" destId="{10A5AB35-2B94-44F5-B2C1-2DB9372F4BC9}" srcOrd="0" destOrd="0" presId="urn:microsoft.com/office/officeart/2005/8/layout/hierarchy2"/>
    <dgm:cxn modelId="{8635ACBD-342A-49B4-8221-21379628761E}" type="presParOf" srcId="{22CDC3A1-785C-4B6A-8FFF-1D431486BB8B}" destId="{2884D480-9EDF-4C8E-B280-10E80EC27A6A}" srcOrd="1" destOrd="0" presId="urn:microsoft.com/office/officeart/2005/8/layout/hierarchy2"/>
    <dgm:cxn modelId="{26BAA4FA-B700-4017-83D5-AAD3B4C184F3}" type="presParOf" srcId="{BB9E1F33-9154-4227-99A7-52232CBC4564}" destId="{A3BAD5DC-6503-4E8B-AB93-1EA389F9F9DB}" srcOrd="8" destOrd="0" presId="urn:microsoft.com/office/officeart/2005/8/layout/hierarchy2"/>
    <dgm:cxn modelId="{777382A6-8D26-41E4-A302-BDF396167C27}" type="presParOf" srcId="{A3BAD5DC-6503-4E8B-AB93-1EA389F9F9DB}" destId="{20E32914-5836-4A11-950F-075F4C305CD4}" srcOrd="0" destOrd="0" presId="urn:microsoft.com/office/officeart/2005/8/layout/hierarchy2"/>
    <dgm:cxn modelId="{4A32E3A4-5D45-47E2-9308-5F7C2AD2566E}" type="presParOf" srcId="{BB9E1F33-9154-4227-99A7-52232CBC4564}" destId="{5D48D7D0-188C-491D-8175-22FC7F71063D}" srcOrd="9" destOrd="0" presId="urn:microsoft.com/office/officeart/2005/8/layout/hierarchy2"/>
    <dgm:cxn modelId="{1BB52424-1110-4032-B3A4-AEA24657C403}" type="presParOf" srcId="{5D48D7D0-188C-491D-8175-22FC7F71063D}" destId="{44BB25AF-5959-4DC4-9395-4FFBD842D9E2}" srcOrd="0" destOrd="0" presId="urn:microsoft.com/office/officeart/2005/8/layout/hierarchy2"/>
    <dgm:cxn modelId="{ABBE19EF-864C-4EBE-A134-69B12FB24A1B}" type="presParOf" srcId="{5D48D7D0-188C-491D-8175-22FC7F71063D}" destId="{FAA221C2-991E-4F83-AED6-D13D549B81FB}"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6492A8A-22F5-4747-8A42-1979713CCB2B}" type="doc">
      <dgm:prSet loTypeId="urn:microsoft.com/office/officeart/2005/8/layout/vList5" loCatId="list" qsTypeId="urn:microsoft.com/office/officeart/2005/8/quickstyle/simple1" qsCatId="simple" csTypeId="urn:microsoft.com/office/officeart/2005/8/colors/colorful5" csCatId="colorful"/>
      <dgm:spPr/>
      <dgm:t>
        <a:bodyPr/>
        <a:lstStyle/>
        <a:p>
          <a:endParaRPr lang="en-US"/>
        </a:p>
      </dgm:t>
    </dgm:pt>
    <dgm:pt modelId="{7278BF99-2410-4759-BC59-FE3F013AC604}">
      <dgm:prSet/>
      <dgm:spPr/>
      <dgm:t>
        <a:bodyPr/>
        <a:lstStyle/>
        <a:p>
          <a:r>
            <a:rPr lang="en-IE"/>
            <a:t>Depends on:</a:t>
          </a:r>
          <a:endParaRPr lang="en-US"/>
        </a:p>
      </dgm:t>
    </dgm:pt>
    <dgm:pt modelId="{A6B97FA5-9E94-40E8-A616-01AE8CF85CFF}" type="parTrans" cxnId="{D95807D5-DE58-4A42-B6B6-2B0F9AD0CB06}">
      <dgm:prSet/>
      <dgm:spPr/>
      <dgm:t>
        <a:bodyPr/>
        <a:lstStyle/>
        <a:p>
          <a:endParaRPr lang="en-US"/>
        </a:p>
      </dgm:t>
    </dgm:pt>
    <dgm:pt modelId="{A8AAE0E6-FEEA-4AAF-9B6E-369621A2F4AA}" type="sibTrans" cxnId="{D95807D5-DE58-4A42-B6B6-2B0F9AD0CB06}">
      <dgm:prSet/>
      <dgm:spPr/>
      <dgm:t>
        <a:bodyPr/>
        <a:lstStyle/>
        <a:p>
          <a:endParaRPr lang="en-US"/>
        </a:p>
      </dgm:t>
    </dgm:pt>
    <dgm:pt modelId="{D08C7650-E2B8-49FD-B49B-F7BA3B0D81D0}">
      <dgm:prSet custT="1"/>
      <dgm:spPr/>
      <dgm:t>
        <a:bodyPr/>
        <a:lstStyle/>
        <a:p>
          <a:r>
            <a:rPr lang="en-IE" sz="2400" dirty="0"/>
            <a:t>Nature of the job</a:t>
          </a:r>
          <a:endParaRPr lang="en-US" sz="2400" dirty="0"/>
        </a:p>
      </dgm:t>
    </dgm:pt>
    <dgm:pt modelId="{9BB821B0-DBD3-4B67-A67C-606C757B39F5}" type="parTrans" cxnId="{4E302D8E-F36B-48F4-A6DE-54926AE8472F}">
      <dgm:prSet/>
      <dgm:spPr/>
      <dgm:t>
        <a:bodyPr/>
        <a:lstStyle/>
        <a:p>
          <a:endParaRPr lang="en-US"/>
        </a:p>
      </dgm:t>
    </dgm:pt>
    <dgm:pt modelId="{92A39212-377F-4684-BFA4-CC6BD0260F11}" type="sibTrans" cxnId="{4E302D8E-F36B-48F4-A6DE-54926AE8472F}">
      <dgm:prSet/>
      <dgm:spPr/>
      <dgm:t>
        <a:bodyPr/>
        <a:lstStyle/>
        <a:p>
          <a:endParaRPr lang="en-US"/>
        </a:p>
      </dgm:t>
    </dgm:pt>
    <dgm:pt modelId="{8BD07B05-F44D-4E3A-8F64-D2CB212B32B0}">
      <dgm:prSet custT="1"/>
      <dgm:spPr/>
      <dgm:t>
        <a:bodyPr/>
        <a:lstStyle/>
        <a:p>
          <a:r>
            <a:rPr lang="en-IE" sz="2400" dirty="0"/>
            <a:t>Characteristics of the Ideal Candidate</a:t>
          </a:r>
          <a:endParaRPr lang="en-US" sz="2400" dirty="0"/>
        </a:p>
      </dgm:t>
    </dgm:pt>
    <dgm:pt modelId="{49546348-D8A4-4D41-9A66-F5739DE87F4E}" type="parTrans" cxnId="{9C6F915E-49A8-4A3E-9BBA-4808187046AE}">
      <dgm:prSet/>
      <dgm:spPr/>
      <dgm:t>
        <a:bodyPr/>
        <a:lstStyle/>
        <a:p>
          <a:endParaRPr lang="en-US"/>
        </a:p>
      </dgm:t>
    </dgm:pt>
    <dgm:pt modelId="{1C6C21A3-1245-43EE-A0EC-82037BF1E246}" type="sibTrans" cxnId="{9C6F915E-49A8-4A3E-9BBA-4808187046AE}">
      <dgm:prSet/>
      <dgm:spPr/>
      <dgm:t>
        <a:bodyPr/>
        <a:lstStyle/>
        <a:p>
          <a:endParaRPr lang="en-US"/>
        </a:p>
      </dgm:t>
    </dgm:pt>
    <dgm:pt modelId="{A3607C83-DA0F-434A-AF42-B0F2919E60BD}">
      <dgm:prSet custT="1"/>
      <dgm:spPr/>
      <dgm:t>
        <a:bodyPr/>
        <a:lstStyle/>
        <a:p>
          <a:r>
            <a:rPr lang="en-IE" sz="2400" dirty="0"/>
            <a:t>Review of other possible selection methods</a:t>
          </a:r>
          <a:endParaRPr lang="en-US" sz="2400" dirty="0"/>
        </a:p>
      </dgm:t>
    </dgm:pt>
    <dgm:pt modelId="{E57BDEC2-4969-468C-8DBB-59086004BD10}" type="parTrans" cxnId="{D4A2DD77-B13B-4077-A88E-CB7E1F901FC3}">
      <dgm:prSet/>
      <dgm:spPr/>
      <dgm:t>
        <a:bodyPr/>
        <a:lstStyle/>
        <a:p>
          <a:endParaRPr lang="en-US"/>
        </a:p>
      </dgm:t>
    </dgm:pt>
    <dgm:pt modelId="{A6640765-6EB1-451D-A31C-EF103D311CA2}" type="sibTrans" cxnId="{D4A2DD77-B13B-4077-A88E-CB7E1F901FC3}">
      <dgm:prSet/>
      <dgm:spPr/>
      <dgm:t>
        <a:bodyPr/>
        <a:lstStyle/>
        <a:p>
          <a:endParaRPr lang="en-US"/>
        </a:p>
      </dgm:t>
    </dgm:pt>
    <dgm:pt modelId="{78F1A872-594C-4521-9E7C-FBDDBABE1362}">
      <dgm:prSet/>
      <dgm:spPr/>
      <dgm:t>
        <a:bodyPr/>
        <a:lstStyle/>
        <a:p>
          <a:r>
            <a:rPr lang="en-IE"/>
            <a:t>Conditions of Use:</a:t>
          </a:r>
          <a:endParaRPr lang="en-US"/>
        </a:p>
      </dgm:t>
    </dgm:pt>
    <dgm:pt modelId="{ADB21C1C-F7D4-4F0A-BB15-941AECB9644C}" type="parTrans" cxnId="{C4B2729E-B51A-4801-9807-91A34962F843}">
      <dgm:prSet/>
      <dgm:spPr/>
      <dgm:t>
        <a:bodyPr/>
        <a:lstStyle/>
        <a:p>
          <a:endParaRPr lang="en-US"/>
        </a:p>
      </dgm:t>
    </dgm:pt>
    <dgm:pt modelId="{A38E6D02-C2F1-4F68-8D18-E7065C079B67}" type="sibTrans" cxnId="{C4B2729E-B51A-4801-9807-91A34962F843}">
      <dgm:prSet/>
      <dgm:spPr/>
      <dgm:t>
        <a:bodyPr/>
        <a:lstStyle/>
        <a:p>
          <a:endParaRPr lang="en-US"/>
        </a:p>
      </dgm:t>
    </dgm:pt>
    <dgm:pt modelId="{5C2681CA-816B-48FB-843D-28831CEF25E7}">
      <dgm:prSet custT="1"/>
      <dgm:spPr/>
      <dgm:t>
        <a:bodyPr/>
        <a:lstStyle/>
        <a:p>
          <a:r>
            <a:rPr lang="en-IE" sz="1800" dirty="0"/>
            <a:t>Should be used in conjunction with other methods</a:t>
          </a:r>
          <a:endParaRPr lang="en-US" sz="1800" dirty="0"/>
        </a:p>
      </dgm:t>
    </dgm:pt>
    <dgm:pt modelId="{2AB4235E-49A4-4A30-B1F0-1431513A3D84}" type="parTrans" cxnId="{9FA107D1-6C5B-422E-B4FB-76EAD0C5A3F2}">
      <dgm:prSet/>
      <dgm:spPr/>
      <dgm:t>
        <a:bodyPr/>
        <a:lstStyle/>
        <a:p>
          <a:endParaRPr lang="en-US"/>
        </a:p>
      </dgm:t>
    </dgm:pt>
    <dgm:pt modelId="{42B95747-1539-477D-98C0-4C6CE9504074}" type="sibTrans" cxnId="{9FA107D1-6C5B-422E-B4FB-76EAD0C5A3F2}">
      <dgm:prSet/>
      <dgm:spPr/>
      <dgm:t>
        <a:bodyPr/>
        <a:lstStyle/>
        <a:p>
          <a:endParaRPr lang="en-US"/>
        </a:p>
      </dgm:t>
    </dgm:pt>
    <dgm:pt modelId="{B0A87C8D-99FE-4DD3-ACA4-D75A1C757C2B}">
      <dgm:prSet custT="1"/>
      <dgm:spPr/>
      <dgm:t>
        <a:bodyPr/>
        <a:lstStyle/>
        <a:p>
          <a:r>
            <a:rPr lang="en-IE" sz="1800" dirty="0"/>
            <a:t>Consider cost</a:t>
          </a:r>
          <a:endParaRPr lang="en-US" sz="1800" dirty="0"/>
        </a:p>
      </dgm:t>
    </dgm:pt>
    <dgm:pt modelId="{C83B285F-9C12-4B11-8C51-7965CA6B43FC}" type="parTrans" cxnId="{EE8067D4-2AD8-49D2-B3D0-8C64B8B6B53B}">
      <dgm:prSet/>
      <dgm:spPr/>
      <dgm:t>
        <a:bodyPr/>
        <a:lstStyle/>
        <a:p>
          <a:endParaRPr lang="en-US"/>
        </a:p>
      </dgm:t>
    </dgm:pt>
    <dgm:pt modelId="{ED03E52F-4496-4FB0-AF50-FC9718CE5C91}" type="sibTrans" cxnId="{EE8067D4-2AD8-49D2-B3D0-8C64B8B6B53B}">
      <dgm:prSet/>
      <dgm:spPr/>
      <dgm:t>
        <a:bodyPr/>
        <a:lstStyle/>
        <a:p>
          <a:endParaRPr lang="en-US"/>
        </a:p>
      </dgm:t>
    </dgm:pt>
    <dgm:pt modelId="{E52D6802-2359-4EDE-B22C-AB24E81CC215}">
      <dgm:prSet custT="1"/>
      <dgm:spPr/>
      <dgm:t>
        <a:bodyPr/>
        <a:lstStyle/>
        <a:p>
          <a:r>
            <a:rPr lang="en-IE" sz="1800" dirty="0"/>
            <a:t>Recognise Limitations</a:t>
          </a:r>
          <a:endParaRPr lang="en-US" sz="1800" dirty="0"/>
        </a:p>
      </dgm:t>
    </dgm:pt>
    <dgm:pt modelId="{69061B08-F7AE-49E4-B85C-7515970EADB1}" type="parTrans" cxnId="{EC1247D7-0C70-4419-B89A-1A17B3441653}">
      <dgm:prSet/>
      <dgm:spPr/>
      <dgm:t>
        <a:bodyPr/>
        <a:lstStyle/>
        <a:p>
          <a:endParaRPr lang="en-US"/>
        </a:p>
      </dgm:t>
    </dgm:pt>
    <dgm:pt modelId="{FB7CDD9D-2F43-4A79-A437-171455E93D32}" type="sibTrans" cxnId="{EC1247D7-0C70-4419-B89A-1A17B3441653}">
      <dgm:prSet/>
      <dgm:spPr/>
      <dgm:t>
        <a:bodyPr/>
        <a:lstStyle/>
        <a:p>
          <a:endParaRPr lang="en-US"/>
        </a:p>
      </dgm:t>
    </dgm:pt>
    <dgm:pt modelId="{ADAE49E0-6316-416C-BBB6-ADBB7724BAC2}">
      <dgm:prSet custT="1"/>
      <dgm:spPr/>
      <dgm:t>
        <a:bodyPr/>
        <a:lstStyle/>
        <a:p>
          <a:r>
            <a:rPr lang="en-IE" sz="1800"/>
            <a:t>Use Reputable suppliers</a:t>
          </a:r>
          <a:endParaRPr lang="en-US" sz="1800"/>
        </a:p>
      </dgm:t>
    </dgm:pt>
    <dgm:pt modelId="{E656658E-B917-44D7-8A9E-7A59686674BE}" type="parTrans" cxnId="{A322E6F0-0AE7-463E-A7D9-BFE86A7B69B4}">
      <dgm:prSet/>
      <dgm:spPr/>
      <dgm:t>
        <a:bodyPr/>
        <a:lstStyle/>
        <a:p>
          <a:endParaRPr lang="en-US"/>
        </a:p>
      </dgm:t>
    </dgm:pt>
    <dgm:pt modelId="{5C34DE80-E625-40C2-BE10-68C5B4B5776C}" type="sibTrans" cxnId="{A322E6F0-0AE7-463E-A7D9-BFE86A7B69B4}">
      <dgm:prSet/>
      <dgm:spPr/>
      <dgm:t>
        <a:bodyPr/>
        <a:lstStyle/>
        <a:p>
          <a:endParaRPr lang="en-US"/>
        </a:p>
      </dgm:t>
    </dgm:pt>
    <dgm:pt modelId="{193D57C4-4ABE-4B6D-BC75-FC08332E304F}">
      <dgm:prSet custT="1"/>
      <dgm:spPr/>
      <dgm:t>
        <a:bodyPr/>
        <a:lstStyle/>
        <a:p>
          <a:r>
            <a:rPr lang="en-IE" sz="1800" dirty="0"/>
            <a:t>Respect the individual</a:t>
          </a:r>
          <a:endParaRPr lang="en-US" sz="1800" dirty="0"/>
        </a:p>
      </dgm:t>
    </dgm:pt>
    <dgm:pt modelId="{7ED9D81C-6F5F-47D0-93F7-FD0406BB55C9}" type="parTrans" cxnId="{AC89AE76-257B-492B-B4C7-130B28ED1532}">
      <dgm:prSet/>
      <dgm:spPr/>
      <dgm:t>
        <a:bodyPr/>
        <a:lstStyle/>
        <a:p>
          <a:endParaRPr lang="en-US"/>
        </a:p>
      </dgm:t>
    </dgm:pt>
    <dgm:pt modelId="{1113FA5F-664F-4E3D-ACC5-2D3FDC1EE4B4}" type="sibTrans" cxnId="{AC89AE76-257B-492B-B4C7-130B28ED1532}">
      <dgm:prSet/>
      <dgm:spPr/>
      <dgm:t>
        <a:bodyPr/>
        <a:lstStyle/>
        <a:p>
          <a:endParaRPr lang="en-US"/>
        </a:p>
      </dgm:t>
    </dgm:pt>
    <dgm:pt modelId="{03BDEB91-D2FE-4290-8DFD-E3E8D62E7FF0}">
      <dgm:prSet custT="1"/>
      <dgm:spPr/>
      <dgm:t>
        <a:bodyPr/>
        <a:lstStyle/>
        <a:p>
          <a:r>
            <a:rPr lang="en-IE" sz="1800" dirty="0"/>
            <a:t>(See Palmer’s 2002 article – “very testing testing”)</a:t>
          </a:r>
          <a:endParaRPr lang="en-US" sz="1800" dirty="0"/>
        </a:p>
      </dgm:t>
    </dgm:pt>
    <dgm:pt modelId="{280CF62C-CBF5-4C87-95C6-C65798EB4EB2}" type="parTrans" cxnId="{4EA3388C-3F2E-42AC-9C83-7DBF62DC7AC3}">
      <dgm:prSet/>
      <dgm:spPr/>
      <dgm:t>
        <a:bodyPr/>
        <a:lstStyle/>
        <a:p>
          <a:endParaRPr lang="en-US"/>
        </a:p>
      </dgm:t>
    </dgm:pt>
    <dgm:pt modelId="{E336938F-FF1F-448E-B57B-A8B12B8B525B}" type="sibTrans" cxnId="{4EA3388C-3F2E-42AC-9C83-7DBF62DC7AC3}">
      <dgm:prSet/>
      <dgm:spPr/>
      <dgm:t>
        <a:bodyPr/>
        <a:lstStyle/>
        <a:p>
          <a:endParaRPr lang="en-US"/>
        </a:p>
      </dgm:t>
    </dgm:pt>
    <dgm:pt modelId="{42460527-C06B-489C-8382-526239472C03}" type="pres">
      <dgm:prSet presAssocID="{F6492A8A-22F5-4747-8A42-1979713CCB2B}" presName="Name0" presStyleCnt="0">
        <dgm:presLayoutVars>
          <dgm:dir/>
          <dgm:animLvl val="lvl"/>
          <dgm:resizeHandles val="exact"/>
        </dgm:presLayoutVars>
      </dgm:prSet>
      <dgm:spPr/>
    </dgm:pt>
    <dgm:pt modelId="{C8AD845B-A984-4262-99A5-98DD6D0F6ED0}" type="pres">
      <dgm:prSet presAssocID="{7278BF99-2410-4759-BC59-FE3F013AC604}" presName="linNode" presStyleCnt="0"/>
      <dgm:spPr/>
    </dgm:pt>
    <dgm:pt modelId="{FFBFA889-C55D-4524-A0E3-ACFCB105433E}" type="pres">
      <dgm:prSet presAssocID="{7278BF99-2410-4759-BC59-FE3F013AC604}" presName="parentText" presStyleLbl="node1" presStyleIdx="0" presStyleCnt="2">
        <dgm:presLayoutVars>
          <dgm:chMax val="1"/>
          <dgm:bulletEnabled val="1"/>
        </dgm:presLayoutVars>
      </dgm:prSet>
      <dgm:spPr/>
    </dgm:pt>
    <dgm:pt modelId="{2FE53B6C-A1A2-443D-9179-F1DB579120E9}" type="pres">
      <dgm:prSet presAssocID="{7278BF99-2410-4759-BC59-FE3F013AC604}" presName="descendantText" presStyleLbl="alignAccFollowNode1" presStyleIdx="0" presStyleCnt="2">
        <dgm:presLayoutVars>
          <dgm:bulletEnabled val="1"/>
        </dgm:presLayoutVars>
      </dgm:prSet>
      <dgm:spPr/>
    </dgm:pt>
    <dgm:pt modelId="{4B1C7C1F-E99A-4653-A4E9-BFDEAF947F44}" type="pres">
      <dgm:prSet presAssocID="{A8AAE0E6-FEEA-4AAF-9B6E-369621A2F4AA}" presName="sp" presStyleCnt="0"/>
      <dgm:spPr/>
    </dgm:pt>
    <dgm:pt modelId="{30661C83-A48F-4174-A8E8-69AF118B2A00}" type="pres">
      <dgm:prSet presAssocID="{78F1A872-594C-4521-9E7C-FBDDBABE1362}" presName="linNode" presStyleCnt="0"/>
      <dgm:spPr/>
    </dgm:pt>
    <dgm:pt modelId="{47A78582-3B92-4A58-8E97-C801C386510B}" type="pres">
      <dgm:prSet presAssocID="{78F1A872-594C-4521-9E7C-FBDDBABE1362}" presName="parentText" presStyleLbl="node1" presStyleIdx="1" presStyleCnt="2">
        <dgm:presLayoutVars>
          <dgm:chMax val="1"/>
          <dgm:bulletEnabled val="1"/>
        </dgm:presLayoutVars>
      </dgm:prSet>
      <dgm:spPr/>
    </dgm:pt>
    <dgm:pt modelId="{5CAB9B8E-DA0B-4F56-A455-6FC5C1E1A068}" type="pres">
      <dgm:prSet presAssocID="{78F1A872-594C-4521-9E7C-FBDDBABE1362}" presName="descendantText" presStyleLbl="alignAccFollowNode1" presStyleIdx="1" presStyleCnt="2">
        <dgm:presLayoutVars>
          <dgm:bulletEnabled val="1"/>
        </dgm:presLayoutVars>
      </dgm:prSet>
      <dgm:spPr/>
    </dgm:pt>
  </dgm:ptLst>
  <dgm:cxnLst>
    <dgm:cxn modelId="{1A634511-F1F2-4ABB-B5C4-B9AD015178D7}" type="presOf" srcId="{5C2681CA-816B-48FB-843D-28831CEF25E7}" destId="{5CAB9B8E-DA0B-4F56-A455-6FC5C1E1A068}" srcOrd="0" destOrd="0" presId="urn:microsoft.com/office/officeart/2005/8/layout/vList5"/>
    <dgm:cxn modelId="{67AFEA39-B206-42C6-88BD-56E1AB4456F2}" type="presOf" srcId="{D08C7650-E2B8-49FD-B49B-F7BA3B0D81D0}" destId="{2FE53B6C-A1A2-443D-9179-F1DB579120E9}" srcOrd="0" destOrd="0" presId="urn:microsoft.com/office/officeart/2005/8/layout/vList5"/>
    <dgm:cxn modelId="{A67D273B-1BE7-46DE-87DE-258AA1E0D6D7}" type="presOf" srcId="{7278BF99-2410-4759-BC59-FE3F013AC604}" destId="{FFBFA889-C55D-4524-A0E3-ACFCB105433E}" srcOrd="0" destOrd="0" presId="urn:microsoft.com/office/officeart/2005/8/layout/vList5"/>
    <dgm:cxn modelId="{9C6F915E-49A8-4A3E-9BBA-4808187046AE}" srcId="{7278BF99-2410-4759-BC59-FE3F013AC604}" destId="{8BD07B05-F44D-4E3A-8F64-D2CB212B32B0}" srcOrd="1" destOrd="0" parTransId="{49546348-D8A4-4D41-9A66-F5739DE87F4E}" sibTransId="{1C6C21A3-1245-43EE-A0EC-82037BF1E246}"/>
    <dgm:cxn modelId="{10C3A966-C1DD-4BBC-90D2-860123C0ACD3}" type="presOf" srcId="{E52D6802-2359-4EDE-B22C-AB24E81CC215}" destId="{5CAB9B8E-DA0B-4F56-A455-6FC5C1E1A068}" srcOrd="0" destOrd="2" presId="urn:microsoft.com/office/officeart/2005/8/layout/vList5"/>
    <dgm:cxn modelId="{18CE6047-4817-4875-9FF7-0AFC2A294C69}" type="presOf" srcId="{03BDEB91-D2FE-4290-8DFD-E3E8D62E7FF0}" destId="{5CAB9B8E-DA0B-4F56-A455-6FC5C1E1A068}" srcOrd="0" destOrd="5" presId="urn:microsoft.com/office/officeart/2005/8/layout/vList5"/>
    <dgm:cxn modelId="{04ACC448-CE85-43DE-B339-F1D5B3E803BB}" type="presOf" srcId="{A3607C83-DA0F-434A-AF42-B0F2919E60BD}" destId="{2FE53B6C-A1A2-443D-9179-F1DB579120E9}" srcOrd="0" destOrd="2" presId="urn:microsoft.com/office/officeart/2005/8/layout/vList5"/>
    <dgm:cxn modelId="{AC89AE76-257B-492B-B4C7-130B28ED1532}" srcId="{78F1A872-594C-4521-9E7C-FBDDBABE1362}" destId="{193D57C4-4ABE-4B6D-BC75-FC08332E304F}" srcOrd="4" destOrd="0" parTransId="{7ED9D81C-6F5F-47D0-93F7-FD0406BB55C9}" sibTransId="{1113FA5F-664F-4E3D-ACC5-2D3FDC1EE4B4}"/>
    <dgm:cxn modelId="{D4A2DD77-B13B-4077-A88E-CB7E1F901FC3}" srcId="{7278BF99-2410-4759-BC59-FE3F013AC604}" destId="{A3607C83-DA0F-434A-AF42-B0F2919E60BD}" srcOrd="2" destOrd="0" parTransId="{E57BDEC2-4969-468C-8DBB-59086004BD10}" sibTransId="{A6640765-6EB1-451D-A31C-EF103D311CA2}"/>
    <dgm:cxn modelId="{2ED89683-7061-40AD-AAAD-E28227074CAD}" type="presOf" srcId="{78F1A872-594C-4521-9E7C-FBDDBABE1362}" destId="{47A78582-3B92-4A58-8E97-C801C386510B}" srcOrd="0" destOrd="0" presId="urn:microsoft.com/office/officeart/2005/8/layout/vList5"/>
    <dgm:cxn modelId="{4EA3388C-3F2E-42AC-9C83-7DBF62DC7AC3}" srcId="{78F1A872-594C-4521-9E7C-FBDDBABE1362}" destId="{03BDEB91-D2FE-4290-8DFD-E3E8D62E7FF0}" srcOrd="5" destOrd="0" parTransId="{280CF62C-CBF5-4C87-95C6-C65798EB4EB2}" sibTransId="{E336938F-FF1F-448E-B57B-A8B12B8B525B}"/>
    <dgm:cxn modelId="{4E302D8E-F36B-48F4-A6DE-54926AE8472F}" srcId="{7278BF99-2410-4759-BC59-FE3F013AC604}" destId="{D08C7650-E2B8-49FD-B49B-F7BA3B0D81D0}" srcOrd="0" destOrd="0" parTransId="{9BB821B0-DBD3-4B67-A67C-606C757B39F5}" sibTransId="{92A39212-377F-4684-BFA4-CC6BD0260F11}"/>
    <dgm:cxn modelId="{C4B2729E-B51A-4801-9807-91A34962F843}" srcId="{F6492A8A-22F5-4747-8A42-1979713CCB2B}" destId="{78F1A872-594C-4521-9E7C-FBDDBABE1362}" srcOrd="1" destOrd="0" parTransId="{ADB21C1C-F7D4-4F0A-BB15-941AECB9644C}" sibTransId="{A38E6D02-C2F1-4F68-8D18-E7065C079B67}"/>
    <dgm:cxn modelId="{8B3170B5-82CC-4302-AC67-1CAFB1041DF7}" type="presOf" srcId="{ADAE49E0-6316-416C-BBB6-ADBB7724BAC2}" destId="{5CAB9B8E-DA0B-4F56-A455-6FC5C1E1A068}" srcOrd="0" destOrd="3" presId="urn:microsoft.com/office/officeart/2005/8/layout/vList5"/>
    <dgm:cxn modelId="{9FA107D1-6C5B-422E-B4FB-76EAD0C5A3F2}" srcId="{78F1A872-594C-4521-9E7C-FBDDBABE1362}" destId="{5C2681CA-816B-48FB-843D-28831CEF25E7}" srcOrd="0" destOrd="0" parTransId="{2AB4235E-49A4-4A30-B1F0-1431513A3D84}" sibTransId="{42B95747-1539-477D-98C0-4C6CE9504074}"/>
    <dgm:cxn modelId="{EE8067D4-2AD8-49D2-B3D0-8C64B8B6B53B}" srcId="{78F1A872-594C-4521-9E7C-FBDDBABE1362}" destId="{B0A87C8D-99FE-4DD3-ACA4-D75A1C757C2B}" srcOrd="1" destOrd="0" parTransId="{C83B285F-9C12-4B11-8C51-7965CA6B43FC}" sibTransId="{ED03E52F-4496-4FB0-AF50-FC9718CE5C91}"/>
    <dgm:cxn modelId="{D95807D5-DE58-4A42-B6B6-2B0F9AD0CB06}" srcId="{F6492A8A-22F5-4747-8A42-1979713CCB2B}" destId="{7278BF99-2410-4759-BC59-FE3F013AC604}" srcOrd="0" destOrd="0" parTransId="{A6B97FA5-9E94-40E8-A616-01AE8CF85CFF}" sibTransId="{A8AAE0E6-FEEA-4AAF-9B6E-369621A2F4AA}"/>
    <dgm:cxn modelId="{EC1247D7-0C70-4419-B89A-1A17B3441653}" srcId="{78F1A872-594C-4521-9E7C-FBDDBABE1362}" destId="{E52D6802-2359-4EDE-B22C-AB24E81CC215}" srcOrd="2" destOrd="0" parTransId="{69061B08-F7AE-49E4-B85C-7515970EADB1}" sibTransId="{FB7CDD9D-2F43-4A79-A437-171455E93D32}"/>
    <dgm:cxn modelId="{16C72DE5-3223-48AC-B9AC-DBD0CB9D3064}" type="presOf" srcId="{F6492A8A-22F5-4747-8A42-1979713CCB2B}" destId="{42460527-C06B-489C-8382-526239472C03}" srcOrd="0" destOrd="0" presId="urn:microsoft.com/office/officeart/2005/8/layout/vList5"/>
    <dgm:cxn modelId="{4F2436E7-7D04-487E-BDE9-F0D1F0BF6439}" type="presOf" srcId="{B0A87C8D-99FE-4DD3-ACA4-D75A1C757C2B}" destId="{5CAB9B8E-DA0B-4F56-A455-6FC5C1E1A068}" srcOrd="0" destOrd="1" presId="urn:microsoft.com/office/officeart/2005/8/layout/vList5"/>
    <dgm:cxn modelId="{84A628EE-2C7B-4122-ADA7-730DCBFEA22C}" type="presOf" srcId="{193D57C4-4ABE-4B6D-BC75-FC08332E304F}" destId="{5CAB9B8E-DA0B-4F56-A455-6FC5C1E1A068}" srcOrd="0" destOrd="4" presId="urn:microsoft.com/office/officeart/2005/8/layout/vList5"/>
    <dgm:cxn modelId="{A322E6F0-0AE7-463E-A7D9-BFE86A7B69B4}" srcId="{78F1A872-594C-4521-9E7C-FBDDBABE1362}" destId="{ADAE49E0-6316-416C-BBB6-ADBB7724BAC2}" srcOrd="3" destOrd="0" parTransId="{E656658E-B917-44D7-8A9E-7A59686674BE}" sibTransId="{5C34DE80-E625-40C2-BE10-68C5B4B5776C}"/>
    <dgm:cxn modelId="{A3B2F1FC-073E-42C8-A3E9-0638221B5989}" type="presOf" srcId="{8BD07B05-F44D-4E3A-8F64-D2CB212B32B0}" destId="{2FE53B6C-A1A2-443D-9179-F1DB579120E9}" srcOrd="0" destOrd="1" presId="urn:microsoft.com/office/officeart/2005/8/layout/vList5"/>
    <dgm:cxn modelId="{454B4342-BEFA-4890-A5D2-C8AD133E7AF6}" type="presParOf" srcId="{42460527-C06B-489C-8382-526239472C03}" destId="{C8AD845B-A984-4262-99A5-98DD6D0F6ED0}" srcOrd="0" destOrd="0" presId="urn:microsoft.com/office/officeart/2005/8/layout/vList5"/>
    <dgm:cxn modelId="{4B698532-ACE9-4209-996B-7AA661EE63F6}" type="presParOf" srcId="{C8AD845B-A984-4262-99A5-98DD6D0F6ED0}" destId="{FFBFA889-C55D-4524-A0E3-ACFCB105433E}" srcOrd="0" destOrd="0" presId="urn:microsoft.com/office/officeart/2005/8/layout/vList5"/>
    <dgm:cxn modelId="{E8D42BB6-D54B-435A-BD2A-DD16B5AC396A}" type="presParOf" srcId="{C8AD845B-A984-4262-99A5-98DD6D0F6ED0}" destId="{2FE53B6C-A1A2-443D-9179-F1DB579120E9}" srcOrd="1" destOrd="0" presId="urn:microsoft.com/office/officeart/2005/8/layout/vList5"/>
    <dgm:cxn modelId="{16006F4D-7243-4EB6-B1ED-7D695320525B}" type="presParOf" srcId="{42460527-C06B-489C-8382-526239472C03}" destId="{4B1C7C1F-E99A-4653-A4E9-BFDEAF947F44}" srcOrd="1" destOrd="0" presId="urn:microsoft.com/office/officeart/2005/8/layout/vList5"/>
    <dgm:cxn modelId="{9D9FD350-D4AA-4960-A15B-60D2A861AFC7}" type="presParOf" srcId="{42460527-C06B-489C-8382-526239472C03}" destId="{30661C83-A48F-4174-A8E8-69AF118B2A00}" srcOrd="2" destOrd="0" presId="urn:microsoft.com/office/officeart/2005/8/layout/vList5"/>
    <dgm:cxn modelId="{9439CC59-8AFD-4A20-9144-DE96B0438365}" type="presParOf" srcId="{30661C83-A48F-4174-A8E8-69AF118B2A00}" destId="{47A78582-3B92-4A58-8E97-C801C386510B}" srcOrd="0" destOrd="0" presId="urn:microsoft.com/office/officeart/2005/8/layout/vList5"/>
    <dgm:cxn modelId="{7D82B060-B358-4C13-AA51-D465F8926510}" type="presParOf" srcId="{30661C83-A48F-4174-A8E8-69AF118B2A00}" destId="{5CAB9B8E-DA0B-4F56-A455-6FC5C1E1A068}"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7492BBF-1B06-4373-8B79-0C8B4FB6DE44}" type="doc">
      <dgm:prSet loTypeId="urn:microsoft.com/office/officeart/2005/8/layout/vList5" loCatId="list" qsTypeId="urn:microsoft.com/office/officeart/2005/8/quickstyle/simple1" qsCatId="simple" csTypeId="urn:microsoft.com/office/officeart/2005/8/colors/accent0_3" csCatId="mainScheme"/>
      <dgm:spPr/>
      <dgm:t>
        <a:bodyPr/>
        <a:lstStyle/>
        <a:p>
          <a:endParaRPr lang="en-US"/>
        </a:p>
      </dgm:t>
    </dgm:pt>
    <dgm:pt modelId="{BA85D6EE-2465-45EB-9F09-C55196C92846}">
      <dgm:prSet/>
      <dgm:spPr/>
      <dgm:t>
        <a:bodyPr/>
        <a:lstStyle/>
        <a:p>
          <a:r>
            <a:rPr lang="en-IE"/>
            <a:t>Assumptions that personality:</a:t>
          </a:r>
          <a:endParaRPr lang="en-US"/>
        </a:p>
      </dgm:t>
    </dgm:pt>
    <dgm:pt modelId="{FE0F6F19-21B4-4F34-AE18-B9F451D673D3}" type="parTrans" cxnId="{0E1F4F91-0FAE-4310-98FA-7210953D8AD3}">
      <dgm:prSet/>
      <dgm:spPr/>
      <dgm:t>
        <a:bodyPr/>
        <a:lstStyle/>
        <a:p>
          <a:endParaRPr lang="en-US"/>
        </a:p>
      </dgm:t>
    </dgm:pt>
    <dgm:pt modelId="{8D18602A-0B04-4A92-92C8-8B6AAE97EB41}" type="sibTrans" cxnId="{0E1F4F91-0FAE-4310-98FA-7210953D8AD3}">
      <dgm:prSet/>
      <dgm:spPr/>
      <dgm:t>
        <a:bodyPr/>
        <a:lstStyle/>
        <a:p>
          <a:endParaRPr lang="en-US"/>
        </a:p>
      </dgm:t>
    </dgm:pt>
    <dgm:pt modelId="{966B4B7E-675E-4EC3-A7B2-45EECFF20179}">
      <dgm:prSet/>
      <dgm:spPr/>
      <dgm:t>
        <a:bodyPr/>
        <a:lstStyle/>
        <a:p>
          <a:r>
            <a:rPr lang="en-IE"/>
            <a:t>Is measurable</a:t>
          </a:r>
          <a:endParaRPr lang="en-US"/>
        </a:p>
      </dgm:t>
    </dgm:pt>
    <dgm:pt modelId="{3455AED6-4514-4E1C-B20B-0DB1E36C6915}" type="parTrans" cxnId="{C8D022BF-2D35-4403-9FBC-9027A49BE5C6}">
      <dgm:prSet/>
      <dgm:spPr/>
      <dgm:t>
        <a:bodyPr/>
        <a:lstStyle/>
        <a:p>
          <a:endParaRPr lang="en-US"/>
        </a:p>
      </dgm:t>
    </dgm:pt>
    <dgm:pt modelId="{3DDDA0BE-58E6-48C7-B826-3E6B3229FA9C}" type="sibTrans" cxnId="{C8D022BF-2D35-4403-9FBC-9027A49BE5C6}">
      <dgm:prSet/>
      <dgm:spPr/>
      <dgm:t>
        <a:bodyPr/>
        <a:lstStyle/>
        <a:p>
          <a:endParaRPr lang="en-US"/>
        </a:p>
      </dgm:t>
    </dgm:pt>
    <dgm:pt modelId="{2CF01980-89BB-4A9F-9534-5FED8E3F2CCC}">
      <dgm:prSet/>
      <dgm:spPr/>
      <dgm:t>
        <a:bodyPr/>
        <a:lstStyle/>
        <a:p>
          <a:r>
            <a:rPr lang="en-IE"/>
            <a:t>Remains stable over time</a:t>
          </a:r>
          <a:endParaRPr lang="en-US"/>
        </a:p>
      </dgm:t>
    </dgm:pt>
    <dgm:pt modelId="{5C0DFB7A-D941-4741-AE44-DBCBD7355FBB}" type="parTrans" cxnId="{94CB6268-960D-4781-820F-6827149D192E}">
      <dgm:prSet/>
      <dgm:spPr/>
      <dgm:t>
        <a:bodyPr/>
        <a:lstStyle/>
        <a:p>
          <a:endParaRPr lang="en-US"/>
        </a:p>
      </dgm:t>
    </dgm:pt>
    <dgm:pt modelId="{18D89BA3-3169-463E-8C10-E1D216EFE8FB}" type="sibTrans" cxnId="{94CB6268-960D-4781-820F-6827149D192E}">
      <dgm:prSet/>
      <dgm:spPr/>
      <dgm:t>
        <a:bodyPr/>
        <a:lstStyle/>
        <a:p>
          <a:endParaRPr lang="en-US"/>
        </a:p>
      </dgm:t>
    </dgm:pt>
    <dgm:pt modelId="{D36D4CEF-C003-416D-B9C8-6FAFDF703798}">
      <dgm:prSet/>
      <dgm:spPr/>
      <dgm:t>
        <a:bodyPr/>
        <a:lstStyle/>
        <a:p>
          <a:r>
            <a:rPr lang="en-IE"/>
            <a:t>Different jobs suit different personalities</a:t>
          </a:r>
          <a:endParaRPr lang="en-US"/>
        </a:p>
      </dgm:t>
    </dgm:pt>
    <dgm:pt modelId="{133ECD4F-3476-4600-812A-DF860A5957F3}" type="parTrans" cxnId="{925B4763-AB94-4684-A92A-0878884B0E6F}">
      <dgm:prSet/>
      <dgm:spPr/>
      <dgm:t>
        <a:bodyPr/>
        <a:lstStyle/>
        <a:p>
          <a:endParaRPr lang="en-US"/>
        </a:p>
      </dgm:t>
    </dgm:pt>
    <dgm:pt modelId="{CBFD722E-7E28-4BCB-81ED-2BF23550C92E}" type="sibTrans" cxnId="{925B4763-AB94-4684-A92A-0878884B0E6F}">
      <dgm:prSet/>
      <dgm:spPr/>
      <dgm:t>
        <a:bodyPr/>
        <a:lstStyle/>
        <a:p>
          <a:endParaRPr lang="en-US"/>
        </a:p>
      </dgm:t>
    </dgm:pt>
    <dgm:pt modelId="{30E5F76F-3FF8-4E60-A274-89B4EB328EE7}">
      <dgm:prSet/>
      <dgm:spPr/>
      <dgm:t>
        <a:bodyPr/>
        <a:lstStyle/>
        <a:p>
          <a:r>
            <a:rPr lang="en-IE"/>
            <a:t>Short test to determines suitability for the job</a:t>
          </a:r>
          <a:endParaRPr lang="en-US"/>
        </a:p>
      </dgm:t>
    </dgm:pt>
    <dgm:pt modelId="{BC27B240-8B21-4120-A4D8-CED42269A847}" type="parTrans" cxnId="{3A7AADDB-395B-4324-A7C8-FEB394EF0515}">
      <dgm:prSet/>
      <dgm:spPr/>
      <dgm:t>
        <a:bodyPr/>
        <a:lstStyle/>
        <a:p>
          <a:endParaRPr lang="en-US"/>
        </a:p>
      </dgm:t>
    </dgm:pt>
    <dgm:pt modelId="{7DEE62A2-C4E8-4260-8365-C81F32EBC8C4}" type="sibTrans" cxnId="{3A7AADDB-395B-4324-A7C8-FEB394EF0515}">
      <dgm:prSet/>
      <dgm:spPr/>
      <dgm:t>
        <a:bodyPr/>
        <a:lstStyle/>
        <a:p>
          <a:endParaRPr lang="en-US"/>
        </a:p>
      </dgm:t>
    </dgm:pt>
    <dgm:pt modelId="{B8A02D0D-85E3-40C2-8B35-D511E46EC5BE}">
      <dgm:prSet/>
      <dgm:spPr/>
      <dgm:t>
        <a:bodyPr/>
        <a:lstStyle/>
        <a:p>
          <a:r>
            <a:rPr lang="en-IE"/>
            <a:t>Problems</a:t>
          </a:r>
          <a:endParaRPr lang="en-US"/>
        </a:p>
      </dgm:t>
    </dgm:pt>
    <dgm:pt modelId="{FDD5CD36-1D32-4D78-9F2A-BC63A430E197}" type="parTrans" cxnId="{EFDBDC2B-896D-457E-91F6-CBBA4C2C7636}">
      <dgm:prSet/>
      <dgm:spPr/>
      <dgm:t>
        <a:bodyPr/>
        <a:lstStyle/>
        <a:p>
          <a:endParaRPr lang="en-US"/>
        </a:p>
      </dgm:t>
    </dgm:pt>
    <dgm:pt modelId="{C69C8816-8A12-4469-AA12-FD1B9BF4F4D9}" type="sibTrans" cxnId="{EFDBDC2B-896D-457E-91F6-CBBA4C2C7636}">
      <dgm:prSet/>
      <dgm:spPr/>
      <dgm:t>
        <a:bodyPr/>
        <a:lstStyle/>
        <a:p>
          <a:endParaRPr lang="en-US"/>
        </a:p>
      </dgm:t>
    </dgm:pt>
    <dgm:pt modelId="{4B5239AE-6B58-4BAD-B104-90E5E0E89E93}">
      <dgm:prSet/>
      <dgm:spPr/>
      <dgm:t>
        <a:bodyPr/>
        <a:lstStyle/>
        <a:p>
          <a:r>
            <a:rPr lang="en-IE"/>
            <a:t>Predictive Validity </a:t>
          </a:r>
          <a:endParaRPr lang="en-US"/>
        </a:p>
      </dgm:t>
    </dgm:pt>
    <dgm:pt modelId="{E08E6BF9-10E3-4525-81A2-BC2EC89860E6}" type="parTrans" cxnId="{B1ABB513-C601-47B0-837A-2396B882B380}">
      <dgm:prSet/>
      <dgm:spPr/>
      <dgm:t>
        <a:bodyPr/>
        <a:lstStyle/>
        <a:p>
          <a:endParaRPr lang="en-US"/>
        </a:p>
      </dgm:t>
    </dgm:pt>
    <dgm:pt modelId="{6881E4E0-AAF7-446F-B6DD-24796A126632}" type="sibTrans" cxnId="{B1ABB513-C601-47B0-837A-2396B882B380}">
      <dgm:prSet/>
      <dgm:spPr/>
      <dgm:t>
        <a:bodyPr/>
        <a:lstStyle/>
        <a:p>
          <a:endParaRPr lang="en-US"/>
        </a:p>
      </dgm:t>
    </dgm:pt>
    <dgm:pt modelId="{D48C81C5-9AA9-48B4-A964-6BCD8CCAA7A5}">
      <dgm:prSet/>
      <dgm:spPr/>
      <dgm:t>
        <a:bodyPr/>
        <a:lstStyle/>
        <a:p>
          <a:r>
            <a:rPr lang="en-IE"/>
            <a:t>Distortion &amp; Faking (Social Desirability)</a:t>
          </a:r>
          <a:endParaRPr lang="en-US"/>
        </a:p>
      </dgm:t>
    </dgm:pt>
    <dgm:pt modelId="{56DFECBA-7DDE-42F7-8D17-42E937C9031D}" type="parTrans" cxnId="{FEF5E850-FBF6-461B-8FBC-BA097F8AA19C}">
      <dgm:prSet/>
      <dgm:spPr/>
      <dgm:t>
        <a:bodyPr/>
        <a:lstStyle/>
        <a:p>
          <a:endParaRPr lang="en-US"/>
        </a:p>
      </dgm:t>
    </dgm:pt>
    <dgm:pt modelId="{16831EDF-4CDB-4DB9-A2A8-A135A87677E2}" type="sibTrans" cxnId="{FEF5E850-FBF6-461B-8FBC-BA097F8AA19C}">
      <dgm:prSet/>
      <dgm:spPr/>
      <dgm:t>
        <a:bodyPr/>
        <a:lstStyle/>
        <a:p>
          <a:endParaRPr lang="en-US"/>
        </a:p>
      </dgm:t>
    </dgm:pt>
    <dgm:pt modelId="{3F06BC84-3AC9-43CD-BCBE-6C1B4CB18442}">
      <dgm:prSet/>
      <dgm:spPr/>
      <dgm:t>
        <a:bodyPr/>
        <a:lstStyle/>
        <a:p>
          <a:r>
            <a:rPr lang="en-IE"/>
            <a:t>Barnum Effect</a:t>
          </a:r>
          <a:endParaRPr lang="en-US"/>
        </a:p>
      </dgm:t>
    </dgm:pt>
    <dgm:pt modelId="{2FA6BF12-9B18-425B-AEC0-B36EC0C074CE}" type="parTrans" cxnId="{3B5358A2-5CCF-4B5B-A242-294DC848BBBB}">
      <dgm:prSet/>
      <dgm:spPr/>
      <dgm:t>
        <a:bodyPr/>
        <a:lstStyle/>
        <a:p>
          <a:endParaRPr lang="en-US"/>
        </a:p>
      </dgm:t>
    </dgm:pt>
    <dgm:pt modelId="{24312E09-4197-4A94-8BCC-34A735FAF8A8}" type="sibTrans" cxnId="{3B5358A2-5CCF-4B5B-A242-294DC848BBBB}">
      <dgm:prSet/>
      <dgm:spPr/>
      <dgm:t>
        <a:bodyPr/>
        <a:lstStyle/>
        <a:p>
          <a:endParaRPr lang="en-US"/>
        </a:p>
      </dgm:t>
    </dgm:pt>
    <dgm:pt modelId="{CC7494CB-8CAA-40F8-AEFA-F8921F35E861}">
      <dgm:prSet/>
      <dgm:spPr/>
      <dgm:t>
        <a:bodyPr/>
        <a:lstStyle/>
        <a:p>
          <a:r>
            <a:rPr lang="en-IE"/>
            <a:t>Ethical Issues </a:t>
          </a:r>
          <a:endParaRPr lang="en-US"/>
        </a:p>
      </dgm:t>
    </dgm:pt>
    <dgm:pt modelId="{01B53FC0-7E4D-4FC1-B4A2-620A3D5EB2BF}" type="parTrans" cxnId="{17733BE1-E064-400F-9A3A-8CB784545726}">
      <dgm:prSet/>
      <dgm:spPr/>
      <dgm:t>
        <a:bodyPr/>
        <a:lstStyle/>
        <a:p>
          <a:endParaRPr lang="en-US"/>
        </a:p>
      </dgm:t>
    </dgm:pt>
    <dgm:pt modelId="{B0CB5B86-A1D3-4610-B89C-2F6A0FD6F8D2}" type="sibTrans" cxnId="{17733BE1-E064-400F-9A3A-8CB784545726}">
      <dgm:prSet/>
      <dgm:spPr/>
      <dgm:t>
        <a:bodyPr/>
        <a:lstStyle/>
        <a:p>
          <a:endParaRPr lang="en-US"/>
        </a:p>
      </dgm:t>
    </dgm:pt>
    <dgm:pt modelId="{F66575F3-2B4E-4000-B979-95C6A4B07309}" type="pres">
      <dgm:prSet presAssocID="{47492BBF-1B06-4373-8B79-0C8B4FB6DE44}" presName="Name0" presStyleCnt="0">
        <dgm:presLayoutVars>
          <dgm:dir/>
          <dgm:animLvl val="lvl"/>
          <dgm:resizeHandles val="exact"/>
        </dgm:presLayoutVars>
      </dgm:prSet>
      <dgm:spPr/>
    </dgm:pt>
    <dgm:pt modelId="{F01C0E67-F897-4CD9-8381-75ED00E83E3E}" type="pres">
      <dgm:prSet presAssocID="{BA85D6EE-2465-45EB-9F09-C55196C92846}" presName="linNode" presStyleCnt="0"/>
      <dgm:spPr/>
    </dgm:pt>
    <dgm:pt modelId="{38C69CC3-97C6-4BD9-AA90-9D0A4370AFCC}" type="pres">
      <dgm:prSet presAssocID="{BA85D6EE-2465-45EB-9F09-C55196C92846}" presName="parentText" presStyleLbl="node1" presStyleIdx="0" presStyleCnt="2">
        <dgm:presLayoutVars>
          <dgm:chMax val="1"/>
          <dgm:bulletEnabled val="1"/>
        </dgm:presLayoutVars>
      </dgm:prSet>
      <dgm:spPr/>
    </dgm:pt>
    <dgm:pt modelId="{949B35F7-A8D4-41BC-AFA7-963E21EF61B6}" type="pres">
      <dgm:prSet presAssocID="{BA85D6EE-2465-45EB-9F09-C55196C92846}" presName="descendantText" presStyleLbl="alignAccFollowNode1" presStyleIdx="0" presStyleCnt="2">
        <dgm:presLayoutVars>
          <dgm:bulletEnabled val="1"/>
        </dgm:presLayoutVars>
      </dgm:prSet>
      <dgm:spPr/>
    </dgm:pt>
    <dgm:pt modelId="{DB5FD905-9E3A-48A3-A596-4BE300736E7D}" type="pres">
      <dgm:prSet presAssocID="{8D18602A-0B04-4A92-92C8-8B6AAE97EB41}" presName="sp" presStyleCnt="0"/>
      <dgm:spPr/>
    </dgm:pt>
    <dgm:pt modelId="{6620821D-90D1-458F-9699-172D979C5E43}" type="pres">
      <dgm:prSet presAssocID="{B8A02D0D-85E3-40C2-8B35-D511E46EC5BE}" presName="linNode" presStyleCnt="0"/>
      <dgm:spPr/>
    </dgm:pt>
    <dgm:pt modelId="{6EC73E6A-81EE-4CB6-8658-AA8245F5DA73}" type="pres">
      <dgm:prSet presAssocID="{B8A02D0D-85E3-40C2-8B35-D511E46EC5BE}" presName="parentText" presStyleLbl="node1" presStyleIdx="1" presStyleCnt="2">
        <dgm:presLayoutVars>
          <dgm:chMax val="1"/>
          <dgm:bulletEnabled val="1"/>
        </dgm:presLayoutVars>
      </dgm:prSet>
      <dgm:spPr/>
    </dgm:pt>
    <dgm:pt modelId="{DB1DDB53-4E22-4761-ACDE-E2BAFB9F4814}" type="pres">
      <dgm:prSet presAssocID="{B8A02D0D-85E3-40C2-8B35-D511E46EC5BE}" presName="descendantText" presStyleLbl="alignAccFollowNode1" presStyleIdx="1" presStyleCnt="2">
        <dgm:presLayoutVars>
          <dgm:bulletEnabled val="1"/>
        </dgm:presLayoutVars>
      </dgm:prSet>
      <dgm:spPr/>
    </dgm:pt>
  </dgm:ptLst>
  <dgm:cxnLst>
    <dgm:cxn modelId="{EDFFC306-B6EB-48E2-BCFC-93F0DC076F3E}" type="presOf" srcId="{CC7494CB-8CAA-40F8-AEFA-F8921F35E861}" destId="{DB1DDB53-4E22-4761-ACDE-E2BAFB9F4814}" srcOrd="0" destOrd="3" presId="urn:microsoft.com/office/officeart/2005/8/layout/vList5"/>
    <dgm:cxn modelId="{B6AB940A-01F2-4B00-9822-D4635E76C2DE}" type="presOf" srcId="{2CF01980-89BB-4A9F-9534-5FED8E3F2CCC}" destId="{949B35F7-A8D4-41BC-AFA7-963E21EF61B6}" srcOrd="0" destOrd="1" presId="urn:microsoft.com/office/officeart/2005/8/layout/vList5"/>
    <dgm:cxn modelId="{B1ABB513-C601-47B0-837A-2396B882B380}" srcId="{B8A02D0D-85E3-40C2-8B35-D511E46EC5BE}" destId="{4B5239AE-6B58-4BAD-B104-90E5E0E89E93}" srcOrd="0" destOrd="0" parTransId="{E08E6BF9-10E3-4525-81A2-BC2EC89860E6}" sibTransId="{6881E4E0-AAF7-446F-B6DD-24796A126632}"/>
    <dgm:cxn modelId="{EFDBDC2B-896D-457E-91F6-CBBA4C2C7636}" srcId="{47492BBF-1B06-4373-8B79-0C8B4FB6DE44}" destId="{B8A02D0D-85E3-40C2-8B35-D511E46EC5BE}" srcOrd="1" destOrd="0" parTransId="{FDD5CD36-1D32-4D78-9F2A-BC63A430E197}" sibTransId="{C69C8816-8A12-4469-AA12-FD1B9BF4F4D9}"/>
    <dgm:cxn modelId="{925B4763-AB94-4684-A92A-0878884B0E6F}" srcId="{BA85D6EE-2465-45EB-9F09-C55196C92846}" destId="{D36D4CEF-C003-416D-B9C8-6FAFDF703798}" srcOrd="2" destOrd="0" parTransId="{133ECD4F-3476-4600-812A-DF860A5957F3}" sibTransId="{CBFD722E-7E28-4BCB-81ED-2BF23550C92E}"/>
    <dgm:cxn modelId="{94CB6268-960D-4781-820F-6827149D192E}" srcId="{BA85D6EE-2465-45EB-9F09-C55196C92846}" destId="{2CF01980-89BB-4A9F-9534-5FED8E3F2CCC}" srcOrd="1" destOrd="0" parTransId="{5C0DFB7A-D941-4741-AE44-DBCBD7355FBB}" sibTransId="{18D89BA3-3169-463E-8C10-E1D216EFE8FB}"/>
    <dgm:cxn modelId="{68666F4D-7D01-424F-A463-5ED53C8FB88F}" type="presOf" srcId="{D48C81C5-9AA9-48B4-A964-6BCD8CCAA7A5}" destId="{DB1DDB53-4E22-4761-ACDE-E2BAFB9F4814}" srcOrd="0" destOrd="1" presId="urn:microsoft.com/office/officeart/2005/8/layout/vList5"/>
    <dgm:cxn modelId="{FEF5E850-FBF6-461B-8FBC-BA097F8AA19C}" srcId="{B8A02D0D-85E3-40C2-8B35-D511E46EC5BE}" destId="{D48C81C5-9AA9-48B4-A964-6BCD8CCAA7A5}" srcOrd="1" destOrd="0" parTransId="{56DFECBA-7DDE-42F7-8D17-42E937C9031D}" sibTransId="{16831EDF-4CDB-4DB9-A2A8-A135A87677E2}"/>
    <dgm:cxn modelId="{8BB02E73-D470-407B-BE72-A443409A615D}" type="presOf" srcId="{966B4B7E-675E-4EC3-A7B2-45EECFF20179}" destId="{949B35F7-A8D4-41BC-AFA7-963E21EF61B6}" srcOrd="0" destOrd="0" presId="urn:microsoft.com/office/officeart/2005/8/layout/vList5"/>
    <dgm:cxn modelId="{0E1F4F91-0FAE-4310-98FA-7210953D8AD3}" srcId="{47492BBF-1B06-4373-8B79-0C8B4FB6DE44}" destId="{BA85D6EE-2465-45EB-9F09-C55196C92846}" srcOrd="0" destOrd="0" parTransId="{FE0F6F19-21B4-4F34-AE18-B9F451D673D3}" sibTransId="{8D18602A-0B04-4A92-92C8-8B6AAE97EB41}"/>
    <dgm:cxn modelId="{3B5358A2-5CCF-4B5B-A242-294DC848BBBB}" srcId="{B8A02D0D-85E3-40C2-8B35-D511E46EC5BE}" destId="{3F06BC84-3AC9-43CD-BCBE-6C1B4CB18442}" srcOrd="2" destOrd="0" parTransId="{2FA6BF12-9B18-425B-AEC0-B36EC0C074CE}" sibTransId="{24312E09-4197-4A94-8BCC-34A735FAF8A8}"/>
    <dgm:cxn modelId="{9D57B8A4-3F2C-4A81-B03E-C9781AC38CC6}" type="presOf" srcId="{B8A02D0D-85E3-40C2-8B35-D511E46EC5BE}" destId="{6EC73E6A-81EE-4CB6-8658-AA8245F5DA73}" srcOrd="0" destOrd="0" presId="urn:microsoft.com/office/officeart/2005/8/layout/vList5"/>
    <dgm:cxn modelId="{38DECFA7-6704-44E2-AFB3-2F3BA1D61B23}" type="presOf" srcId="{47492BBF-1B06-4373-8B79-0C8B4FB6DE44}" destId="{F66575F3-2B4E-4000-B979-95C6A4B07309}" srcOrd="0" destOrd="0" presId="urn:microsoft.com/office/officeart/2005/8/layout/vList5"/>
    <dgm:cxn modelId="{B15781B6-100C-48F3-9982-293E9B80565F}" type="presOf" srcId="{30E5F76F-3FF8-4E60-A274-89B4EB328EE7}" destId="{949B35F7-A8D4-41BC-AFA7-963E21EF61B6}" srcOrd="0" destOrd="3" presId="urn:microsoft.com/office/officeart/2005/8/layout/vList5"/>
    <dgm:cxn modelId="{DAB2CBB7-D0D5-45F2-A588-08282C6E2912}" type="presOf" srcId="{D36D4CEF-C003-416D-B9C8-6FAFDF703798}" destId="{949B35F7-A8D4-41BC-AFA7-963E21EF61B6}" srcOrd="0" destOrd="2" presId="urn:microsoft.com/office/officeart/2005/8/layout/vList5"/>
    <dgm:cxn modelId="{C8D022BF-2D35-4403-9FBC-9027A49BE5C6}" srcId="{BA85D6EE-2465-45EB-9F09-C55196C92846}" destId="{966B4B7E-675E-4EC3-A7B2-45EECFF20179}" srcOrd="0" destOrd="0" parTransId="{3455AED6-4514-4E1C-B20B-0DB1E36C6915}" sibTransId="{3DDDA0BE-58E6-48C7-B826-3E6B3229FA9C}"/>
    <dgm:cxn modelId="{A28E25C9-3044-491F-9226-FDEEFB5ECE5F}" type="presOf" srcId="{3F06BC84-3AC9-43CD-BCBE-6C1B4CB18442}" destId="{DB1DDB53-4E22-4761-ACDE-E2BAFB9F4814}" srcOrd="0" destOrd="2" presId="urn:microsoft.com/office/officeart/2005/8/layout/vList5"/>
    <dgm:cxn modelId="{724FDDCA-8374-429B-AFC8-9F0980A62EEE}" type="presOf" srcId="{BA85D6EE-2465-45EB-9F09-C55196C92846}" destId="{38C69CC3-97C6-4BD9-AA90-9D0A4370AFCC}" srcOrd="0" destOrd="0" presId="urn:microsoft.com/office/officeart/2005/8/layout/vList5"/>
    <dgm:cxn modelId="{3A7AADDB-395B-4324-A7C8-FEB394EF0515}" srcId="{BA85D6EE-2465-45EB-9F09-C55196C92846}" destId="{30E5F76F-3FF8-4E60-A274-89B4EB328EE7}" srcOrd="3" destOrd="0" parTransId="{BC27B240-8B21-4120-A4D8-CED42269A847}" sibTransId="{7DEE62A2-C4E8-4260-8365-C81F32EBC8C4}"/>
    <dgm:cxn modelId="{17733BE1-E064-400F-9A3A-8CB784545726}" srcId="{B8A02D0D-85E3-40C2-8B35-D511E46EC5BE}" destId="{CC7494CB-8CAA-40F8-AEFA-F8921F35E861}" srcOrd="3" destOrd="0" parTransId="{01B53FC0-7E4D-4FC1-B4A2-620A3D5EB2BF}" sibTransId="{B0CB5B86-A1D3-4610-B89C-2F6A0FD6F8D2}"/>
    <dgm:cxn modelId="{5EB497EC-29B2-4FB2-97D3-3ADE626BB0CD}" type="presOf" srcId="{4B5239AE-6B58-4BAD-B104-90E5E0E89E93}" destId="{DB1DDB53-4E22-4761-ACDE-E2BAFB9F4814}" srcOrd="0" destOrd="0" presId="urn:microsoft.com/office/officeart/2005/8/layout/vList5"/>
    <dgm:cxn modelId="{50F55486-8953-4DA0-8596-250F2F3FC3C9}" type="presParOf" srcId="{F66575F3-2B4E-4000-B979-95C6A4B07309}" destId="{F01C0E67-F897-4CD9-8381-75ED00E83E3E}" srcOrd="0" destOrd="0" presId="urn:microsoft.com/office/officeart/2005/8/layout/vList5"/>
    <dgm:cxn modelId="{83831ECA-DDA4-4339-9F3D-CEF1C62B5DF1}" type="presParOf" srcId="{F01C0E67-F897-4CD9-8381-75ED00E83E3E}" destId="{38C69CC3-97C6-4BD9-AA90-9D0A4370AFCC}" srcOrd="0" destOrd="0" presId="urn:microsoft.com/office/officeart/2005/8/layout/vList5"/>
    <dgm:cxn modelId="{8502FF01-208B-43FC-807F-0E82DA3908AC}" type="presParOf" srcId="{F01C0E67-F897-4CD9-8381-75ED00E83E3E}" destId="{949B35F7-A8D4-41BC-AFA7-963E21EF61B6}" srcOrd="1" destOrd="0" presId="urn:microsoft.com/office/officeart/2005/8/layout/vList5"/>
    <dgm:cxn modelId="{BC7049AA-DCA6-426C-B0F2-174E107CDE3B}" type="presParOf" srcId="{F66575F3-2B4E-4000-B979-95C6A4B07309}" destId="{DB5FD905-9E3A-48A3-A596-4BE300736E7D}" srcOrd="1" destOrd="0" presId="urn:microsoft.com/office/officeart/2005/8/layout/vList5"/>
    <dgm:cxn modelId="{128C5595-C592-4348-A695-8FB80A4DB5A5}" type="presParOf" srcId="{F66575F3-2B4E-4000-B979-95C6A4B07309}" destId="{6620821D-90D1-458F-9699-172D979C5E43}" srcOrd="2" destOrd="0" presId="urn:microsoft.com/office/officeart/2005/8/layout/vList5"/>
    <dgm:cxn modelId="{10A5807C-BEEB-4B8D-BF05-3D74DC63EDF6}" type="presParOf" srcId="{6620821D-90D1-458F-9699-172D979C5E43}" destId="{6EC73E6A-81EE-4CB6-8658-AA8245F5DA73}" srcOrd="0" destOrd="0" presId="urn:microsoft.com/office/officeart/2005/8/layout/vList5"/>
    <dgm:cxn modelId="{3F015DF5-9D56-4985-8D8F-9EDB206EE199}" type="presParOf" srcId="{6620821D-90D1-458F-9699-172D979C5E43}" destId="{DB1DDB53-4E22-4761-ACDE-E2BAFB9F4814}"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6546F5A-40C6-45F8-AED6-12FC63C0ACEE}"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35916FE-23C9-4BEF-92ED-63EC01BA5BCA}">
      <dgm:prSet/>
      <dgm:spPr/>
      <dgm:t>
        <a:bodyPr/>
        <a:lstStyle/>
        <a:p>
          <a:r>
            <a:rPr lang="en-GB"/>
            <a:t>Is your selection method fair?</a:t>
          </a:r>
          <a:endParaRPr lang="en-US"/>
        </a:p>
      </dgm:t>
    </dgm:pt>
    <dgm:pt modelId="{2249F173-473E-42DD-B397-CB13F5986E82}" type="parTrans" cxnId="{5A83B44C-0226-40D9-A469-D9551D9271A9}">
      <dgm:prSet/>
      <dgm:spPr/>
      <dgm:t>
        <a:bodyPr/>
        <a:lstStyle/>
        <a:p>
          <a:endParaRPr lang="en-US"/>
        </a:p>
      </dgm:t>
    </dgm:pt>
    <dgm:pt modelId="{BD2EA6AE-716E-42A7-9616-E9E23D9F93B0}" type="sibTrans" cxnId="{5A83B44C-0226-40D9-A469-D9551D9271A9}">
      <dgm:prSet/>
      <dgm:spPr/>
      <dgm:t>
        <a:bodyPr/>
        <a:lstStyle/>
        <a:p>
          <a:endParaRPr lang="en-US"/>
        </a:p>
      </dgm:t>
    </dgm:pt>
    <dgm:pt modelId="{16E750E0-7A22-4C67-82C2-71A4977122CE}">
      <dgm:prSet/>
      <dgm:spPr/>
      <dgm:t>
        <a:bodyPr/>
        <a:lstStyle/>
        <a:p>
          <a:r>
            <a:rPr lang="en-GB"/>
            <a:t>Cost</a:t>
          </a:r>
          <a:endParaRPr lang="en-US"/>
        </a:p>
      </dgm:t>
    </dgm:pt>
    <dgm:pt modelId="{E12DBA31-1301-4A2A-B0FE-A3AC4A7A7F0C}" type="parTrans" cxnId="{46FC4B57-7021-4A02-89CF-175CB9BB8E19}">
      <dgm:prSet/>
      <dgm:spPr/>
      <dgm:t>
        <a:bodyPr/>
        <a:lstStyle/>
        <a:p>
          <a:endParaRPr lang="en-US"/>
        </a:p>
      </dgm:t>
    </dgm:pt>
    <dgm:pt modelId="{462755BD-CF6D-44C1-A337-C2E26C4A6DF5}" type="sibTrans" cxnId="{46FC4B57-7021-4A02-89CF-175CB9BB8E19}">
      <dgm:prSet/>
      <dgm:spPr/>
      <dgm:t>
        <a:bodyPr/>
        <a:lstStyle/>
        <a:p>
          <a:endParaRPr lang="en-US"/>
        </a:p>
      </dgm:t>
    </dgm:pt>
    <dgm:pt modelId="{8AD1F0A6-9A4D-456A-977C-7A463345F279}">
      <dgm:prSet/>
      <dgm:spPr/>
      <dgm:t>
        <a:bodyPr/>
        <a:lstStyle/>
        <a:p>
          <a:r>
            <a:rPr lang="en-GB"/>
            <a:t>Convenience</a:t>
          </a:r>
          <a:endParaRPr lang="en-US"/>
        </a:p>
      </dgm:t>
    </dgm:pt>
    <dgm:pt modelId="{D1F19CB7-C2A4-4125-A4DD-0BCCD3544E1F}" type="parTrans" cxnId="{5AE67F8F-9F2C-4B57-AA47-5BB504700A2A}">
      <dgm:prSet/>
      <dgm:spPr/>
      <dgm:t>
        <a:bodyPr/>
        <a:lstStyle/>
        <a:p>
          <a:endParaRPr lang="en-US"/>
        </a:p>
      </dgm:t>
    </dgm:pt>
    <dgm:pt modelId="{94B9AFD6-FEBB-46E1-B081-77D5D9DDB940}" type="sibTrans" cxnId="{5AE67F8F-9F2C-4B57-AA47-5BB504700A2A}">
      <dgm:prSet/>
      <dgm:spPr/>
      <dgm:t>
        <a:bodyPr/>
        <a:lstStyle/>
        <a:p>
          <a:endParaRPr lang="en-US"/>
        </a:p>
      </dgm:t>
    </dgm:pt>
    <dgm:pt modelId="{B7A15CFD-232F-4821-9013-CBAAB2997796}">
      <dgm:prSet/>
      <dgm:spPr/>
      <dgm:t>
        <a:bodyPr/>
        <a:lstStyle/>
        <a:p>
          <a:r>
            <a:rPr lang="en-GB"/>
            <a:t>Time available</a:t>
          </a:r>
          <a:endParaRPr lang="en-US"/>
        </a:p>
      </dgm:t>
    </dgm:pt>
    <dgm:pt modelId="{962DC037-98FB-4CB2-BBB4-41CBECDBD2B4}" type="parTrans" cxnId="{2942396D-4864-4A6B-B055-A8A245CF81D4}">
      <dgm:prSet/>
      <dgm:spPr/>
      <dgm:t>
        <a:bodyPr/>
        <a:lstStyle/>
        <a:p>
          <a:endParaRPr lang="en-US"/>
        </a:p>
      </dgm:t>
    </dgm:pt>
    <dgm:pt modelId="{E0153213-5B1E-4F99-B6D6-FEA67E3026D0}" type="sibTrans" cxnId="{2942396D-4864-4A6B-B055-A8A245CF81D4}">
      <dgm:prSet/>
      <dgm:spPr/>
      <dgm:t>
        <a:bodyPr/>
        <a:lstStyle/>
        <a:p>
          <a:endParaRPr lang="en-US"/>
        </a:p>
      </dgm:t>
    </dgm:pt>
    <dgm:pt modelId="{4EB751D6-0A64-4784-A6A7-078C5AC1B945}">
      <dgm:prSet/>
      <dgm:spPr/>
      <dgm:t>
        <a:bodyPr/>
        <a:lstStyle/>
        <a:p>
          <a:r>
            <a:rPr lang="en-GB"/>
            <a:t>Who is involved?</a:t>
          </a:r>
          <a:endParaRPr lang="en-US"/>
        </a:p>
      </dgm:t>
    </dgm:pt>
    <dgm:pt modelId="{12F68FA6-E083-4D07-BB56-E5D8D8FFD32C}" type="parTrans" cxnId="{419B1192-790F-46CE-8642-E35F8CCF3198}">
      <dgm:prSet/>
      <dgm:spPr/>
      <dgm:t>
        <a:bodyPr/>
        <a:lstStyle/>
        <a:p>
          <a:endParaRPr lang="en-US"/>
        </a:p>
      </dgm:t>
    </dgm:pt>
    <dgm:pt modelId="{09BFA97D-DF1A-4AE7-B4FF-86FA23C79751}" type="sibTrans" cxnId="{419B1192-790F-46CE-8642-E35F8CCF3198}">
      <dgm:prSet/>
      <dgm:spPr/>
      <dgm:t>
        <a:bodyPr/>
        <a:lstStyle/>
        <a:p>
          <a:endParaRPr lang="en-US"/>
        </a:p>
      </dgm:t>
    </dgm:pt>
    <dgm:pt modelId="{365DF352-65C8-4DD6-A277-2860AD3365E3}">
      <dgm:prSet/>
      <dgm:spPr/>
      <dgm:t>
        <a:bodyPr/>
        <a:lstStyle/>
        <a:p>
          <a:r>
            <a:rPr lang="en-GB"/>
            <a:t>Attitudes of candidates and employers also relevant here</a:t>
          </a:r>
          <a:endParaRPr lang="en-US"/>
        </a:p>
      </dgm:t>
    </dgm:pt>
    <dgm:pt modelId="{C529E5C6-AC30-459F-8EE8-0B70659B70BD}" type="parTrans" cxnId="{FF9F8353-A49B-4D76-B5F1-F0CDC60095A3}">
      <dgm:prSet/>
      <dgm:spPr/>
      <dgm:t>
        <a:bodyPr/>
        <a:lstStyle/>
        <a:p>
          <a:endParaRPr lang="en-US"/>
        </a:p>
      </dgm:t>
    </dgm:pt>
    <dgm:pt modelId="{2D9042BD-04D6-4B1A-B9ED-73D42E684EC1}" type="sibTrans" cxnId="{FF9F8353-A49B-4D76-B5F1-F0CDC60095A3}">
      <dgm:prSet/>
      <dgm:spPr/>
      <dgm:t>
        <a:bodyPr/>
        <a:lstStyle/>
        <a:p>
          <a:endParaRPr lang="en-US"/>
        </a:p>
      </dgm:t>
    </dgm:pt>
    <dgm:pt modelId="{1D860169-ED78-4721-A8F0-D4DDE043AAD8}" type="pres">
      <dgm:prSet presAssocID="{26546F5A-40C6-45F8-AED6-12FC63C0ACEE}" presName="root" presStyleCnt="0">
        <dgm:presLayoutVars>
          <dgm:dir/>
          <dgm:resizeHandles val="exact"/>
        </dgm:presLayoutVars>
      </dgm:prSet>
      <dgm:spPr/>
    </dgm:pt>
    <dgm:pt modelId="{260A995B-C3C7-4917-AB4A-21076B066318}" type="pres">
      <dgm:prSet presAssocID="{F35916FE-23C9-4BEF-92ED-63EC01BA5BCA}" presName="compNode" presStyleCnt="0"/>
      <dgm:spPr/>
    </dgm:pt>
    <dgm:pt modelId="{9B029117-37FB-4642-AF70-423EFBBE801B}" type="pres">
      <dgm:prSet presAssocID="{F35916FE-23C9-4BEF-92ED-63EC01BA5BCA}" presName="bgRect" presStyleLbl="bgShp" presStyleIdx="0" presStyleCnt="6"/>
      <dgm:spPr/>
    </dgm:pt>
    <dgm:pt modelId="{AC49915B-856E-479D-8A8D-CBD35CD02D65}" type="pres">
      <dgm:prSet presAssocID="{F35916FE-23C9-4BEF-92ED-63EC01BA5BCA}"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orkflow"/>
        </a:ext>
      </dgm:extLst>
    </dgm:pt>
    <dgm:pt modelId="{5BE73D6C-3A78-4EE0-8B05-93DAC26F0734}" type="pres">
      <dgm:prSet presAssocID="{F35916FE-23C9-4BEF-92ED-63EC01BA5BCA}" presName="spaceRect" presStyleCnt="0"/>
      <dgm:spPr/>
    </dgm:pt>
    <dgm:pt modelId="{1157D3CC-59C5-493B-A405-0F94E220E338}" type="pres">
      <dgm:prSet presAssocID="{F35916FE-23C9-4BEF-92ED-63EC01BA5BCA}" presName="parTx" presStyleLbl="revTx" presStyleIdx="0" presStyleCnt="6">
        <dgm:presLayoutVars>
          <dgm:chMax val="0"/>
          <dgm:chPref val="0"/>
        </dgm:presLayoutVars>
      </dgm:prSet>
      <dgm:spPr/>
    </dgm:pt>
    <dgm:pt modelId="{AFC94EF2-38CA-4196-8DF3-DA504137F502}" type="pres">
      <dgm:prSet presAssocID="{BD2EA6AE-716E-42A7-9616-E9E23D9F93B0}" presName="sibTrans" presStyleCnt="0"/>
      <dgm:spPr/>
    </dgm:pt>
    <dgm:pt modelId="{A847E9AA-9A0B-483B-AF2B-EBD1D1DDEBFB}" type="pres">
      <dgm:prSet presAssocID="{16E750E0-7A22-4C67-82C2-71A4977122CE}" presName="compNode" presStyleCnt="0"/>
      <dgm:spPr/>
    </dgm:pt>
    <dgm:pt modelId="{6F9084A3-D481-4325-AC62-19EB6D1A75DF}" type="pres">
      <dgm:prSet presAssocID="{16E750E0-7A22-4C67-82C2-71A4977122CE}" presName="bgRect" presStyleLbl="bgShp" presStyleIdx="1" presStyleCnt="6"/>
      <dgm:spPr/>
    </dgm:pt>
    <dgm:pt modelId="{7973ED08-8AC7-41D1-AB07-DE6B4C37FB66}" type="pres">
      <dgm:prSet presAssocID="{16E750E0-7A22-4C67-82C2-71A4977122CE}"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llar"/>
        </a:ext>
      </dgm:extLst>
    </dgm:pt>
    <dgm:pt modelId="{00AABB1A-2087-4072-8134-C85682A7EB9F}" type="pres">
      <dgm:prSet presAssocID="{16E750E0-7A22-4C67-82C2-71A4977122CE}" presName="spaceRect" presStyleCnt="0"/>
      <dgm:spPr/>
    </dgm:pt>
    <dgm:pt modelId="{BA4FF554-E203-41BD-A6C9-853AEA7693A5}" type="pres">
      <dgm:prSet presAssocID="{16E750E0-7A22-4C67-82C2-71A4977122CE}" presName="parTx" presStyleLbl="revTx" presStyleIdx="1" presStyleCnt="6">
        <dgm:presLayoutVars>
          <dgm:chMax val="0"/>
          <dgm:chPref val="0"/>
        </dgm:presLayoutVars>
      </dgm:prSet>
      <dgm:spPr/>
    </dgm:pt>
    <dgm:pt modelId="{C83C13B7-CC92-4D50-8C25-EF0CB366F8AD}" type="pres">
      <dgm:prSet presAssocID="{462755BD-CF6D-44C1-A337-C2E26C4A6DF5}" presName="sibTrans" presStyleCnt="0"/>
      <dgm:spPr/>
    </dgm:pt>
    <dgm:pt modelId="{9EEAEDBA-1E3D-4A90-A326-F2672C5E9653}" type="pres">
      <dgm:prSet presAssocID="{8AD1F0A6-9A4D-456A-977C-7A463345F279}" presName="compNode" presStyleCnt="0"/>
      <dgm:spPr/>
    </dgm:pt>
    <dgm:pt modelId="{E2F7DEA9-447D-4EA5-975F-125B052EE9E1}" type="pres">
      <dgm:prSet presAssocID="{8AD1F0A6-9A4D-456A-977C-7A463345F279}" presName="bgRect" presStyleLbl="bgShp" presStyleIdx="2" presStyleCnt="6"/>
      <dgm:spPr/>
    </dgm:pt>
    <dgm:pt modelId="{2675E95C-EA2F-479F-BCA1-D2EDB39D98F3}" type="pres">
      <dgm:prSet presAssocID="{8AD1F0A6-9A4D-456A-977C-7A463345F279}"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opwatch"/>
        </a:ext>
      </dgm:extLst>
    </dgm:pt>
    <dgm:pt modelId="{AD76B4A3-2B31-4F70-B3EA-8F8FAAC5C65C}" type="pres">
      <dgm:prSet presAssocID="{8AD1F0A6-9A4D-456A-977C-7A463345F279}" presName="spaceRect" presStyleCnt="0"/>
      <dgm:spPr/>
    </dgm:pt>
    <dgm:pt modelId="{9D50EA2E-EA58-4216-9CD0-50AE7BBEE787}" type="pres">
      <dgm:prSet presAssocID="{8AD1F0A6-9A4D-456A-977C-7A463345F279}" presName="parTx" presStyleLbl="revTx" presStyleIdx="2" presStyleCnt="6">
        <dgm:presLayoutVars>
          <dgm:chMax val="0"/>
          <dgm:chPref val="0"/>
        </dgm:presLayoutVars>
      </dgm:prSet>
      <dgm:spPr/>
    </dgm:pt>
    <dgm:pt modelId="{55FB261A-5ED9-4537-8068-3D6295E13577}" type="pres">
      <dgm:prSet presAssocID="{94B9AFD6-FEBB-46E1-B081-77D5D9DDB940}" presName="sibTrans" presStyleCnt="0"/>
      <dgm:spPr/>
    </dgm:pt>
    <dgm:pt modelId="{8A074900-5897-4B2B-B836-4FBE8F77214E}" type="pres">
      <dgm:prSet presAssocID="{B7A15CFD-232F-4821-9013-CBAAB2997796}" presName="compNode" presStyleCnt="0"/>
      <dgm:spPr/>
    </dgm:pt>
    <dgm:pt modelId="{0E07EA8D-FA04-446F-841A-A6F5EBE899A4}" type="pres">
      <dgm:prSet presAssocID="{B7A15CFD-232F-4821-9013-CBAAB2997796}" presName="bgRect" presStyleLbl="bgShp" presStyleIdx="3" presStyleCnt="6"/>
      <dgm:spPr/>
    </dgm:pt>
    <dgm:pt modelId="{60B0A4B4-E795-4B27-8C6D-5F7531108E96}" type="pres">
      <dgm:prSet presAssocID="{B7A15CFD-232F-4821-9013-CBAAB2997796}"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lock"/>
        </a:ext>
      </dgm:extLst>
    </dgm:pt>
    <dgm:pt modelId="{7A6C95AC-5007-475A-962A-1D939E753959}" type="pres">
      <dgm:prSet presAssocID="{B7A15CFD-232F-4821-9013-CBAAB2997796}" presName="spaceRect" presStyleCnt="0"/>
      <dgm:spPr/>
    </dgm:pt>
    <dgm:pt modelId="{B4CDF6F8-3702-4A2C-8372-EF3126CA2EAB}" type="pres">
      <dgm:prSet presAssocID="{B7A15CFD-232F-4821-9013-CBAAB2997796}" presName="parTx" presStyleLbl="revTx" presStyleIdx="3" presStyleCnt="6">
        <dgm:presLayoutVars>
          <dgm:chMax val="0"/>
          <dgm:chPref val="0"/>
        </dgm:presLayoutVars>
      </dgm:prSet>
      <dgm:spPr/>
    </dgm:pt>
    <dgm:pt modelId="{13F37858-D540-4A72-9680-2BEACD1096EA}" type="pres">
      <dgm:prSet presAssocID="{E0153213-5B1E-4F99-B6D6-FEA67E3026D0}" presName="sibTrans" presStyleCnt="0"/>
      <dgm:spPr/>
    </dgm:pt>
    <dgm:pt modelId="{0D462286-B73D-424F-B8E3-CE1BFD18C441}" type="pres">
      <dgm:prSet presAssocID="{4EB751D6-0A64-4784-A6A7-078C5AC1B945}" presName="compNode" presStyleCnt="0"/>
      <dgm:spPr/>
    </dgm:pt>
    <dgm:pt modelId="{F4D9C145-ED9E-44C3-822B-8475F47A452A}" type="pres">
      <dgm:prSet presAssocID="{4EB751D6-0A64-4784-A6A7-078C5AC1B945}" presName="bgRect" presStyleLbl="bgShp" presStyleIdx="4" presStyleCnt="6"/>
      <dgm:spPr/>
    </dgm:pt>
    <dgm:pt modelId="{B2FE35EC-790F-48C6-A856-7A0F210E7056}" type="pres">
      <dgm:prSet presAssocID="{4EB751D6-0A64-4784-A6A7-078C5AC1B945}"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heers"/>
        </a:ext>
      </dgm:extLst>
    </dgm:pt>
    <dgm:pt modelId="{3C56CC9F-AD0A-4ADD-BE22-746547E596E9}" type="pres">
      <dgm:prSet presAssocID="{4EB751D6-0A64-4784-A6A7-078C5AC1B945}" presName="spaceRect" presStyleCnt="0"/>
      <dgm:spPr/>
    </dgm:pt>
    <dgm:pt modelId="{4ED5F637-031A-498B-8B57-B9C3770710E0}" type="pres">
      <dgm:prSet presAssocID="{4EB751D6-0A64-4784-A6A7-078C5AC1B945}" presName="parTx" presStyleLbl="revTx" presStyleIdx="4" presStyleCnt="6">
        <dgm:presLayoutVars>
          <dgm:chMax val="0"/>
          <dgm:chPref val="0"/>
        </dgm:presLayoutVars>
      </dgm:prSet>
      <dgm:spPr/>
    </dgm:pt>
    <dgm:pt modelId="{3180E72F-0894-4776-B221-BA0B5DE89C95}" type="pres">
      <dgm:prSet presAssocID="{09BFA97D-DF1A-4AE7-B4FF-86FA23C79751}" presName="sibTrans" presStyleCnt="0"/>
      <dgm:spPr/>
    </dgm:pt>
    <dgm:pt modelId="{9852AE44-667C-4352-8CD5-A7E7EEE891EF}" type="pres">
      <dgm:prSet presAssocID="{365DF352-65C8-4DD6-A277-2860AD3365E3}" presName="compNode" presStyleCnt="0"/>
      <dgm:spPr/>
    </dgm:pt>
    <dgm:pt modelId="{659F1C28-3C62-4CC2-9133-8C367A10B047}" type="pres">
      <dgm:prSet presAssocID="{365DF352-65C8-4DD6-A277-2860AD3365E3}" presName="bgRect" presStyleLbl="bgShp" presStyleIdx="5" presStyleCnt="6"/>
      <dgm:spPr/>
    </dgm:pt>
    <dgm:pt modelId="{FA0D922C-BE58-4263-A30D-F7E8DC0649EA}" type="pres">
      <dgm:prSet presAssocID="{365DF352-65C8-4DD6-A277-2860AD3365E3}"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Users"/>
        </a:ext>
      </dgm:extLst>
    </dgm:pt>
    <dgm:pt modelId="{D89A9BBD-81C8-426D-B53D-08EAF98B930A}" type="pres">
      <dgm:prSet presAssocID="{365DF352-65C8-4DD6-A277-2860AD3365E3}" presName="spaceRect" presStyleCnt="0"/>
      <dgm:spPr/>
    </dgm:pt>
    <dgm:pt modelId="{BAF08DBF-0673-4F93-BDA8-4F5C4353F802}" type="pres">
      <dgm:prSet presAssocID="{365DF352-65C8-4DD6-A277-2860AD3365E3}" presName="parTx" presStyleLbl="revTx" presStyleIdx="5" presStyleCnt="6">
        <dgm:presLayoutVars>
          <dgm:chMax val="0"/>
          <dgm:chPref val="0"/>
        </dgm:presLayoutVars>
      </dgm:prSet>
      <dgm:spPr/>
    </dgm:pt>
  </dgm:ptLst>
  <dgm:cxnLst>
    <dgm:cxn modelId="{A9185907-18B4-43F0-AE17-4AE69516E3D8}" type="presOf" srcId="{16E750E0-7A22-4C67-82C2-71A4977122CE}" destId="{BA4FF554-E203-41BD-A6C9-853AEA7693A5}" srcOrd="0" destOrd="0" presId="urn:microsoft.com/office/officeart/2018/2/layout/IconVerticalSolidList"/>
    <dgm:cxn modelId="{92944E0E-284F-4A85-8F6E-768DB3DF4537}" type="presOf" srcId="{B7A15CFD-232F-4821-9013-CBAAB2997796}" destId="{B4CDF6F8-3702-4A2C-8372-EF3126CA2EAB}" srcOrd="0" destOrd="0" presId="urn:microsoft.com/office/officeart/2018/2/layout/IconVerticalSolidList"/>
    <dgm:cxn modelId="{5A83B44C-0226-40D9-A469-D9551D9271A9}" srcId="{26546F5A-40C6-45F8-AED6-12FC63C0ACEE}" destId="{F35916FE-23C9-4BEF-92ED-63EC01BA5BCA}" srcOrd="0" destOrd="0" parTransId="{2249F173-473E-42DD-B397-CB13F5986E82}" sibTransId="{BD2EA6AE-716E-42A7-9616-E9E23D9F93B0}"/>
    <dgm:cxn modelId="{2942396D-4864-4A6B-B055-A8A245CF81D4}" srcId="{26546F5A-40C6-45F8-AED6-12FC63C0ACEE}" destId="{B7A15CFD-232F-4821-9013-CBAAB2997796}" srcOrd="3" destOrd="0" parTransId="{962DC037-98FB-4CB2-BBB4-41CBECDBD2B4}" sibTransId="{E0153213-5B1E-4F99-B6D6-FEA67E3026D0}"/>
    <dgm:cxn modelId="{FF9F8353-A49B-4D76-B5F1-F0CDC60095A3}" srcId="{26546F5A-40C6-45F8-AED6-12FC63C0ACEE}" destId="{365DF352-65C8-4DD6-A277-2860AD3365E3}" srcOrd="5" destOrd="0" parTransId="{C529E5C6-AC30-459F-8EE8-0B70659B70BD}" sibTransId="{2D9042BD-04D6-4B1A-B9ED-73D42E684EC1}"/>
    <dgm:cxn modelId="{5EA01376-BDE5-4652-9BAD-247FEA47F8FD}" type="presOf" srcId="{365DF352-65C8-4DD6-A277-2860AD3365E3}" destId="{BAF08DBF-0673-4F93-BDA8-4F5C4353F802}" srcOrd="0" destOrd="0" presId="urn:microsoft.com/office/officeart/2018/2/layout/IconVerticalSolidList"/>
    <dgm:cxn modelId="{46FC4B57-7021-4A02-89CF-175CB9BB8E19}" srcId="{26546F5A-40C6-45F8-AED6-12FC63C0ACEE}" destId="{16E750E0-7A22-4C67-82C2-71A4977122CE}" srcOrd="1" destOrd="0" parTransId="{E12DBA31-1301-4A2A-B0FE-A3AC4A7A7F0C}" sibTransId="{462755BD-CF6D-44C1-A337-C2E26C4A6DF5}"/>
    <dgm:cxn modelId="{0AE1C97A-1E34-43C5-8E7D-A7D6EE2D209E}" type="presOf" srcId="{4EB751D6-0A64-4784-A6A7-078C5AC1B945}" destId="{4ED5F637-031A-498B-8B57-B9C3770710E0}" srcOrd="0" destOrd="0" presId="urn:microsoft.com/office/officeart/2018/2/layout/IconVerticalSolidList"/>
    <dgm:cxn modelId="{5AE67F8F-9F2C-4B57-AA47-5BB504700A2A}" srcId="{26546F5A-40C6-45F8-AED6-12FC63C0ACEE}" destId="{8AD1F0A6-9A4D-456A-977C-7A463345F279}" srcOrd="2" destOrd="0" parTransId="{D1F19CB7-C2A4-4125-A4DD-0BCCD3544E1F}" sibTransId="{94B9AFD6-FEBB-46E1-B081-77D5D9DDB940}"/>
    <dgm:cxn modelId="{419B1192-790F-46CE-8642-E35F8CCF3198}" srcId="{26546F5A-40C6-45F8-AED6-12FC63C0ACEE}" destId="{4EB751D6-0A64-4784-A6A7-078C5AC1B945}" srcOrd="4" destOrd="0" parTransId="{12F68FA6-E083-4D07-BB56-E5D8D8FFD32C}" sibTransId="{09BFA97D-DF1A-4AE7-B4FF-86FA23C79751}"/>
    <dgm:cxn modelId="{196811B7-73AF-41EF-83E9-65AA4AC832B0}" type="presOf" srcId="{26546F5A-40C6-45F8-AED6-12FC63C0ACEE}" destId="{1D860169-ED78-4721-A8F0-D4DDE043AAD8}" srcOrd="0" destOrd="0" presId="urn:microsoft.com/office/officeart/2018/2/layout/IconVerticalSolidList"/>
    <dgm:cxn modelId="{7FB08EB8-F809-46FA-B81E-96A7E5BA7EAB}" type="presOf" srcId="{F35916FE-23C9-4BEF-92ED-63EC01BA5BCA}" destId="{1157D3CC-59C5-493B-A405-0F94E220E338}" srcOrd="0" destOrd="0" presId="urn:microsoft.com/office/officeart/2018/2/layout/IconVerticalSolidList"/>
    <dgm:cxn modelId="{2C9F2EBC-B431-4733-88C5-A0B3A6F7F923}" type="presOf" srcId="{8AD1F0A6-9A4D-456A-977C-7A463345F279}" destId="{9D50EA2E-EA58-4216-9CD0-50AE7BBEE787}" srcOrd="0" destOrd="0" presId="urn:microsoft.com/office/officeart/2018/2/layout/IconVerticalSolidList"/>
    <dgm:cxn modelId="{D8724B6F-4B44-4894-B5B0-8E1EE2438AAB}" type="presParOf" srcId="{1D860169-ED78-4721-A8F0-D4DDE043AAD8}" destId="{260A995B-C3C7-4917-AB4A-21076B066318}" srcOrd="0" destOrd="0" presId="urn:microsoft.com/office/officeart/2018/2/layout/IconVerticalSolidList"/>
    <dgm:cxn modelId="{0BB3C085-5A6E-4471-9675-16ADB1F0D782}" type="presParOf" srcId="{260A995B-C3C7-4917-AB4A-21076B066318}" destId="{9B029117-37FB-4642-AF70-423EFBBE801B}" srcOrd="0" destOrd="0" presId="urn:microsoft.com/office/officeart/2018/2/layout/IconVerticalSolidList"/>
    <dgm:cxn modelId="{5BECE468-0E7B-4A18-AA22-CE85BA62C4C2}" type="presParOf" srcId="{260A995B-C3C7-4917-AB4A-21076B066318}" destId="{AC49915B-856E-479D-8A8D-CBD35CD02D65}" srcOrd="1" destOrd="0" presId="urn:microsoft.com/office/officeart/2018/2/layout/IconVerticalSolidList"/>
    <dgm:cxn modelId="{4AC4A3C4-0EC2-4A25-8379-CB3C745B4553}" type="presParOf" srcId="{260A995B-C3C7-4917-AB4A-21076B066318}" destId="{5BE73D6C-3A78-4EE0-8B05-93DAC26F0734}" srcOrd="2" destOrd="0" presId="urn:microsoft.com/office/officeart/2018/2/layout/IconVerticalSolidList"/>
    <dgm:cxn modelId="{268200C8-E350-4181-AF30-6C61E0BC78D5}" type="presParOf" srcId="{260A995B-C3C7-4917-AB4A-21076B066318}" destId="{1157D3CC-59C5-493B-A405-0F94E220E338}" srcOrd="3" destOrd="0" presId="urn:microsoft.com/office/officeart/2018/2/layout/IconVerticalSolidList"/>
    <dgm:cxn modelId="{4FC5CA1E-C6D8-4C62-AD42-0D35D13CE880}" type="presParOf" srcId="{1D860169-ED78-4721-A8F0-D4DDE043AAD8}" destId="{AFC94EF2-38CA-4196-8DF3-DA504137F502}" srcOrd="1" destOrd="0" presId="urn:microsoft.com/office/officeart/2018/2/layout/IconVerticalSolidList"/>
    <dgm:cxn modelId="{D629AFF1-AB60-4B57-992E-A6923D70BFDD}" type="presParOf" srcId="{1D860169-ED78-4721-A8F0-D4DDE043AAD8}" destId="{A847E9AA-9A0B-483B-AF2B-EBD1D1DDEBFB}" srcOrd="2" destOrd="0" presId="urn:microsoft.com/office/officeart/2018/2/layout/IconVerticalSolidList"/>
    <dgm:cxn modelId="{5EB04BA9-183C-4F01-82FE-C9A64B0A10A1}" type="presParOf" srcId="{A847E9AA-9A0B-483B-AF2B-EBD1D1DDEBFB}" destId="{6F9084A3-D481-4325-AC62-19EB6D1A75DF}" srcOrd="0" destOrd="0" presId="urn:microsoft.com/office/officeart/2018/2/layout/IconVerticalSolidList"/>
    <dgm:cxn modelId="{01E07A72-C342-49CF-BF42-8C94FBC3DDFE}" type="presParOf" srcId="{A847E9AA-9A0B-483B-AF2B-EBD1D1DDEBFB}" destId="{7973ED08-8AC7-41D1-AB07-DE6B4C37FB66}" srcOrd="1" destOrd="0" presId="urn:microsoft.com/office/officeart/2018/2/layout/IconVerticalSolidList"/>
    <dgm:cxn modelId="{A6EFEE0C-271D-4258-9DCD-B9D8D6E48510}" type="presParOf" srcId="{A847E9AA-9A0B-483B-AF2B-EBD1D1DDEBFB}" destId="{00AABB1A-2087-4072-8134-C85682A7EB9F}" srcOrd="2" destOrd="0" presId="urn:microsoft.com/office/officeart/2018/2/layout/IconVerticalSolidList"/>
    <dgm:cxn modelId="{7C14CA1C-A6BA-4D87-911C-60C5D67DC589}" type="presParOf" srcId="{A847E9AA-9A0B-483B-AF2B-EBD1D1DDEBFB}" destId="{BA4FF554-E203-41BD-A6C9-853AEA7693A5}" srcOrd="3" destOrd="0" presId="urn:microsoft.com/office/officeart/2018/2/layout/IconVerticalSolidList"/>
    <dgm:cxn modelId="{634D7E8B-2284-4C78-8719-1314C8C7E629}" type="presParOf" srcId="{1D860169-ED78-4721-A8F0-D4DDE043AAD8}" destId="{C83C13B7-CC92-4D50-8C25-EF0CB366F8AD}" srcOrd="3" destOrd="0" presId="urn:microsoft.com/office/officeart/2018/2/layout/IconVerticalSolidList"/>
    <dgm:cxn modelId="{5C10490F-7BD5-4918-9A10-0E0E24EC859B}" type="presParOf" srcId="{1D860169-ED78-4721-A8F0-D4DDE043AAD8}" destId="{9EEAEDBA-1E3D-4A90-A326-F2672C5E9653}" srcOrd="4" destOrd="0" presId="urn:microsoft.com/office/officeart/2018/2/layout/IconVerticalSolidList"/>
    <dgm:cxn modelId="{D0C8C0EC-1A8C-4F2C-A180-9D85950ED5F9}" type="presParOf" srcId="{9EEAEDBA-1E3D-4A90-A326-F2672C5E9653}" destId="{E2F7DEA9-447D-4EA5-975F-125B052EE9E1}" srcOrd="0" destOrd="0" presId="urn:microsoft.com/office/officeart/2018/2/layout/IconVerticalSolidList"/>
    <dgm:cxn modelId="{D373BD75-440E-474F-8C4F-7477849D873B}" type="presParOf" srcId="{9EEAEDBA-1E3D-4A90-A326-F2672C5E9653}" destId="{2675E95C-EA2F-479F-BCA1-D2EDB39D98F3}" srcOrd="1" destOrd="0" presId="urn:microsoft.com/office/officeart/2018/2/layout/IconVerticalSolidList"/>
    <dgm:cxn modelId="{23DA1D08-99A5-48D3-B828-FA86FD410F07}" type="presParOf" srcId="{9EEAEDBA-1E3D-4A90-A326-F2672C5E9653}" destId="{AD76B4A3-2B31-4F70-B3EA-8F8FAAC5C65C}" srcOrd="2" destOrd="0" presId="urn:microsoft.com/office/officeart/2018/2/layout/IconVerticalSolidList"/>
    <dgm:cxn modelId="{B14DD92A-2120-45D1-90EC-977CF6991A02}" type="presParOf" srcId="{9EEAEDBA-1E3D-4A90-A326-F2672C5E9653}" destId="{9D50EA2E-EA58-4216-9CD0-50AE7BBEE787}" srcOrd="3" destOrd="0" presId="urn:microsoft.com/office/officeart/2018/2/layout/IconVerticalSolidList"/>
    <dgm:cxn modelId="{C7640795-31D5-4220-8ECB-DCAE97B6B4A1}" type="presParOf" srcId="{1D860169-ED78-4721-A8F0-D4DDE043AAD8}" destId="{55FB261A-5ED9-4537-8068-3D6295E13577}" srcOrd="5" destOrd="0" presId="urn:microsoft.com/office/officeart/2018/2/layout/IconVerticalSolidList"/>
    <dgm:cxn modelId="{69818124-F648-463C-8934-2812699CC1DB}" type="presParOf" srcId="{1D860169-ED78-4721-A8F0-D4DDE043AAD8}" destId="{8A074900-5897-4B2B-B836-4FBE8F77214E}" srcOrd="6" destOrd="0" presId="urn:microsoft.com/office/officeart/2018/2/layout/IconVerticalSolidList"/>
    <dgm:cxn modelId="{9E368243-97CA-4CF0-BA4F-72BCD9CB8BC9}" type="presParOf" srcId="{8A074900-5897-4B2B-B836-4FBE8F77214E}" destId="{0E07EA8D-FA04-446F-841A-A6F5EBE899A4}" srcOrd="0" destOrd="0" presId="urn:microsoft.com/office/officeart/2018/2/layout/IconVerticalSolidList"/>
    <dgm:cxn modelId="{CF4E29C4-8C53-4645-8FA8-07D03AC47AC2}" type="presParOf" srcId="{8A074900-5897-4B2B-B836-4FBE8F77214E}" destId="{60B0A4B4-E795-4B27-8C6D-5F7531108E96}" srcOrd="1" destOrd="0" presId="urn:microsoft.com/office/officeart/2018/2/layout/IconVerticalSolidList"/>
    <dgm:cxn modelId="{7875CEF5-71E2-4F2C-A603-F02C0DE1D191}" type="presParOf" srcId="{8A074900-5897-4B2B-B836-4FBE8F77214E}" destId="{7A6C95AC-5007-475A-962A-1D939E753959}" srcOrd="2" destOrd="0" presId="urn:microsoft.com/office/officeart/2018/2/layout/IconVerticalSolidList"/>
    <dgm:cxn modelId="{BC7BABB3-DB5B-4639-9243-34F0E589AE2C}" type="presParOf" srcId="{8A074900-5897-4B2B-B836-4FBE8F77214E}" destId="{B4CDF6F8-3702-4A2C-8372-EF3126CA2EAB}" srcOrd="3" destOrd="0" presId="urn:microsoft.com/office/officeart/2018/2/layout/IconVerticalSolidList"/>
    <dgm:cxn modelId="{10EA12A2-E30F-4702-8BDF-F4FD04468B8D}" type="presParOf" srcId="{1D860169-ED78-4721-A8F0-D4DDE043AAD8}" destId="{13F37858-D540-4A72-9680-2BEACD1096EA}" srcOrd="7" destOrd="0" presId="urn:microsoft.com/office/officeart/2018/2/layout/IconVerticalSolidList"/>
    <dgm:cxn modelId="{88FEA6D7-F92E-4401-8797-48085DD3BD18}" type="presParOf" srcId="{1D860169-ED78-4721-A8F0-D4DDE043AAD8}" destId="{0D462286-B73D-424F-B8E3-CE1BFD18C441}" srcOrd="8" destOrd="0" presId="urn:microsoft.com/office/officeart/2018/2/layout/IconVerticalSolidList"/>
    <dgm:cxn modelId="{E083F477-9CBD-42B4-BD3A-264541E33C61}" type="presParOf" srcId="{0D462286-B73D-424F-B8E3-CE1BFD18C441}" destId="{F4D9C145-ED9E-44C3-822B-8475F47A452A}" srcOrd="0" destOrd="0" presId="urn:microsoft.com/office/officeart/2018/2/layout/IconVerticalSolidList"/>
    <dgm:cxn modelId="{8496B863-91E3-47CD-9A41-ED84011B1054}" type="presParOf" srcId="{0D462286-B73D-424F-B8E3-CE1BFD18C441}" destId="{B2FE35EC-790F-48C6-A856-7A0F210E7056}" srcOrd="1" destOrd="0" presId="urn:microsoft.com/office/officeart/2018/2/layout/IconVerticalSolidList"/>
    <dgm:cxn modelId="{88C06D5B-F2B5-478E-8E34-98C1D09D8E62}" type="presParOf" srcId="{0D462286-B73D-424F-B8E3-CE1BFD18C441}" destId="{3C56CC9F-AD0A-4ADD-BE22-746547E596E9}" srcOrd="2" destOrd="0" presId="urn:microsoft.com/office/officeart/2018/2/layout/IconVerticalSolidList"/>
    <dgm:cxn modelId="{E9C14C9E-C4CC-4213-AE41-341948AFC33D}" type="presParOf" srcId="{0D462286-B73D-424F-B8E3-CE1BFD18C441}" destId="{4ED5F637-031A-498B-8B57-B9C3770710E0}" srcOrd="3" destOrd="0" presId="urn:microsoft.com/office/officeart/2018/2/layout/IconVerticalSolidList"/>
    <dgm:cxn modelId="{9F64538A-43E3-4FA0-93E9-31406B2701F8}" type="presParOf" srcId="{1D860169-ED78-4721-A8F0-D4DDE043AAD8}" destId="{3180E72F-0894-4776-B221-BA0B5DE89C95}" srcOrd="9" destOrd="0" presId="urn:microsoft.com/office/officeart/2018/2/layout/IconVerticalSolidList"/>
    <dgm:cxn modelId="{DCA51AC7-BED6-46BD-A94C-F2CB4BD4D973}" type="presParOf" srcId="{1D860169-ED78-4721-A8F0-D4DDE043AAD8}" destId="{9852AE44-667C-4352-8CD5-A7E7EEE891EF}" srcOrd="10" destOrd="0" presId="urn:microsoft.com/office/officeart/2018/2/layout/IconVerticalSolidList"/>
    <dgm:cxn modelId="{9EF2194A-59BC-49FE-BA77-AB8CFD1DEF82}" type="presParOf" srcId="{9852AE44-667C-4352-8CD5-A7E7EEE891EF}" destId="{659F1C28-3C62-4CC2-9133-8C367A10B047}" srcOrd="0" destOrd="0" presId="urn:microsoft.com/office/officeart/2018/2/layout/IconVerticalSolidList"/>
    <dgm:cxn modelId="{DB15AE6B-6173-4D9D-B41C-9AE7375A4E10}" type="presParOf" srcId="{9852AE44-667C-4352-8CD5-A7E7EEE891EF}" destId="{FA0D922C-BE58-4263-A30D-F7E8DC0649EA}" srcOrd="1" destOrd="0" presId="urn:microsoft.com/office/officeart/2018/2/layout/IconVerticalSolidList"/>
    <dgm:cxn modelId="{32DC7648-D390-411C-BCF5-002651401670}" type="presParOf" srcId="{9852AE44-667C-4352-8CD5-A7E7EEE891EF}" destId="{D89A9BBD-81C8-426D-B53D-08EAF98B930A}" srcOrd="2" destOrd="0" presId="urn:microsoft.com/office/officeart/2018/2/layout/IconVerticalSolidList"/>
    <dgm:cxn modelId="{A61D94E8-96A0-493D-8F83-4C19266582CE}" type="presParOf" srcId="{9852AE44-667C-4352-8CD5-A7E7EEE891EF}" destId="{BAF08DBF-0673-4F93-BDA8-4F5C4353F80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D33119-EB1E-42A2-AF86-6A03D7EBF7F7}">
      <dsp:nvSpPr>
        <dsp:cNvPr id="0" name=""/>
        <dsp:cNvSpPr/>
      </dsp:nvSpPr>
      <dsp:spPr>
        <a:xfrm>
          <a:off x="0" y="0"/>
          <a:ext cx="6797675" cy="0"/>
        </a:xfrm>
        <a:prstGeom prst="line">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7EAE19A-AC48-41F3-8394-384711957F72}">
      <dsp:nvSpPr>
        <dsp:cNvPr id="0" name=""/>
        <dsp:cNvSpPr/>
      </dsp:nvSpPr>
      <dsp:spPr>
        <a:xfrm>
          <a:off x="0" y="0"/>
          <a:ext cx="6797675" cy="7062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IE" sz="3100" kern="1200"/>
            <a:t>Assessment for suitability for promotion</a:t>
          </a:r>
          <a:endParaRPr lang="en-US" sz="3100" kern="1200"/>
        </a:p>
      </dsp:txBody>
      <dsp:txXfrm>
        <a:off x="0" y="0"/>
        <a:ext cx="6797675" cy="706238"/>
      </dsp:txXfrm>
    </dsp:sp>
    <dsp:sp modelId="{C366A252-9136-4237-8CAF-E6CFF47B2B45}">
      <dsp:nvSpPr>
        <dsp:cNvPr id="0" name=""/>
        <dsp:cNvSpPr/>
      </dsp:nvSpPr>
      <dsp:spPr>
        <a:xfrm>
          <a:off x="0" y="706239"/>
          <a:ext cx="6797675" cy="0"/>
        </a:xfrm>
        <a:prstGeom prst="line">
          <a:avLst/>
        </a:prstGeom>
        <a:solidFill>
          <a:schemeClr val="accent2">
            <a:hueOff val="16206"/>
            <a:satOff val="1863"/>
            <a:lumOff val="-1485"/>
            <a:alphaOff val="0"/>
          </a:schemeClr>
        </a:solidFill>
        <a:ln w="15875" cap="flat" cmpd="sng" algn="ctr">
          <a:solidFill>
            <a:schemeClr val="accent2">
              <a:hueOff val="16206"/>
              <a:satOff val="1863"/>
              <a:lumOff val="-148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AD33AC7-91F1-4E62-ACDB-1D37B11BC934}">
      <dsp:nvSpPr>
        <dsp:cNvPr id="0" name=""/>
        <dsp:cNvSpPr/>
      </dsp:nvSpPr>
      <dsp:spPr>
        <a:xfrm>
          <a:off x="0" y="706238"/>
          <a:ext cx="6797675" cy="7062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IE" sz="3100" kern="1200"/>
            <a:t>Assessment for redeployment purposes</a:t>
          </a:r>
          <a:endParaRPr lang="en-US" sz="3100" kern="1200"/>
        </a:p>
      </dsp:txBody>
      <dsp:txXfrm>
        <a:off x="0" y="706238"/>
        <a:ext cx="6797675" cy="706238"/>
      </dsp:txXfrm>
    </dsp:sp>
    <dsp:sp modelId="{EC924A3F-E276-45A6-9B44-AB53B85CE6D6}">
      <dsp:nvSpPr>
        <dsp:cNvPr id="0" name=""/>
        <dsp:cNvSpPr/>
      </dsp:nvSpPr>
      <dsp:spPr>
        <a:xfrm>
          <a:off x="0" y="1412478"/>
          <a:ext cx="6797675" cy="0"/>
        </a:xfrm>
        <a:prstGeom prst="line">
          <a:avLst/>
        </a:prstGeom>
        <a:solidFill>
          <a:schemeClr val="accent2">
            <a:hueOff val="32411"/>
            <a:satOff val="3725"/>
            <a:lumOff val="-2969"/>
            <a:alphaOff val="0"/>
          </a:schemeClr>
        </a:solidFill>
        <a:ln w="15875" cap="flat" cmpd="sng" algn="ctr">
          <a:solidFill>
            <a:schemeClr val="accent2">
              <a:hueOff val="32411"/>
              <a:satOff val="3725"/>
              <a:lumOff val="-2969"/>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2E403E6-F767-460A-BBF2-4B61A39F347B}">
      <dsp:nvSpPr>
        <dsp:cNvPr id="0" name=""/>
        <dsp:cNvSpPr/>
      </dsp:nvSpPr>
      <dsp:spPr>
        <a:xfrm>
          <a:off x="0" y="1412477"/>
          <a:ext cx="6797675" cy="7062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IE" sz="3100" kern="1200"/>
            <a:t>Evaluation of training potential</a:t>
          </a:r>
          <a:endParaRPr lang="en-US" sz="3100" kern="1200"/>
        </a:p>
      </dsp:txBody>
      <dsp:txXfrm>
        <a:off x="0" y="1412477"/>
        <a:ext cx="6797675" cy="706238"/>
      </dsp:txXfrm>
    </dsp:sp>
    <dsp:sp modelId="{06250951-12C1-41F8-B9F7-94E759E41F21}">
      <dsp:nvSpPr>
        <dsp:cNvPr id="0" name=""/>
        <dsp:cNvSpPr/>
      </dsp:nvSpPr>
      <dsp:spPr>
        <a:xfrm>
          <a:off x="0" y="2118717"/>
          <a:ext cx="6797675" cy="0"/>
        </a:xfrm>
        <a:prstGeom prst="line">
          <a:avLst/>
        </a:prstGeom>
        <a:solidFill>
          <a:schemeClr val="accent2">
            <a:hueOff val="48617"/>
            <a:satOff val="5588"/>
            <a:lumOff val="-4454"/>
            <a:alphaOff val="0"/>
          </a:schemeClr>
        </a:solidFill>
        <a:ln w="15875" cap="flat" cmpd="sng" algn="ctr">
          <a:solidFill>
            <a:schemeClr val="accent2">
              <a:hueOff val="48617"/>
              <a:satOff val="5588"/>
              <a:lumOff val="-445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EF4C800-CBC3-412E-B340-277F5C22A30D}">
      <dsp:nvSpPr>
        <dsp:cNvPr id="0" name=""/>
        <dsp:cNvSpPr/>
      </dsp:nvSpPr>
      <dsp:spPr>
        <a:xfrm>
          <a:off x="0" y="2118716"/>
          <a:ext cx="6797675" cy="7062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IE" sz="3100" kern="1200"/>
            <a:t>Team and leadership development</a:t>
          </a:r>
          <a:endParaRPr lang="en-US" sz="3100" kern="1200"/>
        </a:p>
      </dsp:txBody>
      <dsp:txXfrm>
        <a:off x="0" y="2118716"/>
        <a:ext cx="6797675" cy="706238"/>
      </dsp:txXfrm>
    </dsp:sp>
    <dsp:sp modelId="{83319537-BB38-4D83-A336-7C8172FD6FF3}">
      <dsp:nvSpPr>
        <dsp:cNvPr id="0" name=""/>
        <dsp:cNvSpPr/>
      </dsp:nvSpPr>
      <dsp:spPr>
        <a:xfrm>
          <a:off x="0" y="2824956"/>
          <a:ext cx="6797675" cy="0"/>
        </a:xfrm>
        <a:prstGeom prst="line">
          <a:avLst/>
        </a:prstGeom>
        <a:solidFill>
          <a:schemeClr val="accent2">
            <a:hueOff val="64822"/>
            <a:satOff val="7451"/>
            <a:lumOff val="-5939"/>
            <a:alphaOff val="0"/>
          </a:schemeClr>
        </a:solidFill>
        <a:ln w="15875" cap="flat" cmpd="sng" algn="ctr">
          <a:solidFill>
            <a:schemeClr val="accent2">
              <a:hueOff val="64822"/>
              <a:satOff val="7451"/>
              <a:lumOff val="-5939"/>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72BFA36-2ED0-47E0-85A4-17482585B106}">
      <dsp:nvSpPr>
        <dsp:cNvPr id="0" name=""/>
        <dsp:cNvSpPr/>
      </dsp:nvSpPr>
      <dsp:spPr>
        <a:xfrm>
          <a:off x="0" y="2824955"/>
          <a:ext cx="6797675" cy="7062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IE" sz="3100" kern="1200"/>
            <a:t>Career counselling and development</a:t>
          </a:r>
          <a:endParaRPr lang="en-US" sz="3100" kern="1200"/>
        </a:p>
      </dsp:txBody>
      <dsp:txXfrm>
        <a:off x="0" y="2824955"/>
        <a:ext cx="6797675" cy="706238"/>
      </dsp:txXfrm>
    </dsp:sp>
    <dsp:sp modelId="{6A801664-DD2B-4172-B1E2-6452B126C647}">
      <dsp:nvSpPr>
        <dsp:cNvPr id="0" name=""/>
        <dsp:cNvSpPr/>
      </dsp:nvSpPr>
      <dsp:spPr>
        <a:xfrm>
          <a:off x="0" y="3531195"/>
          <a:ext cx="6797675" cy="0"/>
        </a:xfrm>
        <a:prstGeom prst="line">
          <a:avLst/>
        </a:prstGeom>
        <a:solidFill>
          <a:schemeClr val="accent2">
            <a:hueOff val="81028"/>
            <a:satOff val="9314"/>
            <a:lumOff val="-7424"/>
            <a:alphaOff val="0"/>
          </a:schemeClr>
        </a:solidFill>
        <a:ln w="15875" cap="flat" cmpd="sng" algn="ctr">
          <a:solidFill>
            <a:schemeClr val="accent2">
              <a:hueOff val="81028"/>
              <a:satOff val="9314"/>
              <a:lumOff val="-742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CCE0025-E9CC-4C9C-82AF-2CE1BC02954B}">
      <dsp:nvSpPr>
        <dsp:cNvPr id="0" name=""/>
        <dsp:cNvSpPr/>
      </dsp:nvSpPr>
      <dsp:spPr>
        <a:xfrm>
          <a:off x="0" y="3531195"/>
          <a:ext cx="6797675" cy="7062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IE" sz="3100" kern="1200"/>
            <a:t>Graduate recruitment</a:t>
          </a:r>
          <a:endParaRPr lang="en-US" sz="3100" kern="1200"/>
        </a:p>
      </dsp:txBody>
      <dsp:txXfrm>
        <a:off x="0" y="3531195"/>
        <a:ext cx="6797675" cy="706238"/>
      </dsp:txXfrm>
    </dsp:sp>
    <dsp:sp modelId="{26BA3F48-3AAB-4AA2-9A43-1FCEC43728B9}">
      <dsp:nvSpPr>
        <dsp:cNvPr id="0" name=""/>
        <dsp:cNvSpPr/>
      </dsp:nvSpPr>
      <dsp:spPr>
        <a:xfrm>
          <a:off x="0" y="4237434"/>
          <a:ext cx="6797675" cy="0"/>
        </a:xfrm>
        <a:prstGeom prst="line">
          <a:avLst/>
        </a:prstGeom>
        <a:solidFill>
          <a:schemeClr val="accent2">
            <a:hueOff val="97234"/>
            <a:satOff val="11176"/>
            <a:lumOff val="-8908"/>
            <a:alphaOff val="0"/>
          </a:schemeClr>
        </a:solidFill>
        <a:ln w="15875" cap="flat" cmpd="sng" algn="ctr">
          <a:solidFill>
            <a:schemeClr val="accent2">
              <a:hueOff val="97234"/>
              <a:satOff val="11176"/>
              <a:lumOff val="-890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93B932C-8D31-4E19-84E6-3F7AB30B106F}">
      <dsp:nvSpPr>
        <dsp:cNvPr id="0" name=""/>
        <dsp:cNvSpPr/>
      </dsp:nvSpPr>
      <dsp:spPr>
        <a:xfrm>
          <a:off x="0" y="4237434"/>
          <a:ext cx="6797675" cy="7062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IE" sz="3100" kern="1200"/>
            <a:t>Vocational guidance</a:t>
          </a:r>
          <a:endParaRPr lang="en-US" sz="3100" kern="1200"/>
        </a:p>
      </dsp:txBody>
      <dsp:txXfrm>
        <a:off x="0" y="4237434"/>
        <a:ext cx="6797675" cy="706238"/>
      </dsp:txXfrm>
    </dsp:sp>
    <dsp:sp modelId="{4E79E3F2-04D1-47B3-BBC8-D968C18AF29E}">
      <dsp:nvSpPr>
        <dsp:cNvPr id="0" name=""/>
        <dsp:cNvSpPr/>
      </dsp:nvSpPr>
      <dsp:spPr>
        <a:xfrm>
          <a:off x="0" y="4943673"/>
          <a:ext cx="6797675" cy="0"/>
        </a:xfrm>
        <a:prstGeom prst="line">
          <a:avLst/>
        </a:prstGeom>
        <a:solidFill>
          <a:schemeClr val="accent2">
            <a:hueOff val="113439"/>
            <a:satOff val="13039"/>
            <a:lumOff val="-10393"/>
            <a:alphaOff val="0"/>
          </a:schemeClr>
        </a:solidFill>
        <a:ln w="15875" cap="flat" cmpd="sng" algn="ctr">
          <a:solidFill>
            <a:schemeClr val="accent2">
              <a:hueOff val="113439"/>
              <a:satOff val="13039"/>
              <a:lumOff val="-1039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E11BE84-D47D-4B6F-A13E-6068A8905F59}">
      <dsp:nvSpPr>
        <dsp:cNvPr id="0" name=""/>
        <dsp:cNvSpPr/>
      </dsp:nvSpPr>
      <dsp:spPr>
        <a:xfrm>
          <a:off x="0" y="4943672"/>
          <a:ext cx="6797675" cy="7062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IE" sz="3100" kern="1200"/>
            <a:t>Redundancy counselling</a:t>
          </a:r>
          <a:endParaRPr lang="en-US" sz="3100" kern="1200"/>
        </a:p>
      </dsp:txBody>
      <dsp:txXfrm>
        <a:off x="0" y="4943672"/>
        <a:ext cx="6797675" cy="70623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D7FDA2-8787-4176-90EC-609727735AE1}">
      <dsp:nvSpPr>
        <dsp:cNvPr id="0" name=""/>
        <dsp:cNvSpPr/>
      </dsp:nvSpPr>
      <dsp:spPr>
        <a:xfrm>
          <a:off x="0" y="0"/>
          <a:ext cx="6797675" cy="0"/>
        </a:xfrm>
        <a:prstGeom prst="line">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826CB04-635F-401E-89A8-26FD2B12B0D0}">
      <dsp:nvSpPr>
        <dsp:cNvPr id="0" name=""/>
        <dsp:cNvSpPr/>
      </dsp:nvSpPr>
      <dsp:spPr>
        <a:xfrm>
          <a:off x="0" y="0"/>
          <a:ext cx="6797675" cy="7062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GB" sz="1900" kern="1200"/>
            <a:t>Test results numerical, allowing direct comparison of candidates on same criterion</a:t>
          </a:r>
          <a:endParaRPr lang="en-US" sz="1900" kern="1200"/>
        </a:p>
      </dsp:txBody>
      <dsp:txXfrm>
        <a:off x="0" y="0"/>
        <a:ext cx="6797675" cy="706238"/>
      </dsp:txXfrm>
    </dsp:sp>
    <dsp:sp modelId="{6F89351C-B45B-45B2-A894-1B64AA5A31F5}">
      <dsp:nvSpPr>
        <dsp:cNvPr id="0" name=""/>
        <dsp:cNvSpPr/>
      </dsp:nvSpPr>
      <dsp:spPr>
        <a:xfrm>
          <a:off x="0" y="706239"/>
          <a:ext cx="6797675" cy="0"/>
        </a:xfrm>
        <a:prstGeom prst="line">
          <a:avLst/>
        </a:prstGeom>
        <a:solidFill>
          <a:schemeClr val="accent2">
            <a:hueOff val="16206"/>
            <a:satOff val="1863"/>
            <a:lumOff val="-1485"/>
            <a:alphaOff val="0"/>
          </a:schemeClr>
        </a:solidFill>
        <a:ln w="15875" cap="flat" cmpd="sng" algn="ctr">
          <a:solidFill>
            <a:schemeClr val="accent2">
              <a:hueOff val="16206"/>
              <a:satOff val="1863"/>
              <a:lumOff val="-148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58B1740-72DF-4387-800A-4C2C28C405E6}">
      <dsp:nvSpPr>
        <dsp:cNvPr id="0" name=""/>
        <dsp:cNvSpPr/>
      </dsp:nvSpPr>
      <dsp:spPr>
        <a:xfrm>
          <a:off x="0" y="706238"/>
          <a:ext cx="6797675" cy="7062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GB" sz="1900" kern="1200"/>
            <a:t>Provide hard data that can be evaluated for their predictive usefulness in later years</a:t>
          </a:r>
          <a:endParaRPr lang="en-US" sz="1900" kern="1200"/>
        </a:p>
      </dsp:txBody>
      <dsp:txXfrm>
        <a:off x="0" y="706238"/>
        <a:ext cx="6797675" cy="706238"/>
      </dsp:txXfrm>
    </dsp:sp>
    <dsp:sp modelId="{58D8AA7C-8FBB-45E7-B5D3-9BA8DB435A26}">
      <dsp:nvSpPr>
        <dsp:cNvPr id="0" name=""/>
        <dsp:cNvSpPr/>
      </dsp:nvSpPr>
      <dsp:spPr>
        <a:xfrm>
          <a:off x="0" y="1412478"/>
          <a:ext cx="6797675" cy="0"/>
        </a:xfrm>
        <a:prstGeom prst="line">
          <a:avLst/>
        </a:prstGeom>
        <a:solidFill>
          <a:schemeClr val="accent2">
            <a:hueOff val="32411"/>
            <a:satOff val="3725"/>
            <a:lumOff val="-2969"/>
            <a:alphaOff val="0"/>
          </a:schemeClr>
        </a:solidFill>
        <a:ln w="15875" cap="flat" cmpd="sng" algn="ctr">
          <a:solidFill>
            <a:schemeClr val="accent2">
              <a:hueOff val="32411"/>
              <a:satOff val="3725"/>
              <a:lumOff val="-2969"/>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E1372B1-4419-4502-A208-A91F128EBE02}">
      <dsp:nvSpPr>
        <dsp:cNvPr id="0" name=""/>
        <dsp:cNvSpPr/>
      </dsp:nvSpPr>
      <dsp:spPr>
        <a:xfrm>
          <a:off x="0" y="1412477"/>
          <a:ext cx="6797675" cy="7062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GB" sz="1900" kern="1200"/>
            <a:t>Provide explicit and specific results unlike interviews and references which can be value</a:t>
          </a:r>
          <a:endParaRPr lang="en-US" sz="1900" kern="1200"/>
        </a:p>
      </dsp:txBody>
      <dsp:txXfrm>
        <a:off x="0" y="1412477"/>
        <a:ext cx="6797675" cy="706238"/>
      </dsp:txXfrm>
    </dsp:sp>
    <dsp:sp modelId="{D5E08557-2074-4234-A68A-EC49A4AF086B}">
      <dsp:nvSpPr>
        <dsp:cNvPr id="0" name=""/>
        <dsp:cNvSpPr/>
      </dsp:nvSpPr>
      <dsp:spPr>
        <a:xfrm>
          <a:off x="0" y="2118717"/>
          <a:ext cx="6797675" cy="0"/>
        </a:xfrm>
        <a:prstGeom prst="line">
          <a:avLst/>
        </a:prstGeom>
        <a:solidFill>
          <a:schemeClr val="accent2">
            <a:hueOff val="48617"/>
            <a:satOff val="5588"/>
            <a:lumOff val="-4454"/>
            <a:alphaOff val="0"/>
          </a:schemeClr>
        </a:solidFill>
        <a:ln w="15875" cap="flat" cmpd="sng" algn="ctr">
          <a:solidFill>
            <a:schemeClr val="accent2">
              <a:hueOff val="48617"/>
              <a:satOff val="5588"/>
              <a:lumOff val="-445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6CAEA6D-ED3A-466F-ABEA-77CD2604E531}">
      <dsp:nvSpPr>
        <dsp:cNvPr id="0" name=""/>
        <dsp:cNvSpPr/>
      </dsp:nvSpPr>
      <dsp:spPr>
        <a:xfrm>
          <a:off x="0" y="2118716"/>
          <a:ext cx="6797675" cy="7062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GB" sz="1900" kern="1200"/>
            <a:t>Tests measures substance rather than image</a:t>
          </a:r>
          <a:endParaRPr lang="en-US" sz="1900" kern="1200"/>
        </a:p>
      </dsp:txBody>
      <dsp:txXfrm>
        <a:off x="0" y="2118716"/>
        <a:ext cx="6797675" cy="706238"/>
      </dsp:txXfrm>
    </dsp:sp>
    <dsp:sp modelId="{D86C7C91-4FED-4BC3-8C42-F1091DF7BF8A}">
      <dsp:nvSpPr>
        <dsp:cNvPr id="0" name=""/>
        <dsp:cNvSpPr/>
      </dsp:nvSpPr>
      <dsp:spPr>
        <a:xfrm>
          <a:off x="0" y="2824956"/>
          <a:ext cx="6797675" cy="0"/>
        </a:xfrm>
        <a:prstGeom prst="line">
          <a:avLst/>
        </a:prstGeom>
        <a:solidFill>
          <a:schemeClr val="accent2">
            <a:hueOff val="64822"/>
            <a:satOff val="7451"/>
            <a:lumOff val="-5939"/>
            <a:alphaOff val="0"/>
          </a:schemeClr>
        </a:solidFill>
        <a:ln w="15875" cap="flat" cmpd="sng" algn="ctr">
          <a:solidFill>
            <a:schemeClr val="accent2">
              <a:hueOff val="64822"/>
              <a:satOff val="7451"/>
              <a:lumOff val="-5939"/>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45AB06E-2594-4EEA-A31E-0B93777BE0DF}">
      <dsp:nvSpPr>
        <dsp:cNvPr id="0" name=""/>
        <dsp:cNvSpPr/>
      </dsp:nvSpPr>
      <dsp:spPr>
        <a:xfrm>
          <a:off x="0" y="2824955"/>
          <a:ext cx="6797675" cy="7062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GB" sz="1900" kern="1200"/>
            <a:t>Tests are ‘scientific’, empirically based with a grounding in theory</a:t>
          </a:r>
          <a:endParaRPr lang="en-US" sz="1900" kern="1200"/>
        </a:p>
      </dsp:txBody>
      <dsp:txXfrm>
        <a:off x="0" y="2824955"/>
        <a:ext cx="6797675" cy="706238"/>
      </dsp:txXfrm>
    </dsp:sp>
    <dsp:sp modelId="{056BE6E6-4397-4C59-A4E6-B5424052C370}">
      <dsp:nvSpPr>
        <dsp:cNvPr id="0" name=""/>
        <dsp:cNvSpPr/>
      </dsp:nvSpPr>
      <dsp:spPr>
        <a:xfrm>
          <a:off x="0" y="3531195"/>
          <a:ext cx="6797675" cy="0"/>
        </a:xfrm>
        <a:prstGeom prst="line">
          <a:avLst/>
        </a:prstGeom>
        <a:solidFill>
          <a:schemeClr val="accent2">
            <a:hueOff val="81028"/>
            <a:satOff val="9314"/>
            <a:lumOff val="-7424"/>
            <a:alphaOff val="0"/>
          </a:schemeClr>
        </a:solidFill>
        <a:ln w="15875" cap="flat" cmpd="sng" algn="ctr">
          <a:solidFill>
            <a:schemeClr val="accent2">
              <a:hueOff val="81028"/>
              <a:satOff val="9314"/>
              <a:lumOff val="-742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66B702E-05AE-4007-AADF-60B12098BE6A}">
      <dsp:nvSpPr>
        <dsp:cNvPr id="0" name=""/>
        <dsp:cNvSpPr/>
      </dsp:nvSpPr>
      <dsp:spPr>
        <a:xfrm>
          <a:off x="0" y="3531195"/>
          <a:ext cx="6797675" cy="7062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GB" sz="1900" kern="1200"/>
            <a:t>Provide a conceptual language to users</a:t>
          </a:r>
          <a:endParaRPr lang="en-US" sz="1900" kern="1200"/>
        </a:p>
      </dsp:txBody>
      <dsp:txXfrm>
        <a:off x="0" y="3531195"/>
        <a:ext cx="6797675" cy="706238"/>
      </dsp:txXfrm>
    </dsp:sp>
    <dsp:sp modelId="{10586E4E-93A2-4710-B1E0-7AF799A53DBA}">
      <dsp:nvSpPr>
        <dsp:cNvPr id="0" name=""/>
        <dsp:cNvSpPr/>
      </dsp:nvSpPr>
      <dsp:spPr>
        <a:xfrm>
          <a:off x="0" y="4237434"/>
          <a:ext cx="6797675" cy="0"/>
        </a:xfrm>
        <a:prstGeom prst="line">
          <a:avLst/>
        </a:prstGeom>
        <a:solidFill>
          <a:schemeClr val="accent2">
            <a:hueOff val="97234"/>
            <a:satOff val="11176"/>
            <a:lumOff val="-8908"/>
            <a:alphaOff val="0"/>
          </a:schemeClr>
        </a:solidFill>
        <a:ln w="15875" cap="flat" cmpd="sng" algn="ctr">
          <a:solidFill>
            <a:schemeClr val="accent2">
              <a:hueOff val="97234"/>
              <a:satOff val="11176"/>
              <a:lumOff val="-890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6556C48-C9DD-42EF-BCCD-0D85C1333399}">
      <dsp:nvSpPr>
        <dsp:cNvPr id="0" name=""/>
        <dsp:cNvSpPr/>
      </dsp:nvSpPr>
      <dsp:spPr>
        <a:xfrm>
          <a:off x="0" y="4237434"/>
          <a:ext cx="6797675" cy="7062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GB" sz="1900" kern="1200"/>
            <a:t>Empirical data from tests provide objective evidence to justify decisions</a:t>
          </a:r>
          <a:endParaRPr lang="en-US" sz="1900" kern="1200"/>
        </a:p>
      </dsp:txBody>
      <dsp:txXfrm>
        <a:off x="0" y="4237434"/>
        <a:ext cx="6797675" cy="706238"/>
      </dsp:txXfrm>
    </dsp:sp>
    <dsp:sp modelId="{D30D7236-BFCE-4FD9-92DC-1A22D69ED010}">
      <dsp:nvSpPr>
        <dsp:cNvPr id="0" name=""/>
        <dsp:cNvSpPr/>
      </dsp:nvSpPr>
      <dsp:spPr>
        <a:xfrm>
          <a:off x="0" y="4943673"/>
          <a:ext cx="6797675" cy="0"/>
        </a:xfrm>
        <a:prstGeom prst="line">
          <a:avLst/>
        </a:prstGeom>
        <a:solidFill>
          <a:schemeClr val="accent2">
            <a:hueOff val="113439"/>
            <a:satOff val="13039"/>
            <a:lumOff val="-10393"/>
            <a:alphaOff val="0"/>
          </a:schemeClr>
        </a:solidFill>
        <a:ln w="15875" cap="flat" cmpd="sng" algn="ctr">
          <a:solidFill>
            <a:schemeClr val="accent2">
              <a:hueOff val="113439"/>
              <a:satOff val="13039"/>
              <a:lumOff val="-1039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05F91B6-7C63-4D6A-ACC0-F54E65CC55AD}">
      <dsp:nvSpPr>
        <dsp:cNvPr id="0" name=""/>
        <dsp:cNvSpPr/>
      </dsp:nvSpPr>
      <dsp:spPr>
        <a:xfrm>
          <a:off x="0" y="4943672"/>
          <a:ext cx="6797675" cy="7062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GB" sz="1900" kern="1200"/>
            <a:t>Provide insights and explanations for behaviour.</a:t>
          </a:r>
          <a:endParaRPr lang="en-US" sz="1900" kern="1200"/>
        </a:p>
      </dsp:txBody>
      <dsp:txXfrm>
        <a:off x="0" y="4943672"/>
        <a:ext cx="6797675" cy="70623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494AAF-5F6E-476A-875A-187D2BC51E17}">
      <dsp:nvSpPr>
        <dsp:cNvPr id="0" name=""/>
        <dsp:cNvSpPr/>
      </dsp:nvSpPr>
      <dsp:spPr>
        <a:xfrm>
          <a:off x="0" y="689"/>
          <a:ext cx="6797675" cy="0"/>
        </a:xfrm>
        <a:prstGeom prst="line">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C2446EC-1728-4961-8FEE-22618AC8BD5A}">
      <dsp:nvSpPr>
        <dsp:cNvPr id="0" name=""/>
        <dsp:cNvSpPr/>
      </dsp:nvSpPr>
      <dsp:spPr>
        <a:xfrm>
          <a:off x="0" y="689"/>
          <a:ext cx="6797675" cy="564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GB" sz="1500" kern="1200"/>
            <a:t>Issues of faking</a:t>
          </a:r>
          <a:endParaRPr lang="en-US" sz="1500" kern="1200"/>
        </a:p>
      </dsp:txBody>
      <dsp:txXfrm>
        <a:off x="0" y="689"/>
        <a:ext cx="6797675" cy="564853"/>
      </dsp:txXfrm>
    </dsp:sp>
    <dsp:sp modelId="{CCE5050B-B793-4B6C-9EF5-81DA85EC629C}">
      <dsp:nvSpPr>
        <dsp:cNvPr id="0" name=""/>
        <dsp:cNvSpPr/>
      </dsp:nvSpPr>
      <dsp:spPr>
        <a:xfrm>
          <a:off x="0" y="565542"/>
          <a:ext cx="6797675" cy="0"/>
        </a:xfrm>
        <a:prstGeom prst="line">
          <a:avLst/>
        </a:prstGeom>
        <a:solidFill>
          <a:schemeClr val="accent2">
            <a:hueOff val="12604"/>
            <a:satOff val="1449"/>
            <a:lumOff val="-1155"/>
            <a:alphaOff val="0"/>
          </a:schemeClr>
        </a:solidFill>
        <a:ln w="15875" cap="flat" cmpd="sng" algn="ctr">
          <a:solidFill>
            <a:schemeClr val="accent2">
              <a:hueOff val="12604"/>
              <a:satOff val="1449"/>
              <a:lumOff val="-115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68C937C-B211-4E28-B847-A15B7BC1ADE6}">
      <dsp:nvSpPr>
        <dsp:cNvPr id="0" name=""/>
        <dsp:cNvSpPr/>
      </dsp:nvSpPr>
      <dsp:spPr>
        <a:xfrm>
          <a:off x="0" y="565542"/>
          <a:ext cx="6797675" cy="564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GB" sz="1500" kern="1200"/>
            <a:t>Some people lack sufficient self-insight to give accurate responses</a:t>
          </a:r>
          <a:endParaRPr lang="en-US" sz="1500" kern="1200"/>
        </a:p>
      </dsp:txBody>
      <dsp:txXfrm>
        <a:off x="0" y="565542"/>
        <a:ext cx="6797675" cy="564853"/>
      </dsp:txXfrm>
    </dsp:sp>
    <dsp:sp modelId="{0146F48B-1CB6-43A0-BB09-9AB73932D247}">
      <dsp:nvSpPr>
        <dsp:cNvPr id="0" name=""/>
        <dsp:cNvSpPr/>
      </dsp:nvSpPr>
      <dsp:spPr>
        <a:xfrm>
          <a:off x="0" y="1130396"/>
          <a:ext cx="6797675" cy="0"/>
        </a:xfrm>
        <a:prstGeom prst="line">
          <a:avLst/>
        </a:prstGeom>
        <a:solidFill>
          <a:schemeClr val="accent2">
            <a:hueOff val="25209"/>
            <a:satOff val="2898"/>
            <a:lumOff val="-2310"/>
            <a:alphaOff val="0"/>
          </a:schemeClr>
        </a:solidFill>
        <a:ln w="15875" cap="flat" cmpd="sng" algn="ctr">
          <a:solidFill>
            <a:schemeClr val="accent2">
              <a:hueOff val="25209"/>
              <a:satOff val="2898"/>
              <a:lumOff val="-231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463BD35-B34C-4089-8742-CB123F54A8E2}">
      <dsp:nvSpPr>
        <dsp:cNvPr id="0" name=""/>
        <dsp:cNvSpPr/>
      </dsp:nvSpPr>
      <dsp:spPr>
        <a:xfrm>
          <a:off x="0" y="1130396"/>
          <a:ext cx="6797675" cy="564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GB" sz="1500" kern="1200"/>
            <a:t>Unreliable - temporary factors (eg illness) can affect results</a:t>
          </a:r>
          <a:endParaRPr lang="en-US" sz="1500" kern="1200"/>
        </a:p>
      </dsp:txBody>
      <dsp:txXfrm>
        <a:off x="0" y="1130396"/>
        <a:ext cx="6797675" cy="564853"/>
      </dsp:txXfrm>
    </dsp:sp>
    <dsp:sp modelId="{13742727-5AE0-4B4F-9FA5-2CC07D5E2CB5}">
      <dsp:nvSpPr>
        <dsp:cNvPr id="0" name=""/>
        <dsp:cNvSpPr/>
      </dsp:nvSpPr>
      <dsp:spPr>
        <a:xfrm>
          <a:off x="0" y="1695249"/>
          <a:ext cx="6797675" cy="0"/>
        </a:xfrm>
        <a:prstGeom prst="line">
          <a:avLst/>
        </a:prstGeom>
        <a:solidFill>
          <a:schemeClr val="accent2">
            <a:hueOff val="37813"/>
            <a:satOff val="4346"/>
            <a:lumOff val="-3464"/>
            <a:alphaOff val="0"/>
          </a:schemeClr>
        </a:solidFill>
        <a:ln w="15875" cap="flat" cmpd="sng" algn="ctr">
          <a:solidFill>
            <a:schemeClr val="accent2">
              <a:hueOff val="37813"/>
              <a:satOff val="4346"/>
              <a:lumOff val="-346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7370727-B2FF-4811-A551-D961CFA8C617}">
      <dsp:nvSpPr>
        <dsp:cNvPr id="0" name=""/>
        <dsp:cNvSpPr/>
      </dsp:nvSpPr>
      <dsp:spPr>
        <a:xfrm>
          <a:off x="0" y="1695249"/>
          <a:ext cx="6797675" cy="564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GB" sz="1500" kern="1200"/>
            <a:t>Invalid – many do not measure what they say they measure</a:t>
          </a:r>
          <a:endParaRPr lang="en-US" sz="1500" kern="1200"/>
        </a:p>
      </dsp:txBody>
      <dsp:txXfrm>
        <a:off x="0" y="1695249"/>
        <a:ext cx="6797675" cy="564853"/>
      </dsp:txXfrm>
    </dsp:sp>
    <dsp:sp modelId="{4B562114-2EAE-471B-B1AA-DE9E82BB56A3}">
      <dsp:nvSpPr>
        <dsp:cNvPr id="0" name=""/>
        <dsp:cNvSpPr/>
      </dsp:nvSpPr>
      <dsp:spPr>
        <a:xfrm>
          <a:off x="0" y="2260102"/>
          <a:ext cx="6797675" cy="0"/>
        </a:xfrm>
        <a:prstGeom prst="line">
          <a:avLst/>
        </a:prstGeom>
        <a:solidFill>
          <a:schemeClr val="accent2">
            <a:hueOff val="50417"/>
            <a:satOff val="5795"/>
            <a:lumOff val="-4619"/>
            <a:alphaOff val="0"/>
          </a:schemeClr>
        </a:solidFill>
        <a:ln w="15875" cap="flat" cmpd="sng" algn="ctr">
          <a:solidFill>
            <a:schemeClr val="accent2">
              <a:hueOff val="50417"/>
              <a:satOff val="5795"/>
              <a:lumOff val="-4619"/>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5A66F0C-5DED-4671-8A1D-33998F6BF9B4}">
      <dsp:nvSpPr>
        <dsp:cNvPr id="0" name=""/>
        <dsp:cNvSpPr/>
      </dsp:nvSpPr>
      <dsp:spPr>
        <a:xfrm>
          <a:off x="0" y="2260102"/>
          <a:ext cx="6797675" cy="564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GB" sz="1500" kern="1200"/>
            <a:t>Irrelevant – many do not measure qualities that are relevant to a specific organisation</a:t>
          </a:r>
          <a:endParaRPr lang="en-US" sz="1500" kern="1200"/>
        </a:p>
      </dsp:txBody>
      <dsp:txXfrm>
        <a:off x="0" y="2260102"/>
        <a:ext cx="6797675" cy="564853"/>
      </dsp:txXfrm>
    </dsp:sp>
    <dsp:sp modelId="{2DCBA6C6-AF02-44DE-9247-D2F065F52377}">
      <dsp:nvSpPr>
        <dsp:cNvPr id="0" name=""/>
        <dsp:cNvSpPr/>
      </dsp:nvSpPr>
      <dsp:spPr>
        <a:xfrm>
          <a:off x="0" y="2824956"/>
          <a:ext cx="6797675" cy="0"/>
        </a:xfrm>
        <a:prstGeom prst="line">
          <a:avLst/>
        </a:prstGeom>
        <a:solidFill>
          <a:schemeClr val="accent2">
            <a:hueOff val="63022"/>
            <a:satOff val="7244"/>
            <a:lumOff val="-5774"/>
            <a:alphaOff val="0"/>
          </a:schemeClr>
        </a:solidFill>
        <a:ln w="15875" cap="flat" cmpd="sng" algn="ctr">
          <a:solidFill>
            <a:schemeClr val="accent2">
              <a:hueOff val="63022"/>
              <a:satOff val="7244"/>
              <a:lumOff val="-577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8EB4285-B29A-4743-88AB-E73E63DA0623}">
      <dsp:nvSpPr>
        <dsp:cNvPr id="0" name=""/>
        <dsp:cNvSpPr/>
      </dsp:nvSpPr>
      <dsp:spPr>
        <a:xfrm>
          <a:off x="0" y="2824956"/>
          <a:ext cx="6797675" cy="564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GB" sz="1500" kern="1200"/>
            <a:t>Require minimum literacy and a grasp of American jargon</a:t>
          </a:r>
          <a:endParaRPr lang="en-US" sz="1500" kern="1200"/>
        </a:p>
      </dsp:txBody>
      <dsp:txXfrm>
        <a:off x="0" y="2824956"/>
        <a:ext cx="6797675" cy="564853"/>
      </dsp:txXfrm>
    </dsp:sp>
    <dsp:sp modelId="{DD0DF90F-10AC-4D4E-A2B1-D1C894439D3B}">
      <dsp:nvSpPr>
        <dsp:cNvPr id="0" name=""/>
        <dsp:cNvSpPr/>
      </dsp:nvSpPr>
      <dsp:spPr>
        <a:xfrm>
          <a:off x="0" y="3389809"/>
          <a:ext cx="6797675" cy="0"/>
        </a:xfrm>
        <a:prstGeom prst="line">
          <a:avLst/>
        </a:prstGeom>
        <a:solidFill>
          <a:schemeClr val="accent2">
            <a:hueOff val="75626"/>
            <a:satOff val="8693"/>
            <a:lumOff val="-6929"/>
            <a:alphaOff val="0"/>
          </a:schemeClr>
        </a:solidFill>
        <a:ln w="15875" cap="flat" cmpd="sng" algn="ctr">
          <a:solidFill>
            <a:schemeClr val="accent2">
              <a:hueOff val="75626"/>
              <a:satOff val="8693"/>
              <a:lumOff val="-6929"/>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2D98E51-05CB-40CF-AA5C-0507B02A9072}">
      <dsp:nvSpPr>
        <dsp:cNvPr id="0" name=""/>
        <dsp:cNvSpPr/>
      </dsp:nvSpPr>
      <dsp:spPr>
        <a:xfrm>
          <a:off x="0" y="3389809"/>
          <a:ext cx="6797675" cy="564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GB" sz="1500" kern="1200"/>
            <a:t>Good norms do not exist for most populations</a:t>
          </a:r>
          <a:endParaRPr lang="en-US" sz="1500" kern="1200"/>
        </a:p>
      </dsp:txBody>
      <dsp:txXfrm>
        <a:off x="0" y="3389809"/>
        <a:ext cx="6797675" cy="564853"/>
      </dsp:txXfrm>
    </dsp:sp>
    <dsp:sp modelId="{07114E11-9921-41DD-BF0B-938071C7B423}">
      <dsp:nvSpPr>
        <dsp:cNvPr id="0" name=""/>
        <dsp:cNvSpPr/>
      </dsp:nvSpPr>
      <dsp:spPr>
        <a:xfrm>
          <a:off x="0" y="3954662"/>
          <a:ext cx="6797675" cy="0"/>
        </a:xfrm>
        <a:prstGeom prst="line">
          <a:avLst/>
        </a:prstGeom>
        <a:solidFill>
          <a:schemeClr val="accent2">
            <a:hueOff val="88231"/>
            <a:satOff val="10141"/>
            <a:lumOff val="-8083"/>
            <a:alphaOff val="0"/>
          </a:schemeClr>
        </a:solidFill>
        <a:ln w="15875" cap="flat" cmpd="sng" algn="ctr">
          <a:solidFill>
            <a:schemeClr val="accent2">
              <a:hueOff val="88231"/>
              <a:satOff val="10141"/>
              <a:lumOff val="-808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47CE18C-C8F3-4EB1-8B2C-301537695C32}">
      <dsp:nvSpPr>
        <dsp:cNvPr id="0" name=""/>
        <dsp:cNvSpPr/>
      </dsp:nvSpPr>
      <dsp:spPr>
        <a:xfrm>
          <a:off x="0" y="3954662"/>
          <a:ext cx="6797675" cy="564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GB" sz="1500" kern="1200"/>
            <a:t>Unfair to anyone who is not a white, middle-class male American</a:t>
          </a:r>
          <a:endParaRPr lang="en-US" sz="1500" kern="1200"/>
        </a:p>
      </dsp:txBody>
      <dsp:txXfrm>
        <a:off x="0" y="3954662"/>
        <a:ext cx="6797675" cy="564853"/>
      </dsp:txXfrm>
    </dsp:sp>
    <dsp:sp modelId="{4BDB7927-F096-4A64-9FBB-DF82F03EB65B}">
      <dsp:nvSpPr>
        <dsp:cNvPr id="0" name=""/>
        <dsp:cNvSpPr/>
      </dsp:nvSpPr>
      <dsp:spPr>
        <a:xfrm>
          <a:off x="0" y="4519515"/>
          <a:ext cx="6797675" cy="0"/>
        </a:xfrm>
        <a:prstGeom prst="line">
          <a:avLst/>
        </a:prstGeom>
        <a:solidFill>
          <a:schemeClr val="accent2">
            <a:hueOff val="100835"/>
            <a:satOff val="11590"/>
            <a:lumOff val="-9238"/>
            <a:alphaOff val="0"/>
          </a:schemeClr>
        </a:solidFill>
        <a:ln w="15875" cap="flat" cmpd="sng" algn="ctr">
          <a:solidFill>
            <a:schemeClr val="accent2">
              <a:hueOff val="100835"/>
              <a:satOff val="11590"/>
              <a:lumOff val="-923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225354B-D0D9-4EC6-8AC5-C5D2AAF17516}">
      <dsp:nvSpPr>
        <dsp:cNvPr id="0" name=""/>
        <dsp:cNvSpPr/>
      </dsp:nvSpPr>
      <dsp:spPr>
        <a:xfrm>
          <a:off x="0" y="4519515"/>
          <a:ext cx="6797675" cy="564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GB" sz="1500" kern="1200"/>
            <a:t>Freedom of information legislation opens ‘objective’ date to greater scope for challenge than value, unrecorded interview data</a:t>
          </a:r>
          <a:endParaRPr lang="en-US" sz="1500" kern="1200"/>
        </a:p>
      </dsp:txBody>
      <dsp:txXfrm>
        <a:off x="0" y="4519515"/>
        <a:ext cx="6797675" cy="564853"/>
      </dsp:txXfrm>
    </dsp:sp>
    <dsp:sp modelId="{A87D150A-B081-47B5-85D0-01452E5EBE4A}">
      <dsp:nvSpPr>
        <dsp:cNvPr id="0" name=""/>
        <dsp:cNvSpPr/>
      </dsp:nvSpPr>
      <dsp:spPr>
        <a:xfrm>
          <a:off x="0" y="5084369"/>
          <a:ext cx="6797675" cy="0"/>
        </a:xfrm>
        <a:prstGeom prst="line">
          <a:avLst/>
        </a:prstGeom>
        <a:solidFill>
          <a:schemeClr val="accent2">
            <a:hueOff val="113439"/>
            <a:satOff val="13039"/>
            <a:lumOff val="-10393"/>
            <a:alphaOff val="0"/>
          </a:schemeClr>
        </a:solidFill>
        <a:ln w="15875" cap="flat" cmpd="sng" algn="ctr">
          <a:solidFill>
            <a:schemeClr val="accent2">
              <a:hueOff val="113439"/>
              <a:satOff val="13039"/>
              <a:lumOff val="-1039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AE944CD-4644-4563-A5B6-5850311DD2F3}">
      <dsp:nvSpPr>
        <dsp:cNvPr id="0" name=""/>
        <dsp:cNvSpPr/>
      </dsp:nvSpPr>
      <dsp:spPr>
        <a:xfrm>
          <a:off x="0" y="5084369"/>
          <a:ext cx="6797675" cy="5648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GB" sz="1500" kern="1200"/>
            <a:t>Firms tend to use the same tests so that practice effects and knowledge of desirable answers can destroy their value</a:t>
          </a:r>
          <a:endParaRPr lang="en-US" sz="1500" kern="1200"/>
        </a:p>
      </dsp:txBody>
      <dsp:txXfrm>
        <a:off x="0" y="5084369"/>
        <a:ext cx="6797675" cy="56485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384CDA-C1A7-4606-B7B4-12F7E96B2DAC}">
      <dsp:nvSpPr>
        <dsp:cNvPr id="0" name=""/>
        <dsp:cNvSpPr/>
      </dsp:nvSpPr>
      <dsp:spPr>
        <a:xfrm>
          <a:off x="2700428" y="1058052"/>
          <a:ext cx="1225669" cy="612834"/>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E" sz="1300" kern="1200"/>
            <a:t>Availability</a:t>
          </a:r>
          <a:endParaRPr lang="en-US" sz="1300" kern="1200"/>
        </a:p>
      </dsp:txBody>
      <dsp:txXfrm>
        <a:off x="2718377" y="1076001"/>
        <a:ext cx="1189771" cy="576936"/>
      </dsp:txXfrm>
    </dsp:sp>
    <dsp:sp modelId="{5CEE28D1-7C68-453F-B9D4-1C9B1C8E42FD}">
      <dsp:nvSpPr>
        <dsp:cNvPr id="0" name=""/>
        <dsp:cNvSpPr/>
      </dsp:nvSpPr>
      <dsp:spPr>
        <a:xfrm>
          <a:off x="2700428" y="1762812"/>
          <a:ext cx="1225669" cy="612834"/>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E" sz="1300" kern="1200"/>
            <a:t>Appropriateness</a:t>
          </a:r>
          <a:endParaRPr lang="en-US" sz="1300" kern="1200"/>
        </a:p>
      </dsp:txBody>
      <dsp:txXfrm>
        <a:off x="2718377" y="1780761"/>
        <a:ext cx="1189771" cy="576936"/>
      </dsp:txXfrm>
    </dsp:sp>
    <dsp:sp modelId="{D6DBB6DC-6A07-4A82-BB89-C2C2BEE7A928}">
      <dsp:nvSpPr>
        <dsp:cNvPr id="0" name=""/>
        <dsp:cNvSpPr/>
      </dsp:nvSpPr>
      <dsp:spPr>
        <a:xfrm rot="17350740">
          <a:off x="3425056" y="1349902"/>
          <a:ext cx="1492350" cy="29135"/>
        </a:xfrm>
        <a:custGeom>
          <a:avLst/>
          <a:gdLst/>
          <a:ahLst/>
          <a:cxnLst/>
          <a:rect l="0" t="0" r="0" b="0"/>
          <a:pathLst>
            <a:path>
              <a:moveTo>
                <a:pt x="0" y="14567"/>
              </a:moveTo>
              <a:lnTo>
                <a:pt x="1492350" y="14567"/>
              </a:lnTo>
            </a:path>
          </a:pathLst>
        </a:custGeom>
        <a:noFill/>
        <a:ln w="15875"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33922" y="1327161"/>
        <a:ext cx="74617" cy="74617"/>
      </dsp:txXfrm>
    </dsp:sp>
    <dsp:sp modelId="{F7094FB9-521C-4CFD-91B8-56CE7DD009C4}">
      <dsp:nvSpPr>
        <dsp:cNvPr id="0" name=""/>
        <dsp:cNvSpPr/>
      </dsp:nvSpPr>
      <dsp:spPr>
        <a:xfrm>
          <a:off x="4416365" y="353292"/>
          <a:ext cx="1225669" cy="612834"/>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E" sz="1300" kern="1200"/>
            <a:t>Evidence of Reliability</a:t>
          </a:r>
          <a:endParaRPr lang="en-US" sz="1300" kern="1200"/>
        </a:p>
      </dsp:txBody>
      <dsp:txXfrm>
        <a:off x="4434314" y="371241"/>
        <a:ext cx="1189771" cy="576936"/>
      </dsp:txXfrm>
    </dsp:sp>
    <dsp:sp modelId="{53644E3E-87D4-4E07-BA26-388C032FACAA}">
      <dsp:nvSpPr>
        <dsp:cNvPr id="0" name=""/>
        <dsp:cNvSpPr/>
      </dsp:nvSpPr>
      <dsp:spPr>
        <a:xfrm rot="18289469">
          <a:off x="3741973" y="1702282"/>
          <a:ext cx="858515" cy="29135"/>
        </a:xfrm>
        <a:custGeom>
          <a:avLst/>
          <a:gdLst/>
          <a:ahLst/>
          <a:cxnLst/>
          <a:rect l="0" t="0" r="0" b="0"/>
          <a:pathLst>
            <a:path>
              <a:moveTo>
                <a:pt x="0" y="14567"/>
              </a:moveTo>
              <a:lnTo>
                <a:pt x="858515" y="14567"/>
              </a:lnTo>
            </a:path>
          </a:pathLst>
        </a:custGeom>
        <a:noFill/>
        <a:ln w="15875"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49768" y="1695387"/>
        <a:ext cx="42925" cy="42925"/>
      </dsp:txXfrm>
    </dsp:sp>
    <dsp:sp modelId="{3C73A2C1-A7E5-4D66-8B07-B15BA31F0F21}">
      <dsp:nvSpPr>
        <dsp:cNvPr id="0" name=""/>
        <dsp:cNvSpPr/>
      </dsp:nvSpPr>
      <dsp:spPr>
        <a:xfrm>
          <a:off x="4416365" y="1058052"/>
          <a:ext cx="1225669" cy="612834"/>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E" sz="1300" kern="1200"/>
            <a:t>Evidence of Validity</a:t>
          </a:r>
          <a:endParaRPr lang="en-US" sz="1300" kern="1200"/>
        </a:p>
      </dsp:txBody>
      <dsp:txXfrm>
        <a:off x="4434314" y="1076001"/>
        <a:ext cx="1189771" cy="576936"/>
      </dsp:txXfrm>
    </dsp:sp>
    <dsp:sp modelId="{27BEBCED-4994-44FE-95BE-9ED8C8EEECA7}">
      <dsp:nvSpPr>
        <dsp:cNvPr id="0" name=""/>
        <dsp:cNvSpPr/>
      </dsp:nvSpPr>
      <dsp:spPr>
        <a:xfrm rot="17692822">
          <a:off x="5304522" y="821332"/>
          <a:ext cx="1165292" cy="29135"/>
        </a:xfrm>
        <a:custGeom>
          <a:avLst/>
          <a:gdLst/>
          <a:ahLst/>
          <a:cxnLst/>
          <a:rect l="0" t="0" r="0" b="0"/>
          <a:pathLst>
            <a:path>
              <a:moveTo>
                <a:pt x="0" y="14567"/>
              </a:moveTo>
              <a:lnTo>
                <a:pt x="1165292" y="14567"/>
              </a:lnTo>
            </a:path>
          </a:pathLst>
        </a:custGeom>
        <a:noFill/>
        <a:ln w="15875"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858036" y="806767"/>
        <a:ext cx="58264" cy="58264"/>
      </dsp:txXfrm>
    </dsp:sp>
    <dsp:sp modelId="{CCF43796-C513-48AE-A778-3441C30EF05E}">
      <dsp:nvSpPr>
        <dsp:cNvPr id="0" name=""/>
        <dsp:cNvSpPr/>
      </dsp:nvSpPr>
      <dsp:spPr>
        <a:xfrm>
          <a:off x="6132302" y="912"/>
          <a:ext cx="1225669" cy="612834"/>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E" sz="1300" kern="1200"/>
            <a:t>Face/Faith Validity</a:t>
          </a:r>
          <a:endParaRPr lang="en-US" sz="1300" kern="1200"/>
        </a:p>
      </dsp:txBody>
      <dsp:txXfrm>
        <a:off x="6150251" y="18861"/>
        <a:ext cx="1189771" cy="576936"/>
      </dsp:txXfrm>
    </dsp:sp>
    <dsp:sp modelId="{CF957A3B-9AAB-46F5-BC4B-FC524D9F44B6}">
      <dsp:nvSpPr>
        <dsp:cNvPr id="0" name=""/>
        <dsp:cNvSpPr/>
      </dsp:nvSpPr>
      <dsp:spPr>
        <a:xfrm rot="19457599">
          <a:off x="5585285" y="1173712"/>
          <a:ext cx="603766" cy="29135"/>
        </a:xfrm>
        <a:custGeom>
          <a:avLst/>
          <a:gdLst/>
          <a:ahLst/>
          <a:cxnLst/>
          <a:rect l="0" t="0" r="0" b="0"/>
          <a:pathLst>
            <a:path>
              <a:moveTo>
                <a:pt x="0" y="14567"/>
              </a:moveTo>
              <a:lnTo>
                <a:pt x="603766" y="14567"/>
              </a:lnTo>
            </a:path>
          </a:pathLst>
        </a:custGeom>
        <a:noFill/>
        <a:ln w="15875"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872074" y="1173185"/>
        <a:ext cx="30188" cy="30188"/>
      </dsp:txXfrm>
    </dsp:sp>
    <dsp:sp modelId="{2F96302E-A09A-44B7-8A49-8CF3547FF23C}">
      <dsp:nvSpPr>
        <dsp:cNvPr id="0" name=""/>
        <dsp:cNvSpPr/>
      </dsp:nvSpPr>
      <dsp:spPr>
        <a:xfrm>
          <a:off x="6132302" y="705672"/>
          <a:ext cx="1225669" cy="612834"/>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E" sz="1300" kern="1200"/>
            <a:t>Content</a:t>
          </a:r>
          <a:endParaRPr lang="en-US" sz="1300" kern="1200"/>
        </a:p>
      </dsp:txBody>
      <dsp:txXfrm>
        <a:off x="6150251" y="723621"/>
        <a:ext cx="1189771" cy="576936"/>
      </dsp:txXfrm>
    </dsp:sp>
    <dsp:sp modelId="{9ED42608-F681-4A32-8858-B8D03BFC7C56}">
      <dsp:nvSpPr>
        <dsp:cNvPr id="0" name=""/>
        <dsp:cNvSpPr/>
      </dsp:nvSpPr>
      <dsp:spPr>
        <a:xfrm rot="2142401">
          <a:off x="5585285" y="1526092"/>
          <a:ext cx="603766" cy="29135"/>
        </a:xfrm>
        <a:custGeom>
          <a:avLst/>
          <a:gdLst/>
          <a:ahLst/>
          <a:cxnLst/>
          <a:rect l="0" t="0" r="0" b="0"/>
          <a:pathLst>
            <a:path>
              <a:moveTo>
                <a:pt x="0" y="14567"/>
              </a:moveTo>
              <a:lnTo>
                <a:pt x="603766" y="14567"/>
              </a:lnTo>
            </a:path>
          </a:pathLst>
        </a:custGeom>
        <a:noFill/>
        <a:ln w="15875"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872074" y="1525565"/>
        <a:ext cx="30188" cy="30188"/>
      </dsp:txXfrm>
    </dsp:sp>
    <dsp:sp modelId="{F6CC9F99-235C-4112-BE80-F8F34F85A92D}">
      <dsp:nvSpPr>
        <dsp:cNvPr id="0" name=""/>
        <dsp:cNvSpPr/>
      </dsp:nvSpPr>
      <dsp:spPr>
        <a:xfrm>
          <a:off x="6132302" y="1410432"/>
          <a:ext cx="1225669" cy="612834"/>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E" sz="1300" kern="1200"/>
            <a:t>Construct</a:t>
          </a:r>
          <a:endParaRPr lang="en-US" sz="1300" kern="1200"/>
        </a:p>
      </dsp:txBody>
      <dsp:txXfrm>
        <a:off x="6150251" y="1428381"/>
        <a:ext cx="1189771" cy="576936"/>
      </dsp:txXfrm>
    </dsp:sp>
    <dsp:sp modelId="{0AE5C326-0798-46BC-BAF3-6CD41E44F5DD}">
      <dsp:nvSpPr>
        <dsp:cNvPr id="0" name=""/>
        <dsp:cNvSpPr/>
      </dsp:nvSpPr>
      <dsp:spPr>
        <a:xfrm rot="3907178">
          <a:off x="5304522" y="1878472"/>
          <a:ext cx="1165292" cy="29135"/>
        </a:xfrm>
        <a:custGeom>
          <a:avLst/>
          <a:gdLst/>
          <a:ahLst/>
          <a:cxnLst/>
          <a:rect l="0" t="0" r="0" b="0"/>
          <a:pathLst>
            <a:path>
              <a:moveTo>
                <a:pt x="0" y="14567"/>
              </a:moveTo>
              <a:lnTo>
                <a:pt x="1165292" y="14567"/>
              </a:lnTo>
            </a:path>
          </a:pathLst>
        </a:custGeom>
        <a:noFill/>
        <a:ln w="15875"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858036" y="1863907"/>
        <a:ext cx="58264" cy="58264"/>
      </dsp:txXfrm>
    </dsp:sp>
    <dsp:sp modelId="{6178293C-9865-4F3A-9D07-217CD186ED82}">
      <dsp:nvSpPr>
        <dsp:cNvPr id="0" name=""/>
        <dsp:cNvSpPr/>
      </dsp:nvSpPr>
      <dsp:spPr>
        <a:xfrm>
          <a:off x="6132302" y="2115192"/>
          <a:ext cx="1225669" cy="612834"/>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E" sz="1300" kern="1200"/>
            <a:t>Criterion</a:t>
          </a:r>
          <a:endParaRPr lang="en-US" sz="1300" kern="1200"/>
        </a:p>
      </dsp:txBody>
      <dsp:txXfrm>
        <a:off x="6150251" y="2133141"/>
        <a:ext cx="1189771" cy="576936"/>
      </dsp:txXfrm>
    </dsp:sp>
    <dsp:sp modelId="{149E333F-6438-4CCF-829E-44EB95E80F93}">
      <dsp:nvSpPr>
        <dsp:cNvPr id="0" name=""/>
        <dsp:cNvSpPr/>
      </dsp:nvSpPr>
      <dsp:spPr>
        <a:xfrm>
          <a:off x="3926097" y="2054662"/>
          <a:ext cx="490267" cy="29135"/>
        </a:xfrm>
        <a:custGeom>
          <a:avLst/>
          <a:gdLst/>
          <a:ahLst/>
          <a:cxnLst/>
          <a:rect l="0" t="0" r="0" b="0"/>
          <a:pathLst>
            <a:path>
              <a:moveTo>
                <a:pt x="0" y="14567"/>
              </a:moveTo>
              <a:lnTo>
                <a:pt x="490267" y="14567"/>
              </a:lnTo>
            </a:path>
          </a:pathLst>
        </a:custGeom>
        <a:noFill/>
        <a:ln w="15875"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58974" y="2056973"/>
        <a:ext cx="24513" cy="24513"/>
      </dsp:txXfrm>
    </dsp:sp>
    <dsp:sp modelId="{F7AC7511-BDB7-476C-BC86-CAAFEB00BD90}">
      <dsp:nvSpPr>
        <dsp:cNvPr id="0" name=""/>
        <dsp:cNvSpPr/>
      </dsp:nvSpPr>
      <dsp:spPr>
        <a:xfrm>
          <a:off x="4416365" y="1762812"/>
          <a:ext cx="1225669" cy="612834"/>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E" sz="1300" kern="1200"/>
            <a:t>Evidence of the use of test elsewhere</a:t>
          </a:r>
          <a:endParaRPr lang="en-US" sz="1300" kern="1200"/>
        </a:p>
      </dsp:txBody>
      <dsp:txXfrm>
        <a:off x="4434314" y="1780761"/>
        <a:ext cx="1189771" cy="576936"/>
      </dsp:txXfrm>
    </dsp:sp>
    <dsp:sp modelId="{456EF8B4-1247-475D-B5AB-8CFD7960ABB5}">
      <dsp:nvSpPr>
        <dsp:cNvPr id="0" name=""/>
        <dsp:cNvSpPr/>
      </dsp:nvSpPr>
      <dsp:spPr>
        <a:xfrm rot="3310531">
          <a:off x="3741973" y="2407042"/>
          <a:ext cx="858515" cy="29135"/>
        </a:xfrm>
        <a:custGeom>
          <a:avLst/>
          <a:gdLst/>
          <a:ahLst/>
          <a:cxnLst/>
          <a:rect l="0" t="0" r="0" b="0"/>
          <a:pathLst>
            <a:path>
              <a:moveTo>
                <a:pt x="0" y="14567"/>
              </a:moveTo>
              <a:lnTo>
                <a:pt x="858515" y="14567"/>
              </a:lnTo>
            </a:path>
          </a:pathLst>
        </a:custGeom>
        <a:noFill/>
        <a:ln w="15875"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49768" y="2400147"/>
        <a:ext cx="42925" cy="42925"/>
      </dsp:txXfrm>
    </dsp:sp>
    <dsp:sp modelId="{10A5AB35-2B94-44F5-B2C1-2DB9372F4BC9}">
      <dsp:nvSpPr>
        <dsp:cNvPr id="0" name=""/>
        <dsp:cNvSpPr/>
      </dsp:nvSpPr>
      <dsp:spPr>
        <a:xfrm>
          <a:off x="4416365" y="2467572"/>
          <a:ext cx="1225669" cy="612834"/>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E" sz="1300" kern="1200"/>
            <a:t>Sensitive</a:t>
          </a:r>
          <a:endParaRPr lang="en-US" sz="1300" kern="1200"/>
        </a:p>
      </dsp:txBody>
      <dsp:txXfrm>
        <a:off x="4434314" y="2485521"/>
        <a:ext cx="1189771" cy="576936"/>
      </dsp:txXfrm>
    </dsp:sp>
    <dsp:sp modelId="{A3BAD5DC-6503-4E8B-AB93-1EA389F9F9DB}">
      <dsp:nvSpPr>
        <dsp:cNvPr id="0" name=""/>
        <dsp:cNvSpPr/>
      </dsp:nvSpPr>
      <dsp:spPr>
        <a:xfrm rot="4249260">
          <a:off x="3425056" y="2759422"/>
          <a:ext cx="1492350" cy="29135"/>
        </a:xfrm>
        <a:custGeom>
          <a:avLst/>
          <a:gdLst/>
          <a:ahLst/>
          <a:cxnLst/>
          <a:rect l="0" t="0" r="0" b="0"/>
          <a:pathLst>
            <a:path>
              <a:moveTo>
                <a:pt x="0" y="14567"/>
              </a:moveTo>
              <a:lnTo>
                <a:pt x="1492350" y="14567"/>
              </a:lnTo>
            </a:path>
          </a:pathLst>
        </a:custGeom>
        <a:noFill/>
        <a:ln w="15875"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33922" y="2736681"/>
        <a:ext cx="74617" cy="74617"/>
      </dsp:txXfrm>
    </dsp:sp>
    <dsp:sp modelId="{44BB25AF-5959-4DC4-9395-4FFBD842D9E2}">
      <dsp:nvSpPr>
        <dsp:cNvPr id="0" name=""/>
        <dsp:cNvSpPr/>
      </dsp:nvSpPr>
      <dsp:spPr>
        <a:xfrm>
          <a:off x="4416365" y="3172332"/>
          <a:ext cx="1225669" cy="612834"/>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E" sz="1300" kern="1200"/>
            <a:t>Prevents unfair Discrimination</a:t>
          </a:r>
          <a:endParaRPr lang="en-US" sz="1300" kern="1200"/>
        </a:p>
      </dsp:txBody>
      <dsp:txXfrm>
        <a:off x="4434314" y="3190281"/>
        <a:ext cx="1189771" cy="57693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E53B6C-A1A2-443D-9179-F1DB579120E9}">
      <dsp:nvSpPr>
        <dsp:cNvPr id="0" name=""/>
        <dsp:cNvSpPr/>
      </dsp:nvSpPr>
      <dsp:spPr>
        <a:xfrm rot="5400000">
          <a:off x="6100982" y="-2295230"/>
          <a:ext cx="1477458" cy="6437376"/>
        </a:xfrm>
        <a:prstGeom prst="round2SameRect">
          <a:avLst/>
        </a:prstGeom>
        <a:solidFill>
          <a:schemeClr val="accent5">
            <a:tint val="40000"/>
            <a:alpha val="90000"/>
            <a:hueOff val="0"/>
            <a:satOff val="0"/>
            <a:lumOff val="0"/>
            <a:alphaOff val="0"/>
          </a:schemeClr>
        </a:solidFill>
        <a:ln w="15875"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IE" sz="2400" kern="1200" dirty="0"/>
            <a:t>Nature of the job</a:t>
          </a:r>
          <a:endParaRPr lang="en-US" sz="2400" kern="1200" dirty="0"/>
        </a:p>
        <a:p>
          <a:pPr marL="228600" lvl="1" indent="-228600" algn="l" defTabSz="1066800">
            <a:lnSpc>
              <a:spcPct val="90000"/>
            </a:lnSpc>
            <a:spcBef>
              <a:spcPct val="0"/>
            </a:spcBef>
            <a:spcAft>
              <a:spcPct val="15000"/>
            </a:spcAft>
            <a:buChar char="•"/>
          </a:pPr>
          <a:r>
            <a:rPr lang="en-IE" sz="2400" kern="1200" dirty="0"/>
            <a:t>Characteristics of the Ideal Candidate</a:t>
          </a:r>
          <a:endParaRPr lang="en-US" sz="2400" kern="1200" dirty="0"/>
        </a:p>
        <a:p>
          <a:pPr marL="228600" lvl="1" indent="-228600" algn="l" defTabSz="1066800">
            <a:lnSpc>
              <a:spcPct val="90000"/>
            </a:lnSpc>
            <a:spcBef>
              <a:spcPct val="0"/>
            </a:spcBef>
            <a:spcAft>
              <a:spcPct val="15000"/>
            </a:spcAft>
            <a:buChar char="•"/>
          </a:pPr>
          <a:r>
            <a:rPr lang="en-IE" sz="2400" kern="1200" dirty="0"/>
            <a:t>Review of other possible selection methods</a:t>
          </a:r>
          <a:endParaRPr lang="en-US" sz="2400" kern="1200" dirty="0"/>
        </a:p>
      </dsp:txBody>
      <dsp:txXfrm rot="-5400000">
        <a:off x="3621023" y="256853"/>
        <a:ext cx="6365252" cy="1333210"/>
      </dsp:txXfrm>
    </dsp:sp>
    <dsp:sp modelId="{FFBFA889-C55D-4524-A0E3-ACFCB105433E}">
      <dsp:nvSpPr>
        <dsp:cNvPr id="0" name=""/>
        <dsp:cNvSpPr/>
      </dsp:nvSpPr>
      <dsp:spPr>
        <a:xfrm>
          <a:off x="0" y="46"/>
          <a:ext cx="3621024" cy="1846823"/>
        </a:xfrm>
        <a:prstGeom prst="round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97155" rIns="194310" bIns="97155" numCol="1" spcCol="1270" anchor="ctr" anchorCtr="0">
          <a:noAutofit/>
        </a:bodyPr>
        <a:lstStyle/>
        <a:p>
          <a:pPr marL="0" lvl="0" indent="0" algn="ctr" defTabSz="2266950">
            <a:lnSpc>
              <a:spcPct val="90000"/>
            </a:lnSpc>
            <a:spcBef>
              <a:spcPct val="0"/>
            </a:spcBef>
            <a:spcAft>
              <a:spcPct val="35000"/>
            </a:spcAft>
            <a:buNone/>
          </a:pPr>
          <a:r>
            <a:rPr lang="en-IE" sz="5100" kern="1200"/>
            <a:t>Depends on:</a:t>
          </a:r>
          <a:endParaRPr lang="en-US" sz="5100" kern="1200"/>
        </a:p>
      </dsp:txBody>
      <dsp:txXfrm>
        <a:off x="90154" y="90200"/>
        <a:ext cx="3440716" cy="1666515"/>
      </dsp:txXfrm>
    </dsp:sp>
    <dsp:sp modelId="{5CAB9B8E-DA0B-4F56-A455-6FC5C1E1A068}">
      <dsp:nvSpPr>
        <dsp:cNvPr id="0" name=""/>
        <dsp:cNvSpPr/>
      </dsp:nvSpPr>
      <dsp:spPr>
        <a:xfrm rot="5400000">
          <a:off x="6100982" y="-356065"/>
          <a:ext cx="1477458" cy="6437376"/>
        </a:xfrm>
        <a:prstGeom prst="round2SameRect">
          <a:avLst/>
        </a:prstGeom>
        <a:solidFill>
          <a:schemeClr val="accent5">
            <a:tint val="40000"/>
            <a:alpha val="90000"/>
            <a:hueOff val="5828064"/>
            <a:satOff val="-18244"/>
            <a:lumOff val="1209"/>
            <a:alphaOff val="0"/>
          </a:schemeClr>
        </a:solidFill>
        <a:ln w="15875" cap="flat" cmpd="sng" algn="ctr">
          <a:solidFill>
            <a:schemeClr val="accent5">
              <a:tint val="40000"/>
              <a:alpha val="90000"/>
              <a:hueOff val="5828064"/>
              <a:satOff val="-18244"/>
              <a:lumOff val="120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IE" sz="1800" kern="1200" dirty="0"/>
            <a:t>Should be used in conjunction with other methods</a:t>
          </a:r>
          <a:endParaRPr lang="en-US" sz="1800" kern="1200" dirty="0"/>
        </a:p>
        <a:p>
          <a:pPr marL="171450" lvl="1" indent="-171450" algn="l" defTabSz="800100">
            <a:lnSpc>
              <a:spcPct val="90000"/>
            </a:lnSpc>
            <a:spcBef>
              <a:spcPct val="0"/>
            </a:spcBef>
            <a:spcAft>
              <a:spcPct val="15000"/>
            </a:spcAft>
            <a:buChar char="•"/>
          </a:pPr>
          <a:r>
            <a:rPr lang="en-IE" sz="1800" kern="1200" dirty="0"/>
            <a:t>Consider cost</a:t>
          </a:r>
          <a:endParaRPr lang="en-US" sz="1800" kern="1200" dirty="0"/>
        </a:p>
        <a:p>
          <a:pPr marL="171450" lvl="1" indent="-171450" algn="l" defTabSz="800100">
            <a:lnSpc>
              <a:spcPct val="90000"/>
            </a:lnSpc>
            <a:spcBef>
              <a:spcPct val="0"/>
            </a:spcBef>
            <a:spcAft>
              <a:spcPct val="15000"/>
            </a:spcAft>
            <a:buChar char="•"/>
          </a:pPr>
          <a:r>
            <a:rPr lang="en-IE" sz="1800" kern="1200" dirty="0"/>
            <a:t>Recognise Limitations</a:t>
          </a:r>
          <a:endParaRPr lang="en-US" sz="1800" kern="1200" dirty="0"/>
        </a:p>
        <a:p>
          <a:pPr marL="171450" lvl="1" indent="-171450" algn="l" defTabSz="800100">
            <a:lnSpc>
              <a:spcPct val="90000"/>
            </a:lnSpc>
            <a:spcBef>
              <a:spcPct val="0"/>
            </a:spcBef>
            <a:spcAft>
              <a:spcPct val="15000"/>
            </a:spcAft>
            <a:buChar char="•"/>
          </a:pPr>
          <a:r>
            <a:rPr lang="en-IE" sz="1800" kern="1200"/>
            <a:t>Use Reputable suppliers</a:t>
          </a:r>
          <a:endParaRPr lang="en-US" sz="1800" kern="1200"/>
        </a:p>
        <a:p>
          <a:pPr marL="171450" lvl="1" indent="-171450" algn="l" defTabSz="800100">
            <a:lnSpc>
              <a:spcPct val="90000"/>
            </a:lnSpc>
            <a:spcBef>
              <a:spcPct val="0"/>
            </a:spcBef>
            <a:spcAft>
              <a:spcPct val="15000"/>
            </a:spcAft>
            <a:buChar char="•"/>
          </a:pPr>
          <a:r>
            <a:rPr lang="en-IE" sz="1800" kern="1200" dirty="0"/>
            <a:t>Respect the individual</a:t>
          </a:r>
          <a:endParaRPr lang="en-US" sz="1800" kern="1200" dirty="0"/>
        </a:p>
        <a:p>
          <a:pPr marL="171450" lvl="1" indent="-171450" algn="l" defTabSz="800100">
            <a:lnSpc>
              <a:spcPct val="90000"/>
            </a:lnSpc>
            <a:spcBef>
              <a:spcPct val="0"/>
            </a:spcBef>
            <a:spcAft>
              <a:spcPct val="15000"/>
            </a:spcAft>
            <a:buChar char="•"/>
          </a:pPr>
          <a:r>
            <a:rPr lang="en-IE" sz="1800" kern="1200" dirty="0"/>
            <a:t>(See Palmer’s 2002 article – “very testing testing”)</a:t>
          </a:r>
          <a:endParaRPr lang="en-US" sz="1800" kern="1200" dirty="0"/>
        </a:p>
      </dsp:txBody>
      <dsp:txXfrm rot="-5400000">
        <a:off x="3621023" y="2196018"/>
        <a:ext cx="6365252" cy="1333210"/>
      </dsp:txXfrm>
    </dsp:sp>
    <dsp:sp modelId="{47A78582-3B92-4A58-8E97-C801C386510B}">
      <dsp:nvSpPr>
        <dsp:cNvPr id="0" name=""/>
        <dsp:cNvSpPr/>
      </dsp:nvSpPr>
      <dsp:spPr>
        <a:xfrm>
          <a:off x="0" y="1939210"/>
          <a:ext cx="3621024" cy="1846823"/>
        </a:xfrm>
        <a:prstGeom prst="roundRect">
          <a:avLst/>
        </a:prstGeom>
        <a:solidFill>
          <a:schemeClr val="accent5">
            <a:hueOff val="6010703"/>
            <a:satOff val="-26380"/>
            <a:lumOff val="784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97155" rIns="194310" bIns="97155" numCol="1" spcCol="1270" anchor="ctr" anchorCtr="0">
          <a:noAutofit/>
        </a:bodyPr>
        <a:lstStyle/>
        <a:p>
          <a:pPr marL="0" lvl="0" indent="0" algn="ctr" defTabSz="2266950">
            <a:lnSpc>
              <a:spcPct val="90000"/>
            </a:lnSpc>
            <a:spcBef>
              <a:spcPct val="0"/>
            </a:spcBef>
            <a:spcAft>
              <a:spcPct val="35000"/>
            </a:spcAft>
            <a:buNone/>
          </a:pPr>
          <a:r>
            <a:rPr lang="en-IE" sz="5100" kern="1200"/>
            <a:t>Conditions of Use:</a:t>
          </a:r>
          <a:endParaRPr lang="en-US" sz="5100" kern="1200"/>
        </a:p>
      </dsp:txBody>
      <dsp:txXfrm>
        <a:off x="90154" y="2029364"/>
        <a:ext cx="3440716" cy="166651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9B35F7-A8D4-41BC-AFA7-963E21EF61B6}">
      <dsp:nvSpPr>
        <dsp:cNvPr id="0" name=""/>
        <dsp:cNvSpPr/>
      </dsp:nvSpPr>
      <dsp:spPr>
        <a:xfrm rot="5400000">
          <a:off x="6100982" y="-2295230"/>
          <a:ext cx="1477458" cy="6437376"/>
        </a:xfrm>
        <a:prstGeom prst="round2SameRect">
          <a:avLst/>
        </a:prstGeom>
        <a:solidFill>
          <a:schemeClr val="dk2">
            <a:alpha val="90000"/>
            <a:tint val="40000"/>
            <a:hueOff val="0"/>
            <a:satOff val="0"/>
            <a:lumOff val="0"/>
            <a:alphaOff val="0"/>
          </a:schemeClr>
        </a:solidFill>
        <a:ln w="15875"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IE" sz="2000" kern="1200"/>
            <a:t>Is measurable</a:t>
          </a:r>
          <a:endParaRPr lang="en-US" sz="2000" kern="1200"/>
        </a:p>
        <a:p>
          <a:pPr marL="228600" lvl="1" indent="-228600" algn="l" defTabSz="889000">
            <a:lnSpc>
              <a:spcPct val="90000"/>
            </a:lnSpc>
            <a:spcBef>
              <a:spcPct val="0"/>
            </a:spcBef>
            <a:spcAft>
              <a:spcPct val="15000"/>
            </a:spcAft>
            <a:buChar char="•"/>
          </a:pPr>
          <a:r>
            <a:rPr lang="en-IE" sz="2000" kern="1200"/>
            <a:t>Remains stable over time</a:t>
          </a:r>
          <a:endParaRPr lang="en-US" sz="2000" kern="1200"/>
        </a:p>
        <a:p>
          <a:pPr marL="228600" lvl="1" indent="-228600" algn="l" defTabSz="889000">
            <a:lnSpc>
              <a:spcPct val="90000"/>
            </a:lnSpc>
            <a:spcBef>
              <a:spcPct val="0"/>
            </a:spcBef>
            <a:spcAft>
              <a:spcPct val="15000"/>
            </a:spcAft>
            <a:buChar char="•"/>
          </a:pPr>
          <a:r>
            <a:rPr lang="en-IE" sz="2000" kern="1200"/>
            <a:t>Different jobs suit different personalities</a:t>
          </a:r>
          <a:endParaRPr lang="en-US" sz="2000" kern="1200"/>
        </a:p>
        <a:p>
          <a:pPr marL="228600" lvl="1" indent="-228600" algn="l" defTabSz="889000">
            <a:lnSpc>
              <a:spcPct val="90000"/>
            </a:lnSpc>
            <a:spcBef>
              <a:spcPct val="0"/>
            </a:spcBef>
            <a:spcAft>
              <a:spcPct val="15000"/>
            </a:spcAft>
            <a:buChar char="•"/>
          </a:pPr>
          <a:r>
            <a:rPr lang="en-IE" sz="2000" kern="1200"/>
            <a:t>Short test to determines suitability for the job</a:t>
          </a:r>
          <a:endParaRPr lang="en-US" sz="2000" kern="1200"/>
        </a:p>
      </dsp:txBody>
      <dsp:txXfrm rot="-5400000">
        <a:off x="3621023" y="256853"/>
        <a:ext cx="6365252" cy="1333210"/>
      </dsp:txXfrm>
    </dsp:sp>
    <dsp:sp modelId="{38C69CC3-97C6-4BD9-AA90-9D0A4370AFCC}">
      <dsp:nvSpPr>
        <dsp:cNvPr id="0" name=""/>
        <dsp:cNvSpPr/>
      </dsp:nvSpPr>
      <dsp:spPr>
        <a:xfrm>
          <a:off x="0" y="46"/>
          <a:ext cx="3621024" cy="1846823"/>
        </a:xfrm>
        <a:prstGeom prst="roundRect">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en-IE" sz="3700" kern="1200"/>
            <a:t>Assumptions that personality:</a:t>
          </a:r>
          <a:endParaRPr lang="en-US" sz="3700" kern="1200"/>
        </a:p>
      </dsp:txBody>
      <dsp:txXfrm>
        <a:off x="90154" y="90200"/>
        <a:ext cx="3440716" cy="1666515"/>
      </dsp:txXfrm>
    </dsp:sp>
    <dsp:sp modelId="{DB1DDB53-4E22-4761-ACDE-E2BAFB9F4814}">
      <dsp:nvSpPr>
        <dsp:cNvPr id="0" name=""/>
        <dsp:cNvSpPr/>
      </dsp:nvSpPr>
      <dsp:spPr>
        <a:xfrm rot="5400000">
          <a:off x="6100982" y="-356065"/>
          <a:ext cx="1477458" cy="6437376"/>
        </a:xfrm>
        <a:prstGeom prst="round2SameRect">
          <a:avLst/>
        </a:prstGeom>
        <a:solidFill>
          <a:schemeClr val="dk2">
            <a:alpha val="90000"/>
            <a:tint val="40000"/>
            <a:hueOff val="0"/>
            <a:satOff val="0"/>
            <a:lumOff val="0"/>
            <a:alphaOff val="0"/>
          </a:schemeClr>
        </a:solidFill>
        <a:ln w="15875"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IE" sz="2000" kern="1200"/>
            <a:t>Predictive Validity </a:t>
          </a:r>
          <a:endParaRPr lang="en-US" sz="2000" kern="1200"/>
        </a:p>
        <a:p>
          <a:pPr marL="228600" lvl="1" indent="-228600" algn="l" defTabSz="889000">
            <a:lnSpc>
              <a:spcPct val="90000"/>
            </a:lnSpc>
            <a:spcBef>
              <a:spcPct val="0"/>
            </a:spcBef>
            <a:spcAft>
              <a:spcPct val="15000"/>
            </a:spcAft>
            <a:buChar char="•"/>
          </a:pPr>
          <a:r>
            <a:rPr lang="en-IE" sz="2000" kern="1200"/>
            <a:t>Distortion &amp; Faking (Social Desirability)</a:t>
          </a:r>
          <a:endParaRPr lang="en-US" sz="2000" kern="1200"/>
        </a:p>
        <a:p>
          <a:pPr marL="228600" lvl="1" indent="-228600" algn="l" defTabSz="889000">
            <a:lnSpc>
              <a:spcPct val="90000"/>
            </a:lnSpc>
            <a:spcBef>
              <a:spcPct val="0"/>
            </a:spcBef>
            <a:spcAft>
              <a:spcPct val="15000"/>
            </a:spcAft>
            <a:buChar char="•"/>
          </a:pPr>
          <a:r>
            <a:rPr lang="en-IE" sz="2000" kern="1200"/>
            <a:t>Barnum Effect</a:t>
          </a:r>
          <a:endParaRPr lang="en-US" sz="2000" kern="1200"/>
        </a:p>
        <a:p>
          <a:pPr marL="228600" lvl="1" indent="-228600" algn="l" defTabSz="889000">
            <a:lnSpc>
              <a:spcPct val="90000"/>
            </a:lnSpc>
            <a:spcBef>
              <a:spcPct val="0"/>
            </a:spcBef>
            <a:spcAft>
              <a:spcPct val="15000"/>
            </a:spcAft>
            <a:buChar char="•"/>
          </a:pPr>
          <a:r>
            <a:rPr lang="en-IE" sz="2000" kern="1200"/>
            <a:t>Ethical Issues </a:t>
          </a:r>
          <a:endParaRPr lang="en-US" sz="2000" kern="1200"/>
        </a:p>
      </dsp:txBody>
      <dsp:txXfrm rot="-5400000">
        <a:off x="3621023" y="2196018"/>
        <a:ext cx="6365252" cy="1333210"/>
      </dsp:txXfrm>
    </dsp:sp>
    <dsp:sp modelId="{6EC73E6A-81EE-4CB6-8658-AA8245F5DA73}">
      <dsp:nvSpPr>
        <dsp:cNvPr id="0" name=""/>
        <dsp:cNvSpPr/>
      </dsp:nvSpPr>
      <dsp:spPr>
        <a:xfrm>
          <a:off x="0" y="1939210"/>
          <a:ext cx="3621024" cy="1846823"/>
        </a:xfrm>
        <a:prstGeom prst="roundRect">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en-IE" sz="3700" kern="1200"/>
            <a:t>Problems</a:t>
          </a:r>
          <a:endParaRPr lang="en-US" sz="3700" kern="1200"/>
        </a:p>
      </dsp:txBody>
      <dsp:txXfrm>
        <a:off x="90154" y="2029364"/>
        <a:ext cx="3440716" cy="166651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029117-37FB-4642-AF70-423EFBBE801B}">
      <dsp:nvSpPr>
        <dsp:cNvPr id="0" name=""/>
        <dsp:cNvSpPr/>
      </dsp:nvSpPr>
      <dsp:spPr>
        <a:xfrm>
          <a:off x="0" y="1827"/>
          <a:ext cx="6797675" cy="77879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C49915B-856E-479D-8A8D-CBD35CD02D65}">
      <dsp:nvSpPr>
        <dsp:cNvPr id="0" name=""/>
        <dsp:cNvSpPr/>
      </dsp:nvSpPr>
      <dsp:spPr>
        <a:xfrm>
          <a:off x="235585" y="177056"/>
          <a:ext cx="428336" cy="4283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157D3CC-59C5-493B-A405-0F94E220E338}">
      <dsp:nvSpPr>
        <dsp:cNvPr id="0" name=""/>
        <dsp:cNvSpPr/>
      </dsp:nvSpPr>
      <dsp:spPr>
        <a:xfrm>
          <a:off x="899507" y="1827"/>
          <a:ext cx="5898167" cy="778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22" tIns="82422" rIns="82422" bIns="82422" numCol="1" spcCol="1270" anchor="ctr" anchorCtr="0">
          <a:noAutofit/>
        </a:bodyPr>
        <a:lstStyle/>
        <a:p>
          <a:pPr marL="0" lvl="0" indent="0" algn="l" defTabSz="844550">
            <a:lnSpc>
              <a:spcPct val="90000"/>
            </a:lnSpc>
            <a:spcBef>
              <a:spcPct val="0"/>
            </a:spcBef>
            <a:spcAft>
              <a:spcPct val="35000"/>
            </a:spcAft>
            <a:buNone/>
          </a:pPr>
          <a:r>
            <a:rPr lang="en-GB" sz="1900" kern="1200"/>
            <a:t>Is your selection method fair?</a:t>
          </a:r>
          <a:endParaRPr lang="en-US" sz="1900" kern="1200"/>
        </a:p>
      </dsp:txBody>
      <dsp:txXfrm>
        <a:off x="899507" y="1827"/>
        <a:ext cx="5898167" cy="778794"/>
      </dsp:txXfrm>
    </dsp:sp>
    <dsp:sp modelId="{6F9084A3-D481-4325-AC62-19EB6D1A75DF}">
      <dsp:nvSpPr>
        <dsp:cNvPr id="0" name=""/>
        <dsp:cNvSpPr/>
      </dsp:nvSpPr>
      <dsp:spPr>
        <a:xfrm>
          <a:off x="0" y="975320"/>
          <a:ext cx="6797675" cy="77879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73ED08-8AC7-41D1-AB07-DE6B4C37FB66}">
      <dsp:nvSpPr>
        <dsp:cNvPr id="0" name=""/>
        <dsp:cNvSpPr/>
      </dsp:nvSpPr>
      <dsp:spPr>
        <a:xfrm>
          <a:off x="235585" y="1150548"/>
          <a:ext cx="428336" cy="4283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A4FF554-E203-41BD-A6C9-853AEA7693A5}">
      <dsp:nvSpPr>
        <dsp:cNvPr id="0" name=""/>
        <dsp:cNvSpPr/>
      </dsp:nvSpPr>
      <dsp:spPr>
        <a:xfrm>
          <a:off x="899507" y="975320"/>
          <a:ext cx="5898167" cy="778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22" tIns="82422" rIns="82422" bIns="82422" numCol="1" spcCol="1270" anchor="ctr" anchorCtr="0">
          <a:noAutofit/>
        </a:bodyPr>
        <a:lstStyle/>
        <a:p>
          <a:pPr marL="0" lvl="0" indent="0" algn="l" defTabSz="844550">
            <a:lnSpc>
              <a:spcPct val="90000"/>
            </a:lnSpc>
            <a:spcBef>
              <a:spcPct val="0"/>
            </a:spcBef>
            <a:spcAft>
              <a:spcPct val="35000"/>
            </a:spcAft>
            <a:buNone/>
          </a:pPr>
          <a:r>
            <a:rPr lang="en-GB" sz="1900" kern="1200"/>
            <a:t>Cost</a:t>
          </a:r>
          <a:endParaRPr lang="en-US" sz="1900" kern="1200"/>
        </a:p>
      </dsp:txBody>
      <dsp:txXfrm>
        <a:off x="899507" y="975320"/>
        <a:ext cx="5898167" cy="778794"/>
      </dsp:txXfrm>
    </dsp:sp>
    <dsp:sp modelId="{E2F7DEA9-447D-4EA5-975F-125B052EE9E1}">
      <dsp:nvSpPr>
        <dsp:cNvPr id="0" name=""/>
        <dsp:cNvSpPr/>
      </dsp:nvSpPr>
      <dsp:spPr>
        <a:xfrm>
          <a:off x="0" y="1948812"/>
          <a:ext cx="6797675" cy="77879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75E95C-EA2F-479F-BCA1-D2EDB39D98F3}">
      <dsp:nvSpPr>
        <dsp:cNvPr id="0" name=""/>
        <dsp:cNvSpPr/>
      </dsp:nvSpPr>
      <dsp:spPr>
        <a:xfrm>
          <a:off x="235585" y="2124041"/>
          <a:ext cx="428336" cy="42833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D50EA2E-EA58-4216-9CD0-50AE7BBEE787}">
      <dsp:nvSpPr>
        <dsp:cNvPr id="0" name=""/>
        <dsp:cNvSpPr/>
      </dsp:nvSpPr>
      <dsp:spPr>
        <a:xfrm>
          <a:off x="899507" y="1948812"/>
          <a:ext cx="5898167" cy="778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22" tIns="82422" rIns="82422" bIns="82422" numCol="1" spcCol="1270" anchor="ctr" anchorCtr="0">
          <a:noAutofit/>
        </a:bodyPr>
        <a:lstStyle/>
        <a:p>
          <a:pPr marL="0" lvl="0" indent="0" algn="l" defTabSz="844550">
            <a:lnSpc>
              <a:spcPct val="90000"/>
            </a:lnSpc>
            <a:spcBef>
              <a:spcPct val="0"/>
            </a:spcBef>
            <a:spcAft>
              <a:spcPct val="35000"/>
            </a:spcAft>
            <a:buNone/>
          </a:pPr>
          <a:r>
            <a:rPr lang="en-GB" sz="1900" kern="1200"/>
            <a:t>Convenience</a:t>
          </a:r>
          <a:endParaRPr lang="en-US" sz="1900" kern="1200"/>
        </a:p>
      </dsp:txBody>
      <dsp:txXfrm>
        <a:off x="899507" y="1948812"/>
        <a:ext cx="5898167" cy="778794"/>
      </dsp:txXfrm>
    </dsp:sp>
    <dsp:sp modelId="{0E07EA8D-FA04-446F-841A-A6F5EBE899A4}">
      <dsp:nvSpPr>
        <dsp:cNvPr id="0" name=""/>
        <dsp:cNvSpPr/>
      </dsp:nvSpPr>
      <dsp:spPr>
        <a:xfrm>
          <a:off x="0" y="2922305"/>
          <a:ext cx="6797675" cy="77879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B0A4B4-E795-4B27-8C6D-5F7531108E96}">
      <dsp:nvSpPr>
        <dsp:cNvPr id="0" name=""/>
        <dsp:cNvSpPr/>
      </dsp:nvSpPr>
      <dsp:spPr>
        <a:xfrm>
          <a:off x="235585" y="3097533"/>
          <a:ext cx="428336" cy="42833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4CDF6F8-3702-4A2C-8372-EF3126CA2EAB}">
      <dsp:nvSpPr>
        <dsp:cNvPr id="0" name=""/>
        <dsp:cNvSpPr/>
      </dsp:nvSpPr>
      <dsp:spPr>
        <a:xfrm>
          <a:off x="899507" y="2922305"/>
          <a:ext cx="5898167" cy="778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22" tIns="82422" rIns="82422" bIns="82422" numCol="1" spcCol="1270" anchor="ctr" anchorCtr="0">
          <a:noAutofit/>
        </a:bodyPr>
        <a:lstStyle/>
        <a:p>
          <a:pPr marL="0" lvl="0" indent="0" algn="l" defTabSz="844550">
            <a:lnSpc>
              <a:spcPct val="90000"/>
            </a:lnSpc>
            <a:spcBef>
              <a:spcPct val="0"/>
            </a:spcBef>
            <a:spcAft>
              <a:spcPct val="35000"/>
            </a:spcAft>
            <a:buNone/>
          </a:pPr>
          <a:r>
            <a:rPr lang="en-GB" sz="1900" kern="1200"/>
            <a:t>Time available</a:t>
          </a:r>
          <a:endParaRPr lang="en-US" sz="1900" kern="1200"/>
        </a:p>
      </dsp:txBody>
      <dsp:txXfrm>
        <a:off x="899507" y="2922305"/>
        <a:ext cx="5898167" cy="778794"/>
      </dsp:txXfrm>
    </dsp:sp>
    <dsp:sp modelId="{F4D9C145-ED9E-44C3-822B-8475F47A452A}">
      <dsp:nvSpPr>
        <dsp:cNvPr id="0" name=""/>
        <dsp:cNvSpPr/>
      </dsp:nvSpPr>
      <dsp:spPr>
        <a:xfrm>
          <a:off x="0" y="3895797"/>
          <a:ext cx="6797675" cy="77879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FE35EC-790F-48C6-A856-7A0F210E7056}">
      <dsp:nvSpPr>
        <dsp:cNvPr id="0" name=""/>
        <dsp:cNvSpPr/>
      </dsp:nvSpPr>
      <dsp:spPr>
        <a:xfrm>
          <a:off x="235585" y="4071026"/>
          <a:ext cx="428336" cy="42833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ED5F637-031A-498B-8B57-B9C3770710E0}">
      <dsp:nvSpPr>
        <dsp:cNvPr id="0" name=""/>
        <dsp:cNvSpPr/>
      </dsp:nvSpPr>
      <dsp:spPr>
        <a:xfrm>
          <a:off x="899507" y="3895797"/>
          <a:ext cx="5898167" cy="778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22" tIns="82422" rIns="82422" bIns="82422" numCol="1" spcCol="1270" anchor="ctr" anchorCtr="0">
          <a:noAutofit/>
        </a:bodyPr>
        <a:lstStyle/>
        <a:p>
          <a:pPr marL="0" lvl="0" indent="0" algn="l" defTabSz="844550">
            <a:lnSpc>
              <a:spcPct val="90000"/>
            </a:lnSpc>
            <a:spcBef>
              <a:spcPct val="0"/>
            </a:spcBef>
            <a:spcAft>
              <a:spcPct val="35000"/>
            </a:spcAft>
            <a:buNone/>
          </a:pPr>
          <a:r>
            <a:rPr lang="en-GB" sz="1900" kern="1200"/>
            <a:t>Who is involved?</a:t>
          </a:r>
          <a:endParaRPr lang="en-US" sz="1900" kern="1200"/>
        </a:p>
      </dsp:txBody>
      <dsp:txXfrm>
        <a:off x="899507" y="3895797"/>
        <a:ext cx="5898167" cy="778794"/>
      </dsp:txXfrm>
    </dsp:sp>
    <dsp:sp modelId="{659F1C28-3C62-4CC2-9133-8C367A10B047}">
      <dsp:nvSpPr>
        <dsp:cNvPr id="0" name=""/>
        <dsp:cNvSpPr/>
      </dsp:nvSpPr>
      <dsp:spPr>
        <a:xfrm>
          <a:off x="0" y="4869290"/>
          <a:ext cx="6797675" cy="77879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0D922C-BE58-4263-A30D-F7E8DC0649EA}">
      <dsp:nvSpPr>
        <dsp:cNvPr id="0" name=""/>
        <dsp:cNvSpPr/>
      </dsp:nvSpPr>
      <dsp:spPr>
        <a:xfrm>
          <a:off x="235585" y="5044518"/>
          <a:ext cx="428336" cy="428336"/>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AF08DBF-0673-4F93-BDA8-4F5C4353F802}">
      <dsp:nvSpPr>
        <dsp:cNvPr id="0" name=""/>
        <dsp:cNvSpPr/>
      </dsp:nvSpPr>
      <dsp:spPr>
        <a:xfrm>
          <a:off x="899507" y="4869290"/>
          <a:ext cx="5898167" cy="778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22" tIns="82422" rIns="82422" bIns="82422" numCol="1" spcCol="1270" anchor="ctr" anchorCtr="0">
          <a:noAutofit/>
        </a:bodyPr>
        <a:lstStyle/>
        <a:p>
          <a:pPr marL="0" lvl="0" indent="0" algn="l" defTabSz="844550">
            <a:lnSpc>
              <a:spcPct val="90000"/>
            </a:lnSpc>
            <a:spcBef>
              <a:spcPct val="0"/>
            </a:spcBef>
            <a:spcAft>
              <a:spcPct val="35000"/>
            </a:spcAft>
            <a:buNone/>
          </a:pPr>
          <a:r>
            <a:rPr lang="en-GB" sz="1900" kern="1200"/>
            <a:t>Attitudes of candidates and employers also relevant here</a:t>
          </a:r>
          <a:endParaRPr lang="en-US" sz="1900" kern="1200"/>
        </a:p>
      </dsp:txBody>
      <dsp:txXfrm>
        <a:off x="899507" y="4869290"/>
        <a:ext cx="5898167" cy="778794"/>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5.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7D3C8957-F087-4D71-ABEF-5B7D1500B924}" type="datetimeFigureOut">
              <a:rPr lang="en-IE" smtClean="0"/>
              <a:t>23/11/2023</a:t>
            </a:fld>
            <a:endParaRPr lang="en-IE"/>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1D213B00-8A62-4D90-AD6A-0226518EC3CC}" type="slidenum">
              <a:rPr lang="en-IE" smtClean="0"/>
              <a:t>‹#›</a:t>
            </a:fld>
            <a:endParaRPr lang="en-IE"/>
          </a:p>
        </p:txBody>
      </p:sp>
    </p:spTree>
    <p:extLst>
      <p:ext uri="{BB962C8B-B14F-4D97-AF65-F5344CB8AC3E}">
        <p14:creationId xmlns:p14="http://schemas.microsoft.com/office/powerpoint/2010/main" val="41552510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fld id="{1D213B00-8A62-4D90-AD6A-0226518EC3CC}" type="slidenum">
              <a:rPr lang="en-IE" smtClean="0"/>
              <a:t>1</a:t>
            </a:fld>
            <a:endParaRPr lang="en-IE"/>
          </a:p>
        </p:txBody>
      </p:sp>
    </p:spTree>
    <p:extLst>
      <p:ext uri="{BB962C8B-B14F-4D97-AF65-F5344CB8AC3E}">
        <p14:creationId xmlns:p14="http://schemas.microsoft.com/office/powerpoint/2010/main" val="12978090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Folienbildplatzhalter 1"/>
          <p:cNvSpPr>
            <a:spLocks noGrp="1" noRot="1" noChangeAspect="1" noTextEdit="1"/>
          </p:cNvSpPr>
          <p:nvPr>
            <p:ph type="sldImg"/>
          </p:nvPr>
        </p:nvSpPr>
        <p:spPr>
          <a:ln/>
        </p:spPr>
      </p:sp>
      <p:sp>
        <p:nvSpPr>
          <p:cNvPr id="87043" name="Notizenplatzhalter 2"/>
          <p:cNvSpPr>
            <a:spLocks noGrp="1"/>
          </p:cNvSpPr>
          <p:nvPr>
            <p:ph type="body" idx="1"/>
          </p:nvPr>
        </p:nvSpPr>
        <p:spPr>
          <a:xfrm>
            <a:off x="685800" y="4344988"/>
            <a:ext cx="5486400" cy="41132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77" tIns="45739" rIns="91477" bIns="45739"/>
          <a:lstStyle/>
          <a:p>
            <a:endParaRPr lang="de-DE">
              <a:latin typeface="Arial" pitchFamily="34" charset="0"/>
            </a:endParaRPr>
          </a:p>
        </p:txBody>
      </p:sp>
      <p:sp>
        <p:nvSpPr>
          <p:cNvPr id="87044" name="Foliennummernplatzhalt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77" tIns="45739" rIns="91477" bIns="45739" anchor="b"/>
          <a:lstStyle>
            <a:lvl1pPr>
              <a:defRPr>
                <a:solidFill>
                  <a:schemeClr val="tx1"/>
                </a:solidFill>
                <a:latin typeface="Century Gothic" pitchFamily="34" charset="0"/>
                <a:ea typeface="ＭＳ Ｐゴシック" pitchFamily="34" charset="-128"/>
              </a:defRPr>
            </a:lvl1pPr>
            <a:lvl2pPr marL="742950" indent="-285750">
              <a:defRPr>
                <a:solidFill>
                  <a:schemeClr val="tx1"/>
                </a:solidFill>
                <a:latin typeface="Century Gothic" pitchFamily="34" charset="0"/>
                <a:ea typeface="ＭＳ Ｐゴシック" pitchFamily="34" charset="-128"/>
              </a:defRPr>
            </a:lvl2pPr>
            <a:lvl3pPr marL="1143000" indent="-228600">
              <a:defRPr>
                <a:solidFill>
                  <a:schemeClr val="tx1"/>
                </a:solidFill>
                <a:latin typeface="Century Gothic" pitchFamily="34" charset="0"/>
                <a:ea typeface="ＭＳ Ｐゴシック" pitchFamily="34" charset="-128"/>
              </a:defRPr>
            </a:lvl3pPr>
            <a:lvl4pPr marL="1600200" indent="-228600">
              <a:defRPr>
                <a:solidFill>
                  <a:schemeClr val="tx1"/>
                </a:solidFill>
                <a:latin typeface="Century Gothic" pitchFamily="34" charset="0"/>
                <a:ea typeface="ＭＳ Ｐゴシック" pitchFamily="34" charset="-128"/>
              </a:defRPr>
            </a:lvl4pPr>
            <a:lvl5pPr marL="2057400" indent="-228600">
              <a:defRPr>
                <a:solidFill>
                  <a:schemeClr val="tx1"/>
                </a:solidFill>
                <a:latin typeface="Century Gothic"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9pPr>
          </a:lstStyle>
          <a:p>
            <a:pPr algn="r" eaLnBrk="1" hangingPunct="1"/>
            <a:fld id="{944C08DF-F33E-4528-8FEE-EF1F6B0BA27B}" type="slidenum">
              <a:rPr lang="en-GB" sz="1200">
                <a:latin typeface="Arial" pitchFamily="34" charset="0"/>
                <a:cs typeface="Arial" pitchFamily="34" charset="0"/>
              </a:rPr>
              <a:pPr algn="r" eaLnBrk="1" hangingPunct="1"/>
              <a:t>3</a:t>
            </a:fld>
            <a:endParaRPr lang="en-GB" sz="1200">
              <a:latin typeface="Arial" pitchFamily="34" charset="0"/>
              <a:cs typeface="Arial" pitchFamily="34" charset="0"/>
            </a:endParaRPr>
          </a:p>
        </p:txBody>
      </p:sp>
    </p:spTree>
    <p:extLst>
      <p:ext uri="{BB962C8B-B14F-4D97-AF65-F5344CB8AC3E}">
        <p14:creationId xmlns:p14="http://schemas.microsoft.com/office/powerpoint/2010/main" val="34804318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atin typeface="Arial" pitchFamily="34" charset="0"/>
            </a:endParaRPr>
          </a:p>
        </p:txBody>
      </p:sp>
    </p:spTree>
    <p:extLst>
      <p:ext uri="{BB962C8B-B14F-4D97-AF65-F5344CB8AC3E}">
        <p14:creationId xmlns:p14="http://schemas.microsoft.com/office/powerpoint/2010/main" val="7664006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Rot="1" noChangeAspect="1" noChangeArrowheads="1" noTextEdit="1"/>
          </p:cNvSpPr>
          <p:nvPr>
            <p:ph type="sldImg"/>
          </p:nvPr>
        </p:nvSpPr>
        <p:spPr>
          <a:ln/>
        </p:spPr>
      </p:sp>
      <p:sp>
        <p:nvSpPr>
          <p:cNvPr id="983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E">
                <a:latin typeface="Arial" pitchFamily="34" charset="0"/>
              </a:rPr>
              <a:t>However, in general psychologist nowadays agree that BOTH genetic and situational factors influence behavior.</a:t>
            </a:r>
          </a:p>
          <a:p>
            <a:endParaRPr lang="en-GB">
              <a:latin typeface="Arial" pitchFamily="34" charset="0"/>
            </a:endParaRPr>
          </a:p>
        </p:txBody>
      </p:sp>
    </p:spTree>
    <p:extLst>
      <p:ext uri="{BB962C8B-B14F-4D97-AF65-F5344CB8AC3E}">
        <p14:creationId xmlns:p14="http://schemas.microsoft.com/office/powerpoint/2010/main" val="24747262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a:ln/>
        </p:spPr>
      </p:sp>
      <p:sp>
        <p:nvSpPr>
          <p:cNvPr id="9011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atin typeface="Arial" pitchFamily="34" charset="0"/>
            </a:endParaRPr>
          </a:p>
        </p:txBody>
      </p:sp>
    </p:spTree>
    <p:extLst>
      <p:ext uri="{BB962C8B-B14F-4D97-AF65-F5344CB8AC3E}">
        <p14:creationId xmlns:p14="http://schemas.microsoft.com/office/powerpoint/2010/main" val="20760578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ln/>
        </p:spPr>
      </p:sp>
      <p:sp>
        <p:nvSpPr>
          <p:cNvPr id="9113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atin typeface="Arial" pitchFamily="34" charset="0"/>
            </a:endParaRPr>
          </a:p>
        </p:txBody>
      </p:sp>
    </p:spTree>
    <p:extLst>
      <p:ext uri="{BB962C8B-B14F-4D97-AF65-F5344CB8AC3E}">
        <p14:creationId xmlns:p14="http://schemas.microsoft.com/office/powerpoint/2010/main" val="24297330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Rot="1" noChangeAspect="1" noChangeArrowheads="1" noTextEdit="1"/>
          </p:cNvSpPr>
          <p:nvPr>
            <p:ph type="sldImg"/>
          </p:nvPr>
        </p:nvSpPr>
        <p:spPr>
          <a:ln/>
        </p:spPr>
      </p:sp>
      <p:sp>
        <p:nvSpPr>
          <p:cNvPr id="1003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atin typeface="Arial" pitchFamily="34" charset="0"/>
            </a:endParaRPr>
          </a:p>
        </p:txBody>
      </p:sp>
    </p:spTree>
    <p:extLst>
      <p:ext uri="{BB962C8B-B14F-4D97-AF65-F5344CB8AC3E}">
        <p14:creationId xmlns:p14="http://schemas.microsoft.com/office/powerpoint/2010/main" val="41296554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Rot="1" noChangeAspect="1" noChangeArrowheads="1" noTextEdit="1"/>
          </p:cNvSpPr>
          <p:nvPr>
            <p:ph type="sldImg"/>
          </p:nvPr>
        </p:nvSpPr>
        <p:spPr>
          <a:ln/>
        </p:spPr>
      </p:sp>
      <p:sp>
        <p:nvSpPr>
          <p:cNvPr id="1013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E" dirty="0">
                <a:latin typeface="Arial" pitchFamily="34" charset="0"/>
              </a:rPr>
              <a:t>Hippocrates (The father of medicine) – first personality theorist, lived in Greece around 400 BC. He claimed that personality type or temperament was determined by bodily humours, generating the different behaviour patterns. For example, a person with black bile would show </a:t>
            </a:r>
            <a:r>
              <a:rPr lang="en-IE" dirty="0" err="1">
                <a:latin typeface="Arial" pitchFamily="34" charset="0"/>
              </a:rPr>
              <a:t>behaviors</a:t>
            </a:r>
            <a:r>
              <a:rPr lang="en-IE" dirty="0">
                <a:latin typeface="Arial" pitchFamily="34" charset="0"/>
              </a:rPr>
              <a:t> such as being depressed, sad, etc. and therefore called </a:t>
            </a:r>
            <a:r>
              <a:rPr lang="en-IE" dirty="0" err="1">
                <a:latin typeface="Arial" pitchFamily="34" charset="0"/>
              </a:rPr>
              <a:t>melancolic</a:t>
            </a:r>
            <a:r>
              <a:rPr lang="en-IE" dirty="0">
                <a:latin typeface="Arial" pitchFamily="34" charset="0"/>
              </a:rPr>
              <a:t> type. A person with yellow bile would be aggressive excitable, irritable, etc. and called </a:t>
            </a:r>
            <a:r>
              <a:rPr lang="en-IE" dirty="0" err="1">
                <a:latin typeface="Arial" pitchFamily="34" charset="0"/>
              </a:rPr>
              <a:t>coleric</a:t>
            </a:r>
            <a:r>
              <a:rPr lang="en-IE" dirty="0">
                <a:latin typeface="Arial" pitchFamily="34" charset="0"/>
              </a:rPr>
              <a:t>.</a:t>
            </a:r>
            <a:endParaRPr lang="en-GB" dirty="0">
              <a:latin typeface="Arial" pitchFamily="34" charset="0"/>
            </a:endParaRPr>
          </a:p>
        </p:txBody>
      </p:sp>
    </p:spTree>
    <p:extLst>
      <p:ext uri="{BB962C8B-B14F-4D97-AF65-F5344CB8AC3E}">
        <p14:creationId xmlns:p14="http://schemas.microsoft.com/office/powerpoint/2010/main" val="38675044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Rot="1" noChangeAspect="1" noChangeArrowheads="1" noTextEdit="1"/>
          </p:cNvSpPr>
          <p:nvPr>
            <p:ph type="sldImg"/>
          </p:nvPr>
        </p:nvSpPr>
        <p:spPr>
          <a:ln/>
        </p:spPr>
      </p:sp>
      <p:sp>
        <p:nvSpPr>
          <p:cNvPr id="1044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atin typeface="Arial" pitchFamily="34" charset="0"/>
            </a:endParaRPr>
          </a:p>
        </p:txBody>
      </p:sp>
    </p:spTree>
    <p:extLst>
      <p:ext uri="{BB962C8B-B14F-4D97-AF65-F5344CB8AC3E}">
        <p14:creationId xmlns:p14="http://schemas.microsoft.com/office/powerpoint/2010/main" val="885525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Rot="1" noChangeAspect="1" noChangeArrowheads="1" noTextEdit="1"/>
          </p:cNvSpPr>
          <p:nvPr>
            <p:ph type="sldImg"/>
          </p:nvPr>
        </p:nvSpPr>
        <p:spPr>
          <a:ln/>
        </p:spPr>
      </p:sp>
      <p:sp>
        <p:nvSpPr>
          <p:cNvPr id="1054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E">
                <a:latin typeface="Arial" pitchFamily="34" charset="0"/>
              </a:rPr>
              <a:t>Friedman and Rosenman identified two extreme behaviour syndromes which explained differences in stress levels. Specifically, the found that Type A personalities were 3x more likely to suffer heart disease than Type B personalities. </a:t>
            </a:r>
          </a:p>
          <a:p>
            <a:endParaRPr lang="en-IE">
              <a:latin typeface="Arial" pitchFamily="34" charset="0"/>
            </a:endParaRPr>
          </a:p>
          <a:p>
            <a:r>
              <a:rPr lang="en-IE">
                <a:latin typeface="Arial" pitchFamily="34" charset="0"/>
              </a:rPr>
              <a:t>The typical Type A thrives on long hours, large amounts of work and tight deadlines. These are socially and organizationally desirable characteristics, as are competitiveness anda high need for achievement. However, if you are an extreme Type A person than you may not be able to relax long enough to stand back from a complex problem to make an effective and comprehensive analysis and may lack the patience and relaxed style required in some management positions. Impatience and hostility of type A people can increase the stress levels of persons you work with.</a:t>
            </a:r>
          </a:p>
          <a:p>
            <a:endParaRPr lang="en-IE">
              <a:latin typeface="Arial" pitchFamily="34" charset="0"/>
            </a:endParaRPr>
          </a:p>
        </p:txBody>
      </p:sp>
    </p:spTree>
    <p:extLst>
      <p:ext uri="{BB962C8B-B14F-4D97-AF65-F5344CB8AC3E}">
        <p14:creationId xmlns:p14="http://schemas.microsoft.com/office/powerpoint/2010/main" val="34497356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Rot="1" noChangeAspect="1" noChangeArrowheads="1" noTextEdit="1"/>
          </p:cNvSpPr>
          <p:nvPr>
            <p:ph type="sldImg"/>
          </p:nvPr>
        </p:nvSpPr>
        <p:spPr>
          <a:ln/>
        </p:spPr>
      </p:sp>
      <p:sp>
        <p:nvSpPr>
          <p:cNvPr id="1085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E" dirty="0">
                <a:latin typeface="Arial" pitchFamily="34" charset="0"/>
              </a:rPr>
              <a:t>Carl Gustav Jung – Swiss Psychologist</a:t>
            </a:r>
          </a:p>
          <a:p>
            <a:endParaRPr lang="en-IE" dirty="0">
              <a:latin typeface="Arial" pitchFamily="34" charset="0"/>
            </a:endParaRPr>
          </a:p>
          <a:p>
            <a:r>
              <a:rPr lang="en-IE" dirty="0">
                <a:latin typeface="Arial" pitchFamily="34" charset="0"/>
              </a:rPr>
              <a:t>His approach is based on psychological preferences for extraversion or introversion, for sensation or intuition, for thinking or feeling and for judging or perceiving. </a:t>
            </a:r>
          </a:p>
          <a:p>
            <a:endParaRPr lang="en-IE" dirty="0">
              <a:latin typeface="Arial" pitchFamily="34" charset="0"/>
            </a:endParaRPr>
          </a:p>
          <a:p>
            <a:r>
              <a:rPr lang="en-IE" dirty="0">
                <a:latin typeface="Arial" pitchFamily="34" charset="0"/>
              </a:rPr>
              <a:t>At the heart of his complex theory lie four personality types, plotted across the sensation-intuition and thinking-feeling dimensions. </a:t>
            </a:r>
            <a:endParaRPr lang="en-GB" dirty="0">
              <a:latin typeface="Arial" pitchFamily="34" charset="0"/>
            </a:endParaRPr>
          </a:p>
        </p:txBody>
      </p:sp>
    </p:spTree>
    <p:extLst>
      <p:ext uri="{BB962C8B-B14F-4D97-AF65-F5344CB8AC3E}">
        <p14:creationId xmlns:p14="http://schemas.microsoft.com/office/powerpoint/2010/main" val="42400730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Rot="1" noChangeAspect="1" noChangeArrowheads="1" noTextEdit="1"/>
          </p:cNvSpPr>
          <p:nvPr>
            <p:ph type="sldImg"/>
          </p:nvPr>
        </p:nvSpPr>
        <p:spPr>
          <a:ln/>
        </p:spPr>
      </p:sp>
      <p:sp>
        <p:nvSpPr>
          <p:cNvPr id="1095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atin typeface="Arial" pitchFamily="34" charset="0"/>
            </a:endParaRPr>
          </a:p>
        </p:txBody>
      </p:sp>
    </p:spTree>
    <p:extLst>
      <p:ext uri="{BB962C8B-B14F-4D97-AF65-F5344CB8AC3E}">
        <p14:creationId xmlns:p14="http://schemas.microsoft.com/office/powerpoint/2010/main" val="3857880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Rot="1" noChangeAspect="1" noChangeArrowheads="1" noTextEdit="1"/>
          </p:cNvSpPr>
          <p:nvPr>
            <p:ph type="sldImg"/>
          </p:nvPr>
        </p:nvSpPr>
        <p:spPr>
          <a:ln/>
        </p:spPr>
      </p:sp>
      <p:sp>
        <p:nvSpPr>
          <p:cNvPr id="1105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E" dirty="0">
                <a:latin typeface="Arial" pitchFamily="34" charset="0"/>
              </a:rPr>
              <a:t>Using this theory, the mother and daughter team of Katherine Briggs and Isabel Myers developed the Myer-Briggs –Type Indicator</a:t>
            </a:r>
          </a:p>
          <a:p>
            <a:endParaRPr lang="en-IE" dirty="0">
              <a:latin typeface="Arial" pitchFamily="34" charset="0"/>
            </a:endParaRPr>
          </a:p>
          <a:p>
            <a:r>
              <a:rPr lang="en-IE" dirty="0">
                <a:latin typeface="Arial" pitchFamily="34" charset="0"/>
              </a:rPr>
              <a:t>The world’s most popular personality assessment, used in a wide range of organizational contexts, including management development programmes focusing on self-awareness and personal development.</a:t>
            </a:r>
          </a:p>
          <a:p>
            <a:endParaRPr lang="en-IE" dirty="0">
              <a:latin typeface="Arial" pitchFamily="34" charset="0"/>
            </a:endParaRPr>
          </a:p>
          <a:p>
            <a:r>
              <a:rPr lang="en-IE" dirty="0">
                <a:latin typeface="Arial" pitchFamily="34" charset="0"/>
              </a:rPr>
              <a:t>The MBTI makes Jung’s theory </a:t>
            </a:r>
            <a:r>
              <a:rPr lang="en-IE" dirty="0" err="1">
                <a:latin typeface="Arial" pitchFamily="34" charset="0"/>
              </a:rPr>
              <a:t>acsessible</a:t>
            </a:r>
            <a:r>
              <a:rPr lang="en-IE" dirty="0">
                <a:latin typeface="Arial" pitchFamily="34" charset="0"/>
              </a:rPr>
              <a:t> and practical, rating personal preferences on the four scales:</a:t>
            </a:r>
          </a:p>
          <a:p>
            <a:endParaRPr lang="en-IE" dirty="0">
              <a:latin typeface="Arial" pitchFamily="34" charset="0"/>
            </a:endParaRPr>
          </a:p>
          <a:p>
            <a:r>
              <a:rPr lang="en-IE" dirty="0">
                <a:latin typeface="Arial" pitchFamily="34" charset="0"/>
              </a:rPr>
              <a:t>If you are an ENFP, you have been types as extravert, intuitive, feeling, and perceiving. </a:t>
            </a:r>
          </a:p>
          <a:p>
            <a:endParaRPr lang="en-IE" dirty="0">
              <a:latin typeface="Arial" pitchFamily="34" charset="0"/>
            </a:endParaRPr>
          </a:p>
          <a:p>
            <a:r>
              <a:rPr lang="en-IE" dirty="0">
                <a:latin typeface="Arial" pitchFamily="34" charset="0"/>
              </a:rPr>
              <a:t>Application: for example, problem-solving and decision-making groups need a complementary personality mix, intuitive types need sensing types, feeling types need thinking types. Effective </a:t>
            </a:r>
            <a:r>
              <a:rPr lang="en-IE" dirty="0" err="1">
                <a:latin typeface="Arial" pitchFamily="34" charset="0"/>
              </a:rPr>
              <a:t>teamworking</a:t>
            </a:r>
            <a:r>
              <a:rPr lang="en-IE" dirty="0">
                <a:latin typeface="Arial" pitchFamily="34" charset="0"/>
              </a:rPr>
              <a:t> as proposed by Meredith Belbin (GROUP STRUCTURE)</a:t>
            </a:r>
            <a:endParaRPr lang="en-GB" dirty="0">
              <a:latin typeface="Arial" pitchFamily="34" charset="0"/>
            </a:endParaRPr>
          </a:p>
        </p:txBody>
      </p:sp>
    </p:spTree>
    <p:extLst>
      <p:ext uri="{BB962C8B-B14F-4D97-AF65-F5344CB8AC3E}">
        <p14:creationId xmlns:p14="http://schemas.microsoft.com/office/powerpoint/2010/main" val="22653696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Rot="1" noChangeAspect="1" noChangeArrowheads="1" noTextEdit="1"/>
          </p:cNvSpPr>
          <p:nvPr>
            <p:ph type="sldImg"/>
          </p:nvPr>
        </p:nvSpPr>
        <p:spPr>
          <a:ln/>
        </p:spPr>
      </p:sp>
      <p:sp>
        <p:nvSpPr>
          <p:cNvPr id="1136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latin typeface="Arial" pitchFamily="34" charset="0"/>
              </a:rPr>
              <a:t>How many personality traits can you list? Would you believe 17.953? That’s the number of personality-related words found in a search of an English language dictionary in a study conducted over 60 years ago. These traits were reduced using a statistical technique called factor analysis to five different personality factors. </a:t>
            </a:r>
          </a:p>
          <a:p>
            <a:pPr eaLnBrk="1" hangingPunct="1"/>
            <a:endParaRPr lang="en-US" dirty="0">
              <a:latin typeface="Arial" pitchFamily="34" charset="0"/>
            </a:endParaRPr>
          </a:p>
          <a:p>
            <a:pPr eaLnBrk="1" hangingPunct="1"/>
            <a:r>
              <a:rPr lang="en-US" dirty="0">
                <a:latin typeface="Arial" pitchFamily="34" charset="0"/>
              </a:rPr>
              <a:t>These dimensions are very important and they are related strongly to work performance. This is the case across many different occupational groups (e.g., police, managers, salespersons) and several kinds of performance measures (e.g., ratings of individuals performance by mangers or others, performance during training programs, personnel records).</a:t>
            </a:r>
          </a:p>
          <a:p>
            <a:endParaRPr lang="en-GB" dirty="0">
              <a:latin typeface="Arial" pitchFamily="34" charset="0"/>
            </a:endParaRPr>
          </a:p>
        </p:txBody>
      </p:sp>
    </p:spTree>
    <p:extLst>
      <p:ext uri="{BB962C8B-B14F-4D97-AF65-F5344CB8AC3E}">
        <p14:creationId xmlns:p14="http://schemas.microsoft.com/office/powerpoint/2010/main" val="11463696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77" tIns="45739" rIns="91477" bIns="45739" anchor="b"/>
          <a:lstStyle>
            <a:lvl1pPr>
              <a:defRPr>
                <a:solidFill>
                  <a:schemeClr val="tx1"/>
                </a:solidFill>
                <a:latin typeface="Century Gothic" pitchFamily="34" charset="0"/>
                <a:ea typeface="ＭＳ Ｐゴシック" pitchFamily="34" charset="-128"/>
              </a:defRPr>
            </a:lvl1pPr>
            <a:lvl2pPr marL="742950" indent="-285750">
              <a:defRPr>
                <a:solidFill>
                  <a:schemeClr val="tx1"/>
                </a:solidFill>
                <a:latin typeface="Century Gothic" pitchFamily="34" charset="0"/>
                <a:ea typeface="ＭＳ Ｐゴシック" pitchFamily="34" charset="-128"/>
              </a:defRPr>
            </a:lvl2pPr>
            <a:lvl3pPr marL="1143000" indent="-228600">
              <a:defRPr>
                <a:solidFill>
                  <a:schemeClr val="tx1"/>
                </a:solidFill>
                <a:latin typeface="Century Gothic" pitchFamily="34" charset="0"/>
                <a:ea typeface="ＭＳ Ｐゴシック" pitchFamily="34" charset="-128"/>
              </a:defRPr>
            </a:lvl3pPr>
            <a:lvl4pPr marL="1600200" indent="-228600">
              <a:defRPr>
                <a:solidFill>
                  <a:schemeClr val="tx1"/>
                </a:solidFill>
                <a:latin typeface="Century Gothic" pitchFamily="34" charset="0"/>
                <a:ea typeface="ＭＳ Ｐゴシック" pitchFamily="34" charset="-128"/>
              </a:defRPr>
            </a:lvl4pPr>
            <a:lvl5pPr marL="2057400" indent="-228600">
              <a:defRPr>
                <a:solidFill>
                  <a:schemeClr val="tx1"/>
                </a:solidFill>
                <a:latin typeface="Century Gothic"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9pPr>
          </a:lstStyle>
          <a:p>
            <a:pPr algn="r" eaLnBrk="1" hangingPunct="1"/>
            <a:fld id="{29F46D7B-E9C3-4C5D-BD23-92E3BDC733E9}" type="slidenum">
              <a:rPr lang="en-GB" sz="1200">
                <a:latin typeface="Arial" pitchFamily="34" charset="0"/>
                <a:cs typeface="Arial" pitchFamily="34" charset="0"/>
              </a:rPr>
              <a:pPr algn="r" eaLnBrk="1" hangingPunct="1"/>
              <a:t>34</a:t>
            </a:fld>
            <a:endParaRPr lang="en-GB" sz="1200">
              <a:latin typeface="Arial" pitchFamily="34" charset="0"/>
              <a:cs typeface="Arial" pitchFamily="34" charset="0"/>
            </a:endParaRPr>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xfrm>
            <a:off x="685800" y="4344988"/>
            <a:ext cx="5486400" cy="41132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77" tIns="45739" rIns="91477" bIns="45739"/>
          <a:lstStyle/>
          <a:p>
            <a:pPr eaLnBrk="1" hangingPunct="1"/>
            <a:endParaRPr lang="en-GB">
              <a:latin typeface="Arial" pitchFamily="34" charset="0"/>
            </a:endParaRPr>
          </a:p>
        </p:txBody>
      </p:sp>
    </p:spTree>
    <p:extLst>
      <p:ext uri="{BB962C8B-B14F-4D97-AF65-F5344CB8AC3E}">
        <p14:creationId xmlns:p14="http://schemas.microsoft.com/office/powerpoint/2010/main" val="42761245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77" tIns="45739" rIns="91477" bIns="45739" anchor="b"/>
          <a:lstStyle>
            <a:lvl1pPr>
              <a:defRPr>
                <a:solidFill>
                  <a:schemeClr val="tx1"/>
                </a:solidFill>
                <a:latin typeface="Century Gothic" pitchFamily="34" charset="0"/>
                <a:ea typeface="ＭＳ Ｐゴシック" pitchFamily="34" charset="-128"/>
              </a:defRPr>
            </a:lvl1pPr>
            <a:lvl2pPr marL="742950" indent="-285750">
              <a:defRPr>
                <a:solidFill>
                  <a:schemeClr val="tx1"/>
                </a:solidFill>
                <a:latin typeface="Century Gothic" pitchFamily="34" charset="0"/>
                <a:ea typeface="ＭＳ Ｐゴシック" pitchFamily="34" charset="-128"/>
              </a:defRPr>
            </a:lvl2pPr>
            <a:lvl3pPr marL="1143000" indent="-228600">
              <a:defRPr>
                <a:solidFill>
                  <a:schemeClr val="tx1"/>
                </a:solidFill>
                <a:latin typeface="Century Gothic" pitchFamily="34" charset="0"/>
                <a:ea typeface="ＭＳ Ｐゴシック" pitchFamily="34" charset="-128"/>
              </a:defRPr>
            </a:lvl3pPr>
            <a:lvl4pPr marL="1600200" indent="-228600">
              <a:defRPr>
                <a:solidFill>
                  <a:schemeClr val="tx1"/>
                </a:solidFill>
                <a:latin typeface="Century Gothic" pitchFamily="34" charset="0"/>
                <a:ea typeface="ＭＳ Ｐゴシック" pitchFamily="34" charset="-128"/>
              </a:defRPr>
            </a:lvl4pPr>
            <a:lvl5pPr marL="2057400" indent="-228600">
              <a:defRPr>
                <a:solidFill>
                  <a:schemeClr val="tx1"/>
                </a:solidFill>
                <a:latin typeface="Century Gothic"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9pPr>
          </a:lstStyle>
          <a:p>
            <a:pPr algn="r" eaLnBrk="1" hangingPunct="1"/>
            <a:fld id="{56048170-03A8-4BAB-B7C8-D305F0AD9257}" type="slidenum">
              <a:rPr lang="en-GB" sz="1200">
                <a:latin typeface="Arial" pitchFamily="34" charset="0"/>
                <a:cs typeface="Arial" pitchFamily="34" charset="0"/>
              </a:rPr>
              <a:pPr algn="r" eaLnBrk="1" hangingPunct="1"/>
              <a:t>42</a:t>
            </a:fld>
            <a:endParaRPr lang="en-GB" sz="1200">
              <a:latin typeface="Arial" pitchFamily="34" charset="0"/>
              <a:cs typeface="Arial" pitchFamily="34" charset="0"/>
            </a:endParaRPr>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xfrm>
            <a:off x="685800" y="4344988"/>
            <a:ext cx="5486400" cy="41132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77" tIns="45739" rIns="91477" bIns="45739"/>
          <a:lstStyle/>
          <a:p>
            <a:pPr eaLnBrk="1" hangingPunct="1">
              <a:lnSpc>
                <a:spcPct val="90000"/>
              </a:lnSpc>
            </a:pPr>
            <a:r>
              <a:rPr lang="en-US">
                <a:latin typeface="Arial" pitchFamily="34" charset="0"/>
              </a:rPr>
              <a:t>These dimensions are very important and they are related strongly to work performance. This is the case across many different occupational groups (e.g., police, managers, salespersons) and several kinds of performance measures (e.g., ratings of individuals performance by mangers or others, performance during training programs, personnel records).</a:t>
            </a:r>
          </a:p>
          <a:p>
            <a:pPr eaLnBrk="1" hangingPunct="1">
              <a:lnSpc>
                <a:spcPct val="90000"/>
              </a:lnSpc>
            </a:pPr>
            <a:endParaRPr lang="en-US">
              <a:latin typeface="Arial" pitchFamily="34" charset="0"/>
            </a:endParaRPr>
          </a:p>
          <a:p>
            <a:pPr eaLnBrk="1" hangingPunct="1">
              <a:lnSpc>
                <a:spcPct val="90000"/>
              </a:lnSpc>
            </a:pPr>
            <a:r>
              <a:rPr lang="en-US">
                <a:latin typeface="Arial" pitchFamily="34" charset="0"/>
              </a:rPr>
              <a:t>Think of an environment, you would have little opportunity to let your abitual way of responding appear in you behavior. Think of the opposite situation – a job where you had a good deal of control over your work habits. In the latter you could really be “you” and whether you performed well or poorly probably depended on how well your personality was suited to the job’s demands. </a:t>
            </a:r>
          </a:p>
          <a:p>
            <a:pPr eaLnBrk="1" hangingPunct="1">
              <a:lnSpc>
                <a:spcPct val="90000"/>
              </a:lnSpc>
            </a:pPr>
            <a:endParaRPr lang="en-US">
              <a:latin typeface="Arial" pitchFamily="34" charset="0"/>
            </a:endParaRPr>
          </a:p>
          <a:p>
            <a:pPr eaLnBrk="1" hangingPunct="1">
              <a:lnSpc>
                <a:spcPct val="90000"/>
              </a:lnSpc>
            </a:pPr>
            <a:r>
              <a:rPr lang="en-US">
                <a:latin typeface="Arial" pitchFamily="34" charset="0"/>
              </a:rPr>
              <a:t>Problems can arive when an individual has plenty of g but lacks other attributes. The recent movie A beautiful mind tells the story of John Nash, a Nobel Prize winning mathematician who was brilliant (in a g sense) and high on achievement but who was severly impaired in social and interpersonal skills. Nash was emotionally unstable, eventually disintegrating into paranoia and delusional states. Early in his career he was favored because of his sheer brilliance and tenacity (conscientiousness, but his impairments in other dimensions eventually rendered him useless to the research facility where he was employed.</a:t>
            </a:r>
          </a:p>
        </p:txBody>
      </p:sp>
    </p:spTree>
    <p:extLst>
      <p:ext uri="{BB962C8B-B14F-4D97-AF65-F5344CB8AC3E}">
        <p14:creationId xmlns:p14="http://schemas.microsoft.com/office/powerpoint/2010/main" val="38163703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Folienbildplatzhalter 1"/>
          <p:cNvSpPr>
            <a:spLocks noGrp="1" noRot="1" noChangeAspect="1" noTextEdit="1"/>
          </p:cNvSpPr>
          <p:nvPr>
            <p:ph type="sldImg"/>
          </p:nvPr>
        </p:nvSpPr>
        <p:spPr>
          <a:ln/>
        </p:spPr>
      </p:sp>
      <p:sp>
        <p:nvSpPr>
          <p:cNvPr id="116739" name="Notizenplatzhalter 2"/>
          <p:cNvSpPr>
            <a:spLocks noGrp="1"/>
          </p:cNvSpPr>
          <p:nvPr>
            <p:ph type="body" idx="1"/>
          </p:nvPr>
        </p:nvSpPr>
        <p:spPr>
          <a:xfrm>
            <a:off x="500063" y="4344988"/>
            <a:ext cx="6000750" cy="41132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77" tIns="45739" rIns="91477" bIns="45739"/>
          <a:lstStyle/>
          <a:p>
            <a:r>
              <a:rPr lang="de-DE" sz="1100" b="1" dirty="0">
                <a:latin typeface="Times New Roman" pitchFamily="18" charset="0"/>
              </a:rPr>
              <a:t>Achievement motivation:</a:t>
            </a:r>
            <a:r>
              <a:rPr lang="de-DE" sz="1100" dirty="0">
                <a:latin typeface="Times New Roman" pitchFamily="18" charset="0"/>
              </a:rPr>
              <a:t> the strength of an individual‘s desire to excel – to succeed at difficult tasks and to do them better than other people; people who are high in achivement motivation are attracted to tasks of moderate difficulty and people low in in achievement motivation are attracted to tasks that are extremely easy or extremely difficult. Are high-need achievers successful managers? PRO (tend to gain promotions more rapidly than those who are low in AM, at least in their early careers; they have a strong desire for feedback regarding their performance =&gt; strong perference for merit-based pay system vs. Seniority-based pay system, one in which pay and other rewards are based on performance); CONTRA (unwillingness to tackle difficult challenges interferes with their success; tend to be focused so much on their success that they are sometimes reluctant to delegate authority others, fail to get support from subordinates)</a:t>
            </a:r>
          </a:p>
          <a:p>
            <a:r>
              <a:rPr lang="de-DE" sz="1100" b="1" dirty="0">
                <a:latin typeface="Times New Roman" pitchFamily="18" charset="0"/>
              </a:rPr>
              <a:t>Individual differences in times of day</a:t>
            </a:r>
            <a:r>
              <a:rPr lang="de-DE" sz="1100" dirty="0">
                <a:latin typeface="Times New Roman" pitchFamily="18" charset="0"/>
              </a:rPr>
              <a:t> suggests that individual differences in preferences for time are very important when it comes to job performance. Ideally, only individuals who are at their best late in the day should be assigned to night work.</a:t>
            </a:r>
          </a:p>
          <a:p>
            <a:r>
              <a:rPr lang="de-DE" sz="1100" b="1" dirty="0">
                <a:latin typeface="Times New Roman" pitchFamily="18" charset="0"/>
              </a:rPr>
              <a:t>Self-Monitoring:</a:t>
            </a:r>
            <a:r>
              <a:rPr lang="de-DE" sz="1100" dirty="0">
                <a:latin typeface="Times New Roman" pitchFamily="18" charset="0"/>
              </a:rPr>
              <a:t> High self-monitoring individuals are sensitive to external cues and tend to behave differently in different situations. High self-monitors can present a very different appearance from the true self. In contrast, low self-monitors are not able to disguies their behaviors „what you see is what you get“. There is also evidence that high self-monitors are closely attuned to the behavior of others and conform more readily than do low self-monitors. Thus, they appear flexible. For example, high self-monitors should be especially good at changing their leadership behavior to fit subordinates with high or low experience, tasks with high or low structure, and so on.</a:t>
            </a:r>
          </a:p>
          <a:p>
            <a:r>
              <a:rPr lang="de-DE" sz="1100" b="1" dirty="0">
                <a:latin typeface="Times New Roman" pitchFamily="18" charset="0"/>
              </a:rPr>
              <a:t>Locus of Control:</a:t>
            </a:r>
            <a:r>
              <a:rPr lang="de-DE" sz="1100" dirty="0">
                <a:latin typeface="Times New Roman" pitchFamily="18" charset="0"/>
              </a:rPr>
              <a:t> is concerend with a person‘s internal-external orientation and is measured by Rotter‘s locus of control instrument. People have personal conceptions about whether events are controlled primarily by themselves which indicates an internal orientation, or by outside forces, such as their social and physical environment, which indicates an external orientation. In general, externals are more extraverted in their interpersonal relationships and are more oriented toward the world around them. Internals tend to be more introverted and are more oriented toward their own feelings and ideas. </a:t>
            </a:r>
          </a:p>
          <a:p>
            <a:endParaRPr lang="de-DE" sz="1100" dirty="0">
              <a:latin typeface="Times New Roman" pitchFamily="18" charset="0"/>
            </a:endParaRPr>
          </a:p>
          <a:p>
            <a:endParaRPr lang="de-DE" sz="1100" dirty="0">
              <a:latin typeface="Times New Roman" pitchFamily="18" charset="0"/>
            </a:endParaRPr>
          </a:p>
        </p:txBody>
      </p:sp>
      <p:sp>
        <p:nvSpPr>
          <p:cNvPr id="116740" name="Foliennummernplatzhalt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77" tIns="45739" rIns="91477" bIns="45739" anchor="b"/>
          <a:lstStyle>
            <a:lvl1pPr>
              <a:defRPr>
                <a:solidFill>
                  <a:schemeClr val="tx1"/>
                </a:solidFill>
                <a:latin typeface="Century Gothic" pitchFamily="34" charset="0"/>
                <a:ea typeface="ＭＳ Ｐゴシック" pitchFamily="34" charset="-128"/>
              </a:defRPr>
            </a:lvl1pPr>
            <a:lvl2pPr marL="742950" indent="-285750">
              <a:defRPr>
                <a:solidFill>
                  <a:schemeClr val="tx1"/>
                </a:solidFill>
                <a:latin typeface="Century Gothic" pitchFamily="34" charset="0"/>
                <a:ea typeface="ＭＳ Ｐゴシック" pitchFamily="34" charset="-128"/>
              </a:defRPr>
            </a:lvl2pPr>
            <a:lvl3pPr marL="1143000" indent="-228600">
              <a:defRPr>
                <a:solidFill>
                  <a:schemeClr val="tx1"/>
                </a:solidFill>
                <a:latin typeface="Century Gothic" pitchFamily="34" charset="0"/>
                <a:ea typeface="ＭＳ Ｐゴシック" pitchFamily="34" charset="-128"/>
              </a:defRPr>
            </a:lvl3pPr>
            <a:lvl4pPr marL="1600200" indent="-228600">
              <a:defRPr>
                <a:solidFill>
                  <a:schemeClr val="tx1"/>
                </a:solidFill>
                <a:latin typeface="Century Gothic" pitchFamily="34" charset="0"/>
                <a:ea typeface="ＭＳ Ｐゴシック" pitchFamily="34" charset="-128"/>
              </a:defRPr>
            </a:lvl4pPr>
            <a:lvl5pPr marL="2057400" indent="-228600">
              <a:defRPr>
                <a:solidFill>
                  <a:schemeClr val="tx1"/>
                </a:solidFill>
                <a:latin typeface="Century Gothic"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9pPr>
          </a:lstStyle>
          <a:p>
            <a:pPr algn="r" eaLnBrk="1" hangingPunct="1"/>
            <a:fld id="{176518FC-FB81-4C4E-AD5C-1E5D12E8B099}" type="slidenum">
              <a:rPr lang="en-GB" sz="1200">
                <a:latin typeface="Arial" pitchFamily="34" charset="0"/>
                <a:cs typeface="Arial" pitchFamily="34" charset="0"/>
              </a:rPr>
              <a:pPr algn="r" eaLnBrk="1" hangingPunct="1"/>
              <a:t>47</a:t>
            </a:fld>
            <a:endParaRPr lang="en-GB" sz="1200">
              <a:latin typeface="Arial" pitchFamily="34" charset="0"/>
              <a:cs typeface="Arial" pitchFamily="34" charset="0"/>
            </a:endParaRPr>
          </a:p>
        </p:txBody>
      </p:sp>
    </p:spTree>
    <p:extLst>
      <p:ext uri="{BB962C8B-B14F-4D97-AF65-F5344CB8AC3E}">
        <p14:creationId xmlns:p14="http://schemas.microsoft.com/office/powerpoint/2010/main" val="35432234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entury Gothic" pitchFamily="34" charset="0"/>
                <a:ea typeface="ＭＳ Ｐゴシック" pitchFamily="34" charset="-128"/>
              </a:defRPr>
            </a:lvl1pPr>
            <a:lvl2pPr marL="742950" indent="-285750">
              <a:defRPr>
                <a:solidFill>
                  <a:schemeClr val="tx1"/>
                </a:solidFill>
                <a:latin typeface="Century Gothic" pitchFamily="34" charset="0"/>
                <a:ea typeface="ＭＳ Ｐゴシック" pitchFamily="34" charset="-128"/>
              </a:defRPr>
            </a:lvl2pPr>
            <a:lvl3pPr marL="1143000" indent="-228600">
              <a:defRPr>
                <a:solidFill>
                  <a:schemeClr val="tx1"/>
                </a:solidFill>
                <a:latin typeface="Century Gothic" pitchFamily="34" charset="0"/>
                <a:ea typeface="ＭＳ Ｐゴシック" pitchFamily="34" charset="-128"/>
              </a:defRPr>
            </a:lvl3pPr>
            <a:lvl4pPr marL="1600200" indent="-228600">
              <a:defRPr>
                <a:solidFill>
                  <a:schemeClr val="tx1"/>
                </a:solidFill>
                <a:latin typeface="Century Gothic" pitchFamily="34" charset="0"/>
                <a:ea typeface="ＭＳ Ｐゴシック" pitchFamily="34" charset="-128"/>
              </a:defRPr>
            </a:lvl4pPr>
            <a:lvl5pPr marL="2057400" indent="-228600">
              <a:defRPr>
                <a:solidFill>
                  <a:schemeClr val="tx1"/>
                </a:solidFill>
                <a:latin typeface="Century Gothic"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9pPr>
          </a:lstStyle>
          <a:p>
            <a:fld id="{E042AD2E-DFCD-46DC-869C-CC567F4B85E7}" type="slidenum">
              <a:rPr lang="en-US" smtClean="0">
                <a:latin typeface="Arial" pitchFamily="34" charset="0"/>
              </a:rPr>
              <a:pPr/>
              <a:t>49</a:t>
            </a:fld>
            <a:endParaRPr lang="en-US">
              <a:latin typeface="Arial" pitchFamily="34" charset="0"/>
            </a:endParaRPr>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Arial" pitchFamily="34" charset="0"/>
              </a:rPr>
              <a:t>Individuals can be studied in two ways:</a:t>
            </a:r>
          </a:p>
          <a:p>
            <a:pPr eaLnBrk="1" hangingPunct="1"/>
            <a:endParaRPr lang="en-US">
              <a:latin typeface="Arial" pitchFamily="34" charset="0"/>
            </a:endParaRPr>
          </a:p>
          <a:p>
            <a:pPr eaLnBrk="1" hangingPunct="1"/>
            <a:r>
              <a:rPr lang="en-US">
                <a:latin typeface="Arial" pitchFamily="34" charset="0"/>
              </a:rPr>
              <a:t>	Nomothetically: As individual instances of general characteristics that are distributed in the population</a:t>
            </a:r>
          </a:p>
          <a:p>
            <a:pPr eaLnBrk="1" hangingPunct="1"/>
            <a:r>
              <a:rPr lang="en-US">
                <a:latin typeface="Arial" pitchFamily="34" charset="0"/>
              </a:rPr>
              <a:t>	Idiographically: As single and unique cases</a:t>
            </a:r>
          </a:p>
        </p:txBody>
      </p:sp>
    </p:spTree>
    <p:extLst>
      <p:ext uri="{BB962C8B-B14F-4D97-AF65-F5344CB8AC3E}">
        <p14:creationId xmlns:p14="http://schemas.microsoft.com/office/powerpoint/2010/main" val="37657865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B390496-A405-4C23-8D14-4F80916E1A94}" type="slidenum">
              <a:rPr lang="en-US" smtClean="0"/>
              <a:pPr/>
              <a:t>55</a:t>
            </a:fld>
            <a:endParaRPr lang="en-US"/>
          </a:p>
        </p:txBody>
      </p:sp>
    </p:spTree>
    <p:extLst>
      <p:ext uri="{BB962C8B-B14F-4D97-AF65-F5344CB8AC3E}">
        <p14:creationId xmlns:p14="http://schemas.microsoft.com/office/powerpoint/2010/main" val="4099622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10"/>
          </p:nvPr>
        </p:nvSpPr>
        <p:spPr/>
        <p:txBody>
          <a:bodyPr/>
          <a:lstStyle/>
          <a:p>
            <a:fld id="{1D213B00-8A62-4D90-AD6A-0226518EC3CC}" type="slidenum">
              <a:rPr lang="en-IE" smtClean="0"/>
              <a:t>82</a:t>
            </a:fld>
            <a:endParaRPr lang="en-IE"/>
          </a:p>
        </p:txBody>
      </p:sp>
    </p:spTree>
    <p:extLst>
      <p:ext uri="{BB962C8B-B14F-4D97-AF65-F5344CB8AC3E}">
        <p14:creationId xmlns:p14="http://schemas.microsoft.com/office/powerpoint/2010/main" val="2103090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9B96EE6-1855-4B7D-83D0-BC241FFC1C58}" type="datetimeFigureOut">
              <a:rPr lang="en-IE" smtClean="0"/>
              <a:t>23/11/2023</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D266DE1C-3727-4B35-81DE-CDCD0CC6F7A3}" type="slidenum">
              <a:rPr lang="en-IE" smtClean="0"/>
              <a:t>‹#›</a:t>
            </a:fld>
            <a:endParaRPr lang="en-IE"/>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93860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B96EE6-1855-4B7D-83D0-BC241FFC1C58}" type="datetimeFigureOut">
              <a:rPr lang="en-IE" smtClean="0"/>
              <a:t>23/11/2023</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D266DE1C-3727-4B35-81DE-CDCD0CC6F7A3}" type="slidenum">
              <a:rPr lang="en-IE" smtClean="0"/>
              <a:t>‹#›</a:t>
            </a:fld>
            <a:endParaRPr lang="en-IE"/>
          </a:p>
        </p:txBody>
      </p:sp>
    </p:spTree>
    <p:extLst>
      <p:ext uri="{BB962C8B-B14F-4D97-AF65-F5344CB8AC3E}">
        <p14:creationId xmlns:p14="http://schemas.microsoft.com/office/powerpoint/2010/main" val="470743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B96EE6-1855-4B7D-83D0-BC241FFC1C58}" type="datetimeFigureOut">
              <a:rPr lang="en-IE" smtClean="0"/>
              <a:t>23/11/2023</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D266DE1C-3727-4B35-81DE-CDCD0CC6F7A3}" type="slidenum">
              <a:rPr lang="en-IE" smtClean="0"/>
              <a:t>‹#›</a:t>
            </a:fld>
            <a:endParaRPr lang="en-IE"/>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67759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9B96EE6-1855-4B7D-83D0-BC241FFC1C58}" type="datetimeFigureOut">
              <a:rPr lang="en-IE" smtClean="0"/>
              <a:t>23/11/2023</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D266DE1C-3727-4B35-81DE-CDCD0CC6F7A3}" type="slidenum">
              <a:rPr lang="en-IE" smtClean="0"/>
              <a:t>‹#›</a:t>
            </a:fld>
            <a:endParaRPr lang="en-IE"/>
          </a:p>
        </p:txBody>
      </p:sp>
    </p:spTree>
    <p:extLst>
      <p:ext uri="{BB962C8B-B14F-4D97-AF65-F5344CB8AC3E}">
        <p14:creationId xmlns:p14="http://schemas.microsoft.com/office/powerpoint/2010/main" val="5145825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9B96EE6-1855-4B7D-83D0-BC241FFC1C58}" type="datetimeFigureOut">
              <a:rPr lang="en-IE" smtClean="0"/>
              <a:t>23/11/2023</a:t>
            </a:fld>
            <a:endParaRPr lang="en-IE"/>
          </a:p>
        </p:txBody>
      </p:sp>
      <p:sp>
        <p:nvSpPr>
          <p:cNvPr id="8" name="Footer Placeholder 7"/>
          <p:cNvSpPr>
            <a:spLocks noGrp="1"/>
          </p:cNvSpPr>
          <p:nvPr>
            <p:ph type="ftr" sz="quarter" idx="11"/>
          </p:nvPr>
        </p:nvSpPr>
        <p:spPr/>
        <p:txBody>
          <a:bodyPr/>
          <a:lstStyle/>
          <a:p>
            <a:endParaRPr lang="en-IE"/>
          </a:p>
        </p:txBody>
      </p:sp>
      <p:sp>
        <p:nvSpPr>
          <p:cNvPr id="9" name="Slide Number Placeholder 8"/>
          <p:cNvSpPr>
            <a:spLocks noGrp="1"/>
          </p:cNvSpPr>
          <p:nvPr>
            <p:ph type="sldNum" sz="quarter" idx="12"/>
          </p:nvPr>
        </p:nvSpPr>
        <p:spPr/>
        <p:txBody>
          <a:bodyPr/>
          <a:lstStyle/>
          <a:p>
            <a:fld id="{D266DE1C-3727-4B35-81DE-CDCD0CC6F7A3}" type="slidenum">
              <a:rPr lang="en-IE" smtClean="0"/>
              <a:t>‹#›</a:t>
            </a:fld>
            <a:endParaRPr lang="en-IE"/>
          </a:p>
        </p:txBody>
      </p:sp>
    </p:spTree>
    <p:extLst>
      <p:ext uri="{BB962C8B-B14F-4D97-AF65-F5344CB8AC3E}">
        <p14:creationId xmlns:p14="http://schemas.microsoft.com/office/powerpoint/2010/main" val="2597633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9B96EE6-1855-4B7D-83D0-BC241FFC1C58}" type="datetimeFigureOut">
              <a:rPr lang="en-IE" smtClean="0"/>
              <a:t>23/11/2023</a:t>
            </a:fld>
            <a:endParaRPr lang="en-IE"/>
          </a:p>
        </p:txBody>
      </p:sp>
      <p:sp>
        <p:nvSpPr>
          <p:cNvPr id="4" name="Footer Placeholder 3"/>
          <p:cNvSpPr>
            <a:spLocks noGrp="1"/>
          </p:cNvSpPr>
          <p:nvPr>
            <p:ph type="ftr" sz="quarter" idx="11"/>
          </p:nvPr>
        </p:nvSpPr>
        <p:spPr/>
        <p:txBody>
          <a:bodyPr/>
          <a:lstStyle/>
          <a:p>
            <a:endParaRPr lang="en-IE"/>
          </a:p>
        </p:txBody>
      </p:sp>
      <p:sp>
        <p:nvSpPr>
          <p:cNvPr id="5" name="Slide Number Placeholder 4"/>
          <p:cNvSpPr>
            <a:spLocks noGrp="1"/>
          </p:cNvSpPr>
          <p:nvPr>
            <p:ph type="sldNum" sz="quarter" idx="12"/>
          </p:nvPr>
        </p:nvSpPr>
        <p:spPr/>
        <p:txBody>
          <a:bodyPr/>
          <a:lstStyle/>
          <a:p>
            <a:fld id="{D266DE1C-3727-4B35-81DE-CDCD0CC6F7A3}" type="slidenum">
              <a:rPr lang="en-IE" smtClean="0"/>
              <a:t>‹#›</a:t>
            </a:fld>
            <a:endParaRPr lang="en-IE"/>
          </a:p>
        </p:txBody>
      </p:sp>
    </p:spTree>
    <p:extLst>
      <p:ext uri="{BB962C8B-B14F-4D97-AF65-F5344CB8AC3E}">
        <p14:creationId xmlns:p14="http://schemas.microsoft.com/office/powerpoint/2010/main" val="3118669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9B96EE6-1855-4B7D-83D0-BC241FFC1C58}" type="datetimeFigureOut">
              <a:rPr lang="en-IE" smtClean="0"/>
              <a:t>23/11/2023</a:t>
            </a:fld>
            <a:endParaRPr lang="en-IE"/>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E"/>
          </a:p>
        </p:txBody>
      </p:sp>
      <p:sp>
        <p:nvSpPr>
          <p:cNvPr id="9" name="Slide Number Placeholder 8"/>
          <p:cNvSpPr>
            <a:spLocks noGrp="1"/>
          </p:cNvSpPr>
          <p:nvPr>
            <p:ph type="sldNum" sz="quarter" idx="12"/>
          </p:nvPr>
        </p:nvSpPr>
        <p:spPr/>
        <p:txBody>
          <a:bodyPr/>
          <a:lstStyle/>
          <a:p>
            <a:fld id="{D266DE1C-3727-4B35-81DE-CDCD0CC6F7A3}" type="slidenum">
              <a:rPr lang="en-IE" smtClean="0"/>
              <a:t>‹#›</a:t>
            </a:fld>
            <a:endParaRPr lang="en-IE"/>
          </a:p>
        </p:txBody>
      </p:sp>
    </p:spTree>
    <p:extLst>
      <p:ext uri="{BB962C8B-B14F-4D97-AF65-F5344CB8AC3E}">
        <p14:creationId xmlns:p14="http://schemas.microsoft.com/office/powerpoint/2010/main" val="43271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9B96EE6-1855-4B7D-83D0-BC241FFC1C58}" type="datetimeFigureOut">
              <a:rPr lang="en-IE" smtClean="0"/>
              <a:t>23/11/2023</a:t>
            </a:fld>
            <a:endParaRPr lang="en-IE"/>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E"/>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266DE1C-3727-4B35-81DE-CDCD0CC6F7A3}" type="slidenum">
              <a:rPr lang="en-IE" smtClean="0"/>
              <a:t>‹#›</a:t>
            </a:fld>
            <a:endParaRPr lang="en-IE"/>
          </a:p>
        </p:txBody>
      </p:sp>
    </p:spTree>
    <p:extLst>
      <p:ext uri="{BB962C8B-B14F-4D97-AF65-F5344CB8AC3E}">
        <p14:creationId xmlns:p14="http://schemas.microsoft.com/office/powerpoint/2010/main" val="16759659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9B96EE6-1855-4B7D-83D0-BC241FFC1C58}" type="datetimeFigureOut">
              <a:rPr lang="en-IE" smtClean="0"/>
              <a:t>23/11/2023</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D266DE1C-3727-4B35-81DE-CDCD0CC6F7A3}" type="slidenum">
              <a:rPr lang="en-IE" smtClean="0"/>
              <a:t>‹#›</a:t>
            </a:fld>
            <a:endParaRPr lang="en-IE"/>
          </a:p>
        </p:txBody>
      </p:sp>
    </p:spTree>
    <p:extLst>
      <p:ext uri="{BB962C8B-B14F-4D97-AF65-F5344CB8AC3E}">
        <p14:creationId xmlns:p14="http://schemas.microsoft.com/office/powerpoint/2010/main" val="12952310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B96EE6-1855-4B7D-83D0-BC241FFC1C58}" type="datetimeFigureOut">
              <a:rPr lang="en-IE" smtClean="0"/>
              <a:t>23/11/2023</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D266DE1C-3727-4B35-81DE-CDCD0CC6F7A3}" type="slidenum">
              <a:rPr lang="en-IE" smtClean="0"/>
              <a:t>‹#›</a:t>
            </a:fld>
            <a:endParaRPr lang="en-IE"/>
          </a:p>
        </p:txBody>
      </p:sp>
    </p:spTree>
    <p:extLst>
      <p:ext uri="{BB962C8B-B14F-4D97-AF65-F5344CB8AC3E}">
        <p14:creationId xmlns:p14="http://schemas.microsoft.com/office/powerpoint/2010/main" val="31976523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B96EE6-1855-4B7D-83D0-BC241FFC1C58}" type="datetimeFigureOut">
              <a:rPr lang="en-IE" smtClean="0"/>
              <a:t>23/11/2023</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D266DE1C-3727-4B35-81DE-CDCD0CC6F7A3}" type="slidenum">
              <a:rPr lang="en-IE" smtClean="0"/>
              <a:t>‹#›</a:t>
            </a:fld>
            <a:endParaRPr lang="en-IE"/>
          </a:p>
        </p:txBody>
      </p:sp>
    </p:spTree>
    <p:extLst>
      <p:ext uri="{BB962C8B-B14F-4D97-AF65-F5344CB8AC3E}">
        <p14:creationId xmlns:p14="http://schemas.microsoft.com/office/powerpoint/2010/main" val="965133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el, Tex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609600" y="0"/>
            <a:ext cx="10972800" cy="838200"/>
          </a:xfrm>
        </p:spPr>
        <p:txBody>
          <a:bodyPr/>
          <a:lstStyle/>
          <a:p>
            <a:r>
              <a:rPr lang="de-DE"/>
              <a:t>Mastertitelformat bearbeiten</a:t>
            </a:r>
          </a:p>
        </p:txBody>
      </p:sp>
      <p:sp>
        <p:nvSpPr>
          <p:cNvPr id="3" name="Textplatzhalter 2"/>
          <p:cNvSpPr>
            <a:spLocks noGrp="1"/>
          </p:cNvSpPr>
          <p:nvPr>
            <p:ph type="body" sz="half" idx="1"/>
          </p:nvPr>
        </p:nvSpPr>
        <p:spPr>
          <a:xfrm>
            <a:off x="1117600" y="1371600"/>
            <a:ext cx="5080000" cy="4191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6400800" y="1371600"/>
            <a:ext cx="5080000" cy="4191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a:xfrm>
            <a:off x="609600" y="6534150"/>
            <a:ext cx="2844800" cy="476250"/>
          </a:xfrm>
        </p:spPr>
        <p:txBody>
          <a:bodyPr/>
          <a:lstStyle>
            <a:lvl1pPr>
              <a:defRPr/>
            </a:lvl1pPr>
          </a:lstStyle>
          <a:p>
            <a:pPr>
              <a:defRPr/>
            </a:pPr>
            <a:endParaRPr lang="en-GB"/>
          </a:p>
        </p:txBody>
      </p:sp>
      <p:sp>
        <p:nvSpPr>
          <p:cNvPr id="6" name="Fußzeilenplatzhalter 5"/>
          <p:cNvSpPr>
            <a:spLocks noGrp="1"/>
          </p:cNvSpPr>
          <p:nvPr>
            <p:ph type="ftr" sz="quarter" idx="11"/>
          </p:nvPr>
        </p:nvSpPr>
        <p:spPr>
          <a:xfrm>
            <a:off x="4165600" y="6534150"/>
            <a:ext cx="3860800" cy="476250"/>
          </a:xfrm>
        </p:spPr>
        <p:txBody>
          <a:bodyPr/>
          <a:lstStyle>
            <a:lvl1pPr>
              <a:defRPr/>
            </a:lvl1pPr>
          </a:lstStyle>
          <a:p>
            <a:pPr>
              <a:defRPr/>
            </a:pPr>
            <a:endParaRPr lang="en-GB"/>
          </a:p>
        </p:txBody>
      </p:sp>
      <p:sp>
        <p:nvSpPr>
          <p:cNvPr id="7" name="Foliennummernplatzhalter 6"/>
          <p:cNvSpPr>
            <a:spLocks noGrp="1"/>
          </p:cNvSpPr>
          <p:nvPr>
            <p:ph type="sldNum" sz="quarter" idx="12"/>
          </p:nvPr>
        </p:nvSpPr>
        <p:spPr>
          <a:xfrm>
            <a:off x="8737600" y="6534150"/>
            <a:ext cx="2844800" cy="476250"/>
          </a:xfrm>
        </p:spPr>
        <p:txBody>
          <a:bodyPr/>
          <a:lstStyle>
            <a:lvl1pPr>
              <a:defRPr/>
            </a:lvl1pPr>
          </a:lstStyle>
          <a:p>
            <a:pPr>
              <a:defRPr/>
            </a:pPr>
            <a:fld id="{C3B3B256-3E14-487E-AB5F-DC6F41B2DFE2}" type="slidenum">
              <a:rPr lang="en-US"/>
              <a:pPr>
                <a:defRPr/>
              </a:pPr>
              <a:t>‹#›</a:t>
            </a:fld>
            <a:endParaRPr lang="en-US"/>
          </a:p>
        </p:txBody>
      </p:sp>
    </p:spTree>
    <p:extLst>
      <p:ext uri="{BB962C8B-B14F-4D97-AF65-F5344CB8AC3E}">
        <p14:creationId xmlns:p14="http://schemas.microsoft.com/office/powerpoint/2010/main" val="31168317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el und Tabelle">
    <p:spTree>
      <p:nvGrpSpPr>
        <p:cNvPr id="1" name=""/>
        <p:cNvGrpSpPr/>
        <p:nvPr/>
      </p:nvGrpSpPr>
      <p:grpSpPr>
        <a:xfrm>
          <a:off x="0" y="0"/>
          <a:ext cx="0" cy="0"/>
          <a:chOff x="0" y="0"/>
          <a:chExt cx="0" cy="0"/>
        </a:xfrm>
      </p:grpSpPr>
      <p:sp>
        <p:nvSpPr>
          <p:cNvPr id="2" name="Titel 1"/>
          <p:cNvSpPr>
            <a:spLocks noGrp="1"/>
          </p:cNvSpPr>
          <p:nvPr>
            <p:ph type="title"/>
          </p:nvPr>
        </p:nvSpPr>
        <p:spPr>
          <a:xfrm>
            <a:off x="609600" y="0"/>
            <a:ext cx="10972800" cy="838200"/>
          </a:xfrm>
        </p:spPr>
        <p:txBody>
          <a:bodyPr/>
          <a:lstStyle/>
          <a:p>
            <a:r>
              <a:rPr lang="de-DE"/>
              <a:t>Mastertitelformat bearbeiten</a:t>
            </a:r>
          </a:p>
        </p:txBody>
      </p:sp>
      <p:sp>
        <p:nvSpPr>
          <p:cNvPr id="3" name="Tabellenplatzhalter 2"/>
          <p:cNvSpPr>
            <a:spLocks noGrp="1"/>
          </p:cNvSpPr>
          <p:nvPr>
            <p:ph type="tbl" idx="1"/>
          </p:nvPr>
        </p:nvSpPr>
        <p:spPr>
          <a:xfrm>
            <a:off x="1117600" y="1371600"/>
            <a:ext cx="10363200" cy="4191000"/>
          </a:xfrm>
        </p:spPr>
        <p:txBody>
          <a:bodyPr rtlCol="0">
            <a:normAutofit/>
          </a:bodyPr>
          <a:lstStyle/>
          <a:p>
            <a:pPr lvl="0"/>
            <a:endParaRPr lang="de-DE" noProof="0"/>
          </a:p>
        </p:txBody>
      </p:sp>
      <p:sp>
        <p:nvSpPr>
          <p:cNvPr id="4" name="Datumsplatzhalter 3"/>
          <p:cNvSpPr>
            <a:spLocks noGrp="1"/>
          </p:cNvSpPr>
          <p:nvPr>
            <p:ph type="dt" sz="half" idx="10"/>
          </p:nvPr>
        </p:nvSpPr>
        <p:spPr>
          <a:xfrm>
            <a:off x="609600" y="6534150"/>
            <a:ext cx="2844800" cy="476250"/>
          </a:xfrm>
        </p:spPr>
        <p:txBody>
          <a:bodyPr/>
          <a:lstStyle>
            <a:lvl1pPr>
              <a:defRPr/>
            </a:lvl1pPr>
          </a:lstStyle>
          <a:p>
            <a:pPr>
              <a:defRPr/>
            </a:pPr>
            <a:endParaRPr lang="en-GB"/>
          </a:p>
        </p:txBody>
      </p:sp>
      <p:sp>
        <p:nvSpPr>
          <p:cNvPr id="5" name="Fußzeilenplatzhalter 4"/>
          <p:cNvSpPr>
            <a:spLocks noGrp="1"/>
          </p:cNvSpPr>
          <p:nvPr>
            <p:ph type="ftr" sz="quarter" idx="11"/>
          </p:nvPr>
        </p:nvSpPr>
        <p:spPr>
          <a:xfrm>
            <a:off x="4165600" y="6534150"/>
            <a:ext cx="3860800" cy="476250"/>
          </a:xfrm>
        </p:spPr>
        <p:txBody>
          <a:bodyPr/>
          <a:lstStyle>
            <a:lvl1pPr>
              <a:defRPr/>
            </a:lvl1pPr>
          </a:lstStyle>
          <a:p>
            <a:pPr>
              <a:defRPr/>
            </a:pPr>
            <a:endParaRPr lang="en-GB"/>
          </a:p>
        </p:txBody>
      </p:sp>
      <p:sp>
        <p:nvSpPr>
          <p:cNvPr id="6" name="Foliennummernplatzhalter 5"/>
          <p:cNvSpPr>
            <a:spLocks noGrp="1"/>
          </p:cNvSpPr>
          <p:nvPr>
            <p:ph type="sldNum" sz="quarter" idx="12"/>
          </p:nvPr>
        </p:nvSpPr>
        <p:spPr>
          <a:xfrm>
            <a:off x="8737600" y="6534150"/>
            <a:ext cx="2844800" cy="476250"/>
          </a:xfrm>
        </p:spPr>
        <p:txBody>
          <a:bodyPr/>
          <a:lstStyle>
            <a:lvl1pPr>
              <a:defRPr/>
            </a:lvl1pPr>
          </a:lstStyle>
          <a:p>
            <a:pPr>
              <a:defRPr/>
            </a:pPr>
            <a:fld id="{43EC9838-0CEB-4C8F-B8BE-A6F4235E2D68}" type="slidenum">
              <a:rPr lang="en-US"/>
              <a:pPr>
                <a:defRPr/>
              </a:pPr>
              <a:t>‹#›</a:t>
            </a:fld>
            <a:endParaRPr lang="en-US"/>
          </a:p>
        </p:txBody>
      </p:sp>
    </p:spTree>
    <p:extLst>
      <p:ext uri="{BB962C8B-B14F-4D97-AF65-F5344CB8AC3E}">
        <p14:creationId xmlns:p14="http://schemas.microsoft.com/office/powerpoint/2010/main" val="484690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9B96EE6-1855-4B7D-83D0-BC241FFC1C58}" type="datetimeFigureOut">
              <a:rPr lang="en-IE" smtClean="0"/>
              <a:t>23/11/2023</a:t>
            </a:fld>
            <a:endParaRPr lang="en-IE"/>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E"/>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266DE1C-3727-4B35-81DE-CDCD0CC6F7A3}" type="slidenum">
              <a:rPr lang="en-IE" smtClean="0"/>
              <a:t>‹#›</a:t>
            </a:fld>
            <a:endParaRPr lang="en-IE"/>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7923304"/>
      </p:ext>
    </p:extLst>
  </p:cSld>
  <p:clrMap bg1="lt1" tx1="dk1" bg2="lt2" tx2="dk2" accent1="accent1" accent2="accent2" accent3="accent3" accent4="accent4" accent5="accent5" accent6="accent6" hlink="hlink" folHlink="folHlink"/>
  <p:sldLayoutIdLst>
    <p:sldLayoutId id="2147483784"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 id="2147483795" r:id="rId12"/>
    <p:sldLayoutId id="2147483796" r:id="rId13"/>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jpe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hyperlink" Target="http://openpsychometrics.org/tests/OEJTS/"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25.png"/><Relationship Id="rId4" Type="http://schemas.openxmlformats.org/officeDocument/2006/relationships/oleObject" Target="../embeddings/oleObject2.bin"/></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79.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8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20.xml"/><Relationship Id="rId1" Type="http://schemas.openxmlformats.org/officeDocument/2006/relationships/slideLayout" Target="../slideLayouts/slideLayout9.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2421228"/>
            <a:ext cx="10058400" cy="1633427"/>
          </a:xfrm>
        </p:spPr>
        <p:txBody>
          <a:bodyPr>
            <a:normAutofit/>
          </a:bodyPr>
          <a:lstStyle/>
          <a:p>
            <a:pPr algn="ctr"/>
            <a:r>
              <a:rPr lang="en-IE" sz="4000" dirty="0"/>
              <a:t>Introduction to Personality</a:t>
            </a:r>
          </a:p>
        </p:txBody>
      </p:sp>
      <p:sp>
        <p:nvSpPr>
          <p:cNvPr id="3" name="Subtitle 2"/>
          <p:cNvSpPr>
            <a:spLocks noGrp="1"/>
          </p:cNvSpPr>
          <p:nvPr>
            <p:ph type="subTitle" idx="1"/>
          </p:nvPr>
        </p:nvSpPr>
        <p:spPr>
          <a:xfrm>
            <a:off x="1097280" y="4970775"/>
            <a:ext cx="10058400" cy="1143000"/>
          </a:xfrm>
        </p:spPr>
        <p:txBody>
          <a:bodyPr/>
          <a:lstStyle/>
          <a:p>
            <a:r>
              <a:rPr lang="en-IE" dirty="0"/>
              <a:t>Personality and leadership</a:t>
            </a:r>
          </a:p>
          <a:p>
            <a:r>
              <a:rPr lang="en-IE" dirty="0" err="1"/>
              <a:t>Dr.</a:t>
            </a:r>
            <a:r>
              <a:rPr lang="en-IE" dirty="0"/>
              <a:t> Mary Kinahan</a:t>
            </a:r>
          </a:p>
        </p:txBody>
      </p:sp>
      <p:pic>
        <p:nvPicPr>
          <p:cNvPr id="4" name="Picture 2" descr="Image result for tu dublin logo">
            <a:extLst>
              <a:ext uri="{FF2B5EF4-FFF2-40B4-BE49-F238E27FC236}">
                <a16:creationId xmlns:a16="http://schemas.microsoft.com/office/drawing/2014/main" id="{C84197F0-5B93-4345-9B3D-511B6B839D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96425" y="0"/>
            <a:ext cx="2695575" cy="1695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3143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E8E77-05A1-4240-9C6B-745398D712C1}"/>
              </a:ext>
            </a:extLst>
          </p:cNvPr>
          <p:cNvSpPr>
            <a:spLocks noGrp="1"/>
          </p:cNvSpPr>
          <p:nvPr>
            <p:ph type="title"/>
          </p:nvPr>
        </p:nvSpPr>
        <p:spPr/>
        <p:txBody>
          <a:bodyPr/>
          <a:lstStyle/>
          <a:p>
            <a:r>
              <a:rPr lang="en-GB" dirty="0"/>
              <a:t>Learning Outcomes</a:t>
            </a:r>
          </a:p>
        </p:txBody>
      </p:sp>
      <p:sp>
        <p:nvSpPr>
          <p:cNvPr id="3" name="Content Placeholder 2">
            <a:extLst>
              <a:ext uri="{FF2B5EF4-FFF2-40B4-BE49-F238E27FC236}">
                <a16:creationId xmlns:a16="http://schemas.microsoft.com/office/drawing/2014/main" id="{5033AF43-E976-4D96-8E27-5D7D9B4EED81}"/>
              </a:ext>
            </a:extLst>
          </p:cNvPr>
          <p:cNvSpPr>
            <a:spLocks noGrp="1"/>
          </p:cNvSpPr>
          <p:nvPr>
            <p:ph idx="1"/>
          </p:nvPr>
        </p:nvSpPr>
        <p:spPr/>
        <p:txBody>
          <a:bodyPr/>
          <a:lstStyle/>
          <a:p>
            <a:r>
              <a:rPr lang="en-GB" dirty="0"/>
              <a:t>1. Introduce you to Personality Theories </a:t>
            </a:r>
          </a:p>
          <a:p>
            <a:r>
              <a:rPr lang="en-GB" dirty="0"/>
              <a:t>2. Personality and Psychometrics</a:t>
            </a:r>
          </a:p>
          <a:p>
            <a:r>
              <a:rPr lang="en-GB" dirty="0"/>
              <a:t>3. Exploring your interpersonal differences through MBTI and IPIP Big Five </a:t>
            </a:r>
          </a:p>
          <a:p>
            <a:endParaRPr lang="en-GB" dirty="0"/>
          </a:p>
        </p:txBody>
      </p:sp>
      <p:pic>
        <p:nvPicPr>
          <p:cNvPr id="4" name="Picture 2" descr="Image result for tu dublin logo">
            <a:extLst>
              <a:ext uri="{FF2B5EF4-FFF2-40B4-BE49-F238E27FC236}">
                <a16:creationId xmlns:a16="http://schemas.microsoft.com/office/drawing/2014/main" id="{46903964-164F-48D0-AE1F-564A80FA4B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96425" y="0"/>
            <a:ext cx="2695575" cy="1695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510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el 1"/>
          <p:cNvSpPr>
            <a:spLocks noGrp="1"/>
          </p:cNvSpPr>
          <p:nvPr>
            <p:ph type="title"/>
          </p:nvPr>
        </p:nvSpPr>
        <p:spPr>
          <a:xfrm>
            <a:off x="1943100" y="277814"/>
            <a:ext cx="8686800" cy="788987"/>
          </a:xfrm>
        </p:spPr>
        <p:txBody>
          <a:bodyPr>
            <a:normAutofit/>
          </a:bodyPr>
          <a:lstStyle/>
          <a:p>
            <a:pPr marL="320040" indent="-320040">
              <a:buClr>
                <a:schemeClr val="accent6">
                  <a:lumMod val="75000"/>
                </a:schemeClr>
              </a:buClr>
              <a:defRPr/>
            </a:pPr>
            <a:r>
              <a:rPr lang="de-DE" sz="3900"/>
              <a:t>Individual Differences</a:t>
            </a:r>
          </a:p>
        </p:txBody>
      </p:sp>
      <p:pic>
        <p:nvPicPr>
          <p:cNvPr id="18436" name="Picture 5" descr="280px-Diana,_Princess_of_Wal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8051" y="1030288"/>
            <a:ext cx="1857375"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0" name="Picture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747125" y="3773488"/>
            <a:ext cx="1828800" cy="249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1" name="Picture 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412037" y="4294188"/>
            <a:ext cx="1838325" cy="248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2" name="Picture 3"/>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714501" y="1470026"/>
            <a:ext cx="2162175" cy="2112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a:extLst>
              <a:ext uri="{FF2B5EF4-FFF2-40B4-BE49-F238E27FC236}">
                <a16:creationId xmlns:a16="http://schemas.microsoft.com/office/drawing/2014/main" id="{CEDBD255-D72C-40DA-A463-8365D90020E7}"/>
              </a:ext>
            </a:extLst>
          </p:cNvPr>
          <p:cNvPicPr>
            <a:picLocks noChangeAspect="1"/>
          </p:cNvPicPr>
          <p:nvPr/>
        </p:nvPicPr>
        <p:blipFill>
          <a:blip r:embed="rId7"/>
          <a:stretch>
            <a:fillRect/>
          </a:stretch>
        </p:blipFill>
        <p:spPr>
          <a:xfrm>
            <a:off x="6886576" y="588962"/>
            <a:ext cx="3799840" cy="2849880"/>
          </a:xfrm>
          <a:prstGeom prst="rect">
            <a:avLst/>
          </a:prstGeom>
        </p:spPr>
      </p:pic>
      <p:pic>
        <p:nvPicPr>
          <p:cNvPr id="5122" name="Picture 2" descr="Mike Pence reacts to new VP opponent Kamala Harris">
            <a:extLst>
              <a:ext uri="{FF2B5EF4-FFF2-40B4-BE49-F238E27FC236}">
                <a16:creationId xmlns:a16="http://schemas.microsoft.com/office/drawing/2014/main" id="{D47DF8CB-83DF-46DF-ABA5-D248409F289F}"/>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409708" y="3867466"/>
            <a:ext cx="4070336" cy="27127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97934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a:xfrm>
            <a:off x="1981200" y="274638"/>
            <a:ext cx="7467600" cy="715962"/>
          </a:xfrm>
        </p:spPr>
        <p:txBody>
          <a:bodyPr>
            <a:normAutofit fontScale="90000"/>
          </a:bodyPr>
          <a:lstStyle/>
          <a:p>
            <a:pPr marL="320040" indent="-320040">
              <a:buClr>
                <a:schemeClr val="accent6">
                  <a:lumMod val="75000"/>
                </a:schemeClr>
              </a:buClr>
              <a:defRPr/>
            </a:pPr>
            <a:r>
              <a:rPr lang="en-US" dirty="0"/>
              <a:t>PERSONALITY  - KEY QUESTIONS</a:t>
            </a:r>
          </a:p>
        </p:txBody>
      </p:sp>
      <p:sp>
        <p:nvSpPr>
          <p:cNvPr id="184323" name="Rectangle 3"/>
          <p:cNvSpPr>
            <a:spLocks noGrp="1" noChangeArrowheads="1"/>
          </p:cNvSpPr>
          <p:nvPr>
            <p:ph idx="1"/>
          </p:nvPr>
        </p:nvSpPr>
        <p:spPr>
          <a:xfrm>
            <a:off x="1131570" y="1832610"/>
            <a:ext cx="10309860" cy="4495800"/>
          </a:xfrm>
        </p:spPr>
        <p:txBody>
          <a:bodyPr/>
          <a:lstStyle/>
          <a:p>
            <a:pPr indent="-182563">
              <a:lnSpc>
                <a:spcPct val="70000"/>
              </a:lnSpc>
              <a:buClr>
                <a:srgbClr val="6A5650"/>
              </a:buClr>
            </a:pPr>
            <a:r>
              <a:rPr lang="en-US" dirty="0">
                <a:solidFill>
                  <a:srgbClr val="404040"/>
                </a:solidFill>
              </a:rPr>
              <a:t>What are the elements that make up a person's personality?</a:t>
            </a:r>
          </a:p>
          <a:p>
            <a:pPr indent="-182563">
              <a:lnSpc>
                <a:spcPct val="70000"/>
              </a:lnSpc>
              <a:buClr>
                <a:srgbClr val="6A5650"/>
              </a:buClr>
            </a:pPr>
            <a:endParaRPr lang="en-US" dirty="0">
              <a:solidFill>
                <a:srgbClr val="404040"/>
              </a:solidFill>
            </a:endParaRPr>
          </a:p>
          <a:p>
            <a:pPr indent="-182563">
              <a:lnSpc>
                <a:spcPct val="70000"/>
              </a:lnSpc>
              <a:buClr>
                <a:srgbClr val="6A5650"/>
              </a:buClr>
            </a:pPr>
            <a:r>
              <a:rPr lang="en-US" dirty="0">
                <a:solidFill>
                  <a:srgbClr val="404040"/>
                </a:solidFill>
              </a:rPr>
              <a:t>How should we best describe the whole person?</a:t>
            </a:r>
          </a:p>
          <a:p>
            <a:pPr indent="-182563">
              <a:lnSpc>
                <a:spcPct val="70000"/>
              </a:lnSpc>
              <a:buClr>
                <a:srgbClr val="6A5650"/>
              </a:buClr>
            </a:pPr>
            <a:endParaRPr lang="en-US" dirty="0">
              <a:solidFill>
                <a:srgbClr val="404040"/>
              </a:solidFill>
            </a:endParaRPr>
          </a:p>
          <a:p>
            <a:pPr indent="-182563">
              <a:lnSpc>
                <a:spcPct val="70000"/>
              </a:lnSpc>
              <a:buClr>
                <a:srgbClr val="6A5650"/>
              </a:buClr>
            </a:pPr>
            <a:r>
              <a:rPr lang="en-US" dirty="0">
                <a:solidFill>
                  <a:srgbClr val="404040"/>
                </a:solidFill>
              </a:rPr>
              <a:t>Are people consistent, or do they change over time and between different situations?</a:t>
            </a:r>
          </a:p>
          <a:p>
            <a:pPr indent="-182563">
              <a:lnSpc>
                <a:spcPct val="70000"/>
              </a:lnSpc>
              <a:buClr>
                <a:srgbClr val="6A5650"/>
              </a:buClr>
            </a:pPr>
            <a:endParaRPr lang="en-US" dirty="0">
              <a:solidFill>
                <a:srgbClr val="404040"/>
              </a:solidFill>
            </a:endParaRPr>
          </a:p>
          <a:p>
            <a:pPr indent="-182563">
              <a:lnSpc>
                <a:spcPct val="70000"/>
              </a:lnSpc>
              <a:buClr>
                <a:srgbClr val="6A5650"/>
              </a:buClr>
            </a:pPr>
            <a:r>
              <a:rPr lang="en-US" dirty="0">
                <a:solidFill>
                  <a:srgbClr val="404040"/>
                </a:solidFill>
              </a:rPr>
              <a:t>What are the key influences on personality?</a:t>
            </a:r>
          </a:p>
          <a:p>
            <a:pPr indent="-182563">
              <a:lnSpc>
                <a:spcPct val="70000"/>
              </a:lnSpc>
              <a:buClr>
                <a:srgbClr val="6A5650"/>
              </a:buClr>
              <a:buNone/>
            </a:pPr>
            <a:endParaRPr lang="en-US" dirty="0">
              <a:solidFill>
                <a:srgbClr val="404040"/>
              </a:solidFill>
            </a:endParaRPr>
          </a:p>
          <a:p>
            <a:pPr indent="-182563">
              <a:lnSpc>
                <a:spcPct val="70000"/>
              </a:lnSpc>
              <a:buClr>
                <a:srgbClr val="6A5650"/>
              </a:buClr>
            </a:pPr>
            <a:r>
              <a:rPr lang="en-US" dirty="0">
                <a:solidFill>
                  <a:srgbClr val="404040"/>
                </a:solidFill>
              </a:rPr>
              <a:t>How can we help people to “improve” their personalities?</a:t>
            </a:r>
          </a:p>
        </p:txBody>
      </p:sp>
      <p:pic>
        <p:nvPicPr>
          <p:cNvPr id="4" name="Picture 2" descr="Image result for tu dublin logo">
            <a:extLst>
              <a:ext uri="{FF2B5EF4-FFF2-40B4-BE49-F238E27FC236}">
                <a16:creationId xmlns:a16="http://schemas.microsoft.com/office/drawing/2014/main" id="{F7BCCD48-90DB-461C-AC39-269B795D98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96425" y="0"/>
            <a:ext cx="2695575" cy="1695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17197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184323">
                                            <p:txEl>
                                              <p:pRg st="0" end="0"/>
                                            </p:txEl>
                                          </p:spTgt>
                                        </p:tgtEl>
                                        <p:attrNameLst>
                                          <p:attrName>style.visibility</p:attrName>
                                        </p:attrNameLst>
                                      </p:cBhvr>
                                      <p:to>
                                        <p:strVal val="visible"/>
                                      </p:to>
                                    </p:set>
                                    <p:animEffect transition="in" filter="diamond(in)">
                                      <p:cBhvr>
                                        <p:cTn id="7" dur="2000"/>
                                        <p:tgtEl>
                                          <p:spTgt spid="1843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nodeType="clickEffect">
                                  <p:stCondLst>
                                    <p:cond delay="0"/>
                                  </p:stCondLst>
                                  <p:childTnLst>
                                    <p:set>
                                      <p:cBhvr>
                                        <p:cTn id="11" dur="1" fill="hold">
                                          <p:stCondLst>
                                            <p:cond delay="0"/>
                                          </p:stCondLst>
                                        </p:cTn>
                                        <p:tgtEl>
                                          <p:spTgt spid="184323">
                                            <p:txEl>
                                              <p:pRg st="2" end="2"/>
                                            </p:txEl>
                                          </p:spTgt>
                                        </p:tgtEl>
                                        <p:attrNameLst>
                                          <p:attrName>style.visibility</p:attrName>
                                        </p:attrNameLst>
                                      </p:cBhvr>
                                      <p:to>
                                        <p:strVal val="visible"/>
                                      </p:to>
                                    </p:set>
                                    <p:animEffect transition="in" filter="diamond(in)">
                                      <p:cBhvr>
                                        <p:cTn id="12" dur="2000"/>
                                        <p:tgtEl>
                                          <p:spTgt spid="18432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nodeType="clickEffect">
                                  <p:stCondLst>
                                    <p:cond delay="0"/>
                                  </p:stCondLst>
                                  <p:childTnLst>
                                    <p:set>
                                      <p:cBhvr>
                                        <p:cTn id="16" dur="1" fill="hold">
                                          <p:stCondLst>
                                            <p:cond delay="0"/>
                                          </p:stCondLst>
                                        </p:cTn>
                                        <p:tgtEl>
                                          <p:spTgt spid="184323">
                                            <p:txEl>
                                              <p:pRg st="4" end="4"/>
                                            </p:txEl>
                                          </p:spTgt>
                                        </p:tgtEl>
                                        <p:attrNameLst>
                                          <p:attrName>style.visibility</p:attrName>
                                        </p:attrNameLst>
                                      </p:cBhvr>
                                      <p:to>
                                        <p:strVal val="visible"/>
                                      </p:to>
                                    </p:set>
                                    <p:animEffect transition="in" filter="diamond(in)">
                                      <p:cBhvr>
                                        <p:cTn id="17" dur="2000"/>
                                        <p:tgtEl>
                                          <p:spTgt spid="184323">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8" presetClass="entr" presetSubtype="16" fill="hold" nodeType="clickEffect">
                                  <p:stCondLst>
                                    <p:cond delay="0"/>
                                  </p:stCondLst>
                                  <p:childTnLst>
                                    <p:set>
                                      <p:cBhvr>
                                        <p:cTn id="21" dur="1" fill="hold">
                                          <p:stCondLst>
                                            <p:cond delay="0"/>
                                          </p:stCondLst>
                                        </p:cTn>
                                        <p:tgtEl>
                                          <p:spTgt spid="184323">
                                            <p:txEl>
                                              <p:pRg st="6" end="6"/>
                                            </p:txEl>
                                          </p:spTgt>
                                        </p:tgtEl>
                                        <p:attrNameLst>
                                          <p:attrName>style.visibility</p:attrName>
                                        </p:attrNameLst>
                                      </p:cBhvr>
                                      <p:to>
                                        <p:strVal val="visible"/>
                                      </p:to>
                                    </p:set>
                                    <p:animEffect transition="in" filter="diamond(in)">
                                      <p:cBhvr>
                                        <p:cTn id="22" dur="2000"/>
                                        <p:tgtEl>
                                          <p:spTgt spid="184323">
                                            <p:txEl>
                                              <p:pRg st="6" end="6"/>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8" presetClass="entr" presetSubtype="16" fill="hold" nodeType="clickEffect">
                                  <p:stCondLst>
                                    <p:cond delay="0"/>
                                  </p:stCondLst>
                                  <p:childTnLst>
                                    <p:set>
                                      <p:cBhvr>
                                        <p:cTn id="26" dur="1" fill="hold">
                                          <p:stCondLst>
                                            <p:cond delay="0"/>
                                          </p:stCondLst>
                                        </p:cTn>
                                        <p:tgtEl>
                                          <p:spTgt spid="184323">
                                            <p:txEl>
                                              <p:pRg st="8" end="8"/>
                                            </p:txEl>
                                          </p:spTgt>
                                        </p:tgtEl>
                                        <p:attrNameLst>
                                          <p:attrName>style.visibility</p:attrName>
                                        </p:attrNameLst>
                                      </p:cBhvr>
                                      <p:to>
                                        <p:strVal val="visible"/>
                                      </p:to>
                                    </p:set>
                                    <p:animEffect transition="in" filter="diamond(in)">
                                      <p:cBhvr>
                                        <p:cTn id="27" dur="2000"/>
                                        <p:tgtEl>
                                          <p:spTgt spid="18432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Oval 4"/>
          <p:cNvSpPr>
            <a:spLocks noChangeArrowheads="1"/>
          </p:cNvSpPr>
          <p:nvPr/>
        </p:nvSpPr>
        <p:spPr bwMode="auto">
          <a:xfrm>
            <a:off x="4805364" y="4864101"/>
            <a:ext cx="2579687" cy="1349375"/>
          </a:xfrm>
          <a:prstGeom prst="ellipse">
            <a:avLst/>
          </a:prstGeom>
          <a:solidFill>
            <a:schemeClr val="accent1"/>
          </a:solidFill>
          <a:ln w="9525">
            <a:solidFill>
              <a:schemeClr val="tx1"/>
            </a:solidFill>
            <a:round/>
            <a:headEnd/>
            <a:tailEnd/>
          </a:ln>
        </p:spPr>
        <p:txBody>
          <a:bodyPr wrap="none" anchor="ctr"/>
          <a:lstStyle/>
          <a:p>
            <a:pPr algn="ctr" eaLnBrk="1" hangingPunct="1"/>
            <a:r>
              <a:rPr lang="en-IE"/>
              <a:t>Personality</a:t>
            </a:r>
            <a:endParaRPr lang="en-GB"/>
          </a:p>
        </p:txBody>
      </p:sp>
      <p:sp>
        <p:nvSpPr>
          <p:cNvPr id="21507" name="Rectangle 5"/>
          <p:cNvSpPr>
            <a:spLocks noChangeArrowheads="1"/>
          </p:cNvSpPr>
          <p:nvPr/>
        </p:nvSpPr>
        <p:spPr bwMode="auto">
          <a:xfrm>
            <a:off x="2093913" y="2373313"/>
            <a:ext cx="2343150" cy="1511300"/>
          </a:xfrm>
          <a:prstGeom prst="rect">
            <a:avLst/>
          </a:prstGeom>
          <a:solidFill>
            <a:srgbClr val="FF0000"/>
          </a:solidFill>
          <a:ln w="9525">
            <a:solidFill>
              <a:schemeClr val="tx1"/>
            </a:solidFill>
            <a:miter lim="800000"/>
            <a:headEnd/>
            <a:tailEnd/>
          </a:ln>
        </p:spPr>
        <p:txBody>
          <a:bodyPr wrap="none" anchor="ctr"/>
          <a:lstStyle/>
          <a:p>
            <a:pPr algn="ctr" eaLnBrk="1" hangingPunct="1"/>
            <a:r>
              <a:rPr lang="en-IE" b="1"/>
              <a:t>Genetic influences </a:t>
            </a:r>
          </a:p>
          <a:p>
            <a:pPr algn="ctr" eaLnBrk="1" hangingPunct="1"/>
            <a:r>
              <a:rPr lang="en-IE" b="1"/>
              <a:t>(Heredity)</a:t>
            </a:r>
            <a:endParaRPr lang="en-GB" b="1"/>
          </a:p>
        </p:txBody>
      </p:sp>
      <p:sp>
        <p:nvSpPr>
          <p:cNvPr id="21508" name="Rectangle 6"/>
          <p:cNvSpPr>
            <a:spLocks noChangeArrowheads="1"/>
          </p:cNvSpPr>
          <p:nvPr/>
        </p:nvSpPr>
        <p:spPr bwMode="auto">
          <a:xfrm>
            <a:off x="7766050" y="2373313"/>
            <a:ext cx="2343150" cy="1511300"/>
          </a:xfrm>
          <a:prstGeom prst="rect">
            <a:avLst/>
          </a:prstGeom>
          <a:solidFill>
            <a:srgbClr val="9900CC"/>
          </a:solidFill>
          <a:ln w="9525">
            <a:solidFill>
              <a:schemeClr val="tx1"/>
            </a:solidFill>
            <a:miter lim="800000"/>
            <a:headEnd/>
            <a:tailEnd/>
          </a:ln>
        </p:spPr>
        <p:txBody>
          <a:bodyPr wrap="none" anchor="ctr"/>
          <a:lstStyle/>
          <a:p>
            <a:pPr algn="ctr" eaLnBrk="1" hangingPunct="1"/>
            <a:r>
              <a:rPr lang="en-IE" b="1"/>
              <a:t>Environmental </a:t>
            </a:r>
          </a:p>
          <a:p>
            <a:pPr algn="ctr" eaLnBrk="1" hangingPunct="1"/>
            <a:r>
              <a:rPr lang="en-IE" b="1"/>
              <a:t>influences</a:t>
            </a:r>
          </a:p>
          <a:p>
            <a:pPr algn="ctr" eaLnBrk="1" hangingPunct="1">
              <a:buFontTx/>
              <a:buChar char="-"/>
            </a:pPr>
            <a:r>
              <a:rPr lang="en-IE"/>
              <a:t> </a:t>
            </a:r>
            <a:r>
              <a:rPr lang="en-IE" sz="1200"/>
              <a:t>Family </a:t>
            </a:r>
          </a:p>
          <a:p>
            <a:pPr algn="ctr" eaLnBrk="1" hangingPunct="1">
              <a:buFontTx/>
              <a:buChar char="-"/>
            </a:pPr>
            <a:r>
              <a:rPr lang="en-IE" sz="1200"/>
              <a:t> Society, Community &amp; Culture</a:t>
            </a:r>
          </a:p>
          <a:p>
            <a:pPr algn="ctr" eaLnBrk="1" hangingPunct="1">
              <a:buFontTx/>
              <a:buChar char="-"/>
            </a:pPr>
            <a:r>
              <a:rPr lang="en-IE" sz="1200"/>
              <a:t> Experience</a:t>
            </a:r>
            <a:endParaRPr lang="en-GB" sz="1200"/>
          </a:p>
        </p:txBody>
      </p:sp>
      <p:sp>
        <p:nvSpPr>
          <p:cNvPr id="21509" name="AutoShape 8"/>
          <p:cNvSpPr>
            <a:spLocks noChangeArrowheads="1"/>
          </p:cNvSpPr>
          <p:nvPr/>
        </p:nvSpPr>
        <p:spPr bwMode="auto">
          <a:xfrm flipV="1">
            <a:off x="3155950" y="3887788"/>
            <a:ext cx="1633538" cy="22860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17694720 60000 65536"/>
              <a:gd name="T9" fmla="*/ 5898240 60000 65536"/>
              <a:gd name="T10" fmla="*/ 5898240 60000 65536"/>
              <a:gd name="T11" fmla="*/ 0 60000 65536"/>
              <a:gd name="T12" fmla="*/ 12427 w 21600"/>
              <a:gd name="T13" fmla="*/ 3660 h 21600"/>
              <a:gd name="T14" fmla="*/ 19019 w 21600"/>
              <a:gd name="T15" fmla="*/ 8498 h 21600"/>
            </a:gdLst>
            <a:ahLst/>
            <a:cxnLst>
              <a:cxn ang="T8">
                <a:pos x="T0" y="T1"/>
              </a:cxn>
              <a:cxn ang="T9">
                <a:pos x="T2" y="T3"/>
              </a:cxn>
              <a:cxn ang="T10">
                <a:pos x="T4" y="T5"/>
              </a:cxn>
              <a:cxn ang="T11">
                <a:pos x="T6" y="T7"/>
              </a:cxn>
            </a:cxnLst>
            <a:rect l="T12" t="T13" r="T14" b="T15"/>
            <a:pathLst>
              <a:path w="21600" h="21600">
                <a:moveTo>
                  <a:pt x="21600" y="6079"/>
                </a:moveTo>
                <a:lnTo>
                  <a:pt x="15113" y="0"/>
                </a:lnTo>
                <a:lnTo>
                  <a:pt x="15113" y="3660"/>
                </a:lnTo>
                <a:lnTo>
                  <a:pt x="12427" y="3660"/>
                </a:lnTo>
                <a:cubicBezTo>
                  <a:pt x="5564" y="3660"/>
                  <a:pt x="0" y="7465"/>
                  <a:pt x="0" y="12158"/>
                </a:cubicBezTo>
                <a:lnTo>
                  <a:pt x="0" y="21600"/>
                </a:lnTo>
                <a:lnTo>
                  <a:pt x="4945" y="21600"/>
                </a:lnTo>
                <a:lnTo>
                  <a:pt x="4945" y="12158"/>
                </a:lnTo>
                <a:cubicBezTo>
                  <a:pt x="4945" y="10137"/>
                  <a:pt x="8295" y="8498"/>
                  <a:pt x="12427" y="8498"/>
                </a:cubicBezTo>
                <a:lnTo>
                  <a:pt x="15113" y="8498"/>
                </a:lnTo>
                <a:lnTo>
                  <a:pt x="15113" y="12158"/>
                </a:lnTo>
                <a:lnTo>
                  <a:pt x="21600" y="6079"/>
                </a:lnTo>
                <a:close/>
              </a:path>
            </a:pathLst>
          </a:custGeom>
          <a:solidFill>
            <a:srgbClr val="FF0000"/>
          </a:solidFill>
          <a:ln w="9525">
            <a:solidFill>
              <a:schemeClr val="tx1"/>
            </a:solidFill>
            <a:miter lim="800000"/>
            <a:headEnd/>
            <a:tailEnd/>
          </a:ln>
        </p:spPr>
        <p:txBody>
          <a:bodyPr wrap="none" anchor="ctr"/>
          <a:lstStyle/>
          <a:p>
            <a:endParaRPr lang="en-IE"/>
          </a:p>
        </p:txBody>
      </p:sp>
      <p:sp>
        <p:nvSpPr>
          <p:cNvPr id="21510" name="AutoShape 9"/>
          <p:cNvSpPr>
            <a:spLocks noChangeArrowheads="1"/>
          </p:cNvSpPr>
          <p:nvPr/>
        </p:nvSpPr>
        <p:spPr bwMode="auto">
          <a:xfrm flipH="1" flipV="1">
            <a:off x="7402514" y="3887788"/>
            <a:ext cx="1633537" cy="22860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17694720 60000 65536"/>
              <a:gd name="T9" fmla="*/ 5898240 60000 65536"/>
              <a:gd name="T10" fmla="*/ 5898240 60000 65536"/>
              <a:gd name="T11" fmla="*/ 0 60000 65536"/>
              <a:gd name="T12" fmla="*/ 12427 w 21600"/>
              <a:gd name="T13" fmla="*/ 3660 h 21600"/>
              <a:gd name="T14" fmla="*/ 19019 w 21600"/>
              <a:gd name="T15" fmla="*/ 8498 h 21600"/>
            </a:gdLst>
            <a:ahLst/>
            <a:cxnLst>
              <a:cxn ang="T8">
                <a:pos x="T0" y="T1"/>
              </a:cxn>
              <a:cxn ang="T9">
                <a:pos x="T2" y="T3"/>
              </a:cxn>
              <a:cxn ang="T10">
                <a:pos x="T4" y="T5"/>
              </a:cxn>
              <a:cxn ang="T11">
                <a:pos x="T6" y="T7"/>
              </a:cxn>
            </a:cxnLst>
            <a:rect l="T12" t="T13" r="T14" b="T15"/>
            <a:pathLst>
              <a:path w="21600" h="21600">
                <a:moveTo>
                  <a:pt x="21600" y="6079"/>
                </a:moveTo>
                <a:lnTo>
                  <a:pt x="15113" y="0"/>
                </a:lnTo>
                <a:lnTo>
                  <a:pt x="15113" y="3660"/>
                </a:lnTo>
                <a:lnTo>
                  <a:pt x="12427" y="3660"/>
                </a:lnTo>
                <a:cubicBezTo>
                  <a:pt x="5564" y="3660"/>
                  <a:pt x="0" y="7465"/>
                  <a:pt x="0" y="12158"/>
                </a:cubicBezTo>
                <a:lnTo>
                  <a:pt x="0" y="21600"/>
                </a:lnTo>
                <a:lnTo>
                  <a:pt x="4945" y="21600"/>
                </a:lnTo>
                <a:lnTo>
                  <a:pt x="4945" y="12158"/>
                </a:lnTo>
                <a:cubicBezTo>
                  <a:pt x="4945" y="10137"/>
                  <a:pt x="8295" y="8498"/>
                  <a:pt x="12427" y="8498"/>
                </a:cubicBezTo>
                <a:lnTo>
                  <a:pt x="15113" y="8498"/>
                </a:lnTo>
                <a:lnTo>
                  <a:pt x="15113" y="12158"/>
                </a:lnTo>
                <a:lnTo>
                  <a:pt x="21600" y="6079"/>
                </a:lnTo>
                <a:close/>
              </a:path>
            </a:pathLst>
          </a:custGeom>
          <a:solidFill>
            <a:srgbClr val="9900CC"/>
          </a:solidFill>
          <a:ln w="9525">
            <a:solidFill>
              <a:schemeClr val="tx1"/>
            </a:solidFill>
            <a:miter lim="800000"/>
            <a:headEnd/>
            <a:tailEnd/>
          </a:ln>
        </p:spPr>
        <p:txBody>
          <a:bodyPr wrap="none" anchor="ctr"/>
          <a:lstStyle/>
          <a:p>
            <a:endParaRPr lang="en-IE"/>
          </a:p>
        </p:txBody>
      </p:sp>
      <p:sp>
        <p:nvSpPr>
          <p:cNvPr id="484362" name="Text Box 10"/>
          <p:cNvSpPr txBox="1">
            <a:spLocks noChangeArrowheads="1"/>
          </p:cNvSpPr>
          <p:nvPr/>
        </p:nvSpPr>
        <p:spPr bwMode="auto">
          <a:xfrm>
            <a:off x="1930400" y="304800"/>
            <a:ext cx="8216900" cy="1477328"/>
          </a:xfrm>
          <a:prstGeom prst="rect">
            <a:avLst/>
          </a:prstGeom>
          <a:noFill/>
          <a:ln w="9525">
            <a:noFill/>
            <a:miter lim="800000"/>
            <a:headEnd/>
            <a:tailEnd/>
          </a:ln>
          <a:effectLst/>
        </p:spPr>
        <p:txBody>
          <a:bodyPr>
            <a:spAutoFit/>
          </a:bodyPr>
          <a:lstStyle>
            <a:lvl1pPr>
              <a:defRPr>
                <a:solidFill>
                  <a:schemeClr val="tx1"/>
                </a:solidFill>
                <a:latin typeface="Verdana" pitchFamily="34" charset="0"/>
                <a:ea typeface="ＭＳ Ｐゴシック" pitchFamily="34" charset="-128"/>
              </a:defRPr>
            </a:lvl1pPr>
            <a:lvl2pPr marL="742950" indent="-285750">
              <a:defRPr>
                <a:solidFill>
                  <a:schemeClr val="tx1"/>
                </a:solidFill>
                <a:latin typeface="Verdana" pitchFamily="34" charset="0"/>
                <a:ea typeface="ＭＳ Ｐゴシック" pitchFamily="34" charset="-128"/>
              </a:defRPr>
            </a:lvl2pPr>
            <a:lvl3pPr marL="1143000" indent="-228600">
              <a:defRPr>
                <a:solidFill>
                  <a:schemeClr val="tx1"/>
                </a:solidFill>
                <a:latin typeface="Verdana" pitchFamily="34" charset="0"/>
                <a:ea typeface="ＭＳ Ｐゴシック" pitchFamily="34" charset="-128"/>
              </a:defRPr>
            </a:lvl3pPr>
            <a:lvl4pPr marL="1600200" indent="-228600">
              <a:defRPr>
                <a:solidFill>
                  <a:schemeClr val="tx1"/>
                </a:solidFill>
                <a:latin typeface="Verdana" pitchFamily="34" charset="0"/>
                <a:ea typeface="ＭＳ Ｐゴシック" pitchFamily="34" charset="-128"/>
              </a:defRPr>
            </a:lvl4pPr>
            <a:lvl5pPr marL="2057400" indent="-228600">
              <a:defRPr>
                <a:solidFill>
                  <a:schemeClr val="tx1"/>
                </a:solidFill>
                <a:latin typeface="Verdana"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Verdana"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Verdana"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Verdana"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Verdana" pitchFamily="34" charset="0"/>
                <a:ea typeface="ＭＳ Ｐゴシック" pitchFamily="34" charset="-128"/>
              </a:defRPr>
            </a:lvl9pPr>
          </a:lstStyle>
          <a:p>
            <a:pPr algn="ctr" eaLnBrk="1" hangingPunct="1">
              <a:defRPr/>
            </a:pPr>
            <a:r>
              <a:rPr lang="en-IE" sz="3000" b="1">
                <a:effectLst>
                  <a:outerShdw blurRad="38100" dist="38100" dir="2700000" algn="tl">
                    <a:srgbClr val="C0C0C0"/>
                  </a:outerShdw>
                </a:effectLst>
              </a:rPr>
              <a:t>Nature vs. Nurture </a:t>
            </a:r>
          </a:p>
          <a:p>
            <a:pPr algn="ctr" eaLnBrk="1" hangingPunct="1">
              <a:defRPr/>
            </a:pPr>
            <a:r>
              <a:rPr lang="en-IE" sz="3000" b="1">
                <a:effectLst>
                  <a:outerShdw blurRad="38100" dist="38100" dir="2700000" algn="tl">
                    <a:srgbClr val="C0C0C0"/>
                  </a:outerShdw>
                </a:effectLst>
              </a:rPr>
              <a:t>as alternative determinants of personality</a:t>
            </a:r>
            <a:endParaRPr lang="en-GB" sz="3000" b="1">
              <a:effectLst>
                <a:outerShdw blurRad="38100" dist="38100" dir="2700000" algn="tl">
                  <a:srgbClr val="C0C0C0"/>
                </a:outerShdw>
              </a:effectLst>
            </a:endParaRPr>
          </a:p>
        </p:txBody>
      </p:sp>
      <p:sp>
        <p:nvSpPr>
          <p:cNvPr id="21512" name="TextBox 7"/>
          <p:cNvSpPr txBox="1">
            <a:spLocks noChangeArrowheads="1"/>
          </p:cNvSpPr>
          <p:nvPr/>
        </p:nvSpPr>
        <p:spPr bwMode="auto">
          <a:xfrm>
            <a:off x="1524001" y="1643063"/>
            <a:ext cx="957666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entury Gothic" pitchFamily="34" charset="0"/>
                <a:ea typeface="ＭＳ Ｐゴシック" pitchFamily="34" charset="-128"/>
              </a:defRPr>
            </a:lvl1pPr>
            <a:lvl2pPr marL="742950" indent="-285750">
              <a:defRPr>
                <a:solidFill>
                  <a:schemeClr val="tx1"/>
                </a:solidFill>
                <a:latin typeface="Century Gothic" pitchFamily="34" charset="0"/>
                <a:ea typeface="ＭＳ Ｐゴシック" pitchFamily="34" charset="-128"/>
              </a:defRPr>
            </a:lvl2pPr>
            <a:lvl3pPr marL="1143000" indent="-228600">
              <a:defRPr>
                <a:solidFill>
                  <a:schemeClr val="tx1"/>
                </a:solidFill>
                <a:latin typeface="Century Gothic" pitchFamily="34" charset="0"/>
                <a:ea typeface="ＭＳ Ｐゴシック" pitchFamily="34" charset="-128"/>
              </a:defRPr>
            </a:lvl3pPr>
            <a:lvl4pPr marL="1600200" indent="-228600">
              <a:defRPr>
                <a:solidFill>
                  <a:schemeClr val="tx1"/>
                </a:solidFill>
                <a:latin typeface="Century Gothic" pitchFamily="34" charset="0"/>
                <a:ea typeface="ＭＳ Ｐゴシック" pitchFamily="34" charset="-128"/>
              </a:defRPr>
            </a:lvl4pPr>
            <a:lvl5pPr marL="2057400" indent="-228600">
              <a:defRPr>
                <a:solidFill>
                  <a:schemeClr val="tx1"/>
                </a:solidFill>
                <a:latin typeface="Century Gothic"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9pPr>
          </a:lstStyle>
          <a:p>
            <a:r>
              <a:rPr lang="en-IE">
                <a:latin typeface="Verdana" pitchFamily="34" charset="0"/>
              </a:rPr>
              <a:t>Either </a:t>
            </a:r>
            <a:r>
              <a:rPr lang="en-IE" b="1">
                <a:solidFill>
                  <a:srgbClr val="FF0000"/>
                </a:solidFill>
                <a:latin typeface="Verdana" pitchFamily="34" charset="0"/>
              </a:rPr>
              <a:t>Nature</a:t>
            </a:r>
            <a:r>
              <a:rPr lang="en-IE">
                <a:latin typeface="Verdana" pitchFamily="34" charset="0"/>
              </a:rPr>
              <a:t> or </a:t>
            </a:r>
            <a:r>
              <a:rPr lang="en-IE" b="1">
                <a:solidFill>
                  <a:srgbClr val="9900CC"/>
                </a:solidFill>
                <a:latin typeface="Verdana" pitchFamily="34" charset="0"/>
              </a:rPr>
              <a:t>Nurture</a:t>
            </a:r>
            <a:r>
              <a:rPr lang="en-IE">
                <a:latin typeface="Verdana" pitchFamily="34" charset="0"/>
              </a:rPr>
              <a:t> as alternative explanations for personality differences</a:t>
            </a:r>
          </a:p>
        </p:txBody>
      </p:sp>
    </p:spTree>
    <p:extLst>
      <p:ext uri="{BB962C8B-B14F-4D97-AF65-F5344CB8AC3E}">
        <p14:creationId xmlns:p14="http://schemas.microsoft.com/office/powerpoint/2010/main" val="1620713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Oval 4"/>
          <p:cNvSpPr>
            <a:spLocks noChangeArrowheads="1"/>
          </p:cNvSpPr>
          <p:nvPr/>
        </p:nvSpPr>
        <p:spPr bwMode="auto">
          <a:xfrm>
            <a:off x="4805364" y="4864101"/>
            <a:ext cx="2579687" cy="1349375"/>
          </a:xfrm>
          <a:prstGeom prst="ellipse">
            <a:avLst/>
          </a:prstGeom>
          <a:solidFill>
            <a:schemeClr val="accent1"/>
          </a:solidFill>
          <a:ln w="9525">
            <a:solidFill>
              <a:schemeClr val="tx1"/>
            </a:solidFill>
            <a:round/>
            <a:headEnd/>
            <a:tailEnd/>
          </a:ln>
        </p:spPr>
        <p:txBody>
          <a:bodyPr wrap="none" anchor="ctr"/>
          <a:lstStyle/>
          <a:p>
            <a:pPr algn="ctr" eaLnBrk="1" hangingPunct="1"/>
            <a:r>
              <a:rPr lang="en-IE"/>
              <a:t>Personality</a:t>
            </a:r>
            <a:endParaRPr lang="en-GB"/>
          </a:p>
        </p:txBody>
      </p:sp>
      <p:sp>
        <p:nvSpPr>
          <p:cNvPr id="22531" name="Rectangle 5"/>
          <p:cNvSpPr>
            <a:spLocks noChangeArrowheads="1"/>
          </p:cNvSpPr>
          <p:nvPr/>
        </p:nvSpPr>
        <p:spPr bwMode="auto">
          <a:xfrm>
            <a:off x="2093913" y="2373313"/>
            <a:ext cx="2343150" cy="1511300"/>
          </a:xfrm>
          <a:prstGeom prst="rect">
            <a:avLst/>
          </a:prstGeom>
          <a:solidFill>
            <a:schemeClr val="accent1"/>
          </a:solidFill>
          <a:ln w="9525">
            <a:solidFill>
              <a:schemeClr val="tx1"/>
            </a:solidFill>
            <a:miter lim="800000"/>
            <a:headEnd/>
            <a:tailEnd/>
          </a:ln>
        </p:spPr>
        <p:txBody>
          <a:bodyPr wrap="none" anchor="ctr"/>
          <a:lstStyle/>
          <a:p>
            <a:pPr algn="ctr" eaLnBrk="1" hangingPunct="1"/>
            <a:r>
              <a:rPr lang="en-IE"/>
              <a:t>Genetic influences </a:t>
            </a:r>
          </a:p>
          <a:p>
            <a:pPr algn="ctr" eaLnBrk="1" hangingPunct="1"/>
            <a:r>
              <a:rPr lang="en-IE"/>
              <a:t>(Heredity)</a:t>
            </a:r>
            <a:endParaRPr lang="en-GB"/>
          </a:p>
        </p:txBody>
      </p:sp>
      <p:sp>
        <p:nvSpPr>
          <p:cNvPr id="22532" name="Rectangle 6"/>
          <p:cNvSpPr>
            <a:spLocks noChangeArrowheads="1"/>
          </p:cNvSpPr>
          <p:nvPr/>
        </p:nvSpPr>
        <p:spPr bwMode="auto">
          <a:xfrm>
            <a:off x="7766050" y="2373313"/>
            <a:ext cx="2343150" cy="1511300"/>
          </a:xfrm>
          <a:prstGeom prst="rect">
            <a:avLst/>
          </a:prstGeom>
          <a:solidFill>
            <a:schemeClr val="accent1"/>
          </a:solidFill>
          <a:ln w="9525">
            <a:solidFill>
              <a:schemeClr val="tx1"/>
            </a:solidFill>
            <a:miter lim="800000"/>
            <a:headEnd/>
            <a:tailEnd/>
          </a:ln>
        </p:spPr>
        <p:txBody>
          <a:bodyPr wrap="none" anchor="ctr"/>
          <a:lstStyle/>
          <a:p>
            <a:pPr algn="ctr" eaLnBrk="1" hangingPunct="1"/>
            <a:r>
              <a:rPr lang="en-IE"/>
              <a:t>Environmental </a:t>
            </a:r>
          </a:p>
          <a:p>
            <a:pPr algn="ctr" eaLnBrk="1" hangingPunct="1"/>
            <a:r>
              <a:rPr lang="en-IE"/>
              <a:t>influences</a:t>
            </a:r>
          </a:p>
          <a:p>
            <a:pPr algn="ctr" eaLnBrk="1" hangingPunct="1">
              <a:buFontTx/>
              <a:buChar char="-"/>
            </a:pPr>
            <a:r>
              <a:rPr lang="en-IE"/>
              <a:t> </a:t>
            </a:r>
            <a:r>
              <a:rPr lang="en-IE" sz="1200"/>
              <a:t>Family </a:t>
            </a:r>
          </a:p>
          <a:p>
            <a:pPr algn="ctr" eaLnBrk="1" hangingPunct="1">
              <a:buFontTx/>
              <a:buChar char="-"/>
            </a:pPr>
            <a:r>
              <a:rPr lang="en-IE" sz="1200"/>
              <a:t> Society, Community &amp; Culture</a:t>
            </a:r>
          </a:p>
          <a:p>
            <a:pPr algn="ctr" eaLnBrk="1" hangingPunct="1">
              <a:buFontTx/>
              <a:buChar char="-"/>
            </a:pPr>
            <a:r>
              <a:rPr lang="en-IE" sz="1200"/>
              <a:t> Experience</a:t>
            </a:r>
            <a:endParaRPr lang="en-GB" sz="1200"/>
          </a:p>
        </p:txBody>
      </p:sp>
      <p:sp>
        <p:nvSpPr>
          <p:cNvPr id="22533" name="AutoShape 8"/>
          <p:cNvSpPr>
            <a:spLocks noChangeArrowheads="1"/>
          </p:cNvSpPr>
          <p:nvPr/>
        </p:nvSpPr>
        <p:spPr bwMode="auto">
          <a:xfrm flipV="1">
            <a:off x="3155950" y="3887788"/>
            <a:ext cx="1633538" cy="22860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17694720 60000 65536"/>
              <a:gd name="T9" fmla="*/ 5898240 60000 65536"/>
              <a:gd name="T10" fmla="*/ 5898240 60000 65536"/>
              <a:gd name="T11" fmla="*/ 0 60000 65536"/>
              <a:gd name="T12" fmla="*/ 12427 w 21600"/>
              <a:gd name="T13" fmla="*/ 3660 h 21600"/>
              <a:gd name="T14" fmla="*/ 19019 w 21600"/>
              <a:gd name="T15" fmla="*/ 8498 h 21600"/>
            </a:gdLst>
            <a:ahLst/>
            <a:cxnLst>
              <a:cxn ang="T8">
                <a:pos x="T0" y="T1"/>
              </a:cxn>
              <a:cxn ang="T9">
                <a:pos x="T2" y="T3"/>
              </a:cxn>
              <a:cxn ang="T10">
                <a:pos x="T4" y="T5"/>
              </a:cxn>
              <a:cxn ang="T11">
                <a:pos x="T6" y="T7"/>
              </a:cxn>
            </a:cxnLst>
            <a:rect l="T12" t="T13" r="T14" b="T15"/>
            <a:pathLst>
              <a:path w="21600" h="21600">
                <a:moveTo>
                  <a:pt x="21600" y="6079"/>
                </a:moveTo>
                <a:lnTo>
                  <a:pt x="15113" y="0"/>
                </a:lnTo>
                <a:lnTo>
                  <a:pt x="15113" y="3660"/>
                </a:lnTo>
                <a:lnTo>
                  <a:pt x="12427" y="3660"/>
                </a:lnTo>
                <a:cubicBezTo>
                  <a:pt x="5564" y="3660"/>
                  <a:pt x="0" y="7465"/>
                  <a:pt x="0" y="12158"/>
                </a:cubicBezTo>
                <a:lnTo>
                  <a:pt x="0" y="21600"/>
                </a:lnTo>
                <a:lnTo>
                  <a:pt x="4945" y="21600"/>
                </a:lnTo>
                <a:lnTo>
                  <a:pt x="4945" y="12158"/>
                </a:lnTo>
                <a:cubicBezTo>
                  <a:pt x="4945" y="10137"/>
                  <a:pt x="8295" y="8498"/>
                  <a:pt x="12427" y="8498"/>
                </a:cubicBezTo>
                <a:lnTo>
                  <a:pt x="15113" y="8498"/>
                </a:lnTo>
                <a:lnTo>
                  <a:pt x="15113" y="12158"/>
                </a:lnTo>
                <a:lnTo>
                  <a:pt x="21600" y="6079"/>
                </a:lnTo>
                <a:close/>
              </a:path>
            </a:pathLst>
          </a:custGeom>
          <a:solidFill>
            <a:schemeClr val="accent1"/>
          </a:solidFill>
          <a:ln w="9525">
            <a:solidFill>
              <a:schemeClr val="tx1"/>
            </a:solidFill>
            <a:miter lim="800000"/>
            <a:headEnd/>
            <a:tailEnd/>
          </a:ln>
        </p:spPr>
        <p:txBody>
          <a:bodyPr wrap="none" anchor="ctr"/>
          <a:lstStyle/>
          <a:p>
            <a:endParaRPr lang="en-IE"/>
          </a:p>
        </p:txBody>
      </p:sp>
      <p:sp>
        <p:nvSpPr>
          <p:cNvPr id="22534" name="AutoShape 9"/>
          <p:cNvSpPr>
            <a:spLocks noChangeArrowheads="1"/>
          </p:cNvSpPr>
          <p:nvPr/>
        </p:nvSpPr>
        <p:spPr bwMode="auto">
          <a:xfrm flipH="1" flipV="1">
            <a:off x="7402514" y="3887788"/>
            <a:ext cx="1633537" cy="22860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17694720 60000 65536"/>
              <a:gd name="T9" fmla="*/ 5898240 60000 65536"/>
              <a:gd name="T10" fmla="*/ 5898240 60000 65536"/>
              <a:gd name="T11" fmla="*/ 0 60000 65536"/>
              <a:gd name="T12" fmla="*/ 12427 w 21600"/>
              <a:gd name="T13" fmla="*/ 3660 h 21600"/>
              <a:gd name="T14" fmla="*/ 19019 w 21600"/>
              <a:gd name="T15" fmla="*/ 8498 h 21600"/>
            </a:gdLst>
            <a:ahLst/>
            <a:cxnLst>
              <a:cxn ang="T8">
                <a:pos x="T0" y="T1"/>
              </a:cxn>
              <a:cxn ang="T9">
                <a:pos x="T2" y="T3"/>
              </a:cxn>
              <a:cxn ang="T10">
                <a:pos x="T4" y="T5"/>
              </a:cxn>
              <a:cxn ang="T11">
                <a:pos x="T6" y="T7"/>
              </a:cxn>
            </a:cxnLst>
            <a:rect l="T12" t="T13" r="T14" b="T15"/>
            <a:pathLst>
              <a:path w="21600" h="21600">
                <a:moveTo>
                  <a:pt x="21600" y="6079"/>
                </a:moveTo>
                <a:lnTo>
                  <a:pt x="15113" y="0"/>
                </a:lnTo>
                <a:lnTo>
                  <a:pt x="15113" y="3660"/>
                </a:lnTo>
                <a:lnTo>
                  <a:pt x="12427" y="3660"/>
                </a:lnTo>
                <a:cubicBezTo>
                  <a:pt x="5564" y="3660"/>
                  <a:pt x="0" y="7465"/>
                  <a:pt x="0" y="12158"/>
                </a:cubicBezTo>
                <a:lnTo>
                  <a:pt x="0" y="21600"/>
                </a:lnTo>
                <a:lnTo>
                  <a:pt x="4945" y="21600"/>
                </a:lnTo>
                <a:lnTo>
                  <a:pt x="4945" y="12158"/>
                </a:lnTo>
                <a:cubicBezTo>
                  <a:pt x="4945" y="10137"/>
                  <a:pt x="8295" y="8498"/>
                  <a:pt x="12427" y="8498"/>
                </a:cubicBezTo>
                <a:lnTo>
                  <a:pt x="15113" y="8498"/>
                </a:lnTo>
                <a:lnTo>
                  <a:pt x="15113" y="12158"/>
                </a:lnTo>
                <a:lnTo>
                  <a:pt x="21600" y="6079"/>
                </a:lnTo>
                <a:close/>
              </a:path>
            </a:pathLst>
          </a:custGeom>
          <a:solidFill>
            <a:schemeClr val="accent1"/>
          </a:solidFill>
          <a:ln w="9525">
            <a:solidFill>
              <a:schemeClr val="tx1"/>
            </a:solidFill>
            <a:miter lim="800000"/>
            <a:headEnd/>
            <a:tailEnd/>
          </a:ln>
        </p:spPr>
        <p:txBody>
          <a:bodyPr wrap="none" anchor="ctr"/>
          <a:lstStyle/>
          <a:p>
            <a:endParaRPr lang="en-IE"/>
          </a:p>
        </p:txBody>
      </p:sp>
      <p:sp>
        <p:nvSpPr>
          <p:cNvPr id="484362" name="Text Box 10"/>
          <p:cNvSpPr txBox="1">
            <a:spLocks noChangeArrowheads="1"/>
          </p:cNvSpPr>
          <p:nvPr/>
        </p:nvSpPr>
        <p:spPr bwMode="auto">
          <a:xfrm>
            <a:off x="2097990" y="463551"/>
            <a:ext cx="7988085" cy="1015663"/>
          </a:xfrm>
          <a:prstGeom prst="rect">
            <a:avLst/>
          </a:prstGeom>
          <a:noFill/>
          <a:ln w="9525">
            <a:noFill/>
            <a:miter lim="800000"/>
            <a:headEnd/>
            <a:tailEnd/>
          </a:ln>
          <a:effectLst/>
        </p:spPr>
        <p:txBody>
          <a:bodyPr wrap="none">
            <a:spAutoFit/>
          </a:bodyPr>
          <a:lstStyle>
            <a:lvl1pPr>
              <a:defRPr>
                <a:solidFill>
                  <a:schemeClr val="tx1"/>
                </a:solidFill>
                <a:latin typeface="Verdana" pitchFamily="34" charset="0"/>
                <a:ea typeface="ＭＳ Ｐゴシック" pitchFamily="34" charset="-128"/>
              </a:defRPr>
            </a:lvl1pPr>
            <a:lvl2pPr marL="742950" indent="-285750">
              <a:defRPr>
                <a:solidFill>
                  <a:schemeClr val="tx1"/>
                </a:solidFill>
                <a:latin typeface="Verdana" pitchFamily="34" charset="0"/>
                <a:ea typeface="ＭＳ Ｐゴシック" pitchFamily="34" charset="-128"/>
              </a:defRPr>
            </a:lvl2pPr>
            <a:lvl3pPr marL="1143000" indent="-228600">
              <a:defRPr>
                <a:solidFill>
                  <a:schemeClr val="tx1"/>
                </a:solidFill>
                <a:latin typeface="Verdana" pitchFamily="34" charset="0"/>
                <a:ea typeface="ＭＳ Ｐゴシック" pitchFamily="34" charset="-128"/>
              </a:defRPr>
            </a:lvl3pPr>
            <a:lvl4pPr marL="1600200" indent="-228600">
              <a:defRPr>
                <a:solidFill>
                  <a:schemeClr val="tx1"/>
                </a:solidFill>
                <a:latin typeface="Verdana" pitchFamily="34" charset="0"/>
                <a:ea typeface="ＭＳ Ｐゴシック" pitchFamily="34" charset="-128"/>
              </a:defRPr>
            </a:lvl4pPr>
            <a:lvl5pPr marL="2057400" indent="-228600">
              <a:defRPr>
                <a:solidFill>
                  <a:schemeClr val="tx1"/>
                </a:solidFill>
                <a:latin typeface="Verdana"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Verdana"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Verdana"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Verdana"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Verdana" pitchFamily="34" charset="0"/>
                <a:ea typeface="ＭＳ Ｐゴシック" pitchFamily="34" charset="-128"/>
              </a:defRPr>
            </a:lvl9pPr>
          </a:lstStyle>
          <a:p>
            <a:pPr algn="ctr" eaLnBrk="1" hangingPunct="1">
              <a:defRPr/>
            </a:pPr>
            <a:r>
              <a:rPr lang="en-IE" sz="3000" b="1">
                <a:effectLst>
                  <a:outerShdw blurRad="38100" dist="38100" dir="2700000" algn="tl">
                    <a:srgbClr val="C0C0C0"/>
                  </a:outerShdw>
                </a:effectLst>
              </a:rPr>
              <a:t>Nature and Nurture as independent </a:t>
            </a:r>
          </a:p>
          <a:p>
            <a:pPr algn="ctr" eaLnBrk="1" hangingPunct="1">
              <a:defRPr/>
            </a:pPr>
            <a:r>
              <a:rPr lang="en-IE" sz="3000" b="1">
                <a:effectLst>
                  <a:outerShdw blurRad="38100" dist="38100" dir="2700000" algn="tl">
                    <a:srgbClr val="C0C0C0"/>
                  </a:outerShdw>
                </a:effectLst>
              </a:rPr>
              <a:t>determinants of personality</a:t>
            </a:r>
            <a:endParaRPr lang="en-GB" sz="3000" b="1">
              <a:effectLst>
                <a:outerShdw blurRad="38100" dist="38100" dir="2700000" algn="tl">
                  <a:srgbClr val="C0C0C0"/>
                </a:outerShdw>
              </a:effectLst>
            </a:endParaRPr>
          </a:p>
        </p:txBody>
      </p:sp>
    </p:spTree>
    <p:extLst>
      <p:ext uri="{BB962C8B-B14F-4D97-AF65-F5344CB8AC3E}">
        <p14:creationId xmlns:p14="http://schemas.microsoft.com/office/powerpoint/2010/main" val="34296219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noChangeArrowheads="1"/>
          </p:cNvSpPr>
          <p:nvPr>
            <p:ph type="title"/>
          </p:nvPr>
        </p:nvSpPr>
        <p:spPr>
          <a:xfrm>
            <a:off x="1981200" y="304800"/>
            <a:ext cx="8229600" cy="838200"/>
          </a:xfrm>
        </p:spPr>
        <p:txBody>
          <a:bodyPr>
            <a:normAutofit/>
          </a:bodyPr>
          <a:lstStyle/>
          <a:p>
            <a:pPr marL="320040" indent="-320040">
              <a:buClr>
                <a:schemeClr val="accent6">
                  <a:lumMod val="75000"/>
                </a:schemeClr>
              </a:buClr>
              <a:defRPr/>
            </a:pPr>
            <a:r>
              <a:rPr lang="en-US"/>
              <a:t>DETERMINANTS OF PERSONALITY</a:t>
            </a:r>
          </a:p>
        </p:txBody>
      </p:sp>
      <p:sp>
        <p:nvSpPr>
          <p:cNvPr id="216068" name="Rectangle 4"/>
          <p:cNvSpPr>
            <a:spLocks noGrp="1" noChangeArrowheads="1"/>
          </p:cNvSpPr>
          <p:nvPr>
            <p:ph type="body" sz="half" idx="1"/>
          </p:nvPr>
        </p:nvSpPr>
        <p:spPr>
          <a:xfrm>
            <a:off x="1016000" y="1828800"/>
            <a:ext cx="5080000" cy="4191000"/>
          </a:xfrm>
        </p:spPr>
        <p:txBody>
          <a:bodyPr/>
          <a:lstStyle/>
          <a:p>
            <a:pPr eaLnBrk="1" hangingPunct="1"/>
            <a:r>
              <a:rPr lang="en-US" dirty="0"/>
              <a:t>Genetic and situational factors influence </a:t>
            </a:r>
            <a:r>
              <a:rPr lang="en-US" dirty="0" err="1"/>
              <a:t>behaviour</a:t>
            </a:r>
            <a:r>
              <a:rPr lang="en-US" dirty="0"/>
              <a:t> patterns</a:t>
            </a:r>
          </a:p>
          <a:p>
            <a:pPr eaLnBrk="1" hangingPunct="1"/>
            <a:endParaRPr lang="en-US" dirty="0"/>
          </a:p>
          <a:p>
            <a:pPr eaLnBrk="1" hangingPunct="1"/>
            <a:r>
              <a:rPr lang="en-US" dirty="0"/>
              <a:t>Disagree over:</a:t>
            </a:r>
          </a:p>
          <a:p>
            <a:pPr lvl="1" eaLnBrk="1" hangingPunct="1"/>
            <a:r>
              <a:rPr lang="en-US" dirty="0"/>
              <a:t>Emphasis to be given to these factors</a:t>
            </a:r>
          </a:p>
          <a:p>
            <a:pPr lvl="1" eaLnBrk="1" hangingPunct="1"/>
            <a:r>
              <a:rPr lang="en-US" dirty="0"/>
              <a:t>How they should be measured</a:t>
            </a:r>
          </a:p>
          <a:p>
            <a:pPr lvl="1" eaLnBrk="1" hangingPunct="1"/>
            <a:r>
              <a:rPr lang="en-US" dirty="0"/>
              <a:t>How they interact</a:t>
            </a:r>
          </a:p>
        </p:txBody>
      </p:sp>
      <p:pic>
        <p:nvPicPr>
          <p:cNvPr id="32772" name="Picture 6" descr="left-brain-right-brain"/>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tretch>
            <a:fillRect/>
          </a:stretch>
        </p:blipFill>
        <p:spPr>
          <a:xfrm>
            <a:off x="6324600" y="1450295"/>
            <a:ext cx="3810000" cy="4033611"/>
          </a:xfrm>
          <a:noFill/>
        </p:spPr>
      </p:pic>
    </p:spTree>
    <p:extLst>
      <p:ext uri="{BB962C8B-B14F-4D97-AF65-F5344CB8AC3E}">
        <p14:creationId xmlns:p14="http://schemas.microsoft.com/office/powerpoint/2010/main" val="23268729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16068">
                                            <p:txEl>
                                              <p:pRg st="0" end="0"/>
                                            </p:txEl>
                                          </p:spTgt>
                                        </p:tgtEl>
                                        <p:attrNameLst>
                                          <p:attrName>style.visibility</p:attrName>
                                        </p:attrNameLst>
                                      </p:cBhvr>
                                      <p:to>
                                        <p:strVal val="visible"/>
                                      </p:to>
                                    </p:set>
                                    <p:anim calcmode="lin" valueType="num">
                                      <p:cBhvr additive="base">
                                        <p:cTn id="7" dur="500" fill="hold"/>
                                        <p:tgtEl>
                                          <p:spTgt spid="21606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606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16068">
                                            <p:txEl>
                                              <p:pRg st="2" end="2"/>
                                            </p:txEl>
                                          </p:spTgt>
                                        </p:tgtEl>
                                        <p:attrNameLst>
                                          <p:attrName>style.visibility</p:attrName>
                                        </p:attrNameLst>
                                      </p:cBhvr>
                                      <p:to>
                                        <p:strVal val="visible"/>
                                      </p:to>
                                    </p:set>
                                    <p:anim calcmode="lin" valueType="num">
                                      <p:cBhvr additive="base">
                                        <p:cTn id="13" dur="500" fill="hold"/>
                                        <p:tgtEl>
                                          <p:spTgt spid="21606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606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8" presetClass="entr" presetSubtype="16" fill="hold" nodeType="clickEffect">
                                  <p:stCondLst>
                                    <p:cond delay="0"/>
                                  </p:stCondLst>
                                  <p:childTnLst>
                                    <p:set>
                                      <p:cBhvr>
                                        <p:cTn id="18" dur="1" fill="hold">
                                          <p:stCondLst>
                                            <p:cond delay="0"/>
                                          </p:stCondLst>
                                        </p:cTn>
                                        <p:tgtEl>
                                          <p:spTgt spid="216068">
                                            <p:txEl>
                                              <p:pRg st="3" end="3"/>
                                            </p:txEl>
                                          </p:spTgt>
                                        </p:tgtEl>
                                        <p:attrNameLst>
                                          <p:attrName>style.visibility</p:attrName>
                                        </p:attrNameLst>
                                      </p:cBhvr>
                                      <p:to>
                                        <p:strVal val="visible"/>
                                      </p:to>
                                    </p:set>
                                    <p:animEffect transition="in" filter="diamond(in)">
                                      <p:cBhvr>
                                        <p:cTn id="19" dur="2000"/>
                                        <p:tgtEl>
                                          <p:spTgt spid="216068">
                                            <p:txEl>
                                              <p:pRg st="3" end="3"/>
                                            </p:txEl>
                                          </p:spTgt>
                                        </p:tgtEl>
                                      </p:cBhvr>
                                    </p:animEffect>
                                  </p:childTnLst>
                                </p:cTn>
                              </p:par>
                              <p:par>
                                <p:cTn id="20" presetID="8" presetClass="entr" presetSubtype="16" fill="hold" nodeType="withEffect">
                                  <p:stCondLst>
                                    <p:cond delay="0"/>
                                  </p:stCondLst>
                                  <p:childTnLst>
                                    <p:set>
                                      <p:cBhvr>
                                        <p:cTn id="21" dur="1" fill="hold">
                                          <p:stCondLst>
                                            <p:cond delay="0"/>
                                          </p:stCondLst>
                                        </p:cTn>
                                        <p:tgtEl>
                                          <p:spTgt spid="216068">
                                            <p:txEl>
                                              <p:pRg st="4" end="4"/>
                                            </p:txEl>
                                          </p:spTgt>
                                        </p:tgtEl>
                                        <p:attrNameLst>
                                          <p:attrName>style.visibility</p:attrName>
                                        </p:attrNameLst>
                                      </p:cBhvr>
                                      <p:to>
                                        <p:strVal val="visible"/>
                                      </p:to>
                                    </p:set>
                                    <p:animEffect transition="in" filter="diamond(in)">
                                      <p:cBhvr>
                                        <p:cTn id="22" dur="2000"/>
                                        <p:tgtEl>
                                          <p:spTgt spid="216068">
                                            <p:txEl>
                                              <p:pRg st="4" end="4"/>
                                            </p:txEl>
                                          </p:spTgt>
                                        </p:tgtEl>
                                      </p:cBhvr>
                                    </p:animEffect>
                                  </p:childTnLst>
                                </p:cTn>
                              </p:par>
                              <p:par>
                                <p:cTn id="23" presetID="8" presetClass="entr" presetSubtype="16" fill="hold" nodeType="withEffect">
                                  <p:stCondLst>
                                    <p:cond delay="0"/>
                                  </p:stCondLst>
                                  <p:childTnLst>
                                    <p:set>
                                      <p:cBhvr>
                                        <p:cTn id="24" dur="1" fill="hold">
                                          <p:stCondLst>
                                            <p:cond delay="0"/>
                                          </p:stCondLst>
                                        </p:cTn>
                                        <p:tgtEl>
                                          <p:spTgt spid="216068">
                                            <p:txEl>
                                              <p:pRg st="5" end="5"/>
                                            </p:txEl>
                                          </p:spTgt>
                                        </p:tgtEl>
                                        <p:attrNameLst>
                                          <p:attrName>style.visibility</p:attrName>
                                        </p:attrNameLst>
                                      </p:cBhvr>
                                      <p:to>
                                        <p:strVal val="visible"/>
                                      </p:to>
                                    </p:set>
                                    <p:animEffect transition="in" filter="diamond(in)">
                                      <p:cBhvr>
                                        <p:cTn id="25" dur="2000"/>
                                        <p:tgtEl>
                                          <p:spTgt spid="21606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ChangeArrowheads="1"/>
          </p:cNvSpPr>
          <p:nvPr>
            <p:ph type="title" idx="4294967295"/>
          </p:nvPr>
        </p:nvSpPr>
        <p:spPr>
          <a:xfrm>
            <a:off x="1524000" y="274638"/>
            <a:ext cx="7467600" cy="639762"/>
          </a:xfrm>
        </p:spPr>
        <p:txBody>
          <a:bodyPr>
            <a:normAutofit/>
          </a:bodyPr>
          <a:lstStyle/>
          <a:p>
            <a:pPr marL="320040" indent="-320040">
              <a:buClr>
                <a:schemeClr val="accent6">
                  <a:lumMod val="75000"/>
                </a:schemeClr>
              </a:buClr>
              <a:defRPr/>
            </a:pPr>
            <a:r>
              <a:rPr lang="en-US" sz="3600" dirty="0"/>
              <a:t>CONSEQUENCES OF DEBATE</a:t>
            </a:r>
          </a:p>
        </p:txBody>
      </p:sp>
      <p:sp>
        <p:nvSpPr>
          <p:cNvPr id="218116" name="Rectangle 4"/>
          <p:cNvSpPr>
            <a:spLocks noChangeArrowheads="1"/>
          </p:cNvSpPr>
          <p:nvPr/>
        </p:nvSpPr>
        <p:spPr bwMode="auto">
          <a:xfrm>
            <a:off x="2667000" y="1676400"/>
            <a:ext cx="1600200" cy="1219200"/>
          </a:xfrm>
          <a:prstGeom prst="rect">
            <a:avLst/>
          </a:prstGeom>
          <a:solidFill>
            <a:schemeClr val="accent1"/>
          </a:solidFill>
          <a:ln w="9525">
            <a:solidFill>
              <a:schemeClr val="tx1"/>
            </a:solidFill>
            <a:miter lim="800000"/>
            <a:headEnd/>
            <a:tailEnd/>
          </a:ln>
        </p:spPr>
        <p:txBody>
          <a:bodyPr wrap="none" anchor="ctr"/>
          <a:lstStyle/>
          <a:p>
            <a:pPr algn="ctr"/>
            <a:r>
              <a:rPr lang="en-US" sz="2000" b="1"/>
              <a:t>Manager 1</a:t>
            </a:r>
          </a:p>
        </p:txBody>
      </p:sp>
      <p:sp>
        <p:nvSpPr>
          <p:cNvPr id="218117" name="Rectangle 5"/>
          <p:cNvSpPr>
            <a:spLocks noChangeArrowheads="1"/>
          </p:cNvSpPr>
          <p:nvPr/>
        </p:nvSpPr>
        <p:spPr bwMode="auto">
          <a:xfrm>
            <a:off x="2590800" y="4038600"/>
            <a:ext cx="1600200" cy="1219200"/>
          </a:xfrm>
          <a:prstGeom prst="rect">
            <a:avLst/>
          </a:prstGeom>
          <a:solidFill>
            <a:schemeClr val="accent1"/>
          </a:solidFill>
          <a:ln w="9525">
            <a:solidFill>
              <a:schemeClr val="tx1"/>
            </a:solidFill>
            <a:miter lim="800000"/>
            <a:headEnd/>
            <a:tailEnd/>
          </a:ln>
        </p:spPr>
        <p:txBody>
          <a:bodyPr wrap="none" anchor="ctr"/>
          <a:lstStyle/>
          <a:p>
            <a:pPr algn="ctr"/>
            <a:r>
              <a:rPr lang="en-US" sz="2000" b="1"/>
              <a:t>Manager 2</a:t>
            </a:r>
          </a:p>
        </p:txBody>
      </p:sp>
      <p:sp>
        <p:nvSpPr>
          <p:cNvPr id="218118" name="Oval 6"/>
          <p:cNvSpPr>
            <a:spLocks noChangeArrowheads="1"/>
          </p:cNvSpPr>
          <p:nvPr/>
        </p:nvSpPr>
        <p:spPr bwMode="auto">
          <a:xfrm>
            <a:off x="5181600" y="1905000"/>
            <a:ext cx="1600200" cy="838200"/>
          </a:xfrm>
          <a:prstGeom prst="ellipse">
            <a:avLst/>
          </a:prstGeom>
          <a:solidFill>
            <a:schemeClr val="accent1"/>
          </a:solidFill>
          <a:ln w="9525">
            <a:solidFill>
              <a:schemeClr val="tx1"/>
            </a:solidFill>
            <a:round/>
            <a:headEnd/>
            <a:tailEnd/>
          </a:ln>
        </p:spPr>
        <p:txBody>
          <a:bodyPr wrap="none" anchor="ctr"/>
          <a:lstStyle/>
          <a:p>
            <a:pPr algn="ctr"/>
            <a:r>
              <a:rPr lang="en-US" sz="2400" b="1"/>
              <a:t>Nature</a:t>
            </a:r>
          </a:p>
        </p:txBody>
      </p:sp>
      <p:sp>
        <p:nvSpPr>
          <p:cNvPr id="218119" name="Oval 7"/>
          <p:cNvSpPr>
            <a:spLocks noChangeArrowheads="1"/>
          </p:cNvSpPr>
          <p:nvPr/>
        </p:nvSpPr>
        <p:spPr bwMode="auto">
          <a:xfrm>
            <a:off x="5257800" y="4191000"/>
            <a:ext cx="1600200" cy="838200"/>
          </a:xfrm>
          <a:prstGeom prst="ellipse">
            <a:avLst/>
          </a:prstGeom>
          <a:solidFill>
            <a:schemeClr val="accent1"/>
          </a:solidFill>
          <a:ln w="9525">
            <a:solidFill>
              <a:schemeClr val="tx1"/>
            </a:solidFill>
            <a:round/>
            <a:headEnd/>
            <a:tailEnd/>
          </a:ln>
        </p:spPr>
        <p:txBody>
          <a:bodyPr wrap="none" anchor="ctr"/>
          <a:lstStyle/>
          <a:p>
            <a:pPr algn="ctr"/>
            <a:r>
              <a:rPr lang="en-US" sz="2400" b="1"/>
              <a:t>Nurture</a:t>
            </a:r>
          </a:p>
        </p:txBody>
      </p:sp>
      <p:sp>
        <p:nvSpPr>
          <p:cNvPr id="218120" name="Rectangle 8"/>
          <p:cNvSpPr>
            <a:spLocks noChangeArrowheads="1"/>
          </p:cNvSpPr>
          <p:nvPr/>
        </p:nvSpPr>
        <p:spPr bwMode="auto">
          <a:xfrm>
            <a:off x="7696200" y="1600200"/>
            <a:ext cx="2133600" cy="1143000"/>
          </a:xfrm>
          <a:prstGeom prst="rect">
            <a:avLst/>
          </a:prstGeom>
          <a:solidFill>
            <a:schemeClr val="accent1"/>
          </a:solidFill>
          <a:ln w="9525">
            <a:solidFill>
              <a:schemeClr val="tx1"/>
            </a:solidFill>
            <a:miter lim="800000"/>
            <a:headEnd/>
            <a:tailEnd/>
          </a:ln>
        </p:spPr>
        <p:txBody>
          <a:bodyPr wrap="none" anchor="ctr"/>
          <a:lstStyle/>
          <a:p>
            <a:pPr algn="ctr"/>
            <a:r>
              <a:rPr lang="en-US" b="1"/>
              <a:t>People</a:t>
            </a:r>
          </a:p>
          <a:p>
            <a:pPr algn="ctr"/>
            <a:r>
              <a:rPr lang="en-US" b="1"/>
              <a:t>development is</a:t>
            </a:r>
          </a:p>
          <a:p>
            <a:pPr algn="ctr"/>
            <a:r>
              <a:rPr lang="en-US" b="1"/>
              <a:t>a waste of time</a:t>
            </a:r>
          </a:p>
        </p:txBody>
      </p:sp>
      <p:sp>
        <p:nvSpPr>
          <p:cNvPr id="218122" name="Rectangle 10"/>
          <p:cNvSpPr>
            <a:spLocks noChangeArrowheads="1"/>
          </p:cNvSpPr>
          <p:nvPr/>
        </p:nvSpPr>
        <p:spPr bwMode="auto">
          <a:xfrm>
            <a:off x="7696200" y="3886200"/>
            <a:ext cx="2133600" cy="1143000"/>
          </a:xfrm>
          <a:prstGeom prst="rect">
            <a:avLst/>
          </a:prstGeom>
          <a:solidFill>
            <a:schemeClr val="accent1"/>
          </a:solidFill>
          <a:ln w="9525">
            <a:solidFill>
              <a:schemeClr val="tx1"/>
            </a:solidFill>
            <a:miter lim="800000"/>
            <a:headEnd/>
            <a:tailEnd/>
          </a:ln>
        </p:spPr>
        <p:txBody>
          <a:bodyPr wrap="none" anchor="ctr"/>
          <a:lstStyle/>
          <a:p>
            <a:pPr algn="ctr"/>
            <a:r>
              <a:rPr lang="en-US" b="1"/>
              <a:t>Can invest in</a:t>
            </a:r>
          </a:p>
          <a:p>
            <a:pPr algn="ctr"/>
            <a:r>
              <a:rPr lang="en-US" b="1"/>
              <a:t>people</a:t>
            </a:r>
          </a:p>
        </p:txBody>
      </p:sp>
      <p:sp>
        <p:nvSpPr>
          <p:cNvPr id="218123" name="Line 11"/>
          <p:cNvSpPr>
            <a:spLocks noChangeShapeType="1"/>
          </p:cNvSpPr>
          <p:nvPr/>
        </p:nvSpPr>
        <p:spPr bwMode="auto">
          <a:xfrm>
            <a:off x="4267200" y="2286000"/>
            <a:ext cx="914400" cy="0"/>
          </a:xfrm>
          <a:prstGeom prst="line">
            <a:avLst/>
          </a:prstGeom>
          <a:noFill/>
          <a:ln w="38100">
            <a:solidFill>
              <a:srgbClr val="17110B"/>
            </a:solidFill>
            <a:round/>
            <a:headEnd/>
            <a:tailEnd type="triangle" w="med" len="med"/>
          </a:ln>
          <a:extLst>
            <a:ext uri="{909E8E84-426E-40DD-AFC4-6F175D3DCCD1}">
              <a14:hiddenFill xmlns:a14="http://schemas.microsoft.com/office/drawing/2010/main">
                <a:noFill/>
              </a14:hiddenFill>
            </a:ext>
          </a:extLst>
        </p:spPr>
        <p:txBody>
          <a:bodyPr/>
          <a:lstStyle/>
          <a:p>
            <a:endParaRPr lang="en-IE"/>
          </a:p>
        </p:txBody>
      </p:sp>
      <p:sp>
        <p:nvSpPr>
          <p:cNvPr id="218124" name="Line 12"/>
          <p:cNvSpPr>
            <a:spLocks noChangeShapeType="1"/>
          </p:cNvSpPr>
          <p:nvPr/>
        </p:nvSpPr>
        <p:spPr bwMode="auto">
          <a:xfrm>
            <a:off x="4191000" y="4648200"/>
            <a:ext cx="914400" cy="0"/>
          </a:xfrm>
          <a:prstGeom prst="line">
            <a:avLst/>
          </a:prstGeom>
          <a:noFill/>
          <a:ln w="38100">
            <a:solidFill>
              <a:srgbClr val="17110B"/>
            </a:solidFill>
            <a:round/>
            <a:headEnd/>
            <a:tailEnd type="triangle" w="med" len="med"/>
          </a:ln>
          <a:extLst>
            <a:ext uri="{909E8E84-426E-40DD-AFC4-6F175D3DCCD1}">
              <a14:hiddenFill xmlns:a14="http://schemas.microsoft.com/office/drawing/2010/main">
                <a:noFill/>
              </a14:hiddenFill>
            </a:ext>
          </a:extLst>
        </p:spPr>
        <p:txBody>
          <a:bodyPr/>
          <a:lstStyle/>
          <a:p>
            <a:endParaRPr lang="en-IE"/>
          </a:p>
        </p:txBody>
      </p:sp>
      <p:sp>
        <p:nvSpPr>
          <p:cNvPr id="218129" name="Line 17"/>
          <p:cNvSpPr>
            <a:spLocks noChangeShapeType="1"/>
          </p:cNvSpPr>
          <p:nvPr/>
        </p:nvSpPr>
        <p:spPr bwMode="auto">
          <a:xfrm>
            <a:off x="6781800" y="2286000"/>
            <a:ext cx="914400" cy="0"/>
          </a:xfrm>
          <a:prstGeom prst="line">
            <a:avLst/>
          </a:prstGeom>
          <a:noFill/>
          <a:ln w="38100">
            <a:solidFill>
              <a:srgbClr val="17110B"/>
            </a:solidFill>
            <a:round/>
            <a:headEnd/>
            <a:tailEnd type="triangle" w="med" len="med"/>
          </a:ln>
          <a:extLst>
            <a:ext uri="{909E8E84-426E-40DD-AFC4-6F175D3DCCD1}">
              <a14:hiddenFill xmlns:a14="http://schemas.microsoft.com/office/drawing/2010/main">
                <a:noFill/>
              </a14:hiddenFill>
            </a:ext>
          </a:extLst>
        </p:spPr>
        <p:txBody>
          <a:bodyPr/>
          <a:lstStyle/>
          <a:p>
            <a:endParaRPr lang="en-IE"/>
          </a:p>
        </p:txBody>
      </p:sp>
      <p:sp>
        <p:nvSpPr>
          <p:cNvPr id="218130" name="Line 18"/>
          <p:cNvSpPr>
            <a:spLocks noChangeShapeType="1"/>
          </p:cNvSpPr>
          <p:nvPr/>
        </p:nvSpPr>
        <p:spPr bwMode="auto">
          <a:xfrm>
            <a:off x="6858000" y="4648200"/>
            <a:ext cx="914400" cy="0"/>
          </a:xfrm>
          <a:prstGeom prst="line">
            <a:avLst/>
          </a:prstGeom>
          <a:noFill/>
          <a:ln w="38100">
            <a:solidFill>
              <a:srgbClr val="17110B"/>
            </a:solidFill>
            <a:round/>
            <a:headEnd/>
            <a:tailEnd type="triangle" w="med" len="med"/>
          </a:ln>
          <a:extLst>
            <a:ext uri="{909E8E84-426E-40DD-AFC4-6F175D3DCCD1}">
              <a14:hiddenFill xmlns:a14="http://schemas.microsoft.com/office/drawing/2010/main">
                <a:noFill/>
              </a14:hiddenFill>
            </a:ext>
          </a:extLst>
        </p:spPr>
        <p:txBody>
          <a:bodyPr/>
          <a:lstStyle/>
          <a:p>
            <a:endParaRPr lang="en-IE"/>
          </a:p>
        </p:txBody>
      </p:sp>
    </p:spTree>
    <p:extLst>
      <p:ext uri="{BB962C8B-B14F-4D97-AF65-F5344CB8AC3E}">
        <p14:creationId xmlns:p14="http://schemas.microsoft.com/office/powerpoint/2010/main" val="42576621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18116"/>
                                        </p:tgtEl>
                                        <p:attrNameLst>
                                          <p:attrName>style.visibility</p:attrName>
                                        </p:attrNameLst>
                                      </p:cBhvr>
                                      <p:to>
                                        <p:strVal val="visible"/>
                                      </p:to>
                                    </p:set>
                                    <p:animEffect transition="in" filter="diamond(in)">
                                      <p:cBhvr>
                                        <p:cTn id="7" dur="2000"/>
                                        <p:tgtEl>
                                          <p:spTgt spid="218116"/>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218123"/>
                                        </p:tgtEl>
                                        <p:attrNameLst>
                                          <p:attrName>style.visibility</p:attrName>
                                        </p:attrNameLst>
                                      </p:cBhvr>
                                      <p:to>
                                        <p:strVal val="visible"/>
                                      </p:to>
                                    </p:set>
                                    <p:animEffect transition="in" filter="diamond(in)">
                                      <p:cBhvr>
                                        <p:cTn id="10" dur="2000"/>
                                        <p:tgtEl>
                                          <p:spTgt spid="218123"/>
                                        </p:tgtEl>
                                      </p:cBhvr>
                                    </p:animEffect>
                                  </p:childTnLst>
                                </p:cTn>
                              </p:par>
                              <p:par>
                                <p:cTn id="11" presetID="8" presetClass="entr" presetSubtype="16" fill="hold" grpId="0" nodeType="withEffect">
                                  <p:stCondLst>
                                    <p:cond delay="0"/>
                                  </p:stCondLst>
                                  <p:childTnLst>
                                    <p:set>
                                      <p:cBhvr>
                                        <p:cTn id="12" dur="1" fill="hold">
                                          <p:stCondLst>
                                            <p:cond delay="0"/>
                                          </p:stCondLst>
                                        </p:cTn>
                                        <p:tgtEl>
                                          <p:spTgt spid="218118"/>
                                        </p:tgtEl>
                                        <p:attrNameLst>
                                          <p:attrName>style.visibility</p:attrName>
                                        </p:attrNameLst>
                                      </p:cBhvr>
                                      <p:to>
                                        <p:strVal val="visible"/>
                                      </p:to>
                                    </p:set>
                                    <p:animEffect transition="in" filter="diamond(in)">
                                      <p:cBhvr>
                                        <p:cTn id="13" dur="2000"/>
                                        <p:tgtEl>
                                          <p:spTgt spid="218118"/>
                                        </p:tgtEl>
                                      </p:cBhvr>
                                    </p:animEffect>
                                  </p:childTnLst>
                                </p:cTn>
                              </p:par>
                              <p:par>
                                <p:cTn id="14" presetID="8" presetClass="entr" presetSubtype="16" fill="hold" grpId="0" nodeType="withEffect">
                                  <p:stCondLst>
                                    <p:cond delay="0"/>
                                  </p:stCondLst>
                                  <p:childTnLst>
                                    <p:set>
                                      <p:cBhvr>
                                        <p:cTn id="15" dur="1" fill="hold">
                                          <p:stCondLst>
                                            <p:cond delay="0"/>
                                          </p:stCondLst>
                                        </p:cTn>
                                        <p:tgtEl>
                                          <p:spTgt spid="218117"/>
                                        </p:tgtEl>
                                        <p:attrNameLst>
                                          <p:attrName>style.visibility</p:attrName>
                                        </p:attrNameLst>
                                      </p:cBhvr>
                                      <p:to>
                                        <p:strVal val="visible"/>
                                      </p:to>
                                    </p:set>
                                    <p:animEffect transition="in" filter="diamond(in)">
                                      <p:cBhvr>
                                        <p:cTn id="16" dur="2000"/>
                                        <p:tgtEl>
                                          <p:spTgt spid="218117"/>
                                        </p:tgtEl>
                                      </p:cBhvr>
                                    </p:animEffect>
                                  </p:childTnLst>
                                </p:cTn>
                              </p:par>
                              <p:par>
                                <p:cTn id="17" presetID="8" presetClass="entr" presetSubtype="16" fill="hold" grpId="0" nodeType="withEffect">
                                  <p:stCondLst>
                                    <p:cond delay="0"/>
                                  </p:stCondLst>
                                  <p:childTnLst>
                                    <p:set>
                                      <p:cBhvr>
                                        <p:cTn id="18" dur="1" fill="hold">
                                          <p:stCondLst>
                                            <p:cond delay="0"/>
                                          </p:stCondLst>
                                        </p:cTn>
                                        <p:tgtEl>
                                          <p:spTgt spid="218124"/>
                                        </p:tgtEl>
                                        <p:attrNameLst>
                                          <p:attrName>style.visibility</p:attrName>
                                        </p:attrNameLst>
                                      </p:cBhvr>
                                      <p:to>
                                        <p:strVal val="visible"/>
                                      </p:to>
                                    </p:set>
                                    <p:animEffect transition="in" filter="diamond(in)">
                                      <p:cBhvr>
                                        <p:cTn id="19" dur="2000"/>
                                        <p:tgtEl>
                                          <p:spTgt spid="218124"/>
                                        </p:tgtEl>
                                      </p:cBhvr>
                                    </p:animEffect>
                                  </p:childTnLst>
                                </p:cTn>
                              </p:par>
                              <p:par>
                                <p:cTn id="20" presetID="8" presetClass="entr" presetSubtype="16" fill="hold" grpId="0" nodeType="withEffect">
                                  <p:stCondLst>
                                    <p:cond delay="0"/>
                                  </p:stCondLst>
                                  <p:childTnLst>
                                    <p:set>
                                      <p:cBhvr>
                                        <p:cTn id="21" dur="1" fill="hold">
                                          <p:stCondLst>
                                            <p:cond delay="0"/>
                                          </p:stCondLst>
                                        </p:cTn>
                                        <p:tgtEl>
                                          <p:spTgt spid="218119"/>
                                        </p:tgtEl>
                                        <p:attrNameLst>
                                          <p:attrName>style.visibility</p:attrName>
                                        </p:attrNameLst>
                                      </p:cBhvr>
                                      <p:to>
                                        <p:strVal val="visible"/>
                                      </p:to>
                                    </p:set>
                                    <p:animEffect transition="in" filter="diamond(in)">
                                      <p:cBhvr>
                                        <p:cTn id="22" dur="2000"/>
                                        <p:tgtEl>
                                          <p:spTgt spid="218119"/>
                                        </p:tgtEl>
                                      </p:cBhvr>
                                    </p:animEffect>
                                  </p:childTnLst>
                                </p:cTn>
                              </p:par>
                              <p:par>
                                <p:cTn id="23" presetID="8" presetClass="entr" presetSubtype="16" fill="hold" grpId="0" nodeType="withEffect">
                                  <p:stCondLst>
                                    <p:cond delay="0"/>
                                  </p:stCondLst>
                                  <p:childTnLst>
                                    <p:set>
                                      <p:cBhvr>
                                        <p:cTn id="24" dur="1" fill="hold">
                                          <p:stCondLst>
                                            <p:cond delay="0"/>
                                          </p:stCondLst>
                                        </p:cTn>
                                        <p:tgtEl>
                                          <p:spTgt spid="218129"/>
                                        </p:tgtEl>
                                        <p:attrNameLst>
                                          <p:attrName>style.visibility</p:attrName>
                                        </p:attrNameLst>
                                      </p:cBhvr>
                                      <p:to>
                                        <p:strVal val="visible"/>
                                      </p:to>
                                    </p:set>
                                    <p:animEffect transition="in" filter="diamond(in)">
                                      <p:cBhvr>
                                        <p:cTn id="25" dur="2000"/>
                                        <p:tgtEl>
                                          <p:spTgt spid="218129"/>
                                        </p:tgtEl>
                                      </p:cBhvr>
                                    </p:animEffect>
                                  </p:childTnLst>
                                </p:cTn>
                              </p:par>
                              <p:par>
                                <p:cTn id="26" presetID="8" presetClass="entr" presetSubtype="16" fill="hold" grpId="0" nodeType="withEffect">
                                  <p:stCondLst>
                                    <p:cond delay="0"/>
                                  </p:stCondLst>
                                  <p:childTnLst>
                                    <p:set>
                                      <p:cBhvr>
                                        <p:cTn id="27" dur="1" fill="hold">
                                          <p:stCondLst>
                                            <p:cond delay="0"/>
                                          </p:stCondLst>
                                        </p:cTn>
                                        <p:tgtEl>
                                          <p:spTgt spid="218130"/>
                                        </p:tgtEl>
                                        <p:attrNameLst>
                                          <p:attrName>style.visibility</p:attrName>
                                        </p:attrNameLst>
                                      </p:cBhvr>
                                      <p:to>
                                        <p:strVal val="visible"/>
                                      </p:to>
                                    </p:set>
                                    <p:animEffect transition="in" filter="diamond(in)">
                                      <p:cBhvr>
                                        <p:cTn id="28" dur="2000"/>
                                        <p:tgtEl>
                                          <p:spTgt spid="21813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8" presetClass="entr" presetSubtype="16" fill="hold" grpId="0" nodeType="clickEffect">
                                  <p:stCondLst>
                                    <p:cond delay="0"/>
                                  </p:stCondLst>
                                  <p:childTnLst>
                                    <p:set>
                                      <p:cBhvr>
                                        <p:cTn id="32" dur="1" fill="hold">
                                          <p:stCondLst>
                                            <p:cond delay="0"/>
                                          </p:stCondLst>
                                        </p:cTn>
                                        <p:tgtEl>
                                          <p:spTgt spid="218120"/>
                                        </p:tgtEl>
                                        <p:attrNameLst>
                                          <p:attrName>style.visibility</p:attrName>
                                        </p:attrNameLst>
                                      </p:cBhvr>
                                      <p:to>
                                        <p:strVal val="visible"/>
                                      </p:to>
                                    </p:set>
                                    <p:animEffect transition="in" filter="diamond(in)">
                                      <p:cBhvr>
                                        <p:cTn id="33" dur="2000"/>
                                        <p:tgtEl>
                                          <p:spTgt spid="21812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8" presetClass="entr" presetSubtype="16" fill="hold" grpId="0" nodeType="clickEffect">
                                  <p:stCondLst>
                                    <p:cond delay="0"/>
                                  </p:stCondLst>
                                  <p:childTnLst>
                                    <p:set>
                                      <p:cBhvr>
                                        <p:cTn id="37" dur="1" fill="hold">
                                          <p:stCondLst>
                                            <p:cond delay="0"/>
                                          </p:stCondLst>
                                        </p:cTn>
                                        <p:tgtEl>
                                          <p:spTgt spid="218122"/>
                                        </p:tgtEl>
                                        <p:attrNameLst>
                                          <p:attrName>style.visibility</p:attrName>
                                        </p:attrNameLst>
                                      </p:cBhvr>
                                      <p:to>
                                        <p:strVal val="visible"/>
                                      </p:to>
                                    </p:set>
                                    <p:animEffect transition="in" filter="diamond(in)">
                                      <p:cBhvr>
                                        <p:cTn id="38" dur="2000"/>
                                        <p:tgtEl>
                                          <p:spTgt spid="218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6" grpId="0" animBg="1"/>
      <p:bldP spid="218117" grpId="0" animBg="1"/>
      <p:bldP spid="218118" grpId="0" animBg="1"/>
      <p:bldP spid="218119" grpId="0" animBg="1"/>
      <p:bldP spid="218120" grpId="0" animBg="1"/>
      <p:bldP spid="218122" grpId="0" animBg="1"/>
      <p:bldP spid="218123" grpId="0" animBg="1"/>
      <p:bldP spid="218124" grpId="0" animBg="1"/>
      <p:bldP spid="218129" grpId="0" animBg="1"/>
      <p:bldP spid="218130"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a:xfrm>
            <a:off x="1154429" y="489744"/>
            <a:ext cx="8341995" cy="1064736"/>
          </a:xfrm>
        </p:spPr>
        <p:txBody>
          <a:bodyPr>
            <a:normAutofit/>
          </a:bodyPr>
          <a:lstStyle/>
          <a:p>
            <a:pPr marL="320040" indent="-320040">
              <a:buClr>
                <a:schemeClr val="accent6">
                  <a:lumMod val="75000"/>
                </a:schemeClr>
              </a:buClr>
              <a:defRPr/>
            </a:pPr>
            <a:r>
              <a:rPr lang="en-US" dirty="0"/>
              <a:t>WHAT IS PERSONALITY?</a:t>
            </a:r>
          </a:p>
        </p:txBody>
      </p:sp>
      <p:sp>
        <p:nvSpPr>
          <p:cNvPr id="198659" name="Rectangle 3"/>
          <p:cNvSpPr>
            <a:spLocks noGrp="1" noChangeArrowheads="1"/>
          </p:cNvSpPr>
          <p:nvPr>
            <p:ph idx="1"/>
          </p:nvPr>
        </p:nvSpPr>
        <p:spPr>
          <a:xfrm>
            <a:off x="1154430" y="1908810"/>
            <a:ext cx="9144000" cy="3794760"/>
          </a:xfrm>
        </p:spPr>
        <p:txBody>
          <a:bodyPr/>
          <a:lstStyle/>
          <a:p>
            <a:pPr lvl="1" eaLnBrk="1" hangingPunct="1"/>
            <a:endParaRPr lang="en-US" dirty="0"/>
          </a:p>
          <a:p>
            <a:pPr lvl="1" eaLnBrk="1" hangingPunct="1"/>
            <a:endParaRPr lang="en-US" dirty="0"/>
          </a:p>
        </p:txBody>
      </p:sp>
      <p:pic>
        <p:nvPicPr>
          <p:cNvPr id="4" name="Picture 2" descr="Image result for tu dublin logo">
            <a:extLst>
              <a:ext uri="{FF2B5EF4-FFF2-40B4-BE49-F238E27FC236}">
                <a16:creationId xmlns:a16="http://schemas.microsoft.com/office/drawing/2014/main" id="{C6DD62EB-861E-4395-BFB6-A404B6E8E1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96425" y="0"/>
            <a:ext cx="2695575" cy="16954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373138E-4F6F-4954-8635-03CD278D9783}"/>
              </a:ext>
            </a:extLst>
          </p:cNvPr>
          <p:cNvSpPr txBox="1"/>
          <p:nvPr/>
        </p:nvSpPr>
        <p:spPr>
          <a:xfrm>
            <a:off x="1021078" y="1935480"/>
            <a:ext cx="10016492" cy="4339650"/>
          </a:xfrm>
          <a:prstGeom prst="rect">
            <a:avLst/>
          </a:prstGeom>
          <a:noFill/>
        </p:spPr>
        <p:txBody>
          <a:bodyPr wrap="square">
            <a:spAutoFit/>
          </a:bodyPr>
          <a:lstStyle/>
          <a:p>
            <a:r>
              <a:rPr lang="en-GB" sz="2400" dirty="0"/>
              <a:t>Personality refers to the enduring characteristics and </a:t>
            </a:r>
            <a:r>
              <a:rPr lang="en-GB" sz="2400" dirty="0" err="1"/>
              <a:t>behavior</a:t>
            </a:r>
            <a:r>
              <a:rPr lang="en-GB" sz="2400" dirty="0"/>
              <a:t> that comprise a person’s unique adjustment to life, including major traits, interests, drives, values, self-concept, abilities, and emotional patterns. Various theories explain the structure and development of personality in different ways, but all agree that personality helps determine </a:t>
            </a:r>
            <a:r>
              <a:rPr lang="en-GB" sz="2400" dirty="0" err="1"/>
              <a:t>behavior</a:t>
            </a:r>
            <a:r>
              <a:rPr lang="en-GB" sz="2400" dirty="0"/>
              <a:t>.</a:t>
            </a:r>
          </a:p>
          <a:p>
            <a:endParaRPr lang="en-GB" sz="2400" dirty="0"/>
          </a:p>
          <a:p>
            <a:r>
              <a:rPr lang="en-GB" sz="2400" dirty="0"/>
              <a:t>The field of personality psychology studies the nature and definition of personality as well as its development, structure and trait constructs, dynamic processes, variations (with emphasis on enduring and stable individual differences), and maladaptive forms.</a:t>
            </a:r>
          </a:p>
          <a:p>
            <a:endParaRPr lang="en-GB" dirty="0"/>
          </a:p>
          <a:p>
            <a:r>
              <a:rPr lang="en-GB" dirty="0"/>
              <a:t>Adapted from the APA Dictionary of Psychology</a:t>
            </a:r>
          </a:p>
        </p:txBody>
      </p:sp>
    </p:spTree>
    <p:extLst>
      <p:ext uri="{BB962C8B-B14F-4D97-AF65-F5344CB8AC3E}">
        <p14:creationId xmlns:p14="http://schemas.microsoft.com/office/powerpoint/2010/main" val="19944461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5CDA1-8A81-4195-8C90-C89BDB170383}"/>
              </a:ext>
            </a:extLst>
          </p:cNvPr>
          <p:cNvSpPr>
            <a:spLocks noGrp="1"/>
          </p:cNvSpPr>
          <p:nvPr>
            <p:ph type="title"/>
          </p:nvPr>
        </p:nvSpPr>
        <p:spPr/>
        <p:txBody>
          <a:bodyPr/>
          <a:lstStyle/>
          <a:p>
            <a:r>
              <a:rPr lang="en-GB" dirty="0"/>
              <a:t>Why does it matter </a:t>
            </a:r>
          </a:p>
        </p:txBody>
      </p:sp>
      <p:sp>
        <p:nvSpPr>
          <p:cNvPr id="3" name="Content Placeholder 2">
            <a:extLst>
              <a:ext uri="{FF2B5EF4-FFF2-40B4-BE49-F238E27FC236}">
                <a16:creationId xmlns:a16="http://schemas.microsoft.com/office/drawing/2014/main" id="{C984D84A-97E7-4069-B419-4B9D1FD8DC61}"/>
              </a:ext>
            </a:extLst>
          </p:cNvPr>
          <p:cNvSpPr>
            <a:spLocks noGrp="1"/>
          </p:cNvSpPr>
          <p:nvPr>
            <p:ph idx="1"/>
          </p:nvPr>
        </p:nvSpPr>
        <p:spPr>
          <a:xfrm>
            <a:off x="1097280" y="1845734"/>
            <a:ext cx="7635240" cy="4417906"/>
          </a:xfrm>
        </p:spPr>
        <p:txBody>
          <a:bodyPr>
            <a:normAutofit/>
          </a:bodyPr>
          <a:lstStyle/>
          <a:p>
            <a:pPr marL="274320" indent="-274320">
              <a:spcAft>
                <a:spcPts val="0"/>
              </a:spcAft>
              <a:buFont typeface="Wingdings 3"/>
              <a:buChar char=""/>
              <a:defRPr/>
            </a:pPr>
            <a:r>
              <a:rPr lang="en-US" dirty="0"/>
              <a:t>… why employees act the way they do</a:t>
            </a:r>
            <a:endParaRPr lang="en-US" sz="1000" dirty="0"/>
          </a:p>
          <a:p>
            <a:pPr marL="274320" indent="-274320">
              <a:spcAft>
                <a:spcPts val="0"/>
              </a:spcAft>
              <a:buNone/>
              <a:defRPr/>
            </a:pPr>
            <a:endParaRPr lang="en-US" sz="1000" dirty="0"/>
          </a:p>
          <a:p>
            <a:pPr marL="274320" indent="-274320">
              <a:spcAft>
                <a:spcPts val="0"/>
              </a:spcAft>
              <a:buFont typeface="Wingdings 3"/>
              <a:buChar char=""/>
              <a:defRPr/>
            </a:pPr>
            <a:r>
              <a:rPr lang="en-US" dirty="0"/>
              <a:t>…why they have favorable or unfavorable attitudes towards their jobs</a:t>
            </a:r>
          </a:p>
          <a:p>
            <a:pPr marL="274320" indent="-274320">
              <a:spcAft>
                <a:spcPts val="0"/>
              </a:spcAft>
              <a:buNone/>
              <a:defRPr/>
            </a:pPr>
            <a:endParaRPr lang="en-US" sz="1000" dirty="0"/>
          </a:p>
          <a:p>
            <a:pPr marL="274320" indent="-274320">
              <a:spcAft>
                <a:spcPts val="0"/>
              </a:spcAft>
              <a:buFont typeface="Wingdings 3"/>
              <a:buChar char=""/>
              <a:defRPr/>
            </a:pPr>
            <a:r>
              <a:rPr lang="en-US" dirty="0"/>
              <a:t> …as the assessment of personality (psychometrics) can be the basis for organizational decisions </a:t>
            </a:r>
          </a:p>
          <a:p>
            <a:pPr eaLnBrk="1" hangingPunct="1"/>
            <a:r>
              <a:rPr lang="en-US" dirty="0"/>
              <a:t>Personality has been shown to influence:</a:t>
            </a:r>
          </a:p>
          <a:p>
            <a:pPr lvl="1" eaLnBrk="1" hangingPunct="1"/>
            <a:r>
              <a:rPr lang="en-US" dirty="0"/>
              <a:t>Career choice</a:t>
            </a:r>
          </a:p>
          <a:p>
            <a:pPr lvl="1" eaLnBrk="1" hangingPunct="1"/>
            <a:r>
              <a:rPr lang="en-US" b="1" dirty="0"/>
              <a:t>Job satisfaction</a:t>
            </a:r>
          </a:p>
          <a:p>
            <a:pPr lvl="1" eaLnBrk="1" hangingPunct="1"/>
            <a:r>
              <a:rPr lang="en-US" dirty="0"/>
              <a:t>Stress </a:t>
            </a:r>
          </a:p>
          <a:p>
            <a:pPr lvl="1" eaLnBrk="1" hangingPunct="1"/>
            <a:r>
              <a:rPr lang="en-US" dirty="0"/>
              <a:t>Leadership</a:t>
            </a:r>
          </a:p>
          <a:p>
            <a:pPr lvl="1" eaLnBrk="1" hangingPunct="1"/>
            <a:r>
              <a:rPr lang="en-US" dirty="0"/>
              <a:t>Job performance</a:t>
            </a:r>
            <a:r>
              <a:rPr lang="en-US" dirty="0">
                <a:latin typeface="Times New Roman" pitchFamily="18" charset="0"/>
              </a:rPr>
              <a:t> </a:t>
            </a:r>
          </a:p>
        </p:txBody>
      </p:sp>
      <p:graphicFrame>
        <p:nvGraphicFramePr>
          <p:cNvPr id="4" name="Object 2">
            <a:extLst>
              <a:ext uri="{FF2B5EF4-FFF2-40B4-BE49-F238E27FC236}">
                <a16:creationId xmlns:a16="http://schemas.microsoft.com/office/drawing/2014/main" id="{DF506313-40BA-4E74-B70B-63E78441CCE2}"/>
              </a:ext>
            </a:extLst>
          </p:cNvPr>
          <p:cNvGraphicFramePr>
            <a:graphicFrameLocks noChangeAspect="1"/>
          </p:cNvGraphicFramePr>
          <p:nvPr>
            <p:extLst>
              <p:ext uri="{D42A27DB-BD31-4B8C-83A1-F6EECF244321}">
                <p14:modId xmlns:p14="http://schemas.microsoft.com/office/powerpoint/2010/main" val="249435040"/>
              </p:ext>
            </p:extLst>
          </p:nvPr>
        </p:nvGraphicFramePr>
        <p:xfrm>
          <a:off x="8732520" y="111761"/>
          <a:ext cx="3330575" cy="2463800"/>
        </p:xfrm>
        <a:graphic>
          <a:graphicData uri="http://schemas.openxmlformats.org/presentationml/2006/ole">
            <mc:AlternateContent xmlns:mc="http://schemas.openxmlformats.org/markup-compatibility/2006">
              <mc:Choice xmlns:v="urn:schemas-microsoft-com:vml" Requires="v">
                <p:oleObj spid="_x0000_s1044" name="Paint Shop Pro Image" r:id="rId3" imgW="3863415" imgH="2858537" progId="PaintShopPro">
                  <p:embed/>
                </p:oleObj>
              </mc:Choice>
              <mc:Fallback>
                <p:oleObj name="Paint Shop Pro Image" r:id="rId3" imgW="3863415" imgH="2858537" progId="PaintShopPro">
                  <p:embed/>
                  <p:pic>
                    <p:nvPicPr>
                      <p:cNvPr id="4" name="Object 2">
                        <a:extLst>
                          <a:ext uri="{FF2B5EF4-FFF2-40B4-BE49-F238E27FC236}">
                            <a16:creationId xmlns:a16="http://schemas.microsoft.com/office/drawing/2014/main" id="{DF506313-40BA-4E74-B70B-63E78441CC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32520" y="111761"/>
                        <a:ext cx="3330575" cy="246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6524779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33BF9DD-8A45-4EEE-B231-0A14D322E5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460E00-623E-409A-B5A9-A08E9A73A32C}"/>
              </a:ext>
            </a:extLst>
          </p:cNvPr>
          <p:cNvSpPr>
            <a:spLocks noGrp="1"/>
          </p:cNvSpPr>
          <p:nvPr>
            <p:ph type="title"/>
          </p:nvPr>
        </p:nvSpPr>
        <p:spPr>
          <a:xfrm>
            <a:off x="4635314" y="634946"/>
            <a:ext cx="6914429" cy="1450757"/>
          </a:xfrm>
        </p:spPr>
        <p:txBody>
          <a:bodyPr>
            <a:normAutofit/>
          </a:bodyPr>
          <a:lstStyle/>
          <a:p>
            <a:r>
              <a:rPr lang="en-GB" dirty="0"/>
              <a:t>Trait approach</a:t>
            </a:r>
          </a:p>
        </p:txBody>
      </p:sp>
      <p:pic>
        <p:nvPicPr>
          <p:cNvPr id="7" name="Graphic 6" descr="Head with Gears">
            <a:extLst>
              <a:ext uri="{FF2B5EF4-FFF2-40B4-BE49-F238E27FC236}">
                <a16:creationId xmlns:a16="http://schemas.microsoft.com/office/drawing/2014/main" id="{08BC1F29-24BF-54C8-786D-8A687442481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3999" y="1296626"/>
            <a:ext cx="4001315" cy="4001315"/>
          </a:xfrm>
          <a:prstGeom prst="rect">
            <a:avLst/>
          </a:prstGeom>
        </p:spPr>
      </p:pic>
      <p:cxnSp>
        <p:nvCxnSpPr>
          <p:cNvPr id="12" name="Straight Connector 11">
            <a:extLst>
              <a:ext uri="{FF2B5EF4-FFF2-40B4-BE49-F238E27FC236}">
                <a16:creationId xmlns:a16="http://schemas.microsoft.com/office/drawing/2014/main" id="{9020DCC9-F851-4562-BB20-1AB3C51BFD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74770" y="2086188"/>
            <a:ext cx="608976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F4B17BA-A9BB-4169-BCEF-A5FE94FFB3FC}"/>
              </a:ext>
            </a:extLst>
          </p:cNvPr>
          <p:cNvSpPr>
            <a:spLocks noGrp="1"/>
          </p:cNvSpPr>
          <p:nvPr>
            <p:ph idx="1"/>
          </p:nvPr>
        </p:nvSpPr>
        <p:spPr>
          <a:xfrm>
            <a:off x="4358641" y="2198914"/>
            <a:ext cx="7696200" cy="4024140"/>
          </a:xfrm>
        </p:spPr>
        <p:txBody>
          <a:bodyPr>
            <a:normAutofit/>
          </a:bodyPr>
          <a:lstStyle/>
          <a:p>
            <a:r>
              <a:rPr lang="en-GB" dirty="0"/>
              <a:t>Majority of personality research (Cattell, Eysenck, Costa &amp; </a:t>
            </a:r>
            <a:r>
              <a:rPr lang="en-GB" dirty="0" err="1"/>
              <a:t>McCae</a:t>
            </a:r>
            <a:r>
              <a:rPr lang="en-GB" dirty="0"/>
              <a:t>)</a:t>
            </a:r>
          </a:p>
          <a:p>
            <a:r>
              <a:rPr lang="en-GB" dirty="0"/>
              <a:t>Trait theory attempts to measure individual personality differences in order to understand people’s differences and similarities</a:t>
            </a:r>
          </a:p>
          <a:p>
            <a:r>
              <a:rPr lang="en-GB" dirty="0"/>
              <a:t>Trait is a theoretical unit that indicates characteristics e.g., shyness, a group of traits (shyness, quiet etc.) make up a type e.g., introvert</a:t>
            </a:r>
          </a:p>
          <a:p>
            <a:r>
              <a:rPr lang="en-GB" dirty="0"/>
              <a:t>Trait theory assumes that type of trait is stable and enduring over time (research shows this might not be the case) </a:t>
            </a:r>
          </a:p>
          <a:p>
            <a:r>
              <a:rPr lang="en-GB" dirty="0"/>
              <a:t>Identifies major patterns of behaviour in which individuals differ and classifies them. </a:t>
            </a:r>
          </a:p>
          <a:p>
            <a:r>
              <a:rPr lang="en-GB" dirty="0"/>
              <a:t>Most useful theory for Organisational Psychology! Widely used approach for psychometrics  </a:t>
            </a:r>
          </a:p>
          <a:p>
            <a:endParaRPr lang="en-GB" dirty="0"/>
          </a:p>
        </p:txBody>
      </p:sp>
      <p:sp>
        <p:nvSpPr>
          <p:cNvPr id="14" name="Rectangle 13">
            <a:extLst>
              <a:ext uri="{FF2B5EF4-FFF2-40B4-BE49-F238E27FC236}">
                <a16:creationId xmlns:a16="http://schemas.microsoft.com/office/drawing/2014/main" id="{D5FBCAC9-BD8B-4F3B-AD74-EF37D421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a:extLst>
              <a:ext uri="{FF2B5EF4-FFF2-40B4-BE49-F238E27FC236}">
                <a16:creationId xmlns:a16="http://schemas.microsoft.com/office/drawing/2014/main" id="{9556C5A8-AD7E-4CE7-87BE-9EA3B5E17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231961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99000"/>
                <a:satMod val="140000"/>
              </a:schemeClr>
            </a:gs>
            <a:gs pos="65000">
              <a:schemeClr val="bg1">
                <a:tint val="100000"/>
                <a:shade val="80000"/>
                <a:satMod val="130000"/>
              </a:schemeClr>
            </a:gs>
            <a:gs pos="100000">
              <a:schemeClr val="bg1">
                <a:tint val="100000"/>
                <a:shade val="48000"/>
                <a:satMod val="120000"/>
              </a:schemeClr>
            </a:gs>
          </a:gsLst>
          <a:lin ang="16200000" scaled="0"/>
        </a:gra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25C8D2C1-DA83-420D-9635-D52CE066B5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a:extLst>
              <a:ext uri="{FF2B5EF4-FFF2-40B4-BE49-F238E27FC236}">
                <a16:creationId xmlns:a16="http://schemas.microsoft.com/office/drawing/2014/main" id="{434F74C9-6A0B-409E-AD1C-45B58BE91B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29" name="Straight Connector 28">
            <a:extLst>
              <a:ext uri="{FF2B5EF4-FFF2-40B4-BE49-F238E27FC236}">
                <a16:creationId xmlns:a16="http://schemas.microsoft.com/office/drawing/2014/main" id="{F5486A9D-1265-4B57-91E6-68E666B978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Background pattern&#10;&#10;Description automatically generated">
            <a:extLst>
              <a:ext uri="{FF2B5EF4-FFF2-40B4-BE49-F238E27FC236}">
                <a16:creationId xmlns:a16="http://schemas.microsoft.com/office/drawing/2014/main" id="{B0721FC2-4A08-50EC-854E-1D860AF50E78}"/>
              </a:ext>
            </a:extLst>
          </p:cNvPr>
          <p:cNvPicPr>
            <a:picLocks noChangeAspect="1"/>
          </p:cNvPicPr>
          <p:nvPr/>
        </p:nvPicPr>
        <p:blipFill rotWithShape="1">
          <a:blip r:embed="rId2">
            <a:alphaModFix amt="35000"/>
          </a:blip>
          <a:srcRect t="1747"/>
          <a:stretch/>
        </p:blipFill>
        <p:spPr>
          <a:xfrm>
            <a:off x="20" y="10"/>
            <a:ext cx="12191980" cy="6857991"/>
          </a:xfrm>
          <a:prstGeom prst="rect">
            <a:avLst/>
          </a:prstGeom>
        </p:spPr>
      </p:pic>
      <p:sp>
        <p:nvSpPr>
          <p:cNvPr id="4" name="Title 3">
            <a:extLst>
              <a:ext uri="{FF2B5EF4-FFF2-40B4-BE49-F238E27FC236}">
                <a16:creationId xmlns:a16="http://schemas.microsoft.com/office/drawing/2014/main" id="{019961C4-3C93-4A87-9F00-CD315F5A7455}"/>
              </a:ext>
            </a:extLst>
          </p:cNvPr>
          <p:cNvSpPr>
            <a:spLocks noGrp="1"/>
          </p:cNvSpPr>
          <p:nvPr>
            <p:ph type="title"/>
          </p:nvPr>
        </p:nvSpPr>
        <p:spPr>
          <a:xfrm>
            <a:off x="1097280" y="758952"/>
            <a:ext cx="10058400" cy="3566160"/>
          </a:xfrm>
        </p:spPr>
        <p:txBody>
          <a:bodyPr vert="horz" lIns="91440" tIns="45720" rIns="91440" bIns="45720" rtlCol="0" anchor="b">
            <a:normAutofit/>
          </a:bodyPr>
          <a:lstStyle/>
          <a:p>
            <a:pPr algn="ctr"/>
            <a:r>
              <a:rPr lang="en-US" dirty="0">
                <a:solidFill>
                  <a:srgbClr val="FFFFFF"/>
                </a:solidFill>
              </a:rPr>
              <a:t>You Fit a Type, You Have a Trait. </a:t>
            </a:r>
          </a:p>
        </p:txBody>
      </p:sp>
      <p:sp>
        <p:nvSpPr>
          <p:cNvPr id="3" name="Content Placeholder 2">
            <a:extLst>
              <a:ext uri="{FF2B5EF4-FFF2-40B4-BE49-F238E27FC236}">
                <a16:creationId xmlns:a16="http://schemas.microsoft.com/office/drawing/2014/main" id="{FA744C6B-A6FB-4D78-A0C4-2CD5E54590DD}"/>
              </a:ext>
            </a:extLst>
          </p:cNvPr>
          <p:cNvSpPr>
            <a:spLocks noGrp="1"/>
          </p:cNvSpPr>
          <p:nvPr>
            <p:ph type="body" idx="1"/>
          </p:nvPr>
        </p:nvSpPr>
        <p:spPr>
          <a:xfrm>
            <a:off x="1100051" y="4455620"/>
            <a:ext cx="10058400" cy="1143000"/>
          </a:xfrm>
        </p:spPr>
        <p:txBody>
          <a:bodyPr vert="horz" lIns="91440" tIns="45720" rIns="91440" bIns="45720" rtlCol="0">
            <a:normAutofit/>
          </a:bodyPr>
          <a:lstStyle/>
          <a:p>
            <a:endParaRPr lang="en-US">
              <a:solidFill>
                <a:srgbClr val="FFFFFF"/>
              </a:solidFill>
            </a:endParaRPr>
          </a:p>
        </p:txBody>
      </p:sp>
      <p:cxnSp>
        <p:nvCxnSpPr>
          <p:cNvPr id="31" name="Straight Connector 30">
            <a:extLst>
              <a:ext uri="{FF2B5EF4-FFF2-40B4-BE49-F238E27FC236}">
                <a16:creationId xmlns:a16="http://schemas.microsoft.com/office/drawing/2014/main" id="{4071767D-5FF7-4508-B8B7-BB60FF3AB2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C4E89C94-E462-4566-A15A-32835FD68B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5" name="Rectangle 34">
            <a:extLst>
              <a:ext uri="{FF2B5EF4-FFF2-40B4-BE49-F238E27FC236}">
                <a16:creationId xmlns:a16="http://schemas.microsoft.com/office/drawing/2014/main" id="{E25F4A20-71FB-4A26-92E2-89DED49264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291543030"/>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a:xfrm>
            <a:off x="1981200" y="838200"/>
            <a:ext cx="7467600" cy="639762"/>
          </a:xfrm>
        </p:spPr>
        <p:txBody>
          <a:bodyPr>
            <a:normAutofit fontScale="90000"/>
          </a:bodyPr>
          <a:lstStyle/>
          <a:p>
            <a:pPr marL="320040" indent="-320040">
              <a:buClr>
                <a:schemeClr val="accent6">
                  <a:lumMod val="75000"/>
                </a:schemeClr>
              </a:buClr>
              <a:defRPr/>
            </a:pPr>
            <a:r>
              <a:rPr lang="en-US" dirty="0"/>
              <a:t>TYPES AND TRAITS</a:t>
            </a:r>
          </a:p>
        </p:txBody>
      </p:sp>
      <p:sp>
        <p:nvSpPr>
          <p:cNvPr id="34819" name="Rectangle 3"/>
          <p:cNvSpPr>
            <a:spLocks noGrp="1" noChangeArrowheads="1"/>
          </p:cNvSpPr>
          <p:nvPr>
            <p:ph idx="1"/>
          </p:nvPr>
        </p:nvSpPr>
        <p:spPr>
          <a:xfrm>
            <a:off x="2514600" y="2224881"/>
            <a:ext cx="6400800" cy="3475038"/>
          </a:xfrm>
        </p:spPr>
        <p:txBody>
          <a:bodyPr/>
          <a:lstStyle/>
          <a:p>
            <a:pPr eaLnBrk="1" hangingPunct="1"/>
            <a:r>
              <a:rPr lang="en-US" dirty="0"/>
              <a:t>Categorize people into personality </a:t>
            </a:r>
            <a:r>
              <a:rPr lang="en-US" i="1" dirty="0"/>
              <a:t>types</a:t>
            </a:r>
          </a:p>
          <a:p>
            <a:pPr eaLnBrk="1" hangingPunct="1"/>
            <a:endParaRPr lang="en-US" i="1" dirty="0"/>
          </a:p>
          <a:p>
            <a:pPr eaLnBrk="1" hangingPunct="1"/>
            <a:endParaRPr lang="en-US" i="1" dirty="0"/>
          </a:p>
        </p:txBody>
      </p:sp>
      <p:sp>
        <p:nvSpPr>
          <p:cNvPr id="219140" name="Rectangle 4"/>
          <p:cNvSpPr>
            <a:spLocks noChangeArrowheads="1"/>
          </p:cNvSpPr>
          <p:nvPr/>
        </p:nvSpPr>
        <p:spPr bwMode="auto">
          <a:xfrm>
            <a:off x="3124200" y="2895600"/>
            <a:ext cx="5867400" cy="2133600"/>
          </a:xfrm>
          <a:prstGeom prst="rect">
            <a:avLst/>
          </a:prstGeom>
          <a:solidFill>
            <a:schemeClr val="accent1"/>
          </a:solidFill>
          <a:ln w="9525">
            <a:solidFill>
              <a:schemeClr val="tx1"/>
            </a:solidFill>
            <a:miter lim="800000"/>
            <a:headEnd/>
            <a:tailEnd/>
          </a:ln>
        </p:spPr>
        <p:txBody>
          <a:bodyPr wrap="none" anchor="ctr"/>
          <a:lstStyle/>
          <a:p>
            <a:pPr algn="ctr"/>
            <a:r>
              <a:rPr lang="en-US" sz="2800"/>
              <a:t>… a personality type is a distinct </a:t>
            </a:r>
          </a:p>
          <a:p>
            <a:pPr algn="ctr"/>
            <a:r>
              <a:rPr lang="en-US" sz="2800"/>
              <a:t>label for a distinct pattern of </a:t>
            </a:r>
          </a:p>
          <a:p>
            <a:pPr algn="ctr"/>
            <a:r>
              <a:rPr lang="en-US" sz="2800"/>
              <a:t>personality characteristics</a:t>
            </a:r>
          </a:p>
        </p:txBody>
      </p:sp>
      <p:pic>
        <p:nvPicPr>
          <p:cNvPr id="5" name="Picture 2" descr="Image result for tu dublin logo">
            <a:extLst>
              <a:ext uri="{FF2B5EF4-FFF2-40B4-BE49-F238E27FC236}">
                <a16:creationId xmlns:a16="http://schemas.microsoft.com/office/drawing/2014/main" id="{F89D260C-A209-4166-B8B0-805B23B194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96425" y="0"/>
            <a:ext cx="2695575" cy="1695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82939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19140"/>
                                        </p:tgtEl>
                                        <p:attrNameLst>
                                          <p:attrName>style.visibility</p:attrName>
                                        </p:attrNameLst>
                                      </p:cBhvr>
                                      <p:to>
                                        <p:strVal val="visible"/>
                                      </p:to>
                                    </p:set>
                                    <p:animEffect transition="in" filter="diamond(in)">
                                      <p:cBhvr>
                                        <p:cTn id="7" dur="2000"/>
                                        <p:tgtEl>
                                          <p:spTgt spid="219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4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ChangeArrowheads="1"/>
          </p:cNvSpPr>
          <p:nvPr>
            <p:ph type="title"/>
          </p:nvPr>
        </p:nvSpPr>
        <p:spPr>
          <a:xfrm>
            <a:off x="1905000" y="717552"/>
            <a:ext cx="7467600" cy="639762"/>
          </a:xfrm>
        </p:spPr>
        <p:txBody>
          <a:bodyPr>
            <a:normAutofit fontScale="90000"/>
          </a:bodyPr>
          <a:lstStyle/>
          <a:p>
            <a:pPr marL="320040" indent="-320040">
              <a:buClr>
                <a:schemeClr val="accent6">
                  <a:lumMod val="75000"/>
                </a:schemeClr>
              </a:buClr>
              <a:defRPr/>
            </a:pPr>
            <a:r>
              <a:rPr lang="en-US" dirty="0"/>
              <a:t>TYPES AND TRAITS</a:t>
            </a:r>
          </a:p>
        </p:txBody>
      </p:sp>
      <p:sp>
        <p:nvSpPr>
          <p:cNvPr id="35843" name="Rectangle 3"/>
          <p:cNvSpPr>
            <a:spLocks noGrp="1" noChangeArrowheads="1"/>
          </p:cNvSpPr>
          <p:nvPr>
            <p:ph idx="1"/>
          </p:nvPr>
        </p:nvSpPr>
        <p:spPr>
          <a:xfrm>
            <a:off x="2438400" y="2071689"/>
            <a:ext cx="6400800" cy="3475037"/>
          </a:xfrm>
        </p:spPr>
        <p:txBody>
          <a:bodyPr/>
          <a:lstStyle/>
          <a:p>
            <a:pPr eaLnBrk="1" hangingPunct="1"/>
            <a:r>
              <a:rPr lang="en-US"/>
              <a:t>Trait is any enduring behaviour that occurs in a variety of settings</a:t>
            </a:r>
          </a:p>
        </p:txBody>
      </p:sp>
      <p:sp>
        <p:nvSpPr>
          <p:cNvPr id="220165" name="Rectangle 5"/>
          <p:cNvSpPr>
            <a:spLocks noChangeArrowheads="1"/>
          </p:cNvSpPr>
          <p:nvPr/>
        </p:nvSpPr>
        <p:spPr bwMode="auto">
          <a:xfrm>
            <a:off x="2895600" y="3124200"/>
            <a:ext cx="6858000" cy="2133600"/>
          </a:xfrm>
          <a:prstGeom prst="rect">
            <a:avLst/>
          </a:prstGeom>
          <a:solidFill>
            <a:schemeClr val="accent1"/>
          </a:solidFill>
          <a:ln w="9525">
            <a:solidFill>
              <a:schemeClr val="tx1"/>
            </a:solidFill>
            <a:miter lim="800000"/>
            <a:headEnd/>
            <a:tailEnd/>
          </a:ln>
        </p:spPr>
        <p:txBody>
          <a:bodyPr wrap="none" anchor="ctr"/>
          <a:lstStyle/>
          <a:p>
            <a:pPr algn="ctr"/>
            <a:r>
              <a:rPr lang="en-US" sz="2800"/>
              <a:t>Examples of traits include shyness</a:t>
            </a:r>
          </a:p>
          <a:p>
            <a:pPr algn="ctr"/>
            <a:r>
              <a:rPr lang="en-US" sz="2800"/>
              <a:t>excitability, reliability, moodiness</a:t>
            </a:r>
          </a:p>
        </p:txBody>
      </p:sp>
      <p:pic>
        <p:nvPicPr>
          <p:cNvPr id="5" name="Picture 2" descr="Image result for tu dublin logo">
            <a:extLst>
              <a:ext uri="{FF2B5EF4-FFF2-40B4-BE49-F238E27FC236}">
                <a16:creationId xmlns:a16="http://schemas.microsoft.com/office/drawing/2014/main" id="{B094A5E5-CA76-46AD-AA6D-BCB6A20A0F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96425" y="0"/>
            <a:ext cx="2695575" cy="1695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5195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20165"/>
                                        </p:tgtEl>
                                        <p:attrNameLst>
                                          <p:attrName>style.visibility</p:attrName>
                                        </p:attrNameLst>
                                      </p:cBhvr>
                                      <p:to>
                                        <p:strVal val="visible"/>
                                      </p:to>
                                    </p:set>
                                    <p:animEffect transition="in" filter="diamond(in)">
                                      <p:cBhvr>
                                        <p:cTn id="7" dur="2000"/>
                                        <p:tgtEl>
                                          <p:spTgt spid="2201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6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1" name="Rectangle 3"/>
          <p:cNvSpPr>
            <a:spLocks noGrp="1" noChangeArrowheads="1"/>
          </p:cNvSpPr>
          <p:nvPr>
            <p:ph idx="1"/>
          </p:nvPr>
        </p:nvSpPr>
        <p:spPr>
          <a:xfrm>
            <a:off x="1196340" y="1847850"/>
            <a:ext cx="10176510" cy="4419600"/>
          </a:xfrm>
        </p:spPr>
        <p:txBody>
          <a:bodyPr>
            <a:normAutofit/>
          </a:bodyPr>
          <a:lstStyle/>
          <a:p>
            <a:pPr eaLnBrk="1" hangingPunct="1">
              <a:lnSpc>
                <a:spcPct val="90000"/>
              </a:lnSpc>
              <a:buFontTx/>
              <a:buNone/>
            </a:pPr>
            <a:r>
              <a:rPr lang="en-US" dirty="0"/>
              <a:t>Objective:</a:t>
            </a:r>
          </a:p>
          <a:p>
            <a:pPr eaLnBrk="1" hangingPunct="1">
              <a:lnSpc>
                <a:spcPct val="90000"/>
              </a:lnSpc>
            </a:pPr>
            <a:r>
              <a:rPr lang="en-US" dirty="0"/>
              <a:t>To give you an opportunity to assess your personality of propensity to suffer stress-related disease</a:t>
            </a:r>
          </a:p>
          <a:p>
            <a:pPr eaLnBrk="1" hangingPunct="1">
              <a:lnSpc>
                <a:spcPct val="90000"/>
              </a:lnSpc>
              <a:buFontTx/>
              <a:buNone/>
            </a:pPr>
            <a:endParaRPr lang="en-US" dirty="0"/>
          </a:p>
          <a:p>
            <a:pPr eaLnBrk="1" hangingPunct="1">
              <a:lnSpc>
                <a:spcPct val="90000"/>
              </a:lnSpc>
              <a:buFontTx/>
              <a:buNone/>
            </a:pPr>
            <a:r>
              <a:rPr lang="en-US" dirty="0"/>
              <a:t>Instructions:</a:t>
            </a:r>
          </a:p>
          <a:p>
            <a:pPr eaLnBrk="1" hangingPunct="1">
              <a:lnSpc>
                <a:spcPct val="90000"/>
              </a:lnSpc>
            </a:pPr>
            <a:r>
              <a:rPr lang="en-US" dirty="0"/>
              <a:t>This questionnaire is designed to identify whether you have a Type a or B personality. </a:t>
            </a:r>
          </a:p>
          <a:p>
            <a:pPr eaLnBrk="1" hangingPunct="1">
              <a:lnSpc>
                <a:spcPct val="90000"/>
              </a:lnSpc>
            </a:pPr>
            <a:r>
              <a:rPr lang="en-US" dirty="0"/>
              <a:t>Here are eight pairs of statements describing aspect of personality and </a:t>
            </a:r>
            <a:r>
              <a:rPr lang="en-US" dirty="0" err="1"/>
              <a:t>behaviour</a:t>
            </a:r>
            <a:r>
              <a:rPr lang="en-US" dirty="0"/>
              <a:t>. </a:t>
            </a:r>
          </a:p>
          <a:p>
            <a:pPr eaLnBrk="1" hangingPunct="1">
              <a:lnSpc>
                <a:spcPct val="90000"/>
              </a:lnSpc>
            </a:pPr>
            <a:r>
              <a:rPr lang="en-US" dirty="0"/>
              <a:t>For each pair, decide which is more accurate as a description of you and circle the appropriate point on the seven-point rating scale</a:t>
            </a:r>
          </a:p>
          <a:p>
            <a:pPr eaLnBrk="1" hangingPunct="1">
              <a:lnSpc>
                <a:spcPct val="90000"/>
              </a:lnSpc>
            </a:pPr>
            <a:r>
              <a:rPr lang="en-US" dirty="0"/>
              <a:t>Be Honest – no right or wrong answers</a:t>
            </a:r>
          </a:p>
        </p:txBody>
      </p:sp>
      <p:sp>
        <p:nvSpPr>
          <p:cNvPr id="4" name="Rectangle 2"/>
          <p:cNvSpPr txBox="1">
            <a:spLocks noChangeArrowheads="1"/>
          </p:cNvSpPr>
          <p:nvPr/>
        </p:nvSpPr>
        <p:spPr>
          <a:xfrm>
            <a:off x="1905000" y="381000"/>
            <a:ext cx="8229600" cy="838200"/>
          </a:xfrm>
          <a:prstGeom prst="rect">
            <a:avLst/>
          </a:prstGeom>
        </p:spPr>
        <p:txBody>
          <a:bodyPr vert="horz" lIns="91440" tIns="45720" rIns="91440" bIns="45720" rtlCol="0" anchor="ctr">
            <a:normAutofit fontScale="75000" lnSpcReduction="20000"/>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marL="320040" indent="-320040">
              <a:buClr>
                <a:schemeClr val="accent6">
                  <a:lumMod val="75000"/>
                </a:schemeClr>
              </a:buClr>
              <a:defRPr/>
            </a:pPr>
            <a:r>
              <a:rPr lang="en-US" dirty="0"/>
              <a:t>ARE YOU A TYPE A OR B PERSONALITY</a:t>
            </a:r>
            <a:r>
              <a:rPr lang="en-US" sz="3600" dirty="0"/>
              <a:t>?</a:t>
            </a:r>
            <a:br>
              <a:rPr lang="en-US" sz="3600" dirty="0"/>
            </a:br>
            <a:endParaRPr lang="en-US" sz="3600" dirty="0"/>
          </a:p>
        </p:txBody>
      </p:sp>
    </p:spTree>
    <p:extLst>
      <p:ext uri="{BB962C8B-B14F-4D97-AF65-F5344CB8AC3E}">
        <p14:creationId xmlns:p14="http://schemas.microsoft.com/office/powerpoint/2010/main" val="25144178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68291">
                                            <p:txEl>
                                              <p:pRg st="0" end="0"/>
                                            </p:txEl>
                                          </p:spTgt>
                                        </p:tgtEl>
                                        <p:attrNameLst>
                                          <p:attrName>style.visibility</p:attrName>
                                        </p:attrNameLst>
                                      </p:cBhvr>
                                      <p:to>
                                        <p:strVal val="visible"/>
                                      </p:to>
                                    </p:set>
                                    <p:anim calcmode="lin" valueType="num">
                                      <p:cBhvr additive="base">
                                        <p:cTn id="7" dur="500" fill="hold"/>
                                        <p:tgtEl>
                                          <p:spTgt spid="2682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829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68291">
                                            <p:txEl>
                                              <p:pRg st="1" end="1"/>
                                            </p:txEl>
                                          </p:spTgt>
                                        </p:tgtEl>
                                        <p:attrNameLst>
                                          <p:attrName>style.visibility</p:attrName>
                                        </p:attrNameLst>
                                      </p:cBhvr>
                                      <p:to>
                                        <p:strVal val="visible"/>
                                      </p:to>
                                    </p:set>
                                    <p:anim calcmode="lin" valueType="num">
                                      <p:cBhvr additive="base">
                                        <p:cTn id="11" dur="500" fill="hold"/>
                                        <p:tgtEl>
                                          <p:spTgt spid="26829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6829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268291">
                                            <p:txEl>
                                              <p:pRg st="3" end="3"/>
                                            </p:txEl>
                                          </p:spTgt>
                                        </p:tgtEl>
                                        <p:attrNameLst>
                                          <p:attrName>style.visibility</p:attrName>
                                        </p:attrNameLst>
                                      </p:cBhvr>
                                      <p:to>
                                        <p:strVal val="visible"/>
                                      </p:to>
                                    </p:set>
                                    <p:anim calcmode="lin" valueType="num">
                                      <p:cBhvr additive="base">
                                        <p:cTn id="17" dur="500" fill="hold"/>
                                        <p:tgtEl>
                                          <p:spTgt spid="268291">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6829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8" presetClass="entr" presetSubtype="16" fill="hold" nodeType="clickEffect">
                                  <p:stCondLst>
                                    <p:cond delay="0"/>
                                  </p:stCondLst>
                                  <p:childTnLst>
                                    <p:set>
                                      <p:cBhvr>
                                        <p:cTn id="22" dur="1" fill="hold">
                                          <p:stCondLst>
                                            <p:cond delay="0"/>
                                          </p:stCondLst>
                                        </p:cTn>
                                        <p:tgtEl>
                                          <p:spTgt spid="268291">
                                            <p:txEl>
                                              <p:pRg st="4" end="4"/>
                                            </p:txEl>
                                          </p:spTgt>
                                        </p:tgtEl>
                                        <p:attrNameLst>
                                          <p:attrName>style.visibility</p:attrName>
                                        </p:attrNameLst>
                                      </p:cBhvr>
                                      <p:to>
                                        <p:strVal val="visible"/>
                                      </p:to>
                                    </p:set>
                                    <p:animEffect transition="in" filter="diamond(in)">
                                      <p:cBhvr>
                                        <p:cTn id="23" dur="2000"/>
                                        <p:tgtEl>
                                          <p:spTgt spid="268291">
                                            <p:txEl>
                                              <p:pRg st="4" end="4"/>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8" presetClass="entr" presetSubtype="16" fill="hold" nodeType="clickEffect">
                                  <p:stCondLst>
                                    <p:cond delay="0"/>
                                  </p:stCondLst>
                                  <p:childTnLst>
                                    <p:set>
                                      <p:cBhvr>
                                        <p:cTn id="27" dur="1" fill="hold">
                                          <p:stCondLst>
                                            <p:cond delay="0"/>
                                          </p:stCondLst>
                                        </p:cTn>
                                        <p:tgtEl>
                                          <p:spTgt spid="268291">
                                            <p:txEl>
                                              <p:pRg st="5" end="5"/>
                                            </p:txEl>
                                          </p:spTgt>
                                        </p:tgtEl>
                                        <p:attrNameLst>
                                          <p:attrName>style.visibility</p:attrName>
                                        </p:attrNameLst>
                                      </p:cBhvr>
                                      <p:to>
                                        <p:strVal val="visible"/>
                                      </p:to>
                                    </p:set>
                                    <p:animEffect transition="in" filter="diamond(in)">
                                      <p:cBhvr>
                                        <p:cTn id="28" dur="2000"/>
                                        <p:tgtEl>
                                          <p:spTgt spid="268291">
                                            <p:txEl>
                                              <p:pRg st="5" end="5"/>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8" presetClass="entr" presetSubtype="16" fill="hold" nodeType="clickEffect">
                                  <p:stCondLst>
                                    <p:cond delay="0"/>
                                  </p:stCondLst>
                                  <p:childTnLst>
                                    <p:set>
                                      <p:cBhvr>
                                        <p:cTn id="32" dur="1" fill="hold">
                                          <p:stCondLst>
                                            <p:cond delay="0"/>
                                          </p:stCondLst>
                                        </p:cTn>
                                        <p:tgtEl>
                                          <p:spTgt spid="268291">
                                            <p:txEl>
                                              <p:pRg st="6" end="6"/>
                                            </p:txEl>
                                          </p:spTgt>
                                        </p:tgtEl>
                                        <p:attrNameLst>
                                          <p:attrName>style.visibility</p:attrName>
                                        </p:attrNameLst>
                                      </p:cBhvr>
                                      <p:to>
                                        <p:strVal val="visible"/>
                                      </p:to>
                                    </p:set>
                                    <p:animEffect transition="in" filter="diamond(in)">
                                      <p:cBhvr>
                                        <p:cTn id="33" dur="2000"/>
                                        <p:tgtEl>
                                          <p:spTgt spid="268291">
                                            <p:txEl>
                                              <p:pRg st="6" end="6"/>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8" presetClass="entr" presetSubtype="16" fill="hold" nodeType="clickEffect">
                                  <p:stCondLst>
                                    <p:cond delay="0"/>
                                  </p:stCondLst>
                                  <p:childTnLst>
                                    <p:set>
                                      <p:cBhvr>
                                        <p:cTn id="37" dur="1" fill="hold">
                                          <p:stCondLst>
                                            <p:cond delay="0"/>
                                          </p:stCondLst>
                                        </p:cTn>
                                        <p:tgtEl>
                                          <p:spTgt spid="268291">
                                            <p:txEl>
                                              <p:pRg st="7" end="7"/>
                                            </p:txEl>
                                          </p:spTgt>
                                        </p:tgtEl>
                                        <p:attrNameLst>
                                          <p:attrName>style.visibility</p:attrName>
                                        </p:attrNameLst>
                                      </p:cBhvr>
                                      <p:to>
                                        <p:strVal val="visible"/>
                                      </p:to>
                                    </p:set>
                                    <p:animEffect transition="in" filter="diamond(in)">
                                      <p:cBhvr>
                                        <p:cTn id="38" dur="2000"/>
                                        <p:tgtEl>
                                          <p:spTgt spid="26829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66" name="Rectangle 54"/>
          <p:cNvSpPr>
            <a:spLocks noGrp="1" noChangeArrowheads="1"/>
          </p:cNvSpPr>
          <p:nvPr>
            <p:ph type="title"/>
          </p:nvPr>
        </p:nvSpPr>
        <p:spPr/>
        <p:txBody>
          <a:bodyPr>
            <a:normAutofit/>
          </a:bodyPr>
          <a:lstStyle/>
          <a:p>
            <a:pPr marL="320040" indent="-320040">
              <a:buClr>
                <a:schemeClr val="accent6">
                  <a:lumMod val="75000"/>
                </a:schemeClr>
              </a:buClr>
              <a:defRPr/>
            </a:pPr>
            <a:r>
              <a:rPr lang="en-US"/>
              <a:t>CHAPTER EXERCISE</a:t>
            </a:r>
          </a:p>
        </p:txBody>
      </p:sp>
      <p:graphicFrame>
        <p:nvGraphicFramePr>
          <p:cNvPr id="269420" name="Group 108"/>
          <p:cNvGraphicFramePr>
            <a:graphicFrameLocks noGrp="1"/>
          </p:cNvGraphicFramePr>
          <p:nvPr/>
        </p:nvGraphicFramePr>
        <p:xfrm>
          <a:off x="2209800" y="1447801"/>
          <a:ext cx="7924800" cy="1082675"/>
        </p:xfrm>
        <a:graphic>
          <a:graphicData uri="http://schemas.openxmlformats.org/drawingml/2006/table">
            <a:tbl>
              <a:tblPr/>
              <a:tblGrid>
                <a:gridCol w="2084388">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9587">
                  <a:extLst>
                    <a:ext uri="{9D8B030D-6E8A-4147-A177-3AD203B41FA5}">
                      <a16:colId xmlns:a16="http://schemas.microsoft.com/office/drawing/2014/main" val="20002"/>
                    </a:ext>
                  </a:extLst>
                </a:gridCol>
                <a:gridCol w="506413">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gridCol w="506412">
                  <a:extLst>
                    <a:ext uri="{9D8B030D-6E8A-4147-A177-3AD203B41FA5}">
                      <a16:colId xmlns:a16="http://schemas.microsoft.com/office/drawing/2014/main" val="20005"/>
                    </a:ext>
                  </a:extLst>
                </a:gridCol>
                <a:gridCol w="508000">
                  <a:extLst>
                    <a:ext uri="{9D8B030D-6E8A-4147-A177-3AD203B41FA5}">
                      <a16:colId xmlns:a16="http://schemas.microsoft.com/office/drawing/2014/main" val="20006"/>
                    </a:ext>
                  </a:extLst>
                </a:gridCol>
                <a:gridCol w="508000">
                  <a:extLst>
                    <a:ext uri="{9D8B030D-6E8A-4147-A177-3AD203B41FA5}">
                      <a16:colId xmlns:a16="http://schemas.microsoft.com/office/drawing/2014/main" val="20007"/>
                    </a:ext>
                  </a:extLst>
                </a:gridCol>
                <a:gridCol w="2286000">
                  <a:extLst>
                    <a:ext uri="{9D8B030D-6E8A-4147-A177-3AD203B41FA5}">
                      <a16:colId xmlns:a16="http://schemas.microsoft.com/office/drawing/2014/main" val="20008"/>
                    </a:ext>
                  </a:extLst>
                </a:gridCol>
              </a:tblGrid>
              <a:tr h="108267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I am casual about appointments</a:t>
                      </a:r>
                    </a:p>
                  </a:txBody>
                  <a:tcPr marT="45742" marB="457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1</a:t>
                      </a:r>
                    </a:p>
                  </a:txBody>
                  <a:tcPr marT="45742" marB="457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2</a:t>
                      </a:r>
                    </a:p>
                  </a:txBody>
                  <a:tcPr marT="45742" marB="457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3</a:t>
                      </a:r>
                    </a:p>
                  </a:txBody>
                  <a:tcPr marT="45742" marB="457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4</a:t>
                      </a:r>
                    </a:p>
                  </a:txBody>
                  <a:tcPr marT="45742" marB="457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5</a:t>
                      </a:r>
                    </a:p>
                  </a:txBody>
                  <a:tcPr marT="45742" marB="457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6</a:t>
                      </a:r>
                    </a:p>
                  </a:txBody>
                  <a:tcPr marT="45742" marB="457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7</a:t>
                      </a:r>
                    </a:p>
                  </a:txBody>
                  <a:tcPr marT="45742" marB="457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I am never late</a:t>
                      </a:r>
                    </a:p>
                  </a:txBody>
                  <a:tcPr marT="45742" marB="457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4" name="Group 56"/>
          <p:cNvGraphicFramePr>
            <a:graphicFrameLocks noGrp="1"/>
          </p:cNvGraphicFramePr>
          <p:nvPr/>
        </p:nvGraphicFramePr>
        <p:xfrm>
          <a:off x="2209800" y="2667001"/>
          <a:ext cx="7772400" cy="701675"/>
        </p:xfrm>
        <a:graphic>
          <a:graphicData uri="http://schemas.openxmlformats.org/drawingml/2006/table">
            <a:tbl>
              <a:tblPr/>
              <a:tblGrid>
                <a:gridCol w="2044700">
                  <a:extLst>
                    <a:ext uri="{9D8B030D-6E8A-4147-A177-3AD203B41FA5}">
                      <a16:colId xmlns:a16="http://schemas.microsoft.com/office/drawing/2014/main" val="20000"/>
                    </a:ext>
                  </a:extLst>
                </a:gridCol>
                <a:gridCol w="498475">
                  <a:extLst>
                    <a:ext uri="{9D8B030D-6E8A-4147-A177-3AD203B41FA5}">
                      <a16:colId xmlns:a16="http://schemas.microsoft.com/office/drawing/2014/main" val="20001"/>
                    </a:ext>
                  </a:extLst>
                </a:gridCol>
                <a:gridCol w="498475">
                  <a:extLst>
                    <a:ext uri="{9D8B030D-6E8A-4147-A177-3AD203B41FA5}">
                      <a16:colId xmlns:a16="http://schemas.microsoft.com/office/drawing/2014/main" val="20002"/>
                    </a:ext>
                  </a:extLst>
                </a:gridCol>
                <a:gridCol w="496888">
                  <a:extLst>
                    <a:ext uri="{9D8B030D-6E8A-4147-A177-3AD203B41FA5}">
                      <a16:colId xmlns:a16="http://schemas.microsoft.com/office/drawing/2014/main" val="20003"/>
                    </a:ext>
                  </a:extLst>
                </a:gridCol>
                <a:gridCol w="498475">
                  <a:extLst>
                    <a:ext uri="{9D8B030D-6E8A-4147-A177-3AD203B41FA5}">
                      <a16:colId xmlns:a16="http://schemas.microsoft.com/office/drawing/2014/main" val="20004"/>
                    </a:ext>
                  </a:extLst>
                </a:gridCol>
                <a:gridCol w="496887">
                  <a:extLst>
                    <a:ext uri="{9D8B030D-6E8A-4147-A177-3AD203B41FA5}">
                      <a16:colId xmlns:a16="http://schemas.microsoft.com/office/drawing/2014/main" val="20005"/>
                    </a:ext>
                  </a:extLst>
                </a:gridCol>
                <a:gridCol w="498475">
                  <a:extLst>
                    <a:ext uri="{9D8B030D-6E8A-4147-A177-3AD203B41FA5}">
                      <a16:colId xmlns:a16="http://schemas.microsoft.com/office/drawing/2014/main" val="20006"/>
                    </a:ext>
                  </a:extLst>
                </a:gridCol>
                <a:gridCol w="498475">
                  <a:extLst>
                    <a:ext uri="{9D8B030D-6E8A-4147-A177-3AD203B41FA5}">
                      <a16:colId xmlns:a16="http://schemas.microsoft.com/office/drawing/2014/main" val="20007"/>
                    </a:ext>
                  </a:extLst>
                </a:gridCol>
                <a:gridCol w="2241550">
                  <a:extLst>
                    <a:ext uri="{9D8B030D-6E8A-4147-A177-3AD203B41FA5}">
                      <a16:colId xmlns:a16="http://schemas.microsoft.com/office/drawing/2014/main" val="20008"/>
                    </a:ext>
                  </a:extLst>
                </a:gridCol>
              </a:tblGrid>
              <a:tr h="7016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I am not competitive</a:t>
                      </a:r>
                    </a:p>
                  </a:txBody>
                  <a:tcPr marT="45761" marB="457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1</a:t>
                      </a:r>
                    </a:p>
                  </a:txBody>
                  <a:tcPr marT="45761" marB="457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2</a:t>
                      </a:r>
                    </a:p>
                  </a:txBody>
                  <a:tcPr marT="45761" marB="457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3</a:t>
                      </a:r>
                    </a:p>
                  </a:txBody>
                  <a:tcPr marT="45761" marB="457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4</a:t>
                      </a:r>
                    </a:p>
                  </a:txBody>
                  <a:tcPr marT="45761" marB="457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5</a:t>
                      </a:r>
                    </a:p>
                  </a:txBody>
                  <a:tcPr marT="45761" marB="457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6</a:t>
                      </a:r>
                    </a:p>
                  </a:txBody>
                  <a:tcPr marT="45761" marB="457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7</a:t>
                      </a:r>
                    </a:p>
                  </a:txBody>
                  <a:tcPr marT="45761" marB="457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I am very competitive</a:t>
                      </a:r>
                    </a:p>
                  </a:txBody>
                  <a:tcPr marT="45761" marB="457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5" name="Group 53"/>
          <p:cNvGraphicFramePr>
            <a:graphicFrameLocks noGrp="1"/>
          </p:cNvGraphicFramePr>
          <p:nvPr/>
        </p:nvGraphicFramePr>
        <p:xfrm>
          <a:off x="2209800" y="3581400"/>
          <a:ext cx="7772400" cy="1371600"/>
        </p:xfrm>
        <a:graphic>
          <a:graphicData uri="http://schemas.openxmlformats.org/drawingml/2006/table">
            <a:tbl>
              <a:tblPr/>
              <a:tblGrid>
                <a:gridCol w="2044700">
                  <a:extLst>
                    <a:ext uri="{9D8B030D-6E8A-4147-A177-3AD203B41FA5}">
                      <a16:colId xmlns:a16="http://schemas.microsoft.com/office/drawing/2014/main" val="20000"/>
                    </a:ext>
                  </a:extLst>
                </a:gridCol>
                <a:gridCol w="498475">
                  <a:extLst>
                    <a:ext uri="{9D8B030D-6E8A-4147-A177-3AD203B41FA5}">
                      <a16:colId xmlns:a16="http://schemas.microsoft.com/office/drawing/2014/main" val="20001"/>
                    </a:ext>
                  </a:extLst>
                </a:gridCol>
                <a:gridCol w="498475">
                  <a:extLst>
                    <a:ext uri="{9D8B030D-6E8A-4147-A177-3AD203B41FA5}">
                      <a16:colId xmlns:a16="http://schemas.microsoft.com/office/drawing/2014/main" val="20002"/>
                    </a:ext>
                  </a:extLst>
                </a:gridCol>
                <a:gridCol w="496888">
                  <a:extLst>
                    <a:ext uri="{9D8B030D-6E8A-4147-A177-3AD203B41FA5}">
                      <a16:colId xmlns:a16="http://schemas.microsoft.com/office/drawing/2014/main" val="20003"/>
                    </a:ext>
                  </a:extLst>
                </a:gridCol>
                <a:gridCol w="498475">
                  <a:extLst>
                    <a:ext uri="{9D8B030D-6E8A-4147-A177-3AD203B41FA5}">
                      <a16:colId xmlns:a16="http://schemas.microsoft.com/office/drawing/2014/main" val="20004"/>
                    </a:ext>
                  </a:extLst>
                </a:gridCol>
                <a:gridCol w="496887">
                  <a:extLst>
                    <a:ext uri="{9D8B030D-6E8A-4147-A177-3AD203B41FA5}">
                      <a16:colId xmlns:a16="http://schemas.microsoft.com/office/drawing/2014/main" val="20005"/>
                    </a:ext>
                  </a:extLst>
                </a:gridCol>
                <a:gridCol w="498475">
                  <a:extLst>
                    <a:ext uri="{9D8B030D-6E8A-4147-A177-3AD203B41FA5}">
                      <a16:colId xmlns:a16="http://schemas.microsoft.com/office/drawing/2014/main" val="20006"/>
                    </a:ext>
                  </a:extLst>
                </a:gridCol>
                <a:gridCol w="498475">
                  <a:extLst>
                    <a:ext uri="{9D8B030D-6E8A-4147-A177-3AD203B41FA5}">
                      <a16:colId xmlns:a16="http://schemas.microsoft.com/office/drawing/2014/main" val="20007"/>
                    </a:ext>
                  </a:extLst>
                </a:gridCol>
                <a:gridCol w="2241550">
                  <a:extLst>
                    <a:ext uri="{9D8B030D-6E8A-4147-A177-3AD203B41FA5}">
                      <a16:colId xmlns:a16="http://schemas.microsoft.com/office/drawing/2014/main" val="20008"/>
                    </a:ext>
                  </a:extLst>
                </a:gridCol>
              </a:tblGrid>
              <a:tr h="13716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I never feel rushed, even under pressure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7</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I always feel short of time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6" name="Group 53"/>
          <p:cNvGraphicFramePr>
            <a:graphicFrameLocks noGrp="1"/>
          </p:cNvGraphicFramePr>
          <p:nvPr/>
        </p:nvGraphicFramePr>
        <p:xfrm>
          <a:off x="2209800" y="5181600"/>
          <a:ext cx="7772400" cy="1143000"/>
        </p:xfrm>
        <a:graphic>
          <a:graphicData uri="http://schemas.openxmlformats.org/drawingml/2006/table">
            <a:tbl>
              <a:tblPr/>
              <a:tblGrid>
                <a:gridCol w="2044700">
                  <a:extLst>
                    <a:ext uri="{9D8B030D-6E8A-4147-A177-3AD203B41FA5}">
                      <a16:colId xmlns:a16="http://schemas.microsoft.com/office/drawing/2014/main" val="20000"/>
                    </a:ext>
                  </a:extLst>
                </a:gridCol>
                <a:gridCol w="498475">
                  <a:extLst>
                    <a:ext uri="{9D8B030D-6E8A-4147-A177-3AD203B41FA5}">
                      <a16:colId xmlns:a16="http://schemas.microsoft.com/office/drawing/2014/main" val="20001"/>
                    </a:ext>
                  </a:extLst>
                </a:gridCol>
                <a:gridCol w="498475">
                  <a:extLst>
                    <a:ext uri="{9D8B030D-6E8A-4147-A177-3AD203B41FA5}">
                      <a16:colId xmlns:a16="http://schemas.microsoft.com/office/drawing/2014/main" val="20002"/>
                    </a:ext>
                  </a:extLst>
                </a:gridCol>
                <a:gridCol w="496888">
                  <a:extLst>
                    <a:ext uri="{9D8B030D-6E8A-4147-A177-3AD203B41FA5}">
                      <a16:colId xmlns:a16="http://schemas.microsoft.com/office/drawing/2014/main" val="20003"/>
                    </a:ext>
                  </a:extLst>
                </a:gridCol>
                <a:gridCol w="498475">
                  <a:extLst>
                    <a:ext uri="{9D8B030D-6E8A-4147-A177-3AD203B41FA5}">
                      <a16:colId xmlns:a16="http://schemas.microsoft.com/office/drawing/2014/main" val="20004"/>
                    </a:ext>
                  </a:extLst>
                </a:gridCol>
                <a:gridCol w="496887">
                  <a:extLst>
                    <a:ext uri="{9D8B030D-6E8A-4147-A177-3AD203B41FA5}">
                      <a16:colId xmlns:a16="http://schemas.microsoft.com/office/drawing/2014/main" val="20005"/>
                    </a:ext>
                  </a:extLst>
                </a:gridCol>
                <a:gridCol w="498475">
                  <a:extLst>
                    <a:ext uri="{9D8B030D-6E8A-4147-A177-3AD203B41FA5}">
                      <a16:colId xmlns:a16="http://schemas.microsoft.com/office/drawing/2014/main" val="20006"/>
                    </a:ext>
                  </a:extLst>
                </a:gridCol>
                <a:gridCol w="498475">
                  <a:extLst>
                    <a:ext uri="{9D8B030D-6E8A-4147-A177-3AD203B41FA5}">
                      <a16:colId xmlns:a16="http://schemas.microsoft.com/office/drawing/2014/main" val="20007"/>
                    </a:ext>
                  </a:extLst>
                </a:gridCol>
                <a:gridCol w="2241550">
                  <a:extLst>
                    <a:ext uri="{9D8B030D-6E8A-4147-A177-3AD203B41FA5}">
                      <a16:colId xmlns:a16="http://schemas.microsoft.com/office/drawing/2014/main" val="20008"/>
                    </a:ext>
                  </a:extLst>
                </a:gridCol>
              </a:tblGrid>
              <a:tr h="11430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I take things one at a time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7</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I try to do too many things at once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5551884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69420"/>
                                        </p:tgtEl>
                                        <p:attrNameLst>
                                          <p:attrName>style.visibility</p:attrName>
                                        </p:attrNameLst>
                                      </p:cBhvr>
                                      <p:to>
                                        <p:strVal val="visible"/>
                                      </p:to>
                                    </p:set>
                                    <p:anim calcmode="lin" valueType="num">
                                      <p:cBhvr additive="base">
                                        <p:cTn id="7" dur="500" fill="hold"/>
                                        <p:tgtEl>
                                          <p:spTgt spid="269420"/>
                                        </p:tgtEl>
                                        <p:attrNameLst>
                                          <p:attrName>ppt_x</p:attrName>
                                        </p:attrNameLst>
                                      </p:cBhvr>
                                      <p:tavLst>
                                        <p:tav tm="0">
                                          <p:val>
                                            <p:strVal val="#ppt_x"/>
                                          </p:val>
                                        </p:tav>
                                        <p:tav tm="100000">
                                          <p:val>
                                            <p:strVal val="#ppt_x"/>
                                          </p:val>
                                        </p:tav>
                                      </p:tavLst>
                                    </p:anim>
                                    <p:anim calcmode="lin" valueType="num">
                                      <p:cBhvr additive="base">
                                        <p:cTn id="8" dur="500" fill="hold"/>
                                        <p:tgtEl>
                                          <p:spTgt spid="26942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8581" name="Group 53"/>
          <p:cNvGraphicFramePr>
            <a:graphicFrameLocks noGrp="1"/>
          </p:cNvGraphicFramePr>
          <p:nvPr/>
        </p:nvGraphicFramePr>
        <p:xfrm>
          <a:off x="2438400" y="2057400"/>
          <a:ext cx="7772400" cy="1295400"/>
        </p:xfrm>
        <a:graphic>
          <a:graphicData uri="http://schemas.openxmlformats.org/drawingml/2006/table">
            <a:tbl>
              <a:tblPr/>
              <a:tblGrid>
                <a:gridCol w="2044700">
                  <a:extLst>
                    <a:ext uri="{9D8B030D-6E8A-4147-A177-3AD203B41FA5}">
                      <a16:colId xmlns:a16="http://schemas.microsoft.com/office/drawing/2014/main" val="20000"/>
                    </a:ext>
                  </a:extLst>
                </a:gridCol>
                <a:gridCol w="498475">
                  <a:extLst>
                    <a:ext uri="{9D8B030D-6E8A-4147-A177-3AD203B41FA5}">
                      <a16:colId xmlns:a16="http://schemas.microsoft.com/office/drawing/2014/main" val="20001"/>
                    </a:ext>
                  </a:extLst>
                </a:gridCol>
                <a:gridCol w="498475">
                  <a:extLst>
                    <a:ext uri="{9D8B030D-6E8A-4147-A177-3AD203B41FA5}">
                      <a16:colId xmlns:a16="http://schemas.microsoft.com/office/drawing/2014/main" val="20002"/>
                    </a:ext>
                  </a:extLst>
                </a:gridCol>
                <a:gridCol w="496888">
                  <a:extLst>
                    <a:ext uri="{9D8B030D-6E8A-4147-A177-3AD203B41FA5}">
                      <a16:colId xmlns:a16="http://schemas.microsoft.com/office/drawing/2014/main" val="20003"/>
                    </a:ext>
                  </a:extLst>
                </a:gridCol>
                <a:gridCol w="498475">
                  <a:extLst>
                    <a:ext uri="{9D8B030D-6E8A-4147-A177-3AD203B41FA5}">
                      <a16:colId xmlns:a16="http://schemas.microsoft.com/office/drawing/2014/main" val="20004"/>
                    </a:ext>
                  </a:extLst>
                </a:gridCol>
                <a:gridCol w="496887">
                  <a:extLst>
                    <a:ext uri="{9D8B030D-6E8A-4147-A177-3AD203B41FA5}">
                      <a16:colId xmlns:a16="http://schemas.microsoft.com/office/drawing/2014/main" val="20005"/>
                    </a:ext>
                  </a:extLst>
                </a:gridCol>
                <a:gridCol w="498475">
                  <a:extLst>
                    <a:ext uri="{9D8B030D-6E8A-4147-A177-3AD203B41FA5}">
                      <a16:colId xmlns:a16="http://schemas.microsoft.com/office/drawing/2014/main" val="20006"/>
                    </a:ext>
                  </a:extLst>
                </a:gridCol>
                <a:gridCol w="498475">
                  <a:extLst>
                    <a:ext uri="{9D8B030D-6E8A-4147-A177-3AD203B41FA5}">
                      <a16:colId xmlns:a16="http://schemas.microsoft.com/office/drawing/2014/main" val="20007"/>
                    </a:ext>
                  </a:extLst>
                </a:gridCol>
                <a:gridCol w="2241550">
                  <a:extLst>
                    <a:ext uri="{9D8B030D-6E8A-4147-A177-3AD203B41FA5}">
                      <a16:colId xmlns:a16="http://schemas.microsoft.com/office/drawing/2014/main" val="20008"/>
                    </a:ext>
                  </a:extLst>
                </a:gridCol>
              </a:tblGrid>
              <a:tr h="12954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I concentrate on finishing what I am doing right now</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1</a:t>
                      </a:r>
                      <a:endPar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2</a:t>
                      </a:r>
                      <a:endPar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3</a:t>
                      </a:r>
                      <a:endPar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4</a:t>
                      </a:r>
                      <a:endPar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5</a:t>
                      </a:r>
                      <a:endPar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6</a:t>
                      </a:r>
                      <a:endPar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7</a:t>
                      </a:r>
                      <a:endPar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I am always thinking about what I am going to do next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4" name="Group 53"/>
          <p:cNvGraphicFramePr>
            <a:graphicFrameLocks noGrp="1"/>
          </p:cNvGraphicFramePr>
          <p:nvPr/>
        </p:nvGraphicFramePr>
        <p:xfrm>
          <a:off x="2438400" y="3657600"/>
          <a:ext cx="7772400" cy="1219200"/>
        </p:xfrm>
        <a:graphic>
          <a:graphicData uri="http://schemas.openxmlformats.org/drawingml/2006/table">
            <a:tbl>
              <a:tblPr/>
              <a:tblGrid>
                <a:gridCol w="2044700">
                  <a:extLst>
                    <a:ext uri="{9D8B030D-6E8A-4147-A177-3AD203B41FA5}">
                      <a16:colId xmlns:a16="http://schemas.microsoft.com/office/drawing/2014/main" val="20000"/>
                    </a:ext>
                  </a:extLst>
                </a:gridCol>
                <a:gridCol w="498475">
                  <a:extLst>
                    <a:ext uri="{9D8B030D-6E8A-4147-A177-3AD203B41FA5}">
                      <a16:colId xmlns:a16="http://schemas.microsoft.com/office/drawing/2014/main" val="20001"/>
                    </a:ext>
                  </a:extLst>
                </a:gridCol>
                <a:gridCol w="498475">
                  <a:extLst>
                    <a:ext uri="{9D8B030D-6E8A-4147-A177-3AD203B41FA5}">
                      <a16:colId xmlns:a16="http://schemas.microsoft.com/office/drawing/2014/main" val="20002"/>
                    </a:ext>
                  </a:extLst>
                </a:gridCol>
                <a:gridCol w="496888">
                  <a:extLst>
                    <a:ext uri="{9D8B030D-6E8A-4147-A177-3AD203B41FA5}">
                      <a16:colId xmlns:a16="http://schemas.microsoft.com/office/drawing/2014/main" val="20003"/>
                    </a:ext>
                  </a:extLst>
                </a:gridCol>
                <a:gridCol w="498475">
                  <a:extLst>
                    <a:ext uri="{9D8B030D-6E8A-4147-A177-3AD203B41FA5}">
                      <a16:colId xmlns:a16="http://schemas.microsoft.com/office/drawing/2014/main" val="20004"/>
                    </a:ext>
                  </a:extLst>
                </a:gridCol>
                <a:gridCol w="496887">
                  <a:extLst>
                    <a:ext uri="{9D8B030D-6E8A-4147-A177-3AD203B41FA5}">
                      <a16:colId xmlns:a16="http://schemas.microsoft.com/office/drawing/2014/main" val="20005"/>
                    </a:ext>
                  </a:extLst>
                </a:gridCol>
                <a:gridCol w="498475">
                  <a:extLst>
                    <a:ext uri="{9D8B030D-6E8A-4147-A177-3AD203B41FA5}">
                      <a16:colId xmlns:a16="http://schemas.microsoft.com/office/drawing/2014/main" val="20006"/>
                    </a:ext>
                  </a:extLst>
                </a:gridCol>
                <a:gridCol w="498475">
                  <a:extLst>
                    <a:ext uri="{9D8B030D-6E8A-4147-A177-3AD203B41FA5}">
                      <a16:colId xmlns:a16="http://schemas.microsoft.com/office/drawing/2014/main" val="20007"/>
                    </a:ext>
                  </a:extLst>
                </a:gridCol>
                <a:gridCol w="2241550">
                  <a:extLst>
                    <a:ext uri="{9D8B030D-6E8A-4147-A177-3AD203B41FA5}">
                      <a16:colId xmlns:a16="http://schemas.microsoft.com/office/drawing/2014/main" val="20008"/>
                    </a:ext>
                  </a:extLst>
                </a:gridCol>
              </a:tblGrid>
              <a:tr h="12192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I take my time, do things slowly</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1</a:t>
                      </a:r>
                      <a:endPar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2</a:t>
                      </a:r>
                      <a:endPar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3</a:t>
                      </a:r>
                      <a:endPar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4</a:t>
                      </a:r>
                      <a:endPar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5</a:t>
                      </a:r>
                      <a:endPar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6</a:t>
                      </a:r>
                      <a:endPar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7</a:t>
                      </a:r>
                      <a:endPar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I do things, even walking and eating, fast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5" name="Group 53"/>
          <p:cNvGraphicFramePr>
            <a:graphicFrameLocks noGrp="1"/>
          </p:cNvGraphicFramePr>
          <p:nvPr/>
        </p:nvGraphicFramePr>
        <p:xfrm>
          <a:off x="2438400" y="5029200"/>
          <a:ext cx="7772400" cy="1371600"/>
        </p:xfrm>
        <a:graphic>
          <a:graphicData uri="http://schemas.openxmlformats.org/drawingml/2006/table">
            <a:tbl>
              <a:tblPr/>
              <a:tblGrid>
                <a:gridCol w="2044700">
                  <a:extLst>
                    <a:ext uri="{9D8B030D-6E8A-4147-A177-3AD203B41FA5}">
                      <a16:colId xmlns:a16="http://schemas.microsoft.com/office/drawing/2014/main" val="20000"/>
                    </a:ext>
                  </a:extLst>
                </a:gridCol>
                <a:gridCol w="498475">
                  <a:extLst>
                    <a:ext uri="{9D8B030D-6E8A-4147-A177-3AD203B41FA5}">
                      <a16:colId xmlns:a16="http://schemas.microsoft.com/office/drawing/2014/main" val="20001"/>
                    </a:ext>
                  </a:extLst>
                </a:gridCol>
                <a:gridCol w="498475">
                  <a:extLst>
                    <a:ext uri="{9D8B030D-6E8A-4147-A177-3AD203B41FA5}">
                      <a16:colId xmlns:a16="http://schemas.microsoft.com/office/drawing/2014/main" val="20002"/>
                    </a:ext>
                  </a:extLst>
                </a:gridCol>
                <a:gridCol w="496888">
                  <a:extLst>
                    <a:ext uri="{9D8B030D-6E8A-4147-A177-3AD203B41FA5}">
                      <a16:colId xmlns:a16="http://schemas.microsoft.com/office/drawing/2014/main" val="20003"/>
                    </a:ext>
                  </a:extLst>
                </a:gridCol>
                <a:gridCol w="498475">
                  <a:extLst>
                    <a:ext uri="{9D8B030D-6E8A-4147-A177-3AD203B41FA5}">
                      <a16:colId xmlns:a16="http://schemas.microsoft.com/office/drawing/2014/main" val="20004"/>
                    </a:ext>
                  </a:extLst>
                </a:gridCol>
                <a:gridCol w="496887">
                  <a:extLst>
                    <a:ext uri="{9D8B030D-6E8A-4147-A177-3AD203B41FA5}">
                      <a16:colId xmlns:a16="http://schemas.microsoft.com/office/drawing/2014/main" val="20005"/>
                    </a:ext>
                  </a:extLst>
                </a:gridCol>
                <a:gridCol w="498475">
                  <a:extLst>
                    <a:ext uri="{9D8B030D-6E8A-4147-A177-3AD203B41FA5}">
                      <a16:colId xmlns:a16="http://schemas.microsoft.com/office/drawing/2014/main" val="20006"/>
                    </a:ext>
                  </a:extLst>
                </a:gridCol>
                <a:gridCol w="498475">
                  <a:extLst>
                    <a:ext uri="{9D8B030D-6E8A-4147-A177-3AD203B41FA5}">
                      <a16:colId xmlns:a16="http://schemas.microsoft.com/office/drawing/2014/main" val="20007"/>
                    </a:ext>
                  </a:extLst>
                </a:gridCol>
                <a:gridCol w="2241550">
                  <a:extLst>
                    <a:ext uri="{9D8B030D-6E8A-4147-A177-3AD203B41FA5}">
                      <a16:colId xmlns:a16="http://schemas.microsoft.com/office/drawing/2014/main" val="20008"/>
                    </a:ext>
                  </a:extLst>
                </a:gridCol>
              </a:tblGrid>
              <a:tr h="13716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I like to express my feelings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7</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I prefer to keep my feelings private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7" name="Group 53"/>
          <p:cNvGraphicFramePr>
            <a:graphicFrameLocks noGrp="1"/>
          </p:cNvGraphicFramePr>
          <p:nvPr/>
        </p:nvGraphicFramePr>
        <p:xfrm>
          <a:off x="2438400" y="381000"/>
          <a:ext cx="7772400" cy="1295400"/>
        </p:xfrm>
        <a:graphic>
          <a:graphicData uri="http://schemas.openxmlformats.org/drawingml/2006/table">
            <a:tbl>
              <a:tblPr/>
              <a:tblGrid>
                <a:gridCol w="2044700">
                  <a:extLst>
                    <a:ext uri="{9D8B030D-6E8A-4147-A177-3AD203B41FA5}">
                      <a16:colId xmlns:a16="http://schemas.microsoft.com/office/drawing/2014/main" val="20000"/>
                    </a:ext>
                  </a:extLst>
                </a:gridCol>
                <a:gridCol w="498475">
                  <a:extLst>
                    <a:ext uri="{9D8B030D-6E8A-4147-A177-3AD203B41FA5}">
                      <a16:colId xmlns:a16="http://schemas.microsoft.com/office/drawing/2014/main" val="20001"/>
                    </a:ext>
                  </a:extLst>
                </a:gridCol>
                <a:gridCol w="498475">
                  <a:extLst>
                    <a:ext uri="{9D8B030D-6E8A-4147-A177-3AD203B41FA5}">
                      <a16:colId xmlns:a16="http://schemas.microsoft.com/office/drawing/2014/main" val="20002"/>
                    </a:ext>
                  </a:extLst>
                </a:gridCol>
                <a:gridCol w="496888">
                  <a:extLst>
                    <a:ext uri="{9D8B030D-6E8A-4147-A177-3AD203B41FA5}">
                      <a16:colId xmlns:a16="http://schemas.microsoft.com/office/drawing/2014/main" val="20003"/>
                    </a:ext>
                  </a:extLst>
                </a:gridCol>
                <a:gridCol w="498475">
                  <a:extLst>
                    <a:ext uri="{9D8B030D-6E8A-4147-A177-3AD203B41FA5}">
                      <a16:colId xmlns:a16="http://schemas.microsoft.com/office/drawing/2014/main" val="20004"/>
                    </a:ext>
                  </a:extLst>
                </a:gridCol>
                <a:gridCol w="496887">
                  <a:extLst>
                    <a:ext uri="{9D8B030D-6E8A-4147-A177-3AD203B41FA5}">
                      <a16:colId xmlns:a16="http://schemas.microsoft.com/office/drawing/2014/main" val="20005"/>
                    </a:ext>
                  </a:extLst>
                </a:gridCol>
                <a:gridCol w="498475">
                  <a:extLst>
                    <a:ext uri="{9D8B030D-6E8A-4147-A177-3AD203B41FA5}">
                      <a16:colId xmlns:a16="http://schemas.microsoft.com/office/drawing/2014/main" val="20006"/>
                    </a:ext>
                  </a:extLst>
                </a:gridCol>
                <a:gridCol w="498475">
                  <a:extLst>
                    <a:ext uri="{9D8B030D-6E8A-4147-A177-3AD203B41FA5}">
                      <a16:colId xmlns:a16="http://schemas.microsoft.com/office/drawing/2014/main" val="20007"/>
                    </a:ext>
                  </a:extLst>
                </a:gridCol>
                <a:gridCol w="2241550">
                  <a:extLst>
                    <a:ext uri="{9D8B030D-6E8A-4147-A177-3AD203B41FA5}">
                      <a16:colId xmlns:a16="http://schemas.microsoft.com/office/drawing/2014/main" val="20008"/>
                    </a:ext>
                  </a:extLst>
                </a:gridCol>
              </a:tblGrid>
              <a:tr h="12954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I have many interests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7</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17110B"/>
                          </a:solidFill>
                          <a:effectLst/>
                          <a:latin typeface="Calibri" pitchFamily="34" charset="0"/>
                          <a:ea typeface="ＭＳ Ｐゴシック" pitchFamily="34" charset="-128"/>
                          <a:cs typeface="Calibri" pitchFamily="34" charset="0"/>
                        </a:rPr>
                        <a:t>I have few interests outside work</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8066371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78581"/>
                                        </p:tgtEl>
                                        <p:attrNameLst>
                                          <p:attrName>style.visibility</p:attrName>
                                        </p:attrNameLst>
                                      </p:cBhvr>
                                      <p:to>
                                        <p:strVal val="visible"/>
                                      </p:to>
                                    </p:set>
                                    <p:anim calcmode="lin" valueType="num">
                                      <p:cBhvr additive="base">
                                        <p:cTn id="7" dur="500" fill="hold"/>
                                        <p:tgtEl>
                                          <p:spTgt spid="278581"/>
                                        </p:tgtEl>
                                        <p:attrNameLst>
                                          <p:attrName>ppt_x</p:attrName>
                                        </p:attrNameLst>
                                      </p:cBhvr>
                                      <p:tavLst>
                                        <p:tav tm="0">
                                          <p:val>
                                            <p:strVal val="#ppt_x"/>
                                          </p:val>
                                        </p:tav>
                                        <p:tav tm="100000">
                                          <p:val>
                                            <p:strVal val="#ppt_x"/>
                                          </p:val>
                                        </p:tav>
                                      </p:tavLst>
                                    </p:anim>
                                    <p:anim calcmode="lin" valueType="num">
                                      <p:cBhvr additive="base">
                                        <p:cTn id="8" dur="500" fill="hold"/>
                                        <p:tgtEl>
                                          <p:spTgt spid="27858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p:cNvSpPr>
            <a:spLocks noGrp="1" noChangeArrowheads="1"/>
          </p:cNvSpPr>
          <p:nvPr>
            <p:ph type="title"/>
          </p:nvPr>
        </p:nvSpPr>
        <p:spPr>
          <a:xfrm>
            <a:off x="3810001" y="5105400"/>
            <a:ext cx="6511925" cy="1143000"/>
          </a:xfrm>
        </p:spPr>
        <p:txBody>
          <a:bodyPr>
            <a:normAutofit/>
          </a:bodyPr>
          <a:lstStyle/>
          <a:p>
            <a:pPr marL="320040" indent="-320040">
              <a:buClr>
                <a:schemeClr val="accent6">
                  <a:lumMod val="75000"/>
                </a:schemeClr>
              </a:buClr>
              <a:defRPr/>
            </a:pPr>
            <a:r>
              <a:rPr lang="en-US" dirty="0"/>
              <a:t>Interpretation</a:t>
            </a:r>
          </a:p>
        </p:txBody>
      </p:sp>
      <p:sp>
        <p:nvSpPr>
          <p:cNvPr id="284728" name="Text Box 56"/>
          <p:cNvSpPr txBox="1">
            <a:spLocks noChangeArrowheads="1"/>
          </p:cNvSpPr>
          <p:nvPr/>
        </p:nvSpPr>
        <p:spPr bwMode="auto">
          <a:xfrm>
            <a:off x="2590801" y="704850"/>
            <a:ext cx="67611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entury Gothic" pitchFamily="34" charset="0"/>
                <a:ea typeface="ＭＳ Ｐゴシック" pitchFamily="34" charset="-128"/>
              </a:defRPr>
            </a:lvl1pPr>
            <a:lvl2pPr marL="742950" indent="-285750">
              <a:defRPr>
                <a:solidFill>
                  <a:schemeClr val="tx1"/>
                </a:solidFill>
                <a:latin typeface="Century Gothic" pitchFamily="34" charset="0"/>
                <a:ea typeface="ＭＳ Ｐゴシック" pitchFamily="34" charset="-128"/>
              </a:defRPr>
            </a:lvl2pPr>
            <a:lvl3pPr marL="1143000" indent="-228600">
              <a:defRPr>
                <a:solidFill>
                  <a:schemeClr val="tx1"/>
                </a:solidFill>
                <a:latin typeface="Century Gothic" pitchFamily="34" charset="0"/>
                <a:ea typeface="ＭＳ Ｐゴシック" pitchFamily="34" charset="-128"/>
              </a:defRPr>
            </a:lvl3pPr>
            <a:lvl4pPr marL="1600200" indent="-228600">
              <a:defRPr>
                <a:solidFill>
                  <a:schemeClr val="tx1"/>
                </a:solidFill>
                <a:latin typeface="Century Gothic" pitchFamily="34" charset="0"/>
                <a:ea typeface="ＭＳ Ｐゴシック" pitchFamily="34" charset="-128"/>
              </a:defRPr>
            </a:lvl4pPr>
            <a:lvl5pPr marL="2057400" indent="-228600">
              <a:defRPr>
                <a:solidFill>
                  <a:schemeClr val="tx1"/>
                </a:solidFill>
                <a:latin typeface="Century Gothic"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9pPr>
          </a:lstStyle>
          <a:p>
            <a:r>
              <a:rPr lang="en-US" b="1">
                <a:solidFill>
                  <a:srgbClr val="17110B"/>
                </a:solidFill>
              </a:rPr>
              <a:t>When you are finished, calculate your score by totaling the</a:t>
            </a:r>
          </a:p>
          <a:p>
            <a:r>
              <a:rPr lang="en-US" b="1">
                <a:solidFill>
                  <a:srgbClr val="17110B"/>
                </a:solidFill>
              </a:rPr>
              <a:t>Numbers you have circled and multiplying that by three</a:t>
            </a:r>
          </a:p>
          <a:p>
            <a:r>
              <a:rPr lang="en-US" b="1">
                <a:solidFill>
                  <a:srgbClr val="17110B"/>
                </a:solidFill>
              </a:rPr>
              <a:t>Write down you final score.</a:t>
            </a:r>
          </a:p>
          <a:p>
            <a:endParaRPr lang="en-US" b="1">
              <a:solidFill>
                <a:srgbClr val="17110B"/>
              </a:solidFill>
            </a:endParaRPr>
          </a:p>
        </p:txBody>
      </p:sp>
      <p:sp>
        <p:nvSpPr>
          <p:cNvPr id="7" name="Rectangle 3"/>
          <p:cNvSpPr txBox="1">
            <a:spLocks noChangeArrowheads="1"/>
          </p:cNvSpPr>
          <p:nvPr/>
        </p:nvSpPr>
        <p:spPr bwMode="auto">
          <a:xfrm>
            <a:off x="2676525" y="1905000"/>
            <a:ext cx="64008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182563">
              <a:defRPr>
                <a:solidFill>
                  <a:schemeClr val="tx1"/>
                </a:solidFill>
                <a:latin typeface="Century Gothic" pitchFamily="34" charset="0"/>
                <a:ea typeface="ＭＳ Ｐゴシック" pitchFamily="34" charset="-128"/>
              </a:defRPr>
            </a:lvl1pPr>
            <a:lvl2pPr marL="742950" indent="-285750">
              <a:defRPr>
                <a:solidFill>
                  <a:schemeClr val="tx1"/>
                </a:solidFill>
                <a:latin typeface="Century Gothic" pitchFamily="34" charset="0"/>
                <a:ea typeface="ＭＳ Ｐゴシック" pitchFamily="34" charset="-128"/>
              </a:defRPr>
            </a:lvl2pPr>
            <a:lvl3pPr marL="1143000" indent="-228600">
              <a:defRPr>
                <a:solidFill>
                  <a:schemeClr val="tx1"/>
                </a:solidFill>
                <a:latin typeface="Century Gothic" pitchFamily="34" charset="0"/>
                <a:ea typeface="ＭＳ Ｐゴシック" pitchFamily="34" charset="-128"/>
              </a:defRPr>
            </a:lvl3pPr>
            <a:lvl4pPr marL="1600200" indent="-228600">
              <a:defRPr>
                <a:solidFill>
                  <a:schemeClr val="tx1"/>
                </a:solidFill>
                <a:latin typeface="Century Gothic" pitchFamily="34" charset="0"/>
                <a:ea typeface="ＭＳ Ｐゴシック" pitchFamily="34" charset="-128"/>
              </a:defRPr>
            </a:lvl4pPr>
            <a:lvl5pPr marL="2057400" indent="-228600">
              <a:defRPr>
                <a:solidFill>
                  <a:schemeClr val="tx1"/>
                </a:solidFill>
                <a:latin typeface="Century Gothic"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9pPr>
          </a:lstStyle>
          <a:p>
            <a:pPr>
              <a:spcBef>
                <a:spcPct val="20000"/>
              </a:spcBef>
              <a:spcAft>
                <a:spcPts val="300"/>
              </a:spcAft>
              <a:buClr>
                <a:srgbClr val="C3260C"/>
              </a:buClr>
              <a:buSzPct val="130000"/>
              <a:buFont typeface="Georgia" pitchFamily="18" charset="0"/>
              <a:buChar char="*"/>
            </a:pPr>
            <a:r>
              <a:rPr lang="en-US" sz="2200">
                <a:solidFill>
                  <a:srgbClr val="404040"/>
                </a:solidFill>
                <a:latin typeface="Trebuchet MS" pitchFamily="34" charset="0"/>
              </a:rPr>
              <a:t>Less than 50 	= B</a:t>
            </a:r>
          </a:p>
          <a:p>
            <a:pPr>
              <a:spcBef>
                <a:spcPct val="20000"/>
              </a:spcBef>
              <a:spcAft>
                <a:spcPts val="300"/>
              </a:spcAft>
              <a:buClr>
                <a:srgbClr val="C3260C"/>
              </a:buClr>
              <a:buSzPct val="130000"/>
              <a:buFont typeface="Georgia" pitchFamily="18" charset="0"/>
              <a:buChar char="*"/>
            </a:pPr>
            <a:r>
              <a:rPr lang="en-US" sz="2200">
                <a:solidFill>
                  <a:srgbClr val="404040"/>
                </a:solidFill>
                <a:latin typeface="Trebuchet MS" pitchFamily="34" charset="0"/>
              </a:rPr>
              <a:t>50 – 89 		= B+</a:t>
            </a:r>
          </a:p>
          <a:p>
            <a:pPr>
              <a:spcBef>
                <a:spcPct val="20000"/>
              </a:spcBef>
              <a:spcAft>
                <a:spcPts val="300"/>
              </a:spcAft>
              <a:buClr>
                <a:srgbClr val="C3260C"/>
              </a:buClr>
              <a:buSzPct val="130000"/>
              <a:buFont typeface="Georgia" pitchFamily="18" charset="0"/>
              <a:buChar char="*"/>
            </a:pPr>
            <a:r>
              <a:rPr lang="en-US" sz="2200">
                <a:solidFill>
                  <a:srgbClr val="404040"/>
                </a:solidFill>
                <a:latin typeface="Trebuchet MS" pitchFamily="34" charset="0"/>
              </a:rPr>
              <a:t>90 – 119	 	= A-</a:t>
            </a:r>
          </a:p>
          <a:p>
            <a:pPr>
              <a:spcBef>
                <a:spcPct val="20000"/>
              </a:spcBef>
              <a:spcAft>
                <a:spcPts val="300"/>
              </a:spcAft>
              <a:buClr>
                <a:srgbClr val="C3260C"/>
              </a:buClr>
              <a:buSzPct val="130000"/>
              <a:buFont typeface="Georgia" pitchFamily="18" charset="0"/>
              <a:buChar char="*"/>
            </a:pPr>
            <a:r>
              <a:rPr lang="en-US" sz="2200">
                <a:solidFill>
                  <a:srgbClr val="404040"/>
                </a:solidFill>
                <a:latin typeface="Trebuchet MS" pitchFamily="34" charset="0"/>
              </a:rPr>
              <a:t>120 – 145 	 	= A</a:t>
            </a:r>
          </a:p>
          <a:p>
            <a:pPr>
              <a:spcBef>
                <a:spcPct val="20000"/>
              </a:spcBef>
              <a:spcAft>
                <a:spcPts val="300"/>
              </a:spcAft>
              <a:buClr>
                <a:srgbClr val="C3260C"/>
              </a:buClr>
              <a:buSzPct val="130000"/>
              <a:buFont typeface="Georgia" pitchFamily="18" charset="0"/>
              <a:buChar char="*"/>
            </a:pPr>
            <a:r>
              <a:rPr lang="en-US" sz="2200">
                <a:solidFill>
                  <a:srgbClr val="404040"/>
                </a:solidFill>
                <a:latin typeface="Trebuchet MS" pitchFamily="34" charset="0"/>
              </a:rPr>
              <a:t>More than 145 	= A+</a:t>
            </a:r>
          </a:p>
        </p:txBody>
      </p:sp>
    </p:spTree>
    <p:extLst>
      <p:ext uri="{BB962C8B-B14F-4D97-AF65-F5344CB8AC3E}">
        <p14:creationId xmlns:p14="http://schemas.microsoft.com/office/powerpoint/2010/main" val="26975939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84728">
                                            <p:txEl>
                                              <p:pRg st="0" end="0"/>
                                            </p:txEl>
                                          </p:spTgt>
                                        </p:tgtEl>
                                        <p:attrNameLst>
                                          <p:attrName>style.visibility</p:attrName>
                                        </p:attrNameLst>
                                      </p:cBhvr>
                                      <p:to>
                                        <p:strVal val="visible"/>
                                      </p:to>
                                    </p:set>
                                    <p:anim calcmode="lin" valueType="num">
                                      <p:cBhvr additive="base">
                                        <p:cTn id="7" dur="500" fill="hold"/>
                                        <p:tgtEl>
                                          <p:spTgt spid="28472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472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84728">
                                            <p:txEl>
                                              <p:pRg st="1" end="1"/>
                                            </p:txEl>
                                          </p:spTgt>
                                        </p:tgtEl>
                                        <p:attrNameLst>
                                          <p:attrName>style.visibility</p:attrName>
                                        </p:attrNameLst>
                                      </p:cBhvr>
                                      <p:to>
                                        <p:strVal val="visible"/>
                                      </p:to>
                                    </p:set>
                                    <p:anim calcmode="lin" valueType="num">
                                      <p:cBhvr additive="base">
                                        <p:cTn id="11" dur="500" fill="hold"/>
                                        <p:tgtEl>
                                          <p:spTgt spid="28472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84728">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84728">
                                            <p:txEl>
                                              <p:pRg st="2" end="2"/>
                                            </p:txEl>
                                          </p:spTgt>
                                        </p:tgtEl>
                                        <p:attrNameLst>
                                          <p:attrName>style.visibility</p:attrName>
                                        </p:attrNameLst>
                                      </p:cBhvr>
                                      <p:to>
                                        <p:strVal val="visible"/>
                                      </p:to>
                                    </p:set>
                                    <p:anim calcmode="lin" valueType="num">
                                      <p:cBhvr additive="base">
                                        <p:cTn id="15" dur="500" fill="hold"/>
                                        <p:tgtEl>
                                          <p:spTgt spid="284728">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8472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8" presetClass="entr" presetSubtype="16" fill="hold" nodeType="clickEffect">
                                  <p:stCondLst>
                                    <p:cond delay="0"/>
                                  </p:stCondLst>
                                  <p:childTnLst>
                                    <p:set>
                                      <p:cBhvr>
                                        <p:cTn id="20" dur="1" fill="hold">
                                          <p:stCondLst>
                                            <p:cond delay="0"/>
                                          </p:stCondLst>
                                        </p:cTn>
                                        <p:tgtEl>
                                          <p:spTgt spid="7">
                                            <p:txEl>
                                              <p:pRg st="0" end="0"/>
                                            </p:txEl>
                                          </p:spTgt>
                                        </p:tgtEl>
                                        <p:attrNameLst>
                                          <p:attrName>style.visibility</p:attrName>
                                        </p:attrNameLst>
                                      </p:cBhvr>
                                      <p:to>
                                        <p:strVal val="visible"/>
                                      </p:to>
                                    </p:set>
                                    <p:animEffect transition="in" filter="diamond(in)">
                                      <p:cBhvr>
                                        <p:cTn id="21" dur="2000"/>
                                        <p:tgtEl>
                                          <p:spTgt spid="7">
                                            <p:txEl>
                                              <p:pRg st="0" end="0"/>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8" presetClass="entr" presetSubtype="16" fill="hold" nodeType="clickEffect">
                                  <p:stCondLst>
                                    <p:cond delay="0"/>
                                  </p:stCondLst>
                                  <p:childTnLst>
                                    <p:set>
                                      <p:cBhvr>
                                        <p:cTn id="25" dur="1" fill="hold">
                                          <p:stCondLst>
                                            <p:cond delay="0"/>
                                          </p:stCondLst>
                                        </p:cTn>
                                        <p:tgtEl>
                                          <p:spTgt spid="7">
                                            <p:txEl>
                                              <p:pRg st="1" end="1"/>
                                            </p:txEl>
                                          </p:spTgt>
                                        </p:tgtEl>
                                        <p:attrNameLst>
                                          <p:attrName>style.visibility</p:attrName>
                                        </p:attrNameLst>
                                      </p:cBhvr>
                                      <p:to>
                                        <p:strVal val="visible"/>
                                      </p:to>
                                    </p:set>
                                    <p:animEffect transition="in" filter="diamond(in)">
                                      <p:cBhvr>
                                        <p:cTn id="26" dur="2000"/>
                                        <p:tgtEl>
                                          <p:spTgt spid="7">
                                            <p:txEl>
                                              <p:pRg st="1" end="1"/>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8" presetClass="entr" presetSubtype="16" fill="hold" nodeType="clickEffect">
                                  <p:stCondLst>
                                    <p:cond delay="0"/>
                                  </p:stCondLst>
                                  <p:childTnLst>
                                    <p:set>
                                      <p:cBhvr>
                                        <p:cTn id="30" dur="1" fill="hold">
                                          <p:stCondLst>
                                            <p:cond delay="0"/>
                                          </p:stCondLst>
                                        </p:cTn>
                                        <p:tgtEl>
                                          <p:spTgt spid="7">
                                            <p:txEl>
                                              <p:pRg st="2" end="2"/>
                                            </p:txEl>
                                          </p:spTgt>
                                        </p:tgtEl>
                                        <p:attrNameLst>
                                          <p:attrName>style.visibility</p:attrName>
                                        </p:attrNameLst>
                                      </p:cBhvr>
                                      <p:to>
                                        <p:strVal val="visible"/>
                                      </p:to>
                                    </p:set>
                                    <p:animEffect transition="in" filter="diamond(in)">
                                      <p:cBhvr>
                                        <p:cTn id="31" dur="2000"/>
                                        <p:tgtEl>
                                          <p:spTgt spid="7">
                                            <p:txEl>
                                              <p:pRg st="2" end="2"/>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8" presetClass="entr" presetSubtype="16" fill="hold" nodeType="clickEffect">
                                  <p:stCondLst>
                                    <p:cond delay="0"/>
                                  </p:stCondLst>
                                  <p:childTnLst>
                                    <p:set>
                                      <p:cBhvr>
                                        <p:cTn id="35" dur="1" fill="hold">
                                          <p:stCondLst>
                                            <p:cond delay="0"/>
                                          </p:stCondLst>
                                        </p:cTn>
                                        <p:tgtEl>
                                          <p:spTgt spid="7">
                                            <p:txEl>
                                              <p:pRg st="3" end="3"/>
                                            </p:txEl>
                                          </p:spTgt>
                                        </p:tgtEl>
                                        <p:attrNameLst>
                                          <p:attrName>style.visibility</p:attrName>
                                        </p:attrNameLst>
                                      </p:cBhvr>
                                      <p:to>
                                        <p:strVal val="visible"/>
                                      </p:to>
                                    </p:set>
                                    <p:animEffect transition="in" filter="diamond(in)">
                                      <p:cBhvr>
                                        <p:cTn id="36" dur="2000"/>
                                        <p:tgtEl>
                                          <p:spTgt spid="7">
                                            <p:txEl>
                                              <p:pRg st="3" end="3"/>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8" presetClass="entr" presetSubtype="16" fill="hold" nodeType="clickEffect">
                                  <p:stCondLst>
                                    <p:cond delay="0"/>
                                  </p:stCondLst>
                                  <p:childTnLst>
                                    <p:set>
                                      <p:cBhvr>
                                        <p:cTn id="40" dur="1" fill="hold">
                                          <p:stCondLst>
                                            <p:cond delay="0"/>
                                          </p:stCondLst>
                                        </p:cTn>
                                        <p:tgtEl>
                                          <p:spTgt spid="7">
                                            <p:txEl>
                                              <p:pRg st="4" end="4"/>
                                            </p:txEl>
                                          </p:spTgt>
                                        </p:tgtEl>
                                        <p:attrNameLst>
                                          <p:attrName>style.visibility</p:attrName>
                                        </p:attrNameLst>
                                      </p:cBhvr>
                                      <p:to>
                                        <p:strVal val="visible"/>
                                      </p:to>
                                    </p:set>
                                    <p:animEffect transition="in" filter="diamond(in)">
                                      <p:cBhvr>
                                        <p:cTn id="41" dur="20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2"/>
          <p:cNvSpPr>
            <a:spLocks noGrp="1" noChangeArrowheads="1"/>
          </p:cNvSpPr>
          <p:nvPr>
            <p:ph type="title"/>
          </p:nvPr>
        </p:nvSpPr>
        <p:spPr>
          <a:xfrm>
            <a:off x="1828800" y="5093970"/>
            <a:ext cx="7924800" cy="1143000"/>
          </a:xfrm>
        </p:spPr>
        <p:txBody>
          <a:bodyPr>
            <a:normAutofit/>
          </a:bodyPr>
          <a:lstStyle/>
          <a:p>
            <a:pPr marL="320040" indent="-320040">
              <a:buClr>
                <a:schemeClr val="accent6">
                  <a:lumMod val="75000"/>
                </a:schemeClr>
              </a:buClr>
              <a:defRPr/>
            </a:pPr>
            <a:r>
              <a:rPr lang="en-US" dirty="0"/>
              <a:t>PERSONALITY TYPES A AND B</a:t>
            </a:r>
          </a:p>
        </p:txBody>
      </p:sp>
      <p:sp>
        <p:nvSpPr>
          <p:cNvPr id="262148" name="Rectangle 4"/>
          <p:cNvSpPr>
            <a:spLocks noChangeArrowheads="1"/>
          </p:cNvSpPr>
          <p:nvPr/>
        </p:nvSpPr>
        <p:spPr bwMode="auto">
          <a:xfrm>
            <a:off x="1828800" y="1676400"/>
            <a:ext cx="3124200" cy="3124200"/>
          </a:xfrm>
          <a:prstGeom prst="rect">
            <a:avLst/>
          </a:prstGeom>
          <a:solidFill>
            <a:schemeClr val="accent1"/>
          </a:solidFill>
          <a:ln w="9525">
            <a:solidFill>
              <a:schemeClr val="tx1"/>
            </a:solidFill>
            <a:miter lim="800000"/>
            <a:headEnd/>
            <a:tailEnd/>
          </a:ln>
        </p:spPr>
        <p:txBody>
          <a:bodyPr wrap="none" anchor="ctr"/>
          <a:lstStyle/>
          <a:p>
            <a:pPr algn="ctr"/>
            <a:r>
              <a:rPr lang="en-US" sz="2400" b="1"/>
              <a:t>Characteristics</a:t>
            </a:r>
          </a:p>
          <a:p>
            <a:pPr algn="ctr"/>
            <a:endParaRPr lang="en-US" sz="2400" b="1"/>
          </a:p>
          <a:p>
            <a:pPr algn="ctr"/>
            <a:r>
              <a:rPr lang="en-US" b="1"/>
              <a:t>Competitive</a:t>
            </a:r>
          </a:p>
          <a:p>
            <a:pPr algn="ctr"/>
            <a:endParaRPr lang="en-US" b="1"/>
          </a:p>
          <a:p>
            <a:pPr algn="ctr"/>
            <a:r>
              <a:rPr lang="en-US" b="1"/>
              <a:t>High need for achievement</a:t>
            </a:r>
          </a:p>
          <a:p>
            <a:pPr algn="ctr"/>
            <a:endParaRPr lang="en-US" b="1"/>
          </a:p>
          <a:p>
            <a:pPr algn="ctr"/>
            <a:r>
              <a:rPr lang="en-US" b="1"/>
              <a:t>Impatient</a:t>
            </a:r>
          </a:p>
          <a:p>
            <a:pPr algn="ctr"/>
            <a:endParaRPr lang="en-US" b="1"/>
          </a:p>
          <a:p>
            <a:pPr algn="ctr"/>
            <a:r>
              <a:rPr lang="en-US" b="1"/>
              <a:t>Restless </a:t>
            </a:r>
          </a:p>
        </p:txBody>
      </p:sp>
      <p:sp>
        <p:nvSpPr>
          <p:cNvPr id="262149" name="Rectangle 5"/>
          <p:cNvSpPr>
            <a:spLocks noChangeArrowheads="1"/>
          </p:cNvSpPr>
          <p:nvPr/>
        </p:nvSpPr>
        <p:spPr bwMode="auto">
          <a:xfrm>
            <a:off x="6705600" y="1676400"/>
            <a:ext cx="3048000" cy="3124200"/>
          </a:xfrm>
          <a:prstGeom prst="rect">
            <a:avLst/>
          </a:prstGeom>
          <a:solidFill>
            <a:schemeClr val="accent1"/>
          </a:solidFill>
          <a:ln w="9525">
            <a:solidFill>
              <a:schemeClr val="tx1"/>
            </a:solidFill>
            <a:miter lim="800000"/>
            <a:headEnd/>
            <a:tailEnd/>
          </a:ln>
        </p:spPr>
        <p:txBody>
          <a:bodyPr wrap="none" anchor="ctr"/>
          <a:lstStyle/>
          <a:p>
            <a:pPr algn="ctr"/>
            <a:r>
              <a:rPr lang="en-US" sz="2400" b="1"/>
              <a:t>Characteristics</a:t>
            </a:r>
          </a:p>
          <a:p>
            <a:pPr algn="ctr"/>
            <a:endParaRPr lang="en-US" sz="2400"/>
          </a:p>
          <a:p>
            <a:pPr algn="ctr"/>
            <a:r>
              <a:rPr lang="en-US" b="1"/>
              <a:t>Easy going</a:t>
            </a:r>
          </a:p>
          <a:p>
            <a:pPr algn="ctr"/>
            <a:endParaRPr lang="en-US" b="1"/>
          </a:p>
          <a:p>
            <a:pPr algn="ctr"/>
            <a:r>
              <a:rPr lang="en-US" b="1"/>
              <a:t>Works at a steady pace</a:t>
            </a:r>
          </a:p>
          <a:p>
            <a:pPr algn="ctr"/>
            <a:endParaRPr lang="en-US" b="1"/>
          </a:p>
          <a:p>
            <a:pPr algn="ctr"/>
            <a:r>
              <a:rPr lang="en-US" b="1"/>
              <a:t>Relaxed</a:t>
            </a:r>
          </a:p>
          <a:p>
            <a:pPr algn="ctr"/>
            <a:endParaRPr lang="en-US" b="1"/>
          </a:p>
          <a:p>
            <a:pPr algn="ctr"/>
            <a:r>
              <a:rPr lang="en-US" b="1"/>
              <a:t>Moves and speaks slowly</a:t>
            </a:r>
          </a:p>
        </p:txBody>
      </p:sp>
      <p:sp>
        <p:nvSpPr>
          <p:cNvPr id="262150" name="Text Box 6"/>
          <p:cNvSpPr txBox="1">
            <a:spLocks noChangeArrowheads="1"/>
          </p:cNvSpPr>
          <p:nvPr/>
        </p:nvSpPr>
        <p:spPr bwMode="auto">
          <a:xfrm>
            <a:off x="3060701" y="1201738"/>
            <a:ext cx="409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entury Gothic" pitchFamily="34" charset="0"/>
                <a:ea typeface="ＭＳ Ｐゴシック" pitchFamily="34" charset="-128"/>
              </a:defRPr>
            </a:lvl1pPr>
            <a:lvl2pPr marL="742950" indent="-285750">
              <a:defRPr>
                <a:solidFill>
                  <a:schemeClr val="tx1"/>
                </a:solidFill>
                <a:latin typeface="Century Gothic" pitchFamily="34" charset="0"/>
                <a:ea typeface="ＭＳ Ｐゴシック" pitchFamily="34" charset="-128"/>
              </a:defRPr>
            </a:lvl2pPr>
            <a:lvl3pPr marL="1143000" indent="-228600">
              <a:defRPr>
                <a:solidFill>
                  <a:schemeClr val="tx1"/>
                </a:solidFill>
                <a:latin typeface="Century Gothic" pitchFamily="34" charset="0"/>
                <a:ea typeface="ＭＳ Ｐゴシック" pitchFamily="34" charset="-128"/>
              </a:defRPr>
            </a:lvl3pPr>
            <a:lvl4pPr marL="1600200" indent="-228600">
              <a:defRPr>
                <a:solidFill>
                  <a:schemeClr val="tx1"/>
                </a:solidFill>
                <a:latin typeface="Century Gothic" pitchFamily="34" charset="0"/>
                <a:ea typeface="ＭＳ Ｐゴシック" pitchFamily="34" charset="-128"/>
              </a:defRPr>
            </a:lvl4pPr>
            <a:lvl5pPr marL="2057400" indent="-228600">
              <a:defRPr>
                <a:solidFill>
                  <a:schemeClr val="tx1"/>
                </a:solidFill>
                <a:latin typeface="Century Gothic"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9pPr>
          </a:lstStyle>
          <a:p>
            <a:r>
              <a:rPr lang="en-US" sz="2400" b="1">
                <a:solidFill>
                  <a:srgbClr val="17110B"/>
                </a:solidFill>
              </a:rPr>
              <a:t>A</a:t>
            </a:r>
          </a:p>
        </p:txBody>
      </p:sp>
      <p:sp>
        <p:nvSpPr>
          <p:cNvPr id="262151" name="Text Box 7"/>
          <p:cNvSpPr txBox="1">
            <a:spLocks noChangeArrowheads="1"/>
          </p:cNvSpPr>
          <p:nvPr/>
        </p:nvSpPr>
        <p:spPr bwMode="auto">
          <a:xfrm>
            <a:off x="8229601" y="1201738"/>
            <a:ext cx="360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entury Gothic" pitchFamily="34" charset="0"/>
                <a:ea typeface="ＭＳ Ｐゴシック" pitchFamily="34" charset="-128"/>
              </a:defRPr>
            </a:lvl1pPr>
            <a:lvl2pPr marL="742950" indent="-285750">
              <a:defRPr>
                <a:solidFill>
                  <a:schemeClr val="tx1"/>
                </a:solidFill>
                <a:latin typeface="Century Gothic" pitchFamily="34" charset="0"/>
                <a:ea typeface="ＭＳ Ｐゴシック" pitchFamily="34" charset="-128"/>
              </a:defRPr>
            </a:lvl2pPr>
            <a:lvl3pPr marL="1143000" indent="-228600">
              <a:defRPr>
                <a:solidFill>
                  <a:schemeClr val="tx1"/>
                </a:solidFill>
                <a:latin typeface="Century Gothic" pitchFamily="34" charset="0"/>
                <a:ea typeface="ＭＳ Ｐゴシック" pitchFamily="34" charset="-128"/>
              </a:defRPr>
            </a:lvl3pPr>
            <a:lvl4pPr marL="1600200" indent="-228600">
              <a:defRPr>
                <a:solidFill>
                  <a:schemeClr val="tx1"/>
                </a:solidFill>
                <a:latin typeface="Century Gothic" pitchFamily="34" charset="0"/>
                <a:ea typeface="ＭＳ Ｐゴシック" pitchFamily="34" charset="-128"/>
              </a:defRPr>
            </a:lvl4pPr>
            <a:lvl5pPr marL="2057400" indent="-228600">
              <a:defRPr>
                <a:solidFill>
                  <a:schemeClr val="tx1"/>
                </a:solidFill>
                <a:latin typeface="Century Gothic"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9pPr>
          </a:lstStyle>
          <a:p>
            <a:r>
              <a:rPr lang="en-US" sz="2400" b="1">
                <a:solidFill>
                  <a:srgbClr val="17110B"/>
                </a:solidFill>
              </a:rPr>
              <a:t>B</a:t>
            </a:r>
          </a:p>
        </p:txBody>
      </p:sp>
    </p:spTree>
    <p:extLst>
      <p:ext uri="{BB962C8B-B14F-4D97-AF65-F5344CB8AC3E}">
        <p14:creationId xmlns:p14="http://schemas.microsoft.com/office/powerpoint/2010/main" val="9891002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62150"/>
                                        </p:tgtEl>
                                        <p:attrNameLst>
                                          <p:attrName>style.visibility</p:attrName>
                                        </p:attrNameLst>
                                      </p:cBhvr>
                                      <p:to>
                                        <p:strVal val="visible"/>
                                      </p:to>
                                    </p:set>
                                    <p:animEffect transition="in" filter="diamond(in)">
                                      <p:cBhvr>
                                        <p:cTn id="7" dur="2000"/>
                                        <p:tgtEl>
                                          <p:spTgt spid="262150"/>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262151"/>
                                        </p:tgtEl>
                                        <p:attrNameLst>
                                          <p:attrName>style.visibility</p:attrName>
                                        </p:attrNameLst>
                                      </p:cBhvr>
                                      <p:to>
                                        <p:strVal val="visible"/>
                                      </p:to>
                                    </p:set>
                                    <p:animEffect transition="in" filter="diamond(in)">
                                      <p:cBhvr>
                                        <p:cTn id="10" dur="2000"/>
                                        <p:tgtEl>
                                          <p:spTgt spid="262151"/>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8" presetClass="entr" presetSubtype="16" fill="hold" grpId="0" nodeType="clickEffect">
                                  <p:stCondLst>
                                    <p:cond delay="0"/>
                                  </p:stCondLst>
                                  <p:childTnLst>
                                    <p:set>
                                      <p:cBhvr>
                                        <p:cTn id="14" dur="1" fill="hold">
                                          <p:stCondLst>
                                            <p:cond delay="0"/>
                                          </p:stCondLst>
                                        </p:cTn>
                                        <p:tgtEl>
                                          <p:spTgt spid="262148"/>
                                        </p:tgtEl>
                                        <p:attrNameLst>
                                          <p:attrName>style.visibility</p:attrName>
                                        </p:attrNameLst>
                                      </p:cBhvr>
                                      <p:to>
                                        <p:strVal val="visible"/>
                                      </p:to>
                                    </p:set>
                                    <p:animEffect transition="in" filter="diamond(in)">
                                      <p:cBhvr>
                                        <p:cTn id="15" dur="2000"/>
                                        <p:tgtEl>
                                          <p:spTgt spid="26214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8" presetClass="entr" presetSubtype="16" fill="hold" grpId="0" nodeType="clickEffect">
                                  <p:stCondLst>
                                    <p:cond delay="0"/>
                                  </p:stCondLst>
                                  <p:childTnLst>
                                    <p:set>
                                      <p:cBhvr>
                                        <p:cTn id="19" dur="1" fill="hold">
                                          <p:stCondLst>
                                            <p:cond delay="0"/>
                                          </p:stCondLst>
                                        </p:cTn>
                                        <p:tgtEl>
                                          <p:spTgt spid="262149"/>
                                        </p:tgtEl>
                                        <p:attrNameLst>
                                          <p:attrName>style.visibility</p:attrName>
                                        </p:attrNameLst>
                                      </p:cBhvr>
                                      <p:to>
                                        <p:strVal val="visible"/>
                                      </p:to>
                                    </p:set>
                                    <p:animEffect transition="in" filter="diamond(in)">
                                      <p:cBhvr>
                                        <p:cTn id="20" dur="2000"/>
                                        <p:tgtEl>
                                          <p:spTgt spid="262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148" grpId="0" animBg="1"/>
      <p:bldP spid="262149" grpId="0" animBg="1"/>
      <p:bldP spid="262150" grpId="0"/>
      <p:bldP spid="26215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Fußzeilenplatzhalter 4"/>
          <p:cNvSpPr txBox="1">
            <a:spLocks noGrp="1"/>
          </p:cNvSpPr>
          <p:nvPr/>
        </p:nvSpPr>
        <p:spPr bwMode="auto">
          <a:xfrm>
            <a:off x="1524000" y="6477000"/>
            <a:ext cx="7162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entury Gothic" pitchFamily="34" charset="0"/>
                <a:ea typeface="ＭＳ Ｐゴシック" pitchFamily="34" charset="-128"/>
              </a:defRPr>
            </a:lvl1pPr>
            <a:lvl2pPr marL="742950" indent="-285750">
              <a:defRPr>
                <a:solidFill>
                  <a:schemeClr val="tx1"/>
                </a:solidFill>
                <a:latin typeface="Century Gothic" pitchFamily="34" charset="0"/>
                <a:ea typeface="ＭＳ Ｐゴシック" pitchFamily="34" charset="-128"/>
              </a:defRPr>
            </a:lvl2pPr>
            <a:lvl3pPr marL="1143000" indent="-228600">
              <a:defRPr>
                <a:solidFill>
                  <a:schemeClr val="tx1"/>
                </a:solidFill>
                <a:latin typeface="Century Gothic" pitchFamily="34" charset="0"/>
                <a:ea typeface="ＭＳ Ｐゴシック" pitchFamily="34" charset="-128"/>
              </a:defRPr>
            </a:lvl3pPr>
            <a:lvl4pPr marL="1600200" indent="-228600">
              <a:defRPr>
                <a:solidFill>
                  <a:schemeClr val="tx1"/>
                </a:solidFill>
                <a:latin typeface="Century Gothic" pitchFamily="34" charset="0"/>
                <a:ea typeface="ＭＳ Ｐゴシック" pitchFamily="34" charset="-128"/>
              </a:defRPr>
            </a:lvl4pPr>
            <a:lvl5pPr marL="2057400" indent="-228600">
              <a:defRPr>
                <a:solidFill>
                  <a:schemeClr val="tx1"/>
                </a:solidFill>
                <a:latin typeface="Century Gothic"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9pPr>
          </a:lstStyle>
          <a:p>
            <a:pPr eaLnBrk="1" hangingPunct="1"/>
            <a:r>
              <a:rPr lang="en-US" sz="1400" b="1">
                <a:solidFill>
                  <a:schemeClr val="bg1"/>
                </a:solidFill>
                <a:latin typeface="Arial" pitchFamily="34" charset="0"/>
                <a:cs typeface="Arial" pitchFamily="34" charset="0"/>
              </a:rPr>
              <a:t>Huczynski &amp; Buchanan, Organizational Behaviour 6e, © Pearson Education 2007</a:t>
            </a:r>
            <a:r>
              <a:rPr lang="en-US" sz="1400" b="1">
                <a:solidFill>
                  <a:schemeClr val="bg1"/>
                </a:solidFill>
                <a:latin typeface="Arial" pitchFamily="34" charset="0"/>
                <a:cs typeface="Times New Roman" pitchFamily="18" charset="0"/>
              </a:rPr>
              <a:t> </a:t>
            </a:r>
          </a:p>
        </p:txBody>
      </p:sp>
      <p:sp>
        <p:nvSpPr>
          <p:cNvPr id="17431" name="Rectangle 23"/>
          <p:cNvSpPr>
            <a:spLocks noChangeArrowheads="1"/>
          </p:cNvSpPr>
          <p:nvPr/>
        </p:nvSpPr>
        <p:spPr bwMode="auto">
          <a:xfrm>
            <a:off x="2362200" y="2362200"/>
            <a:ext cx="6324600" cy="3276600"/>
          </a:xfrm>
          <a:prstGeom prst="rect">
            <a:avLst/>
          </a:prstGeom>
          <a:solidFill>
            <a:schemeClr val="accent1">
              <a:lumMod val="20000"/>
              <a:lumOff val="80000"/>
            </a:schemeClr>
          </a:solidFill>
          <a:ln>
            <a:noFill/>
          </a:ln>
        </p:spPr>
        <p:txBody>
          <a:bodyPr wrap="none" anchor="ctr"/>
          <a:lstStyle/>
          <a:p>
            <a:pPr algn="ctr" eaLnBrk="1" hangingPunct="1">
              <a:defRPr/>
            </a:pPr>
            <a:endParaRPr lang="de-DE" sz="4400">
              <a:solidFill>
                <a:schemeClr val="tx2"/>
              </a:solidFill>
              <a:latin typeface="Times New Roman" pitchFamily="18" charset="0"/>
              <a:ea typeface="MS PGothic" pitchFamily="34" charset="-128"/>
              <a:cs typeface="Times New Roman" pitchFamily="18" charset="0"/>
            </a:endParaRPr>
          </a:p>
        </p:txBody>
      </p:sp>
      <p:sp>
        <p:nvSpPr>
          <p:cNvPr id="17412" name="Rectangle 4"/>
          <p:cNvSpPr>
            <a:spLocks noChangeArrowheads="1"/>
          </p:cNvSpPr>
          <p:nvPr/>
        </p:nvSpPr>
        <p:spPr bwMode="auto">
          <a:xfrm>
            <a:off x="1981200" y="1066800"/>
            <a:ext cx="8305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defTabSz="781050">
              <a:spcBef>
                <a:spcPct val="20000"/>
              </a:spcBef>
            </a:pPr>
            <a:r>
              <a:rPr lang="en-US" sz="2000" b="1">
                <a:solidFill>
                  <a:srgbClr val="0070C0"/>
                </a:solidFill>
                <a:latin typeface="Arial" pitchFamily="34" charset="0"/>
                <a:cs typeface="Times New Roman" pitchFamily="18" charset="0"/>
              </a:rPr>
              <a:t>Carl Gustav Jung</a:t>
            </a:r>
          </a:p>
          <a:p>
            <a:pPr marL="342900" indent="-342900" defTabSz="781050">
              <a:spcBef>
                <a:spcPct val="20000"/>
              </a:spcBef>
              <a:buFont typeface="Wingdings" pitchFamily="2" charset="2"/>
              <a:buChar char="§"/>
            </a:pPr>
            <a:r>
              <a:rPr lang="en-US" sz="1600">
                <a:solidFill>
                  <a:srgbClr val="0070C0"/>
                </a:solidFill>
                <a:latin typeface="Arial" pitchFamily="34" charset="0"/>
                <a:cs typeface="Times New Roman" pitchFamily="18" charset="0"/>
              </a:rPr>
              <a:t>1875-1961 </a:t>
            </a:r>
          </a:p>
          <a:p>
            <a:pPr marL="342900" indent="-342900" defTabSz="781050">
              <a:spcBef>
                <a:spcPct val="20000"/>
              </a:spcBef>
              <a:buFont typeface="Wingdings" pitchFamily="2" charset="2"/>
              <a:buChar char="§"/>
            </a:pPr>
            <a:r>
              <a:rPr lang="en-US" sz="1600">
                <a:solidFill>
                  <a:srgbClr val="0070C0"/>
                </a:solidFill>
                <a:latin typeface="Arial" pitchFamily="34" charset="0"/>
                <a:cs typeface="Times New Roman" pitchFamily="18" charset="0"/>
              </a:rPr>
              <a:t>Psychological pressures for extraversion or introversion</a:t>
            </a:r>
            <a:endParaRPr lang="en-US" sz="1600" i="1">
              <a:solidFill>
                <a:srgbClr val="0070C0"/>
              </a:solidFill>
              <a:latin typeface="Arial" pitchFamily="34" charset="0"/>
              <a:cs typeface="Times New Roman" pitchFamily="18" charset="0"/>
            </a:endParaRPr>
          </a:p>
          <a:p>
            <a:pPr marL="342900" indent="-342900" defTabSz="781050">
              <a:spcBef>
                <a:spcPct val="20000"/>
              </a:spcBef>
            </a:pPr>
            <a:endParaRPr lang="en-US" sz="1600">
              <a:solidFill>
                <a:srgbClr val="800000"/>
              </a:solidFill>
              <a:latin typeface="Arial" pitchFamily="34" charset="0"/>
              <a:cs typeface="Times New Roman" pitchFamily="18" charset="0"/>
            </a:endParaRPr>
          </a:p>
          <a:p>
            <a:pPr marL="342900" indent="-342900" defTabSz="781050">
              <a:spcBef>
                <a:spcPct val="20000"/>
              </a:spcBef>
            </a:pPr>
            <a:endParaRPr lang="en-US" sz="1600">
              <a:solidFill>
                <a:srgbClr val="800000"/>
              </a:solidFill>
              <a:latin typeface="Arial" pitchFamily="34" charset="0"/>
              <a:cs typeface="Times New Roman" pitchFamily="18" charset="0"/>
            </a:endParaRPr>
          </a:p>
          <a:p>
            <a:pPr marL="342900" indent="-342900" defTabSz="781050">
              <a:spcBef>
                <a:spcPct val="20000"/>
              </a:spcBef>
            </a:pPr>
            <a:endParaRPr lang="en-US" sz="1400">
              <a:solidFill>
                <a:srgbClr val="CC0000"/>
              </a:solidFill>
              <a:latin typeface="Arial" pitchFamily="34" charset="0"/>
              <a:cs typeface="Times New Roman" pitchFamily="18" charset="0"/>
            </a:endParaRPr>
          </a:p>
        </p:txBody>
      </p:sp>
      <p:sp>
        <p:nvSpPr>
          <p:cNvPr id="17413" name="Rectangle 5"/>
          <p:cNvSpPr>
            <a:spLocks noChangeArrowheads="1"/>
          </p:cNvSpPr>
          <p:nvPr/>
        </p:nvSpPr>
        <p:spPr bwMode="auto">
          <a:xfrm>
            <a:off x="5105400" y="2362200"/>
            <a:ext cx="1143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defTabSz="781050">
              <a:spcBef>
                <a:spcPct val="20000"/>
              </a:spcBef>
            </a:pPr>
            <a:r>
              <a:rPr lang="en-US" b="1">
                <a:solidFill>
                  <a:srgbClr val="002060"/>
                </a:solidFill>
                <a:latin typeface="Arial" pitchFamily="34" charset="0"/>
                <a:cs typeface="Times New Roman" pitchFamily="18" charset="0"/>
              </a:rPr>
              <a:t>thinking</a:t>
            </a:r>
          </a:p>
        </p:txBody>
      </p:sp>
      <p:sp>
        <p:nvSpPr>
          <p:cNvPr id="17414" name="Line 6"/>
          <p:cNvSpPr>
            <a:spLocks noChangeShapeType="1"/>
          </p:cNvSpPr>
          <p:nvPr/>
        </p:nvSpPr>
        <p:spPr bwMode="auto">
          <a:xfrm>
            <a:off x="5562600" y="2743200"/>
            <a:ext cx="0" cy="2590800"/>
          </a:xfrm>
          <a:prstGeom prst="line">
            <a:avLst/>
          </a:prstGeom>
          <a:noFill/>
          <a:ln w="38100">
            <a:solidFill>
              <a:srgbClr val="800000"/>
            </a:solidFill>
            <a:round/>
            <a:headEnd/>
            <a:tailEnd/>
          </a:ln>
          <a:extLst>
            <a:ext uri="{909E8E84-426E-40DD-AFC4-6F175D3DCCD1}">
              <a14:hiddenFill xmlns:a14="http://schemas.microsoft.com/office/drawing/2010/main">
                <a:noFill/>
              </a14:hiddenFill>
            </a:ext>
          </a:extLst>
        </p:spPr>
        <p:txBody>
          <a:bodyPr anchor="ctr"/>
          <a:lstStyle/>
          <a:p>
            <a:endParaRPr lang="en-IE"/>
          </a:p>
        </p:txBody>
      </p:sp>
      <p:sp>
        <p:nvSpPr>
          <p:cNvPr id="17418" name="Rectangle 10"/>
          <p:cNvSpPr>
            <a:spLocks noChangeArrowheads="1"/>
          </p:cNvSpPr>
          <p:nvPr/>
        </p:nvSpPr>
        <p:spPr bwMode="auto">
          <a:xfrm>
            <a:off x="5029200" y="5257800"/>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defTabSz="781050">
              <a:spcBef>
                <a:spcPct val="20000"/>
              </a:spcBef>
            </a:pPr>
            <a:r>
              <a:rPr lang="en-US" sz="1600" b="1">
                <a:solidFill>
                  <a:srgbClr val="002060"/>
                </a:solidFill>
                <a:latin typeface="Arial" pitchFamily="34" charset="0"/>
                <a:cs typeface="Times New Roman" pitchFamily="18" charset="0"/>
              </a:rPr>
              <a:t> </a:t>
            </a:r>
            <a:r>
              <a:rPr lang="en-US" b="1">
                <a:solidFill>
                  <a:srgbClr val="002060"/>
                </a:solidFill>
                <a:latin typeface="Arial" pitchFamily="34" charset="0"/>
                <a:cs typeface="Times New Roman" pitchFamily="18" charset="0"/>
              </a:rPr>
              <a:t>feeling</a:t>
            </a:r>
          </a:p>
        </p:txBody>
      </p:sp>
      <p:sp>
        <p:nvSpPr>
          <p:cNvPr id="17419" name="Rectangle 11"/>
          <p:cNvSpPr>
            <a:spLocks noChangeArrowheads="1"/>
          </p:cNvSpPr>
          <p:nvPr/>
        </p:nvSpPr>
        <p:spPr bwMode="auto">
          <a:xfrm>
            <a:off x="2362200" y="3733800"/>
            <a:ext cx="1295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defTabSz="781050">
              <a:spcBef>
                <a:spcPct val="20000"/>
              </a:spcBef>
            </a:pPr>
            <a:r>
              <a:rPr lang="en-US" b="1">
                <a:solidFill>
                  <a:srgbClr val="002060"/>
                </a:solidFill>
                <a:latin typeface="Arial" pitchFamily="34" charset="0"/>
                <a:cs typeface="Times New Roman" pitchFamily="18" charset="0"/>
              </a:rPr>
              <a:t>sensation</a:t>
            </a:r>
          </a:p>
        </p:txBody>
      </p:sp>
      <p:sp>
        <p:nvSpPr>
          <p:cNvPr id="17420" name="Line 12"/>
          <p:cNvSpPr>
            <a:spLocks noChangeShapeType="1"/>
          </p:cNvSpPr>
          <p:nvPr/>
        </p:nvSpPr>
        <p:spPr bwMode="auto">
          <a:xfrm>
            <a:off x="3810000" y="3962400"/>
            <a:ext cx="3505200" cy="0"/>
          </a:xfrm>
          <a:prstGeom prst="line">
            <a:avLst/>
          </a:prstGeom>
          <a:noFill/>
          <a:ln w="38100">
            <a:solidFill>
              <a:srgbClr val="800000"/>
            </a:solidFill>
            <a:round/>
            <a:headEnd/>
            <a:tailEnd/>
          </a:ln>
          <a:extLst>
            <a:ext uri="{909E8E84-426E-40DD-AFC4-6F175D3DCCD1}">
              <a14:hiddenFill xmlns:a14="http://schemas.microsoft.com/office/drawing/2010/main">
                <a:noFill/>
              </a14:hiddenFill>
            </a:ext>
          </a:extLst>
        </p:spPr>
        <p:txBody>
          <a:bodyPr anchor="ctr"/>
          <a:lstStyle/>
          <a:p>
            <a:endParaRPr lang="en-IE"/>
          </a:p>
        </p:txBody>
      </p:sp>
      <p:sp>
        <p:nvSpPr>
          <p:cNvPr id="17421" name="Rectangle 13"/>
          <p:cNvSpPr>
            <a:spLocks noChangeArrowheads="1"/>
          </p:cNvSpPr>
          <p:nvPr/>
        </p:nvSpPr>
        <p:spPr bwMode="auto">
          <a:xfrm>
            <a:off x="7620000" y="3733800"/>
            <a:ext cx="1143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defTabSz="781050">
              <a:spcBef>
                <a:spcPct val="20000"/>
              </a:spcBef>
            </a:pPr>
            <a:r>
              <a:rPr lang="en-US" b="1">
                <a:solidFill>
                  <a:srgbClr val="002060"/>
                </a:solidFill>
                <a:latin typeface="Arial" pitchFamily="34" charset="0"/>
                <a:cs typeface="Times New Roman" pitchFamily="18" charset="0"/>
              </a:rPr>
              <a:t>i</a:t>
            </a:r>
            <a:r>
              <a:rPr lang="en-US" b="1" u="sng">
                <a:solidFill>
                  <a:srgbClr val="002060"/>
                </a:solidFill>
                <a:latin typeface="Arial" pitchFamily="34" charset="0"/>
                <a:cs typeface="Times New Roman" pitchFamily="18" charset="0"/>
              </a:rPr>
              <a:t>n</a:t>
            </a:r>
            <a:r>
              <a:rPr lang="en-US" b="1">
                <a:solidFill>
                  <a:srgbClr val="002060"/>
                </a:solidFill>
                <a:latin typeface="Arial" pitchFamily="34" charset="0"/>
                <a:cs typeface="Times New Roman" pitchFamily="18" charset="0"/>
              </a:rPr>
              <a:t>tuition</a:t>
            </a:r>
          </a:p>
        </p:txBody>
      </p:sp>
      <p:sp>
        <p:nvSpPr>
          <p:cNvPr id="17422" name="Rectangle 14"/>
          <p:cNvSpPr>
            <a:spLocks noChangeArrowheads="1"/>
          </p:cNvSpPr>
          <p:nvPr/>
        </p:nvSpPr>
        <p:spPr bwMode="auto">
          <a:xfrm>
            <a:off x="2971800" y="2514600"/>
            <a:ext cx="457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defTabSz="781050">
              <a:spcBef>
                <a:spcPct val="20000"/>
              </a:spcBef>
            </a:pPr>
            <a:r>
              <a:rPr lang="en-US" sz="1400">
                <a:solidFill>
                  <a:srgbClr val="CC0000"/>
                </a:solidFill>
                <a:latin typeface="Arial" pitchFamily="34" charset="0"/>
                <a:cs typeface="Times New Roman" pitchFamily="18" charset="0"/>
              </a:rPr>
              <a:t>ST</a:t>
            </a:r>
          </a:p>
        </p:txBody>
      </p:sp>
      <p:sp>
        <p:nvSpPr>
          <p:cNvPr id="17423" name="Rectangle 15"/>
          <p:cNvSpPr>
            <a:spLocks noChangeArrowheads="1"/>
          </p:cNvSpPr>
          <p:nvPr/>
        </p:nvSpPr>
        <p:spPr bwMode="auto">
          <a:xfrm>
            <a:off x="3962400" y="3124200"/>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defTabSz="781050">
              <a:spcBef>
                <a:spcPct val="20000"/>
              </a:spcBef>
            </a:pPr>
            <a:r>
              <a:rPr lang="en-US" sz="1600" i="1">
                <a:solidFill>
                  <a:srgbClr val="002060"/>
                </a:solidFill>
                <a:latin typeface="Arial" pitchFamily="34" charset="0"/>
                <a:cs typeface="Times New Roman" pitchFamily="18" charset="0"/>
              </a:rPr>
              <a:t>practical</a:t>
            </a:r>
          </a:p>
        </p:txBody>
      </p:sp>
      <p:sp>
        <p:nvSpPr>
          <p:cNvPr id="17424" name="Rectangle 16"/>
          <p:cNvSpPr>
            <a:spLocks noChangeArrowheads="1"/>
          </p:cNvSpPr>
          <p:nvPr/>
        </p:nvSpPr>
        <p:spPr bwMode="auto">
          <a:xfrm>
            <a:off x="7391400" y="2438400"/>
            <a:ext cx="457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defTabSz="781050">
              <a:spcBef>
                <a:spcPct val="20000"/>
              </a:spcBef>
            </a:pPr>
            <a:r>
              <a:rPr lang="en-US" sz="1400">
                <a:solidFill>
                  <a:srgbClr val="CC0000"/>
                </a:solidFill>
                <a:latin typeface="Arial" pitchFamily="34" charset="0"/>
                <a:cs typeface="Times New Roman" pitchFamily="18" charset="0"/>
              </a:rPr>
              <a:t>NT</a:t>
            </a:r>
          </a:p>
        </p:txBody>
      </p:sp>
      <p:sp>
        <p:nvSpPr>
          <p:cNvPr id="17425" name="Rectangle 17"/>
          <p:cNvSpPr>
            <a:spLocks noChangeArrowheads="1"/>
          </p:cNvSpPr>
          <p:nvPr/>
        </p:nvSpPr>
        <p:spPr bwMode="auto">
          <a:xfrm>
            <a:off x="6019800" y="3124200"/>
            <a:ext cx="1295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defTabSz="781050">
              <a:spcBef>
                <a:spcPct val="20000"/>
              </a:spcBef>
            </a:pPr>
            <a:r>
              <a:rPr lang="en-US" sz="1600" i="1">
                <a:solidFill>
                  <a:srgbClr val="002060"/>
                </a:solidFill>
                <a:latin typeface="Arial" pitchFamily="34" charset="0"/>
                <a:cs typeface="Times New Roman" pitchFamily="18" charset="0"/>
              </a:rPr>
              <a:t>conceptual</a:t>
            </a:r>
          </a:p>
        </p:txBody>
      </p:sp>
      <p:sp>
        <p:nvSpPr>
          <p:cNvPr id="17426" name="Rectangle 18"/>
          <p:cNvSpPr>
            <a:spLocks noChangeArrowheads="1"/>
          </p:cNvSpPr>
          <p:nvPr/>
        </p:nvSpPr>
        <p:spPr bwMode="auto">
          <a:xfrm>
            <a:off x="3048000" y="4953000"/>
            <a:ext cx="457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defTabSz="781050">
              <a:spcBef>
                <a:spcPct val="20000"/>
              </a:spcBef>
            </a:pPr>
            <a:r>
              <a:rPr lang="en-US" sz="1400">
                <a:solidFill>
                  <a:srgbClr val="CC0000"/>
                </a:solidFill>
                <a:latin typeface="Arial" pitchFamily="34" charset="0"/>
                <a:cs typeface="Times New Roman" pitchFamily="18" charset="0"/>
              </a:rPr>
              <a:t>SF</a:t>
            </a:r>
          </a:p>
        </p:txBody>
      </p:sp>
      <p:sp>
        <p:nvSpPr>
          <p:cNvPr id="17427" name="Rectangle 19"/>
          <p:cNvSpPr>
            <a:spLocks noChangeArrowheads="1"/>
          </p:cNvSpPr>
          <p:nvPr/>
        </p:nvSpPr>
        <p:spPr bwMode="auto">
          <a:xfrm>
            <a:off x="3886200" y="4419600"/>
            <a:ext cx="1219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defTabSz="781050">
              <a:spcBef>
                <a:spcPct val="20000"/>
              </a:spcBef>
            </a:pPr>
            <a:r>
              <a:rPr lang="en-US" sz="1600" i="1">
                <a:solidFill>
                  <a:srgbClr val="002060"/>
                </a:solidFill>
                <a:latin typeface="Arial" pitchFamily="34" charset="0"/>
                <a:cs typeface="Times New Roman" pitchFamily="18" charset="0"/>
              </a:rPr>
              <a:t>gregarious</a:t>
            </a:r>
          </a:p>
        </p:txBody>
      </p:sp>
      <p:sp>
        <p:nvSpPr>
          <p:cNvPr id="17428" name="Rectangle 20"/>
          <p:cNvSpPr>
            <a:spLocks noChangeArrowheads="1"/>
          </p:cNvSpPr>
          <p:nvPr/>
        </p:nvSpPr>
        <p:spPr bwMode="auto">
          <a:xfrm>
            <a:off x="7391400" y="4953000"/>
            <a:ext cx="457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defTabSz="781050">
              <a:spcBef>
                <a:spcPct val="20000"/>
              </a:spcBef>
            </a:pPr>
            <a:r>
              <a:rPr lang="en-US" sz="1400">
                <a:solidFill>
                  <a:srgbClr val="CC0000"/>
                </a:solidFill>
                <a:latin typeface="Arial" pitchFamily="34" charset="0"/>
                <a:cs typeface="Times New Roman" pitchFamily="18" charset="0"/>
              </a:rPr>
              <a:t>NF</a:t>
            </a:r>
          </a:p>
        </p:txBody>
      </p:sp>
      <p:sp>
        <p:nvSpPr>
          <p:cNvPr id="17429" name="Rectangle 21"/>
          <p:cNvSpPr>
            <a:spLocks noChangeArrowheads="1"/>
          </p:cNvSpPr>
          <p:nvPr/>
        </p:nvSpPr>
        <p:spPr bwMode="auto">
          <a:xfrm>
            <a:off x="6096000" y="4419600"/>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defTabSz="781050">
              <a:spcBef>
                <a:spcPct val="20000"/>
              </a:spcBef>
            </a:pPr>
            <a:r>
              <a:rPr lang="en-US" sz="1600" i="1">
                <a:solidFill>
                  <a:srgbClr val="002060"/>
                </a:solidFill>
                <a:latin typeface="Arial" pitchFamily="34" charset="0"/>
                <a:cs typeface="Times New Roman" pitchFamily="18" charset="0"/>
              </a:rPr>
              <a:t>creative</a:t>
            </a:r>
          </a:p>
        </p:txBody>
      </p:sp>
      <p:sp>
        <p:nvSpPr>
          <p:cNvPr id="48149" name="Rectangle 2"/>
          <p:cNvSpPr>
            <a:spLocks noChangeArrowheads="1"/>
          </p:cNvSpPr>
          <p:nvPr/>
        </p:nvSpPr>
        <p:spPr bwMode="auto">
          <a:xfrm>
            <a:off x="1943100" y="304801"/>
            <a:ext cx="746760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eaLnBrk="1" hangingPunct="1">
              <a:defRPr/>
            </a:pPr>
            <a:r>
              <a:rPr lang="en-US" sz="3000" b="1" dirty="0">
                <a:solidFill>
                  <a:srgbClr val="002060"/>
                </a:solidFill>
                <a:latin typeface="+mj-lt"/>
                <a:ea typeface="MS PGothic" pitchFamily="34" charset="-128"/>
                <a:cs typeface="Calibri" pitchFamily="34" charset="0"/>
              </a:rPr>
              <a:t>TYPES</a:t>
            </a:r>
            <a:r>
              <a:rPr lang="en-US" sz="3000" b="1" dirty="0">
                <a:solidFill>
                  <a:srgbClr val="002060"/>
                </a:solidFill>
                <a:latin typeface="+mj-lt"/>
                <a:ea typeface="MS PGothic" pitchFamily="34" charset="-128"/>
              </a:rPr>
              <a:t> AND TRAITS</a:t>
            </a:r>
          </a:p>
        </p:txBody>
      </p:sp>
    </p:spTree>
    <p:extLst>
      <p:ext uri="{BB962C8B-B14F-4D97-AF65-F5344CB8AC3E}">
        <p14:creationId xmlns:p14="http://schemas.microsoft.com/office/powerpoint/2010/main" val="113498547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7412"/>
                                        </p:tgtEl>
                                        <p:attrNameLst>
                                          <p:attrName>style.visibility</p:attrName>
                                        </p:attrNameLst>
                                      </p:cBhvr>
                                      <p:to>
                                        <p:strVal val="visible"/>
                                      </p:to>
                                    </p:set>
                                    <p:anim calcmode="lin" valueType="num">
                                      <p:cBhvr additive="base">
                                        <p:cTn id="7" dur="500" fill="hold"/>
                                        <p:tgtEl>
                                          <p:spTgt spid="17412"/>
                                        </p:tgtEl>
                                        <p:attrNameLst>
                                          <p:attrName>ppt_x</p:attrName>
                                        </p:attrNameLst>
                                      </p:cBhvr>
                                      <p:tavLst>
                                        <p:tav tm="0">
                                          <p:val>
                                            <p:strVal val="0-#ppt_w/2"/>
                                          </p:val>
                                        </p:tav>
                                        <p:tav tm="100000">
                                          <p:val>
                                            <p:strVal val="#ppt_x"/>
                                          </p:val>
                                        </p:tav>
                                      </p:tavLst>
                                    </p:anim>
                                    <p:anim calcmode="lin" valueType="num">
                                      <p:cBhvr additive="base">
                                        <p:cTn id="8" dur="500" fill="hold"/>
                                        <p:tgtEl>
                                          <p:spTgt spid="1741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9" presetClass="entr" presetSubtype="0" fill="hold" grpId="0" nodeType="afterEffect">
                                  <p:stCondLst>
                                    <p:cond delay="0"/>
                                  </p:stCondLst>
                                  <p:childTnLst>
                                    <p:set>
                                      <p:cBhvr>
                                        <p:cTn id="11" dur="1" fill="hold">
                                          <p:stCondLst>
                                            <p:cond delay="0"/>
                                          </p:stCondLst>
                                        </p:cTn>
                                        <p:tgtEl>
                                          <p:spTgt spid="17431"/>
                                        </p:tgtEl>
                                        <p:attrNameLst>
                                          <p:attrName>style.visibility</p:attrName>
                                        </p:attrNameLst>
                                      </p:cBhvr>
                                      <p:to>
                                        <p:strVal val="visible"/>
                                      </p:to>
                                    </p:set>
                                    <p:animEffect transition="in" filter="dissolve">
                                      <p:cBhvr>
                                        <p:cTn id="12" dur="500"/>
                                        <p:tgtEl>
                                          <p:spTgt spid="17431"/>
                                        </p:tgtEl>
                                      </p:cBhvr>
                                    </p:animEffect>
                                  </p:childTnLst>
                                </p:cTn>
                              </p:par>
                            </p:childTnLst>
                          </p:cTn>
                        </p:par>
                        <p:par>
                          <p:cTn id="13" fill="hold" nodeType="afterGroup">
                            <p:stCondLst>
                              <p:cond delay="1000"/>
                            </p:stCondLst>
                            <p:childTnLst>
                              <p:par>
                                <p:cTn id="14" presetID="9" presetClass="entr" presetSubtype="0" fill="hold" grpId="0" nodeType="afterEffect">
                                  <p:stCondLst>
                                    <p:cond delay="0"/>
                                  </p:stCondLst>
                                  <p:iterate type="wd">
                                    <p:tmPct val="100000"/>
                                  </p:iterate>
                                  <p:childTnLst>
                                    <p:set>
                                      <p:cBhvr>
                                        <p:cTn id="15" dur="1" fill="hold">
                                          <p:stCondLst>
                                            <p:cond delay="0"/>
                                          </p:stCondLst>
                                        </p:cTn>
                                        <p:tgtEl>
                                          <p:spTgt spid="17413">
                                            <p:txEl>
                                              <p:pRg st="0" end="0"/>
                                            </p:txEl>
                                          </p:spTgt>
                                        </p:tgtEl>
                                        <p:attrNameLst>
                                          <p:attrName>style.visibility</p:attrName>
                                        </p:attrNameLst>
                                      </p:cBhvr>
                                      <p:to>
                                        <p:strVal val="visible"/>
                                      </p:to>
                                    </p:set>
                                    <p:animEffect transition="in" filter="dissolve">
                                      <p:cBhvr>
                                        <p:cTn id="16" dur="300"/>
                                        <p:tgtEl>
                                          <p:spTgt spid="17413">
                                            <p:txEl>
                                              <p:pRg st="0" end="0"/>
                                            </p:txEl>
                                          </p:spTgt>
                                        </p:tgtEl>
                                      </p:cBhvr>
                                    </p:animEffect>
                                  </p:childTnLst>
                                </p:cTn>
                              </p:par>
                            </p:childTnLst>
                          </p:cTn>
                        </p:par>
                        <p:par>
                          <p:cTn id="17" fill="hold" nodeType="afterGroup">
                            <p:stCondLst>
                              <p:cond delay="1300"/>
                            </p:stCondLst>
                            <p:childTnLst>
                              <p:par>
                                <p:cTn id="18" presetID="9" presetClass="entr" presetSubtype="0" fill="hold" grpId="0" nodeType="afterEffect">
                                  <p:stCondLst>
                                    <p:cond delay="0"/>
                                  </p:stCondLst>
                                  <p:childTnLst>
                                    <p:set>
                                      <p:cBhvr>
                                        <p:cTn id="19" dur="1" fill="hold">
                                          <p:stCondLst>
                                            <p:cond delay="0"/>
                                          </p:stCondLst>
                                        </p:cTn>
                                        <p:tgtEl>
                                          <p:spTgt spid="17414"/>
                                        </p:tgtEl>
                                        <p:attrNameLst>
                                          <p:attrName>style.visibility</p:attrName>
                                        </p:attrNameLst>
                                      </p:cBhvr>
                                      <p:to>
                                        <p:strVal val="visible"/>
                                      </p:to>
                                    </p:set>
                                    <p:animEffect transition="in" filter="dissolve">
                                      <p:cBhvr>
                                        <p:cTn id="20" dur="500"/>
                                        <p:tgtEl>
                                          <p:spTgt spid="17414"/>
                                        </p:tgtEl>
                                      </p:cBhvr>
                                    </p:animEffect>
                                  </p:childTnLst>
                                </p:cTn>
                              </p:par>
                            </p:childTnLst>
                          </p:cTn>
                        </p:par>
                        <p:par>
                          <p:cTn id="21" fill="hold" nodeType="afterGroup">
                            <p:stCondLst>
                              <p:cond delay="1800"/>
                            </p:stCondLst>
                            <p:childTnLst>
                              <p:par>
                                <p:cTn id="22" presetID="9" presetClass="entr" presetSubtype="0" fill="hold" grpId="0" nodeType="afterEffect">
                                  <p:stCondLst>
                                    <p:cond delay="0"/>
                                  </p:stCondLst>
                                  <p:iterate type="wd">
                                    <p:tmPct val="100000"/>
                                  </p:iterate>
                                  <p:childTnLst>
                                    <p:set>
                                      <p:cBhvr>
                                        <p:cTn id="23" dur="1" fill="hold">
                                          <p:stCondLst>
                                            <p:cond delay="0"/>
                                          </p:stCondLst>
                                        </p:cTn>
                                        <p:tgtEl>
                                          <p:spTgt spid="17418">
                                            <p:txEl>
                                              <p:pRg st="0" end="0"/>
                                            </p:txEl>
                                          </p:spTgt>
                                        </p:tgtEl>
                                        <p:attrNameLst>
                                          <p:attrName>style.visibility</p:attrName>
                                        </p:attrNameLst>
                                      </p:cBhvr>
                                      <p:to>
                                        <p:strVal val="visible"/>
                                      </p:to>
                                    </p:set>
                                    <p:animEffect transition="in" filter="dissolve">
                                      <p:cBhvr>
                                        <p:cTn id="24" dur="300"/>
                                        <p:tgtEl>
                                          <p:spTgt spid="17418">
                                            <p:txEl>
                                              <p:pRg st="0" end="0"/>
                                            </p:txEl>
                                          </p:spTgt>
                                        </p:tgtEl>
                                      </p:cBhvr>
                                    </p:animEffect>
                                  </p:childTnLst>
                                </p:cTn>
                              </p:par>
                            </p:childTnLst>
                          </p:cTn>
                        </p:par>
                        <p:par>
                          <p:cTn id="25" fill="hold" nodeType="afterGroup">
                            <p:stCondLst>
                              <p:cond delay="2100"/>
                            </p:stCondLst>
                            <p:childTnLst>
                              <p:par>
                                <p:cTn id="26" presetID="9" presetClass="entr" presetSubtype="0" fill="hold" grpId="0" nodeType="afterEffect">
                                  <p:stCondLst>
                                    <p:cond delay="0"/>
                                  </p:stCondLst>
                                  <p:iterate type="wd">
                                    <p:tmPct val="100000"/>
                                  </p:iterate>
                                  <p:childTnLst>
                                    <p:set>
                                      <p:cBhvr>
                                        <p:cTn id="27" dur="1" fill="hold">
                                          <p:stCondLst>
                                            <p:cond delay="0"/>
                                          </p:stCondLst>
                                        </p:cTn>
                                        <p:tgtEl>
                                          <p:spTgt spid="17419">
                                            <p:txEl>
                                              <p:pRg st="0" end="0"/>
                                            </p:txEl>
                                          </p:spTgt>
                                        </p:tgtEl>
                                        <p:attrNameLst>
                                          <p:attrName>style.visibility</p:attrName>
                                        </p:attrNameLst>
                                      </p:cBhvr>
                                      <p:to>
                                        <p:strVal val="visible"/>
                                      </p:to>
                                    </p:set>
                                    <p:animEffect transition="in" filter="dissolve">
                                      <p:cBhvr>
                                        <p:cTn id="28" dur="300"/>
                                        <p:tgtEl>
                                          <p:spTgt spid="17419">
                                            <p:txEl>
                                              <p:pRg st="0" end="0"/>
                                            </p:txEl>
                                          </p:spTgt>
                                        </p:tgtEl>
                                      </p:cBhvr>
                                    </p:animEffect>
                                  </p:childTnLst>
                                </p:cTn>
                              </p:par>
                            </p:childTnLst>
                          </p:cTn>
                        </p:par>
                        <p:par>
                          <p:cTn id="29" fill="hold" nodeType="afterGroup">
                            <p:stCondLst>
                              <p:cond delay="2400"/>
                            </p:stCondLst>
                            <p:childTnLst>
                              <p:par>
                                <p:cTn id="30" presetID="9" presetClass="entr" presetSubtype="0" fill="hold" grpId="0" nodeType="afterEffect">
                                  <p:stCondLst>
                                    <p:cond delay="0"/>
                                  </p:stCondLst>
                                  <p:childTnLst>
                                    <p:set>
                                      <p:cBhvr>
                                        <p:cTn id="31" dur="1" fill="hold">
                                          <p:stCondLst>
                                            <p:cond delay="0"/>
                                          </p:stCondLst>
                                        </p:cTn>
                                        <p:tgtEl>
                                          <p:spTgt spid="17420"/>
                                        </p:tgtEl>
                                        <p:attrNameLst>
                                          <p:attrName>style.visibility</p:attrName>
                                        </p:attrNameLst>
                                      </p:cBhvr>
                                      <p:to>
                                        <p:strVal val="visible"/>
                                      </p:to>
                                    </p:set>
                                    <p:animEffect transition="in" filter="dissolve">
                                      <p:cBhvr>
                                        <p:cTn id="32" dur="500"/>
                                        <p:tgtEl>
                                          <p:spTgt spid="17420"/>
                                        </p:tgtEl>
                                      </p:cBhvr>
                                    </p:animEffect>
                                  </p:childTnLst>
                                </p:cTn>
                              </p:par>
                            </p:childTnLst>
                          </p:cTn>
                        </p:par>
                        <p:par>
                          <p:cTn id="33" fill="hold" nodeType="afterGroup">
                            <p:stCondLst>
                              <p:cond delay="2900"/>
                            </p:stCondLst>
                            <p:childTnLst>
                              <p:par>
                                <p:cTn id="34" presetID="9" presetClass="entr" presetSubtype="0" fill="hold" grpId="0" nodeType="afterEffect">
                                  <p:stCondLst>
                                    <p:cond delay="0"/>
                                  </p:stCondLst>
                                  <p:iterate type="wd">
                                    <p:tmPct val="100000"/>
                                  </p:iterate>
                                  <p:childTnLst>
                                    <p:set>
                                      <p:cBhvr>
                                        <p:cTn id="35" dur="1" fill="hold">
                                          <p:stCondLst>
                                            <p:cond delay="0"/>
                                          </p:stCondLst>
                                        </p:cTn>
                                        <p:tgtEl>
                                          <p:spTgt spid="17421">
                                            <p:txEl>
                                              <p:pRg st="0" end="0"/>
                                            </p:txEl>
                                          </p:spTgt>
                                        </p:tgtEl>
                                        <p:attrNameLst>
                                          <p:attrName>style.visibility</p:attrName>
                                        </p:attrNameLst>
                                      </p:cBhvr>
                                      <p:to>
                                        <p:strVal val="visible"/>
                                      </p:to>
                                    </p:set>
                                    <p:animEffect transition="in" filter="dissolve">
                                      <p:cBhvr>
                                        <p:cTn id="36" dur="300"/>
                                        <p:tgtEl>
                                          <p:spTgt spid="17421">
                                            <p:txEl>
                                              <p:pRg st="0" end="0"/>
                                            </p:txEl>
                                          </p:spTgt>
                                        </p:tgtEl>
                                      </p:cBhvr>
                                    </p:animEffect>
                                  </p:childTnLst>
                                </p:cTn>
                              </p:par>
                            </p:childTnLst>
                          </p:cTn>
                        </p:par>
                        <p:par>
                          <p:cTn id="37" fill="hold" nodeType="afterGroup">
                            <p:stCondLst>
                              <p:cond delay="3200"/>
                            </p:stCondLst>
                            <p:childTnLst>
                              <p:par>
                                <p:cTn id="38" presetID="9" presetClass="entr" presetSubtype="0" fill="hold" grpId="0" nodeType="afterEffect">
                                  <p:stCondLst>
                                    <p:cond delay="0"/>
                                  </p:stCondLst>
                                  <p:iterate type="wd">
                                    <p:tmPct val="100000"/>
                                  </p:iterate>
                                  <p:childTnLst>
                                    <p:set>
                                      <p:cBhvr>
                                        <p:cTn id="39" dur="1" fill="hold">
                                          <p:stCondLst>
                                            <p:cond delay="0"/>
                                          </p:stCondLst>
                                        </p:cTn>
                                        <p:tgtEl>
                                          <p:spTgt spid="17422">
                                            <p:txEl>
                                              <p:pRg st="0" end="0"/>
                                            </p:txEl>
                                          </p:spTgt>
                                        </p:tgtEl>
                                        <p:attrNameLst>
                                          <p:attrName>style.visibility</p:attrName>
                                        </p:attrNameLst>
                                      </p:cBhvr>
                                      <p:to>
                                        <p:strVal val="visible"/>
                                      </p:to>
                                    </p:set>
                                    <p:animEffect transition="in" filter="dissolve">
                                      <p:cBhvr>
                                        <p:cTn id="40" dur="300"/>
                                        <p:tgtEl>
                                          <p:spTgt spid="17422">
                                            <p:txEl>
                                              <p:pRg st="0" end="0"/>
                                            </p:txEl>
                                          </p:spTgt>
                                        </p:tgtEl>
                                      </p:cBhvr>
                                    </p:animEffect>
                                  </p:childTnLst>
                                </p:cTn>
                              </p:par>
                            </p:childTnLst>
                          </p:cTn>
                        </p:par>
                        <p:par>
                          <p:cTn id="41" fill="hold" nodeType="afterGroup">
                            <p:stCondLst>
                              <p:cond delay="3500"/>
                            </p:stCondLst>
                            <p:childTnLst>
                              <p:par>
                                <p:cTn id="42" presetID="9" presetClass="entr" presetSubtype="0" fill="hold" grpId="0" nodeType="afterEffect">
                                  <p:stCondLst>
                                    <p:cond delay="0"/>
                                  </p:stCondLst>
                                  <p:iterate type="wd">
                                    <p:tmPct val="100000"/>
                                  </p:iterate>
                                  <p:childTnLst>
                                    <p:set>
                                      <p:cBhvr>
                                        <p:cTn id="43" dur="1" fill="hold">
                                          <p:stCondLst>
                                            <p:cond delay="0"/>
                                          </p:stCondLst>
                                        </p:cTn>
                                        <p:tgtEl>
                                          <p:spTgt spid="17423">
                                            <p:txEl>
                                              <p:pRg st="0" end="0"/>
                                            </p:txEl>
                                          </p:spTgt>
                                        </p:tgtEl>
                                        <p:attrNameLst>
                                          <p:attrName>style.visibility</p:attrName>
                                        </p:attrNameLst>
                                      </p:cBhvr>
                                      <p:to>
                                        <p:strVal val="visible"/>
                                      </p:to>
                                    </p:set>
                                    <p:animEffect transition="in" filter="dissolve">
                                      <p:cBhvr>
                                        <p:cTn id="44" dur="300"/>
                                        <p:tgtEl>
                                          <p:spTgt spid="17423">
                                            <p:txEl>
                                              <p:pRg st="0" end="0"/>
                                            </p:txEl>
                                          </p:spTgt>
                                        </p:tgtEl>
                                      </p:cBhvr>
                                    </p:animEffect>
                                  </p:childTnLst>
                                </p:cTn>
                              </p:par>
                            </p:childTnLst>
                          </p:cTn>
                        </p:par>
                        <p:par>
                          <p:cTn id="45" fill="hold" nodeType="afterGroup">
                            <p:stCondLst>
                              <p:cond delay="3800"/>
                            </p:stCondLst>
                            <p:childTnLst>
                              <p:par>
                                <p:cTn id="46" presetID="9" presetClass="entr" presetSubtype="0" fill="hold" grpId="0" nodeType="afterEffect">
                                  <p:stCondLst>
                                    <p:cond delay="0"/>
                                  </p:stCondLst>
                                  <p:iterate type="wd">
                                    <p:tmPct val="100000"/>
                                  </p:iterate>
                                  <p:childTnLst>
                                    <p:set>
                                      <p:cBhvr>
                                        <p:cTn id="47" dur="1" fill="hold">
                                          <p:stCondLst>
                                            <p:cond delay="0"/>
                                          </p:stCondLst>
                                        </p:cTn>
                                        <p:tgtEl>
                                          <p:spTgt spid="17424">
                                            <p:txEl>
                                              <p:pRg st="0" end="0"/>
                                            </p:txEl>
                                          </p:spTgt>
                                        </p:tgtEl>
                                        <p:attrNameLst>
                                          <p:attrName>style.visibility</p:attrName>
                                        </p:attrNameLst>
                                      </p:cBhvr>
                                      <p:to>
                                        <p:strVal val="visible"/>
                                      </p:to>
                                    </p:set>
                                    <p:animEffect transition="in" filter="dissolve">
                                      <p:cBhvr>
                                        <p:cTn id="48" dur="300"/>
                                        <p:tgtEl>
                                          <p:spTgt spid="17424">
                                            <p:txEl>
                                              <p:pRg st="0" end="0"/>
                                            </p:txEl>
                                          </p:spTgt>
                                        </p:tgtEl>
                                      </p:cBhvr>
                                    </p:animEffect>
                                  </p:childTnLst>
                                </p:cTn>
                              </p:par>
                            </p:childTnLst>
                          </p:cTn>
                        </p:par>
                        <p:par>
                          <p:cTn id="49" fill="hold" nodeType="afterGroup">
                            <p:stCondLst>
                              <p:cond delay="4100"/>
                            </p:stCondLst>
                            <p:childTnLst>
                              <p:par>
                                <p:cTn id="50" presetID="9" presetClass="entr" presetSubtype="0" fill="hold" grpId="0" nodeType="afterEffect">
                                  <p:stCondLst>
                                    <p:cond delay="0"/>
                                  </p:stCondLst>
                                  <p:iterate type="wd">
                                    <p:tmPct val="100000"/>
                                  </p:iterate>
                                  <p:childTnLst>
                                    <p:set>
                                      <p:cBhvr>
                                        <p:cTn id="51" dur="1" fill="hold">
                                          <p:stCondLst>
                                            <p:cond delay="0"/>
                                          </p:stCondLst>
                                        </p:cTn>
                                        <p:tgtEl>
                                          <p:spTgt spid="17425">
                                            <p:txEl>
                                              <p:pRg st="0" end="0"/>
                                            </p:txEl>
                                          </p:spTgt>
                                        </p:tgtEl>
                                        <p:attrNameLst>
                                          <p:attrName>style.visibility</p:attrName>
                                        </p:attrNameLst>
                                      </p:cBhvr>
                                      <p:to>
                                        <p:strVal val="visible"/>
                                      </p:to>
                                    </p:set>
                                    <p:animEffect transition="in" filter="dissolve">
                                      <p:cBhvr>
                                        <p:cTn id="52" dur="300"/>
                                        <p:tgtEl>
                                          <p:spTgt spid="17425">
                                            <p:txEl>
                                              <p:pRg st="0" end="0"/>
                                            </p:txEl>
                                          </p:spTgt>
                                        </p:tgtEl>
                                      </p:cBhvr>
                                    </p:animEffect>
                                  </p:childTnLst>
                                </p:cTn>
                              </p:par>
                            </p:childTnLst>
                          </p:cTn>
                        </p:par>
                        <p:par>
                          <p:cTn id="53" fill="hold" nodeType="afterGroup">
                            <p:stCondLst>
                              <p:cond delay="4400"/>
                            </p:stCondLst>
                            <p:childTnLst>
                              <p:par>
                                <p:cTn id="54" presetID="9" presetClass="entr" presetSubtype="0" fill="hold" grpId="0" nodeType="afterEffect">
                                  <p:stCondLst>
                                    <p:cond delay="0"/>
                                  </p:stCondLst>
                                  <p:iterate type="wd">
                                    <p:tmPct val="100000"/>
                                  </p:iterate>
                                  <p:childTnLst>
                                    <p:set>
                                      <p:cBhvr>
                                        <p:cTn id="55" dur="1" fill="hold">
                                          <p:stCondLst>
                                            <p:cond delay="0"/>
                                          </p:stCondLst>
                                        </p:cTn>
                                        <p:tgtEl>
                                          <p:spTgt spid="17426">
                                            <p:txEl>
                                              <p:pRg st="0" end="0"/>
                                            </p:txEl>
                                          </p:spTgt>
                                        </p:tgtEl>
                                        <p:attrNameLst>
                                          <p:attrName>style.visibility</p:attrName>
                                        </p:attrNameLst>
                                      </p:cBhvr>
                                      <p:to>
                                        <p:strVal val="visible"/>
                                      </p:to>
                                    </p:set>
                                    <p:animEffect transition="in" filter="dissolve">
                                      <p:cBhvr>
                                        <p:cTn id="56" dur="300"/>
                                        <p:tgtEl>
                                          <p:spTgt spid="17426">
                                            <p:txEl>
                                              <p:pRg st="0" end="0"/>
                                            </p:txEl>
                                          </p:spTgt>
                                        </p:tgtEl>
                                      </p:cBhvr>
                                    </p:animEffect>
                                  </p:childTnLst>
                                </p:cTn>
                              </p:par>
                            </p:childTnLst>
                          </p:cTn>
                        </p:par>
                        <p:par>
                          <p:cTn id="57" fill="hold" nodeType="afterGroup">
                            <p:stCondLst>
                              <p:cond delay="4700"/>
                            </p:stCondLst>
                            <p:childTnLst>
                              <p:par>
                                <p:cTn id="58" presetID="9" presetClass="entr" presetSubtype="0" fill="hold" grpId="0" nodeType="afterEffect">
                                  <p:stCondLst>
                                    <p:cond delay="0"/>
                                  </p:stCondLst>
                                  <p:iterate type="wd">
                                    <p:tmPct val="100000"/>
                                  </p:iterate>
                                  <p:childTnLst>
                                    <p:set>
                                      <p:cBhvr>
                                        <p:cTn id="59" dur="1" fill="hold">
                                          <p:stCondLst>
                                            <p:cond delay="0"/>
                                          </p:stCondLst>
                                        </p:cTn>
                                        <p:tgtEl>
                                          <p:spTgt spid="17427">
                                            <p:txEl>
                                              <p:pRg st="0" end="0"/>
                                            </p:txEl>
                                          </p:spTgt>
                                        </p:tgtEl>
                                        <p:attrNameLst>
                                          <p:attrName>style.visibility</p:attrName>
                                        </p:attrNameLst>
                                      </p:cBhvr>
                                      <p:to>
                                        <p:strVal val="visible"/>
                                      </p:to>
                                    </p:set>
                                    <p:animEffect transition="in" filter="dissolve">
                                      <p:cBhvr>
                                        <p:cTn id="60" dur="300"/>
                                        <p:tgtEl>
                                          <p:spTgt spid="17427">
                                            <p:txEl>
                                              <p:pRg st="0" end="0"/>
                                            </p:txEl>
                                          </p:spTgt>
                                        </p:tgtEl>
                                      </p:cBhvr>
                                    </p:animEffect>
                                  </p:childTnLst>
                                </p:cTn>
                              </p:par>
                            </p:childTnLst>
                          </p:cTn>
                        </p:par>
                        <p:par>
                          <p:cTn id="61" fill="hold" nodeType="afterGroup">
                            <p:stCondLst>
                              <p:cond delay="5000"/>
                            </p:stCondLst>
                            <p:childTnLst>
                              <p:par>
                                <p:cTn id="62" presetID="9" presetClass="entr" presetSubtype="0" fill="hold" grpId="0" nodeType="afterEffect">
                                  <p:stCondLst>
                                    <p:cond delay="0"/>
                                  </p:stCondLst>
                                  <p:iterate type="wd">
                                    <p:tmPct val="100000"/>
                                  </p:iterate>
                                  <p:childTnLst>
                                    <p:set>
                                      <p:cBhvr>
                                        <p:cTn id="63" dur="1" fill="hold">
                                          <p:stCondLst>
                                            <p:cond delay="0"/>
                                          </p:stCondLst>
                                        </p:cTn>
                                        <p:tgtEl>
                                          <p:spTgt spid="17428">
                                            <p:txEl>
                                              <p:pRg st="0" end="0"/>
                                            </p:txEl>
                                          </p:spTgt>
                                        </p:tgtEl>
                                        <p:attrNameLst>
                                          <p:attrName>style.visibility</p:attrName>
                                        </p:attrNameLst>
                                      </p:cBhvr>
                                      <p:to>
                                        <p:strVal val="visible"/>
                                      </p:to>
                                    </p:set>
                                    <p:animEffect transition="in" filter="dissolve">
                                      <p:cBhvr>
                                        <p:cTn id="64" dur="300"/>
                                        <p:tgtEl>
                                          <p:spTgt spid="17428">
                                            <p:txEl>
                                              <p:pRg st="0" end="0"/>
                                            </p:txEl>
                                          </p:spTgt>
                                        </p:tgtEl>
                                      </p:cBhvr>
                                    </p:animEffect>
                                  </p:childTnLst>
                                </p:cTn>
                              </p:par>
                            </p:childTnLst>
                          </p:cTn>
                        </p:par>
                        <p:par>
                          <p:cTn id="65" fill="hold" nodeType="afterGroup">
                            <p:stCondLst>
                              <p:cond delay="5300"/>
                            </p:stCondLst>
                            <p:childTnLst>
                              <p:par>
                                <p:cTn id="66" presetID="9" presetClass="entr" presetSubtype="0" fill="hold" grpId="0" nodeType="afterEffect">
                                  <p:stCondLst>
                                    <p:cond delay="0"/>
                                  </p:stCondLst>
                                  <p:iterate type="wd">
                                    <p:tmPct val="100000"/>
                                  </p:iterate>
                                  <p:childTnLst>
                                    <p:set>
                                      <p:cBhvr>
                                        <p:cTn id="67" dur="1" fill="hold">
                                          <p:stCondLst>
                                            <p:cond delay="0"/>
                                          </p:stCondLst>
                                        </p:cTn>
                                        <p:tgtEl>
                                          <p:spTgt spid="17429">
                                            <p:txEl>
                                              <p:pRg st="0" end="0"/>
                                            </p:txEl>
                                          </p:spTgt>
                                        </p:tgtEl>
                                        <p:attrNameLst>
                                          <p:attrName>style.visibility</p:attrName>
                                        </p:attrNameLst>
                                      </p:cBhvr>
                                      <p:to>
                                        <p:strVal val="visible"/>
                                      </p:to>
                                    </p:set>
                                    <p:animEffect transition="in" filter="dissolve">
                                      <p:cBhvr>
                                        <p:cTn id="68" dur="300"/>
                                        <p:tgtEl>
                                          <p:spTgt spid="1742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31" grpId="0" animBg="1"/>
      <p:bldP spid="17412" grpId="0" autoUpdateAnimBg="0"/>
      <p:bldP spid="17413" grpId="0" build="p" autoUpdateAnimBg="0" advAuto="0"/>
      <p:bldP spid="17414" grpId="0" animBg="1"/>
      <p:bldP spid="17418" grpId="0" build="p" autoUpdateAnimBg="0" advAuto="0"/>
      <p:bldP spid="17419" grpId="0" build="p" autoUpdateAnimBg="0" advAuto="0"/>
      <p:bldP spid="17420" grpId="0" animBg="1"/>
      <p:bldP spid="17421" grpId="0" build="p" autoUpdateAnimBg="0" advAuto="0"/>
      <p:bldP spid="17422" grpId="0" build="p" autoUpdateAnimBg="0" advAuto="0"/>
      <p:bldP spid="17423" grpId="0" build="p" autoUpdateAnimBg="0" advAuto="0"/>
      <p:bldP spid="17424" grpId="0" build="p" autoUpdateAnimBg="0" advAuto="0"/>
      <p:bldP spid="17425" grpId="0" build="p" autoUpdateAnimBg="0" advAuto="0"/>
      <p:bldP spid="17426" grpId="0" build="p" autoUpdateAnimBg="0" advAuto="0"/>
      <p:bldP spid="17427" grpId="0" build="p" autoUpdateAnimBg="0" advAuto="0"/>
      <p:bldP spid="17428" grpId="0" build="p" autoUpdateAnimBg="0" advAuto="0"/>
      <p:bldP spid="17429" grpId="0" build="p" autoUpdateAnimBg="0" advAuto="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Fußzeilenplatzhalter 4"/>
          <p:cNvSpPr txBox="1">
            <a:spLocks noGrp="1"/>
          </p:cNvSpPr>
          <p:nvPr/>
        </p:nvSpPr>
        <p:spPr bwMode="auto">
          <a:xfrm>
            <a:off x="1524000" y="6477000"/>
            <a:ext cx="7162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entury Gothic" pitchFamily="34" charset="0"/>
                <a:ea typeface="ＭＳ Ｐゴシック" pitchFamily="34" charset="-128"/>
              </a:defRPr>
            </a:lvl1pPr>
            <a:lvl2pPr marL="742950" indent="-285750">
              <a:defRPr>
                <a:solidFill>
                  <a:schemeClr val="tx1"/>
                </a:solidFill>
                <a:latin typeface="Century Gothic" pitchFamily="34" charset="0"/>
                <a:ea typeface="ＭＳ Ｐゴシック" pitchFamily="34" charset="-128"/>
              </a:defRPr>
            </a:lvl2pPr>
            <a:lvl3pPr marL="1143000" indent="-228600">
              <a:defRPr>
                <a:solidFill>
                  <a:schemeClr val="tx1"/>
                </a:solidFill>
                <a:latin typeface="Century Gothic" pitchFamily="34" charset="0"/>
                <a:ea typeface="ＭＳ Ｐゴシック" pitchFamily="34" charset="-128"/>
              </a:defRPr>
            </a:lvl3pPr>
            <a:lvl4pPr marL="1600200" indent="-228600">
              <a:defRPr>
                <a:solidFill>
                  <a:schemeClr val="tx1"/>
                </a:solidFill>
                <a:latin typeface="Century Gothic" pitchFamily="34" charset="0"/>
                <a:ea typeface="ＭＳ Ｐゴシック" pitchFamily="34" charset="-128"/>
              </a:defRPr>
            </a:lvl4pPr>
            <a:lvl5pPr marL="2057400" indent="-228600">
              <a:defRPr>
                <a:solidFill>
                  <a:schemeClr val="tx1"/>
                </a:solidFill>
                <a:latin typeface="Century Gothic"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9pPr>
          </a:lstStyle>
          <a:p>
            <a:pPr eaLnBrk="1" hangingPunct="1"/>
            <a:r>
              <a:rPr lang="en-US" sz="1400" b="1">
                <a:solidFill>
                  <a:schemeClr val="bg1"/>
                </a:solidFill>
                <a:latin typeface="Arial" pitchFamily="34" charset="0"/>
                <a:cs typeface="Arial" pitchFamily="34" charset="0"/>
              </a:rPr>
              <a:t>Huczynski &amp; Buchanan, Organizational Behaviour 6e, © Pearson Education 2007</a:t>
            </a:r>
            <a:r>
              <a:rPr lang="en-US" sz="1400" b="1">
                <a:solidFill>
                  <a:schemeClr val="bg1"/>
                </a:solidFill>
                <a:latin typeface="Arial" pitchFamily="34" charset="0"/>
                <a:cs typeface="Times New Roman" pitchFamily="18" charset="0"/>
              </a:rPr>
              <a:t> </a:t>
            </a:r>
          </a:p>
        </p:txBody>
      </p:sp>
      <p:sp>
        <p:nvSpPr>
          <p:cNvPr id="49157" name="Text Box 9"/>
          <p:cNvSpPr txBox="1">
            <a:spLocks noChangeArrowheads="1"/>
          </p:cNvSpPr>
          <p:nvPr/>
        </p:nvSpPr>
        <p:spPr bwMode="auto">
          <a:xfrm>
            <a:off x="2895600" y="1905000"/>
            <a:ext cx="4191000"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61963" indent="-461963">
              <a:defRPr>
                <a:solidFill>
                  <a:schemeClr val="tx1"/>
                </a:solidFill>
                <a:latin typeface="Century Gothic" pitchFamily="34" charset="0"/>
                <a:ea typeface="ＭＳ Ｐゴシック" pitchFamily="34" charset="-128"/>
              </a:defRPr>
            </a:lvl1pPr>
            <a:lvl2pPr marL="742950" indent="-285750">
              <a:defRPr>
                <a:solidFill>
                  <a:schemeClr val="tx1"/>
                </a:solidFill>
                <a:latin typeface="Century Gothic" pitchFamily="34" charset="0"/>
                <a:ea typeface="ＭＳ Ｐゴシック" pitchFamily="34" charset="-128"/>
              </a:defRPr>
            </a:lvl2pPr>
            <a:lvl3pPr marL="1143000" indent="-228600">
              <a:defRPr>
                <a:solidFill>
                  <a:schemeClr val="tx1"/>
                </a:solidFill>
                <a:latin typeface="Century Gothic" pitchFamily="34" charset="0"/>
                <a:ea typeface="ＭＳ Ｐゴシック" pitchFamily="34" charset="-128"/>
              </a:defRPr>
            </a:lvl3pPr>
            <a:lvl4pPr marL="1600200" indent="-228600">
              <a:defRPr>
                <a:solidFill>
                  <a:schemeClr val="tx1"/>
                </a:solidFill>
                <a:latin typeface="Century Gothic" pitchFamily="34" charset="0"/>
                <a:ea typeface="ＭＳ Ｐゴシック" pitchFamily="34" charset="-128"/>
              </a:defRPr>
            </a:lvl4pPr>
            <a:lvl5pPr marL="2057400" indent="-228600">
              <a:defRPr>
                <a:solidFill>
                  <a:schemeClr val="tx1"/>
                </a:solidFill>
                <a:latin typeface="Century Gothic"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9pPr>
          </a:lstStyle>
          <a:p>
            <a:pPr eaLnBrk="1" hangingPunct="1">
              <a:lnSpc>
                <a:spcPct val="140000"/>
              </a:lnSpc>
              <a:spcBef>
                <a:spcPct val="20000"/>
              </a:spcBef>
              <a:buFont typeface="Wingdings" pitchFamily="2" charset="2"/>
              <a:buChar char="§"/>
            </a:pPr>
            <a:r>
              <a:rPr lang="en-US" sz="1600" b="1">
                <a:latin typeface="Arial" pitchFamily="34" charset="0"/>
                <a:cs typeface="Times New Roman" pitchFamily="18" charset="0"/>
              </a:rPr>
              <a:t>Sensation-Thinking (ST)</a:t>
            </a:r>
          </a:p>
          <a:p>
            <a:pPr eaLnBrk="1" hangingPunct="1">
              <a:lnSpc>
                <a:spcPct val="140000"/>
              </a:lnSpc>
              <a:spcBef>
                <a:spcPct val="20000"/>
              </a:spcBef>
              <a:buFont typeface="Wingdings" pitchFamily="2" charset="2"/>
              <a:buChar char="§"/>
            </a:pPr>
            <a:r>
              <a:rPr lang="en-US" sz="1600" b="1">
                <a:latin typeface="Arial" pitchFamily="34" charset="0"/>
                <a:cs typeface="Times New Roman" pitchFamily="18" charset="0"/>
              </a:rPr>
              <a:t>Intuition-Thinking (NT)</a:t>
            </a:r>
          </a:p>
          <a:p>
            <a:pPr eaLnBrk="1" hangingPunct="1">
              <a:lnSpc>
                <a:spcPct val="140000"/>
              </a:lnSpc>
              <a:spcBef>
                <a:spcPct val="20000"/>
              </a:spcBef>
              <a:buFont typeface="Wingdings" pitchFamily="2" charset="2"/>
              <a:buChar char="§"/>
            </a:pPr>
            <a:r>
              <a:rPr lang="en-US" sz="1600" b="1">
                <a:latin typeface="Arial" pitchFamily="34" charset="0"/>
                <a:cs typeface="Times New Roman" pitchFamily="18" charset="0"/>
              </a:rPr>
              <a:t>Sensation-Feeling (SF)</a:t>
            </a:r>
          </a:p>
          <a:p>
            <a:pPr eaLnBrk="1" hangingPunct="1">
              <a:lnSpc>
                <a:spcPct val="140000"/>
              </a:lnSpc>
              <a:spcBef>
                <a:spcPct val="20000"/>
              </a:spcBef>
              <a:buFont typeface="Wingdings" pitchFamily="2" charset="2"/>
              <a:buChar char="§"/>
            </a:pPr>
            <a:r>
              <a:rPr lang="en-US" sz="1600" b="1">
                <a:latin typeface="Arial" pitchFamily="34" charset="0"/>
                <a:cs typeface="Times New Roman" pitchFamily="18" charset="0"/>
              </a:rPr>
              <a:t>Intuition-Feeling (NF)</a:t>
            </a:r>
          </a:p>
          <a:p>
            <a:pPr eaLnBrk="1" hangingPunct="1">
              <a:spcBef>
                <a:spcPct val="20000"/>
              </a:spcBef>
              <a:buFont typeface="Wingdings" pitchFamily="2" charset="2"/>
              <a:buNone/>
            </a:pPr>
            <a:endParaRPr lang="en-US" sz="1600" b="1">
              <a:latin typeface="Arial" pitchFamily="34" charset="0"/>
              <a:cs typeface="Times New Roman" pitchFamily="18" charset="0"/>
            </a:endParaRPr>
          </a:p>
          <a:p>
            <a:pPr eaLnBrk="1" hangingPunct="1">
              <a:spcBef>
                <a:spcPct val="20000"/>
              </a:spcBef>
              <a:buFont typeface="Wingdings" pitchFamily="2" charset="2"/>
              <a:buNone/>
            </a:pPr>
            <a:endParaRPr lang="en-US" sz="1400" b="1">
              <a:solidFill>
                <a:srgbClr val="800000"/>
              </a:solidFill>
              <a:latin typeface="Arial" pitchFamily="34" charset="0"/>
              <a:cs typeface="Times New Roman" pitchFamily="18" charset="0"/>
            </a:endParaRPr>
          </a:p>
        </p:txBody>
      </p:sp>
      <p:sp>
        <p:nvSpPr>
          <p:cNvPr id="49158" name="Rectangle 24"/>
          <p:cNvSpPr>
            <a:spLocks noChangeArrowheads="1"/>
          </p:cNvSpPr>
          <p:nvPr/>
        </p:nvSpPr>
        <p:spPr bwMode="auto">
          <a:xfrm>
            <a:off x="1981200" y="1066800"/>
            <a:ext cx="8153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682625">
              <a:spcBef>
                <a:spcPct val="20000"/>
              </a:spcBef>
            </a:pPr>
            <a:r>
              <a:rPr lang="en-US" sz="2000" b="1">
                <a:latin typeface="Arial" pitchFamily="34" charset="0"/>
                <a:cs typeface="Times New Roman" pitchFamily="18" charset="0"/>
              </a:rPr>
              <a:t>Jung’s personality types</a:t>
            </a:r>
            <a:endParaRPr lang="en-US" sz="2000" b="1" i="1">
              <a:latin typeface="Arial" pitchFamily="34" charset="0"/>
              <a:cs typeface="Times New Roman" pitchFamily="18" charset="0"/>
            </a:endParaRPr>
          </a:p>
        </p:txBody>
      </p:sp>
      <p:sp>
        <p:nvSpPr>
          <p:cNvPr id="49159" name="Rectangle 2"/>
          <p:cNvSpPr>
            <a:spLocks noChangeArrowheads="1"/>
          </p:cNvSpPr>
          <p:nvPr/>
        </p:nvSpPr>
        <p:spPr bwMode="auto">
          <a:xfrm>
            <a:off x="2133600" y="304801"/>
            <a:ext cx="746760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eaLnBrk="1" hangingPunct="1"/>
            <a:r>
              <a:rPr lang="en-US" sz="3000" b="1">
                <a:solidFill>
                  <a:schemeClr val="tx2"/>
                </a:solidFill>
                <a:latin typeface="Century Schoolbook" pitchFamily="18" charset="0"/>
              </a:rPr>
              <a:t>TYPES AND TRAITS</a:t>
            </a:r>
          </a:p>
        </p:txBody>
      </p:sp>
      <p:graphicFrame>
        <p:nvGraphicFramePr>
          <p:cNvPr id="129060" name="Group 36"/>
          <p:cNvGraphicFramePr>
            <a:graphicFrameLocks noGrp="1"/>
          </p:cNvGraphicFramePr>
          <p:nvPr/>
        </p:nvGraphicFramePr>
        <p:xfrm>
          <a:off x="2209800" y="1828801"/>
          <a:ext cx="7848600" cy="3576639"/>
        </p:xfrm>
        <a:graphic>
          <a:graphicData uri="http://schemas.openxmlformats.org/drawingml/2006/table">
            <a:tbl>
              <a:tblPr/>
              <a:tblGrid>
                <a:gridCol w="25146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tblGrid>
              <a:tr h="398463">
                <a:tc>
                  <a:txBody>
                    <a:bodyPr/>
                    <a:lstStyle/>
                    <a:p>
                      <a:pPr marL="0" marR="0" lvl="0" indent="0" algn="l" defTabSz="457200" rtl="0" eaLnBrk="1" fontAlgn="base" latinLnBrk="0" hangingPunct="1">
                        <a:lnSpc>
                          <a:spcPct val="100000"/>
                        </a:lnSpc>
                        <a:spcBef>
                          <a:spcPct val="0"/>
                        </a:spcBef>
                        <a:spcAft>
                          <a:spcPct val="0"/>
                        </a:spcAft>
                        <a:buClrTx/>
                        <a:buSzPct val="70000"/>
                        <a:buFontTx/>
                        <a:buNone/>
                        <a:tabLst/>
                      </a:pPr>
                      <a:r>
                        <a:rPr kumimoji="0" lang="de-DE" sz="1600" b="1" i="0" u="none" strike="noStrike" cap="none" normalizeH="0" baseline="0">
                          <a:ln>
                            <a:noFill/>
                          </a:ln>
                          <a:solidFill>
                            <a:srgbClr val="FFFFFF"/>
                          </a:solidFill>
                          <a:effectLst/>
                          <a:latin typeface="Century Schoolbook" pitchFamily="18" charset="0"/>
                          <a:ea typeface="ＭＳ Ｐゴシック" pitchFamily="34" charset="-128"/>
                        </a:rPr>
                        <a:t>TYPE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457200" rtl="0" eaLnBrk="1" fontAlgn="base" latinLnBrk="0" hangingPunct="1">
                        <a:lnSpc>
                          <a:spcPct val="100000"/>
                        </a:lnSpc>
                        <a:spcBef>
                          <a:spcPct val="0"/>
                        </a:spcBef>
                        <a:spcAft>
                          <a:spcPct val="0"/>
                        </a:spcAft>
                        <a:buClrTx/>
                        <a:buSzPct val="70000"/>
                        <a:buFontTx/>
                        <a:buNone/>
                        <a:tabLst/>
                      </a:pPr>
                      <a:r>
                        <a:rPr kumimoji="0" lang="de-DE" sz="1600" b="1" i="0" u="none" strike="noStrike" cap="none" normalizeH="0" baseline="0">
                          <a:ln>
                            <a:noFill/>
                          </a:ln>
                          <a:solidFill>
                            <a:srgbClr val="FFFFFF"/>
                          </a:solidFill>
                          <a:effectLst/>
                          <a:latin typeface="Century Schoolbook" pitchFamily="18" charset="0"/>
                          <a:ea typeface="ＭＳ Ｐゴシック" pitchFamily="34" charset="-128"/>
                        </a:rPr>
                        <a:t>CHARACTERSTICS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687388">
                <a:tc>
                  <a:txBody>
                    <a:bodyPr/>
                    <a:lstStyle/>
                    <a:p>
                      <a:pPr marL="0" marR="0" lvl="0" indent="0" algn="l" defTabSz="457200" rtl="0" eaLnBrk="1" fontAlgn="base" latinLnBrk="0" hangingPunct="1">
                        <a:lnSpc>
                          <a:spcPct val="100000"/>
                        </a:lnSpc>
                        <a:spcBef>
                          <a:spcPct val="0"/>
                        </a:spcBef>
                        <a:spcAft>
                          <a:spcPct val="0"/>
                        </a:spcAft>
                        <a:buClrTx/>
                        <a:buSzPct val="70000"/>
                        <a:buFontTx/>
                        <a:buNone/>
                        <a:tabLst/>
                      </a:pPr>
                      <a:r>
                        <a:rPr kumimoji="0" lang="de-DE" sz="1600" b="0" i="0" u="none" strike="noStrike" cap="none" normalizeH="0" baseline="0">
                          <a:ln>
                            <a:noFill/>
                          </a:ln>
                          <a:solidFill>
                            <a:srgbClr val="333333"/>
                          </a:solidFill>
                          <a:effectLst/>
                          <a:latin typeface="Century Schoolbook" pitchFamily="18" charset="0"/>
                          <a:ea typeface="ＭＳ Ｐゴシック" pitchFamily="34" charset="-128"/>
                        </a:rPr>
                        <a:t>Sensation-Thinking (ST)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tc>
                  <a:txBody>
                    <a:bodyPr/>
                    <a:lstStyle/>
                    <a:p>
                      <a:pPr marL="0" marR="0" lvl="0" indent="0" algn="l" defTabSz="457200" rtl="0" eaLnBrk="1" fontAlgn="base" latinLnBrk="0" hangingPunct="1">
                        <a:lnSpc>
                          <a:spcPct val="100000"/>
                        </a:lnSpc>
                        <a:spcBef>
                          <a:spcPct val="0"/>
                        </a:spcBef>
                        <a:spcAft>
                          <a:spcPct val="0"/>
                        </a:spcAft>
                        <a:buClrTx/>
                        <a:buSzPct val="70000"/>
                        <a:buFontTx/>
                        <a:buNone/>
                        <a:tabLst/>
                      </a:pPr>
                      <a:r>
                        <a:rPr kumimoji="0" lang="de-DE" sz="1600" b="0" i="0" u="none" strike="noStrike" cap="none" normalizeH="0" baseline="0">
                          <a:ln>
                            <a:noFill/>
                          </a:ln>
                          <a:solidFill>
                            <a:srgbClr val="333333"/>
                          </a:solidFill>
                          <a:effectLst/>
                          <a:latin typeface="Century Schoolbook" pitchFamily="18" charset="0"/>
                          <a:ea typeface="ＭＳ Ｐゴシック" pitchFamily="34" charset="-128"/>
                        </a:rPr>
                        <a:t>Pratical, down to earth, impersonal, interested in facts, wants order, precision, no ambiguity, etc.</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extLst>
                  <a:ext uri="{0D108BD9-81ED-4DB2-BD59-A6C34878D82A}">
                    <a16:rowId xmlns:a16="http://schemas.microsoft.com/office/drawing/2014/main" val="10001"/>
                  </a:ext>
                </a:extLst>
              </a:tr>
              <a:tr h="820738">
                <a:tc>
                  <a:txBody>
                    <a:bodyPr/>
                    <a:lstStyle/>
                    <a:p>
                      <a:pPr marL="0" marR="0" lvl="0" indent="0" algn="l" defTabSz="457200" rtl="0" eaLnBrk="1" fontAlgn="base" latinLnBrk="0" hangingPunct="1">
                        <a:lnSpc>
                          <a:spcPct val="100000"/>
                        </a:lnSpc>
                        <a:spcBef>
                          <a:spcPct val="0"/>
                        </a:spcBef>
                        <a:spcAft>
                          <a:spcPct val="0"/>
                        </a:spcAft>
                        <a:buClrTx/>
                        <a:buSzPct val="70000"/>
                        <a:buFontTx/>
                        <a:buNone/>
                        <a:tabLst/>
                      </a:pPr>
                      <a:r>
                        <a:rPr kumimoji="0" lang="de-DE" sz="1600" b="0" i="0" u="none" strike="noStrike" cap="none" normalizeH="0" baseline="0">
                          <a:ln>
                            <a:noFill/>
                          </a:ln>
                          <a:solidFill>
                            <a:srgbClr val="333333"/>
                          </a:solidFill>
                          <a:effectLst/>
                          <a:latin typeface="Century Schoolbook" pitchFamily="18" charset="0"/>
                          <a:ea typeface="ＭＳ Ｐゴシック" pitchFamily="34" charset="-128"/>
                        </a:rPr>
                        <a:t>Intuition-Thinking (NT)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tc>
                  <a:txBody>
                    <a:bodyPr/>
                    <a:lstStyle/>
                    <a:p>
                      <a:pPr marL="0" marR="0" lvl="0" indent="0" algn="l" defTabSz="457200" rtl="0" eaLnBrk="1" fontAlgn="base" latinLnBrk="0" hangingPunct="1">
                        <a:lnSpc>
                          <a:spcPct val="100000"/>
                        </a:lnSpc>
                        <a:spcBef>
                          <a:spcPct val="0"/>
                        </a:spcBef>
                        <a:spcAft>
                          <a:spcPct val="0"/>
                        </a:spcAft>
                        <a:buClrTx/>
                        <a:buSzPct val="70000"/>
                        <a:buFontTx/>
                        <a:buNone/>
                        <a:tabLst/>
                      </a:pPr>
                      <a:r>
                        <a:rPr kumimoji="0" lang="de-DE" sz="1600" b="0" i="0" u="none" strike="noStrike" cap="none" normalizeH="0" baseline="0">
                          <a:ln>
                            <a:noFill/>
                          </a:ln>
                          <a:solidFill>
                            <a:srgbClr val="333333"/>
                          </a:solidFill>
                          <a:effectLst/>
                          <a:latin typeface="Century Schoolbook" pitchFamily="18" charset="0"/>
                          <a:ea typeface="ＭＳ Ｐゴシック" pitchFamily="34" charset="-128"/>
                        </a:rPr>
                        <a:t>Conceptual and inventive, sees future possibilities through analysis, is comfortable using flow charts, etc.</a:t>
                      </a:r>
                      <a:endParaRPr kumimoji="0" lang="de-DE" sz="1600" b="0" i="0" u="none" strike="noStrike" cap="none" normalizeH="0" baseline="0">
                        <a:ln>
                          <a:noFill/>
                        </a:ln>
                        <a:solidFill>
                          <a:srgbClr val="FF0000"/>
                        </a:solidFill>
                        <a:effectLst/>
                        <a:latin typeface="Century Schoolbook" pitchFamily="18" charset="0"/>
                        <a:ea typeface="ＭＳ Ｐゴシック" pitchFamily="34" charset="-128"/>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extLst>
                  <a:ext uri="{0D108BD9-81ED-4DB2-BD59-A6C34878D82A}">
                    <a16:rowId xmlns:a16="http://schemas.microsoft.com/office/drawing/2014/main" val="10002"/>
                  </a:ext>
                </a:extLst>
              </a:tr>
              <a:tr h="982662">
                <a:tc>
                  <a:txBody>
                    <a:bodyPr/>
                    <a:lstStyle/>
                    <a:p>
                      <a:pPr marL="0" marR="0" lvl="0" indent="0" algn="l" defTabSz="457200" rtl="0" eaLnBrk="1" fontAlgn="base" latinLnBrk="0" hangingPunct="1">
                        <a:lnSpc>
                          <a:spcPct val="100000"/>
                        </a:lnSpc>
                        <a:spcBef>
                          <a:spcPct val="0"/>
                        </a:spcBef>
                        <a:spcAft>
                          <a:spcPct val="0"/>
                        </a:spcAft>
                        <a:buClrTx/>
                        <a:buSzPct val="70000"/>
                        <a:buFontTx/>
                        <a:buNone/>
                        <a:tabLst/>
                      </a:pPr>
                      <a:r>
                        <a:rPr kumimoji="0" lang="de-DE" sz="1600" b="0" i="0" u="none" strike="noStrike" cap="none" normalizeH="0" baseline="0">
                          <a:ln>
                            <a:noFill/>
                          </a:ln>
                          <a:solidFill>
                            <a:srgbClr val="333333"/>
                          </a:solidFill>
                          <a:effectLst/>
                          <a:latin typeface="Century Schoolbook" pitchFamily="18" charset="0"/>
                          <a:ea typeface="ＭＳ Ｐゴシック" pitchFamily="34" charset="-128"/>
                        </a:rPr>
                        <a:t>Sensation-Feeling (SF)</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tc>
                  <a:txBody>
                    <a:bodyPr/>
                    <a:lstStyle/>
                    <a:p>
                      <a:pPr marL="0" marR="0" lvl="0" indent="0" algn="l" defTabSz="457200" rtl="0" eaLnBrk="1" fontAlgn="base" latinLnBrk="0" hangingPunct="1">
                        <a:lnSpc>
                          <a:spcPct val="100000"/>
                        </a:lnSpc>
                        <a:spcBef>
                          <a:spcPct val="0"/>
                        </a:spcBef>
                        <a:spcAft>
                          <a:spcPct val="0"/>
                        </a:spcAft>
                        <a:buClrTx/>
                        <a:buSzPct val="70000"/>
                        <a:buFontTx/>
                        <a:buNone/>
                        <a:tabLst/>
                      </a:pPr>
                      <a:r>
                        <a:rPr kumimoji="0" lang="de-DE" sz="1600" b="0" i="0" u="none" strike="noStrike" cap="none" normalizeH="0" baseline="0">
                          <a:ln>
                            <a:noFill/>
                          </a:ln>
                          <a:solidFill>
                            <a:srgbClr val="333333"/>
                          </a:solidFill>
                          <a:effectLst/>
                          <a:latin typeface="Century Schoolbook" pitchFamily="18" charset="0"/>
                          <a:ea typeface="ＭＳ Ｐゴシック" pitchFamily="34" charset="-128"/>
                        </a:rPr>
                        <a:t>Gregarious and sociable, interested in facts about people, dislikes ambiguity, has not time for reflection, etc.</a:t>
                      </a:r>
                      <a:endParaRPr kumimoji="0" lang="de-DE" sz="1600" b="0" i="0" u="none" strike="noStrike" cap="none" normalizeH="0" baseline="0">
                        <a:ln>
                          <a:noFill/>
                        </a:ln>
                        <a:solidFill>
                          <a:srgbClr val="FF0000"/>
                        </a:solidFill>
                        <a:effectLst/>
                        <a:latin typeface="Century Schoolbook" pitchFamily="18" charset="0"/>
                        <a:ea typeface="ＭＳ Ｐゴシック" pitchFamily="34" charset="-128"/>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extLst>
                  <a:ext uri="{0D108BD9-81ED-4DB2-BD59-A6C34878D82A}">
                    <a16:rowId xmlns:a16="http://schemas.microsoft.com/office/drawing/2014/main" val="10003"/>
                  </a:ext>
                </a:extLst>
              </a:tr>
              <a:tr h="687388">
                <a:tc>
                  <a:txBody>
                    <a:bodyPr/>
                    <a:lstStyle/>
                    <a:p>
                      <a:pPr marL="0" marR="0" lvl="0" indent="0" algn="l" defTabSz="457200" rtl="0" eaLnBrk="1" fontAlgn="base" latinLnBrk="0" hangingPunct="1">
                        <a:lnSpc>
                          <a:spcPct val="100000"/>
                        </a:lnSpc>
                        <a:spcBef>
                          <a:spcPct val="0"/>
                        </a:spcBef>
                        <a:spcAft>
                          <a:spcPct val="0"/>
                        </a:spcAft>
                        <a:buClrTx/>
                        <a:buSzPct val="70000"/>
                        <a:buFontTx/>
                        <a:buNone/>
                        <a:tabLst/>
                      </a:pPr>
                      <a:r>
                        <a:rPr kumimoji="0" lang="de-DE" sz="1600" b="0" i="0" u="none" strike="noStrike" cap="none" normalizeH="0" baseline="0">
                          <a:ln>
                            <a:noFill/>
                          </a:ln>
                          <a:solidFill>
                            <a:srgbClr val="333333"/>
                          </a:solidFill>
                          <a:effectLst/>
                          <a:latin typeface="Century Schoolbook" pitchFamily="18" charset="0"/>
                          <a:ea typeface="ＭＳ Ｐゴシック" pitchFamily="34" charset="-128"/>
                        </a:rPr>
                        <a:t>Intuition-Feeling (NF)</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tc>
                  <a:txBody>
                    <a:bodyPr/>
                    <a:lstStyle/>
                    <a:p>
                      <a:pPr marL="0" marR="0" lvl="0" indent="0" algn="l" defTabSz="457200" rtl="0" eaLnBrk="1" fontAlgn="base" latinLnBrk="0" hangingPunct="1">
                        <a:lnSpc>
                          <a:spcPct val="100000"/>
                        </a:lnSpc>
                        <a:spcBef>
                          <a:spcPct val="0"/>
                        </a:spcBef>
                        <a:spcAft>
                          <a:spcPct val="0"/>
                        </a:spcAft>
                        <a:buClrTx/>
                        <a:buSzPct val="70000"/>
                        <a:buFontTx/>
                        <a:buNone/>
                        <a:tabLst/>
                      </a:pPr>
                      <a:r>
                        <a:rPr kumimoji="0" lang="de-DE" sz="1600" b="0" i="0" u="none" strike="noStrike" cap="none" normalizeH="0" baseline="0">
                          <a:ln>
                            <a:noFill/>
                          </a:ln>
                          <a:solidFill>
                            <a:srgbClr val="333333"/>
                          </a:solidFill>
                          <a:effectLst/>
                          <a:latin typeface="Century Schoolbook" pitchFamily="18" charset="0"/>
                          <a:ea typeface="ＭＳ Ｐゴシック" pitchFamily="34" charset="-128"/>
                        </a:rPr>
                        <a:t>Creative, values imagination and warmth, is enthusiatic, has grandiose goals, dislikes rules, etc.</a:t>
                      </a:r>
                      <a:endParaRPr kumimoji="0" lang="de-DE" sz="1600" b="0" i="0" u="none" strike="noStrike" cap="none" normalizeH="0" baseline="0">
                        <a:ln>
                          <a:noFill/>
                        </a:ln>
                        <a:solidFill>
                          <a:srgbClr val="FF0000"/>
                        </a:solidFill>
                        <a:effectLst/>
                        <a:latin typeface="Century Schoolbook" pitchFamily="18" charset="0"/>
                        <a:ea typeface="ＭＳ Ｐゴシック" pitchFamily="34" charset="-128"/>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216644351"/>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Fußzeilenplatzhalter 4"/>
          <p:cNvSpPr txBox="1">
            <a:spLocks noGrp="1"/>
          </p:cNvSpPr>
          <p:nvPr/>
        </p:nvSpPr>
        <p:spPr bwMode="auto">
          <a:xfrm>
            <a:off x="1524000" y="6477000"/>
            <a:ext cx="7162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entury Gothic" pitchFamily="34" charset="0"/>
                <a:ea typeface="ＭＳ Ｐゴシック" pitchFamily="34" charset="-128"/>
              </a:defRPr>
            </a:lvl1pPr>
            <a:lvl2pPr marL="742950" indent="-285750">
              <a:defRPr>
                <a:solidFill>
                  <a:schemeClr val="tx1"/>
                </a:solidFill>
                <a:latin typeface="Century Gothic" pitchFamily="34" charset="0"/>
                <a:ea typeface="ＭＳ Ｐゴシック" pitchFamily="34" charset="-128"/>
              </a:defRPr>
            </a:lvl2pPr>
            <a:lvl3pPr marL="1143000" indent="-228600">
              <a:defRPr>
                <a:solidFill>
                  <a:schemeClr val="tx1"/>
                </a:solidFill>
                <a:latin typeface="Century Gothic" pitchFamily="34" charset="0"/>
                <a:ea typeface="ＭＳ Ｐゴシック" pitchFamily="34" charset="-128"/>
              </a:defRPr>
            </a:lvl3pPr>
            <a:lvl4pPr marL="1600200" indent="-228600">
              <a:defRPr>
                <a:solidFill>
                  <a:schemeClr val="tx1"/>
                </a:solidFill>
                <a:latin typeface="Century Gothic" pitchFamily="34" charset="0"/>
                <a:ea typeface="ＭＳ Ｐゴシック" pitchFamily="34" charset="-128"/>
              </a:defRPr>
            </a:lvl4pPr>
            <a:lvl5pPr marL="2057400" indent="-228600">
              <a:defRPr>
                <a:solidFill>
                  <a:schemeClr val="tx1"/>
                </a:solidFill>
                <a:latin typeface="Century Gothic"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9pPr>
          </a:lstStyle>
          <a:p>
            <a:pPr eaLnBrk="1" hangingPunct="1"/>
            <a:r>
              <a:rPr lang="en-US" sz="1400" b="1">
                <a:solidFill>
                  <a:schemeClr val="bg1"/>
                </a:solidFill>
                <a:latin typeface="Arial" pitchFamily="34" charset="0"/>
                <a:cs typeface="Arial" pitchFamily="34" charset="0"/>
              </a:rPr>
              <a:t>Huczynski &amp; Buchanan, Organizational Behaviour 6e, © Pearson Education 2007</a:t>
            </a:r>
            <a:r>
              <a:rPr lang="en-US" sz="1400" b="1">
                <a:solidFill>
                  <a:schemeClr val="bg1"/>
                </a:solidFill>
                <a:latin typeface="Arial" pitchFamily="34" charset="0"/>
                <a:cs typeface="Times New Roman" pitchFamily="18" charset="0"/>
              </a:rPr>
              <a:t> </a:t>
            </a:r>
          </a:p>
        </p:txBody>
      </p:sp>
      <p:sp>
        <p:nvSpPr>
          <p:cNvPr id="18456" name="Rectangle 24"/>
          <p:cNvSpPr>
            <a:spLocks noChangeArrowheads="1"/>
          </p:cNvSpPr>
          <p:nvPr/>
        </p:nvSpPr>
        <p:spPr bwMode="auto">
          <a:xfrm>
            <a:off x="2514600" y="3352800"/>
            <a:ext cx="7010400" cy="1981200"/>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lang="de-DE" sz="4400">
              <a:solidFill>
                <a:schemeClr val="tx2"/>
              </a:solidFill>
              <a:latin typeface="Times New Roman" pitchFamily="18" charset="0"/>
              <a:cs typeface="Times New Roman" pitchFamily="18" charset="0"/>
            </a:endParaRPr>
          </a:p>
        </p:txBody>
      </p:sp>
      <p:sp>
        <p:nvSpPr>
          <p:cNvPr id="18436" name="Rectangle 4"/>
          <p:cNvSpPr>
            <a:spLocks noChangeArrowheads="1"/>
          </p:cNvSpPr>
          <p:nvPr/>
        </p:nvSpPr>
        <p:spPr bwMode="auto">
          <a:xfrm>
            <a:off x="1981200" y="1066800"/>
            <a:ext cx="41910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defTabSz="682625">
              <a:spcBef>
                <a:spcPct val="20000"/>
              </a:spcBef>
            </a:pPr>
            <a:r>
              <a:rPr lang="en-US" sz="2000" b="1">
                <a:solidFill>
                  <a:srgbClr val="CC0000"/>
                </a:solidFill>
                <a:latin typeface="Arial" pitchFamily="34" charset="0"/>
                <a:cs typeface="Times New Roman" pitchFamily="18" charset="0"/>
              </a:rPr>
              <a:t>Myers-Briggs</a:t>
            </a:r>
            <a:r>
              <a:rPr lang="en-US" b="1">
                <a:solidFill>
                  <a:srgbClr val="CC0000"/>
                </a:solidFill>
                <a:latin typeface="Arial" pitchFamily="34" charset="0"/>
                <a:cs typeface="Times New Roman" pitchFamily="18" charset="0"/>
              </a:rPr>
              <a:t> 	</a:t>
            </a:r>
          </a:p>
          <a:p>
            <a:pPr marL="342900" indent="-342900" defTabSz="682625">
              <a:spcBef>
                <a:spcPct val="20000"/>
              </a:spcBef>
              <a:buFont typeface="Wingdings" pitchFamily="2" charset="2"/>
              <a:buChar char="§"/>
            </a:pPr>
            <a:r>
              <a:rPr lang="en-US" sz="1600">
                <a:solidFill>
                  <a:srgbClr val="800000"/>
                </a:solidFill>
                <a:latin typeface="Century Schoolbook" pitchFamily="18" charset="0"/>
                <a:cs typeface="Times New Roman" pitchFamily="18" charset="0"/>
              </a:rPr>
              <a:t>Myers-Briggs Type Indicator</a:t>
            </a:r>
          </a:p>
          <a:p>
            <a:pPr marL="342900" indent="-342900" defTabSz="682625">
              <a:spcBef>
                <a:spcPct val="20000"/>
              </a:spcBef>
              <a:buFont typeface="Wingdings" pitchFamily="2" charset="2"/>
              <a:buChar char="§"/>
            </a:pPr>
            <a:r>
              <a:rPr lang="en-US" sz="1600">
                <a:solidFill>
                  <a:srgbClr val="800000"/>
                </a:solidFill>
                <a:latin typeface="Century Schoolbook" pitchFamily="18" charset="0"/>
                <a:cs typeface="Times New Roman" pitchFamily="18" charset="0"/>
              </a:rPr>
              <a:t>Based on Jung’s approach</a:t>
            </a:r>
          </a:p>
          <a:p>
            <a:pPr marL="342900" indent="-342900" defTabSz="682625">
              <a:spcBef>
                <a:spcPct val="20000"/>
              </a:spcBef>
              <a:buFont typeface="Wingdings" pitchFamily="2" charset="2"/>
              <a:buChar char="§"/>
            </a:pPr>
            <a:r>
              <a:rPr lang="en-US" sz="1600">
                <a:solidFill>
                  <a:srgbClr val="800000"/>
                </a:solidFill>
                <a:latin typeface="Century Schoolbook" pitchFamily="18" charset="0"/>
                <a:cs typeface="Times New Roman" pitchFamily="18" charset="0"/>
              </a:rPr>
              <a:t>Most-popular personality assessment</a:t>
            </a:r>
          </a:p>
          <a:p>
            <a:pPr marL="342900" indent="-342900" defTabSz="682625">
              <a:spcBef>
                <a:spcPct val="20000"/>
              </a:spcBef>
              <a:buFont typeface="Wingdings" pitchFamily="2" charset="2"/>
              <a:buChar char="§"/>
            </a:pPr>
            <a:r>
              <a:rPr lang="en-US" sz="1600">
                <a:solidFill>
                  <a:srgbClr val="800000"/>
                </a:solidFill>
                <a:latin typeface="Century Schoolbook" pitchFamily="18" charset="0"/>
                <a:cs typeface="Times New Roman" pitchFamily="18" charset="0"/>
              </a:rPr>
              <a:t>16 types	</a:t>
            </a:r>
            <a:endParaRPr lang="en-US" sz="2000">
              <a:solidFill>
                <a:srgbClr val="800000"/>
              </a:solidFill>
              <a:latin typeface="Century Schoolbook" pitchFamily="18" charset="0"/>
              <a:cs typeface="Times New Roman" pitchFamily="18" charset="0"/>
            </a:endParaRPr>
          </a:p>
          <a:p>
            <a:pPr marL="342900" indent="-342900" algn="r" defTabSz="682625">
              <a:spcBef>
                <a:spcPct val="20000"/>
              </a:spcBef>
            </a:pPr>
            <a:endParaRPr lang="en-US" sz="500">
              <a:solidFill>
                <a:srgbClr val="800000"/>
              </a:solidFill>
              <a:latin typeface="Century Schoolbook" pitchFamily="18" charset="0"/>
              <a:cs typeface="Times New Roman" pitchFamily="18" charset="0"/>
            </a:endParaRPr>
          </a:p>
        </p:txBody>
      </p:sp>
      <p:pic>
        <p:nvPicPr>
          <p:cNvPr id="18440" name="Picture 8" descr="C05NP00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44000" y="1143001"/>
            <a:ext cx="990600" cy="1243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1" name="Picture 9" descr="C05NP00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48600" y="1143000"/>
            <a:ext cx="9906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2" name="Rectangle 10"/>
          <p:cNvSpPr>
            <a:spLocks noChangeArrowheads="1"/>
          </p:cNvSpPr>
          <p:nvPr/>
        </p:nvSpPr>
        <p:spPr bwMode="auto">
          <a:xfrm>
            <a:off x="2971800" y="3581400"/>
            <a:ext cx="1219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defTabSz="781050">
              <a:spcBef>
                <a:spcPct val="20000"/>
              </a:spcBef>
            </a:pPr>
            <a:r>
              <a:rPr lang="en-US" sz="1600" b="1">
                <a:solidFill>
                  <a:srgbClr val="CC0000"/>
                </a:solidFill>
                <a:latin typeface="Arial" pitchFamily="34" charset="0"/>
                <a:cs typeface="Times New Roman" pitchFamily="18" charset="0"/>
              </a:rPr>
              <a:t>Introvert</a:t>
            </a:r>
          </a:p>
        </p:txBody>
      </p:sp>
      <p:sp>
        <p:nvSpPr>
          <p:cNvPr id="18443" name="Line 11"/>
          <p:cNvSpPr>
            <a:spLocks noChangeShapeType="1"/>
          </p:cNvSpPr>
          <p:nvPr/>
        </p:nvSpPr>
        <p:spPr bwMode="auto">
          <a:xfrm>
            <a:off x="4495800" y="3810000"/>
            <a:ext cx="2667000" cy="0"/>
          </a:xfrm>
          <a:prstGeom prst="line">
            <a:avLst/>
          </a:prstGeom>
          <a:noFill/>
          <a:ln w="38100">
            <a:solidFill>
              <a:srgbClr val="800000"/>
            </a:solidFill>
            <a:round/>
            <a:headEnd type="triangle" w="med" len="med"/>
            <a:tailEnd type="triangle" w="med" len="med"/>
          </a:ln>
          <a:extLst>
            <a:ext uri="{909E8E84-426E-40DD-AFC4-6F175D3DCCD1}">
              <a14:hiddenFill xmlns:a14="http://schemas.microsoft.com/office/drawing/2010/main">
                <a:noFill/>
              </a14:hiddenFill>
            </a:ext>
          </a:extLst>
        </p:spPr>
        <p:txBody>
          <a:bodyPr anchor="ctr"/>
          <a:lstStyle/>
          <a:p>
            <a:endParaRPr lang="en-IE"/>
          </a:p>
        </p:txBody>
      </p:sp>
      <p:sp>
        <p:nvSpPr>
          <p:cNvPr id="18444" name="Rectangle 12"/>
          <p:cNvSpPr>
            <a:spLocks noChangeArrowheads="1"/>
          </p:cNvSpPr>
          <p:nvPr/>
        </p:nvSpPr>
        <p:spPr bwMode="auto">
          <a:xfrm>
            <a:off x="7696200" y="3581400"/>
            <a:ext cx="1295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defTabSz="781050">
              <a:spcBef>
                <a:spcPct val="20000"/>
              </a:spcBef>
            </a:pPr>
            <a:r>
              <a:rPr lang="en-US" sz="1600" b="1">
                <a:solidFill>
                  <a:srgbClr val="CC0000"/>
                </a:solidFill>
                <a:latin typeface="Arial" pitchFamily="34" charset="0"/>
                <a:cs typeface="Times New Roman" pitchFamily="18" charset="0"/>
              </a:rPr>
              <a:t>Extravert</a:t>
            </a:r>
          </a:p>
        </p:txBody>
      </p:sp>
      <p:sp>
        <p:nvSpPr>
          <p:cNvPr id="18445" name="Rectangle 13"/>
          <p:cNvSpPr>
            <a:spLocks noChangeArrowheads="1"/>
          </p:cNvSpPr>
          <p:nvPr/>
        </p:nvSpPr>
        <p:spPr bwMode="auto">
          <a:xfrm>
            <a:off x="2971800" y="3962400"/>
            <a:ext cx="1143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defTabSz="781050">
              <a:spcBef>
                <a:spcPct val="20000"/>
              </a:spcBef>
            </a:pPr>
            <a:r>
              <a:rPr lang="en-US" sz="1600" b="1">
                <a:solidFill>
                  <a:srgbClr val="CC0000"/>
                </a:solidFill>
                <a:latin typeface="Arial" pitchFamily="34" charset="0"/>
                <a:cs typeface="Times New Roman" pitchFamily="18" charset="0"/>
              </a:rPr>
              <a:t>Sensing</a:t>
            </a:r>
          </a:p>
        </p:txBody>
      </p:sp>
      <p:sp>
        <p:nvSpPr>
          <p:cNvPr id="18446" name="Line 14"/>
          <p:cNvSpPr>
            <a:spLocks noChangeShapeType="1"/>
          </p:cNvSpPr>
          <p:nvPr/>
        </p:nvSpPr>
        <p:spPr bwMode="auto">
          <a:xfrm>
            <a:off x="4495800" y="4191000"/>
            <a:ext cx="2667000" cy="0"/>
          </a:xfrm>
          <a:prstGeom prst="line">
            <a:avLst/>
          </a:prstGeom>
          <a:noFill/>
          <a:ln w="38100">
            <a:solidFill>
              <a:srgbClr val="800000"/>
            </a:solidFill>
            <a:round/>
            <a:headEnd type="triangle" w="med" len="med"/>
            <a:tailEnd type="triangle" w="med" len="med"/>
          </a:ln>
          <a:extLst>
            <a:ext uri="{909E8E84-426E-40DD-AFC4-6F175D3DCCD1}">
              <a14:hiddenFill xmlns:a14="http://schemas.microsoft.com/office/drawing/2010/main">
                <a:noFill/>
              </a14:hiddenFill>
            </a:ext>
          </a:extLst>
        </p:spPr>
        <p:txBody>
          <a:bodyPr anchor="ctr"/>
          <a:lstStyle/>
          <a:p>
            <a:endParaRPr lang="en-IE"/>
          </a:p>
        </p:txBody>
      </p:sp>
      <p:sp>
        <p:nvSpPr>
          <p:cNvPr id="18447" name="Rectangle 15"/>
          <p:cNvSpPr>
            <a:spLocks noChangeArrowheads="1"/>
          </p:cNvSpPr>
          <p:nvPr/>
        </p:nvSpPr>
        <p:spPr bwMode="auto">
          <a:xfrm>
            <a:off x="7696200" y="4038600"/>
            <a:ext cx="1295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defTabSz="781050">
              <a:spcBef>
                <a:spcPct val="20000"/>
              </a:spcBef>
            </a:pPr>
            <a:r>
              <a:rPr lang="en-US" sz="1600" b="1">
                <a:solidFill>
                  <a:srgbClr val="CC0000"/>
                </a:solidFill>
                <a:latin typeface="Arial" pitchFamily="34" charset="0"/>
                <a:cs typeface="Times New Roman" pitchFamily="18" charset="0"/>
              </a:rPr>
              <a:t>iNtuition</a:t>
            </a:r>
          </a:p>
        </p:txBody>
      </p:sp>
      <p:sp>
        <p:nvSpPr>
          <p:cNvPr id="18448" name="Rectangle 16"/>
          <p:cNvSpPr>
            <a:spLocks noChangeArrowheads="1"/>
          </p:cNvSpPr>
          <p:nvPr/>
        </p:nvSpPr>
        <p:spPr bwMode="auto">
          <a:xfrm>
            <a:off x="2971800" y="4419600"/>
            <a:ext cx="1219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defTabSz="781050">
              <a:spcBef>
                <a:spcPct val="20000"/>
              </a:spcBef>
            </a:pPr>
            <a:r>
              <a:rPr lang="en-US" sz="1600" b="1">
                <a:solidFill>
                  <a:srgbClr val="CC0000"/>
                </a:solidFill>
                <a:latin typeface="Arial" pitchFamily="34" charset="0"/>
                <a:cs typeface="Times New Roman" pitchFamily="18" charset="0"/>
              </a:rPr>
              <a:t>Thinking</a:t>
            </a:r>
          </a:p>
        </p:txBody>
      </p:sp>
      <p:sp>
        <p:nvSpPr>
          <p:cNvPr id="18449" name="Line 17"/>
          <p:cNvSpPr>
            <a:spLocks noChangeShapeType="1"/>
          </p:cNvSpPr>
          <p:nvPr/>
        </p:nvSpPr>
        <p:spPr bwMode="auto">
          <a:xfrm>
            <a:off x="4495800" y="4572000"/>
            <a:ext cx="2667000" cy="0"/>
          </a:xfrm>
          <a:prstGeom prst="line">
            <a:avLst/>
          </a:prstGeom>
          <a:noFill/>
          <a:ln w="38100">
            <a:solidFill>
              <a:srgbClr val="800000"/>
            </a:solidFill>
            <a:round/>
            <a:headEnd type="triangle" w="med" len="med"/>
            <a:tailEnd type="triangle" w="med" len="med"/>
          </a:ln>
          <a:extLst>
            <a:ext uri="{909E8E84-426E-40DD-AFC4-6F175D3DCCD1}">
              <a14:hiddenFill xmlns:a14="http://schemas.microsoft.com/office/drawing/2010/main">
                <a:noFill/>
              </a14:hiddenFill>
            </a:ext>
          </a:extLst>
        </p:spPr>
        <p:txBody>
          <a:bodyPr anchor="ctr"/>
          <a:lstStyle/>
          <a:p>
            <a:endParaRPr lang="en-IE"/>
          </a:p>
        </p:txBody>
      </p:sp>
      <p:sp>
        <p:nvSpPr>
          <p:cNvPr id="18450" name="Rectangle 18"/>
          <p:cNvSpPr>
            <a:spLocks noChangeArrowheads="1"/>
          </p:cNvSpPr>
          <p:nvPr/>
        </p:nvSpPr>
        <p:spPr bwMode="auto">
          <a:xfrm>
            <a:off x="7696200" y="4419600"/>
            <a:ext cx="1295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defTabSz="781050">
              <a:spcBef>
                <a:spcPct val="20000"/>
              </a:spcBef>
            </a:pPr>
            <a:r>
              <a:rPr lang="en-US" sz="1600" b="1">
                <a:solidFill>
                  <a:srgbClr val="CC0000"/>
                </a:solidFill>
                <a:latin typeface="Arial" pitchFamily="34" charset="0"/>
                <a:cs typeface="Times New Roman" pitchFamily="18" charset="0"/>
              </a:rPr>
              <a:t>Feeling</a:t>
            </a:r>
          </a:p>
        </p:txBody>
      </p:sp>
      <p:sp>
        <p:nvSpPr>
          <p:cNvPr id="18451" name="Rectangle 19"/>
          <p:cNvSpPr>
            <a:spLocks noChangeArrowheads="1"/>
          </p:cNvSpPr>
          <p:nvPr/>
        </p:nvSpPr>
        <p:spPr bwMode="auto">
          <a:xfrm>
            <a:off x="2971800" y="4800600"/>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defTabSz="781050">
              <a:spcBef>
                <a:spcPct val="20000"/>
              </a:spcBef>
            </a:pPr>
            <a:r>
              <a:rPr lang="en-US" sz="1600" b="1">
                <a:solidFill>
                  <a:srgbClr val="CC0000"/>
                </a:solidFill>
                <a:latin typeface="Arial" pitchFamily="34" charset="0"/>
                <a:cs typeface="Times New Roman" pitchFamily="18" charset="0"/>
              </a:rPr>
              <a:t>Judging</a:t>
            </a:r>
          </a:p>
        </p:txBody>
      </p:sp>
      <p:sp>
        <p:nvSpPr>
          <p:cNvPr id="18452" name="Line 20"/>
          <p:cNvSpPr>
            <a:spLocks noChangeShapeType="1"/>
          </p:cNvSpPr>
          <p:nvPr/>
        </p:nvSpPr>
        <p:spPr bwMode="auto">
          <a:xfrm>
            <a:off x="4495800" y="4953000"/>
            <a:ext cx="2667000" cy="0"/>
          </a:xfrm>
          <a:prstGeom prst="line">
            <a:avLst/>
          </a:prstGeom>
          <a:noFill/>
          <a:ln w="38100">
            <a:solidFill>
              <a:srgbClr val="800000"/>
            </a:solidFill>
            <a:round/>
            <a:headEnd type="triangle" w="med" len="med"/>
            <a:tailEnd type="triangle" w="med" len="med"/>
          </a:ln>
          <a:extLst>
            <a:ext uri="{909E8E84-426E-40DD-AFC4-6F175D3DCCD1}">
              <a14:hiddenFill xmlns:a14="http://schemas.microsoft.com/office/drawing/2010/main">
                <a:noFill/>
              </a14:hiddenFill>
            </a:ext>
          </a:extLst>
        </p:spPr>
        <p:txBody>
          <a:bodyPr anchor="ctr"/>
          <a:lstStyle/>
          <a:p>
            <a:endParaRPr lang="en-IE"/>
          </a:p>
        </p:txBody>
      </p:sp>
      <p:sp>
        <p:nvSpPr>
          <p:cNvPr id="18453" name="Rectangle 21"/>
          <p:cNvSpPr>
            <a:spLocks noChangeArrowheads="1"/>
          </p:cNvSpPr>
          <p:nvPr/>
        </p:nvSpPr>
        <p:spPr bwMode="auto">
          <a:xfrm>
            <a:off x="7696200" y="4800600"/>
            <a:ext cx="1295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defTabSz="781050">
              <a:spcBef>
                <a:spcPct val="20000"/>
              </a:spcBef>
            </a:pPr>
            <a:r>
              <a:rPr lang="en-US" sz="1600" b="1">
                <a:solidFill>
                  <a:srgbClr val="CC0000"/>
                </a:solidFill>
                <a:latin typeface="Arial" pitchFamily="34" charset="0"/>
                <a:cs typeface="Times New Roman" pitchFamily="18" charset="0"/>
              </a:rPr>
              <a:t>Perceiving</a:t>
            </a:r>
          </a:p>
        </p:txBody>
      </p:sp>
      <p:sp>
        <p:nvSpPr>
          <p:cNvPr id="18455" name="Rectangle 23"/>
          <p:cNvSpPr>
            <a:spLocks noChangeArrowheads="1"/>
          </p:cNvSpPr>
          <p:nvPr/>
        </p:nvSpPr>
        <p:spPr bwMode="auto">
          <a:xfrm>
            <a:off x="6858000" y="2438400"/>
            <a:ext cx="3581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495300">
              <a:lnSpc>
                <a:spcPct val="70000"/>
              </a:lnSpc>
              <a:spcBef>
                <a:spcPct val="50000"/>
              </a:spcBef>
              <a:tabLst>
                <a:tab pos="576263" algn="l"/>
                <a:tab pos="1944688" algn="l"/>
                <a:tab pos="1998663" algn="l"/>
              </a:tabLst>
            </a:pPr>
            <a:r>
              <a:rPr lang="en-US" sz="1000">
                <a:solidFill>
                  <a:srgbClr val="800000"/>
                </a:solidFill>
                <a:latin typeface="Arial" pitchFamily="34" charset="0"/>
                <a:cs typeface="Times New Roman" pitchFamily="18" charset="0"/>
              </a:rPr>
              <a:t>	Katherine Cook Briggs		Isabel Briggs Myers</a:t>
            </a:r>
          </a:p>
          <a:p>
            <a:pPr algn="ctr" defTabSz="495300">
              <a:lnSpc>
                <a:spcPct val="70000"/>
              </a:lnSpc>
              <a:spcBef>
                <a:spcPct val="50000"/>
              </a:spcBef>
              <a:tabLst>
                <a:tab pos="576263" algn="l"/>
                <a:tab pos="1944688" algn="l"/>
                <a:tab pos="1998663" algn="l"/>
              </a:tabLst>
            </a:pPr>
            <a:r>
              <a:rPr lang="en-US" sz="1000">
                <a:solidFill>
                  <a:srgbClr val="800000"/>
                </a:solidFill>
                <a:latin typeface="Arial" pitchFamily="34" charset="0"/>
                <a:cs typeface="Times New Roman" pitchFamily="18" charset="0"/>
              </a:rPr>
              <a:t>	      (1875-1968)		         (1997-1980)</a:t>
            </a:r>
          </a:p>
        </p:txBody>
      </p:sp>
      <p:sp>
        <p:nvSpPr>
          <p:cNvPr id="50198" name="Rectangle 2"/>
          <p:cNvSpPr>
            <a:spLocks noChangeArrowheads="1"/>
          </p:cNvSpPr>
          <p:nvPr/>
        </p:nvSpPr>
        <p:spPr bwMode="auto">
          <a:xfrm>
            <a:off x="2133600" y="304801"/>
            <a:ext cx="746760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eaLnBrk="1" hangingPunct="1"/>
            <a:r>
              <a:rPr lang="en-US" sz="3000" b="1">
                <a:solidFill>
                  <a:schemeClr val="tx2"/>
                </a:solidFill>
                <a:latin typeface="Century Schoolbook" pitchFamily="18" charset="0"/>
              </a:rPr>
              <a:t>TYPES AND TRAITS</a:t>
            </a:r>
          </a:p>
        </p:txBody>
      </p:sp>
    </p:spTree>
    <p:extLst>
      <p:ext uri="{BB962C8B-B14F-4D97-AF65-F5344CB8AC3E}">
        <p14:creationId xmlns:p14="http://schemas.microsoft.com/office/powerpoint/2010/main" val="60522250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36" fill="hold" nodeType="afterEffect">
                                  <p:stCondLst>
                                    <p:cond delay="0"/>
                                  </p:stCondLst>
                                  <p:childTnLst>
                                    <p:set>
                                      <p:cBhvr>
                                        <p:cTn id="6" dur="1" fill="hold">
                                          <p:stCondLst>
                                            <p:cond delay="0"/>
                                          </p:stCondLst>
                                        </p:cTn>
                                        <p:tgtEl>
                                          <p:spTgt spid="18440"/>
                                        </p:tgtEl>
                                        <p:attrNameLst>
                                          <p:attrName>style.visibility</p:attrName>
                                        </p:attrNameLst>
                                      </p:cBhvr>
                                      <p:to>
                                        <p:strVal val="visible"/>
                                      </p:to>
                                    </p:set>
                                    <p:anim calcmode="lin" valueType="num">
                                      <p:cBhvr>
                                        <p:cTn id="7" dur="500" fill="hold"/>
                                        <p:tgtEl>
                                          <p:spTgt spid="18440"/>
                                        </p:tgtEl>
                                        <p:attrNameLst>
                                          <p:attrName>ppt_w</p:attrName>
                                        </p:attrNameLst>
                                      </p:cBhvr>
                                      <p:tavLst>
                                        <p:tav tm="0">
                                          <p:val>
                                            <p:strVal val="(6*min(max(#ppt_w*#ppt_h,.3),1)-7.4)/-.7*#ppt_w"/>
                                          </p:val>
                                        </p:tav>
                                        <p:tav tm="100000">
                                          <p:val>
                                            <p:strVal val="#ppt_w"/>
                                          </p:val>
                                        </p:tav>
                                      </p:tavLst>
                                    </p:anim>
                                    <p:anim calcmode="lin" valueType="num">
                                      <p:cBhvr>
                                        <p:cTn id="8" dur="500" fill="hold"/>
                                        <p:tgtEl>
                                          <p:spTgt spid="18440"/>
                                        </p:tgtEl>
                                        <p:attrNameLst>
                                          <p:attrName>ppt_h</p:attrName>
                                        </p:attrNameLst>
                                      </p:cBhvr>
                                      <p:tavLst>
                                        <p:tav tm="0">
                                          <p:val>
                                            <p:strVal val="(6*min(max(#ppt_w*#ppt_h,.3),1)-7.4)/-.7*#ppt_h"/>
                                          </p:val>
                                        </p:tav>
                                        <p:tav tm="100000">
                                          <p:val>
                                            <p:strVal val="#ppt_h"/>
                                          </p:val>
                                        </p:tav>
                                      </p:tavLst>
                                    </p:anim>
                                    <p:anim calcmode="lin" valueType="num">
                                      <p:cBhvr>
                                        <p:cTn id="9" dur="500" fill="hold"/>
                                        <p:tgtEl>
                                          <p:spTgt spid="18440"/>
                                        </p:tgtEl>
                                        <p:attrNameLst>
                                          <p:attrName>ppt_x</p:attrName>
                                        </p:attrNameLst>
                                      </p:cBhvr>
                                      <p:tavLst>
                                        <p:tav tm="0">
                                          <p:val>
                                            <p:fltVal val="0.5"/>
                                          </p:val>
                                        </p:tav>
                                        <p:tav tm="100000">
                                          <p:val>
                                            <p:strVal val="#ppt_x"/>
                                          </p:val>
                                        </p:tav>
                                      </p:tavLst>
                                    </p:anim>
                                    <p:anim calcmode="lin" valueType="num">
                                      <p:cBhvr>
                                        <p:cTn id="10" dur="500" fill="hold"/>
                                        <p:tgtEl>
                                          <p:spTgt spid="18440"/>
                                        </p:tgtEl>
                                        <p:attrNameLst>
                                          <p:attrName>ppt_y</p:attrName>
                                        </p:attrNameLst>
                                      </p:cBhvr>
                                      <p:tavLst>
                                        <p:tav tm="0">
                                          <p:val>
                                            <p:strVal val="1+(6*min(max(#ppt_w*#ppt_h,.3),1)-7.4)/-.7*#ppt_h/2"/>
                                          </p:val>
                                        </p:tav>
                                        <p:tav tm="100000">
                                          <p:val>
                                            <p:strVal val="#ppt_y"/>
                                          </p:val>
                                        </p:tav>
                                      </p:tavLst>
                                    </p:anim>
                                  </p:childTnLst>
                                </p:cTn>
                              </p:par>
                            </p:childTnLst>
                          </p:cTn>
                        </p:par>
                        <p:par>
                          <p:cTn id="11" fill="hold" nodeType="afterGroup">
                            <p:stCondLst>
                              <p:cond delay="500"/>
                            </p:stCondLst>
                            <p:childTnLst>
                              <p:par>
                                <p:cTn id="12" presetID="23" presetClass="entr" presetSubtype="36" fill="hold" nodeType="afterEffect">
                                  <p:stCondLst>
                                    <p:cond delay="0"/>
                                  </p:stCondLst>
                                  <p:childTnLst>
                                    <p:set>
                                      <p:cBhvr>
                                        <p:cTn id="13" dur="1" fill="hold">
                                          <p:stCondLst>
                                            <p:cond delay="0"/>
                                          </p:stCondLst>
                                        </p:cTn>
                                        <p:tgtEl>
                                          <p:spTgt spid="18441"/>
                                        </p:tgtEl>
                                        <p:attrNameLst>
                                          <p:attrName>style.visibility</p:attrName>
                                        </p:attrNameLst>
                                      </p:cBhvr>
                                      <p:to>
                                        <p:strVal val="visible"/>
                                      </p:to>
                                    </p:set>
                                    <p:anim calcmode="lin" valueType="num">
                                      <p:cBhvr>
                                        <p:cTn id="14" dur="500" fill="hold"/>
                                        <p:tgtEl>
                                          <p:spTgt spid="18441"/>
                                        </p:tgtEl>
                                        <p:attrNameLst>
                                          <p:attrName>ppt_w</p:attrName>
                                        </p:attrNameLst>
                                      </p:cBhvr>
                                      <p:tavLst>
                                        <p:tav tm="0">
                                          <p:val>
                                            <p:strVal val="(6*min(max(#ppt_w*#ppt_h,.3),1)-7.4)/-.7*#ppt_w"/>
                                          </p:val>
                                        </p:tav>
                                        <p:tav tm="100000">
                                          <p:val>
                                            <p:strVal val="#ppt_w"/>
                                          </p:val>
                                        </p:tav>
                                      </p:tavLst>
                                    </p:anim>
                                    <p:anim calcmode="lin" valueType="num">
                                      <p:cBhvr>
                                        <p:cTn id="15" dur="500" fill="hold"/>
                                        <p:tgtEl>
                                          <p:spTgt spid="18441"/>
                                        </p:tgtEl>
                                        <p:attrNameLst>
                                          <p:attrName>ppt_h</p:attrName>
                                        </p:attrNameLst>
                                      </p:cBhvr>
                                      <p:tavLst>
                                        <p:tav tm="0">
                                          <p:val>
                                            <p:strVal val="(6*min(max(#ppt_w*#ppt_h,.3),1)-7.4)/-.7*#ppt_h"/>
                                          </p:val>
                                        </p:tav>
                                        <p:tav tm="100000">
                                          <p:val>
                                            <p:strVal val="#ppt_h"/>
                                          </p:val>
                                        </p:tav>
                                      </p:tavLst>
                                    </p:anim>
                                    <p:anim calcmode="lin" valueType="num">
                                      <p:cBhvr>
                                        <p:cTn id="16" dur="500" fill="hold"/>
                                        <p:tgtEl>
                                          <p:spTgt spid="18441"/>
                                        </p:tgtEl>
                                        <p:attrNameLst>
                                          <p:attrName>ppt_x</p:attrName>
                                        </p:attrNameLst>
                                      </p:cBhvr>
                                      <p:tavLst>
                                        <p:tav tm="0">
                                          <p:val>
                                            <p:fltVal val="0.5"/>
                                          </p:val>
                                        </p:tav>
                                        <p:tav tm="100000">
                                          <p:val>
                                            <p:strVal val="#ppt_x"/>
                                          </p:val>
                                        </p:tav>
                                      </p:tavLst>
                                    </p:anim>
                                    <p:anim calcmode="lin" valueType="num">
                                      <p:cBhvr>
                                        <p:cTn id="17" dur="500" fill="hold"/>
                                        <p:tgtEl>
                                          <p:spTgt spid="18441"/>
                                        </p:tgtEl>
                                        <p:attrNameLst>
                                          <p:attrName>ppt_y</p:attrName>
                                        </p:attrNameLst>
                                      </p:cBhvr>
                                      <p:tavLst>
                                        <p:tav tm="0">
                                          <p:val>
                                            <p:strVal val="1+(6*min(max(#ppt_w*#ppt_h,.3),1)-7.4)/-.7*#ppt_h/2"/>
                                          </p:val>
                                        </p:tav>
                                        <p:tav tm="100000">
                                          <p:val>
                                            <p:strVal val="#ppt_y"/>
                                          </p:val>
                                        </p:tav>
                                      </p:tavLst>
                                    </p:anim>
                                  </p:childTnLst>
                                </p:cTn>
                              </p:par>
                            </p:childTnLst>
                          </p:cTn>
                        </p:par>
                        <p:par>
                          <p:cTn id="18" fill="hold" nodeType="afterGroup">
                            <p:stCondLst>
                              <p:cond delay="1000"/>
                            </p:stCondLst>
                            <p:childTnLst>
                              <p:par>
                                <p:cTn id="19" presetID="22" presetClass="entr" presetSubtype="8" fill="hold" grpId="0" nodeType="afterEffect">
                                  <p:stCondLst>
                                    <p:cond delay="0"/>
                                  </p:stCondLst>
                                  <p:childTnLst>
                                    <p:set>
                                      <p:cBhvr>
                                        <p:cTn id="20" dur="1" fill="hold">
                                          <p:stCondLst>
                                            <p:cond delay="0"/>
                                          </p:stCondLst>
                                        </p:cTn>
                                        <p:tgtEl>
                                          <p:spTgt spid="18455"/>
                                        </p:tgtEl>
                                        <p:attrNameLst>
                                          <p:attrName>style.visibility</p:attrName>
                                        </p:attrNameLst>
                                      </p:cBhvr>
                                      <p:to>
                                        <p:strVal val="visible"/>
                                      </p:to>
                                    </p:set>
                                    <p:animEffect transition="in" filter="wipe(left)">
                                      <p:cBhvr>
                                        <p:cTn id="21" dur="500"/>
                                        <p:tgtEl>
                                          <p:spTgt spid="18455"/>
                                        </p:tgtEl>
                                      </p:cBhvr>
                                    </p:animEffect>
                                  </p:childTnLst>
                                </p:cTn>
                              </p:par>
                            </p:childTnLst>
                          </p:cTn>
                        </p:par>
                        <p:par>
                          <p:cTn id="22" fill="hold" nodeType="afterGroup">
                            <p:stCondLst>
                              <p:cond delay="1500"/>
                            </p:stCondLst>
                            <p:childTnLst>
                              <p:par>
                                <p:cTn id="23" presetID="2" presetClass="entr" presetSubtype="8" fill="hold" grpId="0" nodeType="afterEffect">
                                  <p:stCondLst>
                                    <p:cond delay="0"/>
                                  </p:stCondLst>
                                  <p:childTnLst>
                                    <p:set>
                                      <p:cBhvr>
                                        <p:cTn id="24" dur="1" fill="hold">
                                          <p:stCondLst>
                                            <p:cond delay="0"/>
                                          </p:stCondLst>
                                        </p:cTn>
                                        <p:tgtEl>
                                          <p:spTgt spid="18436"/>
                                        </p:tgtEl>
                                        <p:attrNameLst>
                                          <p:attrName>style.visibility</p:attrName>
                                        </p:attrNameLst>
                                      </p:cBhvr>
                                      <p:to>
                                        <p:strVal val="visible"/>
                                      </p:to>
                                    </p:set>
                                    <p:anim calcmode="lin" valueType="num">
                                      <p:cBhvr additive="base">
                                        <p:cTn id="25" dur="500" fill="hold"/>
                                        <p:tgtEl>
                                          <p:spTgt spid="18436"/>
                                        </p:tgtEl>
                                        <p:attrNameLst>
                                          <p:attrName>ppt_x</p:attrName>
                                        </p:attrNameLst>
                                      </p:cBhvr>
                                      <p:tavLst>
                                        <p:tav tm="0">
                                          <p:val>
                                            <p:strVal val="0-#ppt_w/2"/>
                                          </p:val>
                                        </p:tav>
                                        <p:tav tm="100000">
                                          <p:val>
                                            <p:strVal val="#ppt_x"/>
                                          </p:val>
                                        </p:tav>
                                      </p:tavLst>
                                    </p:anim>
                                    <p:anim calcmode="lin" valueType="num">
                                      <p:cBhvr additive="base">
                                        <p:cTn id="26" dur="500" fill="hold"/>
                                        <p:tgtEl>
                                          <p:spTgt spid="18436"/>
                                        </p:tgtEl>
                                        <p:attrNameLst>
                                          <p:attrName>ppt_y</p:attrName>
                                        </p:attrNameLst>
                                      </p:cBhvr>
                                      <p:tavLst>
                                        <p:tav tm="0">
                                          <p:val>
                                            <p:strVal val="#ppt_y"/>
                                          </p:val>
                                        </p:tav>
                                        <p:tav tm="100000">
                                          <p:val>
                                            <p:strVal val="#ppt_y"/>
                                          </p:val>
                                        </p:tav>
                                      </p:tavLst>
                                    </p:anim>
                                  </p:childTnLst>
                                </p:cTn>
                              </p:par>
                            </p:childTnLst>
                          </p:cTn>
                        </p:par>
                        <p:par>
                          <p:cTn id="27" fill="hold" nodeType="afterGroup">
                            <p:stCondLst>
                              <p:cond delay="2000"/>
                            </p:stCondLst>
                            <p:childTnLst>
                              <p:par>
                                <p:cTn id="28" presetID="9" presetClass="entr" presetSubtype="0" fill="hold" grpId="0" nodeType="afterEffect">
                                  <p:stCondLst>
                                    <p:cond delay="0"/>
                                  </p:stCondLst>
                                  <p:childTnLst>
                                    <p:set>
                                      <p:cBhvr>
                                        <p:cTn id="29" dur="1" fill="hold">
                                          <p:stCondLst>
                                            <p:cond delay="0"/>
                                          </p:stCondLst>
                                        </p:cTn>
                                        <p:tgtEl>
                                          <p:spTgt spid="18456"/>
                                        </p:tgtEl>
                                        <p:attrNameLst>
                                          <p:attrName>style.visibility</p:attrName>
                                        </p:attrNameLst>
                                      </p:cBhvr>
                                      <p:to>
                                        <p:strVal val="visible"/>
                                      </p:to>
                                    </p:set>
                                    <p:animEffect transition="in" filter="dissolve">
                                      <p:cBhvr>
                                        <p:cTn id="30" dur="500"/>
                                        <p:tgtEl>
                                          <p:spTgt spid="18456"/>
                                        </p:tgtEl>
                                      </p:cBhvr>
                                    </p:animEffect>
                                  </p:childTnLst>
                                </p:cTn>
                              </p:par>
                            </p:childTnLst>
                          </p:cTn>
                        </p:par>
                        <p:par>
                          <p:cTn id="31" fill="hold" nodeType="afterGroup">
                            <p:stCondLst>
                              <p:cond delay="2500"/>
                            </p:stCondLst>
                            <p:childTnLst>
                              <p:par>
                                <p:cTn id="32" presetID="9" presetClass="entr" presetSubtype="0" fill="hold" grpId="0" nodeType="afterEffect">
                                  <p:stCondLst>
                                    <p:cond delay="0"/>
                                  </p:stCondLst>
                                  <p:iterate type="wd">
                                    <p:tmPct val="100000"/>
                                  </p:iterate>
                                  <p:childTnLst>
                                    <p:set>
                                      <p:cBhvr>
                                        <p:cTn id="33" dur="1" fill="hold">
                                          <p:stCondLst>
                                            <p:cond delay="0"/>
                                          </p:stCondLst>
                                        </p:cTn>
                                        <p:tgtEl>
                                          <p:spTgt spid="18442">
                                            <p:txEl>
                                              <p:pRg st="0" end="0"/>
                                            </p:txEl>
                                          </p:spTgt>
                                        </p:tgtEl>
                                        <p:attrNameLst>
                                          <p:attrName>style.visibility</p:attrName>
                                        </p:attrNameLst>
                                      </p:cBhvr>
                                      <p:to>
                                        <p:strVal val="visible"/>
                                      </p:to>
                                    </p:set>
                                    <p:animEffect transition="in" filter="dissolve">
                                      <p:cBhvr>
                                        <p:cTn id="34" dur="300"/>
                                        <p:tgtEl>
                                          <p:spTgt spid="18442">
                                            <p:txEl>
                                              <p:pRg st="0" end="0"/>
                                            </p:txEl>
                                          </p:spTgt>
                                        </p:tgtEl>
                                      </p:cBhvr>
                                    </p:animEffect>
                                  </p:childTnLst>
                                </p:cTn>
                              </p:par>
                            </p:childTnLst>
                          </p:cTn>
                        </p:par>
                        <p:par>
                          <p:cTn id="35" fill="hold" nodeType="afterGroup">
                            <p:stCondLst>
                              <p:cond delay="2800"/>
                            </p:stCondLst>
                            <p:childTnLst>
                              <p:par>
                                <p:cTn id="36" presetID="9" presetClass="entr" presetSubtype="0" fill="hold" grpId="0" nodeType="afterEffect">
                                  <p:stCondLst>
                                    <p:cond delay="0"/>
                                  </p:stCondLst>
                                  <p:childTnLst>
                                    <p:set>
                                      <p:cBhvr>
                                        <p:cTn id="37" dur="1" fill="hold">
                                          <p:stCondLst>
                                            <p:cond delay="0"/>
                                          </p:stCondLst>
                                        </p:cTn>
                                        <p:tgtEl>
                                          <p:spTgt spid="18443"/>
                                        </p:tgtEl>
                                        <p:attrNameLst>
                                          <p:attrName>style.visibility</p:attrName>
                                        </p:attrNameLst>
                                      </p:cBhvr>
                                      <p:to>
                                        <p:strVal val="visible"/>
                                      </p:to>
                                    </p:set>
                                    <p:animEffect transition="in" filter="dissolve">
                                      <p:cBhvr>
                                        <p:cTn id="38" dur="500"/>
                                        <p:tgtEl>
                                          <p:spTgt spid="18443"/>
                                        </p:tgtEl>
                                      </p:cBhvr>
                                    </p:animEffect>
                                  </p:childTnLst>
                                </p:cTn>
                              </p:par>
                            </p:childTnLst>
                          </p:cTn>
                        </p:par>
                        <p:par>
                          <p:cTn id="39" fill="hold" nodeType="afterGroup">
                            <p:stCondLst>
                              <p:cond delay="3300"/>
                            </p:stCondLst>
                            <p:childTnLst>
                              <p:par>
                                <p:cTn id="40" presetID="9" presetClass="entr" presetSubtype="0" fill="hold" grpId="0" nodeType="afterEffect">
                                  <p:stCondLst>
                                    <p:cond delay="0"/>
                                  </p:stCondLst>
                                  <p:iterate type="wd">
                                    <p:tmPct val="100000"/>
                                  </p:iterate>
                                  <p:childTnLst>
                                    <p:set>
                                      <p:cBhvr>
                                        <p:cTn id="41" dur="1" fill="hold">
                                          <p:stCondLst>
                                            <p:cond delay="0"/>
                                          </p:stCondLst>
                                        </p:cTn>
                                        <p:tgtEl>
                                          <p:spTgt spid="18444">
                                            <p:txEl>
                                              <p:pRg st="0" end="0"/>
                                            </p:txEl>
                                          </p:spTgt>
                                        </p:tgtEl>
                                        <p:attrNameLst>
                                          <p:attrName>style.visibility</p:attrName>
                                        </p:attrNameLst>
                                      </p:cBhvr>
                                      <p:to>
                                        <p:strVal val="visible"/>
                                      </p:to>
                                    </p:set>
                                    <p:animEffect transition="in" filter="dissolve">
                                      <p:cBhvr>
                                        <p:cTn id="42" dur="300"/>
                                        <p:tgtEl>
                                          <p:spTgt spid="18444">
                                            <p:txEl>
                                              <p:pRg st="0" end="0"/>
                                            </p:txEl>
                                          </p:spTgt>
                                        </p:tgtEl>
                                      </p:cBhvr>
                                    </p:animEffect>
                                  </p:childTnLst>
                                </p:cTn>
                              </p:par>
                            </p:childTnLst>
                          </p:cTn>
                        </p:par>
                        <p:par>
                          <p:cTn id="43" fill="hold" nodeType="afterGroup">
                            <p:stCondLst>
                              <p:cond delay="3600"/>
                            </p:stCondLst>
                            <p:childTnLst>
                              <p:par>
                                <p:cTn id="44" presetID="9" presetClass="entr" presetSubtype="0" fill="hold" grpId="0" nodeType="afterEffect">
                                  <p:stCondLst>
                                    <p:cond delay="0"/>
                                  </p:stCondLst>
                                  <p:iterate type="wd">
                                    <p:tmPct val="100000"/>
                                  </p:iterate>
                                  <p:childTnLst>
                                    <p:set>
                                      <p:cBhvr>
                                        <p:cTn id="45" dur="1" fill="hold">
                                          <p:stCondLst>
                                            <p:cond delay="0"/>
                                          </p:stCondLst>
                                        </p:cTn>
                                        <p:tgtEl>
                                          <p:spTgt spid="18445">
                                            <p:txEl>
                                              <p:pRg st="0" end="0"/>
                                            </p:txEl>
                                          </p:spTgt>
                                        </p:tgtEl>
                                        <p:attrNameLst>
                                          <p:attrName>style.visibility</p:attrName>
                                        </p:attrNameLst>
                                      </p:cBhvr>
                                      <p:to>
                                        <p:strVal val="visible"/>
                                      </p:to>
                                    </p:set>
                                    <p:animEffect transition="in" filter="dissolve">
                                      <p:cBhvr>
                                        <p:cTn id="46" dur="300"/>
                                        <p:tgtEl>
                                          <p:spTgt spid="18445">
                                            <p:txEl>
                                              <p:pRg st="0" end="0"/>
                                            </p:txEl>
                                          </p:spTgt>
                                        </p:tgtEl>
                                      </p:cBhvr>
                                    </p:animEffect>
                                  </p:childTnLst>
                                </p:cTn>
                              </p:par>
                            </p:childTnLst>
                          </p:cTn>
                        </p:par>
                        <p:par>
                          <p:cTn id="47" fill="hold" nodeType="afterGroup">
                            <p:stCondLst>
                              <p:cond delay="3900"/>
                            </p:stCondLst>
                            <p:childTnLst>
                              <p:par>
                                <p:cTn id="48" presetID="9" presetClass="entr" presetSubtype="0" fill="hold" grpId="0" nodeType="afterEffect">
                                  <p:stCondLst>
                                    <p:cond delay="0"/>
                                  </p:stCondLst>
                                  <p:childTnLst>
                                    <p:set>
                                      <p:cBhvr>
                                        <p:cTn id="49" dur="1" fill="hold">
                                          <p:stCondLst>
                                            <p:cond delay="0"/>
                                          </p:stCondLst>
                                        </p:cTn>
                                        <p:tgtEl>
                                          <p:spTgt spid="18446"/>
                                        </p:tgtEl>
                                        <p:attrNameLst>
                                          <p:attrName>style.visibility</p:attrName>
                                        </p:attrNameLst>
                                      </p:cBhvr>
                                      <p:to>
                                        <p:strVal val="visible"/>
                                      </p:to>
                                    </p:set>
                                    <p:animEffect transition="in" filter="dissolve">
                                      <p:cBhvr>
                                        <p:cTn id="50" dur="500"/>
                                        <p:tgtEl>
                                          <p:spTgt spid="18446"/>
                                        </p:tgtEl>
                                      </p:cBhvr>
                                    </p:animEffect>
                                  </p:childTnLst>
                                </p:cTn>
                              </p:par>
                            </p:childTnLst>
                          </p:cTn>
                        </p:par>
                        <p:par>
                          <p:cTn id="51" fill="hold" nodeType="afterGroup">
                            <p:stCondLst>
                              <p:cond delay="4400"/>
                            </p:stCondLst>
                            <p:childTnLst>
                              <p:par>
                                <p:cTn id="52" presetID="9" presetClass="entr" presetSubtype="0" fill="hold" grpId="0" nodeType="afterEffect">
                                  <p:stCondLst>
                                    <p:cond delay="0"/>
                                  </p:stCondLst>
                                  <p:iterate type="wd">
                                    <p:tmPct val="100000"/>
                                  </p:iterate>
                                  <p:childTnLst>
                                    <p:set>
                                      <p:cBhvr>
                                        <p:cTn id="53" dur="1" fill="hold">
                                          <p:stCondLst>
                                            <p:cond delay="0"/>
                                          </p:stCondLst>
                                        </p:cTn>
                                        <p:tgtEl>
                                          <p:spTgt spid="18447">
                                            <p:txEl>
                                              <p:pRg st="0" end="0"/>
                                            </p:txEl>
                                          </p:spTgt>
                                        </p:tgtEl>
                                        <p:attrNameLst>
                                          <p:attrName>style.visibility</p:attrName>
                                        </p:attrNameLst>
                                      </p:cBhvr>
                                      <p:to>
                                        <p:strVal val="visible"/>
                                      </p:to>
                                    </p:set>
                                    <p:animEffect transition="in" filter="dissolve">
                                      <p:cBhvr>
                                        <p:cTn id="54" dur="300"/>
                                        <p:tgtEl>
                                          <p:spTgt spid="18447">
                                            <p:txEl>
                                              <p:pRg st="0" end="0"/>
                                            </p:txEl>
                                          </p:spTgt>
                                        </p:tgtEl>
                                      </p:cBhvr>
                                    </p:animEffect>
                                  </p:childTnLst>
                                </p:cTn>
                              </p:par>
                            </p:childTnLst>
                          </p:cTn>
                        </p:par>
                        <p:par>
                          <p:cTn id="55" fill="hold" nodeType="afterGroup">
                            <p:stCondLst>
                              <p:cond delay="4700"/>
                            </p:stCondLst>
                            <p:childTnLst>
                              <p:par>
                                <p:cTn id="56" presetID="9" presetClass="entr" presetSubtype="0" fill="hold" grpId="0" nodeType="afterEffect">
                                  <p:stCondLst>
                                    <p:cond delay="0"/>
                                  </p:stCondLst>
                                  <p:iterate type="wd">
                                    <p:tmPct val="100000"/>
                                  </p:iterate>
                                  <p:childTnLst>
                                    <p:set>
                                      <p:cBhvr>
                                        <p:cTn id="57" dur="1" fill="hold">
                                          <p:stCondLst>
                                            <p:cond delay="0"/>
                                          </p:stCondLst>
                                        </p:cTn>
                                        <p:tgtEl>
                                          <p:spTgt spid="18448">
                                            <p:txEl>
                                              <p:pRg st="0" end="0"/>
                                            </p:txEl>
                                          </p:spTgt>
                                        </p:tgtEl>
                                        <p:attrNameLst>
                                          <p:attrName>style.visibility</p:attrName>
                                        </p:attrNameLst>
                                      </p:cBhvr>
                                      <p:to>
                                        <p:strVal val="visible"/>
                                      </p:to>
                                    </p:set>
                                    <p:animEffect transition="in" filter="dissolve">
                                      <p:cBhvr>
                                        <p:cTn id="58" dur="300"/>
                                        <p:tgtEl>
                                          <p:spTgt spid="18448">
                                            <p:txEl>
                                              <p:pRg st="0" end="0"/>
                                            </p:txEl>
                                          </p:spTgt>
                                        </p:tgtEl>
                                      </p:cBhvr>
                                    </p:animEffect>
                                  </p:childTnLst>
                                </p:cTn>
                              </p:par>
                            </p:childTnLst>
                          </p:cTn>
                        </p:par>
                        <p:par>
                          <p:cTn id="59" fill="hold" nodeType="afterGroup">
                            <p:stCondLst>
                              <p:cond delay="5000"/>
                            </p:stCondLst>
                            <p:childTnLst>
                              <p:par>
                                <p:cTn id="60" presetID="9" presetClass="entr" presetSubtype="0" fill="hold" grpId="0" nodeType="afterEffect">
                                  <p:stCondLst>
                                    <p:cond delay="0"/>
                                  </p:stCondLst>
                                  <p:childTnLst>
                                    <p:set>
                                      <p:cBhvr>
                                        <p:cTn id="61" dur="1" fill="hold">
                                          <p:stCondLst>
                                            <p:cond delay="0"/>
                                          </p:stCondLst>
                                        </p:cTn>
                                        <p:tgtEl>
                                          <p:spTgt spid="18449"/>
                                        </p:tgtEl>
                                        <p:attrNameLst>
                                          <p:attrName>style.visibility</p:attrName>
                                        </p:attrNameLst>
                                      </p:cBhvr>
                                      <p:to>
                                        <p:strVal val="visible"/>
                                      </p:to>
                                    </p:set>
                                    <p:animEffect transition="in" filter="dissolve">
                                      <p:cBhvr>
                                        <p:cTn id="62" dur="500"/>
                                        <p:tgtEl>
                                          <p:spTgt spid="18449"/>
                                        </p:tgtEl>
                                      </p:cBhvr>
                                    </p:animEffect>
                                  </p:childTnLst>
                                </p:cTn>
                              </p:par>
                            </p:childTnLst>
                          </p:cTn>
                        </p:par>
                        <p:par>
                          <p:cTn id="63" fill="hold" nodeType="afterGroup">
                            <p:stCondLst>
                              <p:cond delay="5500"/>
                            </p:stCondLst>
                            <p:childTnLst>
                              <p:par>
                                <p:cTn id="64" presetID="9" presetClass="entr" presetSubtype="0" fill="hold" grpId="0" nodeType="afterEffect">
                                  <p:stCondLst>
                                    <p:cond delay="0"/>
                                  </p:stCondLst>
                                  <p:iterate type="wd">
                                    <p:tmPct val="100000"/>
                                  </p:iterate>
                                  <p:childTnLst>
                                    <p:set>
                                      <p:cBhvr>
                                        <p:cTn id="65" dur="1" fill="hold">
                                          <p:stCondLst>
                                            <p:cond delay="0"/>
                                          </p:stCondLst>
                                        </p:cTn>
                                        <p:tgtEl>
                                          <p:spTgt spid="18450">
                                            <p:txEl>
                                              <p:pRg st="0" end="0"/>
                                            </p:txEl>
                                          </p:spTgt>
                                        </p:tgtEl>
                                        <p:attrNameLst>
                                          <p:attrName>style.visibility</p:attrName>
                                        </p:attrNameLst>
                                      </p:cBhvr>
                                      <p:to>
                                        <p:strVal val="visible"/>
                                      </p:to>
                                    </p:set>
                                    <p:animEffect transition="in" filter="dissolve">
                                      <p:cBhvr>
                                        <p:cTn id="66" dur="300"/>
                                        <p:tgtEl>
                                          <p:spTgt spid="18450">
                                            <p:txEl>
                                              <p:pRg st="0" end="0"/>
                                            </p:txEl>
                                          </p:spTgt>
                                        </p:tgtEl>
                                      </p:cBhvr>
                                    </p:animEffect>
                                  </p:childTnLst>
                                </p:cTn>
                              </p:par>
                            </p:childTnLst>
                          </p:cTn>
                        </p:par>
                        <p:par>
                          <p:cTn id="67" fill="hold" nodeType="afterGroup">
                            <p:stCondLst>
                              <p:cond delay="5800"/>
                            </p:stCondLst>
                            <p:childTnLst>
                              <p:par>
                                <p:cTn id="68" presetID="9" presetClass="entr" presetSubtype="0" fill="hold" grpId="0" nodeType="afterEffect">
                                  <p:stCondLst>
                                    <p:cond delay="0"/>
                                  </p:stCondLst>
                                  <p:iterate type="wd">
                                    <p:tmPct val="100000"/>
                                  </p:iterate>
                                  <p:childTnLst>
                                    <p:set>
                                      <p:cBhvr>
                                        <p:cTn id="69" dur="1" fill="hold">
                                          <p:stCondLst>
                                            <p:cond delay="0"/>
                                          </p:stCondLst>
                                        </p:cTn>
                                        <p:tgtEl>
                                          <p:spTgt spid="18451">
                                            <p:txEl>
                                              <p:pRg st="0" end="0"/>
                                            </p:txEl>
                                          </p:spTgt>
                                        </p:tgtEl>
                                        <p:attrNameLst>
                                          <p:attrName>style.visibility</p:attrName>
                                        </p:attrNameLst>
                                      </p:cBhvr>
                                      <p:to>
                                        <p:strVal val="visible"/>
                                      </p:to>
                                    </p:set>
                                    <p:animEffect transition="in" filter="dissolve">
                                      <p:cBhvr>
                                        <p:cTn id="70" dur="300"/>
                                        <p:tgtEl>
                                          <p:spTgt spid="18451">
                                            <p:txEl>
                                              <p:pRg st="0" end="0"/>
                                            </p:txEl>
                                          </p:spTgt>
                                        </p:tgtEl>
                                      </p:cBhvr>
                                    </p:animEffect>
                                  </p:childTnLst>
                                </p:cTn>
                              </p:par>
                            </p:childTnLst>
                          </p:cTn>
                        </p:par>
                        <p:par>
                          <p:cTn id="71" fill="hold" nodeType="afterGroup">
                            <p:stCondLst>
                              <p:cond delay="6100"/>
                            </p:stCondLst>
                            <p:childTnLst>
                              <p:par>
                                <p:cTn id="72" presetID="9" presetClass="entr" presetSubtype="0" fill="hold" grpId="0" nodeType="afterEffect">
                                  <p:stCondLst>
                                    <p:cond delay="0"/>
                                  </p:stCondLst>
                                  <p:childTnLst>
                                    <p:set>
                                      <p:cBhvr>
                                        <p:cTn id="73" dur="1" fill="hold">
                                          <p:stCondLst>
                                            <p:cond delay="0"/>
                                          </p:stCondLst>
                                        </p:cTn>
                                        <p:tgtEl>
                                          <p:spTgt spid="18452"/>
                                        </p:tgtEl>
                                        <p:attrNameLst>
                                          <p:attrName>style.visibility</p:attrName>
                                        </p:attrNameLst>
                                      </p:cBhvr>
                                      <p:to>
                                        <p:strVal val="visible"/>
                                      </p:to>
                                    </p:set>
                                    <p:animEffect transition="in" filter="dissolve">
                                      <p:cBhvr>
                                        <p:cTn id="74" dur="500"/>
                                        <p:tgtEl>
                                          <p:spTgt spid="18452"/>
                                        </p:tgtEl>
                                      </p:cBhvr>
                                    </p:animEffect>
                                  </p:childTnLst>
                                </p:cTn>
                              </p:par>
                            </p:childTnLst>
                          </p:cTn>
                        </p:par>
                        <p:par>
                          <p:cTn id="75" fill="hold" nodeType="afterGroup">
                            <p:stCondLst>
                              <p:cond delay="6600"/>
                            </p:stCondLst>
                            <p:childTnLst>
                              <p:par>
                                <p:cTn id="76" presetID="9" presetClass="entr" presetSubtype="0" fill="hold" grpId="0" nodeType="afterEffect">
                                  <p:stCondLst>
                                    <p:cond delay="0"/>
                                  </p:stCondLst>
                                  <p:iterate type="wd">
                                    <p:tmPct val="100000"/>
                                  </p:iterate>
                                  <p:childTnLst>
                                    <p:set>
                                      <p:cBhvr>
                                        <p:cTn id="77" dur="1" fill="hold">
                                          <p:stCondLst>
                                            <p:cond delay="0"/>
                                          </p:stCondLst>
                                        </p:cTn>
                                        <p:tgtEl>
                                          <p:spTgt spid="18453">
                                            <p:txEl>
                                              <p:pRg st="0" end="0"/>
                                            </p:txEl>
                                          </p:spTgt>
                                        </p:tgtEl>
                                        <p:attrNameLst>
                                          <p:attrName>style.visibility</p:attrName>
                                        </p:attrNameLst>
                                      </p:cBhvr>
                                      <p:to>
                                        <p:strVal val="visible"/>
                                      </p:to>
                                    </p:set>
                                    <p:animEffect transition="in" filter="dissolve">
                                      <p:cBhvr>
                                        <p:cTn id="78" dur="300"/>
                                        <p:tgtEl>
                                          <p:spTgt spid="1845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56" grpId="0" animBg="1"/>
      <p:bldP spid="18436" grpId="0" autoUpdateAnimBg="0"/>
      <p:bldP spid="18442" grpId="0" build="p" autoUpdateAnimBg="0" advAuto="0"/>
      <p:bldP spid="18443" grpId="0" animBg="1"/>
      <p:bldP spid="18444" grpId="0" build="p" autoUpdateAnimBg="0" advAuto="0"/>
      <p:bldP spid="18445" grpId="0" build="p" autoUpdateAnimBg="0" advAuto="0"/>
      <p:bldP spid="18446" grpId="0" animBg="1"/>
      <p:bldP spid="18447" grpId="0" build="p" autoUpdateAnimBg="0" advAuto="0"/>
      <p:bldP spid="18448" grpId="0" build="p" autoUpdateAnimBg="0" advAuto="0"/>
      <p:bldP spid="18449" grpId="0" animBg="1"/>
      <p:bldP spid="18450" grpId="0" build="p" autoUpdateAnimBg="0" advAuto="0"/>
      <p:bldP spid="18451" grpId="0" build="p" autoUpdateAnimBg="0" advAuto="0"/>
      <p:bldP spid="18452" grpId="0" animBg="1"/>
      <p:bldP spid="18453" grpId="0" build="p" autoUpdateAnimBg="0" advAuto="0"/>
      <p:bldP spid="18455"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7"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844212" y="5240444"/>
            <a:ext cx="1181100"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 descr="Image result for tu dublin logo">
            <a:extLst>
              <a:ext uri="{FF2B5EF4-FFF2-40B4-BE49-F238E27FC236}">
                <a16:creationId xmlns:a16="http://schemas.microsoft.com/office/drawing/2014/main" id="{797A14B6-C943-468F-818F-BAE24495A0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96425" y="0"/>
            <a:ext cx="2695575" cy="169545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5D2FF78-D06A-48C9-8C46-9715A8353E11}"/>
              </a:ext>
            </a:extLst>
          </p:cNvPr>
          <p:cNvSpPr>
            <a:spLocks noGrp="1"/>
          </p:cNvSpPr>
          <p:nvPr>
            <p:ph type="title"/>
          </p:nvPr>
        </p:nvSpPr>
        <p:spPr/>
        <p:txBody>
          <a:bodyPr/>
          <a:lstStyle/>
          <a:p>
            <a:pPr algn="ctr"/>
            <a:r>
              <a:rPr lang="en-GB" dirty="0"/>
              <a:t>Test Yourself</a:t>
            </a:r>
          </a:p>
        </p:txBody>
      </p:sp>
      <p:sp>
        <p:nvSpPr>
          <p:cNvPr id="3" name="Content Placeholder 2">
            <a:extLst>
              <a:ext uri="{FF2B5EF4-FFF2-40B4-BE49-F238E27FC236}">
                <a16:creationId xmlns:a16="http://schemas.microsoft.com/office/drawing/2014/main" id="{A37A8C3C-EF58-4E5F-8543-E3725B4AB502}"/>
              </a:ext>
            </a:extLst>
          </p:cNvPr>
          <p:cNvSpPr>
            <a:spLocks noGrp="1"/>
          </p:cNvSpPr>
          <p:nvPr>
            <p:ph idx="1"/>
          </p:nvPr>
        </p:nvSpPr>
        <p:spPr>
          <a:xfrm>
            <a:off x="1097280" y="1845734"/>
            <a:ext cx="10058400" cy="1583266"/>
          </a:xfrm>
        </p:spPr>
        <p:txBody>
          <a:bodyPr>
            <a:normAutofit/>
          </a:bodyPr>
          <a:lstStyle/>
          <a:p>
            <a:r>
              <a:rPr lang="en-GB" dirty="0"/>
              <a:t>Click the following link for Jungian (MBTI-type) Personality Questionnaire</a:t>
            </a:r>
          </a:p>
          <a:p>
            <a:r>
              <a:rPr lang="en-GB" dirty="0">
                <a:hlinkClick r:id="rId4"/>
              </a:rPr>
              <a:t>http://openpsychometrics.org/tests/OEJTS/</a:t>
            </a:r>
            <a:endParaRPr lang="en-GB" dirty="0"/>
          </a:p>
          <a:p>
            <a:pPr algn="ctr"/>
            <a:r>
              <a:rPr lang="en-GB" b="1" dirty="0"/>
              <a:t>Take note of your types (screenshot)</a:t>
            </a:r>
          </a:p>
        </p:txBody>
      </p:sp>
      <p:pic>
        <p:nvPicPr>
          <p:cNvPr id="6" name="Picture 5" descr="Text, email&#10;&#10;Description automatically generated">
            <a:extLst>
              <a:ext uri="{FF2B5EF4-FFF2-40B4-BE49-F238E27FC236}">
                <a16:creationId xmlns:a16="http://schemas.microsoft.com/office/drawing/2014/main" id="{F79A1451-2EF6-4838-B4D7-1E45969F86C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49855" y="3248025"/>
            <a:ext cx="6953250" cy="3609975"/>
          </a:xfrm>
          <a:prstGeom prst="rect">
            <a:avLst/>
          </a:prstGeom>
        </p:spPr>
      </p:pic>
    </p:spTree>
    <p:extLst>
      <p:ext uri="{BB962C8B-B14F-4D97-AF65-F5344CB8AC3E}">
        <p14:creationId xmlns:p14="http://schemas.microsoft.com/office/powerpoint/2010/main" val="32634738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pic>
        <p:nvPicPr>
          <p:cNvPr id="5122" name="Picture 2" descr="Myersbriggstyp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269" y="95693"/>
            <a:ext cx="11417005" cy="64220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19431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92370" y="605896"/>
            <a:ext cx="3084844" cy="5646208"/>
          </a:xfrm>
        </p:spPr>
        <p:txBody>
          <a:bodyPr anchor="ctr">
            <a:normAutofit/>
          </a:bodyPr>
          <a:lstStyle/>
          <a:p>
            <a:r>
              <a:rPr lang="en-IE" sz="3600">
                <a:solidFill>
                  <a:srgbClr val="FFFFFF"/>
                </a:solidFill>
              </a:rPr>
              <a:t>Decision Time</a:t>
            </a:r>
          </a:p>
        </p:txBody>
      </p:sp>
      <p:sp>
        <p:nvSpPr>
          <p:cNvPr id="12" name="Rectangle 11">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Content Placeholder 2"/>
          <p:cNvSpPr>
            <a:spLocks noGrp="1"/>
          </p:cNvSpPr>
          <p:nvPr>
            <p:ph idx="1"/>
          </p:nvPr>
        </p:nvSpPr>
        <p:spPr>
          <a:xfrm>
            <a:off x="4742016" y="605896"/>
            <a:ext cx="6413663" cy="5646208"/>
          </a:xfrm>
        </p:spPr>
        <p:txBody>
          <a:bodyPr anchor="ctr">
            <a:normAutofit/>
          </a:bodyPr>
          <a:lstStyle/>
          <a:p>
            <a:r>
              <a:rPr lang="en-IE" dirty="0"/>
              <a:t>You are hiring someone for a job. One candidate has a perfect resume and interview. The other candidate was not as outstanding as the first, however, the second candidate is a single parent who really needs the job and is particularly passionate about working in your company. You can only hire one person. </a:t>
            </a:r>
          </a:p>
          <a:p>
            <a:r>
              <a:rPr lang="en-IE" dirty="0"/>
              <a:t>Who do you hire and why?</a:t>
            </a:r>
          </a:p>
          <a:p>
            <a:endParaRPr lang="en-IE" dirty="0"/>
          </a:p>
          <a:p>
            <a:r>
              <a:rPr lang="en-IE" dirty="0"/>
              <a:t>What did you decide?</a:t>
            </a:r>
          </a:p>
          <a:p>
            <a:r>
              <a:rPr lang="en-IE" dirty="0"/>
              <a:t>What do you see as the difference between the two preferences?</a:t>
            </a:r>
          </a:p>
          <a:p>
            <a:r>
              <a:rPr lang="en-IE" dirty="0"/>
              <a:t>What do you think are the differences between thinking and feeling?</a:t>
            </a:r>
          </a:p>
          <a:p>
            <a:r>
              <a:rPr lang="en-IE" dirty="0"/>
              <a:t>Where do you this this is relevant in your working lives?</a:t>
            </a:r>
          </a:p>
        </p:txBody>
      </p:sp>
    </p:spTree>
    <p:extLst>
      <p:ext uri="{BB962C8B-B14F-4D97-AF65-F5344CB8AC3E}">
        <p14:creationId xmlns:p14="http://schemas.microsoft.com/office/powerpoint/2010/main" val="2688625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ECF0FC6-D57B-48B6-9036-F4FFD91A4B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90932" y="286603"/>
            <a:ext cx="6750987" cy="1450757"/>
          </a:xfrm>
        </p:spPr>
        <p:txBody>
          <a:bodyPr>
            <a:normAutofit/>
          </a:bodyPr>
          <a:lstStyle/>
          <a:p>
            <a:r>
              <a:rPr lang="en-IE">
                <a:solidFill>
                  <a:schemeClr val="accent2"/>
                </a:solidFill>
              </a:rPr>
              <a:t>T/F: It’s all about how we approach decisions</a:t>
            </a:r>
          </a:p>
        </p:txBody>
      </p:sp>
      <p:sp>
        <p:nvSpPr>
          <p:cNvPr id="3" name="Content Placeholder 2"/>
          <p:cNvSpPr>
            <a:spLocks noGrp="1"/>
          </p:cNvSpPr>
          <p:nvPr>
            <p:ph idx="1"/>
          </p:nvPr>
        </p:nvSpPr>
        <p:spPr>
          <a:xfrm>
            <a:off x="1044204" y="2023962"/>
            <a:ext cx="6697715" cy="3845131"/>
          </a:xfrm>
        </p:spPr>
        <p:txBody>
          <a:bodyPr>
            <a:normAutofit lnSpcReduction="10000"/>
          </a:bodyPr>
          <a:lstStyle/>
          <a:p>
            <a:r>
              <a:rPr lang="en-IE" dirty="0"/>
              <a:t>How would you decide which car to buy? </a:t>
            </a:r>
          </a:p>
          <a:p>
            <a:endParaRPr lang="en-IE" dirty="0"/>
          </a:p>
          <a:p>
            <a:r>
              <a:rPr lang="en-IE" dirty="0"/>
              <a:t>OR</a:t>
            </a:r>
          </a:p>
          <a:p>
            <a:pPr marL="0" indent="0">
              <a:buNone/>
            </a:pPr>
            <a:endParaRPr lang="en-IE" dirty="0"/>
          </a:p>
          <a:p>
            <a:r>
              <a:rPr lang="en-IE" dirty="0"/>
              <a:t>You've been looking at several houses to buy and must make a decision - what do you think about first and second as you walk into each house? What sways your decision? </a:t>
            </a:r>
          </a:p>
          <a:p>
            <a:endParaRPr lang="en-IE" dirty="0"/>
          </a:p>
          <a:p>
            <a:endParaRPr lang="en-IE" dirty="0"/>
          </a:p>
          <a:p>
            <a:r>
              <a:rPr lang="en-IE" dirty="0"/>
              <a:t>Remember, this is about preference, not ability</a:t>
            </a:r>
          </a:p>
          <a:p>
            <a:endParaRPr lang="en-IE" dirty="0"/>
          </a:p>
        </p:txBody>
      </p:sp>
      <p:sp>
        <p:nvSpPr>
          <p:cNvPr id="10" name="Rectangle 9">
            <a:extLst>
              <a:ext uri="{FF2B5EF4-FFF2-40B4-BE49-F238E27FC236}">
                <a16:creationId xmlns:a16="http://schemas.microsoft.com/office/drawing/2014/main" id="{717A211C-5863-4303-AC3D-AEBFDF6D6A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44150"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087519CD-2FFF-42E3-BB0C-FEAA828BA5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32823"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6164670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ECF0FC6-D57B-48B6-9036-F4FFD91A4B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90932" y="286603"/>
            <a:ext cx="6750987" cy="1450757"/>
          </a:xfrm>
        </p:spPr>
        <p:txBody>
          <a:bodyPr>
            <a:normAutofit/>
          </a:bodyPr>
          <a:lstStyle/>
          <a:p>
            <a:r>
              <a:rPr lang="en-IE">
                <a:solidFill>
                  <a:schemeClr val="accent2"/>
                </a:solidFill>
              </a:rPr>
              <a:t>Criticism of MBTI </a:t>
            </a:r>
          </a:p>
        </p:txBody>
      </p:sp>
      <p:sp>
        <p:nvSpPr>
          <p:cNvPr id="3" name="Content Placeholder 2"/>
          <p:cNvSpPr>
            <a:spLocks noGrp="1"/>
          </p:cNvSpPr>
          <p:nvPr>
            <p:ph idx="1"/>
          </p:nvPr>
        </p:nvSpPr>
        <p:spPr>
          <a:xfrm>
            <a:off x="856488" y="2023961"/>
            <a:ext cx="6885431" cy="4547435"/>
          </a:xfrm>
        </p:spPr>
        <p:txBody>
          <a:bodyPr>
            <a:normAutofit/>
          </a:bodyPr>
          <a:lstStyle/>
          <a:p>
            <a:r>
              <a:rPr lang="en-IE" sz="1800" dirty="0" err="1"/>
              <a:t>MBTi</a:t>
            </a:r>
            <a:r>
              <a:rPr lang="en-IE" sz="1800" dirty="0"/>
              <a:t> has been used in a variety of organisational settings.</a:t>
            </a:r>
          </a:p>
          <a:p>
            <a:r>
              <a:rPr lang="en-IE" sz="1800" dirty="0"/>
              <a:t>Taken by 2.5 million people per year and 89 of Fortune 100 companies use it. </a:t>
            </a:r>
          </a:p>
          <a:p>
            <a:r>
              <a:rPr lang="en-IE" sz="1800" dirty="0"/>
              <a:t>Evidence is mixed on validity as measure of personality – but MOST are against it. </a:t>
            </a:r>
          </a:p>
          <a:p>
            <a:r>
              <a:rPr lang="en-IE" sz="1800" dirty="0"/>
              <a:t>“Next time, just look at the horoscope. It is just as valid and takes less time” (</a:t>
            </a:r>
            <a:r>
              <a:rPr lang="en-IE" sz="1800" dirty="0" err="1"/>
              <a:t>Ariely</a:t>
            </a:r>
            <a:r>
              <a:rPr lang="en-IE" sz="1800" dirty="0"/>
              <a:t>, 2014, p.12)</a:t>
            </a:r>
          </a:p>
          <a:p>
            <a:r>
              <a:rPr lang="en-IE" sz="1800" dirty="0"/>
              <a:t>ONE Main problems – forces a person into one type or another – what happens if you’re ambivert (both/neither E or I) - Binary, and overly positive  </a:t>
            </a:r>
          </a:p>
          <a:p>
            <a:r>
              <a:rPr lang="en-IE" sz="1800" dirty="0"/>
              <a:t>Difficulty of interpretation </a:t>
            </a:r>
          </a:p>
        </p:txBody>
      </p:sp>
      <p:sp>
        <p:nvSpPr>
          <p:cNvPr id="10" name="Rectangle 9">
            <a:extLst>
              <a:ext uri="{FF2B5EF4-FFF2-40B4-BE49-F238E27FC236}">
                <a16:creationId xmlns:a16="http://schemas.microsoft.com/office/drawing/2014/main" id="{717A211C-5863-4303-AC3D-AEBFDF6D6A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44150"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087519CD-2FFF-42E3-BB0C-FEAA828BA5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32823"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2392456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ECF0FC6-D57B-48B6-9036-F4FFD91A4B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90932" y="286603"/>
            <a:ext cx="6750987" cy="1450757"/>
          </a:xfrm>
        </p:spPr>
        <p:txBody>
          <a:bodyPr>
            <a:normAutofit/>
          </a:bodyPr>
          <a:lstStyle/>
          <a:p>
            <a:r>
              <a:rPr lang="en-IE">
                <a:solidFill>
                  <a:schemeClr val="accent2"/>
                </a:solidFill>
              </a:rPr>
              <a:t>Criticism of MBTI </a:t>
            </a:r>
          </a:p>
        </p:txBody>
      </p:sp>
      <p:sp>
        <p:nvSpPr>
          <p:cNvPr id="3" name="Content Placeholder 2"/>
          <p:cNvSpPr>
            <a:spLocks noGrp="1"/>
          </p:cNvSpPr>
          <p:nvPr>
            <p:ph idx="1"/>
          </p:nvPr>
        </p:nvSpPr>
        <p:spPr>
          <a:xfrm>
            <a:off x="856488" y="2023961"/>
            <a:ext cx="6885431" cy="4547435"/>
          </a:xfrm>
        </p:spPr>
        <p:txBody>
          <a:bodyPr>
            <a:normAutofit/>
          </a:bodyPr>
          <a:lstStyle/>
          <a:p>
            <a:r>
              <a:rPr lang="en-IE" sz="1800" dirty="0"/>
              <a:t>MBTI has been found to be unrelated to job performance!!</a:t>
            </a:r>
          </a:p>
          <a:p>
            <a:r>
              <a:rPr lang="en-IE" sz="1800" dirty="0"/>
              <a:t>Useful for self-awareness and career guidance, but as it tends to be unrelated to job performance, managers consider using the BIG 5 as personality selection test for job candidates</a:t>
            </a:r>
          </a:p>
          <a:p>
            <a:r>
              <a:rPr lang="en-IE" sz="1800" dirty="0"/>
              <a:t>Unlike BIG 5 (Next), MBTI/ Jungian types are based on theory, no empirical findings, no evidence. </a:t>
            </a:r>
          </a:p>
          <a:p>
            <a:r>
              <a:rPr lang="en-IE" sz="1800" dirty="0"/>
              <a:t>Distinction between using personality tests for (a) description or (b) prediction. </a:t>
            </a:r>
          </a:p>
          <a:p>
            <a:r>
              <a:rPr lang="en-IE" sz="1800" dirty="0"/>
              <a:t>Summary: MBTI describes, raises self-awareness, helps development, aligns with big 5, but mixed to little evidence it links to performance </a:t>
            </a:r>
          </a:p>
        </p:txBody>
      </p:sp>
      <p:sp>
        <p:nvSpPr>
          <p:cNvPr id="10" name="Rectangle 9">
            <a:extLst>
              <a:ext uri="{FF2B5EF4-FFF2-40B4-BE49-F238E27FC236}">
                <a16:creationId xmlns:a16="http://schemas.microsoft.com/office/drawing/2014/main" id="{717A211C-5863-4303-AC3D-AEBFDF6D6A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44150"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087519CD-2FFF-42E3-BB0C-FEAA828BA5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32823"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6922687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5B277-B344-4DBF-AF7B-954930DE6B34}"/>
              </a:ext>
            </a:extLst>
          </p:cNvPr>
          <p:cNvSpPr>
            <a:spLocks noGrp="1"/>
          </p:cNvSpPr>
          <p:nvPr>
            <p:ph type="title"/>
          </p:nvPr>
        </p:nvSpPr>
        <p:spPr>
          <a:xfrm>
            <a:off x="1097280" y="286603"/>
            <a:ext cx="10058400" cy="1450757"/>
          </a:xfrm>
        </p:spPr>
        <p:txBody>
          <a:bodyPr>
            <a:normAutofit/>
          </a:bodyPr>
          <a:lstStyle/>
          <a:p>
            <a:r>
              <a:rPr lang="en-GB" dirty="0"/>
              <a:t>MBTI and Leadership </a:t>
            </a:r>
          </a:p>
        </p:txBody>
      </p:sp>
      <p:sp>
        <p:nvSpPr>
          <p:cNvPr id="3" name="Content Placeholder 2">
            <a:extLst>
              <a:ext uri="{FF2B5EF4-FFF2-40B4-BE49-F238E27FC236}">
                <a16:creationId xmlns:a16="http://schemas.microsoft.com/office/drawing/2014/main" id="{E68E3303-1018-4EEF-A7D2-F6316E6D8C84}"/>
              </a:ext>
            </a:extLst>
          </p:cNvPr>
          <p:cNvSpPr>
            <a:spLocks noGrp="1"/>
          </p:cNvSpPr>
          <p:nvPr>
            <p:ph idx="1"/>
          </p:nvPr>
        </p:nvSpPr>
        <p:spPr>
          <a:xfrm>
            <a:off x="1097279" y="1845734"/>
            <a:ext cx="6454987" cy="4023360"/>
          </a:xfrm>
        </p:spPr>
        <p:txBody>
          <a:bodyPr>
            <a:normAutofit/>
          </a:bodyPr>
          <a:lstStyle/>
          <a:p>
            <a:r>
              <a:rPr lang="en-GB" dirty="0"/>
              <a:t>Despite criticism – widely used for Leadership development purposes e.g., career development, self-awareness, leadership academies etc. </a:t>
            </a:r>
          </a:p>
          <a:p>
            <a:r>
              <a:rPr lang="en-GB" dirty="0"/>
              <a:t>E.g., </a:t>
            </a:r>
            <a:r>
              <a:rPr lang="en-GB" dirty="0" err="1"/>
              <a:t>Jetblue</a:t>
            </a:r>
            <a:r>
              <a:rPr lang="en-GB" dirty="0"/>
              <a:t> </a:t>
            </a:r>
          </a:p>
          <a:p>
            <a:r>
              <a:rPr lang="en-GB" dirty="0"/>
              <a:t>Wide range of studies and research examining MBTI and Leadership. </a:t>
            </a:r>
          </a:p>
          <a:p>
            <a:endParaRPr lang="en-GB" dirty="0"/>
          </a:p>
          <a:p>
            <a:r>
              <a:rPr lang="en-GB" dirty="0"/>
              <a:t>No strong evidence for particular ideal MBTI for leadership effectiveness</a:t>
            </a:r>
          </a:p>
          <a:p>
            <a:r>
              <a:rPr lang="en-GB" dirty="0"/>
              <a:t> – depends on followers, situations etc. so best a reflective tool for self-development</a:t>
            </a:r>
          </a:p>
          <a:p>
            <a:endParaRPr lang="en-GB" dirty="0"/>
          </a:p>
          <a:p>
            <a:endParaRPr lang="en-GB" dirty="0"/>
          </a:p>
          <a:p>
            <a:endParaRPr lang="en-GB" dirty="0"/>
          </a:p>
          <a:p>
            <a:endParaRPr lang="en-GB" dirty="0"/>
          </a:p>
          <a:p>
            <a:endParaRPr lang="en-GB" dirty="0"/>
          </a:p>
        </p:txBody>
      </p:sp>
      <p:pic>
        <p:nvPicPr>
          <p:cNvPr id="7" name="Graphic 6" descr="Lecturer">
            <a:extLst>
              <a:ext uri="{FF2B5EF4-FFF2-40B4-BE49-F238E27FC236}">
                <a16:creationId xmlns:a16="http://schemas.microsoft.com/office/drawing/2014/main" id="{BA436FF9-D336-303F-1061-958A940DAE7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20570" y="2084269"/>
            <a:ext cx="3135109" cy="3135109"/>
          </a:xfrm>
          <a:prstGeom prst="rect">
            <a:avLst/>
          </a:prstGeom>
        </p:spPr>
      </p:pic>
    </p:spTree>
    <p:extLst>
      <p:ext uri="{BB962C8B-B14F-4D97-AF65-F5344CB8AC3E}">
        <p14:creationId xmlns:p14="http://schemas.microsoft.com/office/powerpoint/2010/main" val="28924795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DDE54-758D-4297-84AD-E04454E79658}"/>
              </a:ext>
            </a:extLst>
          </p:cNvPr>
          <p:cNvSpPr>
            <a:spLocks noGrp="1"/>
          </p:cNvSpPr>
          <p:nvPr>
            <p:ph type="title"/>
          </p:nvPr>
        </p:nvSpPr>
        <p:spPr/>
        <p:txBody>
          <a:bodyPr/>
          <a:lstStyle/>
          <a:p>
            <a:pPr algn="ctr"/>
            <a:r>
              <a:rPr lang="en-GB" dirty="0"/>
              <a:t>MBTI and Big 5 </a:t>
            </a:r>
          </a:p>
        </p:txBody>
      </p:sp>
      <p:sp>
        <p:nvSpPr>
          <p:cNvPr id="3" name="Content Placeholder 2">
            <a:extLst>
              <a:ext uri="{FF2B5EF4-FFF2-40B4-BE49-F238E27FC236}">
                <a16:creationId xmlns:a16="http://schemas.microsoft.com/office/drawing/2014/main" id="{3909C1D9-1128-4D03-9F89-CB2F81AB1375}"/>
              </a:ext>
            </a:extLst>
          </p:cNvPr>
          <p:cNvSpPr>
            <a:spLocks noGrp="1"/>
          </p:cNvSpPr>
          <p:nvPr>
            <p:ph idx="1"/>
          </p:nvPr>
        </p:nvSpPr>
        <p:spPr/>
        <p:txBody>
          <a:bodyPr/>
          <a:lstStyle/>
          <a:p>
            <a:pPr marL="0" indent="0">
              <a:buNone/>
            </a:pPr>
            <a:r>
              <a:rPr lang="en-GB" dirty="0"/>
              <a:t>McCrae and Costa (1989) found that the MBTI scales are closely related to the five-factor model.</a:t>
            </a:r>
          </a:p>
          <a:p>
            <a:pPr marL="0" indent="0">
              <a:buNone/>
            </a:pPr>
            <a:r>
              <a:rPr lang="en-GB" dirty="0"/>
              <a:t>They found that Extraversion on the</a:t>
            </a:r>
          </a:p>
          <a:p>
            <a:pPr marL="0" indent="0">
              <a:buNone/>
            </a:pPr>
            <a:r>
              <a:rPr lang="en-GB" dirty="0"/>
              <a:t>MBTI was correlated with the Extraversion factor, Intuition was related to Openness to</a:t>
            </a:r>
          </a:p>
          <a:p>
            <a:pPr marL="0" indent="0">
              <a:buNone/>
            </a:pPr>
            <a:r>
              <a:rPr lang="en-GB" dirty="0"/>
              <a:t>Experience, Feeling was correlated with Agreeableness, and Judging was related to </a:t>
            </a:r>
          </a:p>
          <a:p>
            <a:pPr marL="0" indent="0">
              <a:buNone/>
            </a:pPr>
            <a:r>
              <a:rPr lang="en-GB" dirty="0"/>
              <a:t>Conscientiousness.  </a:t>
            </a:r>
          </a:p>
          <a:p>
            <a:pPr marL="0" indent="0">
              <a:buNone/>
            </a:pPr>
            <a:r>
              <a:rPr lang="en-GB" dirty="0"/>
              <a:t>McCrae and Costa, however, found no relationship between the MBTI scales and Neuroticism.</a:t>
            </a:r>
          </a:p>
          <a:p>
            <a:pPr marL="0" indent="0" algn="ctr">
              <a:buNone/>
            </a:pPr>
            <a:endParaRPr lang="en-GB" b="1" dirty="0">
              <a:solidFill>
                <a:srgbClr val="FF0000"/>
              </a:solidFill>
            </a:endParaRPr>
          </a:p>
          <a:p>
            <a:pPr marL="0" indent="0" algn="ctr">
              <a:buNone/>
            </a:pPr>
            <a:r>
              <a:rPr lang="en-GB" b="1" dirty="0">
                <a:solidFill>
                  <a:srgbClr val="FF0000"/>
                </a:solidFill>
              </a:rPr>
              <a:t>BUT Big 5 is empirical prove, MBTI is theoretical. </a:t>
            </a:r>
          </a:p>
          <a:p>
            <a:pPr marL="0" indent="0">
              <a:buNone/>
            </a:pPr>
            <a:endParaRPr lang="en-GB" dirty="0"/>
          </a:p>
          <a:p>
            <a:endParaRPr lang="en-GB" dirty="0"/>
          </a:p>
          <a:p>
            <a:endParaRPr lang="en-GB" dirty="0"/>
          </a:p>
        </p:txBody>
      </p:sp>
    </p:spTree>
    <p:extLst>
      <p:ext uri="{BB962C8B-B14F-4D97-AF65-F5344CB8AC3E}">
        <p14:creationId xmlns:p14="http://schemas.microsoft.com/office/powerpoint/2010/main" val="1357905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Big FIVE Personality Model</a:t>
            </a:r>
          </a:p>
        </p:txBody>
      </p:sp>
      <p:sp>
        <p:nvSpPr>
          <p:cNvPr id="4" name="Text Placeholder 3"/>
          <p:cNvSpPr>
            <a:spLocks noGrp="1"/>
          </p:cNvSpPr>
          <p:nvPr>
            <p:ph type="body" sz="half" idx="2"/>
          </p:nvPr>
        </p:nvSpPr>
        <p:spPr/>
        <p:txBody>
          <a:bodyPr/>
          <a:lstStyle/>
          <a:p>
            <a:endParaRPr lang="en-IE"/>
          </a:p>
        </p:txBody>
      </p:sp>
      <p:pic>
        <p:nvPicPr>
          <p:cNvPr id="6146" name="Picture 2" descr="Image result for big five personalit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6401" y="53688"/>
            <a:ext cx="4979645" cy="514563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Image result for tu dublin logo">
            <a:extLst>
              <a:ext uri="{FF2B5EF4-FFF2-40B4-BE49-F238E27FC236}">
                <a16:creationId xmlns:a16="http://schemas.microsoft.com/office/drawing/2014/main" id="{D2273DBE-6F4E-475B-AE68-6526B10E01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96425" y="0"/>
            <a:ext cx="2695575" cy="1695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53038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p:cNvSpPr>
            <a:spLocks noGrp="1" noChangeArrowheads="1"/>
          </p:cNvSpPr>
          <p:nvPr>
            <p:ph type="title"/>
          </p:nvPr>
        </p:nvSpPr>
        <p:spPr/>
        <p:txBody>
          <a:bodyPr>
            <a:normAutofit/>
          </a:bodyPr>
          <a:lstStyle/>
          <a:p>
            <a:pPr marL="320040" indent="-320040">
              <a:buClr>
                <a:schemeClr val="accent6">
                  <a:lumMod val="75000"/>
                </a:schemeClr>
              </a:buClr>
              <a:defRPr/>
            </a:pPr>
            <a:r>
              <a:rPr lang="en-US"/>
              <a:t>BIG 5 PERSONALITY FACTORS/ TRAIT CLUSTERS</a:t>
            </a:r>
          </a:p>
        </p:txBody>
      </p:sp>
      <p:sp>
        <p:nvSpPr>
          <p:cNvPr id="53251" name="Rectangle 3"/>
          <p:cNvSpPr>
            <a:spLocks noGrp="1" noChangeArrowheads="1"/>
          </p:cNvSpPr>
          <p:nvPr>
            <p:ph idx="1"/>
          </p:nvPr>
        </p:nvSpPr>
        <p:spPr/>
        <p:txBody>
          <a:bodyPr/>
          <a:lstStyle/>
          <a:p>
            <a:pPr eaLnBrk="1" hangingPunct="1"/>
            <a:r>
              <a:rPr lang="en-US" dirty="0"/>
              <a:t>Eysenck – Two Factor – Stability vs. E/I </a:t>
            </a:r>
          </a:p>
          <a:p>
            <a:pPr eaLnBrk="1" hangingPunct="1"/>
            <a:endParaRPr lang="en-US" dirty="0"/>
          </a:p>
          <a:p>
            <a:pPr eaLnBrk="1" hangingPunct="1"/>
            <a:r>
              <a:rPr lang="en-US" dirty="0"/>
              <a:t>Search for trait clusters has culminated in what are known as big 5 personality clusters</a:t>
            </a:r>
          </a:p>
          <a:p>
            <a:pPr eaLnBrk="1" hangingPunct="1"/>
            <a:endParaRPr lang="en-US" dirty="0"/>
          </a:p>
          <a:p>
            <a:pPr eaLnBrk="1" hangingPunct="1"/>
            <a:r>
              <a:rPr lang="en-US" dirty="0"/>
              <a:t>Not personality types</a:t>
            </a:r>
          </a:p>
          <a:p>
            <a:pPr eaLnBrk="1" hangingPunct="1"/>
            <a:endParaRPr lang="en-US" dirty="0"/>
          </a:p>
          <a:p>
            <a:pPr eaLnBrk="1" hangingPunct="1"/>
            <a:r>
              <a:rPr lang="en-US" dirty="0"/>
              <a:t>Set of factors or super traits</a:t>
            </a:r>
          </a:p>
          <a:p>
            <a:pPr eaLnBrk="1" hangingPunct="1"/>
            <a:endParaRPr lang="en-US" dirty="0"/>
          </a:p>
          <a:p>
            <a:pPr eaLnBrk="1" hangingPunct="1"/>
            <a:r>
              <a:rPr lang="en-US" dirty="0"/>
              <a:t>Each is made of Facets! </a:t>
            </a:r>
          </a:p>
        </p:txBody>
      </p:sp>
    </p:spTree>
    <p:extLst>
      <p:ext uri="{BB962C8B-B14F-4D97-AF65-F5344CB8AC3E}">
        <p14:creationId xmlns:p14="http://schemas.microsoft.com/office/powerpoint/2010/main" val="9485154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D9A8B-3E29-4459-8D60-4AD714A69BE4}"/>
              </a:ext>
            </a:extLst>
          </p:cNvPr>
          <p:cNvSpPr>
            <a:spLocks noGrp="1"/>
          </p:cNvSpPr>
          <p:nvPr>
            <p:ph type="title"/>
          </p:nvPr>
        </p:nvSpPr>
        <p:spPr>
          <a:xfrm>
            <a:off x="4998721" y="263527"/>
            <a:ext cx="6368142" cy="1450757"/>
          </a:xfrm>
        </p:spPr>
        <p:txBody>
          <a:bodyPr>
            <a:normAutofit/>
          </a:bodyPr>
          <a:lstStyle/>
          <a:p>
            <a:pPr>
              <a:defRPr/>
            </a:pPr>
            <a:r>
              <a:rPr lang="en-IE" dirty="0"/>
              <a:t>The Big 5 (OCEAN)</a:t>
            </a:r>
            <a:br>
              <a:rPr lang="en-IE" dirty="0"/>
            </a:br>
            <a:r>
              <a:rPr lang="en-IE" dirty="0"/>
              <a:t>(Costa &amp; McCrae, 1990)</a:t>
            </a:r>
          </a:p>
        </p:txBody>
      </p:sp>
      <p:pic>
        <p:nvPicPr>
          <p:cNvPr id="5" name="Picture 4" descr="Dark seashore">
            <a:extLst>
              <a:ext uri="{FF2B5EF4-FFF2-40B4-BE49-F238E27FC236}">
                <a16:creationId xmlns:a16="http://schemas.microsoft.com/office/drawing/2014/main" id="{D73EAAA3-70F7-6F98-F52E-10620EA0D485}"/>
              </a:ext>
            </a:extLst>
          </p:cNvPr>
          <p:cNvPicPr>
            <a:picLocks noChangeAspect="1"/>
          </p:cNvPicPr>
          <p:nvPr/>
        </p:nvPicPr>
        <p:blipFill rotWithShape="1">
          <a:blip r:embed="rId2"/>
          <a:srcRect l="24136" r="30814" b="2"/>
          <a:stretch/>
        </p:blipFill>
        <p:spPr>
          <a:xfrm>
            <a:off x="20" y="-12128"/>
            <a:ext cx="4654276" cy="6870127"/>
          </a:xfrm>
          <a:prstGeom prst="rect">
            <a:avLst/>
          </a:prstGeom>
        </p:spPr>
      </p:pic>
      <p:sp>
        <p:nvSpPr>
          <p:cNvPr id="3" name="Content Placeholder 2">
            <a:extLst>
              <a:ext uri="{FF2B5EF4-FFF2-40B4-BE49-F238E27FC236}">
                <a16:creationId xmlns:a16="http://schemas.microsoft.com/office/drawing/2014/main" id="{645ED64B-98A9-431B-B084-2574C68C32E1}"/>
              </a:ext>
            </a:extLst>
          </p:cNvPr>
          <p:cNvSpPr>
            <a:spLocks noGrp="1"/>
          </p:cNvSpPr>
          <p:nvPr>
            <p:ph idx="1"/>
          </p:nvPr>
        </p:nvSpPr>
        <p:spPr>
          <a:xfrm>
            <a:off x="5181601" y="2198914"/>
            <a:ext cx="6368142" cy="3670180"/>
          </a:xfrm>
        </p:spPr>
        <p:txBody>
          <a:bodyPr rtlCol="0">
            <a:normAutofit/>
          </a:bodyPr>
          <a:lstStyle/>
          <a:p>
            <a:pPr marL="438912" indent="-320040">
              <a:spcBef>
                <a:spcPts val="0"/>
              </a:spcBef>
              <a:spcAft>
                <a:spcPts val="600"/>
              </a:spcAft>
              <a:buFont typeface="Wingdings 2"/>
              <a:buChar char=""/>
              <a:defRPr/>
            </a:pPr>
            <a:r>
              <a:rPr lang="en-IE" sz="1900" dirty="0"/>
              <a:t>Extraversion – How ‘energetic’ one is</a:t>
            </a:r>
          </a:p>
          <a:p>
            <a:pPr marL="438912" indent="-320040">
              <a:spcBef>
                <a:spcPts val="0"/>
              </a:spcBef>
              <a:spcAft>
                <a:spcPts val="600"/>
              </a:spcAft>
              <a:buFont typeface="Wingdings 2"/>
              <a:buChar char=""/>
              <a:defRPr/>
            </a:pPr>
            <a:endParaRPr lang="en-IE" sz="1900" dirty="0"/>
          </a:p>
          <a:p>
            <a:pPr marL="438912" indent="-320040">
              <a:spcBef>
                <a:spcPts val="0"/>
              </a:spcBef>
              <a:spcAft>
                <a:spcPts val="600"/>
              </a:spcAft>
              <a:buFont typeface="Wingdings 2"/>
              <a:buChar char=""/>
              <a:defRPr/>
            </a:pPr>
            <a:r>
              <a:rPr lang="en-IE" sz="1900" dirty="0"/>
              <a:t>Agreeableness – One’s level of orientation towards other people</a:t>
            </a:r>
          </a:p>
          <a:p>
            <a:pPr marL="438912" indent="-320040">
              <a:spcBef>
                <a:spcPts val="0"/>
              </a:spcBef>
              <a:spcAft>
                <a:spcPts val="600"/>
              </a:spcAft>
              <a:buFont typeface="Wingdings 2"/>
              <a:buChar char=""/>
              <a:defRPr/>
            </a:pPr>
            <a:endParaRPr lang="en-IE" sz="1900" dirty="0"/>
          </a:p>
          <a:p>
            <a:pPr marL="438912" indent="-320040">
              <a:spcBef>
                <a:spcPts val="0"/>
              </a:spcBef>
              <a:spcAft>
                <a:spcPts val="600"/>
              </a:spcAft>
              <a:buFont typeface="Wingdings 2"/>
              <a:buChar char=""/>
              <a:defRPr/>
            </a:pPr>
            <a:r>
              <a:rPr lang="en-IE" sz="1900" dirty="0"/>
              <a:t>Conscientiousness – How ‘structured’ one is</a:t>
            </a:r>
          </a:p>
          <a:p>
            <a:pPr marL="438912" indent="-320040">
              <a:spcBef>
                <a:spcPts val="0"/>
              </a:spcBef>
              <a:spcAft>
                <a:spcPts val="600"/>
              </a:spcAft>
              <a:buFont typeface="Wingdings 2"/>
              <a:buChar char=""/>
              <a:defRPr/>
            </a:pPr>
            <a:endParaRPr lang="en-IE" sz="1900" dirty="0"/>
          </a:p>
          <a:p>
            <a:pPr marL="438912" indent="-320040">
              <a:spcBef>
                <a:spcPts val="0"/>
              </a:spcBef>
              <a:spcAft>
                <a:spcPts val="600"/>
              </a:spcAft>
              <a:buFont typeface="Wingdings 2"/>
              <a:buChar char=""/>
              <a:defRPr/>
            </a:pPr>
            <a:r>
              <a:rPr lang="en-IE" sz="1900" dirty="0"/>
              <a:t>Neuroticism – Tendency to Worry</a:t>
            </a:r>
          </a:p>
          <a:p>
            <a:pPr marL="438912" indent="-320040">
              <a:spcBef>
                <a:spcPts val="0"/>
              </a:spcBef>
              <a:spcAft>
                <a:spcPts val="600"/>
              </a:spcAft>
              <a:buFont typeface="Wingdings 2"/>
              <a:buChar char=""/>
              <a:defRPr/>
            </a:pPr>
            <a:endParaRPr lang="en-IE" sz="1900" dirty="0"/>
          </a:p>
          <a:p>
            <a:pPr marL="438912" indent="-320040">
              <a:spcBef>
                <a:spcPts val="0"/>
              </a:spcBef>
              <a:spcAft>
                <a:spcPts val="600"/>
              </a:spcAft>
              <a:buFont typeface="Wingdings 2"/>
              <a:buChar char=""/>
              <a:defRPr/>
            </a:pPr>
            <a:r>
              <a:rPr lang="en-IE" sz="1900" dirty="0"/>
              <a:t>Openness to Experience – Tendency to be speculative and Imaginative</a:t>
            </a:r>
          </a:p>
        </p:txBody>
      </p:sp>
    </p:spTree>
    <p:extLst>
      <p:ext uri="{BB962C8B-B14F-4D97-AF65-F5344CB8AC3E}">
        <p14:creationId xmlns:p14="http://schemas.microsoft.com/office/powerpoint/2010/main" val="21704240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1981200" y="277814"/>
            <a:ext cx="8305800" cy="788987"/>
          </a:xfrm>
        </p:spPr>
        <p:txBody>
          <a:bodyPr>
            <a:normAutofit/>
          </a:bodyPr>
          <a:lstStyle/>
          <a:p>
            <a:pPr marL="320040" indent="-320040" algn="ctr">
              <a:buClr>
                <a:schemeClr val="accent6">
                  <a:lumMod val="75000"/>
                </a:schemeClr>
              </a:buClr>
              <a:defRPr/>
            </a:pPr>
            <a:r>
              <a:rPr lang="en-GB" sz="3900">
                <a:effectLst>
                  <a:outerShdw blurRad="38100" dist="38100" dir="2700000" algn="tl">
                    <a:srgbClr val="C0C0C0"/>
                  </a:outerShdw>
                </a:effectLst>
              </a:rPr>
              <a:t>The “Big Five” </a:t>
            </a:r>
            <a:r>
              <a:rPr lang="de-DE" sz="3900">
                <a:effectLst>
                  <a:outerShdw blurRad="38100" dist="38100" dir="2700000" algn="tl">
                    <a:srgbClr val="C0C0C0"/>
                  </a:outerShdw>
                </a:effectLst>
              </a:rPr>
              <a:t>–</a:t>
            </a:r>
            <a:r>
              <a:rPr lang="en-GB" sz="3900">
                <a:effectLst>
                  <a:outerShdw blurRad="38100" dist="38100" dir="2700000" algn="tl">
                    <a:srgbClr val="C0C0C0"/>
                  </a:outerShdw>
                </a:effectLst>
              </a:rPr>
              <a:t> Costa &amp; McCrae</a:t>
            </a:r>
            <a:endParaRPr lang="en-IE" sz="3900"/>
          </a:p>
        </p:txBody>
      </p:sp>
      <p:sp>
        <p:nvSpPr>
          <p:cNvPr id="54275" name="Rectangle 3"/>
          <p:cNvSpPr>
            <a:spLocks noGrp="1" noChangeArrowheads="1"/>
          </p:cNvSpPr>
          <p:nvPr>
            <p:ph idx="1"/>
          </p:nvPr>
        </p:nvSpPr>
        <p:spPr>
          <a:xfrm>
            <a:off x="1981200" y="1295401"/>
            <a:ext cx="8686800" cy="4835525"/>
          </a:xfrm>
        </p:spPr>
        <p:txBody>
          <a:bodyPr/>
          <a:lstStyle/>
          <a:p>
            <a:pPr marL="342900" indent="-342900">
              <a:buNone/>
            </a:pPr>
            <a:r>
              <a:rPr lang="en-GB">
                <a:latin typeface="Century Gothic" pitchFamily="34" charset="0"/>
              </a:rPr>
              <a:t>Five Dimensions of Personality</a:t>
            </a:r>
          </a:p>
        </p:txBody>
      </p:sp>
      <p:graphicFrame>
        <p:nvGraphicFramePr>
          <p:cNvPr id="7" name="Tabelle 6"/>
          <p:cNvGraphicFramePr>
            <a:graphicFrameLocks noGrp="1"/>
          </p:cNvGraphicFramePr>
          <p:nvPr/>
        </p:nvGraphicFramePr>
        <p:xfrm>
          <a:off x="2209800" y="1828800"/>
          <a:ext cx="7848600" cy="4398964"/>
        </p:xfrm>
        <a:graphic>
          <a:graphicData uri="http://schemas.openxmlformats.org/drawingml/2006/table">
            <a:tbl>
              <a:tblPr/>
              <a:tblGrid>
                <a:gridCol w="25146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tblGrid>
              <a:tr h="398394">
                <a:tc>
                  <a:txBody>
                    <a:bodyPr/>
                    <a:lstStyle/>
                    <a:p>
                      <a:pPr marL="0" marR="0" lvl="0" indent="0" algn="l" defTabSz="457200" rtl="0" eaLnBrk="1" fontAlgn="base" latinLnBrk="0" hangingPunct="1">
                        <a:lnSpc>
                          <a:spcPct val="100000"/>
                        </a:lnSpc>
                        <a:spcBef>
                          <a:spcPct val="0"/>
                        </a:spcBef>
                        <a:spcAft>
                          <a:spcPct val="0"/>
                        </a:spcAft>
                        <a:buClrTx/>
                        <a:buSzPct val="70000"/>
                        <a:buFontTx/>
                        <a:buNone/>
                        <a:tabLst/>
                      </a:pPr>
                      <a:r>
                        <a:rPr kumimoji="0" lang="de-DE" sz="1600" b="1" i="0" u="none" strike="noStrike" cap="none" normalizeH="0" baseline="0">
                          <a:ln>
                            <a:noFill/>
                          </a:ln>
                          <a:solidFill>
                            <a:srgbClr val="FFFFFF"/>
                          </a:solidFill>
                          <a:effectLst/>
                          <a:latin typeface="Century Schoolbook" pitchFamily="18" charset="0"/>
                          <a:ea typeface="ＭＳ Ｐゴシック" pitchFamily="34" charset="-128"/>
                        </a:rPr>
                        <a:t>FACTOR</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457200" rtl="0" eaLnBrk="1" fontAlgn="base" latinLnBrk="0" hangingPunct="1">
                        <a:lnSpc>
                          <a:spcPct val="100000"/>
                        </a:lnSpc>
                        <a:spcBef>
                          <a:spcPct val="0"/>
                        </a:spcBef>
                        <a:spcAft>
                          <a:spcPct val="0"/>
                        </a:spcAft>
                        <a:buClrTx/>
                        <a:buSzPct val="70000"/>
                        <a:buFontTx/>
                        <a:buNone/>
                        <a:tabLst/>
                      </a:pPr>
                      <a:r>
                        <a:rPr kumimoji="0" lang="de-DE" sz="1600" b="1" i="0" u="none" strike="noStrike" cap="none" normalizeH="0" baseline="0">
                          <a:ln>
                            <a:noFill/>
                          </a:ln>
                          <a:solidFill>
                            <a:srgbClr val="FFFFFF"/>
                          </a:solidFill>
                          <a:effectLst/>
                          <a:latin typeface="Century Schoolbook" pitchFamily="18" charset="0"/>
                          <a:ea typeface="ＭＳ Ｐゴシック" pitchFamily="34" charset="-128"/>
                        </a:rPr>
                        <a:t>CHARACTERSTICS</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822944">
                <a:tc>
                  <a:txBody>
                    <a:bodyPr/>
                    <a:lstStyle/>
                    <a:p>
                      <a:pPr marL="0" marR="0" lvl="0" indent="0" algn="l" defTabSz="457200" rtl="0" eaLnBrk="1" fontAlgn="base" latinLnBrk="0" hangingPunct="1">
                        <a:lnSpc>
                          <a:spcPct val="100000"/>
                        </a:lnSpc>
                        <a:spcBef>
                          <a:spcPct val="0"/>
                        </a:spcBef>
                        <a:spcAft>
                          <a:spcPct val="0"/>
                        </a:spcAft>
                        <a:buClrTx/>
                        <a:buSzPct val="70000"/>
                        <a:buFontTx/>
                        <a:buNone/>
                        <a:tabLst/>
                      </a:pPr>
                      <a:r>
                        <a:rPr kumimoji="0" lang="de-DE" sz="1600" b="0" i="0" u="none" strike="noStrike" cap="none" normalizeH="0" baseline="0">
                          <a:ln>
                            <a:noFill/>
                          </a:ln>
                          <a:solidFill>
                            <a:srgbClr val="333333"/>
                          </a:solidFill>
                          <a:effectLst/>
                          <a:latin typeface="Century Schoolbook" pitchFamily="18" charset="0"/>
                          <a:ea typeface="ＭＳ Ｐゴシック" pitchFamily="34" charset="-128"/>
                        </a:rPr>
                        <a:t>Conscientiousness</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tc>
                  <a:txBody>
                    <a:bodyPr/>
                    <a:lstStyle/>
                    <a:p>
                      <a:pPr marL="0" marR="0" lvl="0" indent="0" algn="l" defTabSz="457200" rtl="0" eaLnBrk="1" fontAlgn="base" latinLnBrk="0" hangingPunct="1">
                        <a:lnSpc>
                          <a:spcPct val="100000"/>
                        </a:lnSpc>
                        <a:spcBef>
                          <a:spcPct val="0"/>
                        </a:spcBef>
                        <a:spcAft>
                          <a:spcPct val="0"/>
                        </a:spcAft>
                        <a:buClrTx/>
                        <a:buSzPct val="70000"/>
                        <a:buFontTx/>
                        <a:buNone/>
                        <a:tabLst/>
                      </a:pPr>
                      <a:r>
                        <a:rPr kumimoji="0" lang="de-DE" sz="1600" b="0" i="0" u="none" strike="noStrike" cap="none" normalizeH="0" baseline="0">
                          <a:ln>
                            <a:noFill/>
                          </a:ln>
                          <a:solidFill>
                            <a:srgbClr val="333333"/>
                          </a:solidFill>
                          <a:effectLst/>
                          <a:latin typeface="Century Schoolbook" pitchFamily="18" charset="0"/>
                          <a:ea typeface="ＭＳ Ｐゴシック" pitchFamily="34" charset="-128"/>
                        </a:rPr>
                        <a:t>Responsible, prudent, self-control, persistent, planful, achievement oriented</a:t>
                      </a:r>
                    </a:p>
                    <a:p>
                      <a:pPr marL="0" marR="0" lvl="0" indent="0" algn="l" defTabSz="457200" rtl="0" eaLnBrk="1" fontAlgn="base" latinLnBrk="0" hangingPunct="1">
                        <a:lnSpc>
                          <a:spcPct val="100000"/>
                        </a:lnSpc>
                        <a:spcBef>
                          <a:spcPct val="0"/>
                        </a:spcBef>
                        <a:spcAft>
                          <a:spcPct val="0"/>
                        </a:spcAft>
                        <a:buClrTx/>
                        <a:buSzPct val="70000"/>
                        <a:buFontTx/>
                        <a:buNone/>
                        <a:tabLst/>
                      </a:pPr>
                      <a:r>
                        <a:rPr kumimoji="0" lang="de-DE" sz="1600" b="0" i="0" u="none" strike="noStrike" cap="none" normalizeH="0" baseline="0">
                          <a:ln>
                            <a:noFill/>
                          </a:ln>
                          <a:solidFill>
                            <a:srgbClr val="FF0000"/>
                          </a:solidFill>
                          <a:effectLst/>
                          <a:latin typeface="Century Schoolbook" pitchFamily="18" charset="0"/>
                          <a:ea typeface="ＭＳ Ｐゴシック" pitchFamily="34" charset="-128"/>
                        </a:rPr>
                        <a:t>__I keep my room neat and clean (Item example).</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extLst>
                  <a:ext uri="{0D108BD9-81ED-4DB2-BD59-A6C34878D82A}">
                    <a16:rowId xmlns:a16="http://schemas.microsoft.com/office/drawing/2014/main" val="10001"/>
                  </a:ext>
                </a:extLst>
              </a:tr>
              <a:tr h="820595">
                <a:tc>
                  <a:txBody>
                    <a:bodyPr/>
                    <a:lstStyle/>
                    <a:p>
                      <a:pPr marL="0" marR="0" lvl="0" indent="0" algn="l" defTabSz="457200" rtl="0" eaLnBrk="1" fontAlgn="base" latinLnBrk="0" hangingPunct="1">
                        <a:lnSpc>
                          <a:spcPct val="100000"/>
                        </a:lnSpc>
                        <a:spcBef>
                          <a:spcPct val="0"/>
                        </a:spcBef>
                        <a:spcAft>
                          <a:spcPct val="0"/>
                        </a:spcAft>
                        <a:buClrTx/>
                        <a:buSzPct val="70000"/>
                        <a:buFontTx/>
                        <a:buNone/>
                        <a:tabLst/>
                      </a:pPr>
                      <a:r>
                        <a:rPr kumimoji="0" lang="de-DE" sz="1600" b="0" i="0" u="none" strike="noStrike" cap="none" normalizeH="0" baseline="0">
                          <a:ln>
                            <a:noFill/>
                          </a:ln>
                          <a:solidFill>
                            <a:srgbClr val="333333"/>
                          </a:solidFill>
                          <a:effectLst/>
                          <a:latin typeface="Century Schoolbook" pitchFamily="18" charset="0"/>
                          <a:ea typeface="ＭＳ Ｐゴシック" pitchFamily="34" charset="-128"/>
                        </a:rPr>
                        <a:t>Extraversion</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tc>
                  <a:txBody>
                    <a:bodyPr/>
                    <a:lstStyle/>
                    <a:p>
                      <a:pPr marL="0" marR="0" lvl="0" indent="0" algn="l" defTabSz="457200" rtl="0" eaLnBrk="1" fontAlgn="base" latinLnBrk="0" hangingPunct="1">
                        <a:lnSpc>
                          <a:spcPct val="100000"/>
                        </a:lnSpc>
                        <a:spcBef>
                          <a:spcPct val="0"/>
                        </a:spcBef>
                        <a:spcAft>
                          <a:spcPct val="0"/>
                        </a:spcAft>
                        <a:buClrTx/>
                        <a:buSzPct val="70000"/>
                        <a:buFontTx/>
                        <a:buNone/>
                        <a:tabLst/>
                      </a:pPr>
                      <a:r>
                        <a:rPr kumimoji="0" lang="de-DE" sz="1600" b="0" i="0" u="none" strike="noStrike" cap="none" normalizeH="0" baseline="0">
                          <a:ln>
                            <a:noFill/>
                          </a:ln>
                          <a:solidFill>
                            <a:srgbClr val="333333"/>
                          </a:solidFill>
                          <a:effectLst/>
                          <a:latin typeface="Century Schoolbook" pitchFamily="18" charset="0"/>
                          <a:ea typeface="ＭＳ Ｐゴシック" pitchFamily="34" charset="-128"/>
                        </a:rPr>
                        <a:t>Sociable, assertive, talkative, ambitious, energetic</a:t>
                      </a:r>
                    </a:p>
                    <a:p>
                      <a:pPr marL="0" marR="0" lvl="0" indent="0" algn="l" defTabSz="457200" rtl="0" eaLnBrk="1" fontAlgn="base" latinLnBrk="0" hangingPunct="1">
                        <a:lnSpc>
                          <a:spcPct val="100000"/>
                        </a:lnSpc>
                        <a:spcBef>
                          <a:spcPct val="0"/>
                        </a:spcBef>
                        <a:spcAft>
                          <a:spcPct val="0"/>
                        </a:spcAft>
                        <a:buClrTx/>
                        <a:buSzPct val="70000"/>
                        <a:buFontTx/>
                        <a:buNone/>
                        <a:tabLst/>
                      </a:pPr>
                      <a:r>
                        <a:rPr kumimoji="0" lang="de-DE" sz="1600" b="0" i="0" u="none" strike="noStrike" cap="none" normalizeH="0" baseline="0">
                          <a:ln>
                            <a:noFill/>
                          </a:ln>
                          <a:solidFill>
                            <a:srgbClr val="FF0000"/>
                          </a:solidFill>
                          <a:effectLst/>
                          <a:latin typeface="Century Schoolbook" pitchFamily="18" charset="0"/>
                          <a:ea typeface="ＭＳ Ｐゴシック" pitchFamily="34" charset="-128"/>
                        </a:rPr>
                        <a:t>__I like lots of excitement in my life.</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extLst>
                  <a:ext uri="{0D108BD9-81ED-4DB2-BD59-A6C34878D82A}">
                    <a16:rowId xmlns:a16="http://schemas.microsoft.com/office/drawing/2014/main" val="10002"/>
                  </a:ext>
                </a:extLst>
              </a:tr>
              <a:tr h="982493">
                <a:tc>
                  <a:txBody>
                    <a:bodyPr/>
                    <a:lstStyle/>
                    <a:p>
                      <a:pPr marL="0" marR="0" lvl="0" indent="0" algn="l" defTabSz="457200" rtl="0" eaLnBrk="1" fontAlgn="base" latinLnBrk="0" hangingPunct="1">
                        <a:lnSpc>
                          <a:spcPct val="100000"/>
                        </a:lnSpc>
                        <a:spcBef>
                          <a:spcPct val="0"/>
                        </a:spcBef>
                        <a:spcAft>
                          <a:spcPct val="0"/>
                        </a:spcAft>
                        <a:buClrTx/>
                        <a:buSzPct val="70000"/>
                        <a:buFontTx/>
                        <a:buNone/>
                        <a:tabLst/>
                      </a:pPr>
                      <a:r>
                        <a:rPr kumimoji="0" lang="de-DE" sz="1600" b="0" i="0" u="none" strike="noStrike" cap="none" normalizeH="0" baseline="0">
                          <a:ln>
                            <a:noFill/>
                          </a:ln>
                          <a:solidFill>
                            <a:srgbClr val="333333"/>
                          </a:solidFill>
                          <a:effectLst/>
                          <a:latin typeface="Century Schoolbook" pitchFamily="18" charset="0"/>
                          <a:ea typeface="ＭＳ Ｐゴシック" pitchFamily="34" charset="-128"/>
                        </a:rPr>
                        <a:t>Agreeableness</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tc>
                  <a:txBody>
                    <a:bodyPr/>
                    <a:lstStyle/>
                    <a:p>
                      <a:pPr marL="0" marR="0" lvl="0" indent="0" algn="l" defTabSz="457200" rtl="0" eaLnBrk="1" fontAlgn="base" latinLnBrk="0" hangingPunct="1">
                        <a:lnSpc>
                          <a:spcPct val="100000"/>
                        </a:lnSpc>
                        <a:spcBef>
                          <a:spcPct val="0"/>
                        </a:spcBef>
                        <a:spcAft>
                          <a:spcPct val="0"/>
                        </a:spcAft>
                        <a:buClrTx/>
                        <a:buSzPct val="70000"/>
                        <a:buFontTx/>
                        <a:buNone/>
                        <a:tabLst/>
                      </a:pPr>
                      <a:r>
                        <a:rPr kumimoji="0" lang="de-DE" sz="1600" b="0" i="0" u="none" strike="noStrike" cap="none" normalizeH="0" baseline="0">
                          <a:ln>
                            <a:noFill/>
                          </a:ln>
                          <a:solidFill>
                            <a:srgbClr val="333333"/>
                          </a:solidFill>
                          <a:effectLst/>
                          <a:latin typeface="Century Schoolbook" pitchFamily="18" charset="0"/>
                          <a:ea typeface="ＭＳ Ｐゴシック" pitchFamily="34" charset="-128"/>
                        </a:rPr>
                        <a:t>Good natured, cooperative, trusting, likeable, friendly</a:t>
                      </a:r>
                    </a:p>
                    <a:p>
                      <a:pPr marL="0" marR="0" lvl="0" indent="0" algn="l" defTabSz="457200" rtl="0" eaLnBrk="1" fontAlgn="base" latinLnBrk="0" hangingPunct="1">
                        <a:lnSpc>
                          <a:spcPct val="100000"/>
                        </a:lnSpc>
                        <a:spcBef>
                          <a:spcPct val="0"/>
                        </a:spcBef>
                        <a:spcAft>
                          <a:spcPct val="0"/>
                        </a:spcAft>
                        <a:buClrTx/>
                        <a:buSzPct val="70000"/>
                        <a:buFontTx/>
                        <a:buNone/>
                        <a:tabLst/>
                      </a:pPr>
                      <a:r>
                        <a:rPr kumimoji="0" lang="de-DE" sz="1600" b="0" i="0" u="none" strike="noStrike" cap="none" normalizeH="0" baseline="0">
                          <a:ln>
                            <a:noFill/>
                          </a:ln>
                          <a:solidFill>
                            <a:srgbClr val="FF0000"/>
                          </a:solidFill>
                          <a:effectLst/>
                          <a:latin typeface="Century Schoolbook" pitchFamily="18" charset="0"/>
                          <a:ea typeface="ＭＳ Ｐゴシック" pitchFamily="34" charset="-128"/>
                        </a:rPr>
                        <a:t>__People never think I am cold and sly.</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extLst>
                  <a:ext uri="{0D108BD9-81ED-4DB2-BD59-A6C34878D82A}">
                    <a16:rowId xmlns:a16="http://schemas.microsoft.com/office/drawing/2014/main" val="10003"/>
                  </a:ext>
                </a:extLst>
              </a:tr>
              <a:tr h="687269">
                <a:tc>
                  <a:txBody>
                    <a:bodyPr/>
                    <a:lstStyle/>
                    <a:p>
                      <a:pPr marL="0" marR="0" lvl="0" indent="0" algn="l" defTabSz="457200" rtl="0" eaLnBrk="1" fontAlgn="base" latinLnBrk="0" hangingPunct="1">
                        <a:lnSpc>
                          <a:spcPct val="100000"/>
                        </a:lnSpc>
                        <a:spcBef>
                          <a:spcPct val="0"/>
                        </a:spcBef>
                        <a:spcAft>
                          <a:spcPct val="0"/>
                        </a:spcAft>
                        <a:buClrTx/>
                        <a:buSzPct val="70000"/>
                        <a:buFontTx/>
                        <a:buNone/>
                        <a:tabLst/>
                      </a:pPr>
                      <a:r>
                        <a:rPr kumimoji="0" lang="de-DE" sz="1600" b="0" i="0" u="none" strike="noStrike" cap="none" normalizeH="0" baseline="0">
                          <a:ln>
                            <a:noFill/>
                          </a:ln>
                          <a:solidFill>
                            <a:srgbClr val="333333"/>
                          </a:solidFill>
                          <a:effectLst/>
                          <a:latin typeface="Century Schoolbook" pitchFamily="18" charset="0"/>
                          <a:ea typeface="ＭＳ Ｐゴシック" pitchFamily="34" charset="-128"/>
                        </a:rPr>
                        <a:t>Emotional Stability</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tc>
                  <a:txBody>
                    <a:bodyPr/>
                    <a:lstStyle/>
                    <a:p>
                      <a:pPr marL="0" marR="0" lvl="0" indent="0" algn="l" defTabSz="457200" rtl="0" eaLnBrk="1" fontAlgn="base" latinLnBrk="0" hangingPunct="1">
                        <a:lnSpc>
                          <a:spcPct val="100000"/>
                        </a:lnSpc>
                        <a:spcBef>
                          <a:spcPct val="0"/>
                        </a:spcBef>
                        <a:spcAft>
                          <a:spcPct val="0"/>
                        </a:spcAft>
                        <a:buClrTx/>
                        <a:buSzPct val="70000"/>
                        <a:buFontTx/>
                        <a:buNone/>
                        <a:tabLst/>
                      </a:pPr>
                      <a:r>
                        <a:rPr kumimoji="0" lang="de-DE" sz="1600" b="0" i="0" u="none" strike="noStrike" cap="none" normalizeH="0" baseline="0">
                          <a:ln>
                            <a:noFill/>
                          </a:ln>
                          <a:solidFill>
                            <a:srgbClr val="333333"/>
                          </a:solidFill>
                          <a:effectLst/>
                          <a:latin typeface="Century Schoolbook" pitchFamily="18" charset="0"/>
                          <a:ea typeface="ＭＳ Ｐゴシック" pitchFamily="34" charset="-128"/>
                        </a:rPr>
                        <a:t>Secure, calm, low anxiety, low emotionality</a:t>
                      </a:r>
                    </a:p>
                    <a:p>
                      <a:pPr marL="0" marR="0" lvl="0" indent="0" algn="l" defTabSz="457200" rtl="0" eaLnBrk="1" fontAlgn="base" latinLnBrk="0" hangingPunct="1">
                        <a:lnSpc>
                          <a:spcPct val="100000"/>
                        </a:lnSpc>
                        <a:spcBef>
                          <a:spcPct val="0"/>
                        </a:spcBef>
                        <a:spcAft>
                          <a:spcPct val="0"/>
                        </a:spcAft>
                        <a:buClrTx/>
                        <a:buSzPct val="70000"/>
                        <a:buFontTx/>
                        <a:buNone/>
                        <a:tabLst/>
                      </a:pPr>
                      <a:r>
                        <a:rPr kumimoji="0" lang="de-DE" sz="1600" b="0" i="0" u="none" strike="noStrike" cap="none" normalizeH="0" baseline="0">
                          <a:ln>
                            <a:noFill/>
                          </a:ln>
                          <a:solidFill>
                            <a:srgbClr val="FF0000"/>
                          </a:solidFill>
                          <a:effectLst/>
                          <a:latin typeface="Century Schoolbook" pitchFamily="18" charset="0"/>
                          <a:ea typeface="ＭＳ Ｐゴシック" pitchFamily="34" charset="-128"/>
                        </a:rPr>
                        <a:t>__I usually feel sad or „down“.</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EFE7"/>
                    </a:solidFill>
                  </a:tcPr>
                </a:tc>
                <a:extLst>
                  <a:ext uri="{0D108BD9-81ED-4DB2-BD59-A6C34878D82A}">
                    <a16:rowId xmlns:a16="http://schemas.microsoft.com/office/drawing/2014/main" val="10004"/>
                  </a:ext>
                </a:extLst>
              </a:tr>
              <a:tr h="687269">
                <a:tc>
                  <a:txBody>
                    <a:bodyPr/>
                    <a:lstStyle/>
                    <a:p>
                      <a:pPr marL="0" marR="0" lvl="0" indent="0" algn="l" defTabSz="457200" rtl="0" eaLnBrk="1" fontAlgn="base" latinLnBrk="0" hangingPunct="1">
                        <a:lnSpc>
                          <a:spcPct val="100000"/>
                        </a:lnSpc>
                        <a:spcBef>
                          <a:spcPct val="0"/>
                        </a:spcBef>
                        <a:spcAft>
                          <a:spcPct val="0"/>
                        </a:spcAft>
                        <a:buClrTx/>
                        <a:buSzPct val="70000"/>
                        <a:buFontTx/>
                        <a:buNone/>
                        <a:tabLst/>
                      </a:pPr>
                      <a:r>
                        <a:rPr kumimoji="0" lang="de-DE" sz="1600" b="0" i="0" u="none" strike="noStrike" cap="none" normalizeH="0" baseline="0">
                          <a:ln>
                            <a:noFill/>
                          </a:ln>
                          <a:solidFill>
                            <a:srgbClr val="333333"/>
                          </a:solidFill>
                          <a:effectLst/>
                          <a:latin typeface="Century Schoolbook" pitchFamily="18" charset="0"/>
                          <a:ea typeface="ＭＳ Ｐゴシック" pitchFamily="34" charset="-128"/>
                        </a:rPr>
                        <a:t>Openness to experience</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tc>
                  <a:txBody>
                    <a:bodyPr/>
                    <a:lstStyle/>
                    <a:p>
                      <a:pPr marL="0" marR="0" lvl="0" indent="0" algn="l" defTabSz="457200" rtl="0" eaLnBrk="1" fontAlgn="base" latinLnBrk="0" hangingPunct="1">
                        <a:lnSpc>
                          <a:spcPct val="100000"/>
                        </a:lnSpc>
                        <a:spcBef>
                          <a:spcPct val="0"/>
                        </a:spcBef>
                        <a:spcAft>
                          <a:spcPct val="0"/>
                        </a:spcAft>
                        <a:buClrTx/>
                        <a:buSzPct val="70000"/>
                        <a:buFontTx/>
                        <a:buNone/>
                        <a:tabLst/>
                      </a:pPr>
                      <a:r>
                        <a:rPr kumimoji="0" lang="de-DE" sz="1600" b="0" i="0" u="none" strike="noStrike" cap="none" normalizeH="0" baseline="0">
                          <a:ln>
                            <a:noFill/>
                          </a:ln>
                          <a:solidFill>
                            <a:srgbClr val="333333"/>
                          </a:solidFill>
                          <a:effectLst/>
                          <a:latin typeface="Century Schoolbook" pitchFamily="18" charset="0"/>
                          <a:ea typeface="ＭＳ Ｐゴシック" pitchFamily="34" charset="-128"/>
                        </a:rPr>
                        <a:t>Curious, intelligent, imaginative, independent</a:t>
                      </a:r>
                    </a:p>
                    <a:p>
                      <a:pPr marL="0" marR="0" lvl="0" indent="0" algn="l" defTabSz="457200" rtl="0" eaLnBrk="1" fontAlgn="base" latinLnBrk="0" hangingPunct="1">
                        <a:lnSpc>
                          <a:spcPct val="100000"/>
                        </a:lnSpc>
                        <a:spcBef>
                          <a:spcPct val="0"/>
                        </a:spcBef>
                        <a:spcAft>
                          <a:spcPct val="0"/>
                        </a:spcAft>
                        <a:buClrTx/>
                        <a:buSzPct val="70000"/>
                        <a:buFontTx/>
                        <a:buNone/>
                        <a:tabLst/>
                      </a:pPr>
                      <a:r>
                        <a:rPr kumimoji="0" lang="de-DE" sz="1600" b="0" i="0" u="none" strike="noStrike" cap="none" normalizeH="0" baseline="0">
                          <a:ln>
                            <a:noFill/>
                          </a:ln>
                          <a:solidFill>
                            <a:srgbClr val="FF0000"/>
                          </a:solidFill>
                          <a:effectLst/>
                          <a:latin typeface="Century Schoolbook" pitchFamily="18" charset="0"/>
                          <a:ea typeface="ＭＳ Ｐゴシック" pitchFamily="34" charset="-128"/>
                        </a:rPr>
                        <a:t>__I enjoy the challenge of change.</a:t>
                      </a:r>
                    </a:p>
                  </a:txBody>
                  <a:tcPr marT="45712" marB="4571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CDECB"/>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1645377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50FEE-8CC9-4F37-B37C-436D8F2CD9F5}"/>
              </a:ext>
            </a:extLst>
          </p:cNvPr>
          <p:cNvSpPr>
            <a:spLocks noGrp="1"/>
          </p:cNvSpPr>
          <p:nvPr>
            <p:ph type="title"/>
          </p:nvPr>
        </p:nvSpPr>
        <p:spPr/>
        <p:txBody>
          <a:bodyPr/>
          <a:lstStyle/>
          <a:p>
            <a:pPr algn="ctr">
              <a:defRPr/>
            </a:pPr>
            <a:r>
              <a:rPr lang="en-IE" dirty="0">
                <a:solidFill>
                  <a:schemeClr val="accent1">
                    <a:satMod val="150000"/>
                  </a:schemeClr>
                </a:solidFill>
              </a:rPr>
              <a:t>The Big 5 (OCEAN)</a:t>
            </a:r>
            <a:br>
              <a:rPr lang="en-IE" dirty="0">
                <a:solidFill>
                  <a:schemeClr val="accent1">
                    <a:satMod val="150000"/>
                  </a:schemeClr>
                </a:solidFill>
              </a:rPr>
            </a:br>
            <a:r>
              <a:rPr lang="en-IE" sz="2700" dirty="0">
                <a:solidFill>
                  <a:schemeClr val="accent1">
                    <a:satMod val="150000"/>
                  </a:schemeClr>
                </a:solidFill>
              </a:rPr>
              <a:t>(Costa &amp; McCrae, 1990)</a:t>
            </a:r>
          </a:p>
        </p:txBody>
      </p:sp>
      <p:sp>
        <p:nvSpPr>
          <p:cNvPr id="3" name="Content Placeholder 2">
            <a:extLst>
              <a:ext uri="{FF2B5EF4-FFF2-40B4-BE49-F238E27FC236}">
                <a16:creationId xmlns:a16="http://schemas.microsoft.com/office/drawing/2014/main" id="{CA6690F6-6EC5-4741-B43E-4FDF961B82D2}"/>
              </a:ext>
            </a:extLst>
          </p:cNvPr>
          <p:cNvSpPr>
            <a:spLocks noGrp="1"/>
          </p:cNvSpPr>
          <p:nvPr>
            <p:ph idx="1"/>
          </p:nvPr>
        </p:nvSpPr>
        <p:spPr>
          <a:xfrm>
            <a:off x="1919289" y="4508501"/>
            <a:ext cx="8497887" cy="1152525"/>
          </a:xfrm>
        </p:spPr>
        <p:txBody>
          <a:bodyPr rtlCol="0">
            <a:normAutofit/>
          </a:bodyPr>
          <a:lstStyle/>
          <a:p>
            <a:pPr marL="438912" indent="-320040">
              <a:spcBef>
                <a:spcPts val="0"/>
              </a:spcBef>
              <a:spcAft>
                <a:spcPts val="0"/>
              </a:spcAft>
              <a:buFont typeface="Wingdings 2"/>
              <a:buChar char=""/>
              <a:defRPr/>
            </a:pPr>
            <a:r>
              <a:rPr lang="en-IE" dirty="0">
                <a:latin typeface="Calibri" pitchFamily="34" charset="0"/>
              </a:rPr>
              <a:t>None of the five traits is in themselves positive or negative, they are simply characteristics that individuals exhibit to a greater or lesser extent. </a:t>
            </a:r>
          </a:p>
          <a:p>
            <a:pPr marL="438912" indent="-320040">
              <a:spcBef>
                <a:spcPts val="0"/>
              </a:spcBef>
              <a:spcAft>
                <a:spcPts val="0"/>
              </a:spcAft>
              <a:buFont typeface="Wingdings 2"/>
              <a:buChar char=""/>
              <a:defRPr/>
            </a:pPr>
            <a:endParaRPr lang="en-IE" dirty="0"/>
          </a:p>
        </p:txBody>
      </p:sp>
      <p:pic>
        <p:nvPicPr>
          <p:cNvPr id="33796" name="Picture 2">
            <a:extLst>
              <a:ext uri="{FF2B5EF4-FFF2-40B4-BE49-F238E27FC236}">
                <a16:creationId xmlns:a16="http://schemas.microsoft.com/office/drawing/2014/main" id="{67B94C6C-2E3E-4FC4-8DAF-F82D9FDE95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9289" y="1700214"/>
            <a:ext cx="8205787"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101725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ChangeArrowheads="1"/>
          </p:cNvSpPr>
          <p:nvPr/>
        </p:nvSpPr>
        <p:spPr bwMode="auto">
          <a:xfrm>
            <a:off x="2362200" y="2209800"/>
            <a:ext cx="77724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90000"/>
              </a:lnSpc>
              <a:spcBef>
                <a:spcPct val="20000"/>
              </a:spcBef>
              <a:buFontTx/>
              <a:buChar char=" "/>
            </a:pPr>
            <a:r>
              <a:rPr lang="en-US" sz="3200">
                <a:solidFill>
                  <a:srgbClr val="000000"/>
                </a:solidFill>
                <a:latin typeface="Calibri" pitchFamily="34" charset="0"/>
                <a:cs typeface="Calibri" pitchFamily="34" charset="0"/>
              </a:rPr>
              <a:t>Traits belonging to openness runs on a continuum from “explorer”, at one extreme, to “preserver” at the other</a:t>
            </a:r>
          </a:p>
        </p:txBody>
      </p:sp>
      <p:sp>
        <p:nvSpPr>
          <p:cNvPr id="55299" name="Rectangle 4"/>
          <p:cNvSpPr>
            <a:spLocks noChangeArrowheads="1"/>
          </p:cNvSpPr>
          <p:nvPr/>
        </p:nvSpPr>
        <p:spPr bwMode="auto">
          <a:xfrm>
            <a:off x="2438400" y="1828800"/>
            <a:ext cx="7315200" cy="152400"/>
          </a:xfrm>
          <a:prstGeom prst="rect">
            <a:avLst/>
          </a:prstGeom>
          <a:solidFill>
            <a:schemeClr val="tx2"/>
          </a:solidFill>
          <a:ln w="9525">
            <a:solidFill>
              <a:schemeClr val="accent2"/>
            </a:solidFill>
            <a:miter lim="800000"/>
            <a:headEnd/>
            <a:tailEnd/>
          </a:ln>
        </p:spPr>
        <p:txBody>
          <a:bodyPr wrap="none" anchor="ctr"/>
          <a:lstStyle/>
          <a:p>
            <a:endParaRPr lang="de-DE"/>
          </a:p>
        </p:txBody>
      </p:sp>
      <p:sp>
        <p:nvSpPr>
          <p:cNvPr id="112645" name="Text Box 5"/>
          <p:cNvSpPr txBox="1">
            <a:spLocks noChangeArrowheads="1"/>
          </p:cNvSpPr>
          <p:nvPr/>
        </p:nvSpPr>
        <p:spPr bwMode="auto">
          <a:xfrm>
            <a:off x="2362200" y="4267201"/>
            <a:ext cx="2133600" cy="1431161"/>
          </a:xfrm>
          <a:prstGeom prst="rect">
            <a:avLst/>
          </a:prstGeom>
          <a:noFill/>
          <a:ln w="9525">
            <a:noFill/>
            <a:miter lim="800000"/>
            <a:headEnd/>
            <a:tailEnd/>
          </a:ln>
          <a:effectLst/>
        </p:spPr>
        <p:txBody>
          <a:bodyPr>
            <a:spAutoFit/>
          </a:bodyPr>
          <a:lstStyle>
            <a:lvl1pPr>
              <a:defRPr sz="2400">
                <a:solidFill>
                  <a:schemeClr val="tx1"/>
                </a:solidFill>
                <a:latin typeface="Century Gothic" pitchFamily="34" charset="0"/>
                <a:ea typeface="ＭＳ Ｐゴシック" pitchFamily="34" charset="-128"/>
              </a:defRPr>
            </a:lvl1pPr>
            <a:lvl2pPr marL="37931725" indent="-37474525">
              <a:defRPr sz="2400">
                <a:solidFill>
                  <a:schemeClr val="tx1"/>
                </a:solidFill>
                <a:latin typeface="Century Gothic" pitchFamily="34" charset="0"/>
                <a:ea typeface="ＭＳ Ｐゴシック" pitchFamily="34" charset="-128"/>
              </a:defRPr>
            </a:lvl2pPr>
            <a:lvl3pPr>
              <a:defRPr sz="2400">
                <a:solidFill>
                  <a:schemeClr val="tx1"/>
                </a:solidFill>
                <a:latin typeface="Century Gothic" pitchFamily="34" charset="0"/>
                <a:ea typeface="ＭＳ Ｐゴシック" pitchFamily="34" charset="-128"/>
              </a:defRPr>
            </a:lvl3pPr>
            <a:lvl4pPr>
              <a:defRPr sz="2400">
                <a:solidFill>
                  <a:schemeClr val="tx1"/>
                </a:solidFill>
                <a:latin typeface="Century Gothic" pitchFamily="34" charset="0"/>
                <a:ea typeface="ＭＳ Ｐゴシック" pitchFamily="34" charset="-128"/>
              </a:defRPr>
            </a:lvl4pPr>
            <a:lvl5pPr>
              <a:defRPr sz="2400">
                <a:solidFill>
                  <a:schemeClr val="tx1"/>
                </a:solidFill>
                <a:latin typeface="Century Gothic" pitchFamily="34" charset="0"/>
                <a:ea typeface="ＭＳ Ｐゴシック" pitchFamily="34" charset="-128"/>
              </a:defRPr>
            </a:lvl5pPr>
            <a:lvl6pPr marL="457200" eaLnBrk="0" fontAlgn="base" hangingPunct="0">
              <a:spcBef>
                <a:spcPct val="0"/>
              </a:spcBef>
              <a:spcAft>
                <a:spcPct val="0"/>
              </a:spcAft>
              <a:defRPr sz="2400">
                <a:solidFill>
                  <a:schemeClr val="tx1"/>
                </a:solidFill>
                <a:latin typeface="Century Gothic" pitchFamily="34" charset="0"/>
                <a:ea typeface="ＭＳ Ｐゴシック" pitchFamily="34" charset="-128"/>
              </a:defRPr>
            </a:lvl6pPr>
            <a:lvl7pPr marL="914400" eaLnBrk="0" fontAlgn="base" hangingPunct="0">
              <a:spcBef>
                <a:spcPct val="0"/>
              </a:spcBef>
              <a:spcAft>
                <a:spcPct val="0"/>
              </a:spcAft>
              <a:defRPr sz="2400">
                <a:solidFill>
                  <a:schemeClr val="tx1"/>
                </a:solidFill>
                <a:latin typeface="Century Gothic" pitchFamily="34" charset="0"/>
                <a:ea typeface="ＭＳ Ｐゴシック" pitchFamily="34" charset="-128"/>
              </a:defRPr>
            </a:lvl7pPr>
            <a:lvl8pPr marL="1371600" eaLnBrk="0" fontAlgn="base" hangingPunct="0">
              <a:spcBef>
                <a:spcPct val="0"/>
              </a:spcBef>
              <a:spcAft>
                <a:spcPct val="0"/>
              </a:spcAft>
              <a:defRPr sz="2400">
                <a:solidFill>
                  <a:schemeClr val="tx1"/>
                </a:solidFill>
                <a:latin typeface="Century Gothic" pitchFamily="34" charset="0"/>
                <a:ea typeface="ＭＳ Ｐゴシック" pitchFamily="34" charset="-128"/>
              </a:defRPr>
            </a:lvl8pPr>
            <a:lvl9pPr marL="1828800" eaLnBrk="0" fontAlgn="base" hangingPunct="0">
              <a:spcBef>
                <a:spcPct val="0"/>
              </a:spcBef>
              <a:spcAft>
                <a:spcPct val="0"/>
              </a:spcAft>
              <a:defRPr sz="2400">
                <a:solidFill>
                  <a:schemeClr val="tx1"/>
                </a:solidFill>
                <a:latin typeface="Century Gothic" pitchFamily="34" charset="0"/>
                <a:ea typeface="ＭＳ Ｐゴシック" pitchFamily="34" charset="-128"/>
              </a:defRPr>
            </a:lvl9pPr>
          </a:lstStyle>
          <a:p>
            <a:pPr eaLnBrk="1" hangingPunct="1">
              <a:spcBef>
                <a:spcPct val="50000"/>
              </a:spcBef>
              <a:defRPr/>
            </a:pPr>
            <a:r>
              <a:rPr lang="en-US">
                <a:solidFill>
                  <a:srgbClr val="003399"/>
                </a:solidFill>
                <a:effectLst>
                  <a:outerShdw blurRad="38100" dist="38100" dir="2700000" algn="tl">
                    <a:srgbClr val="C0C0C0"/>
                  </a:outerShdw>
                </a:effectLst>
                <a:latin typeface="Times New Roman" pitchFamily="18" charset="0"/>
              </a:rPr>
              <a:t>Explorer</a:t>
            </a:r>
          </a:p>
          <a:p>
            <a:pPr eaLnBrk="1" hangingPunct="1">
              <a:spcBef>
                <a:spcPct val="50000"/>
              </a:spcBef>
              <a:defRPr/>
            </a:pPr>
            <a:r>
              <a:rPr lang="en-US" sz="1400" b="1">
                <a:solidFill>
                  <a:srgbClr val="17110B"/>
                </a:solidFill>
                <a:latin typeface="Times New Roman" pitchFamily="18" charset="0"/>
              </a:rPr>
              <a:t>Creative, </a:t>
            </a:r>
          </a:p>
          <a:p>
            <a:pPr eaLnBrk="1" hangingPunct="1">
              <a:spcBef>
                <a:spcPct val="50000"/>
              </a:spcBef>
              <a:defRPr/>
            </a:pPr>
            <a:r>
              <a:rPr lang="en-US" sz="1400" b="1">
                <a:solidFill>
                  <a:srgbClr val="17110B"/>
                </a:solidFill>
                <a:latin typeface="Times New Roman" pitchFamily="18" charset="0"/>
              </a:rPr>
              <a:t>open-minded</a:t>
            </a:r>
          </a:p>
          <a:p>
            <a:pPr eaLnBrk="1" hangingPunct="1">
              <a:spcBef>
                <a:spcPct val="50000"/>
              </a:spcBef>
              <a:defRPr/>
            </a:pPr>
            <a:r>
              <a:rPr lang="en-US" sz="1400" b="1">
                <a:solidFill>
                  <a:srgbClr val="17110B"/>
                </a:solidFill>
                <a:latin typeface="Times New Roman" pitchFamily="18" charset="0"/>
              </a:rPr>
              <a:t>intellectual</a:t>
            </a:r>
          </a:p>
        </p:txBody>
      </p:sp>
      <p:sp>
        <p:nvSpPr>
          <p:cNvPr id="112648" name="Text Box 8"/>
          <p:cNvSpPr txBox="1">
            <a:spLocks noChangeArrowheads="1"/>
          </p:cNvSpPr>
          <p:nvPr/>
        </p:nvSpPr>
        <p:spPr bwMode="auto">
          <a:xfrm>
            <a:off x="8610600" y="4191001"/>
            <a:ext cx="2057400" cy="1431161"/>
          </a:xfrm>
          <a:prstGeom prst="rect">
            <a:avLst/>
          </a:prstGeom>
          <a:noFill/>
          <a:ln w="9525">
            <a:noFill/>
            <a:miter lim="800000"/>
            <a:headEnd/>
            <a:tailEnd/>
          </a:ln>
          <a:effectLst/>
        </p:spPr>
        <p:txBody>
          <a:bodyPr>
            <a:spAutoFit/>
          </a:bodyPr>
          <a:lstStyle>
            <a:lvl1pPr>
              <a:defRPr sz="2400">
                <a:solidFill>
                  <a:schemeClr val="tx1"/>
                </a:solidFill>
                <a:latin typeface="Century Gothic" pitchFamily="34" charset="0"/>
                <a:ea typeface="ＭＳ Ｐゴシック" pitchFamily="34" charset="-128"/>
              </a:defRPr>
            </a:lvl1pPr>
            <a:lvl2pPr marL="37931725" indent="-37474525">
              <a:defRPr sz="2400">
                <a:solidFill>
                  <a:schemeClr val="tx1"/>
                </a:solidFill>
                <a:latin typeface="Century Gothic" pitchFamily="34" charset="0"/>
                <a:ea typeface="ＭＳ Ｐゴシック" pitchFamily="34" charset="-128"/>
              </a:defRPr>
            </a:lvl2pPr>
            <a:lvl3pPr>
              <a:defRPr sz="2400">
                <a:solidFill>
                  <a:schemeClr val="tx1"/>
                </a:solidFill>
                <a:latin typeface="Century Gothic" pitchFamily="34" charset="0"/>
                <a:ea typeface="ＭＳ Ｐゴシック" pitchFamily="34" charset="-128"/>
              </a:defRPr>
            </a:lvl3pPr>
            <a:lvl4pPr>
              <a:defRPr sz="2400">
                <a:solidFill>
                  <a:schemeClr val="tx1"/>
                </a:solidFill>
                <a:latin typeface="Century Gothic" pitchFamily="34" charset="0"/>
                <a:ea typeface="ＭＳ Ｐゴシック" pitchFamily="34" charset="-128"/>
              </a:defRPr>
            </a:lvl4pPr>
            <a:lvl5pPr>
              <a:defRPr sz="2400">
                <a:solidFill>
                  <a:schemeClr val="tx1"/>
                </a:solidFill>
                <a:latin typeface="Century Gothic" pitchFamily="34" charset="0"/>
                <a:ea typeface="ＭＳ Ｐゴシック" pitchFamily="34" charset="-128"/>
              </a:defRPr>
            </a:lvl5pPr>
            <a:lvl6pPr marL="457200" eaLnBrk="0" fontAlgn="base" hangingPunct="0">
              <a:spcBef>
                <a:spcPct val="0"/>
              </a:spcBef>
              <a:spcAft>
                <a:spcPct val="0"/>
              </a:spcAft>
              <a:defRPr sz="2400">
                <a:solidFill>
                  <a:schemeClr val="tx1"/>
                </a:solidFill>
                <a:latin typeface="Century Gothic" pitchFamily="34" charset="0"/>
                <a:ea typeface="ＭＳ Ｐゴシック" pitchFamily="34" charset="-128"/>
              </a:defRPr>
            </a:lvl6pPr>
            <a:lvl7pPr marL="914400" eaLnBrk="0" fontAlgn="base" hangingPunct="0">
              <a:spcBef>
                <a:spcPct val="0"/>
              </a:spcBef>
              <a:spcAft>
                <a:spcPct val="0"/>
              </a:spcAft>
              <a:defRPr sz="2400">
                <a:solidFill>
                  <a:schemeClr val="tx1"/>
                </a:solidFill>
                <a:latin typeface="Century Gothic" pitchFamily="34" charset="0"/>
                <a:ea typeface="ＭＳ Ｐゴシック" pitchFamily="34" charset="-128"/>
              </a:defRPr>
            </a:lvl7pPr>
            <a:lvl8pPr marL="1371600" eaLnBrk="0" fontAlgn="base" hangingPunct="0">
              <a:spcBef>
                <a:spcPct val="0"/>
              </a:spcBef>
              <a:spcAft>
                <a:spcPct val="0"/>
              </a:spcAft>
              <a:defRPr sz="2400">
                <a:solidFill>
                  <a:schemeClr val="tx1"/>
                </a:solidFill>
                <a:latin typeface="Century Gothic" pitchFamily="34" charset="0"/>
                <a:ea typeface="ＭＳ Ｐゴシック" pitchFamily="34" charset="-128"/>
              </a:defRPr>
            </a:lvl8pPr>
            <a:lvl9pPr marL="1828800" eaLnBrk="0" fontAlgn="base" hangingPunct="0">
              <a:spcBef>
                <a:spcPct val="0"/>
              </a:spcBef>
              <a:spcAft>
                <a:spcPct val="0"/>
              </a:spcAft>
              <a:defRPr sz="2400">
                <a:solidFill>
                  <a:schemeClr val="tx1"/>
                </a:solidFill>
                <a:latin typeface="Century Gothic" pitchFamily="34" charset="0"/>
                <a:ea typeface="ＭＳ Ｐゴシック" pitchFamily="34" charset="-128"/>
              </a:defRPr>
            </a:lvl9pPr>
          </a:lstStyle>
          <a:p>
            <a:pPr eaLnBrk="1" hangingPunct="1">
              <a:spcBef>
                <a:spcPct val="50000"/>
              </a:spcBef>
              <a:defRPr/>
            </a:pPr>
            <a:r>
              <a:rPr lang="en-US">
                <a:solidFill>
                  <a:srgbClr val="003399"/>
                </a:solidFill>
                <a:effectLst>
                  <a:outerShdw blurRad="38100" dist="38100" dir="2700000" algn="tl">
                    <a:srgbClr val="C0C0C0"/>
                  </a:outerShdw>
                </a:effectLst>
                <a:latin typeface="Times New Roman" pitchFamily="18" charset="0"/>
              </a:rPr>
              <a:t>Preserver</a:t>
            </a:r>
          </a:p>
          <a:p>
            <a:pPr eaLnBrk="1" hangingPunct="1">
              <a:spcBef>
                <a:spcPct val="50000"/>
              </a:spcBef>
              <a:defRPr/>
            </a:pPr>
            <a:r>
              <a:rPr lang="en-US" sz="1400" b="1">
                <a:solidFill>
                  <a:srgbClr val="17110B"/>
                </a:solidFill>
                <a:latin typeface="Times New Roman" pitchFamily="18" charset="0"/>
              </a:rPr>
              <a:t>unimaginative</a:t>
            </a:r>
          </a:p>
          <a:p>
            <a:pPr eaLnBrk="1" hangingPunct="1">
              <a:spcBef>
                <a:spcPct val="50000"/>
              </a:spcBef>
              <a:defRPr/>
            </a:pPr>
            <a:r>
              <a:rPr lang="en-US" sz="1400" b="1">
                <a:solidFill>
                  <a:srgbClr val="17110B"/>
                </a:solidFill>
                <a:latin typeface="Times New Roman" pitchFamily="18" charset="0"/>
              </a:rPr>
              <a:t>disinterested,</a:t>
            </a:r>
          </a:p>
          <a:p>
            <a:pPr eaLnBrk="1" hangingPunct="1">
              <a:spcBef>
                <a:spcPct val="50000"/>
              </a:spcBef>
              <a:defRPr/>
            </a:pPr>
            <a:r>
              <a:rPr lang="en-US" sz="1400" b="1">
                <a:solidFill>
                  <a:srgbClr val="17110B"/>
                </a:solidFill>
                <a:latin typeface="Times New Roman" pitchFamily="18" charset="0"/>
              </a:rPr>
              <a:t>narrow-minded</a:t>
            </a:r>
          </a:p>
        </p:txBody>
      </p:sp>
      <p:sp>
        <p:nvSpPr>
          <p:cNvPr id="55302" name="AutoShape 9"/>
          <p:cNvSpPr>
            <a:spLocks noChangeArrowheads="1"/>
          </p:cNvSpPr>
          <p:nvPr/>
        </p:nvSpPr>
        <p:spPr bwMode="auto">
          <a:xfrm>
            <a:off x="3657600" y="4343400"/>
            <a:ext cx="4953000" cy="304800"/>
          </a:xfrm>
          <a:prstGeom prst="leftRightArrow">
            <a:avLst>
              <a:gd name="adj1" fmla="val 50000"/>
              <a:gd name="adj2" fmla="val 325000"/>
            </a:avLst>
          </a:prstGeom>
          <a:solidFill>
            <a:schemeClr val="accent1"/>
          </a:solidFill>
          <a:ln w="9525">
            <a:solidFill>
              <a:schemeClr val="tx1"/>
            </a:solidFill>
            <a:miter lim="800000"/>
            <a:headEnd/>
            <a:tailEnd/>
          </a:ln>
        </p:spPr>
        <p:txBody>
          <a:bodyPr wrap="none" anchor="ctr"/>
          <a:lstStyle/>
          <a:p>
            <a:endParaRPr lang="de-DE"/>
          </a:p>
        </p:txBody>
      </p:sp>
      <p:sp>
        <p:nvSpPr>
          <p:cNvPr id="112650" name="Line 10"/>
          <p:cNvSpPr>
            <a:spLocks noChangeShapeType="1"/>
          </p:cNvSpPr>
          <p:nvPr/>
        </p:nvSpPr>
        <p:spPr bwMode="auto">
          <a:xfrm>
            <a:off x="6096000" y="3733800"/>
            <a:ext cx="0" cy="609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E"/>
          </a:p>
        </p:txBody>
      </p:sp>
      <p:sp>
        <p:nvSpPr>
          <p:cNvPr id="55304" name="Rectangle 2"/>
          <p:cNvSpPr>
            <a:spLocks noChangeArrowheads="1"/>
          </p:cNvSpPr>
          <p:nvPr/>
        </p:nvSpPr>
        <p:spPr bwMode="auto">
          <a:xfrm>
            <a:off x="1981200" y="0"/>
            <a:ext cx="8229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eaLnBrk="1" hangingPunct="1"/>
            <a:r>
              <a:rPr lang="en-US" sz="3000" b="1">
                <a:solidFill>
                  <a:schemeClr val="tx2"/>
                </a:solidFill>
                <a:latin typeface="Century Schoolbook" pitchFamily="18" charset="0"/>
              </a:rPr>
              <a:t>FACTOR 1 – OPENNESS</a:t>
            </a:r>
          </a:p>
        </p:txBody>
      </p:sp>
    </p:spTree>
    <p:extLst>
      <p:ext uri="{BB962C8B-B14F-4D97-AF65-F5344CB8AC3E}">
        <p14:creationId xmlns:p14="http://schemas.microsoft.com/office/powerpoint/2010/main" val="36275859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12642"/>
                                        </p:tgtEl>
                                        <p:attrNameLst>
                                          <p:attrName>style.visibility</p:attrName>
                                        </p:attrNameLst>
                                      </p:cBhvr>
                                      <p:to>
                                        <p:strVal val="visible"/>
                                      </p:to>
                                    </p:set>
                                    <p:animEffect transition="in" filter="dissolve">
                                      <p:cBhvr>
                                        <p:cTn id="7" dur="500"/>
                                        <p:tgtEl>
                                          <p:spTgt spid="112642"/>
                                        </p:tgtEl>
                                      </p:cBhvr>
                                    </p:animEffect>
                                  </p:childTnLst>
                                </p:cTn>
                              </p:par>
                            </p:childTnLst>
                          </p:cTn>
                        </p:par>
                        <p:par>
                          <p:cTn id="8" fill="hold" nodeType="afterGroup">
                            <p:stCondLst>
                              <p:cond delay="500"/>
                            </p:stCondLst>
                            <p:childTnLst>
                              <p:par>
                                <p:cTn id="9" presetID="1" presetClass="entr" presetSubtype="0" fill="hold" grpId="0" nodeType="afterEffect">
                                  <p:stCondLst>
                                    <p:cond delay="0"/>
                                  </p:stCondLst>
                                  <p:childTnLst>
                                    <p:set>
                                      <p:cBhvr>
                                        <p:cTn id="10" dur="1" fill="hold">
                                          <p:stCondLst>
                                            <p:cond delay="499"/>
                                          </p:stCondLst>
                                        </p:cTn>
                                        <p:tgtEl>
                                          <p:spTgt spid="112645"/>
                                        </p:tgtEl>
                                        <p:attrNameLst>
                                          <p:attrName>style.visibility</p:attrName>
                                        </p:attrNameLst>
                                      </p:cBhvr>
                                      <p:to>
                                        <p:strVal val="visible"/>
                                      </p:to>
                                    </p:set>
                                  </p:childTnLst>
                                </p:cTn>
                              </p:par>
                            </p:childTnLst>
                          </p:cTn>
                        </p:par>
                        <p:par>
                          <p:cTn id="11" fill="hold" nodeType="afterGroup">
                            <p:stCondLst>
                              <p:cond delay="1000"/>
                            </p:stCondLst>
                            <p:childTnLst>
                              <p:par>
                                <p:cTn id="12" presetID="1" presetClass="entr" presetSubtype="0" fill="hold" grpId="0" nodeType="afterEffect">
                                  <p:stCondLst>
                                    <p:cond delay="0"/>
                                  </p:stCondLst>
                                  <p:childTnLst>
                                    <p:set>
                                      <p:cBhvr>
                                        <p:cTn id="13" dur="1" fill="hold">
                                          <p:stCondLst>
                                            <p:cond delay="499"/>
                                          </p:stCondLst>
                                        </p:cTn>
                                        <p:tgtEl>
                                          <p:spTgt spid="112648"/>
                                        </p:tgtEl>
                                        <p:attrNameLst>
                                          <p:attrName>style.visibility</p:attrName>
                                        </p:attrNameLst>
                                      </p:cBhvr>
                                      <p:to>
                                        <p:strVal val="visible"/>
                                      </p:to>
                                    </p:set>
                                  </p:childTnLst>
                                </p:cTn>
                              </p:par>
                            </p:childTnLst>
                          </p:cTn>
                        </p:par>
                        <p:par>
                          <p:cTn id="14" fill="hold" nodeType="afterGroup">
                            <p:stCondLst>
                              <p:cond delay="1500"/>
                            </p:stCondLst>
                            <p:childTnLst>
                              <p:par>
                                <p:cTn id="15" presetID="35" presetClass="path" presetSubtype="0" accel="50000" decel="50000" autoRev="1" fill="hold" grpId="0" nodeType="afterEffect">
                                  <p:stCondLst>
                                    <p:cond delay="0"/>
                                  </p:stCondLst>
                                  <p:childTnLst>
                                    <p:animMotion origin="layout" path="M 1.11022E-16 1.7341E-7 L -0.425 1.7341E-7 " pathEditMode="relative" rAng="0" ptsTypes="AA">
                                      <p:cBhvr>
                                        <p:cTn id="16" dur="3000" fill="hold"/>
                                        <p:tgtEl>
                                          <p:spTgt spid="112650"/>
                                        </p:tgtEl>
                                        <p:attrNameLst>
                                          <p:attrName>ppt_x</p:attrName>
                                          <p:attrName>ppt_y</p:attrName>
                                        </p:attrNameLst>
                                      </p:cBhvr>
                                      <p:rCtr x="-2125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2" grpId="0" autoUpdateAnimBg="0"/>
      <p:bldP spid="112645" grpId="0" autoUpdateAnimBg="0"/>
      <p:bldP spid="112648" grpId="0" autoUpdateAnimBg="0"/>
      <p:bldP spid="112650"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3"/>
          <p:cNvSpPr>
            <a:spLocks noGrp="1" noChangeArrowheads="1"/>
          </p:cNvSpPr>
          <p:nvPr>
            <p:ph idx="1"/>
          </p:nvPr>
        </p:nvSpPr>
        <p:spPr/>
        <p:txBody>
          <a:bodyPr/>
          <a:lstStyle/>
          <a:p>
            <a:pPr eaLnBrk="1" hangingPunct="1"/>
            <a:r>
              <a:rPr lang="en-US"/>
              <a:t>Explorer traits are useful for entrepreneurs, architects, change agents</a:t>
            </a:r>
          </a:p>
          <a:p>
            <a:pPr eaLnBrk="1" hangingPunct="1"/>
            <a:endParaRPr lang="en-US"/>
          </a:p>
          <a:p>
            <a:pPr eaLnBrk="1" hangingPunct="1"/>
            <a:r>
              <a:rPr lang="en-US"/>
              <a:t>Preserver traits are useful for finance managers, scientists</a:t>
            </a:r>
          </a:p>
        </p:txBody>
      </p:sp>
      <p:sp>
        <p:nvSpPr>
          <p:cNvPr id="56323" name="Rectangle 2"/>
          <p:cNvSpPr>
            <a:spLocks noChangeArrowheads="1"/>
          </p:cNvSpPr>
          <p:nvPr/>
        </p:nvSpPr>
        <p:spPr bwMode="auto">
          <a:xfrm>
            <a:off x="1981200" y="0"/>
            <a:ext cx="8229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eaLnBrk="1" hangingPunct="1"/>
            <a:r>
              <a:rPr lang="en-US" sz="3000" b="1">
                <a:solidFill>
                  <a:schemeClr val="tx2"/>
                </a:solidFill>
                <a:latin typeface="Century Schoolbook" pitchFamily="18" charset="0"/>
              </a:rPr>
              <a:t>FACTOR 1 – OPENNESS</a:t>
            </a:r>
          </a:p>
        </p:txBody>
      </p:sp>
      <p:pic>
        <p:nvPicPr>
          <p:cNvPr id="4" name="Picture 2" descr="Image result for tu dublin logo">
            <a:extLst>
              <a:ext uri="{FF2B5EF4-FFF2-40B4-BE49-F238E27FC236}">
                <a16:creationId xmlns:a16="http://schemas.microsoft.com/office/drawing/2014/main" id="{7530F8A7-468C-41EF-881E-FCB97BA805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96425" y="0"/>
            <a:ext cx="2695575" cy="1695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89932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ChangeArrowheads="1"/>
          </p:cNvSpPr>
          <p:nvPr/>
        </p:nvSpPr>
        <p:spPr bwMode="auto">
          <a:xfrm>
            <a:off x="2362200" y="2209800"/>
            <a:ext cx="77724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90000"/>
              </a:lnSpc>
              <a:spcBef>
                <a:spcPct val="20000"/>
              </a:spcBef>
              <a:buFontTx/>
              <a:buChar char=" "/>
            </a:pPr>
            <a:r>
              <a:rPr lang="en-US" sz="3200">
                <a:solidFill>
                  <a:srgbClr val="000000"/>
                </a:solidFill>
                <a:latin typeface="Times New Roman" pitchFamily="18" charset="0"/>
              </a:rPr>
              <a:t>Traits belonging to conscientiousness runs on a continuum from “focused”, at one extreme, to “flexible” at the other</a:t>
            </a:r>
          </a:p>
        </p:txBody>
      </p:sp>
      <p:sp>
        <p:nvSpPr>
          <p:cNvPr id="57347" name="Rectangle 4"/>
          <p:cNvSpPr>
            <a:spLocks noChangeArrowheads="1"/>
          </p:cNvSpPr>
          <p:nvPr/>
        </p:nvSpPr>
        <p:spPr bwMode="auto">
          <a:xfrm>
            <a:off x="2438400" y="1828800"/>
            <a:ext cx="7315200" cy="152400"/>
          </a:xfrm>
          <a:prstGeom prst="rect">
            <a:avLst/>
          </a:prstGeom>
          <a:solidFill>
            <a:schemeClr val="tx2"/>
          </a:solidFill>
          <a:ln w="9525">
            <a:solidFill>
              <a:schemeClr val="accent2"/>
            </a:solidFill>
            <a:miter lim="800000"/>
            <a:headEnd/>
            <a:tailEnd/>
          </a:ln>
        </p:spPr>
        <p:txBody>
          <a:bodyPr wrap="none" anchor="ctr"/>
          <a:lstStyle/>
          <a:p>
            <a:endParaRPr lang="de-DE"/>
          </a:p>
        </p:txBody>
      </p:sp>
      <p:sp>
        <p:nvSpPr>
          <p:cNvPr id="233477" name="Text Box 5"/>
          <p:cNvSpPr txBox="1">
            <a:spLocks noChangeArrowheads="1"/>
          </p:cNvSpPr>
          <p:nvPr/>
        </p:nvSpPr>
        <p:spPr bwMode="auto">
          <a:xfrm>
            <a:off x="2362200" y="4267201"/>
            <a:ext cx="2133600" cy="1431161"/>
          </a:xfrm>
          <a:prstGeom prst="rect">
            <a:avLst/>
          </a:prstGeom>
          <a:noFill/>
          <a:ln w="9525">
            <a:noFill/>
            <a:miter lim="800000"/>
            <a:headEnd/>
            <a:tailEnd/>
          </a:ln>
          <a:effectLst/>
        </p:spPr>
        <p:txBody>
          <a:bodyPr>
            <a:spAutoFit/>
          </a:bodyPr>
          <a:lstStyle>
            <a:lvl1pPr>
              <a:defRPr sz="2400">
                <a:solidFill>
                  <a:schemeClr val="tx1"/>
                </a:solidFill>
                <a:latin typeface="Century Gothic" pitchFamily="34" charset="0"/>
                <a:ea typeface="ＭＳ Ｐゴシック" pitchFamily="34" charset="-128"/>
              </a:defRPr>
            </a:lvl1pPr>
            <a:lvl2pPr marL="37931725" indent="-37474525">
              <a:defRPr sz="2400">
                <a:solidFill>
                  <a:schemeClr val="tx1"/>
                </a:solidFill>
                <a:latin typeface="Century Gothic" pitchFamily="34" charset="0"/>
                <a:ea typeface="ＭＳ Ｐゴシック" pitchFamily="34" charset="-128"/>
              </a:defRPr>
            </a:lvl2pPr>
            <a:lvl3pPr>
              <a:defRPr sz="2400">
                <a:solidFill>
                  <a:schemeClr val="tx1"/>
                </a:solidFill>
                <a:latin typeface="Century Gothic" pitchFamily="34" charset="0"/>
                <a:ea typeface="ＭＳ Ｐゴシック" pitchFamily="34" charset="-128"/>
              </a:defRPr>
            </a:lvl3pPr>
            <a:lvl4pPr>
              <a:defRPr sz="2400">
                <a:solidFill>
                  <a:schemeClr val="tx1"/>
                </a:solidFill>
                <a:latin typeface="Century Gothic" pitchFamily="34" charset="0"/>
                <a:ea typeface="ＭＳ Ｐゴシック" pitchFamily="34" charset="-128"/>
              </a:defRPr>
            </a:lvl4pPr>
            <a:lvl5pPr>
              <a:defRPr sz="2400">
                <a:solidFill>
                  <a:schemeClr val="tx1"/>
                </a:solidFill>
                <a:latin typeface="Century Gothic" pitchFamily="34" charset="0"/>
                <a:ea typeface="ＭＳ Ｐゴシック" pitchFamily="34" charset="-128"/>
              </a:defRPr>
            </a:lvl5pPr>
            <a:lvl6pPr marL="457200" eaLnBrk="0" fontAlgn="base" hangingPunct="0">
              <a:spcBef>
                <a:spcPct val="0"/>
              </a:spcBef>
              <a:spcAft>
                <a:spcPct val="0"/>
              </a:spcAft>
              <a:defRPr sz="2400">
                <a:solidFill>
                  <a:schemeClr val="tx1"/>
                </a:solidFill>
                <a:latin typeface="Century Gothic" pitchFamily="34" charset="0"/>
                <a:ea typeface="ＭＳ Ｐゴシック" pitchFamily="34" charset="-128"/>
              </a:defRPr>
            </a:lvl6pPr>
            <a:lvl7pPr marL="914400" eaLnBrk="0" fontAlgn="base" hangingPunct="0">
              <a:spcBef>
                <a:spcPct val="0"/>
              </a:spcBef>
              <a:spcAft>
                <a:spcPct val="0"/>
              </a:spcAft>
              <a:defRPr sz="2400">
                <a:solidFill>
                  <a:schemeClr val="tx1"/>
                </a:solidFill>
                <a:latin typeface="Century Gothic" pitchFamily="34" charset="0"/>
                <a:ea typeface="ＭＳ Ｐゴシック" pitchFamily="34" charset="-128"/>
              </a:defRPr>
            </a:lvl7pPr>
            <a:lvl8pPr marL="1371600" eaLnBrk="0" fontAlgn="base" hangingPunct="0">
              <a:spcBef>
                <a:spcPct val="0"/>
              </a:spcBef>
              <a:spcAft>
                <a:spcPct val="0"/>
              </a:spcAft>
              <a:defRPr sz="2400">
                <a:solidFill>
                  <a:schemeClr val="tx1"/>
                </a:solidFill>
                <a:latin typeface="Century Gothic" pitchFamily="34" charset="0"/>
                <a:ea typeface="ＭＳ Ｐゴシック" pitchFamily="34" charset="-128"/>
              </a:defRPr>
            </a:lvl8pPr>
            <a:lvl9pPr marL="1828800" eaLnBrk="0" fontAlgn="base" hangingPunct="0">
              <a:spcBef>
                <a:spcPct val="0"/>
              </a:spcBef>
              <a:spcAft>
                <a:spcPct val="0"/>
              </a:spcAft>
              <a:defRPr sz="2400">
                <a:solidFill>
                  <a:schemeClr val="tx1"/>
                </a:solidFill>
                <a:latin typeface="Century Gothic" pitchFamily="34" charset="0"/>
                <a:ea typeface="ＭＳ Ｐゴシック" pitchFamily="34" charset="-128"/>
              </a:defRPr>
            </a:lvl9pPr>
          </a:lstStyle>
          <a:p>
            <a:pPr eaLnBrk="1" hangingPunct="1">
              <a:spcBef>
                <a:spcPct val="50000"/>
              </a:spcBef>
              <a:defRPr/>
            </a:pPr>
            <a:r>
              <a:rPr lang="en-US">
                <a:solidFill>
                  <a:srgbClr val="003399"/>
                </a:solidFill>
                <a:effectLst>
                  <a:outerShdw blurRad="38100" dist="38100" dir="2700000" algn="tl">
                    <a:srgbClr val="C0C0C0"/>
                  </a:outerShdw>
                </a:effectLst>
                <a:latin typeface="Times New Roman" pitchFamily="18" charset="0"/>
              </a:rPr>
              <a:t>Focused</a:t>
            </a:r>
          </a:p>
          <a:p>
            <a:pPr eaLnBrk="1" hangingPunct="1">
              <a:spcBef>
                <a:spcPct val="50000"/>
              </a:spcBef>
              <a:defRPr/>
            </a:pPr>
            <a:r>
              <a:rPr lang="en-US" sz="1400" b="1">
                <a:solidFill>
                  <a:srgbClr val="17110B"/>
                </a:solidFill>
                <a:latin typeface="Times New Roman" pitchFamily="18" charset="0"/>
              </a:rPr>
              <a:t>Dutiful, </a:t>
            </a:r>
          </a:p>
          <a:p>
            <a:pPr eaLnBrk="1" hangingPunct="1">
              <a:spcBef>
                <a:spcPct val="50000"/>
              </a:spcBef>
              <a:defRPr/>
            </a:pPr>
            <a:r>
              <a:rPr lang="en-US" sz="1400" b="1">
                <a:solidFill>
                  <a:srgbClr val="17110B"/>
                </a:solidFill>
                <a:latin typeface="Times New Roman" pitchFamily="18" charset="0"/>
              </a:rPr>
              <a:t>Achievement orientated</a:t>
            </a:r>
          </a:p>
          <a:p>
            <a:pPr eaLnBrk="1" hangingPunct="1">
              <a:spcBef>
                <a:spcPct val="50000"/>
              </a:spcBef>
              <a:defRPr/>
            </a:pPr>
            <a:r>
              <a:rPr lang="en-US" sz="1400" b="1">
                <a:solidFill>
                  <a:srgbClr val="17110B"/>
                </a:solidFill>
                <a:latin typeface="Times New Roman" pitchFamily="18" charset="0"/>
              </a:rPr>
              <a:t>Self-disciplined</a:t>
            </a:r>
          </a:p>
        </p:txBody>
      </p:sp>
      <p:sp>
        <p:nvSpPr>
          <p:cNvPr id="233478" name="Text Box 6"/>
          <p:cNvSpPr txBox="1">
            <a:spLocks noChangeArrowheads="1"/>
          </p:cNvSpPr>
          <p:nvPr/>
        </p:nvSpPr>
        <p:spPr bwMode="auto">
          <a:xfrm>
            <a:off x="8610600" y="4191001"/>
            <a:ext cx="2057400" cy="1431161"/>
          </a:xfrm>
          <a:prstGeom prst="rect">
            <a:avLst/>
          </a:prstGeom>
          <a:noFill/>
          <a:ln w="9525">
            <a:noFill/>
            <a:miter lim="800000"/>
            <a:headEnd/>
            <a:tailEnd/>
          </a:ln>
          <a:effectLst/>
        </p:spPr>
        <p:txBody>
          <a:bodyPr>
            <a:spAutoFit/>
          </a:bodyPr>
          <a:lstStyle>
            <a:lvl1pPr>
              <a:defRPr sz="2400">
                <a:solidFill>
                  <a:schemeClr val="tx1"/>
                </a:solidFill>
                <a:latin typeface="Century Gothic" pitchFamily="34" charset="0"/>
                <a:ea typeface="ＭＳ Ｐゴシック" pitchFamily="34" charset="-128"/>
              </a:defRPr>
            </a:lvl1pPr>
            <a:lvl2pPr marL="37931725" indent="-37474525">
              <a:defRPr sz="2400">
                <a:solidFill>
                  <a:schemeClr val="tx1"/>
                </a:solidFill>
                <a:latin typeface="Century Gothic" pitchFamily="34" charset="0"/>
                <a:ea typeface="ＭＳ Ｐゴシック" pitchFamily="34" charset="-128"/>
              </a:defRPr>
            </a:lvl2pPr>
            <a:lvl3pPr>
              <a:defRPr sz="2400">
                <a:solidFill>
                  <a:schemeClr val="tx1"/>
                </a:solidFill>
                <a:latin typeface="Century Gothic" pitchFamily="34" charset="0"/>
                <a:ea typeface="ＭＳ Ｐゴシック" pitchFamily="34" charset="-128"/>
              </a:defRPr>
            </a:lvl3pPr>
            <a:lvl4pPr>
              <a:defRPr sz="2400">
                <a:solidFill>
                  <a:schemeClr val="tx1"/>
                </a:solidFill>
                <a:latin typeface="Century Gothic" pitchFamily="34" charset="0"/>
                <a:ea typeface="ＭＳ Ｐゴシック" pitchFamily="34" charset="-128"/>
              </a:defRPr>
            </a:lvl4pPr>
            <a:lvl5pPr>
              <a:defRPr sz="2400">
                <a:solidFill>
                  <a:schemeClr val="tx1"/>
                </a:solidFill>
                <a:latin typeface="Century Gothic" pitchFamily="34" charset="0"/>
                <a:ea typeface="ＭＳ Ｐゴシック" pitchFamily="34" charset="-128"/>
              </a:defRPr>
            </a:lvl5pPr>
            <a:lvl6pPr marL="457200" eaLnBrk="0" fontAlgn="base" hangingPunct="0">
              <a:spcBef>
                <a:spcPct val="0"/>
              </a:spcBef>
              <a:spcAft>
                <a:spcPct val="0"/>
              </a:spcAft>
              <a:defRPr sz="2400">
                <a:solidFill>
                  <a:schemeClr val="tx1"/>
                </a:solidFill>
                <a:latin typeface="Century Gothic" pitchFamily="34" charset="0"/>
                <a:ea typeface="ＭＳ Ｐゴシック" pitchFamily="34" charset="-128"/>
              </a:defRPr>
            </a:lvl6pPr>
            <a:lvl7pPr marL="914400" eaLnBrk="0" fontAlgn="base" hangingPunct="0">
              <a:spcBef>
                <a:spcPct val="0"/>
              </a:spcBef>
              <a:spcAft>
                <a:spcPct val="0"/>
              </a:spcAft>
              <a:defRPr sz="2400">
                <a:solidFill>
                  <a:schemeClr val="tx1"/>
                </a:solidFill>
                <a:latin typeface="Century Gothic" pitchFamily="34" charset="0"/>
                <a:ea typeface="ＭＳ Ｐゴシック" pitchFamily="34" charset="-128"/>
              </a:defRPr>
            </a:lvl7pPr>
            <a:lvl8pPr marL="1371600" eaLnBrk="0" fontAlgn="base" hangingPunct="0">
              <a:spcBef>
                <a:spcPct val="0"/>
              </a:spcBef>
              <a:spcAft>
                <a:spcPct val="0"/>
              </a:spcAft>
              <a:defRPr sz="2400">
                <a:solidFill>
                  <a:schemeClr val="tx1"/>
                </a:solidFill>
                <a:latin typeface="Century Gothic" pitchFamily="34" charset="0"/>
                <a:ea typeface="ＭＳ Ｐゴシック" pitchFamily="34" charset="-128"/>
              </a:defRPr>
            </a:lvl8pPr>
            <a:lvl9pPr marL="1828800" eaLnBrk="0" fontAlgn="base" hangingPunct="0">
              <a:spcBef>
                <a:spcPct val="0"/>
              </a:spcBef>
              <a:spcAft>
                <a:spcPct val="0"/>
              </a:spcAft>
              <a:defRPr sz="2400">
                <a:solidFill>
                  <a:schemeClr val="tx1"/>
                </a:solidFill>
                <a:latin typeface="Century Gothic" pitchFamily="34" charset="0"/>
                <a:ea typeface="ＭＳ Ｐゴシック" pitchFamily="34" charset="-128"/>
              </a:defRPr>
            </a:lvl9pPr>
          </a:lstStyle>
          <a:p>
            <a:pPr eaLnBrk="1" hangingPunct="1">
              <a:spcBef>
                <a:spcPct val="50000"/>
              </a:spcBef>
              <a:defRPr/>
            </a:pPr>
            <a:r>
              <a:rPr lang="en-US">
                <a:solidFill>
                  <a:srgbClr val="003399"/>
                </a:solidFill>
                <a:effectLst>
                  <a:outerShdw blurRad="38100" dist="38100" dir="2700000" algn="tl">
                    <a:srgbClr val="C0C0C0"/>
                  </a:outerShdw>
                </a:effectLst>
                <a:latin typeface="Times New Roman" pitchFamily="18" charset="0"/>
              </a:rPr>
              <a:t>Flexible</a:t>
            </a:r>
          </a:p>
          <a:p>
            <a:pPr eaLnBrk="1" hangingPunct="1">
              <a:spcBef>
                <a:spcPct val="50000"/>
              </a:spcBef>
              <a:defRPr/>
            </a:pPr>
            <a:r>
              <a:rPr lang="en-US" sz="1400" b="1">
                <a:solidFill>
                  <a:srgbClr val="17110B"/>
                </a:solidFill>
                <a:latin typeface="Times New Roman" pitchFamily="18" charset="0"/>
              </a:rPr>
              <a:t>frivolous</a:t>
            </a:r>
          </a:p>
          <a:p>
            <a:pPr eaLnBrk="1" hangingPunct="1">
              <a:spcBef>
                <a:spcPct val="50000"/>
              </a:spcBef>
              <a:defRPr/>
            </a:pPr>
            <a:r>
              <a:rPr lang="en-US" sz="1400" b="1">
                <a:solidFill>
                  <a:srgbClr val="17110B"/>
                </a:solidFill>
                <a:latin typeface="Times New Roman" pitchFamily="18" charset="0"/>
              </a:rPr>
              <a:t>irresponsible</a:t>
            </a:r>
          </a:p>
          <a:p>
            <a:pPr eaLnBrk="1" hangingPunct="1">
              <a:spcBef>
                <a:spcPct val="50000"/>
              </a:spcBef>
              <a:defRPr/>
            </a:pPr>
            <a:r>
              <a:rPr lang="en-US" sz="1400" b="1">
                <a:solidFill>
                  <a:srgbClr val="17110B"/>
                </a:solidFill>
                <a:latin typeface="Times New Roman" pitchFamily="18" charset="0"/>
              </a:rPr>
              <a:t>disorganized</a:t>
            </a:r>
          </a:p>
        </p:txBody>
      </p:sp>
      <p:sp>
        <p:nvSpPr>
          <p:cNvPr id="57350" name="AutoShape 7"/>
          <p:cNvSpPr>
            <a:spLocks noChangeArrowheads="1"/>
          </p:cNvSpPr>
          <p:nvPr/>
        </p:nvSpPr>
        <p:spPr bwMode="auto">
          <a:xfrm>
            <a:off x="3657600" y="4343400"/>
            <a:ext cx="4953000" cy="304800"/>
          </a:xfrm>
          <a:prstGeom prst="leftRightArrow">
            <a:avLst>
              <a:gd name="adj1" fmla="val 50000"/>
              <a:gd name="adj2" fmla="val 325000"/>
            </a:avLst>
          </a:prstGeom>
          <a:solidFill>
            <a:schemeClr val="accent1"/>
          </a:solidFill>
          <a:ln w="9525">
            <a:solidFill>
              <a:schemeClr val="tx1"/>
            </a:solidFill>
            <a:miter lim="800000"/>
            <a:headEnd/>
            <a:tailEnd/>
          </a:ln>
        </p:spPr>
        <p:txBody>
          <a:bodyPr wrap="none" anchor="ctr"/>
          <a:lstStyle/>
          <a:p>
            <a:endParaRPr lang="de-DE"/>
          </a:p>
        </p:txBody>
      </p:sp>
      <p:sp>
        <p:nvSpPr>
          <p:cNvPr id="233480" name="Line 8"/>
          <p:cNvSpPr>
            <a:spLocks noChangeShapeType="1"/>
          </p:cNvSpPr>
          <p:nvPr/>
        </p:nvSpPr>
        <p:spPr bwMode="auto">
          <a:xfrm>
            <a:off x="8229600" y="3733800"/>
            <a:ext cx="0" cy="609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E"/>
          </a:p>
        </p:txBody>
      </p:sp>
      <p:sp>
        <p:nvSpPr>
          <p:cNvPr id="57352" name="Rectangle 2"/>
          <p:cNvSpPr>
            <a:spLocks noChangeArrowheads="1"/>
          </p:cNvSpPr>
          <p:nvPr/>
        </p:nvSpPr>
        <p:spPr bwMode="auto">
          <a:xfrm>
            <a:off x="1981200" y="0"/>
            <a:ext cx="8229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eaLnBrk="1" hangingPunct="1"/>
            <a:r>
              <a:rPr lang="en-US" sz="3000" b="1">
                <a:solidFill>
                  <a:schemeClr val="tx2"/>
                </a:solidFill>
                <a:latin typeface="Century Schoolbook" pitchFamily="18" charset="0"/>
              </a:rPr>
              <a:t>FACTOR 2 – CONSCIENTIOUSNESS</a:t>
            </a:r>
          </a:p>
        </p:txBody>
      </p:sp>
    </p:spTree>
    <p:extLst>
      <p:ext uri="{BB962C8B-B14F-4D97-AF65-F5344CB8AC3E}">
        <p14:creationId xmlns:p14="http://schemas.microsoft.com/office/powerpoint/2010/main" val="11888805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33474"/>
                                        </p:tgtEl>
                                        <p:attrNameLst>
                                          <p:attrName>style.visibility</p:attrName>
                                        </p:attrNameLst>
                                      </p:cBhvr>
                                      <p:to>
                                        <p:strVal val="visible"/>
                                      </p:to>
                                    </p:set>
                                    <p:animEffect transition="in" filter="dissolve">
                                      <p:cBhvr>
                                        <p:cTn id="7" dur="500"/>
                                        <p:tgtEl>
                                          <p:spTgt spid="233474"/>
                                        </p:tgtEl>
                                      </p:cBhvr>
                                    </p:animEffect>
                                  </p:childTnLst>
                                </p:cTn>
                              </p:par>
                            </p:childTnLst>
                          </p:cTn>
                        </p:par>
                        <p:par>
                          <p:cTn id="8" fill="hold" nodeType="afterGroup">
                            <p:stCondLst>
                              <p:cond delay="500"/>
                            </p:stCondLst>
                            <p:childTnLst>
                              <p:par>
                                <p:cTn id="9" presetID="1" presetClass="entr" presetSubtype="0" fill="hold" grpId="0" nodeType="afterEffect">
                                  <p:stCondLst>
                                    <p:cond delay="0"/>
                                  </p:stCondLst>
                                  <p:childTnLst>
                                    <p:set>
                                      <p:cBhvr>
                                        <p:cTn id="10" dur="1" fill="hold">
                                          <p:stCondLst>
                                            <p:cond delay="499"/>
                                          </p:stCondLst>
                                        </p:cTn>
                                        <p:tgtEl>
                                          <p:spTgt spid="233477"/>
                                        </p:tgtEl>
                                        <p:attrNameLst>
                                          <p:attrName>style.visibility</p:attrName>
                                        </p:attrNameLst>
                                      </p:cBhvr>
                                      <p:to>
                                        <p:strVal val="visible"/>
                                      </p:to>
                                    </p:set>
                                  </p:childTnLst>
                                </p:cTn>
                              </p:par>
                            </p:childTnLst>
                          </p:cTn>
                        </p:par>
                        <p:par>
                          <p:cTn id="11" fill="hold" nodeType="afterGroup">
                            <p:stCondLst>
                              <p:cond delay="1000"/>
                            </p:stCondLst>
                            <p:childTnLst>
                              <p:par>
                                <p:cTn id="12" presetID="1" presetClass="entr" presetSubtype="0" fill="hold" grpId="0" nodeType="afterEffect">
                                  <p:stCondLst>
                                    <p:cond delay="0"/>
                                  </p:stCondLst>
                                  <p:childTnLst>
                                    <p:set>
                                      <p:cBhvr>
                                        <p:cTn id="13" dur="1" fill="hold">
                                          <p:stCondLst>
                                            <p:cond delay="499"/>
                                          </p:stCondLst>
                                        </p:cTn>
                                        <p:tgtEl>
                                          <p:spTgt spid="233478"/>
                                        </p:tgtEl>
                                        <p:attrNameLst>
                                          <p:attrName>style.visibility</p:attrName>
                                        </p:attrNameLst>
                                      </p:cBhvr>
                                      <p:to>
                                        <p:strVal val="visible"/>
                                      </p:to>
                                    </p:set>
                                  </p:childTnLst>
                                </p:cTn>
                              </p:par>
                            </p:childTnLst>
                          </p:cTn>
                        </p:par>
                        <p:par>
                          <p:cTn id="14" fill="hold" nodeType="afterGroup">
                            <p:stCondLst>
                              <p:cond delay="1500"/>
                            </p:stCondLst>
                            <p:childTnLst>
                              <p:par>
                                <p:cTn id="15" presetID="35" presetClass="path" presetSubtype="0" accel="50000" decel="50000" autoRev="1" fill="hold" grpId="0" nodeType="afterEffect">
                                  <p:stCondLst>
                                    <p:cond delay="0"/>
                                  </p:stCondLst>
                                  <p:childTnLst>
                                    <p:animMotion origin="layout" path="M 1.11022E-16 1.7341E-7 L -0.425 1.7341E-7 " pathEditMode="relative" rAng="0" ptsTypes="AA">
                                      <p:cBhvr>
                                        <p:cTn id="16" dur="3000" fill="hold"/>
                                        <p:tgtEl>
                                          <p:spTgt spid="233480"/>
                                        </p:tgtEl>
                                        <p:attrNameLst>
                                          <p:attrName>ppt_x</p:attrName>
                                          <p:attrName>ppt_y</p:attrName>
                                        </p:attrNameLst>
                                      </p:cBhvr>
                                      <p:rCtr x="-2125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474" grpId="0" autoUpdateAnimBg="0"/>
      <p:bldP spid="233477" grpId="0" autoUpdateAnimBg="0"/>
      <p:bldP spid="233478" grpId="0" autoUpdateAnimBg="0"/>
      <p:bldP spid="233480"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ChangeArrowheads="1"/>
          </p:cNvSpPr>
          <p:nvPr/>
        </p:nvSpPr>
        <p:spPr bwMode="auto">
          <a:xfrm>
            <a:off x="2362200" y="2209800"/>
            <a:ext cx="77724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90000"/>
              </a:lnSpc>
              <a:spcBef>
                <a:spcPct val="20000"/>
              </a:spcBef>
              <a:buFontTx/>
              <a:buChar char=" "/>
            </a:pPr>
            <a:r>
              <a:rPr lang="en-US" sz="3200">
                <a:solidFill>
                  <a:srgbClr val="000000"/>
                </a:solidFill>
                <a:latin typeface="Times New Roman" pitchFamily="18" charset="0"/>
              </a:rPr>
              <a:t>Traits belonging to extraversion runs on a continuum from “extravert”, at one extreme, to “introvert” at the other</a:t>
            </a:r>
          </a:p>
        </p:txBody>
      </p:sp>
      <p:sp>
        <p:nvSpPr>
          <p:cNvPr id="58371" name="Rectangle 4"/>
          <p:cNvSpPr>
            <a:spLocks noChangeArrowheads="1"/>
          </p:cNvSpPr>
          <p:nvPr/>
        </p:nvSpPr>
        <p:spPr bwMode="auto">
          <a:xfrm>
            <a:off x="2438400" y="1828800"/>
            <a:ext cx="7315200" cy="152400"/>
          </a:xfrm>
          <a:prstGeom prst="rect">
            <a:avLst/>
          </a:prstGeom>
          <a:solidFill>
            <a:schemeClr val="tx2"/>
          </a:solidFill>
          <a:ln w="9525">
            <a:solidFill>
              <a:schemeClr val="accent2"/>
            </a:solidFill>
            <a:miter lim="800000"/>
            <a:headEnd/>
            <a:tailEnd/>
          </a:ln>
        </p:spPr>
        <p:txBody>
          <a:bodyPr wrap="none" anchor="ctr"/>
          <a:lstStyle/>
          <a:p>
            <a:endParaRPr lang="de-DE"/>
          </a:p>
        </p:txBody>
      </p:sp>
      <p:sp>
        <p:nvSpPr>
          <p:cNvPr id="234501" name="Text Box 5"/>
          <p:cNvSpPr txBox="1">
            <a:spLocks noChangeArrowheads="1"/>
          </p:cNvSpPr>
          <p:nvPr/>
        </p:nvSpPr>
        <p:spPr bwMode="auto">
          <a:xfrm>
            <a:off x="2362200" y="4267200"/>
            <a:ext cx="2133600" cy="1107996"/>
          </a:xfrm>
          <a:prstGeom prst="rect">
            <a:avLst/>
          </a:prstGeom>
          <a:noFill/>
          <a:ln w="9525">
            <a:noFill/>
            <a:miter lim="800000"/>
            <a:headEnd/>
            <a:tailEnd/>
          </a:ln>
          <a:effectLst/>
        </p:spPr>
        <p:txBody>
          <a:bodyPr>
            <a:spAutoFit/>
          </a:bodyPr>
          <a:lstStyle>
            <a:lvl1pPr>
              <a:defRPr sz="2400">
                <a:solidFill>
                  <a:schemeClr val="tx1"/>
                </a:solidFill>
                <a:latin typeface="Century Gothic" pitchFamily="34" charset="0"/>
                <a:ea typeface="ＭＳ Ｐゴシック" pitchFamily="34" charset="-128"/>
              </a:defRPr>
            </a:lvl1pPr>
            <a:lvl2pPr marL="37931725" indent="-37474525">
              <a:defRPr sz="2400">
                <a:solidFill>
                  <a:schemeClr val="tx1"/>
                </a:solidFill>
                <a:latin typeface="Century Gothic" pitchFamily="34" charset="0"/>
                <a:ea typeface="ＭＳ Ｐゴシック" pitchFamily="34" charset="-128"/>
              </a:defRPr>
            </a:lvl2pPr>
            <a:lvl3pPr>
              <a:defRPr sz="2400">
                <a:solidFill>
                  <a:schemeClr val="tx1"/>
                </a:solidFill>
                <a:latin typeface="Century Gothic" pitchFamily="34" charset="0"/>
                <a:ea typeface="ＭＳ Ｐゴシック" pitchFamily="34" charset="-128"/>
              </a:defRPr>
            </a:lvl3pPr>
            <a:lvl4pPr>
              <a:defRPr sz="2400">
                <a:solidFill>
                  <a:schemeClr val="tx1"/>
                </a:solidFill>
                <a:latin typeface="Century Gothic" pitchFamily="34" charset="0"/>
                <a:ea typeface="ＭＳ Ｐゴシック" pitchFamily="34" charset="-128"/>
              </a:defRPr>
            </a:lvl4pPr>
            <a:lvl5pPr>
              <a:defRPr sz="2400">
                <a:solidFill>
                  <a:schemeClr val="tx1"/>
                </a:solidFill>
                <a:latin typeface="Century Gothic" pitchFamily="34" charset="0"/>
                <a:ea typeface="ＭＳ Ｐゴシック" pitchFamily="34" charset="-128"/>
              </a:defRPr>
            </a:lvl5pPr>
            <a:lvl6pPr marL="457200" eaLnBrk="0" fontAlgn="base" hangingPunct="0">
              <a:spcBef>
                <a:spcPct val="0"/>
              </a:spcBef>
              <a:spcAft>
                <a:spcPct val="0"/>
              </a:spcAft>
              <a:defRPr sz="2400">
                <a:solidFill>
                  <a:schemeClr val="tx1"/>
                </a:solidFill>
                <a:latin typeface="Century Gothic" pitchFamily="34" charset="0"/>
                <a:ea typeface="ＭＳ Ｐゴシック" pitchFamily="34" charset="-128"/>
              </a:defRPr>
            </a:lvl6pPr>
            <a:lvl7pPr marL="914400" eaLnBrk="0" fontAlgn="base" hangingPunct="0">
              <a:spcBef>
                <a:spcPct val="0"/>
              </a:spcBef>
              <a:spcAft>
                <a:spcPct val="0"/>
              </a:spcAft>
              <a:defRPr sz="2400">
                <a:solidFill>
                  <a:schemeClr val="tx1"/>
                </a:solidFill>
                <a:latin typeface="Century Gothic" pitchFamily="34" charset="0"/>
                <a:ea typeface="ＭＳ Ｐゴシック" pitchFamily="34" charset="-128"/>
              </a:defRPr>
            </a:lvl7pPr>
            <a:lvl8pPr marL="1371600" eaLnBrk="0" fontAlgn="base" hangingPunct="0">
              <a:spcBef>
                <a:spcPct val="0"/>
              </a:spcBef>
              <a:spcAft>
                <a:spcPct val="0"/>
              </a:spcAft>
              <a:defRPr sz="2400">
                <a:solidFill>
                  <a:schemeClr val="tx1"/>
                </a:solidFill>
                <a:latin typeface="Century Gothic" pitchFamily="34" charset="0"/>
                <a:ea typeface="ＭＳ Ｐゴシック" pitchFamily="34" charset="-128"/>
              </a:defRPr>
            </a:lvl8pPr>
            <a:lvl9pPr marL="1828800" eaLnBrk="0" fontAlgn="base" hangingPunct="0">
              <a:spcBef>
                <a:spcPct val="0"/>
              </a:spcBef>
              <a:spcAft>
                <a:spcPct val="0"/>
              </a:spcAft>
              <a:defRPr sz="2400">
                <a:solidFill>
                  <a:schemeClr val="tx1"/>
                </a:solidFill>
                <a:latin typeface="Century Gothic" pitchFamily="34" charset="0"/>
                <a:ea typeface="ＭＳ Ｐゴシック" pitchFamily="34" charset="-128"/>
              </a:defRPr>
            </a:lvl9pPr>
          </a:lstStyle>
          <a:p>
            <a:pPr eaLnBrk="1" hangingPunct="1">
              <a:spcBef>
                <a:spcPct val="50000"/>
              </a:spcBef>
              <a:defRPr/>
            </a:pPr>
            <a:r>
              <a:rPr lang="en-US">
                <a:solidFill>
                  <a:srgbClr val="003399"/>
                </a:solidFill>
                <a:effectLst>
                  <a:outerShdw blurRad="38100" dist="38100" dir="2700000" algn="tl">
                    <a:srgbClr val="C0C0C0"/>
                  </a:outerShdw>
                </a:effectLst>
                <a:latin typeface="Times New Roman" pitchFamily="18" charset="0"/>
              </a:rPr>
              <a:t>Extravert</a:t>
            </a:r>
          </a:p>
          <a:p>
            <a:pPr eaLnBrk="1" hangingPunct="1">
              <a:spcBef>
                <a:spcPct val="50000"/>
              </a:spcBef>
              <a:defRPr/>
            </a:pPr>
            <a:r>
              <a:rPr lang="en-US" sz="1400" b="1">
                <a:solidFill>
                  <a:srgbClr val="17110B"/>
                </a:solidFill>
                <a:latin typeface="Times New Roman" pitchFamily="18" charset="0"/>
              </a:rPr>
              <a:t>Warm</a:t>
            </a:r>
          </a:p>
          <a:p>
            <a:pPr eaLnBrk="1" hangingPunct="1">
              <a:spcBef>
                <a:spcPct val="50000"/>
              </a:spcBef>
              <a:defRPr/>
            </a:pPr>
            <a:r>
              <a:rPr lang="en-US" sz="1400" b="1">
                <a:solidFill>
                  <a:srgbClr val="17110B"/>
                </a:solidFill>
                <a:latin typeface="Times New Roman" pitchFamily="18" charset="0"/>
              </a:rPr>
              <a:t>positive</a:t>
            </a:r>
          </a:p>
        </p:txBody>
      </p:sp>
      <p:sp>
        <p:nvSpPr>
          <p:cNvPr id="234502" name="Text Box 6"/>
          <p:cNvSpPr txBox="1">
            <a:spLocks noChangeArrowheads="1"/>
          </p:cNvSpPr>
          <p:nvPr/>
        </p:nvSpPr>
        <p:spPr bwMode="auto">
          <a:xfrm>
            <a:off x="8610600" y="4191001"/>
            <a:ext cx="2057400" cy="1108075"/>
          </a:xfrm>
          <a:prstGeom prst="rect">
            <a:avLst/>
          </a:prstGeom>
          <a:noFill/>
          <a:ln w="9525">
            <a:noFill/>
            <a:miter lim="800000"/>
            <a:headEnd/>
            <a:tailEnd/>
          </a:ln>
          <a:effectLst/>
        </p:spPr>
        <p:txBody>
          <a:bodyPr>
            <a:spAutoFit/>
          </a:bodyPr>
          <a:lstStyle>
            <a:lvl1pPr>
              <a:defRPr sz="2400">
                <a:solidFill>
                  <a:schemeClr val="tx1"/>
                </a:solidFill>
                <a:latin typeface="Century Gothic" pitchFamily="34" charset="0"/>
                <a:ea typeface="ＭＳ Ｐゴシック" pitchFamily="34" charset="-128"/>
              </a:defRPr>
            </a:lvl1pPr>
            <a:lvl2pPr marL="37931725" indent="-37474525">
              <a:defRPr sz="2400">
                <a:solidFill>
                  <a:schemeClr val="tx1"/>
                </a:solidFill>
                <a:latin typeface="Century Gothic" pitchFamily="34" charset="0"/>
                <a:ea typeface="ＭＳ Ｐゴシック" pitchFamily="34" charset="-128"/>
              </a:defRPr>
            </a:lvl2pPr>
            <a:lvl3pPr>
              <a:defRPr sz="2400">
                <a:solidFill>
                  <a:schemeClr val="tx1"/>
                </a:solidFill>
                <a:latin typeface="Century Gothic" pitchFamily="34" charset="0"/>
                <a:ea typeface="ＭＳ Ｐゴシック" pitchFamily="34" charset="-128"/>
              </a:defRPr>
            </a:lvl3pPr>
            <a:lvl4pPr>
              <a:defRPr sz="2400">
                <a:solidFill>
                  <a:schemeClr val="tx1"/>
                </a:solidFill>
                <a:latin typeface="Century Gothic" pitchFamily="34" charset="0"/>
                <a:ea typeface="ＭＳ Ｐゴシック" pitchFamily="34" charset="-128"/>
              </a:defRPr>
            </a:lvl4pPr>
            <a:lvl5pPr>
              <a:defRPr sz="2400">
                <a:solidFill>
                  <a:schemeClr val="tx1"/>
                </a:solidFill>
                <a:latin typeface="Century Gothic" pitchFamily="34" charset="0"/>
                <a:ea typeface="ＭＳ Ｐゴシック" pitchFamily="34" charset="-128"/>
              </a:defRPr>
            </a:lvl5pPr>
            <a:lvl6pPr marL="457200" eaLnBrk="0" fontAlgn="base" hangingPunct="0">
              <a:spcBef>
                <a:spcPct val="0"/>
              </a:spcBef>
              <a:spcAft>
                <a:spcPct val="0"/>
              </a:spcAft>
              <a:defRPr sz="2400">
                <a:solidFill>
                  <a:schemeClr val="tx1"/>
                </a:solidFill>
                <a:latin typeface="Century Gothic" pitchFamily="34" charset="0"/>
                <a:ea typeface="ＭＳ Ｐゴシック" pitchFamily="34" charset="-128"/>
              </a:defRPr>
            </a:lvl6pPr>
            <a:lvl7pPr marL="914400" eaLnBrk="0" fontAlgn="base" hangingPunct="0">
              <a:spcBef>
                <a:spcPct val="0"/>
              </a:spcBef>
              <a:spcAft>
                <a:spcPct val="0"/>
              </a:spcAft>
              <a:defRPr sz="2400">
                <a:solidFill>
                  <a:schemeClr val="tx1"/>
                </a:solidFill>
                <a:latin typeface="Century Gothic" pitchFamily="34" charset="0"/>
                <a:ea typeface="ＭＳ Ｐゴシック" pitchFamily="34" charset="-128"/>
              </a:defRPr>
            </a:lvl7pPr>
            <a:lvl8pPr marL="1371600" eaLnBrk="0" fontAlgn="base" hangingPunct="0">
              <a:spcBef>
                <a:spcPct val="0"/>
              </a:spcBef>
              <a:spcAft>
                <a:spcPct val="0"/>
              </a:spcAft>
              <a:defRPr sz="2400">
                <a:solidFill>
                  <a:schemeClr val="tx1"/>
                </a:solidFill>
                <a:latin typeface="Century Gothic" pitchFamily="34" charset="0"/>
                <a:ea typeface="ＭＳ Ｐゴシック" pitchFamily="34" charset="-128"/>
              </a:defRPr>
            </a:lvl8pPr>
            <a:lvl9pPr marL="1828800" eaLnBrk="0" fontAlgn="base" hangingPunct="0">
              <a:spcBef>
                <a:spcPct val="0"/>
              </a:spcBef>
              <a:spcAft>
                <a:spcPct val="0"/>
              </a:spcAft>
              <a:defRPr sz="2400">
                <a:solidFill>
                  <a:schemeClr val="tx1"/>
                </a:solidFill>
                <a:latin typeface="Century Gothic" pitchFamily="34" charset="0"/>
                <a:ea typeface="ＭＳ Ｐゴシック" pitchFamily="34" charset="-128"/>
              </a:defRPr>
            </a:lvl9pPr>
          </a:lstStyle>
          <a:p>
            <a:pPr eaLnBrk="1" hangingPunct="1">
              <a:spcBef>
                <a:spcPct val="50000"/>
              </a:spcBef>
              <a:defRPr/>
            </a:pPr>
            <a:r>
              <a:rPr lang="en-US">
                <a:solidFill>
                  <a:srgbClr val="003399"/>
                </a:solidFill>
                <a:effectLst>
                  <a:outerShdw blurRad="38100" dist="38100" dir="2700000" algn="tl">
                    <a:srgbClr val="C0C0C0"/>
                  </a:outerShdw>
                </a:effectLst>
                <a:latin typeface="Times New Roman" pitchFamily="18" charset="0"/>
              </a:rPr>
              <a:t>Introvert</a:t>
            </a:r>
            <a:endParaRPr lang="en-US" dirty="0">
              <a:solidFill>
                <a:srgbClr val="003399"/>
              </a:solidFill>
              <a:effectLst>
                <a:outerShdw blurRad="38100" dist="38100" dir="2700000" algn="tl">
                  <a:srgbClr val="C0C0C0"/>
                </a:outerShdw>
              </a:effectLst>
              <a:latin typeface="Times New Roman" pitchFamily="18" charset="0"/>
            </a:endParaRPr>
          </a:p>
          <a:p>
            <a:pPr eaLnBrk="1" hangingPunct="1">
              <a:spcBef>
                <a:spcPct val="50000"/>
              </a:spcBef>
              <a:defRPr/>
            </a:pPr>
            <a:r>
              <a:rPr lang="en-US" sz="1400" b="1" dirty="0">
                <a:solidFill>
                  <a:srgbClr val="17110B"/>
                </a:solidFill>
                <a:latin typeface="Times New Roman" pitchFamily="18" charset="0"/>
              </a:rPr>
              <a:t>Reserved</a:t>
            </a:r>
          </a:p>
          <a:p>
            <a:pPr eaLnBrk="1" hangingPunct="1">
              <a:spcBef>
                <a:spcPct val="50000"/>
              </a:spcBef>
              <a:defRPr/>
            </a:pPr>
            <a:r>
              <a:rPr lang="en-US" sz="1400" b="1" dirty="0">
                <a:solidFill>
                  <a:srgbClr val="17110B"/>
                </a:solidFill>
                <a:latin typeface="Times New Roman" pitchFamily="18" charset="0"/>
              </a:rPr>
              <a:t>Shy</a:t>
            </a:r>
          </a:p>
        </p:txBody>
      </p:sp>
      <p:sp>
        <p:nvSpPr>
          <p:cNvPr id="58374" name="AutoShape 7"/>
          <p:cNvSpPr>
            <a:spLocks noChangeArrowheads="1"/>
          </p:cNvSpPr>
          <p:nvPr/>
        </p:nvSpPr>
        <p:spPr bwMode="auto">
          <a:xfrm>
            <a:off x="3657600" y="4343400"/>
            <a:ext cx="4953000" cy="304800"/>
          </a:xfrm>
          <a:prstGeom prst="leftRightArrow">
            <a:avLst>
              <a:gd name="adj1" fmla="val 50000"/>
              <a:gd name="adj2" fmla="val 325000"/>
            </a:avLst>
          </a:prstGeom>
          <a:solidFill>
            <a:schemeClr val="accent1"/>
          </a:solidFill>
          <a:ln w="9525">
            <a:solidFill>
              <a:schemeClr val="tx1"/>
            </a:solidFill>
            <a:miter lim="800000"/>
            <a:headEnd/>
            <a:tailEnd/>
          </a:ln>
        </p:spPr>
        <p:txBody>
          <a:bodyPr wrap="none" anchor="ctr"/>
          <a:lstStyle/>
          <a:p>
            <a:endParaRPr lang="de-DE"/>
          </a:p>
        </p:txBody>
      </p:sp>
      <p:sp>
        <p:nvSpPr>
          <p:cNvPr id="234504" name="Line 8"/>
          <p:cNvSpPr>
            <a:spLocks noChangeShapeType="1"/>
          </p:cNvSpPr>
          <p:nvPr/>
        </p:nvSpPr>
        <p:spPr bwMode="auto">
          <a:xfrm>
            <a:off x="8229600" y="3733800"/>
            <a:ext cx="0" cy="609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E"/>
          </a:p>
        </p:txBody>
      </p:sp>
      <p:sp>
        <p:nvSpPr>
          <p:cNvPr id="58376" name="Rectangle 2"/>
          <p:cNvSpPr>
            <a:spLocks noChangeArrowheads="1"/>
          </p:cNvSpPr>
          <p:nvPr/>
        </p:nvSpPr>
        <p:spPr bwMode="auto">
          <a:xfrm>
            <a:off x="1981200" y="0"/>
            <a:ext cx="8229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eaLnBrk="1" hangingPunct="1"/>
            <a:r>
              <a:rPr lang="en-US" sz="3000" b="1">
                <a:solidFill>
                  <a:schemeClr val="tx2"/>
                </a:solidFill>
                <a:latin typeface="Century Schoolbook" pitchFamily="18" charset="0"/>
              </a:rPr>
              <a:t>FACTOR 3 – EXTRAVERSION</a:t>
            </a:r>
          </a:p>
        </p:txBody>
      </p:sp>
    </p:spTree>
    <p:extLst>
      <p:ext uri="{BB962C8B-B14F-4D97-AF65-F5344CB8AC3E}">
        <p14:creationId xmlns:p14="http://schemas.microsoft.com/office/powerpoint/2010/main" val="10362005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34498"/>
                                        </p:tgtEl>
                                        <p:attrNameLst>
                                          <p:attrName>style.visibility</p:attrName>
                                        </p:attrNameLst>
                                      </p:cBhvr>
                                      <p:to>
                                        <p:strVal val="visible"/>
                                      </p:to>
                                    </p:set>
                                    <p:animEffect transition="in" filter="dissolve">
                                      <p:cBhvr>
                                        <p:cTn id="7" dur="500"/>
                                        <p:tgtEl>
                                          <p:spTgt spid="234498"/>
                                        </p:tgtEl>
                                      </p:cBhvr>
                                    </p:animEffect>
                                  </p:childTnLst>
                                </p:cTn>
                              </p:par>
                            </p:childTnLst>
                          </p:cTn>
                        </p:par>
                        <p:par>
                          <p:cTn id="8" fill="hold" nodeType="afterGroup">
                            <p:stCondLst>
                              <p:cond delay="500"/>
                            </p:stCondLst>
                            <p:childTnLst>
                              <p:par>
                                <p:cTn id="9" presetID="1" presetClass="entr" presetSubtype="0" fill="hold" grpId="0" nodeType="afterEffect">
                                  <p:stCondLst>
                                    <p:cond delay="0"/>
                                  </p:stCondLst>
                                  <p:childTnLst>
                                    <p:set>
                                      <p:cBhvr>
                                        <p:cTn id="10" dur="1" fill="hold">
                                          <p:stCondLst>
                                            <p:cond delay="499"/>
                                          </p:stCondLst>
                                        </p:cTn>
                                        <p:tgtEl>
                                          <p:spTgt spid="234501"/>
                                        </p:tgtEl>
                                        <p:attrNameLst>
                                          <p:attrName>style.visibility</p:attrName>
                                        </p:attrNameLst>
                                      </p:cBhvr>
                                      <p:to>
                                        <p:strVal val="visible"/>
                                      </p:to>
                                    </p:set>
                                  </p:childTnLst>
                                </p:cTn>
                              </p:par>
                            </p:childTnLst>
                          </p:cTn>
                        </p:par>
                        <p:par>
                          <p:cTn id="11" fill="hold" nodeType="afterGroup">
                            <p:stCondLst>
                              <p:cond delay="1000"/>
                            </p:stCondLst>
                            <p:childTnLst>
                              <p:par>
                                <p:cTn id="12" presetID="1" presetClass="entr" presetSubtype="0" fill="hold" grpId="0" nodeType="afterEffect">
                                  <p:stCondLst>
                                    <p:cond delay="0"/>
                                  </p:stCondLst>
                                  <p:childTnLst>
                                    <p:set>
                                      <p:cBhvr>
                                        <p:cTn id="13" dur="1" fill="hold">
                                          <p:stCondLst>
                                            <p:cond delay="499"/>
                                          </p:stCondLst>
                                        </p:cTn>
                                        <p:tgtEl>
                                          <p:spTgt spid="234502"/>
                                        </p:tgtEl>
                                        <p:attrNameLst>
                                          <p:attrName>style.visibility</p:attrName>
                                        </p:attrNameLst>
                                      </p:cBhvr>
                                      <p:to>
                                        <p:strVal val="visible"/>
                                      </p:to>
                                    </p:set>
                                  </p:childTnLst>
                                </p:cTn>
                              </p:par>
                            </p:childTnLst>
                          </p:cTn>
                        </p:par>
                        <p:par>
                          <p:cTn id="14" fill="hold" nodeType="afterGroup">
                            <p:stCondLst>
                              <p:cond delay="1500"/>
                            </p:stCondLst>
                            <p:childTnLst>
                              <p:par>
                                <p:cTn id="15" presetID="35" presetClass="path" presetSubtype="0" accel="50000" decel="50000" autoRev="1" fill="hold" grpId="0" nodeType="afterEffect">
                                  <p:stCondLst>
                                    <p:cond delay="0"/>
                                  </p:stCondLst>
                                  <p:childTnLst>
                                    <p:animMotion origin="layout" path="M 1.11022E-16 1.7341E-7 L -0.425 1.7341E-7 " pathEditMode="relative" rAng="0" ptsTypes="AA">
                                      <p:cBhvr>
                                        <p:cTn id="16" dur="3000" fill="hold"/>
                                        <p:tgtEl>
                                          <p:spTgt spid="234504"/>
                                        </p:tgtEl>
                                        <p:attrNameLst>
                                          <p:attrName>ppt_x</p:attrName>
                                          <p:attrName>ppt_y</p:attrName>
                                        </p:attrNameLst>
                                      </p:cBhvr>
                                      <p:rCtr x="-2125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498" grpId="0" autoUpdateAnimBg="0"/>
      <p:bldP spid="234501" grpId="0" autoUpdateAnimBg="0"/>
      <p:bldP spid="234502" grpId="0" autoUpdateAnimBg="0"/>
      <p:bldP spid="23450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p:cNvSpPr>
            <a:spLocks noChangeArrowheads="1"/>
          </p:cNvSpPr>
          <p:nvPr/>
        </p:nvSpPr>
        <p:spPr bwMode="auto">
          <a:xfrm>
            <a:off x="2362200" y="2209800"/>
            <a:ext cx="77724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90000"/>
              </a:lnSpc>
              <a:spcBef>
                <a:spcPct val="20000"/>
              </a:spcBef>
              <a:buFontTx/>
              <a:buChar char=" "/>
            </a:pPr>
            <a:r>
              <a:rPr lang="en-US" sz="3200">
                <a:solidFill>
                  <a:srgbClr val="000000"/>
                </a:solidFill>
                <a:latin typeface="Times New Roman" pitchFamily="18" charset="0"/>
              </a:rPr>
              <a:t>Traits belonging to agreeableness runs on a continuum from “adapter”, at one extreme, to “challenger” at the other</a:t>
            </a:r>
          </a:p>
        </p:txBody>
      </p:sp>
      <p:sp>
        <p:nvSpPr>
          <p:cNvPr id="59395" name="Rectangle 4"/>
          <p:cNvSpPr>
            <a:spLocks noChangeArrowheads="1"/>
          </p:cNvSpPr>
          <p:nvPr/>
        </p:nvSpPr>
        <p:spPr bwMode="auto">
          <a:xfrm>
            <a:off x="2438400" y="1828800"/>
            <a:ext cx="7315200" cy="152400"/>
          </a:xfrm>
          <a:prstGeom prst="rect">
            <a:avLst/>
          </a:prstGeom>
          <a:solidFill>
            <a:schemeClr val="tx2"/>
          </a:solidFill>
          <a:ln w="9525">
            <a:solidFill>
              <a:schemeClr val="accent2"/>
            </a:solidFill>
            <a:miter lim="800000"/>
            <a:headEnd/>
            <a:tailEnd/>
          </a:ln>
        </p:spPr>
        <p:txBody>
          <a:bodyPr wrap="none" anchor="ctr"/>
          <a:lstStyle/>
          <a:p>
            <a:endParaRPr lang="de-DE"/>
          </a:p>
        </p:txBody>
      </p:sp>
      <p:sp>
        <p:nvSpPr>
          <p:cNvPr id="235525" name="Text Box 5"/>
          <p:cNvSpPr txBox="1">
            <a:spLocks noChangeArrowheads="1"/>
          </p:cNvSpPr>
          <p:nvPr/>
        </p:nvSpPr>
        <p:spPr bwMode="auto">
          <a:xfrm>
            <a:off x="2362200" y="4267201"/>
            <a:ext cx="2133600" cy="1431161"/>
          </a:xfrm>
          <a:prstGeom prst="rect">
            <a:avLst/>
          </a:prstGeom>
          <a:noFill/>
          <a:ln w="9525">
            <a:noFill/>
            <a:miter lim="800000"/>
            <a:headEnd/>
            <a:tailEnd/>
          </a:ln>
          <a:effectLst/>
        </p:spPr>
        <p:txBody>
          <a:bodyPr>
            <a:spAutoFit/>
          </a:bodyPr>
          <a:lstStyle>
            <a:lvl1pPr>
              <a:defRPr sz="2400">
                <a:solidFill>
                  <a:schemeClr val="tx1"/>
                </a:solidFill>
                <a:latin typeface="Century Gothic" pitchFamily="34" charset="0"/>
                <a:ea typeface="ＭＳ Ｐゴシック" pitchFamily="34" charset="-128"/>
              </a:defRPr>
            </a:lvl1pPr>
            <a:lvl2pPr marL="37931725" indent="-37474525">
              <a:defRPr sz="2400">
                <a:solidFill>
                  <a:schemeClr val="tx1"/>
                </a:solidFill>
                <a:latin typeface="Century Gothic" pitchFamily="34" charset="0"/>
                <a:ea typeface="ＭＳ Ｐゴシック" pitchFamily="34" charset="-128"/>
              </a:defRPr>
            </a:lvl2pPr>
            <a:lvl3pPr>
              <a:defRPr sz="2400">
                <a:solidFill>
                  <a:schemeClr val="tx1"/>
                </a:solidFill>
                <a:latin typeface="Century Gothic" pitchFamily="34" charset="0"/>
                <a:ea typeface="ＭＳ Ｐゴシック" pitchFamily="34" charset="-128"/>
              </a:defRPr>
            </a:lvl3pPr>
            <a:lvl4pPr>
              <a:defRPr sz="2400">
                <a:solidFill>
                  <a:schemeClr val="tx1"/>
                </a:solidFill>
                <a:latin typeface="Century Gothic" pitchFamily="34" charset="0"/>
                <a:ea typeface="ＭＳ Ｐゴシック" pitchFamily="34" charset="-128"/>
              </a:defRPr>
            </a:lvl4pPr>
            <a:lvl5pPr>
              <a:defRPr sz="2400">
                <a:solidFill>
                  <a:schemeClr val="tx1"/>
                </a:solidFill>
                <a:latin typeface="Century Gothic" pitchFamily="34" charset="0"/>
                <a:ea typeface="ＭＳ Ｐゴシック" pitchFamily="34" charset="-128"/>
              </a:defRPr>
            </a:lvl5pPr>
            <a:lvl6pPr marL="457200" eaLnBrk="0" fontAlgn="base" hangingPunct="0">
              <a:spcBef>
                <a:spcPct val="0"/>
              </a:spcBef>
              <a:spcAft>
                <a:spcPct val="0"/>
              </a:spcAft>
              <a:defRPr sz="2400">
                <a:solidFill>
                  <a:schemeClr val="tx1"/>
                </a:solidFill>
                <a:latin typeface="Century Gothic" pitchFamily="34" charset="0"/>
                <a:ea typeface="ＭＳ Ｐゴシック" pitchFamily="34" charset="-128"/>
              </a:defRPr>
            </a:lvl6pPr>
            <a:lvl7pPr marL="914400" eaLnBrk="0" fontAlgn="base" hangingPunct="0">
              <a:spcBef>
                <a:spcPct val="0"/>
              </a:spcBef>
              <a:spcAft>
                <a:spcPct val="0"/>
              </a:spcAft>
              <a:defRPr sz="2400">
                <a:solidFill>
                  <a:schemeClr val="tx1"/>
                </a:solidFill>
                <a:latin typeface="Century Gothic" pitchFamily="34" charset="0"/>
                <a:ea typeface="ＭＳ Ｐゴシック" pitchFamily="34" charset="-128"/>
              </a:defRPr>
            </a:lvl7pPr>
            <a:lvl8pPr marL="1371600" eaLnBrk="0" fontAlgn="base" hangingPunct="0">
              <a:spcBef>
                <a:spcPct val="0"/>
              </a:spcBef>
              <a:spcAft>
                <a:spcPct val="0"/>
              </a:spcAft>
              <a:defRPr sz="2400">
                <a:solidFill>
                  <a:schemeClr val="tx1"/>
                </a:solidFill>
                <a:latin typeface="Century Gothic" pitchFamily="34" charset="0"/>
                <a:ea typeface="ＭＳ Ｐゴシック" pitchFamily="34" charset="-128"/>
              </a:defRPr>
            </a:lvl8pPr>
            <a:lvl9pPr marL="1828800" eaLnBrk="0" fontAlgn="base" hangingPunct="0">
              <a:spcBef>
                <a:spcPct val="0"/>
              </a:spcBef>
              <a:spcAft>
                <a:spcPct val="0"/>
              </a:spcAft>
              <a:defRPr sz="2400">
                <a:solidFill>
                  <a:schemeClr val="tx1"/>
                </a:solidFill>
                <a:latin typeface="Century Gothic" pitchFamily="34" charset="0"/>
                <a:ea typeface="ＭＳ Ｐゴシック" pitchFamily="34" charset="-128"/>
              </a:defRPr>
            </a:lvl9pPr>
          </a:lstStyle>
          <a:p>
            <a:pPr eaLnBrk="1" hangingPunct="1">
              <a:spcBef>
                <a:spcPct val="50000"/>
              </a:spcBef>
              <a:defRPr/>
            </a:pPr>
            <a:r>
              <a:rPr lang="en-US">
                <a:solidFill>
                  <a:srgbClr val="003399"/>
                </a:solidFill>
                <a:effectLst>
                  <a:outerShdw blurRad="38100" dist="38100" dir="2700000" algn="tl">
                    <a:srgbClr val="C0C0C0"/>
                  </a:outerShdw>
                </a:effectLst>
                <a:latin typeface="Times New Roman" pitchFamily="18" charset="0"/>
              </a:rPr>
              <a:t>Adapter</a:t>
            </a:r>
          </a:p>
          <a:p>
            <a:pPr eaLnBrk="1" hangingPunct="1">
              <a:spcBef>
                <a:spcPct val="50000"/>
              </a:spcBef>
              <a:defRPr/>
            </a:pPr>
            <a:r>
              <a:rPr lang="en-US" sz="1400" b="1">
                <a:solidFill>
                  <a:srgbClr val="17110B"/>
                </a:solidFill>
                <a:latin typeface="Times New Roman" pitchFamily="18" charset="0"/>
              </a:rPr>
              <a:t>Straightforward, </a:t>
            </a:r>
          </a:p>
          <a:p>
            <a:pPr eaLnBrk="1" hangingPunct="1">
              <a:spcBef>
                <a:spcPct val="50000"/>
              </a:spcBef>
              <a:defRPr/>
            </a:pPr>
            <a:r>
              <a:rPr lang="en-US" sz="1400" b="1">
                <a:solidFill>
                  <a:srgbClr val="17110B"/>
                </a:solidFill>
                <a:latin typeface="Times New Roman" pitchFamily="18" charset="0"/>
              </a:rPr>
              <a:t>compliant</a:t>
            </a:r>
          </a:p>
          <a:p>
            <a:pPr eaLnBrk="1" hangingPunct="1">
              <a:spcBef>
                <a:spcPct val="50000"/>
              </a:spcBef>
              <a:defRPr/>
            </a:pPr>
            <a:r>
              <a:rPr lang="en-US" sz="1400" b="1">
                <a:solidFill>
                  <a:srgbClr val="17110B"/>
                </a:solidFill>
                <a:latin typeface="Times New Roman" pitchFamily="18" charset="0"/>
              </a:rPr>
              <a:t>sympathetic</a:t>
            </a:r>
          </a:p>
        </p:txBody>
      </p:sp>
      <p:sp>
        <p:nvSpPr>
          <p:cNvPr id="235526" name="Text Box 6"/>
          <p:cNvSpPr txBox="1">
            <a:spLocks noChangeArrowheads="1"/>
          </p:cNvSpPr>
          <p:nvPr/>
        </p:nvSpPr>
        <p:spPr bwMode="auto">
          <a:xfrm>
            <a:off x="8610600" y="4191000"/>
            <a:ext cx="2057400" cy="1107996"/>
          </a:xfrm>
          <a:prstGeom prst="rect">
            <a:avLst/>
          </a:prstGeom>
          <a:noFill/>
          <a:ln w="9525">
            <a:noFill/>
            <a:miter lim="800000"/>
            <a:headEnd/>
            <a:tailEnd/>
          </a:ln>
          <a:effectLst/>
        </p:spPr>
        <p:txBody>
          <a:bodyPr>
            <a:spAutoFit/>
          </a:bodyPr>
          <a:lstStyle>
            <a:lvl1pPr>
              <a:defRPr sz="2400">
                <a:solidFill>
                  <a:schemeClr val="tx1"/>
                </a:solidFill>
                <a:latin typeface="Century Gothic" pitchFamily="34" charset="0"/>
                <a:ea typeface="ＭＳ Ｐゴシック" pitchFamily="34" charset="-128"/>
              </a:defRPr>
            </a:lvl1pPr>
            <a:lvl2pPr marL="37931725" indent="-37474525">
              <a:defRPr sz="2400">
                <a:solidFill>
                  <a:schemeClr val="tx1"/>
                </a:solidFill>
                <a:latin typeface="Century Gothic" pitchFamily="34" charset="0"/>
                <a:ea typeface="ＭＳ Ｐゴシック" pitchFamily="34" charset="-128"/>
              </a:defRPr>
            </a:lvl2pPr>
            <a:lvl3pPr>
              <a:defRPr sz="2400">
                <a:solidFill>
                  <a:schemeClr val="tx1"/>
                </a:solidFill>
                <a:latin typeface="Century Gothic" pitchFamily="34" charset="0"/>
                <a:ea typeface="ＭＳ Ｐゴシック" pitchFamily="34" charset="-128"/>
              </a:defRPr>
            </a:lvl3pPr>
            <a:lvl4pPr>
              <a:defRPr sz="2400">
                <a:solidFill>
                  <a:schemeClr val="tx1"/>
                </a:solidFill>
                <a:latin typeface="Century Gothic" pitchFamily="34" charset="0"/>
                <a:ea typeface="ＭＳ Ｐゴシック" pitchFamily="34" charset="-128"/>
              </a:defRPr>
            </a:lvl4pPr>
            <a:lvl5pPr>
              <a:defRPr sz="2400">
                <a:solidFill>
                  <a:schemeClr val="tx1"/>
                </a:solidFill>
                <a:latin typeface="Century Gothic" pitchFamily="34" charset="0"/>
                <a:ea typeface="ＭＳ Ｐゴシック" pitchFamily="34" charset="-128"/>
              </a:defRPr>
            </a:lvl5pPr>
            <a:lvl6pPr marL="457200" eaLnBrk="0" fontAlgn="base" hangingPunct="0">
              <a:spcBef>
                <a:spcPct val="0"/>
              </a:spcBef>
              <a:spcAft>
                <a:spcPct val="0"/>
              </a:spcAft>
              <a:defRPr sz="2400">
                <a:solidFill>
                  <a:schemeClr val="tx1"/>
                </a:solidFill>
                <a:latin typeface="Century Gothic" pitchFamily="34" charset="0"/>
                <a:ea typeface="ＭＳ Ｐゴシック" pitchFamily="34" charset="-128"/>
              </a:defRPr>
            </a:lvl6pPr>
            <a:lvl7pPr marL="914400" eaLnBrk="0" fontAlgn="base" hangingPunct="0">
              <a:spcBef>
                <a:spcPct val="0"/>
              </a:spcBef>
              <a:spcAft>
                <a:spcPct val="0"/>
              </a:spcAft>
              <a:defRPr sz="2400">
                <a:solidFill>
                  <a:schemeClr val="tx1"/>
                </a:solidFill>
                <a:latin typeface="Century Gothic" pitchFamily="34" charset="0"/>
                <a:ea typeface="ＭＳ Ｐゴシック" pitchFamily="34" charset="-128"/>
              </a:defRPr>
            </a:lvl7pPr>
            <a:lvl8pPr marL="1371600" eaLnBrk="0" fontAlgn="base" hangingPunct="0">
              <a:spcBef>
                <a:spcPct val="0"/>
              </a:spcBef>
              <a:spcAft>
                <a:spcPct val="0"/>
              </a:spcAft>
              <a:defRPr sz="2400">
                <a:solidFill>
                  <a:schemeClr val="tx1"/>
                </a:solidFill>
                <a:latin typeface="Century Gothic" pitchFamily="34" charset="0"/>
                <a:ea typeface="ＭＳ Ｐゴシック" pitchFamily="34" charset="-128"/>
              </a:defRPr>
            </a:lvl8pPr>
            <a:lvl9pPr marL="1828800" eaLnBrk="0" fontAlgn="base" hangingPunct="0">
              <a:spcBef>
                <a:spcPct val="0"/>
              </a:spcBef>
              <a:spcAft>
                <a:spcPct val="0"/>
              </a:spcAft>
              <a:defRPr sz="2400">
                <a:solidFill>
                  <a:schemeClr val="tx1"/>
                </a:solidFill>
                <a:latin typeface="Century Gothic" pitchFamily="34" charset="0"/>
                <a:ea typeface="ＭＳ Ｐゴシック" pitchFamily="34" charset="-128"/>
              </a:defRPr>
            </a:lvl9pPr>
          </a:lstStyle>
          <a:p>
            <a:pPr eaLnBrk="1" hangingPunct="1">
              <a:spcBef>
                <a:spcPct val="50000"/>
              </a:spcBef>
              <a:defRPr/>
            </a:pPr>
            <a:r>
              <a:rPr lang="en-US">
                <a:solidFill>
                  <a:srgbClr val="003399"/>
                </a:solidFill>
                <a:effectLst>
                  <a:outerShdw blurRad="38100" dist="38100" dir="2700000" algn="tl">
                    <a:srgbClr val="C0C0C0"/>
                  </a:outerShdw>
                </a:effectLst>
                <a:latin typeface="Times New Roman" pitchFamily="18" charset="0"/>
              </a:rPr>
              <a:t>Challenger</a:t>
            </a:r>
          </a:p>
          <a:p>
            <a:pPr eaLnBrk="1" hangingPunct="1">
              <a:spcBef>
                <a:spcPct val="50000"/>
              </a:spcBef>
              <a:defRPr/>
            </a:pPr>
            <a:r>
              <a:rPr lang="en-US" sz="1400" b="1">
                <a:solidFill>
                  <a:srgbClr val="17110B"/>
                </a:solidFill>
                <a:latin typeface="Times New Roman" pitchFamily="18" charset="0"/>
              </a:rPr>
              <a:t>Quarrelsome</a:t>
            </a:r>
          </a:p>
          <a:p>
            <a:pPr eaLnBrk="1" hangingPunct="1">
              <a:spcBef>
                <a:spcPct val="50000"/>
              </a:spcBef>
              <a:defRPr/>
            </a:pPr>
            <a:r>
              <a:rPr lang="en-US" sz="1400" b="1">
                <a:solidFill>
                  <a:srgbClr val="17110B"/>
                </a:solidFill>
                <a:latin typeface="Times New Roman" pitchFamily="18" charset="0"/>
              </a:rPr>
              <a:t>unfeeling</a:t>
            </a:r>
          </a:p>
        </p:txBody>
      </p:sp>
      <p:sp>
        <p:nvSpPr>
          <p:cNvPr id="59398" name="AutoShape 7"/>
          <p:cNvSpPr>
            <a:spLocks noChangeArrowheads="1"/>
          </p:cNvSpPr>
          <p:nvPr/>
        </p:nvSpPr>
        <p:spPr bwMode="auto">
          <a:xfrm>
            <a:off x="3657600" y="4343400"/>
            <a:ext cx="4953000" cy="304800"/>
          </a:xfrm>
          <a:prstGeom prst="leftRightArrow">
            <a:avLst>
              <a:gd name="adj1" fmla="val 50000"/>
              <a:gd name="adj2" fmla="val 325000"/>
            </a:avLst>
          </a:prstGeom>
          <a:solidFill>
            <a:schemeClr val="accent1"/>
          </a:solidFill>
          <a:ln w="9525">
            <a:solidFill>
              <a:schemeClr val="tx1"/>
            </a:solidFill>
            <a:miter lim="800000"/>
            <a:headEnd/>
            <a:tailEnd/>
          </a:ln>
        </p:spPr>
        <p:txBody>
          <a:bodyPr wrap="none" anchor="ctr"/>
          <a:lstStyle/>
          <a:p>
            <a:endParaRPr lang="de-DE"/>
          </a:p>
        </p:txBody>
      </p:sp>
      <p:sp>
        <p:nvSpPr>
          <p:cNvPr id="235528" name="Line 8"/>
          <p:cNvSpPr>
            <a:spLocks noChangeShapeType="1"/>
          </p:cNvSpPr>
          <p:nvPr/>
        </p:nvSpPr>
        <p:spPr bwMode="auto">
          <a:xfrm>
            <a:off x="8229600" y="3733800"/>
            <a:ext cx="0" cy="609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E"/>
          </a:p>
        </p:txBody>
      </p:sp>
      <p:sp>
        <p:nvSpPr>
          <p:cNvPr id="59400" name="Rectangle 2"/>
          <p:cNvSpPr>
            <a:spLocks noChangeArrowheads="1"/>
          </p:cNvSpPr>
          <p:nvPr/>
        </p:nvSpPr>
        <p:spPr bwMode="auto">
          <a:xfrm>
            <a:off x="1981200" y="0"/>
            <a:ext cx="8229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eaLnBrk="1" hangingPunct="1"/>
            <a:r>
              <a:rPr lang="en-US" sz="3000" b="1">
                <a:solidFill>
                  <a:schemeClr val="tx2"/>
                </a:solidFill>
                <a:latin typeface="Century Schoolbook" pitchFamily="18" charset="0"/>
              </a:rPr>
              <a:t>FACTOR 4 – AGREEABLENESS</a:t>
            </a:r>
          </a:p>
        </p:txBody>
      </p:sp>
    </p:spTree>
    <p:extLst>
      <p:ext uri="{BB962C8B-B14F-4D97-AF65-F5344CB8AC3E}">
        <p14:creationId xmlns:p14="http://schemas.microsoft.com/office/powerpoint/2010/main" val="28970029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35522"/>
                                        </p:tgtEl>
                                        <p:attrNameLst>
                                          <p:attrName>style.visibility</p:attrName>
                                        </p:attrNameLst>
                                      </p:cBhvr>
                                      <p:to>
                                        <p:strVal val="visible"/>
                                      </p:to>
                                    </p:set>
                                    <p:animEffect transition="in" filter="dissolve">
                                      <p:cBhvr>
                                        <p:cTn id="7" dur="500"/>
                                        <p:tgtEl>
                                          <p:spTgt spid="235522"/>
                                        </p:tgtEl>
                                      </p:cBhvr>
                                    </p:animEffect>
                                  </p:childTnLst>
                                </p:cTn>
                              </p:par>
                            </p:childTnLst>
                          </p:cTn>
                        </p:par>
                        <p:par>
                          <p:cTn id="8" fill="hold" nodeType="afterGroup">
                            <p:stCondLst>
                              <p:cond delay="500"/>
                            </p:stCondLst>
                            <p:childTnLst>
                              <p:par>
                                <p:cTn id="9" presetID="1" presetClass="entr" presetSubtype="0" fill="hold" grpId="0" nodeType="afterEffect">
                                  <p:stCondLst>
                                    <p:cond delay="0"/>
                                  </p:stCondLst>
                                  <p:childTnLst>
                                    <p:set>
                                      <p:cBhvr>
                                        <p:cTn id="10" dur="1" fill="hold">
                                          <p:stCondLst>
                                            <p:cond delay="499"/>
                                          </p:stCondLst>
                                        </p:cTn>
                                        <p:tgtEl>
                                          <p:spTgt spid="235525"/>
                                        </p:tgtEl>
                                        <p:attrNameLst>
                                          <p:attrName>style.visibility</p:attrName>
                                        </p:attrNameLst>
                                      </p:cBhvr>
                                      <p:to>
                                        <p:strVal val="visible"/>
                                      </p:to>
                                    </p:set>
                                  </p:childTnLst>
                                </p:cTn>
                              </p:par>
                            </p:childTnLst>
                          </p:cTn>
                        </p:par>
                        <p:par>
                          <p:cTn id="11" fill="hold" nodeType="afterGroup">
                            <p:stCondLst>
                              <p:cond delay="1000"/>
                            </p:stCondLst>
                            <p:childTnLst>
                              <p:par>
                                <p:cTn id="12" presetID="1" presetClass="entr" presetSubtype="0" fill="hold" grpId="0" nodeType="afterEffect">
                                  <p:stCondLst>
                                    <p:cond delay="0"/>
                                  </p:stCondLst>
                                  <p:childTnLst>
                                    <p:set>
                                      <p:cBhvr>
                                        <p:cTn id="13" dur="1" fill="hold">
                                          <p:stCondLst>
                                            <p:cond delay="499"/>
                                          </p:stCondLst>
                                        </p:cTn>
                                        <p:tgtEl>
                                          <p:spTgt spid="235526"/>
                                        </p:tgtEl>
                                        <p:attrNameLst>
                                          <p:attrName>style.visibility</p:attrName>
                                        </p:attrNameLst>
                                      </p:cBhvr>
                                      <p:to>
                                        <p:strVal val="visible"/>
                                      </p:to>
                                    </p:set>
                                  </p:childTnLst>
                                </p:cTn>
                              </p:par>
                            </p:childTnLst>
                          </p:cTn>
                        </p:par>
                        <p:par>
                          <p:cTn id="14" fill="hold" nodeType="afterGroup">
                            <p:stCondLst>
                              <p:cond delay="1500"/>
                            </p:stCondLst>
                            <p:childTnLst>
                              <p:par>
                                <p:cTn id="15" presetID="35" presetClass="path" presetSubtype="0" accel="50000" decel="50000" autoRev="1" fill="hold" grpId="0" nodeType="afterEffect">
                                  <p:stCondLst>
                                    <p:cond delay="0"/>
                                  </p:stCondLst>
                                  <p:childTnLst>
                                    <p:animMotion origin="layout" path="M 1.11022E-16 1.7341E-7 L -0.425 1.7341E-7 " pathEditMode="relative" rAng="0" ptsTypes="AA">
                                      <p:cBhvr>
                                        <p:cTn id="16" dur="3000" fill="hold"/>
                                        <p:tgtEl>
                                          <p:spTgt spid="235528"/>
                                        </p:tgtEl>
                                        <p:attrNameLst>
                                          <p:attrName>ppt_x</p:attrName>
                                          <p:attrName>ppt_y</p:attrName>
                                        </p:attrNameLst>
                                      </p:cBhvr>
                                      <p:rCtr x="-2125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22" grpId="0" autoUpdateAnimBg="0"/>
      <p:bldP spid="235525" grpId="0" autoUpdateAnimBg="0"/>
      <p:bldP spid="235526" grpId="0" autoUpdateAnimBg="0"/>
      <p:bldP spid="235528"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2"/>
          <p:cNvSpPr>
            <a:spLocks noChangeArrowheads="1"/>
          </p:cNvSpPr>
          <p:nvPr/>
        </p:nvSpPr>
        <p:spPr bwMode="auto">
          <a:xfrm>
            <a:off x="2362200" y="2209800"/>
            <a:ext cx="77724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90000"/>
              </a:lnSpc>
              <a:spcBef>
                <a:spcPct val="20000"/>
              </a:spcBef>
              <a:buFontTx/>
              <a:buChar char=" "/>
            </a:pPr>
            <a:r>
              <a:rPr lang="en-US" sz="3200">
                <a:solidFill>
                  <a:srgbClr val="000000"/>
                </a:solidFill>
                <a:latin typeface="Times New Roman" pitchFamily="18" charset="0"/>
              </a:rPr>
              <a:t>Traits belonging to neuroticism runs on a continuum from “reactive”, at one extreme, to “resilient” at the other</a:t>
            </a:r>
          </a:p>
        </p:txBody>
      </p:sp>
      <p:sp>
        <p:nvSpPr>
          <p:cNvPr id="60419" name="Rectangle 4"/>
          <p:cNvSpPr>
            <a:spLocks noChangeArrowheads="1"/>
          </p:cNvSpPr>
          <p:nvPr/>
        </p:nvSpPr>
        <p:spPr bwMode="auto">
          <a:xfrm>
            <a:off x="2438400" y="1828800"/>
            <a:ext cx="7315200" cy="152400"/>
          </a:xfrm>
          <a:prstGeom prst="rect">
            <a:avLst/>
          </a:prstGeom>
          <a:solidFill>
            <a:schemeClr val="tx2"/>
          </a:solidFill>
          <a:ln w="9525">
            <a:solidFill>
              <a:schemeClr val="accent2"/>
            </a:solidFill>
            <a:miter lim="800000"/>
            <a:headEnd/>
            <a:tailEnd/>
          </a:ln>
        </p:spPr>
        <p:txBody>
          <a:bodyPr wrap="none" anchor="ctr"/>
          <a:lstStyle/>
          <a:p>
            <a:endParaRPr lang="de-DE"/>
          </a:p>
        </p:txBody>
      </p:sp>
      <p:sp>
        <p:nvSpPr>
          <p:cNvPr id="236549" name="Text Box 5"/>
          <p:cNvSpPr txBox="1">
            <a:spLocks noChangeArrowheads="1"/>
          </p:cNvSpPr>
          <p:nvPr/>
        </p:nvSpPr>
        <p:spPr bwMode="auto">
          <a:xfrm>
            <a:off x="2362200" y="4267201"/>
            <a:ext cx="2133600" cy="1431161"/>
          </a:xfrm>
          <a:prstGeom prst="rect">
            <a:avLst/>
          </a:prstGeom>
          <a:noFill/>
          <a:ln w="9525">
            <a:noFill/>
            <a:miter lim="800000"/>
            <a:headEnd/>
            <a:tailEnd/>
          </a:ln>
          <a:effectLst/>
        </p:spPr>
        <p:txBody>
          <a:bodyPr>
            <a:spAutoFit/>
          </a:bodyPr>
          <a:lstStyle>
            <a:lvl1pPr>
              <a:defRPr sz="2400">
                <a:solidFill>
                  <a:schemeClr val="tx1"/>
                </a:solidFill>
                <a:latin typeface="Century Gothic" pitchFamily="34" charset="0"/>
                <a:ea typeface="ＭＳ Ｐゴシック" pitchFamily="34" charset="-128"/>
              </a:defRPr>
            </a:lvl1pPr>
            <a:lvl2pPr marL="37931725" indent="-37474525">
              <a:defRPr sz="2400">
                <a:solidFill>
                  <a:schemeClr val="tx1"/>
                </a:solidFill>
                <a:latin typeface="Century Gothic" pitchFamily="34" charset="0"/>
                <a:ea typeface="ＭＳ Ｐゴシック" pitchFamily="34" charset="-128"/>
              </a:defRPr>
            </a:lvl2pPr>
            <a:lvl3pPr>
              <a:defRPr sz="2400">
                <a:solidFill>
                  <a:schemeClr val="tx1"/>
                </a:solidFill>
                <a:latin typeface="Century Gothic" pitchFamily="34" charset="0"/>
                <a:ea typeface="ＭＳ Ｐゴシック" pitchFamily="34" charset="-128"/>
              </a:defRPr>
            </a:lvl3pPr>
            <a:lvl4pPr>
              <a:defRPr sz="2400">
                <a:solidFill>
                  <a:schemeClr val="tx1"/>
                </a:solidFill>
                <a:latin typeface="Century Gothic" pitchFamily="34" charset="0"/>
                <a:ea typeface="ＭＳ Ｐゴシック" pitchFamily="34" charset="-128"/>
              </a:defRPr>
            </a:lvl4pPr>
            <a:lvl5pPr>
              <a:defRPr sz="2400">
                <a:solidFill>
                  <a:schemeClr val="tx1"/>
                </a:solidFill>
                <a:latin typeface="Century Gothic" pitchFamily="34" charset="0"/>
                <a:ea typeface="ＭＳ Ｐゴシック" pitchFamily="34" charset="-128"/>
              </a:defRPr>
            </a:lvl5pPr>
            <a:lvl6pPr marL="457200" eaLnBrk="0" fontAlgn="base" hangingPunct="0">
              <a:spcBef>
                <a:spcPct val="0"/>
              </a:spcBef>
              <a:spcAft>
                <a:spcPct val="0"/>
              </a:spcAft>
              <a:defRPr sz="2400">
                <a:solidFill>
                  <a:schemeClr val="tx1"/>
                </a:solidFill>
                <a:latin typeface="Century Gothic" pitchFamily="34" charset="0"/>
                <a:ea typeface="ＭＳ Ｐゴシック" pitchFamily="34" charset="-128"/>
              </a:defRPr>
            </a:lvl6pPr>
            <a:lvl7pPr marL="914400" eaLnBrk="0" fontAlgn="base" hangingPunct="0">
              <a:spcBef>
                <a:spcPct val="0"/>
              </a:spcBef>
              <a:spcAft>
                <a:spcPct val="0"/>
              </a:spcAft>
              <a:defRPr sz="2400">
                <a:solidFill>
                  <a:schemeClr val="tx1"/>
                </a:solidFill>
                <a:latin typeface="Century Gothic" pitchFamily="34" charset="0"/>
                <a:ea typeface="ＭＳ Ｐゴシック" pitchFamily="34" charset="-128"/>
              </a:defRPr>
            </a:lvl7pPr>
            <a:lvl8pPr marL="1371600" eaLnBrk="0" fontAlgn="base" hangingPunct="0">
              <a:spcBef>
                <a:spcPct val="0"/>
              </a:spcBef>
              <a:spcAft>
                <a:spcPct val="0"/>
              </a:spcAft>
              <a:defRPr sz="2400">
                <a:solidFill>
                  <a:schemeClr val="tx1"/>
                </a:solidFill>
                <a:latin typeface="Century Gothic" pitchFamily="34" charset="0"/>
                <a:ea typeface="ＭＳ Ｐゴシック" pitchFamily="34" charset="-128"/>
              </a:defRPr>
            </a:lvl8pPr>
            <a:lvl9pPr marL="1828800" eaLnBrk="0" fontAlgn="base" hangingPunct="0">
              <a:spcBef>
                <a:spcPct val="0"/>
              </a:spcBef>
              <a:spcAft>
                <a:spcPct val="0"/>
              </a:spcAft>
              <a:defRPr sz="2400">
                <a:solidFill>
                  <a:schemeClr val="tx1"/>
                </a:solidFill>
                <a:latin typeface="Century Gothic" pitchFamily="34" charset="0"/>
                <a:ea typeface="ＭＳ Ｐゴシック" pitchFamily="34" charset="-128"/>
              </a:defRPr>
            </a:lvl9pPr>
          </a:lstStyle>
          <a:p>
            <a:pPr eaLnBrk="1" hangingPunct="1">
              <a:spcBef>
                <a:spcPct val="50000"/>
              </a:spcBef>
              <a:defRPr/>
            </a:pPr>
            <a:r>
              <a:rPr lang="en-US">
                <a:solidFill>
                  <a:srgbClr val="003399"/>
                </a:solidFill>
                <a:effectLst>
                  <a:outerShdw blurRad="38100" dist="38100" dir="2700000" algn="tl">
                    <a:srgbClr val="C0C0C0"/>
                  </a:outerShdw>
                </a:effectLst>
                <a:latin typeface="Times New Roman" pitchFamily="18" charset="0"/>
              </a:rPr>
              <a:t>Reactive </a:t>
            </a:r>
          </a:p>
          <a:p>
            <a:pPr eaLnBrk="1" hangingPunct="1">
              <a:spcBef>
                <a:spcPct val="50000"/>
              </a:spcBef>
              <a:defRPr/>
            </a:pPr>
            <a:r>
              <a:rPr lang="en-US" sz="1400" b="1">
                <a:solidFill>
                  <a:srgbClr val="17110B"/>
                </a:solidFill>
                <a:latin typeface="Times New Roman" pitchFamily="18" charset="0"/>
              </a:rPr>
              <a:t>Anxious</a:t>
            </a:r>
          </a:p>
          <a:p>
            <a:pPr eaLnBrk="1" hangingPunct="1">
              <a:spcBef>
                <a:spcPct val="50000"/>
              </a:spcBef>
              <a:defRPr/>
            </a:pPr>
            <a:r>
              <a:rPr lang="en-US" sz="1400" b="1">
                <a:solidFill>
                  <a:srgbClr val="17110B"/>
                </a:solidFill>
                <a:latin typeface="Times New Roman" pitchFamily="18" charset="0"/>
              </a:rPr>
              <a:t>Depressed</a:t>
            </a:r>
          </a:p>
          <a:p>
            <a:pPr eaLnBrk="1" hangingPunct="1">
              <a:spcBef>
                <a:spcPct val="50000"/>
              </a:spcBef>
              <a:defRPr/>
            </a:pPr>
            <a:r>
              <a:rPr lang="en-US" sz="1400" b="1">
                <a:solidFill>
                  <a:srgbClr val="17110B"/>
                </a:solidFill>
                <a:latin typeface="Times New Roman" pitchFamily="18" charset="0"/>
              </a:rPr>
              <a:t>Self-conscious</a:t>
            </a:r>
          </a:p>
        </p:txBody>
      </p:sp>
      <p:sp>
        <p:nvSpPr>
          <p:cNvPr id="236550" name="Text Box 6"/>
          <p:cNvSpPr txBox="1">
            <a:spLocks noChangeArrowheads="1"/>
          </p:cNvSpPr>
          <p:nvPr/>
        </p:nvSpPr>
        <p:spPr bwMode="auto">
          <a:xfrm>
            <a:off x="8610600" y="4191001"/>
            <a:ext cx="2057400" cy="1431161"/>
          </a:xfrm>
          <a:prstGeom prst="rect">
            <a:avLst/>
          </a:prstGeom>
          <a:noFill/>
          <a:ln w="9525">
            <a:noFill/>
            <a:miter lim="800000"/>
            <a:headEnd/>
            <a:tailEnd/>
          </a:ln>
          <a:effectLst/>
        </p:spPr>
        <p:txBody>
          <a:bodyPr>
            <a:spAutoFit/>
          </a:bodyPr>
          <a:lstStyle>
            <a:lvl1pPr>
              <a:defRPr sz="2400">
                <a:solidFill>
                  <a:schemeClr val="tx1"/>
                </a:solidFill>
                <a:latin typeface="Century Gothic" pitchFamily="34" charset="0"/>
                <a:ea typeface="ＭＳ Ｐゴシック" pitchFamily="34" charset="-128"/>
              </a:defRPr>
            </a:lvl1pPr>
            <a:lvl2pPr marL="37931725" indent="-37474525">
              <a:defRPr sz="2400">
                <a:solidFill>
                  <a:schemeClr val="tx1"/>
                </a:solidFill>
                <a:latin typeface="Century Gothic" pitchFamily="34" charset="0"/>
                <a:ea typeface="ＭＳ Ｐゴシック" pitchFamily="34" charset="-128"/>
              </a:defRPr>
            </a:lvl2pPr>
            <a:lvl3pPr>
              <a:defRPr sz="2400">
                <a:solidFill>
                  <a:schemeClr val="tx1"/>
                </a:solidFill>
                <a:latin typeface="Century Gothic" pitchFamily="34" charset="0"/>
                <a:ea typeface="ＭＳ Ｐゴシック" pitchFamily="34" charset="-128"/>
              </a:defRPr>
            </a:lvl3pPr>
            <a:lvl4pPr>
              <a:defRPr sz="2400">
                <a:solidFill>
                  <a:schemeClr val="tx1"/>
                </a:solidFill>
                <a:latin typeface="Century Gothic" pitchFamily="34" charset="0"/>
                <a:ea typeface="ＭＳ Ｐゴシック" pitchFamily="34" charset="-128"/>
              </a:defRPr>
            </a:lvl4pPr>
            <a:lvl5pPr>
              <a:defRPr sz="2400">
                <a:solidFill>
                  <a:schemeClr val="tx1"/>
                </a:solidFill>
                <a:latin typeface="Century Gothic" pitchFamily="34" charset="0"/>
                <a:ea typeface="ＭＳ Ｐゴシック" pitchFamily="34" charset="-128"/>
              </a:defRPr>
            </a:lvl5pPr>
            <a:lvl6pPr marL="457200" eaLnBrk="0" fontAlgn="base" hangingPunct="0">
              <a:spcBef>
                <a:spcPct val="0"/>
              </a:spcBef>
              <a:spcAft>
                <a:spcPct val="0"/>
              </a:spcAft>
              <a:defRPr sz="2400">
                <a:solidFill>
                  <a:schemeClr val="tx1"/>
                </a:solidFill>
                <a:latin typeface="Century Gothic" pitchFamily="34" charset="0"/>
                <a:ea typeface="ＭＳ Ｐゴシック" pitchFamily="34" charset="-128"/>
              </a:defRPr>
            </a:lvl6pPr>
            <a:lvl7pPr marL="914400" eaLnBrk="0" fontAlgn="base" hangingPunct="0">
              <a:spcBef>
                <a:spcPct val="0"/>
              </a:spcBef>
              <a:spcAft>
                <a:spcPct val="0"/>
              </a:spcAft>
              <a:defRPr sz="2400">
                <a:solidFill>
                  <a:schemeClr val="tx1"/>
                </a:solidFill>
                <a:latin typeface="Century Gothic" pitchFamily="34" charset="0"/>
                <a:ea typeface="ＭＳ Ｐゴシック" pitchFamily="34" charset="-128"/>
              </a:defRPr>
            </a:lvl7pPr>
            <a:lvl8pPr marL="1371600" eaLnBrk="0" fontAlgn="base" hangingPunct="0">
              <a:spcBef>
                <a:spcPct val="0"/>
              </a:spcBef>
              <a:spcAft>
                <a:spcPct val="0"/>
              </a:spcAft>
              <a:defRPr sz="2400">
                <a:solidFill>
                  <a:schemeClr val="tx1"/>
                </a:solidFill>
                <a:latin typeface="Century Gothic" pitchFamily="34" charset="0"/>
                <a:ea typeface="ＭＳ Ｐゴシック" pitchFamily="34" charset="-128"/>
              </a:defRPr>
            </a:lvl8pPr>
            <a:lvl9pPr marL="1828800" eaLnBrk="0" fontAlgn="base" hangingPunct="0">
              <a:spcBef>
                <a:spcPct val="0"/>
              </a:spcBef>
              <a:spcAft>
                <a:spcPct val="0"/>
              </a:spcAft>
              <a:defRPr sz="2400">
                <a:solidFill>
                  <a:schemeClr val="tx1"/>
                </a:solidFill>
                <a:latin typeface="Century Gothic" pitchFamily="34" charset="0"/>
                <a:ea typeface="ＭＳ Ｐゴシック" pitchFamily="34" charset="-128"/>
              </a:defRPr>
            </a:lvl9pPr>
          </a:lstStyle>
          <a:p>
            <a:pPr eaLnBrk="1" hangingPunct="1">
              <a:spcBef>
                <a:spcPct val="50000"/>
              </a:spcBef>
              <a:defRPr/>
            </a:pPr>
            <a:r>
              <a:rPr lang="en-US">
                <a:solidFill>
                  <a:srgbClr val="003399"/>
                </a:solidFill>
                <a:effectLst>
                  <a:outerShdw blurRad="38100" dist="38100" dir="2700000" algn="tl">
                    <a:srgbClr val="C0C0C0"/>
                  </a:outerShdw>
                </a:effectLst>
                <a:latin typeface="Times New Roman" pitchFamily="18" charset="0"/>
              </a:rPr>
              <a:t>Resilient</a:t>
            </a:r>
          </a:p>
          <a:p>
            <a:pPr eaLnBrk="1" hangingPunct="1">
              <a:spcBef>
                <a:spcPct val="50000"/>
              </a:spcBef>
              <a:defRPr/>
            </a:pPr>
            <a:r>
              <a:rPr lang="en-US" sz="1400" b="1">
                <a:solidFill>
                  <a:srgbClr val="17110B"/>
                </a:solidFill>
                <a:latin typeface="Times New Roman" pitchFamily="18" charset="0"/>
              </a:rPr>
              <a:t>Calm</a:t>
            </a:r>
          </a:p>
          <a:p>
            <a:pPr eaLnBrk="1" hangingPunct="1">
              <a:spcBef>
                <a:spcPct val="50000"/>
              </a:spcBef>
              <a:defRPr/>
            </a:pPr>
            <a:r>
              <a:rPr lang="en-US" sz="1400" b="1">
                <a:solidFill>
                  <a:srgbClr val="17110B"/>
                </a:solidFill>
                <a:latin typeface="Times New Roman" pitchFamily="18" charset="0"/>
              </a:rPr>
              <a:t>Contented</a:t>
            </a:r>
          </a:p>
          <a:p>
            <a:pPr eaLnBrk="1" hangingPunct="1">
              <a:spcBef>
                <a:spcPct val="50000"/>
              </a:spcBef>
              <a:defRPr/>
            </a:pPr>
            <a:r>
              <a:rPr lang="en-US" sz="1400" b="1">
                <a:solidFill>
                  <a:srgbClr val="17110B"/>
                </a:solidFill>
                <a:latin typeface="Times New Roman" pitchFamily="18" charset="0"/>
              </a:rPr>
              <a:t>Self-assured</a:t>
            </a:r>
          </a:p>
        </p:txBody>
      </p:sp>
      <p:sp>
        <p:nvSpPr>
          <p:cNvPr id="60422" name="AutoShape 7"/>
          <p:cNvSpPr>
            <a:spLocks noChangeArrowheads="1"/>
          </p:cNvSpPr>
          <p:nvPr/>
        </p:nvSpPr>
        <p:spPr bwMode="auto">
          <a:xfrm>
            <a:off x="3657600" y="4343400"/>
            <a:ext cx="4953000" cy="304800"/>
          </a:xfrm>
          <a:prstGeom prst="leftRightArrow">
            <a:avLst>
              <a:gd name="adj1" fmla="val 50000"/>
              <a:gd name="adj2" fmla="val 325000"/>
            </a:avLst>
          </a:prstGeom>
          <a:solidFill>
            <a:schemeClr val="accent1"/>
          </a:solidFill>
          <a:ln w="9525">
            <a:solidFill>
              <a:schemeClr val="tx1"/>
            </a:solidFill>
            <a:miter lim="800000"/>
            <a:headEnd/>
            <a:tailEnd/>
          </a:ln>
        </p:spPr>
        <p:txBody>
          <a:bodyPr wrap="none" anchor="ctr"/>
          <a:lstStyle/>
          <a:p>
            <a:endParaRPr lang="de-DE"/>
          </a:p>
        </p:txBody>
      </p:sp>
      <p:sp>
        <p:nvSpPr>
          <p:cNvPr id="236552" name="Line 8"/>
          <p:cNvSpPr>
            <a:spLocks noChangeShapeType="1"/>
          </p:cNvSpPr>
          <p:nvPr/>
        </p:nvSpPr>
        <p:spPr bwMode="auto">
          <a:xfrm>
            <a:off x="8229600" y="3733800"/>
            <a:ext cx="0" cy="609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E"/>
          </a:p>
        </p:txBody>
      </p:sp>
      <p:sp>
        <p:nvSpPr>
          <p:cNvPr id="60424" name="Rectangle 2"/>
          <p:cNvSpPr>
            <a:spLocks noChangeArrowheads="1"/>
          </p:cNvSpPr>
          <p:nvPr/>
        </p:nvSpPr>
        <p:spPr bwMode="auto">
          <a:xfrm>
            <a:off x="1981200" y="0"/>
            <a:ext cx="8229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eaLnBrk="1" hangingPunct="1"/>
            <a:r>
              <a:rPr lang="en-US" sz="3000" b="1" dirty="0">
                <a:solidFill>
                  <a:schemeClr val="tx2"/>
                </a:solidFill>
                <a:latin typeface="Century Schoolbook" pitchFamily="18" charset="0"/>
              </a:rPr>
              <a:t>FACTOR 5 – NEUROTICISM</a:t>
            </a:r>
          </a:p>
        </p:txBody>
      </p:sp>
    </p:spTree>
    <p:extLst>
      <p:ext uri="{BB962C8B-B14F-4D97-AF65-F5344CB8AC3E}">
        <p14:creationId xmlns:p14="http://schemas.microsoft.com/office/powerpoint/2010/main" val="1132507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36546"/>
                                        </p:tgtEl>
                                        <p:attrNameLst>
                                          <p:attrName>style.visibility</p:attrName>
                                        </p:attrNameLst>
                                      </p:cBhvr>
                                      <p:to>
                                        <p:strVal val="visible"/>
                                      </p:to>
                                    </p:set>
                                    <p:animEffect transition="in" filter="dissolve">
                                      <p:cBhvr>
                                        <p:cTn id="7" dur="500"/>
                                        <p:tgtEl>
                                          <p:spTgt spid="236546"/>
                                        </p:tgtEl>
                                      </p:cBhvr>
                                    </p:animEffect>
                                  </p:childTnLst>
                                </p:cTn>
                              </p:par>
                            </p:childTnLst>
                          </p:cTn>
                        </p:par>
                        <p:par>
                          <p:cTn id="8" fill="hold" nodeType="afterGroup">
                            <p:stCondLst>
                              <p:cond delay="500"/>
                            </p:stCondLst>
                            <p:childTnLst>
                              <p:par>
                                <p:cTn id="9" presetID="1" presetClass="entr" presetSubtype="0" fill="hold" grpId="0" nodeType="afterEffect">
                                  <p:stCondLst>
                                    <p:cond delay="0"/>
                                  </p:stCondLst>
                                  <p:childTnLst>
                                    <p:set>
                                      <p:cBhvr>
                                        <p:cTn id="10" dur="1" fill="hold">
                                          <p:stCondLst>
                                            <p:cond delay="499"/>
                                          </p:stCondLst>
                                        </p:cTn>
                                        <p:tgtEl>
                                          <p:spTgt spid="236549"/>
                                        </p:tgtEl>
                                        <p:attrNameLst>
                                          <p:attrName>style.visibility</p:attrName>
                                        </p:attrNameLst>
                                      </p:cBhvr>
                                      <p:to>
                                        <p:strVal val="visible"/>
                                      </p:to>
                                    </p:set>
                                  </p:childTnLst>
                                </p:cTn>
                              </p:par>
                            </p:childTnLst>
                          </p:cTn>
                        </p:par>
                        <p:par>
                          <p:cTn id="11" fill="hold" nodeType="afterGroup">
                            <p:stCondLst>
                              <p:cond delay="1000"/>
                            </p:stCondLst>
                            <p:childTnLst>
                              <p:par>
                                <p:cTn id="12" presetID="1" presetClass="entr" presetSubtype="0" fill="hold" grpId="0" nodeType="afterEffect">
                                  <p:stCondLst>
                                    <p:cond delay="0"/>
                                  </p:stCondLst>
                                  <p:childTnLst>
                                    <p:set>
                                      <p:cBhvr>
                                        <p:cTn id="13" dur="1" fill="hold">
                                          <p:stCondLst>
                                            <p:cond delay="499"/>
                                          </p:stCondLst>
                                        </p:cTn>
                                        <p:tgtEl>
                                          <p:spTgt spid="236550"/>
                                        </p:tgtEl>
                                        <p:attrNameLst>
                                          <p:attrName>style.visibility</p:attrName>
                                        </p:attrNameLst>
                                      </p:cBhvr>
                                      <p:to>
                                        <p:strVal val="visible"/>
                                      </p:to>
                                    </p:set>
                                  </p:childTnLst>
                                </p:cTn>
                              </p:par>
                            </p:childTnLst>
                          </p:cTn>
                        </p:par>
                        <p:par>
                          <p:cTn id="14" fill="hold" nodeType="afterGroup">
                            <p:stCondLst>
                              <p:cond delay="1500"/>
                            </p:stCondLst>
                            <p:childTnLst>
                              <p:par>
                                <p:cTn id="15" presetID="35" presetClass="path" presetSubtype="0" accel="50000" decel="50000" autoRev="1" fill="hold" grpId="0" nodeType="afterEffect">
                                  <p:stCondLst>
                                    <p:cond delay="0"/>
                                  </p:stCondLst>
                                  <p:childTnLst>
                                    <p:animMotion origin="layout" path="M 1.11022E-16 1.7341E-7 L -0.425 1.7341E-7 " pathEditMode="relative" rAng="0" ptsTypes="AA">
                                      <p:cBhvr>
                                        <p:cTn id="16" dur="3000" fill="hold"/>
                                        <p:tgtEl>
                                          <p:spTgt spid="236552"/>
                                        </p:tgtEl>
                                        <p:attrNameLst>
                                          <p:attrName>ppt_x</p:attrName>
                                          <p:attrName>ppt_y</p:attrName>
                                        </p:attrNameLst>
                                      </p:cBhvr>
                                      <p:rCtr x="-2125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546" grpId="0" autoUpdateAnimBg="0"/>
      <p:bldP spid="236549" grpId="0" autoUpdateAnimBg="0"/>
      <p:bldP spid="236550" grpId="0" autoUpdateAnimBg="0"/>
      <p:bldP spid="23655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idx="4294967295"/>
          </p:nvPr>
        </p:nvSpPr>
        <p:spPr>
          <a:xfrm>
            <a:off x="1524000" y="277814"/>
            <a:ext cx="8077200" cy="788987"/>
          </a:xfrm>
        </p:spPr>
        <p:txBody>
          <a:bodyPr>
            <a:normAutofit/>
          </a:bodyPr>
          <a:lstStyle/>
          <a:p>
            <a:pPr marL="320040" indent="-320040">
              <a:buClr>
                <a:schemeClr val="accent6">
                  <a:lumMod val="75000"/>
                </a:schemeClr>
              </a:buClr>
              <a:defRPr/>
            </a:pPr>
            <a:r>
              <a:rPr lang="en-GB" sz="3900" dirty="0">
                <a:effectLst>
                  <a:outerShdw blurRad="38100" dist="38100" dir="2700000" algn="tl">
                    <a:srgbClr val="C0C0C0"/>
                  </a:outerShdw>
                </a:effectLst>
              </a:rPr>
              <a:t>The “Big Five” </a:t>
            </a:r>
            <a:r>
              <a:rPr lang="de-DE" sz="3900" dirty="0">
                <a:effectLst>
                  <a:outerShdw blurRad="38100" dist="38100" dir="2700000" algn="tl">
                    <a:srgbClr val="C0C0C0"/>
                  </a:outerShdw>
                </a:effectLst>
              </a:rPr>
              <a:t>and Behaviour </a:t>
            </a:r>
            <a:endParaRPr lang="en-IE" sz="3900" dirty="0"/>
          </a:p>
        </p:txBody>
      </p:sp>
      <p:sp>
        <p:nvSpPr>
          <p:cNvPr id="61443" name="Rectangle 3"/>
          <p:cNvSpPr>
            <a:spLocks noGrp="1" noChangeArrowheads="1"/>
          </p:cNvSpPr>
          <p:nvPr>
            <p:ph type="body" idx="4294967295"/>
          </p:nvPr>
        </p:nvSpPr>
        <p:spPr>
          <a:xfrm>
            <a:off x="2286000" y="1295400"/>
            <a:ext cx="8382000" cy="5257800"/>
          </a:xfrm>
        </p:spPr>
        <p:txBody>
          <a:bodyPr>
            <a:normAutofit fontScale="92500"/>
          </a:bodyPr>
          <a:lstStyle/>
          <a:p>
            <a:pPr marL="342900" indent="-342900">
              <a:buNone/>
            </a:pPr>
            <a:endParaRPr lang="en-GB" sz="800">
              <a:latin typeface="Century Gothic" pitchFamily="34" charset="0"/>
            </a:endParaRPr>
          </a:p>
          <a:p>
            <a:pPr marL="342900" indent="-342900"/>
            <a:r>
              <a:rPr lang="en-GB">
                <a:latin typeface="Century Gothic" pitchFamily="34" charset="0"/>
              </a:rPr>
              <a:t>Research indicated that there is relationship between the “Big Five” and job performance (Hurtz &amp; Donovan, 2000; Salgado, 1997; 1998)</a:t>
            </a:r>
          </a:p>
          <a:p>
            <a:pPr marL="342900" indent="-342900">
              <a:buNone/>
            </a:pPr>
            <a:endParaRPr lang="en-GB">
              <a:latin typeface="Century Gothic" pitchFamily="34" charset="0"/>
            </a:endParaRPr>
          </a:p>
          <a:p>
            <a:pPr marL="342900" indent="-342900"/>
            <a:r>
              <a:rPr lang="en-GB">
                <a:latin typeface="Century Gothic" pitchFamily="34" charset="0"/>
              </a:rPr>
              <a:t>Individuals who are high on the conscientiousness, agreeableness, and emotional stability tend to have higher integrity, show higher employee reliability and were more attractive to managers who had hiring responsibilities (Dunn, 1993, Hogan &amp; Hogan, 1989, Ones et al., 1993)</a:t>
            </a:r>
          </a:p>
          <a:p>
            <a:pPr marL="342900" indent="-342900">
              <a:buNone/>
            </a:pPr>
            <a:endParaRPr lang="en-GB">
              <a:latin typeface="Century Gothic" pitchFamily="34" charset="0"/>
            </a:endParaRPr>
          </a:p>
          <a:p>
            <a:pPr marL="342900" indent="-342900"/>
            <a:r>
              <a:rPr lang="en-IE">
                <a:latin typeface="Century Gothic" pitchFamily="34" charset="0"/>
              </a:rPr>
              <a:t>The Big Five are much more predictive of performance in jobs where the employee has a great deal of control than in jobs where the employee had little or no control (Barrick &amp; Mount, 1993)</a:t>
            </a:r>
          </a:p>
          <a:p>
            <a:pPr marL="342900" indent="-342900">
              <a:buNone/>
            </a:pPr>
            <a:endParaRPr lang="en-IE">
              <a:latin typeface="Century Gothic" pitchFamily="34" charset="0"/>
            </a:endParaRPr>
          </a:p>
          <a:p>
            <a:pPr marL="342900" indent="-342900"/>
            <a:r>
              <a:rPr lang="en-GB" sz="1600">
                <a:latin typeface="Century Gothic" pitchFamily="34" charset="0"/>
              </a:rPr>
              <a:t>Movie A Beautiful Mind http://www.youtube.com/watch?v=aS_d0Ayjw4o</a:t>
            </a:r>
          </a:p>
        </p:txBody>
      </p:sp>
    </p:spTree>
    <p:extLst>
      <p:ext uri="{BB962C8B-B14F-4D97-AF65-F5344CB8AC3E}">
        <p14:creationId xmlns:p14="http://schemas.microsoft.com/office/powerpoint/2010/main" val="5579315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Image result for model of how big five traits influence ob criter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881" y="127590"/>
            <a:ext cx="11020054" cy="619878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4518837" y="6488668"/>
            <a:ext cx="7673163" cy="369332"/>
          </a:xfrm>
          <a:prstGeom prst="rect">
            <a:avLst/>
          </a:prstGeom>
          <a:noFill/>
        </p:spPr>
        <p:txBody>
          <a:bodyPr wrap="square" rtlCol="0">
            <a:spAutoFit/>
          </a:bodyPr>
          <a:lstStyle/>
          <a:p>
            <a:r>
              <a:rPr lang="en-IE" dirty="0"/>
              <a:t>Taken from: Robbins &amp; Judge (2017) Organisational Behaviour, 17</a:t>
            </a:r>
            <a:r>
              <a:rPr lang="en-IE" baseline="30000" dirty="0"/>
              <a:t>th</a:t>
            </a:r>
            <a:r>
              <a:rPr lang="en-IE" dirty="0"/>
              <a:t> Ed</a:t>
            </a:r>
          </a:p>
        </p:txBody>
      </p:sp>
    </p:spTree>
    <p:extLst>
      <p:ext uri="{BB962C8B-B14F-4D97-AF65-F5344CB8AC3E}">
        <p14:creationId xmlns:p14="http://schemas.microsoft.com/office/powerpoint/2010/main" val="3542862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58ADE0F-932D-4234-BF2C-3B8110804899}"/>
              </a:ext>
            </a:extLst>
          </p:cNvPr>
          <p:cNvSpPr>
            <a:spLocks noGrp="1"/>
          </p:cNvSpPr>
          <p:nvPr>
            <p:ph type="title"/>
          </p:nvPr>
        </p:nvSpPr>
        <p:spPr/>
        <p:txBody>
          <a:bodyPr/>
          <a:lstStyle/>
          <a:p>
            <a:r>
              <a:rPr lang="en-GB" dirty="0"/>
              <a:t>Important Note: </a:t>
            </a:r>
          </a:p>
        </p:txBody>
      </p:sp>
      <p:sp>
        <p:nvSpPr>
          <p:cNvPr id="8" name="Content Placeholder 7">
            <a:extLst>
              <a:ext uri="{FF2B5EF4-FFF2-40B4-BE49-F238E27FC236}">
                <a16:creationId xmlns:a16="http://schemas.microsoft.com/office/drawing/2014/main" id="{E97B6240-A37C-47E3-B2CD-12E36088226F}"/>
              </a:ext>
            </a:extLst>
          </p:cNvPr>
          <p:cNvSpPr>
            <a:spLocks noGrp="1"/>
          </p:cNvSpPr>
          <p:nvPr>
            <p:ph idx="1"/>
          </p:nvPr>
        </p:nvSpPr>
        <p:spPr/>
        <p:txBody>
          <a:bodyPr/>
          <a:lstStyle/>
          <a:p>
            <a:r>
              <a:rPr lang="en-GB" dirty="0"/>
              <a:t>In reading about big five you may think some personalities are more desirable than others.</a:t>
            </a:r>
          </a:p>
          <a:p>
            <a:r>
              <a:rPr lang="en-GB" dirty="0"/>
              <a:t> However this is a dangerous assumption as depends on social context within person is behaving. </a:t>
            </a:r>
          </a:p>
          <a:p>
            <a:r>
              <a:rPr lang="en-GB" dirty="0"/>
              <a:t>Costa and </a:t>
            </a:r>
            <a:r>
              <a:rPr lang="en-GB" dirty="0" err="1"/>
              <a:t>McCare</a:t>
            </a:r>
            <a:r>
              <a:rPr lang="en-GB" dirty="0"/>
              <a:t> (2006) discuss the advantages and </a:t>
            </a:r>
            <a:r>
              <a:rPr lang="en-GB" dirty="0" err="1"/>
              <a:t>disadvadvantages</a:t>
            </a:r>
            <a:r>
              <a:rPr lang="en-GB" dirty="0"/>
              <a:t> of various scores e.g., High C is associated with academic and occupational achievement, on negative it may lead to annoying fastidiousness, compulsive neatness or workaholic behaviours. </a:t>
            </a:r>
          </a:p>
          <a:p>
            <a:endParaRPr lang="en-GB" dirty="0"/>
          </a:p>
          <a:p>
            <a:pPr algn="ctr"/>
            <a:r>
              <a:rPr lang="en-GB" b="1" dirty="0"/>
              <a:t>CONTEXT MATTERS</a:t>
            </a:r>
          </a:p>
        </p:txBody>
      </p:sp>
    </p:spTree>
    <p:extLst>
      <p:ext uri="{BB962C8B-B14F-4D97-AF65-F5344CB8AC3E}">
        <p14:creationId xmlns:p14="http://schemas.microsoft.com/office/powerpoint/2010/main" val="23334142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A1883-5BCF-488E-8727-406C7ACA9A40}"/>
              </a:ext>
            </a:extLst>
          </p:cNvPr>
          <p:cNvSpPr>
            <a:spLocks noGrp="1"/>
          </p:cNvSpPr>
          <p:nvPr>
            <p:ph type="title"/>
          </p:nvPr>
        </p:nvSpPr>
        <p:spPr/>
        <p:txBody>
          <a:bodyPr/>
          <a:lstStyle/>
          <a:p>
            <a:r>
              <a:rPr lang="en-GB" dirty="0"/>
              <a:t>Big Five + Performance</a:t>
            </a:r>
          </a:p>
        </p:txBody>
      </p:sp>
      <p:sp>
        <p:nvSpPr>
          <p:cNvPr id="3" name="Content Placeholder 2">
            <a:extLst>
              <a:ext uri="{FF2B5EF4-FFF2-40B4-BE49-F238E27FC236}">
                <a16:creationId xmlns:a16="http://schemas.microsoft.com/office/drawing/2014/main" id="{2758B0B0-7864-45A7-A9E7-3ADE685E9FEA}"/>
              </a:ext>
            </a:extLst>
          </p:cNvPr>
          <p:cNvSpPr>
            <a:spLocks noGrp="1"/>
          </p:cNvSpPr>
          <p:nvPr>
            <p:ph idx="1"/>
          </p:nvPr>
        </p:nvSpPr>
        <p:spPr>
          <a:xfrm>
            <a:off x="1097280" y="1845734"/>
            <a:ext cx="10058400" cy="4372186"/>
          </a:xfrm>
        </p:spPr>
        <p:txBody>
          <a:bodyPr>
            <a:normAutofit/>
          </a:bodyPr>
          <a:lstStyle/>
          <a:p>
            <a:pPr>
              <a:lnSpc>
                <a:spcPct val="107000"/>
              </a:lnSpc>
              <a:spcAft>
                <a:spcPts val="800"/>
              </a:spcAft>
            </a:pPr>
            <a:r>
              <a:rPr lang="en-GB" dirty="0">
                <a:effectLst/>
                <a:latin typeface="Calibri" panose="020F0502020204030204" pitchFamily="34" charset="0"/>
                <a:ea typeface="Calibri" panose="020F0502020204030204" pitchFamily="34" charset="0"/>
                <a:cs typeface="Times New Roman" panose="02020603050405020304" pitchFamily="18" charset="0"/>
              </a:rPr>
              <a:t>Overall mixed</a:t>
            </a:r>
          </a:p>
          <a:p>
            <a:pPr>
              <a:lnSpc>
                <a:spcPct val="107000"/>
              </a:lnSpc>
              <a:spcAft>
                <a:spcPts val="800"/>
              </a:spcAft>
            </a:pPr>
            <a:r>
              <a:rPr lang="en-GB" dirty="0">
                <a:effectLst/>
                <a:latin typeface="Calibri" panose="020F0502020204030204" pitchFamily="34" charset="0"/>
                <a:ea typeface="Calibri" panose="020F0502020204030204" pitchFamily="34" charset="0"/>
                <a:cs typeface="Times New Roman" panose="02020603050405020304" pitchFamily="18" charset="0"/>
              </a:rPr>
              <a:t>Judge et al (2013) argue that weak overall relationship with job performance is due to facets masked by big factors. </a:t>
            </a:r>
          </a:p>
          <a:p>
            <a:pPr>
              <a:lnSpc>
                <a:spcPct val="107000"/>
              </a:lnSpc>
              <a:spcAft>
                <a:spcPts val="800"/>
              </a:spcAft>
            </a:pPr>
            <a:r>
              <a:rPr lang="en-GB" dirty="0">
                <a:effectLst/>
                <a:latin typeface="Calibri" panose="020F0502020204030204" pitchFamily="34" charset="0"/>
                <a:ea typeface="Calibri" panose="020F0502020204030204" pitchFamily="34" charset="0"/>
                <a:cs typeface="Times New Roman" panose="02020603050405020304" pitchFamily="18" charset="0"/>
              </a:rPr>
              <a:t>Other research looking at the facets believe there is a higher level again called general factor </a:t>
            </a:r>
            <a:r>
              <a:rPr lang="en-GB" dirty="0" err="1">
                <a:effectLst/>
                <a:latin typeface="Calibri" panose="020F0502020204030204" pitchFamily="34" charset="0"/>
                <a:ea typeface="Calibri" panose="020F0502020204030204" pitchFamily="34" charset="0"/>
                <a:cs typeface="Times New Roman" panose="02020603050405020304" pitchFamily="18" charset="0"/>
              </a:rPr>
              <a:t>personaliy</a:t>
            </a:r>
            <a:r>
              <a:rPr lang="en-GB" dirty="0">
                <a:effectLst/>
                <a:latin typeface="Calibri" panose="020F0502020204030204" pitchFamily="34" charset="0"/>
                <a:ea typeface="Calibri" panose="020F0502020204030204" pitchFamily="34" charset="0"/>
                <a:cs typeface="Times New Roman" panose="02020603050405020304" pitchFamily="18" charset="0"/>
              </a:rPr>
              <a:t> GFP like </a:t>
            </a:r>
            <a:r>
              <a:rPr lang="en-GB" dirty="0" err="1">
                <a:effectLst/>
                <a:latin typeface="Calibri" panose="020F0502020204030204" pitchFamily="34" charset="0"/>
                <a:ea typeface="Calibri" panose="020F0502020204030204" pitchFamily="34" charset="0"/>
                <a:cs typeface="Times New Roman" panose="02020603050405020304" pitchFamily="18" charset="0"/>
              </a:rPr>
              <a:t>spearmans</a:t>
            </a:r>
            <a:r>
              <a:rPr lang="en-GB" dirty="0">
                <a:effectLst/>
                <a:latin typeface="Calibri" panose="020F0502020204030204" pitchFamily="34" charset="0"/>
                <a:ea typeface="Calibri" panose="020F0502020204030204" pitchFamily="34" charset="0"/>
                <a:cs typeface="Times New Roman" panose="02020603050405020304" pitchFamily="18" charset="0"/>
              </a:rPr>
              <a:t> general intelligence – loads onto Stability (E, C, low N) and Plasticity (O+E)</a:t>
            </a:r>
          </a:p>
          <a:p>
            <a:pPr>
              <a:lnSpc>
                <a:spcPct val="107000"/>
              </a:lnSpc>
              <a:spcAft>
                <a:spcPts val="800"/>
              </a:spcAft>
            </a:pPr>
            <a:r>
              <a:rPr lang="en-GB" dirty="0">
                <a:effectLst/>
                <a:latin typeface="Calibri" panose="020F0502020204030204" pitchFamily="34" charset="0"/>
                <a:ea typeface="Calibri" panose="020F0502020204030204" pitchFamily="34" charset="0"/>
                <a:cs typeface="Times New Roman" panose="02020603050405020304" pitchFamily="18" charset="0"/>
              </a:rPr>
              <a:t>These two factors load onto a single factor – van der linden et al (2010) found that GFP had a significant relationship with performance indicators – like supervisor related performance). HOWEVER Too much of a good think (E, C) can impact task performance, OCB, and counterproductive work behaviour (le et al 2011)</a:t>
            </a:r>
          </a:p>
        </p:txBody>
      </p:sp>
    </p:spTree>
    <p:extLst>
      <p:ext uri="{BB962C8B-B14F-4D97-AF65-F5344CB8AC3E}">
        <p14:creationId xmlns:p14="http://schemas.microsoft.com/office/powerpoint/2010/main" val="41590759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A1883-5BCF-488E-8727-406C7ACA9A40}"/>
              </a:ext>
            </a:extLst>
          </p:cNvPr>
          <p:cNvSpPr>
            <a:spLocks noGrp="1"/>
          </p:cNvSpPr>
          <p:nvPr>
            <p:ph type="title"/>
          </p:nvPr>
        </p:nvSpPr>
        <p:spPr/>
        <p:txBody>
          <a:bodyPr/>
          <a:lstStyle/>
          <a:p>
            <a:r>
              <a:rPr lang="en-GB" dirty="0"/>
              <a:t>Big Five + Performance</a:t>
            </a:r>
          </a:p>
        </p:txBody>
      </p:sp>
      <p:sp>
        <p:nvSpPr>
          <p:cNvPr id="3" name="Content Placeholder 2">
            <a:extLst>
              <a:ext uri="{FF2B5EF4-FFF2-40B4-BE49-F238E27FC236}">
                <a16:creationId xmlns:a16="http://schemas.microsoft.com/office/drawing/2014/main" id="{2758B0B0-7864-45A7-A9E7-3ADE685E9FEA}"/>
              </a:ext>
            </a:extLst>
          </p:cNvPr>
          <p:cNvSpPr>
            <a:spLocks noGrp="1"/>
          </p:cNvSpPr>
          <p:nvPr>
            <p:ph idx="1"/>
          </p:nvPr>
        </p:nvSpPr>
        <p:spPr>
          <a:xfrm>
            <a:off x="1097280" y="1845734"/>
            <a:ext cx="10058400" cy="4372186"/>
          </a:xfrm>
        </p:spPr>
        <p:txBody>
          <a:bodyPr>
            <a:normAutofit/>
          </a:bodyPr>
          <a:lstStyle/>
          <a:p>
            <a:pPr>
              <a:lnSpc>
                <a:spcPct val="107000"/>
              </a:lnSpc>
              <a:spcAft>
                <a:spcPts val="800"/>
              </a:spcAft>
            </a:pPr>
            <a:r>
              <a:rPr lang="en-GB" sz="1800" dirty="0">
                <a:latin typeface="Calibri" panose="020F0502020204030204" pitchFamily="34" charset="0"/>
                <a:ea typeface="Calibri" panose="020F0502020204030204" pitchFamily="34" charset="0"/>
                <a:cs typeface="Times New Roman" panose="02020603050405020304" pitchFamily="18" charset="0"/>
              </a:rPr>
              <a:t>F</a:t>
            </a:r>
            <a:r>
              <a:rPr lang="en-GB" sz="1800" dirty="0">
                <a:effectLst/>
                <a:latin typeface="Calibri" panose="020F0502020204030204" pitchFamily="34" charset="0"/>
                <a:ea typeface="Calibri" panose="020F0502020204030204" pitchFamily="34" charset="0"/>
                <a:cs typeface="Times New Roman" panose="02020603050405020304" pitchFamily="18" charset="0"/>
              </a:rPr>
              <a:t>indings indicate that personality-to-performance relationships at the facet level can be obscured if big five is examined alone. </a:t>
            </a:r>
          </a:p>
          <a:p>
            <a:pPr>
              <a:lnSpc>
                <a:spcPct val="107000"/>
              </a:lnSpc>
              <a:spcAft>
                <a:spcPts val="8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At facet level, openness to experience displayed most variation of all big 5. Overall correlated moderately with job performance. </a:t>
            </a:r>
          </a:p>
          <a:p>
            <a:pPr>
              <a:lnSpc>
                <a:spcPct val="107000"/>
              </a:lnSpc>
              <a:spcAft>
                <a:spcPts val="8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Different facets of each of big five have linkage with performance </a:t>
            </a:r>
          </a:p>
          <a:p>
            <a:pPr>
              <a:lnSpc>
                <a:spcPct val="107000"/>
              </a:lnSpc>
              <a:spcAft>
                <a:spcPts val="800"/>
              </a:spcAft>
            </a:pPr>
            <a:r>
              <a:rPr lang="en-GB" sz="1800" dirty="0" err="1">
                <a:effectLst/>
                <a:latin typeface="Calibri" panose="020F0502020204030204" pitchFamily="34" charset="0"/>
                <a:ea typeface="Calibri" panose="020F0502020204030204" pitchFamily="34" charset="0"/>
                <a:cs typeface="Times New Roman" panose="02020603050405020304" pitchFamily="18" charset="0"/>
              </a:rPr>
              <a:t>Consciousnessious</a:t>
            </a:r>
            <a:r>
              <a:rPr lang="en-GB" sz="1800" dirty="0">
                <a:effectLst/>
                <a:latin typeface="Calibri" panose="020F0502020204030204" pitchFamily="34" charset="0"/>
                <a:ea typeface="Calibri" panose="020F0502020204030204" pitchFamily="34" charset="0"/>
                <a:cs typeface="Times New Roman" panose="02020603050405020304" pitchFamily="18" charset="0"/>
              </a:rPr>
              <a:t> tends to predict overall job performance across a number of occupational settings. However exploring validity at face level, results are criterion dependent. </a:t>
            </a:r>
          </a:p>
          <a:p>
            <a:pPr>
              <a:lnSpc>
                <a:spcPct val="107000"/>
              </a:lnSpc>
              <a:spcAft>
                <a:spcPts val="8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For other personality factors, their relationship with job performance depends on nature of the job,. </a:t>
            </a:r>
          </a:p>
          <a:p>
            <a:pPr>
              <a:lnSpc>
                <a:spcPct val="107000"/>
              </a:lnSpc>
              <a:spcAft>
                <a:spcPts val="800"/>
              </a:spcAft>
            </a:pPr>
            <a:r>
              <a:rPr lang="en-GB" sz="1800" dirty="0">
                <a:latin typeface="Calibri" panose="020F0502020204030204" pitchFamily="34" charset="0"/>
                <a:ea typeface="Calibri" panose="020F0502020204030204" pitchFamily="34" charset="0"/>
                <a:cs typeface="Times New Roman" panose="02020603050405020304" pitchFamily="18" charset="0"/>
              </a:rPr>
              <a:t>Extraversion seems to important for Leadership emergence (discuss later) </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GB" dirty="0"/>
          </a:p>
        </p:txBody>
      </p:sp>
    </p:spTree>
    <p:extLst>
      <p:ext uri="{BB962C8B-B14F-4D97-AF65-F5344CB8AC3E}">
        <p14:creationId xmlns:p14="http://schemas.microsoft.com/office/powerpoint/2010/main" val="11662571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itel 1"/>
          <p:cNvSpPr>
            <a:spLocks noGrp="1"/>
          </p:cNvSpPr>
          <p:nvPr>
            <p:ph type="title" idx="4294967295"/>
          </p:nvPr>
        </p:nvSpPr>
        <p:spPr>
          <a:xfrm>
            <a:off x="2286000" y="277814"/>
            <a:ext cx="8382000" cy="788987"/>
          </a:xfrm>
        </p:spPr>
        <p:txBody>
          <a:bodyPr>
            <a:normAutofit/>
          </a:bodyPr>
          <a:lstStyle/>
          <a:p>
            <a:pPr marL="320040" indent="-320040">
              <a:buClr>
                <a:schemeClr val="accent6">
                  <a:lumMod val="75000"/>
                </a:schemeClr>
              </a:buClr>
              <a:defRPr/>
            </a:pPr>
            <a:r>
              <a:rPr lang="de-DE" sz="3400"/>
              <a:t>Other work-related aspects of personality</a:t>
            </a:r>
          </a:p>
        </p:txBody>
      </p:sp>
      <p:sp>
        <p:nvSpPr>
          <p:cNvPr id="62467" name="Inhaltsplatzhalter 2"/>
          <p:cNvSpPr>
            <a:spLocks noGrp="1"/>
          </p:cNvSpPr>
          <p:nvPr>
            <p:ph idx="4294967295"/>
          </p:nvPr>
        </p:nvSpPr>
        <p:spPr>
          <a:xfrm>
            <a:off x="1524000" y="1600201"/>
            <a:ext cx="7467600" cy="4873625"/>
          </a:xfrm>
        </p:spPr>
        <p:txBody>
          <a:bodyPr/>
          <a:lstStyle/>
          <a:p>
            <a:pPr marL="342900" indent="-342900"/>
            <a:r>
              <a:rPr lang="de-DE" b="1">
                <a:latin typeface="Century Gothic" pitchFamily="34" charset="0"/>
              </a:rPr>
              <a:t>Achievement Motivation: </a:t>
            </a:r>
            <a:r>
              <a:rPr lang="de-DE">
                <a:latin typeface="Century Gothic" pitchFamily="34" charset="0"/>
              </a:rPr>
              <a:t>The strength of an individual‘s desire to excel – to succeed at difficult tasks and to do them better than others</a:t>
            </a:r>
            <a:r>
              <a:rPr lang="de-DE" b="1">
                <a:latin typeface="Century Gothic" pitchFamily="34" charset="0"/>
              </a:rPr>
              <a:t> </a:t>
            </a:r>
          </a:p>
          <a:p>
            <a:pPr marL="342900" indent="-342900">
              <a:buNone/>
            </a:pPr>
            <a:endParaRPr lang="de-DE" sz="900" b="1">
              <a:latin typeface="Century Gothic" pitchFamily="34" charset="0"/>
            </a:endParaRPr>
          </a:p>
          <a:p>
            <a:pPr marL="342900" indent="-342900"/>
            <a:r>
              <a:rPr lang="de-DE" b="1">
                <a:latin typeface="Century Gothic" pitchFamily="34" charset="0"/>
              </a:rPr>
              <a:t>Morning persons and evening persons: </a:t>
            </a:r>
            <a:r>
              <a:rPr lang="de-DE">
                <a:latin typeface="Century Gothic" pitchFamily="34" charset="0"/>
              </a:rPr>
              <a:t>Individuals who feel most energetic and alert early in the day vs. late in the day or at night</a:t>
            </a:r>
            <a:endParaRPr lang="de-DE" b="1">
              <a:latin typeface="Century Gothic" pitchFamily="34" charset="0"/>
            </a:endParaRPr>
          </a:p>
          <a:p>
            <a:pPr marL="342900" indent="-342900">
              <a:buNone/>
            </a:pPr>
            <a:endParaRPr lang="de-DE" sz="900" b="1">
              <a:latin typeface="Century Gothic" pitchFamily="34" charset="0"/>
            </a:endParaRPr>
          </a:p>
          <a:p>
            <a:pPr marL="342900" indent="-342900"/>
            <a:r>
              <a:rPr lang="de-DE" b="1">
                <a:latin typeface="Century Gothic" pitchFamily="34" charset="0"/>
              </a:rPr>
              <a:t>Self-Monitoring: </a:t>
            </a:r>
            <a:r>
              <a:rPr lang="de-DE">
                <a:latin typeface="Century Gothic" pitchFamily="34" charset="0"/>
              </a:rPr>
              <a:t>reflects a person‘s ability to adjust his or her behavior to external, situational factors</a:t>
            </a:r>
          </a:p>
          <a:p>
            <a:pPr marL="342900" indent="-342900">
              <a:buNone/>
            </a:pPr>
            <a:endParaRPr lang="de-DE" sz="900">
              <a:latin typeface="Century Gothic" pitchFamily="34" charset="0"/>
            </a:endParaRPr>
          </a:p>
          <a:p>
            <a:pPr marL="342900" indent="-342900"/>
            <a:r>
              <a:rPr lang="de-DE" b="1">
                <a:latin typeface="Century Gothic" pitchFamily="34" charset="0"/>
              </a:rPr>
              <a:t>Locus of Control: </a:t>
            </a:r>
            <a:r>
              <a:rPr lang="de-DE">
                <a:latin typeface="Century Gothic" pitchFamily="34" charset="0"/>
              </a:rPr>
              <a:t>the extent to which a person feels able to control his or her own life</a:t>
            </a:r>
            <a:endParaRPr lang="de-DE" b="1">
              <a:latin typeface="Century Gothic" pitchFamily="34" charset="0"/>
            </a:endParaRPr>
          </a:p>
          <a:p>
            <a:pPr marL="342900" indent="-342900"/>
            <a:endParaRPr lang="de-DE" b="1">
              <a:latin typeface="Century Gothic" pitchFamily="34" charset="0"/>
            </a:endParaRPr>
          </a:p>
        </p:txBody>
      </p:sp>
    </p:spTree>
    <p:extLst>
      <p:ext uri="{BB962C8B-B14F-4D97-AF65-F5344CB8AC3E}">
        <p14:creationId xmlns:p14="http://schemas.microsoft.com/office/powerpoint/2010/main" val="39987046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p:cNvSpPr>
            <a:spLocks noGrp="1" noChangeArrowheads="1"/>
          </p:cNvSpPr>
          <p:nvPr>
            <p:ph type="title"/>
          </p:nvPr>
        </p:nvSpPr>
        <p:spPr>
          <a:xfrm>
            <a:off x="1981200" y="274638"/>
            <a:ext cx="7467600" cy="639762"/>
          </a:xfrm>
        </p:spPr>
        <p:txBody>
          <a:bodyPr>
            <a:normAutofit fontScale="90000"/>
          </a:bodyPr>
          <a:lstStyle/>
          <a:p>
            <a:pPr marL="320040" indent="-320040">
              <a:buClr>
                <a:schemeClr val="accent6">
                  <a:lumMod val="75000"/>
                </a:schemeClr>
              </a:buClr>
              <a:defRPr/>
            </a:pPr>
            <a:r>
              <a:rPr lang="en-US"/>
              <a:t>BIG 5, EYSENCK’S ETC. </a:t>
            </a:r>
          </a:p>
        </p:txBody>
      </p:sp>
      <p:sp>
        <p:nvSpPr>
          <p:cNvPr id="63491" name="Rectangle 3"/>
          <p:cNvSpPr>
            <a:spLocks noGrp="1" noChangeArrowheads="1"/>
          </p:cNvSpPr>
          <p:nvPr>
            <p:ph idx="1"/>
          </p:nvPr>
        </p:nvSpPr>
        <p:spPr>
          <a:xfrm>
            <a:off x="2667000" y="1330325"/>
            <a:ext cx="6400800" cy="3475038"/>
          </a:xfrm>
        </p:spPr>
        <p:txBody>
          <a:bodyPr/>
          <a:lstStyle/>
          <a:p>
            <a:pPr eaLnBrk="1" hangingPunct="1"/>
            <a:r>
              <a:rPr lang="en-US"/>
              <a:t>Are examples of the Nomothetic approach</a:t>
            </a:r>
          </a:p>
        </p:txBody>
      </p:sp>
      <p:sp>
        <p:nvSpPr>
          <p:cNvPr id="63492" name="Rectangle 4"/>
          <p:cNvSpPr>
            <a:spLocks noChangeArrowheads="1"/>
          </p:cNvSpPr>
          <p:nvPr/>
        </p:nvSpPr>
        <p:spPr bwMode="auto">
          <a:xfrm>
            <a:off x="3124200" y="2057400"/>
            <a:ext cx="6248400" cy="1600200"/>
          </a:xfrm>
          <a:prstGeom prst="rect">
            <a:avLst/>
          </a:prstGeom>
          <a:solidFill>
            <a:schemeClr val="accent1"/>
          </a:solidFill>
          <a:ln w="9525">
            <a:solidFill>
              <a:schemeClr val="tx1"/>
            </a:solidFill>
            <a:miter lim="800000"/>
            <a:headEnd/>
            <a:tailEnd/>
          </a:ln>
        </p:spPr>
        <p:txBody>
          <a:bodyPr wrap="none" anchor="ctr"/>
          <a:lstStyle/>
          <a:p>
            <a:pPr algn="ctr"/>
            <a:r>
              <a:rPr lang="en-US" sz="2400" b="1"/>
              <a:t>… emphasizes the identification of</a:t>
            </a:r>
          </a:p>
          <a:p>
            <a:pPr algn="ctr"/>
            <a:r>
              <a:rPr lang="en-US" sz="2400" b="1"/>
              <a:t>universal personality traits …</a:t>
            </a:r>
          </a:p>
        </p:txBody>
      </p:sp>
      <p:sp>
        <p:nvSpPr>
          <p:cNvPr id="241669" name="Rectangle 5"/>
          <p:cNvSpPr>
            <a:spLocks noChangeArrowheads="1"/>
          </p:cNvSpPr>
          <p:nvPr/>
        </p:nvSpPr>
        <p:spPr bwMode="auto">
          <a:xfrm>
            <a:off x="3200400" y="4040188"/>
            <a:ext cx="6248400" cy="1600200"/>
          </a:xfrm>
          <a:prstGeom prst="rect">
            <a:avLst/>
          </a:prstGeom>
          <a:solidFill>
            <a:schemeClr val="accent1"/>
          </a:solidFill>
          <a:ln w="9525">
            <a:solidFill>
              <a:schemeClr val="tx1"/>
            </a:solidFill>
            <a:miter lim="800000"/>
            <a:headEnd/>
            <a:tailEnd/>
          </a:ln>
        </p:spPr>
        <p:txBody>
          <a:bodyPr wrap="none" anchor="ctr"/>
          <a:lstStyle/>
          <a:p>
            <a:pPr algn="ctr"/>
            <a:r>
              <a:rPr lang="en-US" sz="2400" b="1"/>
              <a:t> </a:t>
            </a:r>
          </a:p>
          <a:p>
            <a:pPr algn="ctr">
              <a:buFontTx/>
              <a:buChar char="•"/>
            </a:pPr>
            <a:r>
              <a:rPr lang="en-US" sz="2000" b="1"/>
              <a:t>uses objective questionnaires</a:t>
            </a:r>
          </a:p>
          <a:p>
            <a:pPr algn="ctr">
              <a:buFontTx/>
              <a:buChar char="•"/>
            </a:pPr>
            <a:r>
              <a:rPr lang="en-US" sz="2000" b="1"/>
              <a:t>describes personality in terms of traits, </a:t>
            </a:r>
          </a:p>
          <a:p>
            <a:pPr algn="ctr"/>
            <a:r>
              <a:rPr lang="en-US" sz="2000" b="1"/>
              <a:t>trait clusters or personality types</a:t>
            </a:r>
          </a:p>
          <a:p>
            <a:pPr algn="ctr">
              <a:buFontTx/>
              <a:buChar char="•"/>
            </a:pPr>
            <a:r>
              <a:rPr lang="en-US" sz="2000" b="1"/>
              <a:t> view personality as composed of identifiable</a:t>
            </a:r>
          </a:p>
          <a:p>
            <a:pPr algn="ctr"/>
            <a:r>
              <a:rPr lang="en-US" sz="2000" b="1"/>
              <a:t>elements</a:t>
            </a:r>
          </a:p>
          <a:p>
            <a:pPr algn="ctr"/>
            <a:endParaRPr lang="en-US" sz="2000" b="1"/>
          </a:p>
        </p:txBody>
      </p:sp>
    </p:spTree>
    <p:extLst>
      <p:ext uri="{BB962C8B-B14F-4D97-AF65-F5344CB8AC3E}">
        <p14:creationId xmlns:p14="http://schemas.microsoft.com/office/powerpoint/2010/main" val="33034551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41669"/>
                                        </p:tgtEl>
                                        <p:attrNameLst>
                                          <p:attrName>style.visibility</p:attrName>
                                        </p:attrNameLst>
                                      </p:cBhvr>
                                      <p:to>
                                        <p:strVal val="visible"/>
                                      </p:to>
                                    </p:set>
                                    <p:animEffect transition="in" filter="diamond(in)">
                                      <p:cBhvr>
                                        <p:cTn id="7" dur="2000"/>
                                        <p:tgtEl>
                                          <p:spTgt spid="24166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grpId="1" nodeType="clickEffect">
                                  <p:stCondLst>
                                    <p:cond delay="0"/>
                                  </p:stCondLst>
                                  <p:childTnLst>
                                    <p:set>
                                      <p:cBhvr>
                                        <p:cTn id="11" dur="1" fill="hold">
                                          <p:stCondLst>
                                            <p:cond delay="0"/>
                                          </p:stCondLst>
                                        </p:cTn>
                                        <p:tgtEl>
                                          <p:spTgt spid="241669"/>
                                        </p:tgtEl>
                                        <p:attrNameLst>
                                          <p:attrName>style.visibility</p:attrName>
                                        </p:attrNameLst>
                                      </p:cBhvr>
                                      <p:to>
                                        <p:strVal val="visible"/>
                                      </p:to>
                                    </p:set>
                                    <p:animEffect transition="in" filter="diamond(in)">
                                      <p:cBhvr>
                                        <p:cTn id="12" dur="2000"/>
                                        <p:tgtEl>
                                          <p:spTgt spid="2416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669" grpId="0" animBg="1"/>
      <p:bldP spid="241669" grpId="1"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ChangeArrowheads="1"/>
          </p:cNvSpPr>
          <p:nvPr/>
        </p:nvSpPr>
        <p:spPr bwMode="auto">
          <a:xfrm>
            <a:off x="2209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20000"/>
              </a:spcBef>
              <a:buFontTx/>
              <a:buChar char=" "/>
            </a:pPr>
            <a:r>
              <a:rPr lang="en-US" sz="3200">
                <a:solidFill>
                  <a:srgbClr val="000000"/>
                </a:solidFill>
                <a:latin typeface="Times New Roman" pitchFamily="18" charset="0"/>
              </a:rPr>
              <a:t>Every individual has personal and unique qualities not shared by any other person in the world</a:t>
            </a:r>
          </a:p>
          <a:p>
            <a:pPr marL="342900" indent="-342900">
              <a:spcBef>
                <a:spcPct val="20000"/>
              </a:spcBef>
              <a:buFontTx/>
              <a:buChar char=" "/>
            </a:pPr>
            <a:endParaRPr lang="en-US" sz="3200">
              <a:solidFill>
                <a:srgbClr val="000000"/>
              </a:solidFill>
              <a:latin typeface="Times New Roman" pitchFamily="18" charset="0"/>
            </a:endParaRPr>
          </a:p>
        </p:txBody>
      </p:sp>
      <p:sp>
        <p:nvSpPr>
          <p:cNvPr id="64515" name="Rectangle 4"/>
          <p:cNvSpPr>
            <a:spLocks noChangeArrowheads="1"/>
          </p:cNvSpPr>
          <p:nvPr/>
        </p:nvSpPr>
        <p:spPr bwMode="auto">
          <a:xfrm>
            <a:off x="2438400" y="1371600"/>
            <a:ext cx="7315200" cy="152400"/>
          </a:xfrm>
          <a:prstGeom prst="rect">
            <a:avLst/>
          </a:prstGeom>
          <a:solidFill>
            <a:schemeClr val="tx2"/>
          </a:solidFill>
          <a:ln w="9525">
            <a:solidFill>
              <a:schemeClr val="accent2"/>
            </a:solidFill>
            <a:miter lim="800000"/>
            <a:headEnd/>
            <a:tailEnd/>
          </a:ln>
        </p:spPr>
        <p:txBody>
          <a:bodyPr wrap="none" anchor="ctr"/>
          <a:lstStyle/>
          <a:p>
            <a:endParaRPr lang="de-DE"/>
          </a:p>
        </p:txBody>
      </p:sp>
      <p:graphicFrame>
        <p:nvGraphicFramePr>
          <p:cNvPr id="113669" name="Object 2"/>
          <p:cNvGraphicFramePr>
            <a:graphicFrameLocks noChangeAspect="1"/>
          </p:cNvGraphicFramePr>
          <p:nvPr/>
        </p:nvGraphicFramePr>
        <p:xfrm>
          <a:off x="4495801" y="3124200"/>
          <a:ext cx="5287963" cy="2514600"/>
        </p:xfrm>
        <a:graphic>
          <a:graphicData uri="http://schemas.openxmlformats.org/presentationml/2006/ole">
            <mc:AlternateContent xmlns:mc="http://schemas.openxmlformats.org/markup-compatibility/2006">
              <mc:Choice xmlns:v="urn:schemas-microsoft-com:vml" Requires="v">
                <p:oleObj spid="_x0000_s2068" name="Paint Shop Pro Image" r:id="rId4" imgW="6507317" imgH="3668293" progId="PaintShopPro">
                  <p:embed/>
                </p:oleObj>
              </mc:Choice>
              <mc:Fallback>
                <p:oleObj name="Paint Shop Pro Image" r:id="rId4" imgW="6507317" imgH="3668293" progId="PaintShopPro">
                  <p:embed/>
                  <p:pic>
                    <p:nvPicPr>
                      <p:cNvPr id="113669"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5801" y="3124200"/>
                        <a:ext cx="5287963" cy="2514600"/>
                      </a:xfrm>
                      <a:prstGeom prst="rect">
                        <a:avLst/>
                      </a:prstGeom>
                      <a:noFill/>
                      <a:ln>
                        <a:noFill/>
                      </a:ln>
                      <a:effectLst/>
                      <a:extLst>
                        <a:ext uri="{909E8E84-426E-40DD-AFC4-6F175D3DCCD1}">
                          <a14:hiddenFill xmlns:a14="http://schemas.microsoft.com/office/drawing/2010/main">
                            <a:solidFill>
                              <a:srgbClr val="1C1C1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4517" name="Rectangle 2"/>
          <p:cNvSpPr txBox="1">
            <a:spLocks noChangeArrowheads="1"/>
          </p:cNvSpPr>
          <p:nvPr/>
        </p:nvSpPr>
        <p:spPr bwMode="auto">
          <a:xfrm>
            <a:off x="1981200" y="274638"/>
            <a:ext cx="7467600"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Century Gothic" pitchFamily="34" charset="0"/>
                <a:ea typeface="ＭＳ Ｐゴシック" pitchFamily="34" charset="-128"/>
              </a:defRPr>
            </a:lvl1pPr>
            <a:lvl2pPr marL="742950" indent="-285750">
              <a:defRPr>
                <a:solidFill>
                  <a:schemeClr val="tx1"/>
                </a:solidFill>
                <a:latin typeface="Century Gothic" pitchFamily="34" charset="0"/>
                <a:ea typeface="ＭＳ Ｐゴシック" pitchFamily="34" charset="-128"/>
              </a:defRPr>
            </a:lvl2pPr>
            <a:lvl3pPr marL="1143000" indent="-228600">
              <a:defRPr>
                <a:solidFill>
                  <a:schemeClr val="tx1"/>
                </a:solidFill>
                <a:latin typeface="Century Gothic" pitchFamily="34" charset="0"/>
                <a:ea typeface="ＭＳ Ｐゴシック" pitchFamily="34" charset="-128"/>
              </a:defRPr>
            </a:lvl3pPr>
            <a:lvl4pPr marL="1600200" indent="-228600">
              <a:defRPr>
                <a:solidFill>
                  <a:schemeClr val="tx1"/>
                </a:solidFill>
                <a:latin typeface="Century Gothic" pitchFamily="34" charset="0"/>
                <a:ea typeface="ＭＳ Ｐゴシック" pitchFamily="34" charset="-128"/>
              </a:defRPr>
            </a:lvl4pPr>
            <a:lvl5pPr marL="2057400" indent="-228600">
              <a:defRPr>
                <a:solidFill>
                  <a:schemeClr val="tx1"/>
                </a:solidFill>
                <a:latin typeface="Century Gothic"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9pPr>
          </a:lstStyle>
          <a:p>
            <a:pPr eaLnBrk="1" hangingPunct="1"/>
            <a:r>
              <a:rPr lang="en-US" sz="3000" b="1" dirty="0">
                <a:solidFill>
                  <a:schemeClr val="tx2"/>
                </a:solidFill>
                <a:latin typeface="Calibri" pitchFamily="34" charset="0"/>
                <a:cs typeface="Calibri" pitchFamily="34" charset="0"/>
              </a:rPr>
              <a:t>THE IDIOGRAPHIC APPROACH</a:t>
            </a:r>
            <a:endParaRPr lang="en-US" sz="3000" dirty="0">
              <a:solidFill>
                <a:schemeClr val="tx2"/>
              </a:solidFill>
              <a:latin typeface="Calibri" pitchFamily="34" charset="0"/>
              <a:cs typeface="Calibri" pitchFamily="34" charset="0"/>
            </a:endParaRPr>
          </a:p>
        </p:txBody>
      </p:sp>
    </p:spTree>
    <p:extLst>
      <p:ext uri="{BB962C8B-B14F-4D97-AF65-F5344CB8AC3E}">
        <p14:creationId xmlns:p14="http://schemas.microsoft.com/office/powerpoint/2010/main" val="5732795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13666">
                                            <p:txEl>
                                              <p:pRg st="0" end="0"/>
                                            </p:txEl>
                                          </p:spTgt>
                                        </p:tgtEl>
                                        <p:attrNameLst>
                                          <p:attrName>style.visibility</p:attrName>
                                        </p:attrNameLst>
                                      </p:cBhvr>
                                      <p:to>
                                        <p:strVal val="visible"/>
                                      </p:to>
                                    </p:set>
                                    <p:animEffect transition="in" filter="blinds(horizontal)">
                                      <p:cBhvr>
                                        <p:cTn id="7" dur="500"/>
                                        <p:tgtEl>
                                          <p:spTgt spid="11366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xit" presetSubtype="4" fill="hold" nodeType="clickEffect">
                                  <p:stCondLst>
                                    <p:cond delay="0"/>
                                  </p:stCondLst>
                                  <p:childTnLst>
                                    <p:anim calcmode="lin" valueType="num">
                                      <p:cBhvr additive="base">
                                        <p:cTn id="11" dur="500"/>
                                        <p:tgtEl>
                                          <p:spTgt spid="113669"/>
                                        </p:tgtEl>
                                        <p:attrNameLst>
                                          <p:attrName>ppt_x</p:attrName>
                                        </p:attrNameLst>
                                      </p:cBhvr>
                                      <p:tavLst>
                                        <p:tav tm="0">
                                          <p:val>
                                            <p:strVal val="ppt_x"/>
                                          </p:val>
                                        </p:tav>
                                        <p:tav tm="100000">
                                          <p:val>
                                            <p:strVal val="ppt_x"/>
                                          </p:val>
                                        </p:tav>
                                      </p:tavLst>
                                    </p:anim>
                                    <p:anim calcmode="lin" valueType="num">
                                      <p:cBhvr additive="base">
                                        <p:cTn id="12" dur="500"/>
                                        <p:tgtEl>
                                          <p:spTgt spid="113669"/>
                                        </p:tgtEl>
                                        <p:attrNameLst>
                                          <p:attrName>ppt_y</p:attrName>
                                        </p:attrNameLst>
                                      </p:cBhvr>
                                      <p:tavLst>
                                        <p:tav tm="0">
                                          <p:val>
                                            <p:strVal val="ppt_y"/>
                                          </p:val>
                                        </p:tav>
                                        <p:tav tm="100000">
                                          <p:val>
                                            <p:strVal val="1+ppt_h/2"/>
                                          </p:val>
                                        </p:tav>
                                      </p:tavLst>
                                    </p:anim>
                                    <p:set>
                                      <p:cBhvr>
                                        <p:cTn id="13" dur="1" fill="hold">
                                          <p:stCondLst>
                                            <p:cond delay="499"/>
                                          </p:stCondLst>
                                        </p:cTn>
                                        <p:tgtEl>
                                          <p:spTgt spid="11366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6" grpId="0" build="p" bldLvl="2" autoUpdateAnimBg="0" advAuto="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Grp="1" noChangeArrowheads="1"/>
          </p:cNvSpPr>
          <p:nvPr>
            <p:ph type="title"/>
          </p:nvPr>
        </p:nvSpPr>
        <p:spPr>
          <a:xfrm>
            <a:off x="1097280" y="434340"/>
            <a:ext cx="9932670" cy="1143000"/>
          </a:xfrm>
        </p:spPr>
        <p:txBody>
          <a:bodyPr>
            <a:normAutofit/>
          </a:bodyPr>
          <a:lstStyle/>
          <a:p>
            <a:pPr marL="320040" indent="-320040">
              <a:buClr>
                <a:schemeClr val="accent6">
                  <a:lumMod val="75000"/>
                </a:schemeClr>
              </a:buClr>
              <a:defRPr/>
            </a:pPr>
            <a:r>
              <a:rPr lang="en-US" sz="3600" dirty="0"/>
              <a:t>THE IDEOGRAPHIC APPROACH: ASSUMPTIONS</a:t>
            </a:r>
          </a:p>
        </p:txBody>
      </p:sp>
      <p:sp>
        <p:nvSpPr>
          <p:cNvPr id="66563" name="Rectangle 3"/>
          <p:cNvSpPr>
            <a:spLocks noGrp="1" noChangeArrowheads="1"/>
          </p:cNvSpPr>
          <p:nvPr>
            <p:ph idx="1"/>
          </p:nvPr>
        </p:nvSpPr>
        <p:spPr/>
        <p:txBody>
          <a:bodyPr>
            <a:normAutofit lnSpcReduction="10000"/>
          </a:bodyPr>
          <a:lstStyle/>
          <a:p>
            <a:pPr eaLnBrk="1" hangingPunct="1">
              <a:lnSpc>
                <a:spcPct val="90000"/>
              </a:lnSpc>
            </a:pPr>
            <a:r>
              <a:rPr lang="en-US"/>
              <a:t>Each individual is unique</a:t>
            </a:r>
          </a:p>
          <a:p>
            <a:pPr eaLnBrk="1" hangingPunct="1">
              <a:lnSpc>
                <a:spcPct val="90000"/>
              </a:lnSpc>
              <a:buFontTx/>
              <a:buNone/>
            </a:pPr>
            <a:endParaRPr lang="en-US"/>
          </a:p>
          <a:p>
            <a:pPr eaLnBrk="1" hangingPunct="1">
              <a:lnSpc>
                <a:spcPct val="90000"/>
              </a:lnSpc>
            </a:pPr>
            <a:r>
              <a:rPr lang="en-US"/>
              <a:t>Our behaviour patterns are influenced by experience, by conscious reflection and reasoning, not just by habit, instinct or heredity</a:t>
            </a:r>
          </a:p>
          <a:p>
            <a:pPr eaLnBrk="1" hangingPunct="1">
              <a:lnSpc>
                <a:spcPct val="90000"/>
              </a:lnSpc>
              <a:buFontTx/>
              <a:buNone/>
            </a:pPr>
            <a:r>
              <a:rPr lang="en-US"/>
              <a:t> </a:t>
            </a:r>
          </a:p>
          <a:p>
            <a:pPr eaLnBrk="1" hangingPunct="1">
              <a:lnSpc>
                <a:spcPct val="90000"/>
              </a:lnSpc>
            </a:pPr>
            <a:r>
              <a:rPr lang="en-US"/>
              <a:t>We behave in accordance to the image we have of ourselves or self concept</a:t>
            </a:r>
          </a:p>
          <a:p>
            <a:pPr eaLnBrk="1" hangingPunct="1">
              <a:lnSpc>
                <a:spcPct val="90000"/>
              </a:lnSpc>
              <a:buFontTx/>
              <a:buNone/>
            </a:pPr>
            <a:endParaRPr lang="en-US"/>
          </a:p>
          <a:p>
            <a:pPr eaLnBrk="1" hangingPunct="1">
              <a:lnSpc>
                <a:spcPct val="90000"/>
              </a:lnSpc>
            </a:pPr>
            <a:r>
              <a:rPr lang="en-US"/>
              <a:t>Personality is open to change through new social interactions and experiences</a:t>
            </a:r>
          </a:p>
          <a:p>
            <a:pPr eaLnBrk="1" hangingPunct="1">
              <a:lnSpc>
                <a:spcPct val="90000"/>
              </a:lnSpc>
              <a:buFontTx/>
              <a:buNone/>
            </a:pPr>
            <a:endParaRPr lang="en-US" i="1"/>
          </a:p>
          <a:p>
            <a:pPr eaLnBrk="1" hangingPunct="1">
              <a:lnSpc>
                <a:spcPct val="90000"/>
              </a:lnSpc>
            </a:pPr>
            <a:r>
              <a:rPr lang="en-US" i="1"/>
              <a:t>Your self-understanding determines behaviour</a:t>
            </a:r>
          </a:p>
        </p:txBody>
      </p:sp>
    </p:spTree>
    <p:extLst>
      <p:ext uri="{BB962C8B-B14F-4D97-AF65-F5344CB8AC3E}">
        <p14:creationId xmlns:p14="http://schemas.microsoft.com/office/powerpoint/2010/main" val="38930939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a:xfrm>
            <a:off x="1981200" y="274638"/>
            <a:ext cx="7467600" cy="715962"/>
          </a:xfrm>
        </p:spPr>
        <p:txBody>
          <a:bodyPr>
            <a:normAutofit fontScale="90000"/>
          </a:bodyPr>
          <a:lstStyle/>
          <a:p>
            <a:pPr marL="320040" indent="-320040">
              <a:buClr>
                <a:schemeClr val="accent6">
                  <a:lumMod val="75000"/>
                </a:schemeClr>
              </a:buClr>
              <a:defRPr/>
            </a:pPr>
            <a:r>
              <a:rPr lang="en-US"/>
              <a:t>PROJECTIVE TESTS</a:t>
            </a:r>
          </a:p>
        </p:txBody>
      </p:sp>
      <p:sp>
        <p:nvSpPr>
          <p:cNvPr id="67587" name="Rectangle 3"/>
          <p:cNvSpPr>
            <a:spLocks noGrp="1" noChangeArrowheads="1"/>
          </p:cNvSpPr>
          <p:nvPr>
            <p:ph idx="1"/>
          </p:nvPr>
        </p:nvSpPr>
        <p:spPr>
          <a:xfrm>
            <a:off x="2743200" y="2057400"/>
            <a:ext cx="6400800" cy="3475038"/>
          </a:xfrm>
        </p:spPr>
        <p:txBody>
          <a:bodyPr/>
          <a:lstStyle/>
          <a:p>
            <a:pPr eaLnBrk="1" hangingPunct="1"/>
            <a:r>
              <a:rPr lang="en-US"/>
              <a:t>Projective tests</a:t>
            </a:r>
          </a:p>
          <a:p>
            <a:pPr lvl="1" eaLnBrk="1" hangingPunct="1"/>
            <a:r>
              <a:rPr lang="en-US"/>
              <a:t>Based on the assumption that the test taker will transfer (“project”) unconscious conflicts and motives onto an ambiguous stimulus.</a:t>
            </a:r>
          </a:p>
          <a:p>
            <a:pPr lvl="1" eaLnBrk="1" hangingPunct="1"/>
            <a:r>
              <a:rPr lang="en-US"/>
              <a:t>Examples include the Thematic Apperception Test and the Rorschach</a:t>
            </a:r>
          </a:p>
          <a:p>
            <a:pPr eaLnBrk="1" hangingPunct="1"/>
            <a:endParaRPr lang="en-US"/>
          </a:p>
        </p:txBody>
      </p:sp>
    </p:spTree>
    <p:extLst>
      <p:ext uri="{BB962C8B-B14F-4D97-AF65-F5344CB8AC3E}">
        <p14:creationId xmlns:p14="http://schemas.microsoft.com/office/powerpoint/2010/main" val="15895536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p:txBody>
          <a:bodyPr>
            <a:normAutofit/>
          </a:bodyPr>
          <a:lstStyle/>
          <a:p>
            <a:pPr marL="320040" indent="-320040">
              <a:buClr>
                <a:schemeClr val="accent6">
                  <a:lumMod val="75000"/>
                </a:schemeClr>
              </a:buClr>
              <a:defRPr/>
            </a:pPr>
            <a:r>
              <a:rPr lang="en-US"/>
              <a:t>THEMATIC APPERCEPTION TEST</a:t>
            </a:r>
          </a:p>
        </p:txBody>
      </p:sp>
      <p:sp>
        <p:nvSpPr>
          <p:cNvPr id="68611" name="Rectangle 4"/>
          <p:cNvSpPr>
            <a:spLocks noGrp="1" noChangeArrowheads="1"/>
          </p:cNvSpPr>
          <p:nvPr>
            <p:ph type="body" sz="half" idx="1"/>
          </p:nvPr>
        </p:nvSpPr>
        <p:spPr/>
        <p:txBody>
          <a:bodyPr/>
          <a:lstStyle/>
          <a:p>
            <a:pPr eaLnBrk="1" hangingPunct="1"/>
            <a:r>
              <a:rPr lang="en-US" dirty="0"/>
              <a:t>Person is asked to tell a story about the “hero” in the picture</a:t>
            </a:r>
          </a:p>
          <a:p>
            <a:pPr lvl="1" eaLnBrk="1" hangingPunct="1"/>
            <a:r>
              <a:rPr lang="en-US" dirty="0"/>
              <a:t>Another projective test</a:t>
            </a:r>
          </a:p>
          <a:p>
            <a:pPr eaLnBrk="1" hangingPunct="1"/>
            <a:r>
              <a:rPr lang="en-US" dirty="0"/>
              <a:t>Based on Murray’s personality theory</a:t>
            </a:r>
          </a:p>
          <a:p>
            <a:pPr lvl="1" eaLnBrk="1" hangingPunct="1"/>
            <a:r>
              <a:rPr lang="en-US" dirty="0"/>
              <a:t>People are distinguished by the needs that motivate their </a:t>
            </a:r>
            <a:r>
              <a:rPr lang="en-US" dirty="0" err="1"/>
              <a:t>behaviour</a:t>
            </a:r>
            <a:endParaRPr lang="en-US" dirty="0"/>
          </a:p>
          <a:p>
            <a:pPr lvl="1" eaLnBrk="1" hangingPunct="1"/>
            <a:r>
              <a:rPr lang="en-US" dirty="0"/>
              <a:t>Primary/Secondary Presses/Needs</a:t>
            </a:r>
          </a:p>
          <a:p>
            <a:pPr eaLnBrk="1" hangingPunct="1"/>
            <a:endParaRPr lang="en-US" dirty="0"/>
          </a:p>
        </p:txBody>
      </p:sp>
      <p:pic>
        <p:nvPicPr>
          <p:cNvPr id="68612" name="Picture 6"/>
          <p:cNvPicPr>
            <a:picLocks noGrp="1" noChangeAspect="1" noChangeArrowheads="1"/>
          </p:cNvPicPr>
          <p:nvPr>
            <p:ph sz="half" idx="2"/>
          </p:nvPr>
        </p:nvPicPr>
        <p:blipFill>
          <a:blip r:embed="rId2" cstate="print">
            <a:extLst>
              <a:ext uri="{28A0092B-C50C-407E-A947-70E740481C1C}">
                <a14:useLocalDpi xmlns:a14="http://schemas.microsoft.com/office/drawing/2010/main" val="0"/>
              </a:ext>
            </a:extLst>
          </a:blip>
          <a:srcRect/>
          <a:stretch>
            <a:fillRect/>
          </a:stretch>
        </p:blipFill>
        <p:spPr>
          <a:xfrm>
            <a:off x="6629400" y="1371600"/>
            <a:ext cx="3371850" cy="4114800"/>
          </a:xfrm>
          <a:noFill/>
        </p:spPr>
      </p:pic>
    </p:spTree>
    <p:extLst>
      <p:ext uri="{BB962C8B-B14F-4D97-AF65-F5344CB8AC3E}">
        <p14:creationId xmlns:p14="http://schemas.microsoft.com/office/powerpoint/2010/main" val="31123181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p:cNvSpPr>
            <a:spLocks noGrp="1" noChangeArrowheads="1"/>
          </p:cNvSpPr>
          <p:nvPr>
            <p:ph type="title"/>
          </p:nvPr>
        </p:nvSpPr>
        <p:spPr>
          <a:xfrm>
            <a:off x="1994647" y="457200"/>
            <a:ext cx="8229600" cy="838200"/>
          </a:xfrm>
        </p:spPr>
        <p:txBody>
          <a:bodyPr>
            <a:normAutofit/>
          </a:bodyPr>
          <a:lstStyle/>
          <a:p>
            <a:pPr marL="320040" indent="-320040">
              <a:buClr>
                <a:schemeClr val="accent6">
                  <a:lumMod val="75000"/>
                </a:schemeClr>
              </a:buClr>
              <a:defRPr/>
            </a:pPr>
            <a:r>
              <a:rPr lang="en-US" dirty="0"/>
              <a:t>THE RORSCHACH INKBLOT TEST</a:t>
            </a:r>
          </a:p>
        </p:txBody>
      </p:sp>
      <p:sp>
        <p:nvSpPr>
          <p:cNvPr id="69635" name="Rectangle 4"/>
          <p:cNvSpPr>
            <a:spLocks noGrp="1" noChangeArrowheads="1"/>
          </p:cNvSpPr>
          <p:nvPr>
            <p:ph type="body" sz="half" idx="1"/>
          </p:nvPr>
        </p:nvSpPr>
        <p:spPr/>
        <p:txBody>
          <a:bodyPr/>
          <a:lstStyle/>
          <a:p>
            <a:pPr eaLnBrk="1" hangingPunct="1"/>
            <a:r>
              <a:rPr lang="en-US"/>
              <a:t>Ambiguous stimuli</a:t>
            </a:r>
          </a:p>
          <a:p>
            <a:pPr eaLnBrk="1" hangingPunct="1"/>
            <a:r>
              <a:rPr lang="en-US"/>
              <a:t>Person is asked to report what they see</a:t>
            </a:r>
          </a:p>
          <a:p>
            <a:pPr eaLnBrk="1" hangingPunct="1"/>
            <a:r>
              <a:rPr lang="en-US"/>
              <a:t>This type of test is called projective</a:t>
            </a:r>
          </a:p>
          <a:p>
            <a:pPr lvl="1" eaLnBrk="1" hangingPunct="1"/>
            <a:r>
              <a:rPr lang="en-US"/>
              <a:t>No clear image, so the things you see must be “projected” from inside yourself</a:t>
            </a:r>
          </a:p>
          <a:p>
            <a:pPr eaLnBrk="1" hangingPunct="1"/>
            <a:endParaRPr lang="en-US"/>
          </a:p>
        </p:txBody>
      </p:sp>
      <p:pic>
        <p:nvPicPr>
          <p:cNvPr id="69636" name="Picture 6" descr="KA1503"/>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l="11200" t="2400" r="11200" b="2400"/>
          <a:stretch>
            <a:fillRect/>
          </a:stretch>
        </p:blipFill>
        <p:spPr>
          <a:xfrm>
            <a:off x="6477000" y="1600201"/>
            <a:ext cx="3733800" cy="3368675"/>
          </a:xfrm>
          <a:noFill/>
        </p:spPr>
      </p:pic>
      <p:sp>
        <p:nvSpPr>
          <p:cNvPr id="69637" name="Text Box 7"/>
          <p:cNvSpPr txBox="1">
            <a:spLocks noChangeArrowheads="1"/>
          </p:cNvSpPr>
          <p:nvPr/>
        </p:nvSpPr>
        <p:spPr bwMode="auto">
          <a:xfrm>
            <a:off x="6096000" y="5105401"/>
            <a:ext cx="4114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entury Gothic" pitchFamily="34" charset="0"/>
                <a:ea typeface="ＭＳ Ｐゴシック" pitchFamily="34" charset="-128"/>
              </a:defRPr>
            </a:lvl1pPr>
            <a:lvl2pPr marL="742950" indent="-285750">
              <a:defRPr>
                <a:solidFill>
                  <a:schemeClr val="tx1"/>
                </a:solidFill>
                <a:latin typeface="Century Gothic" pitchFamily="34" charset="0"/>
                <a:ea typeface="ＭＳ Ｐゴシック" pitchFamily="34" charset="-128"/>
              </a:defRPr>
            </a:lvl2pPr>
            <a:lvl3pPr marL="1143000" indent="-228600">
              <a:defRPr>
                <a:solidFill>
                  <a:schemeClr val="tx1"/>
                </a:solidFill>
                <a:latin typeface="Century Gothic" pitchFamily="34" charset="0"/>
                <a:ea typeface="ＭＳ Ｐゴシック" pitchFamily="34" charset="-128"/>
              </a:defRPr>
            </a:lvl3pPr>
            <a:lvl4pPr marL="1600200" indent="-228600">
              <a:defRPr>
                <a:solidFill>
                  <a:schemeClr val="tx1"/>
                </a:solidFill>
                <a:latin typeface="Century Gothic" pitchFamily="34" charset="0"/>
                <a:ea typeface="ＭＳ Ｐゴシック" pitchFamily="34" charset="-128"/>
              </a:defRPr>
            </a:lvl4pPr>
            <a:lvl5pPr marL="2057400" indent="-228600">
              <a:defRPr>
                <a:solidFill>
                  <a:schemeClr val="tx1"/>
                </a:solidFill>
                <a:latin typeface="Century Gothic"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Century Gothic" pitchFamily="34" charset="0"/>
                <a:ea typeface="ＭＳ Ｐゴシック" pitchFamily="34" charset="-128"/>
              </a:defRPr>
            </a:lvl9pPr>
          </a:lstStyle>
          <a:p>
            <a:pPr algn="ctr">
              <a:spcBef>
                <a:spcPct val="50000"/>
              </a:spcBef>
            </a:pPr>
            <a:r>
              <a:rPr lang="en-US" sz="2000" b="1">
                <a:solidFill>
                  <a:srgbClr val="17110B"/>
                </a:solidFill>
              </a:rPr>
              <a:t>Sample Rorschach Card</a:t>
            </a:r>
          </a:p>
        </p:txBody>
      </p:sp>
    </p:spTree>
    <p:extLst>
      <p:ext uri="{BB962C8B-B14F-4D97-AF65-F5344CB8AC3E}">
        <p14:creationId xmlns:p14="http://schemas.microsoft.com/office/powerpoint/2010/main" val="34371276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Idiographic approach and organisations</a:t>
            </a:r>
          </a:p>
        </p:txBody>
      </p:sp>
      <p:sp>
        <p:nvSpPr>
          <p:cNvPr id="3" name="Content Placeholder 2"/>
          <p:cNvSpPr>
            <a:spLocks noGrp="1"/>
          </p:cNvSpPr>
          <p:nvPr>
            <p:ph idx="1"/>
          </p:nvPr>
        </p:nvSpPr>
        <p:spPr/>
        <p:txBody>
          <a:bodyPr/>
          <a:lstStyle/>
          <a:p>
            <a:r>
              <a:rPr lang="en-IE" dirty="0"/>
              <a:t>Not all people work in the environment where they are treated with positive regard</a:t>
            </a:r>
          </a:p>
          <a:p>
            <a:r>
              <a:rPr lang="en-IE" dirty="0"/>
              <a:t>Can be complex and untidy in assessment</a:t>
            </a:r>
          </a:p>
          <a:p>
            <a:r>
              <a:rPr lang="en-IE" dirty="0"/>
              <a:t>Absence of measures to use for this way</a:t>
            </a:r>
          </a:p>
          <a:p>
            <a:r>
              <a:rPr lang="en-IE" dirty="0"/>
              <a:t>Is difficult for a lay person to assess</a:t>
            </a:r>
          </a:p>
          <a:p>
            <a:r>
              <a:rPr lang="en-IE" dirty="0"/>
              <a:t>Doesn’t give a route to peoples mind</a:t>
            </a:r>
          </a:p>
          <a:p>
            <a:r>
              <a:rPr lang="en-IE" dirty="0"/>
              <a:t>Thematic apperception tests can be used – but difficult for workplace</a:t>
            </a:r>
          </a:p>
          <a:p>
            <a:endParaRPr lang="en-IE" dirty="0"/>
          </a:p>
        </p:txBody>
      </p:sp>
    </p:spTree>
    <p:extLst>
      <p:ext uri="{BB962C8B-B14F-4D97-AF65-F5344CB8AC3E}">
        <p14:creationId xmlns:p14="http://schemas.microsoft.com/office/powerpoint/2010/main" val="22542925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Text Box 4"/>
          <p:cNvSpPr txBox="1">
            <a:spLocks noChangeArrowheads="1"/>
          </p:cNvSpPr>
          <p:nvPr/>
        </p:nvSpPr>
        <p:spPr bwMode="auto">
          <a:xfrm>
            <a:off x="1790700" y="5859463"/>
            <a:ext cx="8534400" cy="369332"/>
          </a:xfrm>
          <a:prstGeom prst="rect">
            <a:avLst/>
          </a:prstGeom>
          <a:noFill/>
          <a:ln w="9525">
            <a:noFill/>
            <a:miter lim="800000"/>
            <a:headEnd/>
            <a:tailEnd/>
          </a:ln>
          <a:effectLst/>
        </p:spPr>
        <p:txBody>
          <a:bodyPr>
            <a:spAutoFit/>
          </a:bodyPr>
          <a:lstStyle/>
          <a:p>
            <a:pPr eaLnBrk="0" hangingPunct="0">
              <a:spcBef>
                <a:spcPct val="50000"/>
              </a:spcBef>
            </a:pPr>
            <a:r>
              <a:rPr lang="en-GB" sz="1200" dirty="0"/>
              <a:t>Table 6.7</a:t>
            </a:r>
            <a:r>
              <a:rPr lang="en-GB" dirty="0"/>
              <a:t>  </a:t>
            </a:r>
            <a:r>
              <a:rPr lang="en-US" dirty="0" err="1"/>
              <a:t>Nomothetic</a:t>
            </a:r>
            <a:r>
              <a:rPr lang="en-US" dirty="0"/>
              <a:t> versus idiographic</a:t>
            </a:r>
            <a:endParaRPr lang="en-GB" sz="800" dirty="0">
              <a:latin typeface="Times" pitchFamily="34" charset="0"/>
            </a:endParaRPr>
          </a:p>
        </p:txBody>
      </p:sp>
      <p:pic>
        <p:nvPicPr>
          <p:cNvPr id="13314" name="Picture 2" descr="P:\Graphics\Powerpoint\PE_UK\PE448-Huc\Final files\GIF\ch06\M06NT007.gif"/>
          <p:cNvPicPr>
            <a:picLocks noChangeAspect="1" noChangeArrowheads="1"/>
          </p:cNvPicPr>
          <p:nvPr/>
        </p:nvPicPr>
        <p:blipFill>
          <a:blip r:embed="rId3" cstate="print"/>
          <a:srcRect/>
          <a:stretch>
            <a:fillRect/>
          </a:stretch>
        </p:blipFill>
        <p:spPr bwMode="auto">
          <a:xfrm>
            <a:off x="2025938" y="461964"/>
            <a:ext cx="8140127" cy="5316537"/>
          </a:xfrm>
          <a:prstGeom prst="rect">
            <a:avLst/>
          </a:prstGeom>
          <a:noFill/>
        </p:spPr>
      </p:pic>
    </p:spTree>
    <p:extLst>
      <p:ext uri="{BB962C8B-B14F-4D97-AF65-F5344CB8AC3E}">
        <p14:creationId xmlns:p14="http://schemas.microsoft.com/office/powerpoint/2010/main" val="41761376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F7034-4B40-4C89-A97E-CC8EF1FC4124}"/>
              </a:ext>
            </a:extLst>
          </p:cNvPr>
          <p:cNvSpPr>
            <a:spLocks noGrp="1"/>
          </p:cNvSpPr>
          <p:nvPr>
            <p:ph type="title"/>
          </p:nvPr>
        </p:nvSpPr>
        <p:spPr/>
        <p:txBody>
          <a:bodyPr/>
          <a:lstStyle/>
          <a:p>
            <a:r>
              <a:rPr lang="en-GB" dirty="0"/>
              <a:t>Dark Side of Personality </a:t>
            </a:r>
          </a:p>
        </p:txBody>
      </p:sp>
      <p:sp>
        <p:nvSpPr>
          <p:cNvPr id="3" name="Content Placeholder 2">
            <a:extLst>
              <a:ext uri="{FF2B5EF4-FFF2-40B4-BE49-F238E27FC236}">
                <a16:creationId xmlns:a16="http://schemas.microsoft.com/office/drawing/2014/main" id="{BD2B962F-7AFB-4741-97C1-6C9CC995A4FB}"/>
              </a:ext>
            </a:extLst>
          </p:cNvPr>
          <p:cNvSpPr>
            <a:spLocks noGrp="1"/>
          </p:cNvSpPr>
          <p:nvPr>
            <p:ph idx="1"/>
          </p:nvPr>
        </p:nvSpPr>
        <p:spPr/>
        <p:txBody>
          <a:bodyPr/>
          <a:lstStyle/>
          <a:p>
            <a:r>
              <a:rPr lang="en-GB" dirty="0"/>
              <a:t>Personality can shape how others see us, and can concern reputation</a:t>
            </a:r>
          </a:p>
          <a:p>
            <a:r>
              <a:rPr lang="en-GB" dirty="0"/>
              <a:t>How we get along while we get ahead influences our reputation, and can impact our future career/directions (see HBR article on Brightspace)</a:t>
            </a:r>
          </a:p>
          <a:p>
            <a:r>
              <a:rPr lang="en-GB" dirty="0"/>
              <a:t>Most research focuses on the positive side of personality i.e. “the bright side”</a:t>
            </a:r>
          </a:p>
          <a:p>
            <a:r>
              <a:rPr lang="en-GB" dirty="0"/>
              <a:t>Last few years rapid development of research examining “the dark side” examining how this can impact workplace in terms of effectiveness, relationship and management derailment (</a:t>
            </a:r>
            <a:r>
              <a:rPr lang="en-GB" dirty="0" err="1"/>
              <a:t>MHoansi</a:t>
            </a:r>
            <a:r>
              <a:rPr lang="en-GB" dirty="0"/>
              <a:t>, 2007)</a:t>
            </a:r>
          </a:p>
          <a:p>
            <a:r>
              <a:rPr lang="en-GB" dirty="0"/>
              <a:t>Hogan Development Survey (HDS) measures dysfunctional styles that interfere with leadership and interpersonal relationships, especially at work (Hogan &amp; Hogan, 1997)</a:t>
            </a:r>
          </a:p>
          <a:p>
            <a:r>
              <a:rPr lang="en-GB" dirty="0"/>
              <a:t>3 broad factors (Dark Triad)</a:t>
            </a:r>
          </a:p>
          <a:p>
            <a:endParaRPr lang="en-GB" dirty="0"/>
          </a:p>
          <a:p>
            <a:endParaRPr lang="en-GB" dirty="0"/>
          </a:p>
        </p:txBody>
      </p:sp>
    </p:spTree>
    <p:extLst>
      <p:ext uri="{BB962C8B-B14F-4D97-AF65-F5344CB8AC3E}">
        <p14:creationId xmlns:p14="http://schemas.microsoft.com/office/powerpoint/2010/main" val="19017627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F7034-4B40-4C89-A97E-CC8EF1FC4124}"/>
              </a:ext>
            </a:extLst>
          </p:cNvPr>
          <p:cNvSpPr>
            <a:spLocks noGrp="1"/>
          </p:cNvSpPr>
          <p:nvPr>
            <p:ph type="title"/>
          </p:nvPr>
        </p:nvSpPr>
        <p:spPr/>
        <p:txBody>
          <a:bodyPr/>
          <a:lstStyle/>
          <a:p>
            <a:r>
              <a:rPr lang="en-GB" dirty="0"/>
              <a:t>Dark Side of Personality </a:t>
            </a:r>
          </a:p>
        </p:txBody>
      </p:sp>
      <p:sp>
        <p:nvSpPr>
          <p:cNvPr id="3" name="Content Placeholder 2">
            <a:extLst>
              <a:ext uri="{FF2B5EF4-FFF2-40B4-BE49-F238E27FC236}">
                <a16:creationId xmlns:a16="http://schemas.microsoft.com/office/drawing/2014/main" id="{BD2B962F-7AFB-4741-97C1-6C9CC995A4FB}"/>
              </a:ext>
            </a:extLst>
          </p:cNvPr>
          <p:cNvSpPr>
            <a:spLocks noGrp="1"/>
          </p:cNvSpPr>
          <p:nvPr>
            <p:ph idx="1"/>
          </p:nvPr>
        </p:nvSpPr>
        <p:spPr>
          <a:xfrm>
            <a:off x="1097280" y="1845734"/>
            <a:ext cx="10058400" cy="4408762"/>
          </a:xfrm>
        </p:spPr>
        <p:txBody>
          <a:bodyPr>
            <a:normAutofit lnSpcReduction="10000"/>
          </a:bodyPr>
          <a:lstStyle/>
          <a:p>
            <a:r>
              <a:rPr lang="en-GB" dirty="0"/>
              <a:t>Only 11% of the population do not have any noticeable dark side characteristics (although we might not know it, seeing ourselves as charming instead of manipulative)</a:t>
            </a:r>
          </a:p>
          <a:p>
            <a:r>
              <a:rPr lang="en-GB" dirty="0"/>
              <a:t>Often linked to having low emotional adjustment. </a:t>
            </a:r>
          </a:p>
          <a:p>
            <a:r>
              <a:rPr lang="en-GB" dirty="0"/>
              <a:t>Individuals with low emotional adjustment often show their dark side more in work – seen as immature and unable to manage emotions. </a:t>
            </a:r>
          </a:p>
          <a:p>
            <a:r>
              <a:rPr lang="en-GB" dirty="0"/>
              <a:t>HOWEVER how behaviour manifests depends on personality </a:t>
            </a:r>
          </a:p>
          <a:p>
            <a:r>
              <a:rPr lang="en-GB" dirty="0"/>
              <a:t>Example: if a High E has low emotional adjustment but very high confidence and charm, they will express behaviours outwardly but lack maturity to manage them – seen as arrogant and manipulative by others</a:t>
            </a:r>
          </a:p>
          <a:p>
            <a:r>
              <a:rPr lang="en-GB" dirty="0"/>
              <a:t>A high sense of belief is coupled with narcissistic tendencies </a:t>
            </a:r>
          </a:p>
          <a:p>
            <a:r>
              <a:rPr lang="en-GB" dirty="0"/>
              <a:t>If someone is more Introverted, takes pride in themselves for being shrewd, focused, politically alert, when threatened they may become distrustful and passive aggressive. </a:t>
            </a:r>
          </a:p>
          <a:p>
            <a:endParaRPr lang="en-GB" dirty="0"/>
          </a:p>
        </p:txBody>
      </p:sp>
    </p:spTree>
    <p:extLst>
      <p:ext uri="{BB962C8B-B14F-4D97-AF65-F5344CB8AC3E}">
        <p14:creationId xmlns:p14="http://schemas.microsoft.com/office/powerpoint/2010/main" val="33879924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8A9BE027-1240-4BD1-A95B-29D5F2833B66}"/>
              </a:ext>
            </a:extLst>
          </p:cNvPr>
          <p:cNvGraphicFramePr>
            <a:graphicFrameLocks noGrp="1"/>
          </p:cNvGraphicFramePr>
          <p:nvPr>
            <p:extLst>
              <p:ext uri="{D42A27DB-BD31-4B8C-83A1-F6EECF244321}">
                <p14:modId xmlns:p14="http://schemas.microsoft.com/office/powerpoint/2010/main" val="3232460178"/>
              </p:ext>
            </p:extLst>
          </p:nvPr>
        </p:nvGraphicFramePr>
        <p:xfrm>
          <a:off x="347472" y="128016"/>
          <a:ext cx="11594592" cy="6121908"/>
        </p:xfrm>
        <a:graphic>
          <a:graphicData uri="http://schemas.openxmlformats.org/drawingml/2006/table">
            <a:tbl>
              <a:tblPr firstRow="1" bandRow="1">
                <a:tableStyleId>{5C22544A-7EE6-4342-B048-85BDC9FD1C3A}</a:tableStyleId>
              </a:tblPr>
              <a:tblGrid>
                <a:gridCol w="4133088">
                  <a:extLst>
                    <a:ext uri="{9D8B030D-6E8A-4147-A177-3AD203B41FA5}">
                      <a16:colId xmlns:a16="http://schemas.microsoft.com/office/drawing/2014/main" val="262226341"/>
                    </a:ext>
                  </a:extLst>
                </a:gridCol>
                <a:gridCol w="7461504">
                  <a:extLst>
                    <a:ext uri="{9D8B030D-6E8A-4147-A177-3AD203B41FA5}">
                      <a16:colId xmlns:a16="http://schemas.microsoft.com/office/drawing/2014/main" val="6215821"/>
                    </a:ext>
                  </a:extLst>
                </a:gridCol>
              </a:tblGrid>
              <a:tr h="498348">
                <a:tc>
                  <a:txBody>
                    <a:bodyPr/>
                    <a:lstStyle/>
                    <a:p>
                      <a:pPr algn="ctr"/>
                      <a:r>
                        <a:rPr lang="en-GB" sz="2400" dirty="0"/>
                        <a:t>Bright Side</a:t>
                      </a:r>
                    </a:p>
                  </a:txBody>
                  <a:tcPr/>
                </a:tc>
                <a:tc>
                  <a:txBody>
                    <a:bodyPr/>
                    <a:lstStyle/>
                    <a:p>
                      <a:pPr algn="ctr"/>
                      <a:r>
                        <a:rPr lang="en-GB" sz="2400" dirty="0"/>
                        <a:t>Dark Side </a:t>
                      </a:r>
                    </a:p>
                  </a:txBody>
                  <a:tcPr/>
                </a:tc>
                <a:extLst>
                  <a:ext uri="{0D108BD9-81ED-4DB2-BD59-A6C34878D82A}">
                    <a16:rowId xmlns:a16="http://schemas.microsoft.com/office/drawing/2014/main" val="678639083"/>
                  </a:ext>
                </a:extLst>
              </a:tr>
              <a:tr h="498348">
                <a:tc>
                  <a:txBody>
                    <a:bodyPr/>
                    <a:lstStyle/>
                    <a:p>
                      <a:r>
                        <a:rPr lang="en-GB" b="1" dirty="0"/>
                        <a:t>Excitable, </a:t>
                      </a:r>
                      <a:r>
                        <a:rPr lang="en-GB" dirty="0"/>
                        <a:t>enthusiastic, quick to respond</a:t>
                      </a:r>
                    </a:p>
                  </a:txBody>
                  <a:tcPr/>
                </a:tc>
                <a:tc>
                  <a:txBody>
                    <a:bodyPr/>
                    <a:lstStyle/>
                    <a:p>
                      <a:r>
                        <a:rPr lang="en-GB" dirty="0"/>
                        <a:t>Moody, easily annoyed, hard to please emotionally volatile </a:t>
                      </a:r>
                    </a:p>
                  </a:txBody>
                  <a:tcPr/>
                </a:tc>
                <a:extLst>
                  <a:ext uri="{0D108BD9-81ED-4DB2-BD59-A6C34878D82A}">
                    <a16:rowId xmlns:a16="http://schemas.microsoft.com/office/drawing/2014/main" val="516349466"/>
                  </a:ext>
                </a:extLst>
              </a:tr>
              <a:tr h="498348">
                <a:tc>
                  <a:txBody>
                    <a:bodyPr/>
                    <a:lstStyle/>
                    <a:p>
                      <a:r>
                        <a:rPr lang="en-GB" b="1" dirty="0"/>
                        <a:t>Sceptical, </a:t>
                      </a:r>
                      <a:r>
                        <a:rPr lang="en-GB" dirty="0"/>
                        <a:t>shrewd</a:t>
                      </a:r>
                    </a:p>
                  </a:txBody>
                  <a:tcPr/>
                </a:tc>
                <a:tc>
                  <a:txBody>
                    <a:bodyPr/>
                    <a:lstStyle/>
                    <a:p>
                      <a:r>
                        <a:rPr lang="en-GB" dirty="0"/>
                        <a:t>Distrustful, Cynical, sensitive to criticism, focused on negative </a:t>
                      </a:r>
                    </a:p>
                  </a:txBody>
                  <a:tcPr/>
                </a:tc>
                <a:extLst>
                  <a:ext uri="{0D108BD9-81ED-4DB2-BD59-A6C34878D82A}">
                    <a16:rowId xmlns:a16="http://schemas.microsoft.com/office/drawing/2014/main" val="590160374"/>
                  </a:ext>
                </a:extLst>
              </a:tr>
              <a:tr h="498348">
                <a:tc>
                  <a:txBody>
                    <a:bodyPr/>
                    <a:lstStyle/>
                    <a:p>
                      <a:r>
                        <a:rPr lang="en-GB" b="1" dirty="0"/>
                        <a:t>Cautious</a:t>
                      </a:r>
                      <a:r>
                        <a:rPr lang="en-GB" dirty="0"/>
                        <a:t>, careful</a:t>
                      </a:r>
                    </a:p>
                  </a:txBody>
                  <a:tcPr/>
                </a:tc>
                <a:tc>
                  <a:txBody>
                    <a:bodyPr/>
                    <a:lstStyle/>
                    <a:p>
                      <a:r>
                        <a:rPr lang="en-GB" dirty="0"/>
                        <a:t>Unassertive, resistant to change, risk-averse, slow to make decisions</a:t>
                      </a:r>
                    </a:p>
                  </a:txBody>
                  <a:tcPr/>
                </a:tc>
                <a:extLst>
                  <a:ext uri="{0D108BD9-81ED-4DB2-BD59-A6C34878D82A}">
                    <a16:rowId xmlns:a16="http://schemas.microsoft.com/office/drawing/2014/main" val="2170516992"/>
                  </a:ext>
                </a:extLst>
              </a:tr>
              <a:tr h="498348">
                <a:tc>
                  <a:txBody>
                    <a:bodyPr/>
                    <a:lstStyle/>
                    <a:p>
                      <a:r>
                        <a:rPr lang="en-GB" b="1" dirty="0"/>
                        <a:t>Reserved, </a:t>
                      </a:r>
                      <a:r>
                        <a:rPr lang="en-GB" dirty="0"/>
                        <a:t>independent</a:t>
                      </a:r>
                    </a:p>
                  </a:txBody>
                  <a:tcPr/>
                </a:tc>
                <a:tc>
                  <a:txBody>
                    <a:bodyPr/>
                    <a:lstStyle/>
                    <a:p>
                      <a:r>
                        <a:rPr lang="en-GB" dirty="0"/>
                        <a:t>Aloof, detached, indifferent to the feelings of others, uncommunicative</a:t>
                      </a:r>
                    </a:p>
                  </a:txBody>
                  <a:tcPr/>
                </a:tc>
                <a:extLst>
                  <a:ext uri="{0D108BD9-81ED-4DB2-BD59-A6C34878D82A}">
                    <a16:rowId xmlns:a16="http://schemas.microsoft.com/office/drawing/2014/main" val="3617863218"/>
                  </a:ext>
                </a:extLst>
              </a:tr>
              <a:tr h="498348">
                <a:tc>
                  <a:txBody>
                    <a:bodyPr/>
                    <a:lstStyle/>
                    <a:p>
                      <a:r>
                        <a:rPr lang="en-GB" b="1" dirty="0"/>
                        <a:t>Leisurely</a:t>
                      </a:r>
                      <a:r>
                        <a:rPr lang="en-GB" dirty="0"/>
                        <a:t>, focused </a:t>
                      </a:r>
                    </a:p>
                  </a:txBody>
                  <a:tcPr/>
                </a:tc>
                <a:tc>
                  <a:txBody>
                    <a:bodyPr/>
                    <a:lstStyle/>
                    <a:p>
                      <a:r>
                        <a:rPr lang="en-GB" dirty="0"/>
                        <a:t>Overly co-operative, but privately irritable, stubborn, </a:t>
                      </a:r>
                      <a:r>
                        <a:rPr lang="en-GB" dirty="0" err="1"/>
                        <a:t>unco</a:t>
                      </a:r>
                      <a:r>
                        <a:rPr lang="en-GB" dirty="0"/>
                        <a:t>-op, passive aggressive</a:t>
                      </a:r>
                    </a:p>
                  </a:txBody>
                  <a:tcPr/>
                </a:tc>
                <a:extLst>
                  <a:ext uri="{0D108BD9-81ED-4DB2-BD59-A6C34878D82A}">
                    <a16:rowId xmlns:a16="http://schemas.microsoft.com/office/drawing/2014/main" val="3803174502"/>
                  </a:ext>
                </a:extLst>
              </a:tr>
              <a:tr h="498348">
                <a:tc>
                  <a:txBody>
                    <a:bodyPr/>
                    <a:lstStyle/>
                    <a:p>
                      <a:r>
                        <a:rPr lang="en-GB" b="1" dirty="0"/>
                        <a:t>Bold</a:t>
                      </a:r>
                      <a:r>
                        <a:rPr lang="en-GB" dirty="0"/>
                        <a:t>, confident</a:t>
                      </a:r>
                    </a:p>
                  </a:txBody>
                  <a:tcPr/>
                </a:tc>
                <a:tc>
                  <a:txBody>
                    <a:bodyPr/>
                    <a:lstStyle/>
                    <a:p>
                      <a:r>
                        <a:rPr lang="en-GB" dirty="0"/>
                        <a:t>Overly self-confident, arrogant, inflated feelings of self-worth &amp; </a:t>
                      </a:r>
                      <a:r>
                        <a:rPr lang="en-GB" dirty="0" err="1"/>
                        <a:t>entitilement</a:t>
                      </a:r>
                      <a:endParaRPr lang="en-GB" dirty="0"/>
                    </a:p>
                  </a:txBody>
                  <a:tcPr/>
                </a:tc>
                <a:extLst>
                  <a:ext uri="{0D108BD9-81ED-4DB2-BD59-A6C34878D82A}">
                    <a16:rowId xmlns:a16="http://schemas.microsoft.com/office/drawing/2014/main" val="2881449639"/>
                  </a:ext>
                </a:extLst>
              </a:tr>
              <a:tr h="498348">
                <a:tc>
                  <a:txBody>
                    <a:bodyPr/>
                    <a:lstStyle/>
                    <a:p>
                      <a:r>
                        <a:rPr lang="en-GB" b="1" dirty="0"/>
                        <a:t>Mischievous</a:t>
                      </a:r>
                      <a:r>
                        <a:rPr lang="en-GB" dirty="0"/>
                        <a:t>, charming </a:t>
                      </a:r>
                    </a:p>
                  </a:txBody>
                  <a:tcPr/>
                </a:tc>
                <a:tc>
                  <a:txBody>
                    <a:bodyPr/>
                    <a:lstStyle/>
                    <a:p>
                      <a:r>
                        <a:rPr lang="en-GB" dirty="0"/>
                        <a:t>Manipulative, risk-taking, easily bored, limit-testing, excitement seeking</a:t>
                      </a:r>
                    </a:p>
                  </a:txBody>
                  <a:tcPr/>
                </a:tc>
                <a:extLst>
                  <a:ext uri="{0D108BD9-81ED-4DB2-BD59-A6C34878D82A}">
                    <a16:rowId xmlns:a16="http://schemas.microsoft.com/office/drawing/2014/main" val="3349043282"/>
                  </a:ext>
                </a:extLst>
              </a:tr>
              <a:tr h="498348">
                <a:tc>
                  <a:txBody>
                    <a:bodyPr/>
                    <a:lstStyle/>
                    <a:p>
                      <a:r>
                        <a:rPr lang="en-GB" b="1" dirty="0"/>
                        <a:t>Colourful, </a:t>
                      </a:r>
                      <a:r>
                        <a:rPr lang="en-GB" dirty="0"/>
                        <a:t>lively, expressive</a:t>
                      </a:r>
                    </a:p>
                  </a:txBody>
                  <a:tcPr/>
                </a:tc>
                <a:tc>
                  <a:txBody>
                    <a:bodyPr/>
                    <a:lstStyle/>
                    <a:p>
                      <a:r>
                        <a:rPr lang="en-GB" dirty="0"/>
                        <a:t>Dramatic, attention-seeking, interruptive, poor listening skills</a:t>
                      </a:r>
                    </a:p>
                  </a:txBody>
                  <a:tcPr/>
                </a:tc>
                <a:extLst>
                  <a:ext uri="{0D108BD9-81ED-4DB2-BD59-A6C34878D82A}">
                    <a16:rowId xmlns:a16="http://schemas.microsoft.com/office/drawing/2014/main" val="1583351526"/>
                  </a:ext>
                </a:extLst>
              </a:tr>
              <a:tr h="498348">
                <a:tc>
                  <a:txBody>
                    <a:bodyPr/>
                    <a:lstStyle/>
                    <a:p>
                      <a:r>
                        <a:rPr lang="en-GB" b="1" dirty="0"/>
                        <a:t>Imaginative, </a:t>
                      </a:r>
                      <a:r>
                        <a:rPr lang="en-GB" dirty="0"/>
                        <a:t>creative</a:t>
                      </a:r>
                    </a:p>
                  </a:txBody>
                  <a:tcPr/>
                </a:tc>
                <a:tc>
                  <a:txBody>
                    <a:bodyPr/>
                    <a:lstStyle/>
                    <a:p>
                      <a:r>
                        <a:rPr lang="en-GB" dirty="0"/>
                        <a:t>Inappropriate creative ideas, thinking &amp; acting in unusual/eccentric ways</a:t>
                      </a:r>
                    </a:p>
                  </a:txBody>
                  <a:tcPr/>
                </a:tc>
                <a:extLst>
                  <a:ext uri="{0D108BD9-81ED-4DB2-BD59-A6C34878D82A}">
                    <a16:rowId xmlns:a16="http://schemas.microsoft.com/office/drawing/2014/main" val="2743129761"/>
                  </a:ext>
                </a:extLst>
              </a:tr>
              <a:tr h="498348">
                <a:tc>
                  <a:txBody>
                    <a:bodyPr/>
                    <a:lstStyle/>
                    <a:p>
                      <a:r>
                        <a:rPr lang="en-GB" b="1" dirty="0"/>
                        <a:t>Diligent, </a:t>
                      </a:r>
                      <a:r>
                        <a:rPr lang="en-GB" dirty="0"/>
                        <a:t>meticulous</a:t>
                      </a:r>
                    </a:p>
                  </a:txBody>
                  <a:tcPr/>
                </a:tc>
                <a:tc>
                  <a:txBody>
                    <a:bodyPr/>
                    <a:lstStyle/>
                    <a:p>
                      <a:r>
                        <a:rPr lang="en-GB" dirty="0"/>
                        <a:t>Precise, hard to please, perfectionist, tends to micromanage</a:t>
                      </a:r>
                    </a:p>
                  </a:txBody>
                  <a:tcPr/>
                </a:tc>
                <a:extLst>
                  <a:ext uri="{0D108BD9-81ED-4DB2-BD59-A6C34878D82A}">
                    <a16:rowId xmlns:a16="http://schemas.microsoft.com/office/drawing/2014/main" val="3008901232"/>
                  </a:ext>
                </a:extLst>
              </a:tr>
              <a:tr h="498348">
                <a:tc>
                  <a:txBody>
                    <a:bodyPr/>
                    <a:lstStyle/>
                    <a:p>
                      <a:r>
                        <a:rPr lang="en-GB" b="1" dirty="0"/>
                        <a:t>Dutiful, </a:t>
                      </a:r>
                      <a:r>
                        <a:rPr lang="en-GB" dirty="0"/>
                        <a:t>eager to please</a:t>
                      </a:r>
                    </a:p>
                  </a:txBody>
                  <a:tcPr/>
                </a:tc>
                <a:tc>
                  <a:txBody>
                    <a:bodyPr/>
                    <a:lstStyle/>
                    <a:p>
                      <a:r>
                        <a:rPr lang="en-GB" dirty="0"/>
                        <a:t>Reluctant to act independently or against popular opinion</a:t>
                      </a:r>
                    </a:p>
                  </a:txBody>
                  <a:tcPr/>
                </a:tc>
                <a:extLst>
                  <a:ext uri="{0D108BD9-81ED-4DB2-BD59-A6C34878D82A}">
                    <a16:rowId xmlns:a16="http://schemas.microsoft.com/office/drawing/2014/main" val="3054233791"/>
                  </a:ext>
                </a:extLst>
              </a:tr>
            </a:tbl>
          </a:graphicData>
        </a:graphic>
      </p:graphicFrame>
      <p:sp>
        <p:nvSpPr>
          <p:cNvPr id="5" name="TextBox 4">
            <a:extLst>
              <a:ext uri="{FF2B5EF4-FFF2-40B4-BE49-F238E27FC236}">
                <a16:creationId xmlns:a16="http://schemas.microsoft.com/office/drawing/2014/main" id="{AB4306E6-E9D6-4605-B641-2AD23FE2DBEF}"/>
              </a:ext>
            </a:extLst>
          </p:cNvPr>
          <p:cNvSpPr txBox="1"/>
          <p:nvPr/>
        </p:nvSpPr>
        <p:spPr>
          <a:xfrm>
            <a:off x="8906256" y="6400800"/>
            <a:ext cx="2962656" cy="369332"/>
          </a:xfrm>
          <a:prstGeom prst="rect">
            <a:avLst/>
          </a:prstGeom>
          <a:noFill/>
        </p:spPr>
        <p:txBody>
          <a:bodyPr wrap="square" rtlCol="0">
            <a:spAutoFit/>
          </a:bodyPr>
          <a:lstStyle/>
          <a:p>
            <a:r>
              <a:rPr lang="en-GB" dirty="0"/>
              <a:t>(Hogan &amp; Hogan, 2009)</a:t>
            </a:r>
          </a:p>
        </p:txBody>
      </p:sp>
    </p:spTree>
    <p:extLst>
      <p:ext uri="{BB962C8B-B14F-4D97-AF65-F5344CB8AC3E}">
        <p14:creationId xmlns:p14="http://schemas.microsoft.com/office/powerpoint/2010/main" val="211429746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57624-C493-40DC-BD95-B75A2A3EA47B}"/>
              </a:ext>
            </a:extLst>
          </p:cNvPr>
          <p:cNvSpPr>
            <a:spLocks noGrp="1"/>
          </p:cNvSpPr>
          <p:nvPr>
            <p:ph type="title"/>
          </p:nvPr>
        </p:nvSpPr>
        <p:spPr/>
        <p:txBody>
          <a:bodyPr/>
          <a:lstStyle/>
          <a:p>
            <a:r>
              <a:rPr lang="en-GB" dirty="0"/>
              <a:t>Debate: Does it change? </a:t>
            </a:r>
          </a:p>
        </p:txBody>
      </p:sp>
      <p:sp>
        <p:nvSpPr>
          <p:cNvPr id="3" name="Content Placeholder 2">
            <a:extLst>
              <a:ext uri="{FF2B5EF4-FFF2-40B4-BE49-F238E27FC236}">
                <a16:creationId xmlns:a16="http://schemas.microsoft.com/office/drawing/2014/main" id="{19591B69-1E05-4574-A81A-0491D5166148}"/>
              </a:ext>
            </a:extLst>
          </p:cNvPr>
          <p:cNvSpPr>
            <a:spLocks noGrp="1"/>
          </p:cNvSpPr>
          <p:nvPr>
            <p:ph idx="1"/>
          </p:nvPr>
        </p:nvSpPr>
        <p:spPr/>
        <p:txBody>
          <a:bodyPr/>
          <a:lstStyle/>
          <a:p>
            <a:r>
              <a:rPr lang="en-GB" dirty="0"/>
              <a:t>Depends on how you define Personality. . . </a:t>
            </a:r>
          </a:p>
          <a:p>
            <a:r>
              <a:rPr lang="en-GB" dirty="0"/>
              <a:t>Most common view is Trait perspective of Personality – see’s it as stable and enduring</a:t>
            </a:r>
          </a:p>
          <a:p>
            <a:pPr algn="ctr"/>
            <a:r>
              <a:rPr lang="en-GB" b="1" dirty="0"/>
              <a:t>BUT</a:t>
            </a:r>
          </a:p>
          <a:p>
            <a:r>
              <a:rPr lang="en-GB" dirty="0"/>
              <a:t>Roberts et al (2006) conducted meta-analysis of 50,000 participants from 92 different studies. </a:t>
            </a:r>
          </a:p>
          <a:p>
            <a:r>
              <a:rPr lang="en-GB" dirty="0"/>
              <a:t>As people grew older emotional stability, conscientiousness all increased (especially between ages of 20 and 40)</a:t>
            </a:r>
          </a:p>
          <a:p>
            <a:r>
              <a:rPr lang="en-GB" dirty="0" err="1"/>
              <a:t>Rantenan</a:t>
            </a:r>
            <a:r>
              <a:rPr lang="en-GB" dirty="0"/>
              <a:t> et al (2007) did meta analysis of big five studies using SEM and found increase between ages of 32 and 42 in E, O, A and C, while N fell between 33 and 42. </a:t>
            </a:r>
          </a:p>
          <a:p>
            <a:r>
              <a:rPr lang="en-GB" dirty="0"/>
              <a:t>E and N change </a:t>
            </a:r>
            <a:r>
              <a:rPr lang="en-GB" dirty="0" err="1"/>
              <a:t>dlecreased</a:t>
            </a:r>
            <a:r>
              <a:rPr lang="en-GB" dirty="0"/>
              <a:t> over time in male sample than female sample. </a:t>
            </a:r>
          </a:p>
          <a:p>
            <a:endParaRPr lang="en-GB" dirty="0"/>
          </a:p>
        </p:txBody>
      </p:sp>
    </p:spTree>
    <p:extLst>
      <p:ext uri="{BB962C8B-B14F-4D97-AF65-F5344CB8AC3E}">
        <p14:creationId xmlns:p14="http://schemas.microsoft.com/office/powerpoint/2010/main" val="17682841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5C8D2C1-DA83-420D-9635-D52CE066B5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434F74C9-6A0B-409E-AD1C-45B58BE91B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3" name="Straight Connector 12">
            <a:extLst>
              <a:ext uri="{FF2B5EF4-FFF2-40B4-BE49-F238E27FC236}">
                <a16:creationId xmlns:a16="http://schemas.microsoft.com/office/drawing/2014/main" id="{F5486A9D-1265-4B57-91E6-68E666B978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5" name="Rectangle 14">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89754" y="639097"/>
            <a:ext cx="6253317" cy="3686015"/>
          </a:xfrm>
        </p:spPr>
        <p:txBody>
          <a:bodyPr vert="horz" lIns="91440" tIns="45720" rIns="91440" bIns="45720" rtlCol="0" anchor="b">
            <a:normAutofit/>
          </a:bodyPr>
          <a:lstStyle/>
          <a:p>
            <a:r>
              <a:rPr lang="en-US" sz="8000">
                <a:solidFill>
                  <a:schemeClr val="tx1">
                    <a:lumMod val="85000"/>
                    <a:lumOff val="15000"/>
                  </a:schemeClr>
                </a:solidFill>
              </a:rPr>
              <a:t>Psychometrics</a:t>
            </a:r>
          </a:p>
        </p:txBody>
      </p:sp>
      <p:sp>
        <p:nvSpPr>
          <p:cNvPr id="3" name="Content Placeholder 2"/>
          <p:cNvSpPr>
            <a:spLocks noGrp="1"/>
          </p:cNvSpPr>
          <p:nvPr>
            <p:ph idx="1"/>
          </p:nvPr>
        </p:nvSpPr>
        <p:spPr>
          <a:xfrm>
            <a:off x="5289753" y="4455621"/>
            <a:ext cx="6269347" cy="1238616"/>
          </a:xfrm>
        </p:spPr>
        <p:txBody>
          <a:bodyPr vert="horz" lIns="91440" tIns="45720" rIns="91440" bIns="45720" rtlCol="0">
            <a:normAutofit/>
          </a:bodyPr>
          <a:lstStyle/>
          <a:p>
            <a:pPr marL="0" indent="0">
              <a:buNone/>
            </a:pPr>
            <a:r>
              <a:rPr lang="en-US" sz="2200" cap="all" spc="200">
                <a:solidFill>
                  <a:schemeClr val="tx1">
                    <a:lumMod val="85000"/>
                    <a:lumOff val="15000"/>
                  </a:schemeClr>
                </a:solidFill>
                <a:latin typeface="+mj-lt"/>
              </a:rPr>
              <a:t>“the systematic testing, measurement, and assessment of intelligence, aptitudes and personality”</a:t>
            </a:r>
          </a:p>
        </p:txBody>
      </p:sp>
      <p:pic>
        <p:nvPicPr>
          <p:cNvPr id="5" name="Picture 4" descr="Light bulb on yellow background with sketched light beams and cord">
            <a:extLst>
              <a:ext uri="{FF2B5EF4-FFF2-40B4-BE49-F238E27FC236}">
                <a16:creationId xmlns:a16="http://schemas.microsoft.com/office/drawing/2014/main" id="{D69B8E2C-025E-F969-75D0-D84636A61E5D}"/>
              </a:ext>
            </a:extLst>
          </p:cNvPr>
          <p:cNvPicPr>
            <a:picLocks noChangeAspect="1"/>
          </p:cNvPicPr>
          <p:nvPr/>
        </p:nvPicPr>
        <p:blipFill rotWithShape="1">
          <a:blip r:embed="rId2"/>
          <a:srcRect l="51345" r="7087"/>
          <a:stretch/>
        </p:blipFill>
        <p:spPr>
          <a:xfrm>
            <a:off x="-1" y="10"/>
            <a:ext cx="4635315" cy="6857989"/>
          </a:xfrm>
          <a:prstGeom prst="rect">
            <a:avLst/>
          </a:prstGeom>
        </p:spPr>
      </p:pic>
      <p:cxnSp>
        <p:nvCxnSpPr>
          <p:cNvPr id="17" name="Straight Connector 16">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47071" y="4343400"/>
            <a:ext cx="5636107"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939791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C336B-10D5-4635-918D-5B8493F6FC44}"/>
              </a:ext>
            </a:extLst>
          </p:cNvPr>
          <p:cNvSpPr>
            <a:spLocks noGrp="1"/>
          </p:cNvSpPr>
          <p:nvPr>
            <p:ph type="title"/>
          </p:nvPr>
        </p:nvSpPr>
        <p:spPr>
          <a:xfrm>
            <a:off x="1097280" y="286603"/>
            <a:ext cx="10058400" cy="1450757"/>
          </a:xfrm>
        </p:spPr>
        <p:txBody>
          <a:bodyPr>
            <a:normAutofit/>
          </a:bodyPr>
          <a:lstStyle/>
          <a:p>
            <a:pPr>
              <a:defRPr/>
            </a:pPr>
            <a:r>
              <a:rPr lang="en-IE"/>
              <a:t>What are Psychometric Tests? </a:t>
            </a:r>
          </a:p>
        </p:txBody>
      </p:sp>
      <p:pic>
        <p:nvPicPr>
          <p:cNvPr id="13321" name="Graphic 13318" descr="Dictionary Remove">
            <a:extLst>
              <a:ext uri="{FF2B5EF4-FFF2-40B4-BE49-F238E27FC236}">
                <a16:creationId xmlns:a16="http://schemas.microsoft.com/office/drawing/2014/main" id="{3AB49230-5571-C343-672E-479343E990A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76432" y="2104325"/>
            <a:ext cx="3094997" cy="3094997"/>
          </a:xfrm>
          <a:prstGeom prst="rect">
            <a:avLst/>
          </a:prstGeom>
        </p:spPr>
      </p:pic>
      <p:sp>
        <p:nvSpPr>
          <p:cNvPr id="13315" name="Content Placeholder 2">
            <a:extLst>
              <a:ext uri="{FF2B5EF4-FFF2-40B4-BE49-F238E27FC236}">
                <a16:creationId xmlns:a16="http://schemas.microsoft.com/office/drawing/2014/main" id="{43669D53-9577-4C4F-BF4C-D00AD9557A49}"/>
              </a:ext>
            </a:extLst>
          </p:cNvPr>
          <p:cNvSpPr>
            <a:spLocks noGrp="1"/>
          </p:cNvSpPr>
          <p:nvPr>
            <p:ph idx="1"/>
          </p:nvPr>
        </p:nvSpPr>
        <p:spPr>
          <a:xfrm>
            <a:off x="4639733" y="1845734"/>
            <a:ext cx="6515947" cy="4372186"/>
          </a:xfrm>
        </p:spPr>
        <p:txBody>
          <a:bodyPr>
            <a:normAutofit/>
          </a:bodyPr>
          <a:lstStyle/>
          <a:p>
            <a:pPr eaLnBrk="1" hangingPunct="1"/>
            <a:r>
              <a:rPr lang="en-US" altLang="en-US" sz="1800" dirty="0"/>
              <a:t>‘A carefully chosen, systematic and </a:t>
            </a:r>
            <a:r>
              <a:rPr lang="en-US" altLang="en-US" sz="1800" dirty="0" err="1"/>
              <a:t>standardised</a:t>
            </a:r>
            <a:r>
              <a:rPr lang="en-US" altLang="en-US" sz="1800" dirty="0"/>
              <a:t> procedure for evolving a sample of responses from candidates which can be used to assess one of more of their psychological characteristics with those of a representative sample of an appropriate population’ (Smith &amp; Robertson, 1986)</a:t>
            </a:r>
            <a:endParaRPr lang="en-GB" altLang="en-US" sz="1800" dirty="0"/>
          </a:p>
          <a:p>
            <a:pPr eaLnBrk="1" hangingPunct="1"/>
            <a:r>
              <a:rPr lang="en-GB" altLang="en-US" sz="1800" dirty="0"/>
              <a:t>Umbrella term for aptitude and personality tests</a:t>
            </a:r>
          </a:p>
          <a:p>
            <a:pPr eaLnBrk="1" hangingPunct="1"/>
            <a:r>
              <a:rPr lang="en-GB" altLang="en-US" sz="1800" dirty="0"/>
              <a:t>The purpose is to obtain relevant information which will give an indication of a candidate’s future performance and suitability for the position. </a:t>
            </a:r>
          </a:p>
          <a:p>
            <a:pPr eaLnBrk="1" hangingPunct="1"/>
            <a:r>
              <a:rPr lang="en-GB" altLang="en-US" sz="1800" dirty="0"/>
              <a:t>Because they are standardised, psychometric tests offer a convenient method of comparing candidates’ results.</a:t>
            </a:r>
          </a:p>
          <a:p>
            <a:pPr eaLnBrk="1" hangingPunct="1"/>
            <a:r>
              <a:rPr lang="en-GB" altLang="en-US" sz="1800" dirty="0"/>
              <a:t>Used correctly they provide some valid and constructive information </a:t>
            </a:r>
          </a:p>
          <a:p>
            <a:pPr eaLnBrk="1" hangingPunct="1"/>
            <a:endParaRPr lang="en-IE" altLang="en-US" sz="1700" dirty="0"/>
          </a:p>
        </p:txBody>
      </p:sp>
    </p:spTree>
    <p:extLst>
      <p:ext uri="{BB962C8B-B14F-4D97-AF65-F5344CB8AC3E}">
        <p14:creationId xmlns:p14="http://schemas.microsoft.com/office/powerpoint/2010/main" val="35794612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8D97DC-B302-4AFE-B560-1B312EC66D85}"/>
              </a:ext>
            </a:extLst>
          </p:cNvPr>
          <p:cNvSpPr>
            <a:spLocks noGrp="1"/>
          </p:cNvSpPr>
          <p:nvPr>
            <p:ph type="title"/>
          </p:nvPr>
        </p:nvSpPr>
        <p:spPr>
          <a:xfrm>
            <a:off x="5181601" y="634946"/>
            <a:ext cx="6368142" cy="1450757"/>
          </a:xfrm>
        </p:spPr>
        <p:txBody>
          <a:bodyPr>
            <a:normAutofit/>
          </a:bodyPr>
          <a:lstStyle/>
          <a:p>
            <a:pPr>
              <a:defRPr/>
            </a:pPr>
            <a:r>
              <a:rPr lang="en-IE"/>
              <a:t> Essential Features</a:t>
            </a:r>
          </a:p>
        </p:txBody>
      </p:sp>
      <p:pic>
        <p:nvPicPr>
          <p:cNvPr id="5" name="Picture 4" descr="Hands-on top of each other">
            <a:extLst>
              <a:ext uri="{FF2B5EF4-FFF2-40B4-BE49-F238E27FC236}">
                <a16:creationId xmlns:a16="http://schemas.microsoft.com/office/drawing/2014/main" id="{0DCA32B6-F907-4698-0BA2-3DC9CDC58AA9}"/>
              </a:ext>
            </a:extLst>
          </p:cNvPr>
          <p:cNvPicPr>
            <a:picLocks noChangeAspect="1"/>
          </p:cNvPicPr>
          <p:nvPr/>
        </p:nvPicPr>
        <p:blipFill rotWithShape="1">
          <a:blip r:embed="rId2"/>
          <a:srcRect l="56531" r="13830"/>
          <a:stretch/>
        </p:blipFill>
        <p:spPr>
          <a:xfrm>
            <a:off x="20" y="-12128"/>
            <a:ext cx="4654276" cy="6870127"/>
          </a:xfrm>
          <a:prstGeom prst="rect">
            <a:avLst/>
          </a:prstGeom>
        </p:spPr>
      </p:pic>
      <p:cxnSp>
        <p:nvCxnSpPr>
          <p:cNvPr id="13" name="Straight Connector 12">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5E1E34B-53F6-46C9-AC38-6877F0A26480}"/>
              </a:ext>
            </a:extLst>
          </p:cNvPr>
          <p:cNvSpPr>
            <a:spLocks noGrp="1"/>
          </p:cNvSpPr>
          <p:nvPr>
            <p:ph idx="1"/>
          </p:nvPr>
        </p:nvSpPr>
        <p:spPr>
          <a:xfrm>
            <a:off x="5181601" y="2198914"/>
            <a:ext cx="6368142" cy="3670180"/>
          </a:xfrm>
        </p:spPr>
        <p:txBody>
          <a:bodyPr rtlCol="0">
            <a:normAutofit/>
          </a:bodyPr>
          <a:lstStyle/>
          <a:p>
            <a:pPr marL="633222" indent="-514350">
              <a:spcBef>
                <a:spcPts val="0"/>
              </a:spcBef>
              <a:spcAft>
                <a:spcPts val="600"/>
              </a:spcAft>
              <a:buFont typeface="+mj-lt"/>
              <a:buAutoNum type="arabicPeriod"/>
              <a:defRPr/>
            </a:pPr>
            <a:r>
              <a:rPr lang="en-IE" sz="1900" b="1" dirty="0"/>
              <a:t>Validity </a:t>
            </a:r>
            <a:r>
              <a:rPr lang="en-IE" sz="1900" dirty="0"/>
              <a:t>– measure what they are meant to</a:t>
            </a:r>
          </a:p>
          <a:p>
            <a:pPr marL="633222" indent="-514350">
              <a:spcBef>
                <a:spcPts val="0"/>
              </a:spcBef>
              <a:spcAft>
                <a:spcPts val="600"/>
              </a:spcAft>
              <a:buFont typeface="+mj-lt"/>
              <a:buAutoNum type="arabicPeriod"/>
              <a:defRPr/>
            </a:pPr>
            <a:endParaRPr lang="en-IE" sz="1900" dirty="0"/>
          </a:p>
          <a:p>
            <a:pPr marL="633222" indent="-514350">
              <a:spcBef>
                <a:spcPts val="0"/>
              </a:spcBef>
              <a:spcAft>
                <a:spcPts val="600"/>
              </a:spcAft>
              <a:buFont typeface="+mj-lt"/>
              <a:buAutoNum type="arabicPeriod"/>
              <a:defRPr/>
            </a:pPr>
            <a:r>
              <a:rPr lang="en-IE" sz="1900" b="1" dirty="0"/>
              <a:t>Reliability </a:t>
            </a:r>
            <a:r>
              <a:rPr lang="en-IE" sz="1900" dirty="0"/>
              <a:t>– results are consistent</a:t>
            </a:r>
          </a:p>
          <a:p>
            <a:pPr marL="633222" indent="-514350">
              <a:spcBef>
                <a:spcPts val="0"/>
              </a:spcBef>
              <a:spcAft>
                <a:spcPts val="600"/>
              </a:spcAft>
              <a:buFont typeface="+mj-lt"/>
              <a:buAutoNum type="arabicPeriod"/>
              <a:defRPr/>
            </a:pPr>
            <a:endParaRPr lang="en-IE" sz="1900" dirty="0"/>
          </a:p>
          <a:p>
            <a:pPr marL="633222" indent="-514350">
              <a:spcBef>
                <a:spcPts val="0"/>
              </a:spcBef>
              <a:spcAft>
                <a:spcPts val="600"/>
              </a:spcAft>
              <a:buFont typeface="+mj-lt"/>
              <a:buAutoNum type="arabicPeriod"/>
              <a:defRPr/>
            </a:pPr>
            <a:r>
              <a:rPr lang="en-IE" sz="1900" b="1" dirty="0"/>
              <a:t>Standardisation</a:t>
            </a:r>
            <a:r>
              <a:rPr lang="en-IE" sz="1900" dirty="0"/>
              <a:t> – same for every candidate</a:t>
            </a:r>
          </a:p>
          <a:p>
            <a:pPr marL="633222" indent="-514350">
              <a:spcBef>
                <a:spcPts val="0"/>
              </a:spcBef>
              <a:spcAft>
                <a:spcPts val="600"/>
              </a:spcAft>
              <a:buFont typeface="+mj-lt"/>
              <a:buAutoNum type="arabicPeriod"/>
              <a:defRPr/>
            </a:pPr>
            <a:endParaRPr lang="en-IE" sz="1900" dirty="0"/>
          </a:p>
          <a:p>
            <a:pPr marL="633222" indent="-514350">
              <a:spcBef>
                <a:spcPts val="0"/>
              </a:spcBef>
              <a:spcAft>
                <a:spcPts val="600"/>
              </a:spcAft>
              <a:buFont typeface="+mj-lt"/>
              <a:buAutoNum type="arabicPeriod"/>
              <a:defRPr/>
            </a:pPr>
            <a:r>
              <a:rPr lang="en-IE" sz="1900" b="1" dirty="0"/>
              <a:t>Objectivity</a:t>
            </a:r>
            <a:r>
              <a:rPr lang="en-IE" sz="1900" dirty="0"/>
              <a:t> – fair and free from bias assessment &amp; results</a:t>
            </a:r>
          </a:p>
          <a:p>
            <a:pPr marL="633222" indent="-514350">
              <a:spcBef>
                <a:spcPts val="0"/>
              </a:spcBef>
              <a:spcAft>
                <a:spcPts val="600"/>
              </a:spcAft>
              <a:buFont typeface="+mj-lt"/>
              <a:buAutoNum type="arabicPeriod"/>
              <a:defRPr/>
            </a:pPr>
            <a:endParaRPr lang="en-IE" sz="1900" dirty="0"/>
          </a:p>
          <a:p>
            <a:pPr marL="633222" indent="-514350">
              <a:spcBef>
                <a:spcPts val="0"/>
              </a:spcBef>
              <a:spcAft>
                <a:spcPts val="600"/>
              </a:spcAft>
              <a:buFont typeface="+mj-lt"/>
              <a:buAutoNum type="arabicPeriod"/>
              <a:defRPr/>
            </a:pPr>
            <a:r>
              <a:rPr lang="en-IE" sz="1900" b="1" dirty="0"/>
              <a:t>Differentiation</a:t>
            </a:r>
            <a:r>
              <a:rPr lang="en-IE" sz="1900" dirty="0"/>
              <a:t> – differentiate between people to show differences</a:t>
            </a:r>
          </a:p>
        </p:txBody>
      </p:sp>
    </p:spTree>
    <p:extLst>
      <p:ext uri="{BB962C8B-B14F-4D97-AF65-F5344CB8AC3E}">
        <p14:creationId xmlns:p14="http://schemas.microsoft.com/office/powerpoint/2010/main" val="129744065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B5993E2-C02B-4335-ABA5-D8EC46555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0B801A2-5622-4BE8-9AD2-C337A2CD0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92370" y="516835"/>
            <a:ext cx="3084844" cy="5772840"/>
          </a:xfrm>
        </p:spPr>
        <p:txBody>
          <a:bodyPr anchor="ctr">
            <a:normAutofit/>
          </a:bodyPr>
          <a:lstStyle/>
          <a:p>
            <a:r>
              <a:rPr lang="en-IE" sz="3600">
                <a:solidFill>
                  <a:srgbClr val="FFFFFF"/>
                </a:solidFill>
              </a:rPr>
              <a:t>Use of psychometrics</a:t>
            </a:r>
          </a:p>
        </p:txBody>
      </p:sp>
      <p:sp>
        <p:nvSpPr>
          <p:cNvPr id="13" name="Rectangle 12">
            <a:extLst>
              <a:ext uri="{FF2B5EF4-FFF2-40B4-BE49-F238E27FC236}">
                <a16:creationId xmlns:a16="http://schemas.microsoft.com/office/drawing/2014/main" id="{B7AF614F-5BC3-4086-99F5-B87C5847A0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aphicFrame>
        <p:nvGraphicFramePr>
          <p:cNvPr id="5" name="Content Placeholder 2">
            <a:extLst>
              <a:ext uri="{FF2B5EF4-FFF2-40B4-BE49-F238E27FC236}">
                <a16:creationId xmlns:a16="http://schemas.microsoft.com/office/drawing/2014/main" id="{A9BCAA1D-ECCD-7B86-8834-DBA5E41929AA}"/>
              </a:ext>
            </a:extLst>
          </p:cNvPr>
          <p:cNvGraphicFramePr>
            <a:graphicFrameLocks noGrp="1"/>
          </p:cNvGraphicFramePr>
          <p:nvPr>
            <p:ph idx="1"/>
            <p:extLst>
              <p:ext uri="{D42A27DB-BD31-4B8C-83A1-F6EECF244321}">
                <p14:modId xmlns:p14="http://schemas.microsoft.com/office/powerpoint/2010/main" val="34800373"/>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174394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FB5993E2-C02B-4335-ABA5-D8EC46555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0B801A2-5622-4BE8-9AD2-C337A2CD0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39BA38A4-D71E-414D-BB87-6E3B7435D879}"/>
              </a:ext>
            </a:extLst>
          </p:cNvPr>
          <p:cNvSpPr>
            <a:spLocks noGrp="1"/>
          </p:cNvSpPr>
          <p:nvPr>
            <p:ph type="title"/>
          </p:nvPr>
        </p:nvSpPr>
        <p:spPr>
          <a:xfrm>
            <a:off x="492370" y="516835"/>
            <a:ext cx="3084844" cy="5772840"/>
          </a:xfrm>
        </p:spPr>
        <p:txBody>
          <a:bodyPr anchor="ctr">
            <a:normAutofit/>
          </a:bodyPr>
          <a:lstStyle/>
          <a:p>
            <a:pPr>
              <a:defRPr/>
            </a:pPr>
            <a:r>
              <a:rPr lang="en-IE" sz="3600">
                <a:solidFill>
                  <a:srgbClr val="FFFFFF"/>
                </a:solidFill>
              </a:rPr>
              <a:t>Advantages</a:t>
            </a:r>
          </a:p>
        </p:txBody>
      </p:sp>
      <p:sp>
        <p:nvSpPr>
          <p:cNvPr id="22" name="Rectangle 21">
            <a:extLst>
              <a:ext uri="{FF2B5EF4-FFF2-40B4-BE49-F238E27FC236}">
                <a16:creationId xmlns:a16="http://schemas.microsoft.com/office/drawing/2014/main" id="{B7AF614F-5BC3-4086-99F5-B87C5847A0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aphicFrame>
        <p:nvGraphicFramePr>
          <p:cNvPr id="14" name="Content Placeholder 11">
            <a:extLst>
              <a:ext uri="{FF2B5EF4-FFF2-40B4-BE49-F238E27FC236}">
                <a16:creationId xmlns:a16="http://schemas.microsoft.com/office/drawing/2014/main" id="{FE673F65-B66E-44D5-862C-30B8D23DAE19}"/>
              </a:ext>
            </a:extLst>
          </p:cNvPr>
          <p:cNvGraphicFramePr>
            <a:graphicFrameLocks noGrp="1"/>
          </p:cNvGraphicFramePr>
          <p:nvPr>
            <p:ph idx="1"/>
            <p:extLst>
              <p:ext uri="{D42A27DB-BD31-4B8C-83A1-F6EECF244321}">
                <p14:modId xmlns:p14="http://schemas.microsoft.com/office/powerpoint/2010/main" val="426625129"/>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289340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FB5993E2-C02B-4335-ABA5-D8EC46555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0B801A2-5622-4BE8-9AD2-C337A2CD0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82EA29CD-8EA0-4C60-BCE0-C2671D0AC1F1}"/>
              </a:ext>
            </a:extLst>
          </p:cNvPr>
          <p:cNvSpPr>
            <a:spLocks noGrp="1"/>
          </p:cNvSpPr>
          <p:nvPr>
            <p:ph type="title"/>
          </p:nvPr>
        </p:nvSpPr>
        <p:spPr>
          <a:xfrm>
            <a:off x="492370" y="516835"/>
            <a:ext cx="3084844" cy="5772840"/>
          </a:xfrm>
        </p:spPr>
        <p:txBody>
          <a:bodyPr anchor="ctr">
            <a:normAutofit/>
          </a:bodyPr>
          <a:lstStyle/>
          <a:p>
            <a:pPr>
              <a:defRPr/>
            </a:pPr>
            <a:r>
              <a:rPr lang="en-IE" sz="3600">
                <a:solidFill>
                  <a:srgbClr val="FFFFFF"/>
                </a:solidFill>
              </a:rPr>
              <a:t>Disadvantages</a:t>
            </a:r>
          </a:p>
        </p:txBody>
      </p:sp>
      <p:sp>
        <p:nvSpPr>
          <p:cNvPr id="22" name="Rectangle 21">
            <a:extLst>
              <a:ext uri="{FF2B5EF4-FFF2-40B4-BE49-F238E27FC236}">
                <a16:creationId xmlns:a16="http://schemas.microsoft.com/office/drawing/2014/main" id="{B7AF614F-5BC3-4086-99F5-B87C5847A0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aphicFrame>
        <p:nvGraphicFramePr>
          <p:cNvPr id="14" name="Content Placeholder 11">
            <a:extLst>
              <a:ext uri="{FF2B5EF4-FFF2-40B4-BE49-F238E27FC236}">
                <a16:creationId xmlns:a16="http://schemas.microsoft.com/office/drawing/2014/main" id="{87F692E2-2A92-00EB-4369-AF40B183208B}"/>
              </a:ext>
            </a:extLst>
          </p:cNvPr>
          <p:cNvGraphicFramePr>
            <a:graphicFrameLocks noGrp="1"/>
          </p:cNvGraphicFramePr>
          <p:nvPr>
            <p:ph idx="1"/>
            <p:extLst>
              <p:ext uri="{D42A27DB-BD31-4B8C-83A1-F6EECF244321}">
                <p14:modId xmlns:p14="http://schemas.microsoft.com/office/powerpoint/2010/main" val="2859491363"/>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8961527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1544" y="116632"/>
            <a:ext cx="8229600" cy="1143000"/>
          </a:xfrm>
        </p:spPr>
        <p:txBody>
          <a:bodyPr>
            <a:normAutofit fontScale="90000"/>
          </a:bodyPr>
          <a:lstStyle/>
          <a:p>
            <a:r>
              <a:rPr lang="en-IE" dirty="0"/>
              <a:t>Popularity of different selection methods (zibarras, and woods, 2010)</a:t>
            </a:r>
          </a:p>
        </p:txBody>
      </p:sp>
      <p:graphicFrame>
        <p:nvGraphicFramePr>
          <p:cNvPr id="4" name="Content Placeholder 3"/>
          <p:cNvGraphicFramePr>
            <a:graphicFrameLocks noGrp="1"/>
          </p:cNvGraphicFramePr>
          <p:nvPr>
            <p:ph idx="1"/>
          </p:nvPr>
        </p:nvGraphicFramePr>
        <p:xfrm>
          <a:off x="1775520" y="1301462"/>
          <a:ext cx="8579296" cy="5562600"/>
        </p:xfrm>
        <a:graphic>
          <a:graphicData uri="http://schemas.openxmlformats.org/drawingml/2006/table">
            <a:tbl>
              <a:tblPr firstRow="1" bandRow="1">
                <a:tableStyleId>{5C22544A-7EE6-4342-B048-85BDC9FD1C3A}</a:tableStyleId>
              </a:tblPr>
              <a:tblGrid>
                <a:gridCol w="4289648">
                  <a:extLst>
                    <a:ext uri="{9D8B030D-6E8A-4147-A177-3AD203B41FA5}">
                      <a16:colId xmlns:a16="http://schemas.microsoft.com/office/drawing/2014/main" val="20000"/>
                    </a:ext>
                  </a:extLst>
                </a:gridCol>
                <a:gridCol w="4289648">
                  <a:extLst>
                    <a:ext uri="{9D8B030D-6E8A-4147-A177-3AD203B41FA5}">
                      <a16:colId xmlns:a16="http://schemas.microsoft.com/office/drawing/2014/main" val="20001"/>
                    </a:ext>
                  </a:extLst>
                </a:gridCol>
              </a:tblGrid>
              <a:tr h="370840">
                <a:tc>
                  <a:txBody>
                    <a:bodyPr/>
                    <a:lstStyle/>
                    <a:p>
                      <a:r>
                        <a:rPr lang="en-IE" dirty="0"/>
                        <a:t>Selection</a:t>
                      </a:r>
                      <a:r>
                        <a:rPr lang="en-IE" baseline="0" dirty="0"/>
                        <a:t> Method</a:t>
                      </a:r>
                      <a:endParaRPr lang="en-IE" dirty="0"/>
                    </a:p>
                  </a:txBody>
                  <a:tcPr/>
                </a:tc>
                <a:tc>
                  <a:txBody>
                    <a:bodyPr/>
                    <a:lstStyle/>
                    <a:p>
                      <a:r>
                        <a:rPr lang="en-IE" dirty="0"/>
                        <a:t>Percentage</a:t>
                      </a:r>
                      <a:r>
                        <a:rPr lang="en-IE" baseline="0" dirty="0"/>
                        <a:t> of organisations using method</a:t>
                      </a:r>
                    </a:p>
                  </a:txBody>
                  <a:tcPr/>
                </a:tc>
                <a:extLst>
                  <a:ext uri="{0D108BD9-81ED-4DB2-BD59-A6C34878D82A}">
                    <a16:rowId xmlns:a16="http://schemas.microsoft.com/office/drawing/2014/main" val="10000"/>
                  </a:ext>
                </a:extLst>
              </a:tr>
              <a:tr h="370840">
                <a:tc>
                  <a:txBody>
                    <a:bodyPr/>
                    <a:lstStyle/>
                    <a:p>
                      <a:r>
                        <a:rPr lang="en-IE" dirty="0"/>
                        <a:t>CV</a:t>
                      </a:r>
                    </a:p>
                  </a:txBody>
                  <a:tcPr/>
                </a:tc>
                <a:tc>
                  <a:txBody>
                    <a:bodyPr/>
                    <a:lstStyle/>
                    <a:p>
                      <a:pPr algn="ctr"/>
                      <a:r>
                        <a:rPr lang="en-IE" dirty="0"/>
                        <a:t>85</a:t>
                      </a:r>
                    </a:p>
                  </a:txBody>
                  <a:tcPr/>
                </a:tc>
                <a:extLst>
                  <a:ext uri="{0D108BD9-81ED-4DB2-BD59-A6C34878D82A}">
                    <a16:rowId xmlns:a16="http://schemas.microsoft.com/office/drawing/2014/main" val="10001"/>
                  </a:ext>
                </a:extLst>
              </a:tr>
              <a:tr h="370840">
                <a:tc>
                  <a:txBody>
                    <a:bodyPr/>
                    <a:lstStyle/>
                    <a:p>
                      <a:r>
                        <a:rPr lang="en-IE" dirty="0"/>
                        <a:t>References</a:t>
                      </a:r>
                    </a:p>
                  </a:txBody>
                  <a:tcPr/>
                </a:tc>
                <a:tc>
                  <a:txBody>
                    <a:bodyPr/>
                    <a:lstStyle/>
                    <a:p>
                      <a:pPr algn="ctr"/>
                      <a:r>
                        <a:rPr lang="en-IE" dirty="0"/>
                        <a:t>72</a:t>
                      </a:r>
                    </a:p>
                  </a:txBody>
                  <a:tcPr/>
                </a:tc>
                <a:extLst>
                  <a:ext uri="{0D108BD9-81ED-4DB2-BD59-A6C34878D82A}">
                    <a16:rowId xmlns:a16="http://schemas.microsoft.com/office/drawing/2014/main" val="10002"/>
                  </a:ext>
                </a:extLst>
              </a:tr>
              <a:tr h="370840">
                <a:tc>
                  <a:txBody>
                    <a:bodyPr/>
                    <a:lstStyle/>
                    <a:p>
                      <a:r>
                        <a:rPr lang="en-IE" dirty="0"/>
                        <a:t>Structured interview</a:t>
                      </a:r>
                    </a:p>
                  </a:txBody>
                  <a:tcPr/>
                </a:tc>
                <a:tc>
                  <a:txBody>
                    <a:bodyPr/>
                    <a:lstStyle/>
                    <a:p>
                      <a:pPr algn="ctr"/>
                      <a:r>
                        <a:rPr lang="en-IE" dirty="0"/>
                        <a:t>69</a:t>
                      </a:r>
                    </a:p>
                  </a:txBody>
                  <a:tcPr/>
                </a:tc>
                <a:extLst>
                  <a:ext uri="{0D108BD9-81ED-4DB2-BD59-A6C34878D82A}">
                    <a16:rowId xmlns:a16="http://schemas.microsoft.com/office/drawing/2014/main" val="10003"/>
                  </a:ext>
                </a:extLst>
              </a:tr>
              <a:tr h="370840">
                <a:tc>
                  <a:txBody>
                    <a:bodyPr/>
                    <a:lstStyle/>
                    <a:p>
                      <a:r>
                        <a:rPr lang="en-IE" dirty="0"/>
                        <a:t>Application form</a:t>
                      </a:r>
                    </a:p>
                  </a:txBody>
                  <a:tcPr/>
                </a:tc>
                <a:tc>
                  <a:txBody>
                    <a:bodyPr/>
                    <a:lstStyle/>
                    <a:p>
                      <a:pPr algn="ctr"/>
                      <a:r>
                        <a:rPr lang="en-IE" dirty="0"/>
                        <a:t>60</a:t>
                      </a:r>
                    </a:p>
                  </a:txBody>
                  <a:tcPr/>
                </a:tc>
                <a:extLst>
                  <a:ext uri="{0D108BD9-81ED-4DB2-BD59-A6C34878D82A}">
                    <a16:rowId xmlns:a16="http://schemas.microsoft.com/office/drawing/2014/main" val="10004"/>
                  </a:ext>
                </a:extLst>
              </a:tr>
              <a:tr h="370840">
                <a:tc>
                  <a:txBody>
                    <a:bodyPr/>
                    <a:lstStyle/>
                    <a:p>
                      <a:r>
                        <a:rPr lang="en-IE" dirty="0"/>
                        <a:t>Trial period on the job</a:t>
                      </a:r>
                    </a:p>
                  </a:txBody>
                  <a:tcPr/>
                </a:tc>
                <a:tc>
                  <a:txBody>
                    <a:bodyPr/>
                    <a:lstStyle/>
                    <a:p>
                      <a:pPr algn="ctr"/>
                      <a:r>
                        <a:rPr lang="en-IE" dirty="0"/>
                        <a:t>58</a:t>
                      </a:r>
                    </a:p>
                  </a:txBody>
                  <a:tcPr/>
                </a:tc>
                <a:extLst>
                  <a:ext uri="{0D108BD9-81ED-4DB2-BD59-A6C34878D82A}">
                    <a16:rowId xmlns:a16="http://schemas.microsoft.com/office/drawing/2014/main" val="10005"/>
                  </a:ext>
                </a:extLst>
              </a:tr>
              <a:tr h="370840">
                <a:tc>
                  <a:txBody>
                    <a:bodyPr/>
                    <a:lstStyle/>
                    <a:p>
                      <a:r>
                        <a:rPr lang="en-IE" dirty="0"/>
                        <a:t>Unstructured interview</a:t>
                      </a:r>
                    </a:p>
                  </a:txBody>
                  <a:tcPr/>
                </a:tc>
                <a:tc>
                  <a:txBody>
                    <a:bodyPr/>
                    <a:lstStyle/>
                    <a:p>
                      <a:pPr algn="ctr"/>
                      <a:r>
                        <a:rPr lang="en-IE" dirty="0"/>
                        <a:t>42</a:t>
                      </a:r>
                    </a:p>
                  </a:txBody>
                  <a:tcPr/>
                </a:tc>
                <a:extLst>
                  <a:ext uri="{0D108BD9-81ED-4DB2-BD59-A6C34878D82A}">
                    <a16:rowId xmlns:a16="http://schemas.microsoft.com/office/drawing/2014/main" val="10006"/>
                  </a:ext>
                </a:extLst>
              </a:tr>
              <a:tr h="370840">
                <a:tc>
                  <a:txBody>
                    <a:bodyPr/>
                    <a:lstStyle/>
                    <a:p>
                      <a:r>
                        <a:rPr lang="en-IE" dirty="0"/>
                        <a:t>Aptitude/ability test</a:t>
                      </a:r>
                    </a:p>
                  </a:txBody>
                  <a:tcPr/>
                </a:tc>
                <a:tc>
                  <a:txBody>
                    <a:bodyPr/>
                    <a:lstStyle/>
                    <a:p>
                      <a:pPr algn="ctr"/>
                      <a:r>
                        <a:rPr lang="en-IE" dirty="0"/>
                        <a:t>39</a:t>
                      </a:r>
                    </a:p>
                  </a:txBody>
                  <a:tcPr/>
                </a:tc>
                <a:extLst>
                  <a:ext uri="{0D108BD9-81ED-4DB2-BD59-A6C34878D82A}">
                    <a16:rowId xmlns:a16="http://schemas.microsoft.com/office/drawing/2014/main" val="10007"/>
                  </a:ext>
                </a:extLst>
              </a:tr>
              <a:tr h="370840">
                <a:tc>
                  <a:txBody>
                    <a:bodyPr/>
                    <a:lstStyle/>
                    <a:p>
                      <a:r>
                        <a:rPr lang="en-IE" dirty="0"/>
                        <a:t>Numeracy/literacy test</a:t>
                      </a:r>
                    </a:p>
                  </a:txBody>
                  <a:tcPr/>
                </a:tc>
                <a:tc>
                  <a:txBody>
                    <a:bodyPr/>
                    <a:lstStyle/>
                    <a:p>
                      <a:pPr algn="ctr"/>
                      <a:r>
                        <a:rPr lang="en-IE" dirty="0"/>
                        <a:t>28</a:t>
                      </a:r>
                    </a:p>
                  </a:txBody>
                  <a:tcPr/>
                </a:tc>
                <a:extLst>
                  <a:ext uri="{0D108BD9-81ED-4DB2-BD59-A6C34878D82A}">
                    <a16:rowId xmlns:a16="http://schemas.microsoft.com/office/drawing/2014/main" val="10008"/>
                  </a:ext>
                </a:extLst>
              </a:tr>
              <a:tr h="370840">
                <a:tc>
                  <a:txBody>
                    <a:bodyPr/>
                    <a:lstStyle/>
                    <a:p>
                      <a:r>
                        <a:rPr lang="en-IE" dirty="0" err="1"/>
                        <a:t>Biodata</a:t>
                      </a:r>
                      <a:endParaRPr lang="en-IE" dirty="0"/>
                    </a:p>
                  </a:txBody>
                  <a:tcPr/>
                </a:tc>
                <a:tc>
                  <a:txBody>
                    <a:bodyPr/>
                    <a:lstStyle/>
                    <a:p>
                      <a:pPr algn="ctr"/>
                      <a:r>
                        <a:rPr lang="en-IE" dirty="0"/>
                        <a:t>27</a:t>
                      </a:r>
                    </a:p>
                  </a:txBody>
                  <a:tcPr/>
                </a:tc>
                <a:extLst>
                  <a:ext uri="{0D108BD9-81ED-4DB2-BD59-A6C34878D82A}">
                    <a16:rowId xmlns:a16="http://schemas.microsoft.com/office/drawing/2014/main" val="10009"/>
                  </a:ext>
                </a:extLst>
              </a:tr>
              <a:tr h="370840">
                <a:tc>
                  <a:txBody>
                    <a:bodyPr/>
                    <a:lstStyle/>
                    <a:p>
                      <a:r>
                        <a:rPr lang="en-IE" dirty="0"/>
                        <a:t>Criminal check</a:t>
                      </a:r>
                    </a:p>
                  </a:txBody>
                  <a:tcPr/>
                </a:tc>
                <a:tc>
                  <a:txBody>
                    <a:bodyPr/>
                    <a:lstStyle/>
                    <a:p>
                      <a:pPr algn="ctr"/>
                      <a:r>
                        <a:rPr lang="en-IE" dirty="0"/>
                        <a:t>27</a:t>
                      </a:r>
                    </a:p>
                  </a:txBody>
                  <a:tcPr/>
                </a:tc>
                <a:extLst>
                  <a:ext uri="{0D108BD9-81ED-4DB2-BD59-A6C34878D82A}">
                    <a16:rowId xmlns:a16="http://schemas.microsoft.com/office/drawing/2014/main" val="10010"/>
                  </a:ext>
                </a:extLst>
              </a:tr>
              <a:tr h="370840">
                <a:tc>
                  <a:txBody>
                    <a:bodyPr/>
                    <a:lstStyle/>
                    <a:p>
                      <a:r>
                        <a:rPr lang="en-IE" dirty="0"/>
                        <a:t>Personality questionnaire</a:t>
                      </a:r>
                    </a:p>
                  </a:txBody>
                  <a:tcPr/>
                </a:tc>
                <a:tc>
                  <a:txBody>
                    <a:bodyPr/>
                    <a:lstStyle/>
                    <a:p>
                      <a:pPr algn="ctr"/>
                      <a:r>
                        <a:rPr lang="en-IE" dirty="0"/>
                        <a:t>19</a:t>
                      </a:r>
                    </a:p>
                  </a:txBody>
                  <a:tcPr/>
                </a:tc>
                <a:extLst>
                  <a:ext uri="{0D108BD9-81ED-4DB2-BD59-A6C34878D82A}">
                    <a16:rowId xmlns:a16="http://schemas.microsoft.com/office/drawing/2014/main" val="10011"/>
                  </a:ext>
                </a:extLst>
              </a:tr>
              <a:tr h="370840">
                <a:tc>
                  <a:txBody>
                    <a:bodyPr/>
                    <a:lstStyle/>
                    <a:p>
                      <a:r>
                        <a:rPr lang="en-IE" dirty="0"/>
                        <a:t>Work</a:t>
                      </a:r>
                      <a:r>
                        <a:rPr lang="en-IE" baseline="0" dirty="0"/>
                        <a:t> sample</a:t>
                      </a:r>
                      <a:endParaRPr lang="en-IE" dirty="0"/>
                    </a:p>
                  </a:txBody>
                  <a:tcPr/>
                </a:tc>
                <a:tc>
                  <a:txBody>
                    <a:bodyPr/>
                    <a:lstStyle/>
                    <a:p>
                      <a:pPr algn="ctr"/>
                      <a:r>
                        <a:rPr lang="en-IE" dirty="0"/>
                        <a:t>17</a:t>
                      </a:r>
                    </a:p>
                  </a:txBody>
                  <a:tcPr/>
                </a:tc>
                <a:extLst>
                  <a:ext uri="{0D108BD9-81ED-4DB2-BD59-A6C34878D82A}">
                    <a16:rowId xmlns:a16="http://schemas.microsoft.com/office/drawing/2014/main" val="10012"/>
                  </a:ext>
                </a:extLst>
              </a:tr>
              <a:tr h="370840">
                <a:tc>
                  <a:txBody>
                    <a:bodyPr/>
                    <a:lstStyle/>
                    <a:p>
                      <a:r>
                        <a:rPr lang="en-IE" dirty="0"/>
                        <a:t>Drug</a:t>
                      </a:r>
                      <a:r>
                        <a:rPr lang="en-IE" baseline="0" dirty="0"/>
                        <a:t> test/medical check</a:t>
                      </a:r>
                      <a:endParaRPr lang="en-IE" dirty="0"/>
                    </a:p>
                  </a:txBody>
                  <a:tcPr/>
                </a:tc>
                <a:tc>
                  <a:txBody>
                    <a:bodyPr/>
                    <a:lstStyle/>
                    <a:p>
                      <a:pPr algn="ctr"/>
                      <a:r>
                        <a:rPr lang="en-IE" dirty="0"/>
                        <a:t>16</a:t>
                      </a:r>
                    </a:p>
                  </a:txBody>
                  <a:tcPr/>
                </a:tc>
                <a:extLst>
                  <a:ext uri="{0D108BD9-81ED-4DB2-BD59-A6C34878D82A}">
                    <a16:rowId xmlns:a16="http://schemas.microsoft.com/office/drawing/2014/main" val="10013"/>
                  </a:ext>
                </a:extLst>
              </a:tr>
              <a:tr h="370840">
                <a:tc>
                  <a:txBody>
                    <a:bodyPr/>
                    <a:lstStyle/>
                    <a:p>
                      <a:r>
                        <a:rPr lang="en-IE" dirty="0"/>
                        <a:t>Group exercise</a:t>
                      </a:r>
                    </a:p>
                  </a:txBody>
                  <a:tcPr/>
                </a:tc>
                <a:tc>
                  <a:txBody>
                    <a:bodyPr/>
                    <a:lstStyle/>
                    <a:p>
                      <a:pPr algn="ctr"/>
                      <a:r>
                        <a:rPr lang="en-IE" dirty="0"/>
                        <a:t>15</a:t>
                      </a:r>
                    </a:p>
                  </a:txBody>
                  <a:tcP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254583717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4294967295"/>
          </p:nvPr>
        </p:nvGraphicFramePr>
        <p:xfrm>
          <a:off x="1775520" y="206648"/>
          <a:ext cx="8579296" cy="6670040"/>
        </p:xfrm>
        <a:graphic>
          <a:graphicData uri="http://schemas.openxmlformats.org/drawingml/2006/table">
            <a:tbl>
              <a:tblPr firstRow="1" bandRow="1">
                <a:tableStyleId>{5C22544A-7EE6-4342-B048-85BDC9FD1C3A}</a:tableStyleId>
              </a:tblPr>
              <a:tblGrid>
                <a:gridCol w="4289648">
                  <a:extLst>
                    <a:ext uri="{9D8B030D-6E8A-4147-A177-3AD203B41FA5}">
                      <a16:colId xmlns:a16="http://schemas.microsoft.com/office/drawing/2014/main" val="20000"/>
                    </a:ext>
                  </a:extLst>
                </a:gridCol>
                <a:gridCol w="4289648">
                  <a:extLst>
                    <a:ext uri="{9D8B030D-6E8A-4147-A177-3AD203B41FA5}">
                      <a16:colId xmlns:a16="http://schemas.microsoft.com/office/drawing/2014/main" val="20001"/>
                    </a:ext>
                  </a:extLst>
                </a:gridCol>
              </a:tblGrid>
              <a:tr h="0">
                <a:tc gridSpan="2">
                  <a:txBody>
                    <a:bodyPr/>
                    <a:lstStyle/>
                    <a:p>
                      <a:r>
                        <a:rPr lang="en-IE" dirty="0"/>
                        <a:t>Validity coefficients for selection methods (Robertson and Smith, 2005)</a:t>
                      </a:r>
                    </a:p>
                  </a:txBody>
                  <a:tcPr/>
                </a:tc>
                <a:tc hMerge="1">
                  <a:txBody>
                    <a:bodyPr/>
                    <a:lstStyle/>
                    <a:p>
                      <a:pPr algn="ctr"/>
                      <a:endParaRPr lang="en-IE" dirty="0"/>
                    </a:p>
                  </a:txBody>
                  <a:tcPr/>
                </a:tc>
                <a:extLst>
                  <a:ext uri="{0D108BD9-81ED-4DB2-BD59-A6C34878D82A}">
                    <a16:rowId xmlns:a16="http://schemas.microsoft.com/office/drawing/2014/main" val="10000"/>
                  </a:ext>
                </a:extLst>
              </a:tr>
              <a:tr h="370840">
                <a:tc>
                  <a:txBody>
                    <a:bodyPr/>
                    <a:lstStyle/>
                    <a:p>
                      <a:r>
                        <a:rPr lang="en-IE" b="1" dirty="0">
                          <a:effectLst>
                            <a:outerShdw blurRad="38100" dist="38100" dir="2700000" algn="tl">
                              <a:srgbClr val="000000">
                                <a:alpha val="43137"/>
                              </a:srgbClr>
                            </a:outerShdw>
                          </a:effectLst>
                        </a:rPr>
                        <a:t>METHODS</a:t>
                      </a:r>
                    </a:p>
                  </a:txBody>
                  <a:tcPr/>
                </a:tc>
                <a:tc>
                  <a:txBody>
                    <a:bodyPr/>
                    <a:lstStyle/>
                    <a:p>
                      <a:pPr algn="ctr"/>
                      <a:r>
                        <a:rPr lang="en-IE" b="1" dirty="0">
                          <a:effectLst>
                            <a:outerShdw blurRad="38100" dist="38100" dir="2700000" algn="tl">
                              <a:srgbClr val="000000">
                                <a:alpha val="43137"/>
                              </a:srgbClr>
                            </a:outerShdw>
                          </a:effectLst>
                        </a:rPr>
                        <a:t>VALIDITY COEFFICIENT</a:t>
                      </a:r>
                    </a:p>
                  </a:txBody>
                  <a:tcPr/>
                </a:tc>
                <a:extLst>
                  <a:ext uri="{0D108BD9-81ED-4DB2-BD59-A6C34878D82A}">
                    <a16:rowId xmlns:a16="http://schemas.microsoft.com/office/drawing/2014/main" val="10001"/>
                  </a:ext>
                </a:extLst>
              </a:tr>
              <a:tr h="370840">
                <a:tc>
                  <a:txBody>
                    <a:bodyPr/>
                    <a:lstStyle/>
                    <a:p>
                      <a:r>
                        <a:rPr lang="en-IE" dirty="0"/>
                        <a:t>Perfect</a:t>
                      </a:r>
                      <a:r>
                        <a:rPr lang="en-IE" baseline="0" dirty="0"/>
                        <a:t> selection</a:t>
                      </a:r>
                      <a:endParaRPr lang="en-IE" dirty="0"/>
                    </a:p>
                  </a:txBody>
                  <a:tcPr/>
                </a:tc>
                <a:tc>
                  <a:txBody>
                    <a:bodyPr/>
                    <a:lstStyle/>
                    <a:p>
                      <a:pPr algn="ctr"/>
                      <a:r>
                        <a:rPr lang="en-IE" dirty="0"/>
                        <a:t>1.0</a:t>
                      </a:r>
                    </a:p>
                  </a:txBody>
                  <a:tcPr/>
                </a:tc>
                <a:extLst>
                  <a:ext uri="{0D108BD9-81ED-4DB2-BD59-A6C34878D82A}">
                    <a16:rowId xmlns:a16="http://schemas.microsoft.com/office/drawing/2014/main" val="10002"/>
                  </a:ext>
                </a:extLst>
              </a:tr>
              <a:tr h="370840">
                <a:tc>
                  <a:txBody>
                    <a:bodyPr/>
                    <a:lstStyle/>
                    <a:p>
                      <a:r>
                        <a:rPr lang="en-IE" dirty="0"/>
                        <a:t>Intelligence and integrity</a:t>
                      </a:r>
                      <a:r>
                        <a:rPr lang="en-IE" baseline="0" dirty="0"/>
                        <a:t> tests</a:t>
                      </a:r>
                      <a:endParaRPr lang="en-IE" dirty="0"/>
                    </a:p>
                  </a:txBody>
                  <a:tcPr/>
                </a:tc>
                <a:tc>
                  <a:txBody>
                    <a:bodyPr/>
                    <a:lstStyle/>
                    <a:p>
                      <a:pPr algn="ctr"/>
                      <a:r>
                        <a:rPr lang="en-IE" dirty="0"/>
                        <a:t>0.65</a:t>
                      </a:r>
                    </a:p>
                  </a:txBody>
                  <a:tcPr/>
                </a:tc>
                <a:extLst>
                  <a:ext uri="{0D108BD9-81ED-4DB2-BD59-A6C34878D82A}">
                    <a16:rowId xmlns:a16="http://schemas.microsoft.com/office/drawing/2014/main" val="10003"/>
                  </a:ext>
                </a:extLst>
              </a:tr>
              <a:tr h="370840">
                <a:tc>
                  <a:txBody>
                    <a:bodyPr/>
                    <a:lstStyle/>
                    <a:p>
                      <a:r>
                        <a:rPr lang="en-IE" dirty="0"/>
                        <a:t>Intelligence tests and structured</a:t>
                      </a:r>
                      <a:r>
                        <a:rPr lang="en-IE" baseline="0" dirty="0"/>
                        <a:t> interviews</a:t>
                      </a:r>
                      <a:endParaRPr lang="en-IE" dirty="0"/>
                    </a:p>
                  </a:txBody>
                  <a:tcPr/>
                </a:tc>
                <a:tc>
                  <a:txBody>
                    <a:bodyPr/>
                    <a:lstStyle/>
                    <a:p>
                      <a:pPr algn="ctr"/>
                      <a:r>
                        <a:rPr lang="en-IE" dirty="0"/>
                        <a:t>0.63</a:t>
                      </a:r>
                    </a:p>
                  </a:txBody>
                  <a:tcPr/>
                </a:tc>
                <a:extLst>
                  <a:ext uri="{0D108BD9-81ED-4DB2-BD59-A6C34878D82A}">
                    <a16:rowId xmlns:a16="http://schemas.microsoft.com/office/drawing/2014/main" val="10004"/>
                  </a:ext>
                </a:extLst>
              </a:tr>
              <a:tr h="370840">
                <a:tc>
                  <a:txBody>
                    <a:bodyPr/>
                    <a:lstStyle/>
                    <a:p>
                      <a:r>
                        <a:rPr lang="en-IE" dirty="0"/>
                        <a:t>Intelligence</a:t>
                      </a:r>
                      <a:r>
                        <a:rPr lang="en-IE" baseline="0" dirty="0"/>
                        <a:t> tests and work sampling</a:t>
                      </a:r>
                      <a:endParaRPr lang="en-IE" dirty="0"/>
                    </a:p>
                  </a:txBody>
                  <a:tcPr/>
                </a:tc>
                <a:tc>
                  <a:txBody>
                    <a:bodyPr/>
                    <a:lstStyle/>
                    <a:p>
                      <a:pPr algn="ctr"/>
                      <a:r>
                        <a:rPr lang="en-IE" dirty="0"/>
                        <a:t>0.60</a:t>
                      </a:r>
                    </a:p>
                  </a:txBody>
                  <a:tcPr/>
                </a:tc>
                <a:extLst>
                  <a:ext uri="{0D108BD9-81ED-4DB2-BD59-A6C34878D82A}">
                    <a16:rowId xmlns:a16="http://schemas.microsoft.com/office/drawing/2014/main" val="10005"/>
                  </a:ext>
                </a:extLst>
              </a:tr>
              <a:tr h="370840">
                <a:tc>
                  <a:txBody>
                    <a:bodyPr/>
                    <a:lstStyle/>
                    <a:p>
                      <a:r>
                        <a:rPr lang="en-IE" dirty="0"/>
                        <a:t>Work sampling</a:t>
                      </a:r>
                    </a:p>
                  </a:txBody>
                  <a:tcPr/>
                </a:tc>
                <a:tc>
                  <a:txBody>
                    <a:bodyPr/>
                    <a:lstStyle/>
                    <a:p>
                      <a:pPr algn="ctr"/>
                      <a:r>
                        <a:rPr lang="en-IE" dirty="0"/>
                        <a:t>0.54</a:t>
                      </a:r>
                    </a:p>
                  </a:txBody>
                  <a:tcPr/>
                </a:tc>
                <a:extLst>
                  <a:ext uri="{0D108BD9-81ED-4DB2-BD59-A6C34878D82A}">
                    <a16:rowId xmlns:a16="http://schemas.microsoft.com/office/drawing/2014/main" val="10006"/>
                  </a:ext>
                </a:extLst>
              </a:tr>
              <a:tr h="370840">
                <a:tc>
                  <a:txBody>
                    <a:bodyPr/>
                    <a:lstStyle/>
                    <a:p>
                      <a:r>
                        <a:rPr lang="en-IE" dirty="0"/>
                        <a:t>Intelligence tests</a:t>
                      </a:r>
                    </a:p>
                  </a:txBody>
                  <a:tcPr/>
                </a:tc>
                <a:tc>
                  <a:txBody>
                    <a:bodyPr/>
                    <a:lstStyle/>
                    <a:p>
                      <a:pPr algn="ctr"/>
                      <a:r>
                        <a:rPr lang="en-IE" dirty="0"/>
                        <a:t>0.51</a:t>
                      </a:r>
                    </a:p>
                  </a:txBody>
                  <a:tcPr/>
                </a:tc>
                <a:extLst>
                  <a:ext uri="{0D108BD9-81ED-4DB2-BD59-A6C34878D82A}">
                    <a16:rowId xmlns:a16="http://schemas.microsoft.com/office/drawing/2014/main" val="10007"/>
                  </a:ext>
                </a:extLst>
              </a:tr>
              <a:tr h="370840">
                <a:tc>
                  <a:txBody>
                    <a:bodyPr/>
                    <a:lstStyle/>
                    <a:p>
                      <a:r>
                        <a:rPr lang="en-IE" dirty="0"/>
                        <a:t>Structured interviews</a:t>
                      </a:r>
                    </a:p>
                  </a:txBody>
                  <a:tcPr/>
                </a:tc>
                <a:tc>
                  <a:txBody>
                    <a:bodyPr/>
                    <a:lstStyle/>
                    <a:p>
                      <a:pPr algn="ctr"/>
                      <a:r>
                        <a:rPr lang="en-IE" dirty="0"/>
                        <a:t>0.51</a:t>
                      </a:r>
                    </a:p>
                  </a:txBody>
                  <a:tcPr/>
                </a:tc>
                <a:extLst>
                  <a:ext uri="{0D108BD9-81ED-4DB2-BD59-A6C34878D82A}">
                    <a16:rowId xmlns:a16="http://schemas.microsoft.com/office/drawing/2014/main" val="10008"/>
                  </a:ext>
                </a:extLst>
              </a:tr>
              <a:tr h="370840">
                <a:tc>
                  <a:txBody>
                    <a:bodyPr/>
                    <a:lstStyle/>
                    <a:p>
                      <a:r>
                        <a:rPr lang="en-IE" dirty="0"/>
                        <a:t>Integrity</a:t>
                      </a:r>
                      <a:r>
                        <a:rPr lang="en-IE" baseline="0" dirty="0"/>
                        <a:t> tests</a:t>
                      </a:r>
                      <a:endParaRPr lang="en-IE" dirty="0"/>
                    </a:p>
                  </a:txBody>
                  <a:tcPr/>
                </a:tc>
                <a:tc>
                  <a:txBody>
                    <a:bodyPr/>
                    <a:lstStyle/>
                    <a:p>
                      <a:pPr algn="ctr"/>
                      <a:r>
                        <a:rPr lang="en-IE" dirty="0"/>
                        <a:t>0.41</a:t>
                      </a:r>
                    </a:p>
                  </a:txBody>
                  <a:tcPr/>
                </a:tc>
                <a:extLst>
                  <a:ext uri="{0D108BD9-81ED-4DB2-BD59-A6C34878D82A}">
                    <a16:rowId xmlns:a16="http://schemas.microsoft.com/office/drawing/2014/main" val="10009"/>
                  </a:ext>
                </a:extLst>
              </a:tr>
              <a:tr h="370840">
                <a:tc>
                  <a:txBody>
                    <a:bodyPr/>
                    <a:lstStyle/>
                    <a:p>
                      <a:r>
                        <a:rPr lang="en-IE" dirty="0"/>
                        <a:t>Personality assessments</a:t>
                      </a:r>
                    </a:p>
                  </a:txBody>
                  <a:tcPr/>
                </a:tc>
                <a:tc>
                  <a:txBody>
                    <a:bodyPr/>
                    <a:lstStyle/>
                    <a:p>
                      <a:pPr algn="ctr"/>
                      <a:r>
                        <a:rPr lang="en-IE" dirty="0"/>
                        <a:t>0.40</a:t>
                      </a:r>
                    </a:p>
                  </a:txBody>
                  <a:tcPr/>
                </a:tc>
                <a:extLst>
                  <a:ext uri="{0D108BD9-81ED-4DB2-BD59-A6C34878D82A}">
                    <a16:rowId xmlns:a16="http://schemas.microsoft.com/office/drawing/2014/main" val="10010"/>
                  </a:ext>
                </a:extLst>
              </a:tr>
              <a:tr h="370840">
                <a:tc>
                  <a:txBody>
                    <a:bodyPr/>
                    <a:lstStyle/>
                    <a:p>
                      <a:r>
                        <a:rPr lang="en-IE" dirty="0"/>
                        <a:t>Assessment</a:t>
                      </a:r>
                      <a:r>
                        <a:rPr lang="en-IE" baseline="0" dirty="0"/>
                        <a:t> centres</a:t>
                      </a:r>
                      <a:endParaRPr lang="en-IE" dirty="0"/>
                    </a:p>
                  </a:txBody>
                  <a:tcPr/>
                </a:tc>
                <a:tc>
                  <a:txBody>
                    <a:bodyPr/>
                    <a:lstStyle/>
                    <a:p>
                      <a:pPr algn="ctr"/>
                      <a:r>
                        <a:rPr lang="en-IE" dirty="0"/>
                        <a:t>0.37</a:t>
                      </a:r>
                    </a:p>
                  </a:txBody>
                  <a:tcPr/>
                </a:tc>
                <a:extLst>
                  <a:ext uri="{0D108BD9-81ED-4DB2-BD59-A6C34878D82A}">
                    <a16:rowId xmlns:a16="http://schemas.microsoft.com/office/drawing/2014/main" val="10011"/>
                  </a:ext>
                </a:extLst>
              </a:tr>
              <a:tr h="370840">
                <a:tc>
                  <a:txBody>
                    <a:bodyPr/>
                    <a:lstStyle/>
                    <a:p>
                      <a:r>
                        <a:rPr lang="en-IE" dirty="0" err="1"/>
                        <a:t>Biodata</a:t>
                      </a:r>
                      <a:endParaRPr lang="en-IE" dirty="0"/>
                    </a:p>
                  </a:txBody>
                  <a:tcPr/>
                </a:tc>
                <a:tc>
                  <a:txBody>
                    <a:bodyPr/>
                    <a:lstStyle/>
                    <a:p>
                      <a:pPr algn="ctr"/>
                      <a:r>
                        <a:rPr lang="en-IE" dirty="0"/>
                        <a:t>0.35</a:t>
                      </a:r>
                    </a:p>
                  </a:txBody>
                  <a:tcPr/>
                </a:tc>
                <a:extLst>
                  <a:ext uri="{0D108BD9-81ED-4DB2-BD59-A6C34878D82A}">
                    <a16:rowId xmlns:a16="http://schemas.microsoft.com/office/drawing/2014/main" val="10012"/>
                  </a:ext>
                </a:extLst>
              </a:tr>
              <a:tr h="370840">
                <a:tc>
                  <a:txBody>
                    <a:bodyPr/>
                    <a:lstStyle/>
                    <a:p>
                      <a:r>
                        <a:rPr lang="en-IE" dirty="0"/>
                        <a:t>References</a:t>
                      </a:r>
                    </a:p>
                  </a:txBody>
                  <a:tcPr/>
                </a:tc>
                <a:tc>
                  <a:txBody>
                    <a:bodyPr/>
                    <a:lstStyle/>
                    <a:p>
                      <a:pPr algn="ctr"/>
                      <a:r>
                        <a:rPr lang="en-IE" dirty="0"/>
                        <a:t>0.26</a:t>
                      </a:r>
                    </a:p>
                  </a:txBody>
                  <a:tcPr/>
                </a:tc>
                <a:extLst>
                  <a:ext uri="{0D108BD9-81ED-4DB2-BD59-A6C34878D82A}">
                    <a16:rowId xmlns:a16="http://schemas.microsoft.com/office/drawing/2014/main" val="10013"/>
                  </a:ext>
                </a:extLst>
              </a:tr>
              <a:tr h="370840">
                <a:tc>
                  <a:txBody>
                    <a:bodyPr/>
                    <a:lstStyle/>
                    <a:p>
                      <a:r>
                        <a:rPr lang="en-IE" dirty="0"/>
                        <a:t>Years</a:t>
                      </a:r>
                      <a:r>
                        <a:rPr lang="en-IE" baseline="0" dirty="0"/>
                        <a:t> of job experiences</a:t>
                      </a:r>
                      <a:endParaRPr lang="en-IE" dirty="0"/>
                    </a:p>
                  </a:txBody>
                  <a:tcPr/>
                </a:tc>
                <a:tc>
                  <a:txBody>
                    <a:bodyPr/>
                    <a:lstStyle/>
                    <a:p>
                      <a:pPr algn="ctr"/>
                      <a:r>
                        <a:rPr lang="en-IE" dirty="0"/>
                        <a:t>0.18</a:t>
                      </a:r>
                    </a:p>
                  </a:txBody>
                  <a:tcPr/>
                </a:tc>
                <a:extLst>
                  <a:ext uri="{0D108BD9-81ED-4DB2-BD59-A6C34878D82A}">
                    <a16:rowId xmlns:a16="http://schemas.microsoft.com/office/drawing/2014/main" val="10014"/>
                  </a:ext>
                </a:extLst>
              </a:tr>
              <a:tr h="370840">
                <a:tc>
                  <a:txBody>
                    <a:bodyPr/>
                    <a:lstStyle/>
                    <a:p>
                      <a:r>
                        <a:rPr lang="en-IE" dirty="0"/>
                        <a:t>Years of education</a:t>
                      </a:r>
                    </a:p>
                  </a:txBody>
                  <a:tcPr/>
                </a:tc>
                <a:tc>
                  <a:txBody>
                    <a:bodyPr/>
                    <a:lstStyle/>
                    <a:p>
                      <a:pPr algn="ctr"/>
                      <a:r>
                        <a:rPr lang="en-IE" dirty="0"/>
                        <a:t>0.10</a:t>
                      </a:r>
                    </a:p>
                  </a:txBody>
                  <a:tcPr/>
                </a:tc>
                <a:extLst>
                  <a:ext uri="{0D108BD9-81ED-4DB2-BD59-A6C34878D82A}">
                    <a16:rowId xmlns:a16="http://schemas.microsoft.com/office/drawing/2014/main" val="10015"/>
                  </a:ext>
                </a:extLst>
              </a:tr>
              <a:tr h="370840">
                <a:tc>
                  <a:txBody>
                    <a:bodyPr/>
                    <a:lstStyle/>
                    <a:p>
                      <a:r>
                        <a:rPr lang="en-IE" dirty="0"/>
                        <a:t>Graphology</a:t>
                      </a:r>
                    </a:p>
                  </a:txBody>
                  <a:tcPr/>
                </a:tc>
                <a:tc>
                  <a:txBody>
                    <a:bodyPr/>
                    <a:lstStyle/>
                    <a:p>
                      <a:pPr algn="ctr"/>
                      <a:r>
                        <a:rPr lang="en-IE" dirty="0"/>
                        <a:t>0.02</a:t>
                      </a:r>
                    </a:p>
                  </a:txBody>
                  <a:tcPr/>
                </a:tc>
                <a:extLst>
                  <a:ext uri="{0D108BD9-81ED-4DB2-BD59-A6C34878D82A}">
                    <a16:rowId xmlns:a16="http://schemas.microsoft.com/office/drawing/2014/main" val="10016"/>
                  </a:ext>
                </a:extLst>
              </a:tr>
              <a:tr h="370840">
                <a:tc>
                  <a:txBody>
                    <a:bodyPr/>
                    <a:lstStyle/>
                    <a:p>
                      <a:r>
                        <a:rPr lang="en-IE" dirty="0"/>
                        <a:t>Selection with a pin</a:t>
                      </a:r>
                    </a:p>
                  </a:txBody>
                  <a:tcPr/>
                </a:tc>
                <a:tc>
                  <a:txBody>
                    <a:bodyPr/>
                    <a:lstStyle/>
                    <a:p>
                      <a:pPr algn="ctr"/>
                      <a:r>
                        <a:rPr lang="en-IE" dirty="0"/>
                        <a:t>0.00</a:t>
                      </a:r>
                    </a:p>
                  </a:txBody>
                  <a:tcPr/>
                </a:tc>
                <a:extLst>
                  <a:ext uri="{0D108BD9-81ED-4DB2-BD59-A6C34878D82A}">
                    <a16:rowId xmlns:a16="http://schemas.microsoft.com/office/drawing/2014/main" val="10017"/>
                  </a:ext>
                </a:extLst>
              </a:tr>
            </a:tbl>
          </a:graphicData>
        </a:graphic>
      </p:graphicFrame>
    </p:spTree>
    <p:extLst>
      <p:ext uri="{BB962C8B-B14F-4D97-AF65-F5344CB8AC3E}">
        <p14:creationId xmlns:p14="http://schemas.microsoft.com/office/powerpoint/2010/main" val="36023178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29" name="Rectangle 30728">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731" name="Rectangle 30730">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C55D97-B285-4FC1-9FF8-BBEA1863D9F0}"/>
              </a:ext>
            </a:extLst>
          </p:cNvPr>
          <p:cNvSpPr>
            <a:spLocks noGrp="1"/>
          </p:cNvSpPr>
          <p:nvPr>
            <p:ph type="title"/>
          </p:nvPr>
        </p:nvSpPr>
        <p:spPr>
          <a:xfrm>
            <a:off x="5181601" y="634946"/>
            <a:ext cx="6368142" cy="1450757"/>
          </a:xfrm>
        </p:spPr>
        <p:txBody>
          <a:bodyPr>
            <a:normAutofit/>
          </a:bodyPr>
          <a:lstStyle/>
          <a:p>
            <a:pPr>
              <a:defRPr/>
            </a:pPr>
            <a:r>
              <a:rPr lang="en-IE" dirty="0"/>
              <a:t> Personality Testing</a:t>
            </a:r>
          </a:p>
        </p:txBody>
      </p:sp>
      <p:pic>
        <p:nvPicPr>
          <p:cNvPr id="30725" name="Picture 30724" descr="Two people holding each other's hands">
            <a:extLst>
              <a:ext uri="{FF2B5EF4-FFF2-40B4-BE49-F238E27FC236}">
                <a16:creationId xmlns:a16="http://schemas.microsoft.com/office/drawing/2014/main" id="{EDB983A3-7546-D710-8F4A-2FBE9D3E4817}"/>
              </a:ext>
            </a:extLst>
          </p:cNvPr>
          <p:cNvPicPr>
            <a:picLocks noChangeAspect="1"/>
          </p:cNvPicPr>
          <p:nvPr/>
        </p:nvPicPr>
        <p:blipFill rotWithShape="1">
          <a:blip r:embed="rId2"/>
          <a:srcRect l="24335" r="30444" b="1"/>
          <a:stretch/>
        </p:blipFill>
        <p:spPr>
          <a:xfrm>
            <a:off x="20" y="-12128"/>
            <a:ext cx="4654276" cy="6870127"/>
          </a:xfrm>
          <a:prstGeom prst="rect">
            <a:avLst/>
          </a:prstGeom>
        </p:spPr>
      </p:pic>
      <p:cxnSp>
        <p:nvCxnSpPr>
          <p:cNvPr id="30733" name="Straight Connector 30732">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0723" name="Content Placeholder 2">
            <a:extLst>
              <a:ext uri="{FF2B5EF4-FFF2-40B4-BE49-F238E27FC236}">
                <a16:creationId xmlns:a16="http://schemas.microsoft.com/office/drawing/2014/main" id="{CF874903-0A81-49E8-B6D6-53EDC6F3F509}"/>
              </a:ext>
            </a:extLst>
          </p:cNvPr>
          <p:cNvSpPr>
            <a:spLocks noGrp="1"/>
          </p:cNvSpPr>
          <p:nvPr>
            <p:ph idx="1"/>
          </p:nvPr>
        </p:nvSpPr>
        <p:spPr>
          <a:xfrm>
            <a:off x="5181601" y="2198913"/>
            <a:ext cx="6368142" cy="4275035"/>
          </a:xfrm>
        </p:spPr>
        <p:txBody>
          <a:bodyPr>
            <a:normAutofit/>
          </a:bodyPr>
          <a:lstStyle/>
          <a:p>
            <a:pPr eaLnBrk="1" hangingPunct="1"/>
            <a:r>
              <a:rPr lang="en-IE" altLang="en-US" dirty="0"/>
              <a:t>Psychologists define personality as:</a:t>
            </a:r>
          </a:p>
          <a:p>
            <a:pPr lvl="1" eaLnBrk="1" hangingPunct="1"/>
            <a:r>
              <a:rPr lang="en-IE" altLang="en-US" sz="2000" dirty="0"/>
              <a:t>“	The particular pattern of behaviour and thinking that prevails across time and contexts, and differentiates one person from another”</a:t>
            </a:r>
          </a:p>
          <a:p>
            <a:pPr lvl="1" eaLnBrk="1" hangingPunct="1"/>
            <a:endParaRPr lang="en-IE" altLang="en-US" sz="2000" dirty="0"/>
          </a:p>
          <a:p>
            <a:pPr eaLnBrk="1" hangingPunct="1"/>
            <a:r>
              <a:rPr lang="en-IE" altLang="en-US" dirty="0"/>
              <a:t>Personality Trait is assumed to be some enduring characteristic that is relatively constant. </a:t>
            </a:r>
          </a:p>
          <a:p>
            <a:pPr eaLnBrk="1" hangingPunct="1"/>
            <a:endParaRPr lang="en-IE" altLang="en-US" dirty="0"/>
          </a:p>
          <a:p>
            <a:pPr eaLnBrk="1" hangingPunct="1"/>
            <a:r>
              <a:rPr lang="en-IE" altLang="en-US" dirty="0"/>
              <a:t>Trait theories specifically focus on explaining more permanent personality characteristics that differentiate one person from another</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752" name="Rectangle 31751">
            <a:extLst>
              <a:ext uri="{FF2B5EF4-FFF2-40B4-BE49-F238E27FC236}">
                <a16:creationId xmlns:a16="http://schemas.microsoft.com/office/drawing/2014/main" id="{CECF0FC6-D57B-48B6-9036-F4FFD91A4B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B027D4-C3E2-4AFF-BE8B-374F723B329C}"/>
              </a:ext>
            </a:extLst>
          </p:cNvPr>
          <p:cNvSpPr>
            <a:spLocks noGrp="1"/>
          </p:cNvSpPr>
          <p:nvPr>
            <p:ph type="title"/>
          </p:nvPr>
        </p:nvSpPr>
        <p:spPr>
          <a:xfrm>
            <a:off x="990932" y="286603"/>
            <a:ext cx="6750987" cy="1450757"/>
          </a:xfrm>
        </p:spPr>
        <p:txBody>
          <a:bodyPr>
            <a:normAutofit/>
          </a:bodyPr>
          <a:lstStyle/>
          <a:p>
            <a:pPr>
              <a:defRPr/>
            </a:pPr>
            <a:r>
              <a:rPr lang="en-IE">
                <a:solidFill>
                  <a:schemeClr val="accent2"/>
                </a:solidFill>
              </a:rPr>
              <a:t>Common Types of Personality Tests</a:t>
            </a:r>
          </a:p>
        </p:txBody>
      </p:sp>
      <p:sp>
        <p:nvSpPr>
          <p:cNvPr id="31747" name="Content Placeholder 2">
            <a:extLst>
              <a:ext uri="{FF2B5EF4-FFF2-40B4-BE49-F238E27FC236}">
                <a16:creationId xmlns:a16="http://schemas.microsoft.com/office/drawing/2014/main" id="{E046BB2C-33A0-4B62-BAB8-B395FAEA12A3}"/>
              </a:ext>
            </a:extLst>
          </p:cNvPr>
          <p:cNvSpPr>
            <a:spLocks noGrp="1"/>
          </p:cNvSpPr>
          <p:nvPr>
            <p:ph idx="1"/>
          </p:nvPr>
        </p:nvSpPr>
        <p:spPr>
          <a:xfrm>
            <a:off x="1044204" y="2023962"/>
            <a:ext cx="6697715" cy="3845131"/>
          </a:xfrm>
        </p:spPr>
        <p:txBody>
          <a:bodyPr>
            <a:normAutofit/>
          </a:bodyPr>
          <a:lstStyle/>
          <a:p>
            <a:pPr eaLnBrk="1" hangingPunct="1"/>
            <a:r>
              <a:rPr lang="en-IE" altLang="en-US"/>
              <a:t>Myers Briggs Type Indicator (MBTI)</a:t>
            </a:r>
          </a:p>
          <a:p>
            <a:pPr lvl="1" eaLnBrk="1" hangingPunct="1"/>
            <a:r>
              <a:rPr lang="en-IE" altLang="en-US"/>
              <a:t>[Extraversion – Introversion] [Sensing – Intuition] [Thinking – Feeling] [Judging – Perceiving] </a:t>
            </a:r>
          </a:p>
          <a:p>
            <a:pPr eaLnBrk="1" hangingPunct="1"/>
            <a:r>
              <a:rPr lang="en-IE" altLang="en-US"/>
              <a:t>Cattell’s 16 PF – 16 Dimensions</a:t>
            </a:r>
          </a:p>
          <a:p>
            <a:pPr lvl="1" eaLnBrk="1" hangingPunct="1"/>
            <a:r>
              <a:rPr lang="en-IE" altLang="en-US"/>
              <a:t>E.g. [cool-warm] [ submissive – dominant] [relaxed – tense]</a:t>
            </a:r>
          </a:p>
          <a:p>
            <a:pPr eaLnBrk="1" hangingPunct="1"/>
            <a:r>
              <a:rPr lang="en-IE" altLang="en-US"/>
              <a:t>Occupational Personality Questionnaire </a:t>
            </a:r>
          </a:p>
          <a:p>
            <a:pPr eaLnBrk="1" hangingPunct="1"/>
            <a:r>
              <a:rPr lang="en-IE" altLang="en-US"/>
              <a:t>Belbin Team Role Self-Perception Inventory</a:t>
            </a:r>
          </a:p>
          <a:p>
            <a:pPr eaLnBrk="1" hangingPunct="1"/>
            <a:r>
              <a:rPr lang="en-IE" altLang="en-US"/>
              <a:t>The Big 5 (Costa &amp; McCrae, 1985)</a:t>
            </a:r>
          </a:p>
        </p:txBody>
      </p:sp>
      <p:sp>
        <p:nvSpPr>
          <p:cNvPr id="31754" name="Rectangle 31753">
            <a:extLst>
              <a:ext uri="{FF2B5EF4-FFF2-40B4-BE49-F238E27FC236}">
                <a16:creationId xmlns:a16="http://schemas.microsoft.com/office/drawing/2014/main" id="{717A211C-5863-4303-AC3D-AEBFDF6D6A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44150"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1756" name="Rectangle 31755">
            <a:extLst>
              <a:ext uri="{FF2B5EF4-FFF2-40B4-BE49-F238E27FC236}">
                <a16:creationId xmlns:a16="http://schemas.microsoft.com/office/drawing/2014/main" id="{087519CD-2FFF-42E3-BB0C-FEAA828BA5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32823"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2AEB6-D4C1-451E-BC88-962CA9DBFAE4}"/>
              </a:ext>
            </a:extLst>
          </p:cNvPr>
          <p:cNvSpPr>
            <a:spLocks noGrp="1"/>
          </p:cNvSpPr>
          <p:nvPr>
            <p:ph type="title"/>
          </p:nvPr>
        </p:nvSpPr>
        <p:spPr/>
        <p:txBody>
          <a:bodyPr/>
          <a:lstStyle/>
          <a:p>
            <a:pPr algn="ctr">
              <a:defRPr/>
            </a:pPr>
            <a:r>
              <a:rPr lang="en-IE" dirty="0">
                <a:solidFill>
                  <a:schemeClr val="accent1">
                    <a:satMod val="150000"/>
                  </a:schemeClr>
                </a:solidFill>
              </a:rPr>
              <a:t>Personality Testing</a:t>
            </a:r>
            <a:br>
              <a:rPr lang="en-IE" dirty="0">
                <a:solidFill>
                  <a:schemeClr val="accent1">
                    <a:satMod val="150000"/>
                  </a:schemeClr>
                </a:solidFill>
              </a:rPr>
            </a:br>
            <a:endParaRPr lang="en-IE" sz="2700" dirty="0">
              <a:solidFill>
                <a:schemeClr val="accent1">
                  <a:satMod val="150000"/>
                </a:schemeClr>
              </a:solidFill>
            </a:endParaRPr>
          </a:p>
        </p:txBody>
      </p:sp>
      <p:sp>
        <p:nvSpPr>
          <p:cNvPr id="3" name="Content Placeholder 2">
            <a:extLst>
              <a:ext uri="{FF2B5EF4-FFF2-40B4-BE49-F238E27FC236}">
                <a16:creationId xmlns:a16="http://schemas.microsoft.com/office/drawing/2014/main" id="{FFFFE452-489C-46C9-AB10-7EEB940014F8}"/>
              </a:ext>
            </a:extLst>
          </p:cNvPr>
          <p:cNvSpPr>
            <a:spLocks noGrp="1"/>
          </p:cNvSpPr>
          <p:nvPr>
            <p:ph idx="1"/>
          </p:nvPr>
        </p:nvSpPr>
        <p:spPr>
          <a:xfrm>
            <a:off x="1919289" y="1844675"/>
            <a:ext cx="8497887" cy="4464050"/>
          </a:xfrm>
        </p:spPr>
        <p:txBody>
          <a:bodyPr rtlCol="0">
            <a:normAutofit/>
          </a:bodyPr>
          <a:lstStyle/>
          <a:p>
            <a:pPr marL="438912" indent="-320040">
              <a:spcBef>
                <a:spcPts val="0"/>
              </a:spcBef>
              <a:spcAft>
                <a:spcPts val="0"/>
              </a:spcAft>
              <a:buFont typeface="Wingdings 2"/>
              <a:buChar char=""/>
              <a:defRPr/>
            </a:pPr>
            <a:r>
              <a:rPr lang="en-IE" dirty="0"/>
              <a:t>It is important to remember that low, average, and high scores on a personality trait questionnaire are neither intrinsically good nor bad. </a:t>
            </a:r>
          </a:p>
          <a:p>
            <a:pPr marL="438912" indent="-320040">
              <a:spcBef>
                <a:spcPts val="0"/>
              </a:spcBef>
              <a:spcAft>
                <a:spcPts val="0"/>
              </a:spcAft>
              <a:buFont typeface="Wingdings 2"/>
              <a:buChar char=""/>
              <a:defRPr/>
            </a:pPr>
            <a:endParaRPr lang="en-IE" dirty="0"/>
          </a:p>
          <a:p>
            <a:pPr marL="438912" indent="-320040">
              <a:spcBef>
                <a:spcPts val="0"/>
              </a:spcBef>
              <a:spcAft>
                <a:spcPts val="0"/>
              </a:spcAft>
              <a:buFont typeface="Wingdings 2"/>
              <a:buChar char=""/>
              <a:defRPr/>
            </a:pPr>
            <a:r>
              <a:rPr lang="en-IE" dirty="0"/>
              <a:t>A particular level on any trait will probably be neutral or irrelevant for most activities, helpful for accomplishing some things, and detrimental for accomplishing others.</a:t>
            </a:r>
          </a:p>
          <a:p>
            <a:pPr marL="438912" indent="-320040">
              <a:spcBef>
                <a:spcPts val="0"/>
              </a:spcBef>
              <a:spcAft>
                <a:spcPts val="0"/>
              </a:spcAft>
              <a:buFont typeface="Wingdings 2"/>
              <a:buChar char=""/>
              <a:defRPr/>
            </a:pPr>
            <a:endParaRPr lang="en-IE" dirty="0"/>
          </a:p>
          <a:p>
            <a:pPr marL="438912" indent="-320040">
              <a:spcBef>
                <a:spcPts val="0"/>
              </a:spcBef>
              <a:spcAft>
                <a:spcPts val="0"/>
              </a:spcAft>
              <a:buFont typeface="Wingdings 2"/>
              <a:buChar char=""/>
              <a:defRPr/>
            </a:pPr>
            <a:r>
              <a:rPr lang="en-IE" dirty="0"/>
              <a:t> As with any personality questionnaire, scores and descriptions can only approximate your actual personality. </a:t>
            </a:r>
          </a:p>
          <a:p>
            <a:pPr marL="438912" indent="-320040">
              <a:spcBef>
                <a:spcPts val="0"/>
              </a:spcBef>
              <a:spcAft>
                <a:spcPts val="0"/>
              </a:spcAft>
              <a:buFont typeface="Wingdings 2"/>
              <a:buChar char=""/>
              <a:defRPr/>
            </a:pPr>
            <a:endParaRPr lang="en-IE" dirty="0"/>
          </a:p>
          <a:p>
            <a:pPr marL="438912" indent="-320040">
              <a:spcBef>
                <a:spcPts val="0"/>
              </a:spcBef>
              <a:spcAft>
                <a:spcPts val="0"/>
              </a:spcAft>
              <a:buFont typeface="Wingdings 2"/>
              <a:buChar char=""/>
              <a:defRPr/>
            </a:pPr>
            <a:r>
              <a:rPr lang="en-IE" dirty="0"/>
              <a:t>Whilst all of this may be true, in the real world test results will have a significant influence on your chances of being rejected. </a:t>
            </a:r>
          </a:p>
          <a:p>
            <a:pPr marL="438912" indent="-320040">
              <a:spcBef>
                <a:spcPts val="0"/>
              </a:spcBef>
              <a:spcAft>
                <a:spcPts val="0"/>
              </a:spcAft>
              <a:buFont typeface="Wingdings 2"/>
              <a:buChar char=""/>
              <a:defRPr/>
            </a:pPr>
            <a:endParaRPr lang="en-IE"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07731-5894-4865-8542-B056BE8B76B3}"/>
              </a:ext>
            </a:extLst>
          </p:cNvPr>
          <p:cNvSpPr>
            <a:spLocks noGrp="1"/>
          </p:cNvSpPr>
          <p:nvPr>
            <p:ph type="title"/>
          </p:nvPr>
        </p:nvSpPr>
        <p:spPr/>
        <p:txBody>
          <a:bodyPr/>
          <a:lstStyle/>
          <a:p>
            <a:pPr algn="ctr">
              <a:defRPr/>
            </a:pPr>
            <a:r>
              <a:rPr lang="en-IE" dirty="0">
                <a:solidFill>
                  <a:schemeClr val="accent1">
                    <a:satMod val="150000"/>
                  </a:schemeClr>
                </a:solidFill>
              </a:rPr>
              <a:t>Examples: Personality Tests</a:t>
            </a:r>
          </a:p>
        </p:txBody>
      </p:sp>
      <p:sp>
        <p:nvSpPr>
          <p:cNvPr id="3" name="Content Placeholder 2">
            <a:extLst>
              <a:ext uri="{FF2B5EF4-FFF2-40B4-BE49-F238E27FC236}">
                <a16:creationId xmlns:a16="http://schemas.microsoft.com/office/drawing/2014/main" id="{C37A8764-E52B-4190-8B0F-6B3D573BC7F1}"/>
              </a:ext>
            </a:extLst>
          </p:cNvPr>
          <p:cNvSpPr>
            <a:spLocks noGrp="1"/>
          </p:cNvSpPr>
          <p:nvPr>
            <p:ph idx="1"/>
          </p:nvPr>
        </p:nvSpPr>
        <p:spPr/>
        <p:txBody>
          <a:bodyPr rtlCol="0">
            <a:normAutofit/>
          </a:bodyPr>
          <a:lstStyle/>
          <a:p>
            <a:pPr marL="438912" indent="-320040">
              <a:spcBef>
                <a:spcPts val="0"/>
              </a:spcBef>
              <a:spcAft>
                <a:spcPts val="0"/>
              </a:spcAft>
              <a:buNone/>
              <a:defRPr/>
            </a:pPr>
            <a:r>
              <a:rPr lang="en-GB" b="1" dirty="0" err="1">
                <a:solidFill>
                  <a:srgbClr val="000000"/>
                </a:solidFill>
              </a:rPr>
              <a:t>Likert</a:t>
            </a:r>
            <a:endParaRPr lang="en-GB" b="1" dirty="0">
              <a:solidFill>
                <a:srgbClr val="000000"/>
              </a:solidFill>
            </a:endParaRPr>
          </a:p>
          <a:p>
            <a:pPr marL="438912" indent="-320040">
              <a:spcBef>
                <a:spcPts val="0"/>
              </a:spcBef>
              <a:spcAft>
                <a:spcPts val="0"/>
              </a:spcAft>
              <a:buFont typeface="Wingdings 2"/>
              <a:buChar char=""/>
              <a:defRPr/>
            </a:pPr>
            <a:r>
              <a:rPr lang="en-GB" b="1" dirty="0">
                <a:solidFill>
                  <a:srgbClr val="000000"/>
                </a:solidFill>
              </a:rPr>
              <a:t>I lose my temper over minor incidents. </a:t>
            </a:r>
            <a:endParaRPr lang="en-GB" dirty="0">
              <a:solidFill>
                <a:srgbClr val="000000"/>
              </a:solidFill>
            </a:endParaRPr>
          </a:p>
          <a:p>
            <a:pPr marL="438912" indent="-320040">
              <a:spcBef>
                <a:spcPts val="0"/>
              </a:spcBef>
              <a:spcAft>
                <a:spcPts val="0"/>
              </a:spcAft>
              <a:buNone/>
              <a:defRPr/>
            </a:pPr>
            <a:r>
              <a:rPr lang="en-GB" dirty="0">
                <a:solidFill>
                  <a:srgbClr val="000000"/>
                </a:solidFill>
              </a:rPr>
              <a:t>	a) True  	b) In Between 	c) False</a:t>
            </a:r>
          </a:p>
          <a:p>
            <a:pPr marL="438912" indent="-320040">
              <a:spcBef>
                <a:spcPts val="0"/>
              </a:spcBef>
              <a:spcAft>
                <a:spcPts val="0"/>
              </a:spcAft>
              <a:buFont typeface="Wingdings 2"/>
              <a:buChar char=""/>
              <a:defRPr/>
            </a:pPr>
            <a:endParaRPr lang="en-GB" b="1" dirty="0">
              <a:solidFill>
                <a:srgbClr val="000000"/>
              </a:solidFill>
            </a:endParaRPr>
          </a:p>
          <a:p>
            <a:pPr marL="438912" indent="-320040">
              <a:spcBef>
                <a:spcPts val="0"/>
              </a:spcBef>
              <a:spcAft>
                <a:spcPts val="0"/>
              </a:spcAft>
              <a:buFont typeface="Wingdings 2"/>
              <a:buChar char=""/>
              <a:defRPr/>
            </a:pPr>
            <a:r>
              <a:rPr lang="en-GB" b="1" dirty="0">
                <a:solidFill>
                  <a:srgbClr val="000000"/>
                </a:solidFill>
              </a:rPr>
              <a:t>I like giving practical demonstrations in front of others. </a:t>
            </a:r>
            <a:endParaRPr lang="en-GB" dirty="0">
              <a:solidFill>
                <a:srgbClr val="000000"/>
              </a:solidFill>
            </a:endParaRPr>
          </a:p>
          <a:p>
            <a:pPr marL="438912" indent="-320040">
              <a:spcBef>
                <a:spcPts val="0"/>
              </a:spcBef>
              <a:spcAft>
                <a:spcPts val="0"/>
              </a:spcAft>
              <a:buNone/>
              <a:defRPr/>
            </a:pPr>
            <a:r>
              <a:rPr lang="en-GB" dirty="0">
                <a:solidFill>
                  <a:srgbClr val="000000"/>
                </a:solidFill>
              </a:rPr>
              <a:t>	a) True 	b) Uncertain	 	c) False</a:t>
            </a:r>
          </a:p>
          <a:p>
            <a:pPr marL="438912" indent="-320040">
              <a:spcBef>
                <a:spcPts val="0"/>
              </a:spcBef>
              <a:spcAft>
                <a:spcPts val="0"/>
              </a:spcAft>
              <a:buFont typeface="Wingdings 2"/>
              <a:buChar char=""/>
              <a:defRPr/>
            </a:pPr>
            <a:endParaRPr lang="en-GB" b="1" dirty="0">
              <a:solidFill>
                <a:srgbClr val="000000"/>
              </a:solidFill>
            </a:endParaRPr>
          </a:p>
          <a:p>
            <a:pPr marL="438912" indent="-320040">
              <a:spcBef>
                <a:spcPts val="0"/>
              </a:spcBef>
              <a:spcAft>
                <a:spcPts val="0"/>
              </a:spcAft>
              <a:buFont typeface="Wingdings 2"/>
              <a:buChar char=""/>
              <a:defRPr/>
            </a:pPr>
            <a:r>
              <a:rPr lang="en-GB" b="1" dirty="0">
                <a:solidFill>
                  <a:srgbClr val="000000"/>
                </a:solidFill>
              </a:rPr>
              <a:t>I double-check for errors when I perform calculations. </a:t>
            </a:r>
            <a:endParaRPr lang="en-GB" dirty="0">
              <a:solidFill>
                <a:srgbClr val="000000"/>
              </a:solidFill>
            </a:endParaRPr>
          </a:p>
          <a:p>
            <a:pPr marL="438912" indent="-320040">
              <a:spcBef>
                <a:spcPts val="0"/>
              </a:spcBef>
              <a:spcAft>
                <a:spcPts val="0"/>
              </a:spcAft>
              <a:buNone/>
              <a:defRPr/>
            </a:pPr>
            <a:r>
              <a:rPr lang="en-GB" dirty="0">
                <a:solidFill>
                  <a:srgbClr val="000000"/>
                </a:solidFill>
              </a:rPr>
              <a:t>	a) True		b) Sometimes	c) False</a:t>
            </a:r>
          </a:p>
          <a:p>
            <a:pPr marL="438912" indent="-320040">
              <a:spcBef>
                <a:spcPts val="0"/>
              </a:spcBef>
              <a:spcAft>
                <a:spcPts val="0"/>
              </a:spcAft>
              <a:buFont typeface="Wingdings 2"/>
              <a:buChar char=""/>
              <a:defRPr/>
            </a:pPr>
            <a:endParaRPr lang="en-IE"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68EB9-B177-40EB-9B59-3EE8422C370E}"/>
              </a:ext>
            </a:extLst>
          </p:cNvPr>
          <p:cNvSpPr>
            <a:spLocks noGrp="1"/>
          </p:cNvSpPr>
          <p:nvPr>
            <p:ph type="title"/>
          </p:nvPr>
        </p:nvSpPr>
        <p:spPr/>
        <p:txBody>
          <a:bodyPr/>
          <a:lstStyle/>
          <a:p>
            <a:pPr algn="ctr">
              <a:defRPr/>
            </a:pPr>
            <a:r>
              <a:rPr lang="en-IE" dirty="0">
                <a:solidFill>
                  <a:schemeClr val="accent1">
                    <a:satMod val="150000"/>
                  </a:schemeClr>
                </a:solidFill>
              </a:rPr>
              <a:t>Examples: Personality Tests</a:t>
            </a:r>
          </a:p>
        </p:txBody>
      </p:sp>
      <p:sp>
        <p:nvSpPr>
          <p:cNvPr id="36867" name="Content Placeholder 2">
            <a:extLst>
              <a:ext uri="{FF2B5EF4-FFF2-40B4-BE49-F238E27FC236}">
                <a16:creationId xmlns:a16="http://schemas.microsoft.com/office/drawing/2014/main" id="{EA558366-EA6E-449C-BB05-06079771B8A7}"/>
              </a:ext>
            </a:extLst>
          </p:cNvPr>
          <p:cNvSpPr>
            <a:spLocks noGrp="1"/>
          </p:cNvSpPr>
          <p:nvPr>
            <p:ph idx="1"/>
          </p:nvPr>
        </p:nvSpPr>
        <p:spPr/>
        <p:txBody>
          <a:bodyPr>
            <a:normAutofit fontScale="92500" lnSpcReduction="10000"/>
          </a:bodyPr>
          <a:lstStyle/>
          <a:p>
            <a:pPr eaLnBrk="1" hangingPunct="1">
              <a:lnSpc>
                <a:spcPct val="90000"/>
              </a:lnSpc>
            </a:pPr>
            <a:r>
              <a:rPr lang="en-GB" altLang="en-US" sz="2400" b="1">
                <a:solidFill>
                  <a:srgbClr val="000000"/>
                </a:solidFill>
              </a:rPr>
              <a:t>I like working to strict time deadlines </a:t>
            </a:r>
            <a:endParaRPr lang="en-GB" altLang="en-US" sz="2400">
              <a:solidFill>
                <a:srgbClr val="000000"/>
              </a:solidFill>
            </a:endParaRPr>
          </a:p>
          <a:p>
            <a:pPr lvl="1" eaLnBrk="1" hangingPunct="1">
              <a:lnSpc>
                <a:spcPct val="90000"/>
              </a:lnSpc>
              <a:buFontTx/>
              <a:buNone/>
            </a:pPr>
            <a:r>
              <a:rPr lang="en-GB" altLang="en-US" sz="2000">
                <a:solidFill>
                  <a:srgbClr val="000000"/>
                </a:solidFill>
              </a:rPr>
              <a:t>a) strongly agree </a:t>
            </a:r>
          </a:p>
          <a:p>
            <a:pPr lvl="1" eaLnBrk="1" hangingPunct="1">
              <a:lnSpc>
                <a:spcPct val="90000"/>
              </a:lnSpc>
              <a:buFontTx/>
              <a:buNone/>
            </a:pPr>
            <a:r>
              <a:rPr lang="en-GB" altLang="en-US" sz="2000">
                <a:solidFill>
                  <a:srgbClr val="000000"/>
                </a:solidFill>
              </a:rPr>
              <a:t>b) agree</a:t>
            </a:r>
          </a:p>
          <a:p>
            <a:pPr lvl="1" eaLnBrk="1" hangingPunct="1">
              <a:lnSpc>
                <a:spcPct val="90000"/>
              </a:lnSpc>
              <a:buFontTx/>
              <a:buNone/>
            </a:pPr>
            <a:r>
              <a:rPr lang="en-GB" altLang="en-US" sz="2000">
                <a:solidFill>
                  <a:srgbClr val="000000"/>
                </a:solidFill>
              </a:rPr>
              <a:t>c) unsure</a:t>
            </a:r>
          </a:p>
          <a:p>
            <a:pPr lvl="1" eaLnBrk="1" hangingPunct="1">
              <a:lnSpc>
                <a:spcPct val="90000"/>
              </a:lnSpc>
              <a:buFontTx/>
              <a:buNone/>
            </a:pPr>
            <a:r>
              <a:rPr lang="en-GB" altLang="en-US" sz="2000">
                <a:solidFill>
                  <a:srgbClr val="000000"/>
                </a:solidFill>
              </a:rPr>
              <a:t>d) disagree</a:t>
            </a:r>
          </a:p>
          <a:p>
            <a:pPr lvl="1" eaLnBrk="1" hangingPunct="1">
              <a:lnSpc>
                <a:spcPct val="90000"/>
              </a:lnSpc>
              <a:buFontTx/>
              <a:buNone/>
            </a:pPr>
            <a:r>
              <a:rPr lang="en-GB" altLang="en-US" sz="2000">
                <a:solidFill>
                  <a:srgbClr val="000000"/>
                </a:solidFill>
              </a:rPr>
              <a:t>e) strongly agree</a:t>
            </a:r>
          </a:p>
          <a:p>
            <a:pPr eaLnBrk="1" hangingPunct="1">
              <a:lnSpc>
                <a:spcPct val="90000"/>
              </a:lnSpc>
            </a:pPr>
            <a:r>
              <a:rPr lang="en-GB" altLang="en-US" sz="2400" b="1">
                <a:solidFill>
                  <a:srgbClr val="000000"/>
                </a:solidFill>
              </a:rPr>
              <a:t>On TV, drama series are more interesting than factual series</a:t>
            </a:r>
            <a:endParaRPr lang="en-GB" altLang="en-US" sz="2400">
              <a:solidFill>
                <a:srgbClr val="000000"/>
              </a:solidFill>
            </a:endParaRPr>
          </a:p>
          <a:p>
            <a:pPr lvl="1" eaLnBrk="1" hangingPunct="1">
              <a:lnSpc>
                <a:spcPct val="90000"/>
              </a:lnSpc>
              <a:buFontTx/>
              <a:buNone/>
            </a:pPr>
            <a:r>
              <a:rPr lang="en-GB" altLang="en-US" sz="2000">
                <a:solidFill>
                  <a:srgbClr val="000000"/>
                </a:solidFill>
              </a:rPr>
              <a:t>a) strongly agree </a:t>
            </a:r>
          </a:p>
          <a:p>
            <a:pPr lvl="1" eaLnBrk="1" hangingPunct="1">
              <a:lnSpc>
                <a:spcPct val="90000"/>
              </a:lnSpc>
              <a:buFontTx/>
              <a:buNone/>
            </a:pPr>
            <a:r>
              <a:rPr lang="en-GB" altLang="en-US" sz="2000">
                <a:solidFill>
                  <a:srgbClr val="000000"/>
                </a:solidFill>
              </a:rPr>
              <a:t>b) agree</a:t>
            </a:r>
          </a:p>
          <a:p>
            <a:pPr lvl="1" eaLnBrk="1" hangingPunct="1">
              <a:lnSpc>
                <a:spcPct val="90000"/>
              </a:lnSpc>
              <a:buFontTx/>
              <a:buNone/>
            </a:pPr>
            <a:r>
              <a:rPr lang="en-GB" altLang="en-US" sz="2000">
                <a:solidFill>
                  <a:srgbClr val="000000"/>
                </a:solidFill>
              </a:rPr>
              <a:t>c) unsure</a:t>
            </a:r>
          </a:p>
          <a:p>
            <a:pPr lvl="1" eaLnBrk="1" hangingPunct="1">
              <a:lnSpc>
                <a:spcPct val="90000"/>
              </a:lnSpc>
              <a:buFontTx/>
              <a:buNone/>
            </a:pPr>
            <a:r>
              <a:rPr lang="en-GB" altLang="en-US" sz="2000">
                <a:solidFill>
                  <a:srgbClr val="000000"/>
                </a:solidFill>
              </a:rPr>
              <a:t>d) disagree</a:t>
            </a:r>
          </a:p>
          <a:p>
            <a:pPr lvl="1" eaLnBrk="1" hangingPunct="1">
              <a:lnSpc>
                <a:spcPct val="90000"/>
              </a:lnSpc>
              <a:buFontTx/>
              <a:buNone/>
            </a:pPr>
            <a:r>
              <a:rPr lang="en-GB" altLang="en-US" sz="2000">
                <a:solidFill>
                  <a:srgbClr val="000000"/>
                </a:solidFill>
              </a:rPr>
              <a:t>e) strongly agree</a:t>
            </a:r>
          </a:p>
          <a:p>
            <a:pPr eaLnBrk="1" hangingPunct="1"/>
            <a:endParaRPr lang="en-IE"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54FED-3AAB-4CE6-95F5-9F8AD857E13E}"/>
              </a:ext>
            </a:extLst>
          </p:cNvPr>
          <p:cNvSpPr>
            <a:spLocks noGrp="1"/>
          </p:cNvSpPr>
          <p:nvPr>
            <p:ph type="title"/>
          </p:nvPr>
        </p:nvSpPr>
        <p:spPr/>
        <p:txBody>
          <a:bodyPr/>
          <a:lstStyle/>
          <a:p>
            <a:pPr algn="ctr">
              <a:defRPr/>
            </a:pPr>
            <a:r>
              <a:rPr lang="en-IE" dirty="0">
                <a:solidFill>
                  <a:schemeClr val="accent1">
                    <a:satMod val="150000"/>
                  </a:schemeClr>
                </a:solidFill>
              </a:rPr>
              <a:t>Examples: Personality Tests</a:t>
            </a:r>
          </a:p>
        </p:txBody>
      </p:sp>
      <p:sp>
        <p:nvSpPr>
          <p:cNvPr id="3" name="Content Placeholder 2">
            <a:extLst>
              <a:ext uri="{FF2B5EF4-FFF2-40B4-BE49-F238E27FC236}">
                <a16:creationId xmlns:a16="http://schemas.microsoft.com/office/drawing/2014/main" id="{BDA65933-1190-4DB9-B391-7D43CC1EF5B1}"/>
              </a:ext>
            </a:extLst>
          </p:cNvPr>
          <p:cNvSpPr>
            <a:spLocks noGrp="1"/>
          </p:cNvSpPr>
          <p:nvPr>
            <p:ph idx="1"/>
          </p:nvPr>
        </p:nvSpPr>
        <p:spPr/>
        <p:txBody>
          <a:bodyPr rtlCol="0">
            <a:normAutofit/>
          </a:bodyPr>
          <a:lstStyle/>
          <a:p>
            <a:pPr marL="438912" indent="-320040">
              <a:spcBef>
                <a:spcPts val="0"/>
              </a:spcBef>
              <a:spcAft>
                <a:spcPts val="0"/>
              </a:spcAft>
              <a:buNone/>
              <a:defRPr/>
            </a:pPr>
            <a:r>
              <a:rPr lang="en-GB" b="1" dirty="0" err="1">
                <a:solidFill>
                  <a:srgbClr val="000000"/>
                </a:solidFill>
              </a:rPr>
              <a:t>Ipsative</a:t>
            </a:r>
            <a:r>
              <a:rPr lang="en-GB" b="1" dirty="0">
                <a:solidFill>
                  <a:srgbClr val="000000"/>
                </a:solidFill>
              </a:rPr>
              <a:t> (i.e. forced choice) </a:t>
            </a:r>
          </a:p>
          <a:p>
            <a:pPr marL="438912" indent="-320040">
              <a:spcBef>
                <a:spcPts val="0"/>
              </a:spcBef>
              <a:spcAft>
                <a:spcPts val="0"/>
              </a:spcAft>
              <a:buFont typeface="Wingdings 2"/>
              <a:buChar char=""/>
              <a:defRPr/>
            </a:pPr>
            <a:r>
              <a:rPr lang="en-GB" b="1" dirty="0">
                <a:solidFill>
                  <a:srgbClr val="000000"/>
                </a:solidFill>
              </a:rPr>
              <a:t>Would you rather work with people who are: </a:t>
            </a:r>
            <a:endParaRPr lang="en-GB" dirty="0">
              <a:solidFill>
                <a:srgbClr val="000000"/>
              </a:solidFill>
            </a:endParaRPr>
          </a:p>
          <a:p>
            <a:pPr marL="438912" indent="-320040">
              <a:spcBef>
                <a:spcPts val="0"/>
              </a:spcBef>
              <a:spcAft>
                <a:spcPts val="0"/>
              </a:spcAft>
              <a:buNone/>
              <a:defRPr/>
            </a:pPr>
            <a:r>
              <a:rPr lang="en-GB" dirty="0">
                <a:solidFill>
                  <a:srgbClr val="000000"/>
                </a:solidFill>
              </a:rPr>
              <a:t>	a) generous 	b) hard-working </a:t>
            </a:r>
          </a:p>
          <a:p>
            <a:pPr marL="438912" indent="-320040">
              <a:spcBef>
                <a:spcPts val="0"/>
              </a:spcBef>
              <a:spcAft>
                <a:spcPts val="0"/>
              </a:spcAft>
              <a:buNone/>
              <a:defRPr/>
            </a:pPr>
            <a:endParaRPr lang="en-GB" dirty="0">
              <a:solidFill>
                <a:srgbClr val="000000"/>
              </a:solidFill>
            </a:endParaRPr>
          </a:p>
          <a:p>
            <a:pPr marL="438912" indent="-320040">
              <a:spcBef>
                <a:spcPts val="0"/>
              </a:spcBef>
              <a:spcAft>
                <a:spcPts val="0"/>
              </a:spcAft>
              <a:buFont typeface="Wingdings 2"/>
              <a:buChar char=""/>
              <a:defRPr/>
            </a:pPr>
            <a:r>
              <a:rPr lang="en-GB" b="1" dirty="0">
                <a:solidFill>
                  <a:srgbClr val="000000"/>
                </a:solidFill>
              </a:rPr>
              <a:t>Do you feel that it is best: </a:t>
            </a:r>
            <a:endParaRPr lang="en-GB" dirty="0">
              <a:solidFill>
                <a:srgbClr val="000000"/>
              </a:solidFill>
            </a:endParaRPr>
          </a:p>
          <a:p>
            <a:pPr marL="438912" indent="-320040">
              <a:spcBef>
                <a:spcPts val="0"/>
              </a:spcBef>
              <a:spcAft>
                <a:spcPts val="0"/>
              </a:spcAft>
              <a:buNone/>
              <a:defRPr/>
            </a:pPr>
            <a:r>
              <a:rPr lang="en-GB" dirty="0">
                <a:solidFill>
                  <a:srgbClr val="000000"/>
                </a:solidFill>
              </a:rPr>
              <a:t>	a) to be too assertive b) not to be sufficiently assertive </a:t>
            </a:r>
          </a:p>
          <a:p>
            <a:pPr marL="438912" indent="-320040">
              <a:spcBef>
                <a:spcPts val="0"/>
              </a:spcBef>
              <a:spcAft>
                <a:spcPts val="0"/>
              </a:spcAft>
              <a:buNone/>
              <a:defRPr/>
            </a:pPr>
            <a:endParaRPr lang="en-GB" dirty="0">
              <a:solidFill>
                <a:srgbClr val="000000"/>
              </a:solidFill>
            </a:endParaRPr>
          </a:p>
          <a:p>
            <a:pPr marL="438912" indent="-320040">
              <a:spcBef>
                <a:spcPts val="0"/>
              </a:spcBef>
              <a:spcAft>
                <a:spcPts val="0"/>
              </a:spcAft>
              <a:buFont typeface="Wingdings 2"/>
              <a:buChar char=""/>
              <a:defRPr/>
            </a:pPr>
            <a:r>
              <a:rPr lang="en-GB" b="1" dirty="0">
                <a:solidFill>
                  <a:srgbClr val="000000"/>
                </a:solidFill>
              </a:rPr>
              <a:t>Which word appeals to you most in each of the following pairs? </a:t>
            </a:r>
          </a:p>
          <a:p>
            <a:pPr marL="438912" indent="-320040">
              <a:spcBef>
                <a:spcPts val="0"/>
              </a:spcBef>
              <a:spcAft>
                <a:spcPts val="0"/>
              </a:spcAft>
              <a:buNone/>
              <a:defRPr/>
            </a:pPr>
            <a:r>
              <a:rPr lang="en-GB" dirty="0">
                <a:solidFill>
                  <a:srgbClr val="000000"/>
                </a:solidFill>
              </a:rPr>
              <a:t>	a) effective 	b) pleasant 	c) loyal d) ambitious </a:t>
            </a:r>
          </a:p>
          <a:p>
            <a:pPr marL="438912" indent="-320040">
              <a:spcBef>
                <a:spcPts val="0"/>
              </a:spcBef>
              <a:spcAft>
                <a:spcPts val="0"/>
              </a:spcAft>
              <a:buFont typeface="Wingdings 2"/>
              <a:buChar char=""/>
              <a:defRPr/>
            </a:pPr>
            <a:endParaRPr lang="en-IE"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B326D-19E4-4C1A-A4F3-6A3E535CCF51}"/>
              </a:ext>
            </a:extLst>
          </p:cNvPr>
          <p:cNvSpPr>
            <a:spLocks noGrp="1"/>
          </p:cNvSpPr>
          <p:nvPr>
            <p:ph type="title"/>
          </p:nvPr>
        </p:nvSpPr>
        <p:spPr/>
        <p:txBody>
          <a:bodyPr/>
          <a:lstStyle/>
          <a:p>
            <a:pPr algn="ctr">
              <a:defRPr/>
            </a:pPr>
            <a:r>
              <a:rPr lang="en-IE" dirty="0">
                <a:solidFill>
                  <a:schemeClr val="accent1">
                    <a:satMod val="150000"/>
                  </a:schemeClr>
                </a:solidFill>
              </a:rPr>
              <a:t>Examples: Personality Tests</a:t>
            </a:r>
          </a:p>
        </p:txBody>
      </p:sp>
      <p:sp>
        <p:nvSpPr>
          <p:cNvPr id="3" name="Content Placeholder 2">
            <a:extLst>
              <a:ext uri="{FF2B5EF4-FFF2-40B4-BE49-F238E27FC236}">
                <a16:creationId xmlns:a16="http://schemas.microsoft.com/office/drawing/2014/main" id="{5B8C8E17-CDDB-4214-8D77-9312AAC5F72B}"/>
              </a:ext>
            </a:extLst>
          </p:cNvPr>
          <p:cNvSpPr>
            <a:spLocks noGrp="1"/>
          </p:cNvSpPr>
          <p:nvPr>
            <p:ph idx="1"/>
          </p:nvPr>
        </p:nvSpPr>
        <p:spPr/>
        <p:txBody>
          <a:bodyPr rtlCol="0">
            <a:normAutofit/>
          </a:bodyPr>
          <a:lstStyle/>
          <a:p>
            <a:pPr marL="438912" indent="-320040">
              <a:spcBef>
                <a:spcPts val="0"/>
              </a:spcBef>
              <a:spcAft>
                <a:spcPts val="0"/>
              </a:spcAft>
              <a:buNone/>
              <a:defRPr/>
            </a:pPr>
            <a:r>
              <a:rPr lang="en-GB" b="1" dirty="0">
                <a:solidFill>
                  <a:srgbClr val="000000"/>
                </a:solidFill>
              </a:rPr>
              <a:t>Which of the following is most, and which is least, appropriate in describing your personality?</a:t>
            </a:r>
            <a:endParaRPr lang="en-GB" dirty="0">
              <a:solidFill>
                <a:srgbClr val="000000"/>
              </a:solidFill>
            </a:endParaRPr>
          </a:p>
          <a:p>
            <a:pPr marL="438912" indent="-320040">
              <a:spcBef>
                <a:spcPts val="0"/>
              </a:spcBef>
              <a:spcAft>
                <a:spcPts val="0"/>
              </a:spcAft>
              <a:buNone/>
              <a:defRPr/>
            </a:pPr>
            <a:endParaRPr lang="en-GB" dirty="0">
              <a:solidFill>
                <a:srgbClr val="000000"/>
              </a:solidFill>
            </a:endParaRPr>
          </a:p>
          <a:p>
            <a:pPr marL="438912" indent="-320040">
              <a:spcBef>
                <a:spcPts val="0"/>
              </a:spcBef>
              <a:spcAft>
                <a:spcPts val="0"/>
              </a:spcAft>
              <a:buNone/>
              <a:defRPr/>
            </a:pPr>
            <a:r>
              <a:rPr lang="en-GB" dirty="0">
                <a:solidFill>
                  <a:srgbClr val="000000"/>
                </a:solidFill>
              </a:rPr>
              <a:t>1. (a) kind  (b) influential (c) respectful (d) inventive </a:t>
            </a:r>
          </a:p>
          <a:p>
            <a:pPr marL="438912" indent="-320040">
              <a:spcBef>
                <a:spcPts val="0"/>
              </a:spcBef>
              <a:spcAft>
                <a:spcPts val="0"/>
              </a:spcAft>
              <a:buNone/>
              <a:defRPr/>
            </a:pPr>
            <a:endParaRPr lang="en-GB" dirty="0">
              <a:solidFill>
                <a:srgbClr val="000000"/>
              </a:solidFill>
            </a:endParaRPr>
          </a:p>
          <a:p>
            <a:pPr marL="438912" indent="-320040">
              <a:spcBef>
                <a:spcPts val="0"/>
              </a:spcBef>
              <a:spcAft>
                <a:spcPts val="0"/>
              </a:spcAft>
              <a:buNone/>
              <a:defRPr/>
            </a:pPr>
            <a:endParaRPr lang="en-GB" dirty="0">
              <a:solidFill>
                <a:srgbClr val="000000"/>
              </a:solidFill>
            </a:endParaRPr>
          </a:p>
          <a:p>
            <a:pPr marL="438912" indent="-320040">
              <a:spcBef>
                <a:spcPts val="0"/>
              </a:spcBef>
              <a:spcAft>
                <a:spcPts val="0"/>
              </a:spcAft>
              <a:buNone/>
              <a:defRPr/>
            </a:pPr>
            <a:r>
              <a:rPr lang="en-GB" dirty="0">
                <a:solidFill>
                  <a:srgbClr val="000000"/>
                </a:solidFill>
              </a:rPr>
              <a:t>2.  (a) refined (b) adventurous (c) tactful (d) content </a:t>
            </a:r>
          </a:p>
          <a:p>
            <a:pPr marL="438912" indent="-320040">
              <a:spcBef>
                <a:spcPts val="0"/>
              </a:spcBef>
              <a:spcAft>
                <a:spcPts val="0"/>
              </a:spcAft>
              <a:buFont typeface="Wingdings 2"/>
              <a:buChar char=""/>
              <a:defRPr/>
            </a:pPr>
            <a:endParaRPr lang="en-IE"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20208-1323-4362-BDD0-33C1148E217F}"/>
              </a:ext>
            </a:extLst>
          </p:cNvPr>
          <p:cNvSpPr>
            <a:spLocks noGrp="1"/>
          </p:cNvSpPr>
          <p:nvPr>
            <p:ph type="title"/>
          </p:nvPr>
        </p:nvSpPr>
        <p:spPr>
          <a:xfrm>
            <a:off x="1097280" y="286603"/>
            <a:ext cx="10058400" cy="1450757"/>
          </a:xfrm>
        </p:spPr>
        <p:txBody>
          <a:bodyPr>
            <a:normAutofit/>
          </a:bodyPr>
          <a:lstStyle/>
          <a:p>
            <a:pPr>
              <a:defRPr/>
            </a:pPr>
            <a:r>
              <a:rPr lang="en-IE"/>
              <a:t>Choosing the Test</a:t>
            </a:r>
          </a:p>
        </p:txBody>
      </p:sp>
      <p:graphicFrame>
        <p:nvGraphicFramePr>
          <p:cNvPr id="5" name="Content Placeholder 2">
            <a:extLst>
              <a:ext uri="{FF2B5EF4-FFF2-40B4-BE49-F238E27FC236}">
                <a16:creationId xmlns:a16="http://schemas.microsoft.com/office/drawing/2014/main" id="{D8042BC0-CB29-BF7A-2C0C-25C528B3242C}"/>
              </a:ext>
            </a:extLst>
          </p:cNvPr>
          <p:cNvGraphicFramePr>
            <a:graphicFrameLocks noGrp="1"/>
          </p:cNvGraphicFramePr>
          <p:nvPr>
            <p:ph idx="1"/>
            <p:extLst>
              <p:ext uri="{D42A27DB-BD31-4B8C-83A1-F6EECF244321}">
                <p14:modId xmlns:p14="http://schemas.microsoft.com/office/powerpoint/2010/main" val="3355992309"/>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F025B-2768-4170-BF83-6BB3DA1FC980}"/>
              </a:ext>
            </a:extLst>
          </p:cNvPr>
          <p:cNvSpPr>
            <a:spLocks noGrp="1"/>
          </p:cNvSpPr>
          <p:nvPr>
            <p:ph type="title"/>
          </p:nvPr>
        </p:nvSpPr>
        <p:spPr>
          <a:xfrm>
            <a:off x="1097280" y="286603"/>
            <a:ext cx="10058400" cy="1450757"/>
          </a:xfrm>
        </p:spPr>
        <p:txBody>
          <a:bodyPr>
            <a:normAutofit/>
          </a:bodyPr>
          <a:lstStyle/>
          <a:p>
            <a:pPr>
              <a:defRPr/>
            </a:pPr>
            <a:r>
              <a:rPr lang="en-IE"/>
              <a:t>Is testing appropriate? </a:t>
            </a:r>
          </a:p>
        </p:txBody>
      </p:sp>
      <p:graphicFrame>
        <p:nvGraphicFramePr>
          <p:cNvPr id="5" name="Content Placeholder 2">
            <a:extLst>
              <a:ext uri="{FF2B5EF4-FFF2-40B4-BE49-F238E27FC236}">
                <a16:creationId xmlns:a16="http://schemas.microsoft.com/office/drawing/2014/main" id="{68C7CEE5-5155-B588-09D4-E9DF9E35047D}"/>
              </a:ext>
            </a:extLst>
          </p:cNvPr>
          <p:cNvGraphicFramePr>
            <a:graphicFrameLocks noGrp="1"/>
          </p:cNvGraphicFramePr>
          <p:nvPr>
            <p:ph idx="1"/>
            <p:extLst>
              <p:ext uri="{D42A27DB-BD31-4B8C-83A1-F6EECF244321}">
                <p14:modId xmlns:p14="http://schemas.microsoft.com/office/powerpoint/2010/main" val="3503394802"/>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EB7A6-DEDC-41B0-B000-266450B7BD8A}"/>
              </a:ext>
            </a:extLst>
          </p:cNvPr>
          <p:cNvSpPr>
            <a:spLocks noGrp="1"/>
          </p:cNvSpPr>
          <p:nvPr>
            <p:ph type="title"/>
          </p:nvPr>
        </p:nvSpPr>
        <p:spPr>
          <a:xfrm>
            <a:off x="1981200" y="152400"/>
            <a:ext cx="8229600" cy="1251062"/>
          </a:xfrm>
        </p:spPr>
        <p:txBody>
          <a:bodyPr/>
          <a:lstStyle/>
          <a:p>
            <a:pPr algn="ctr">
              <a:defRPr/>
            </a:pPr>
            <a:r>
              <a:rPr lang="en-IE" dirty="0">
                <a:solidFill>
                  <a:schemeClr val="accent1">
                    <a:satMod val="150000"/>
                  </a:schemeClr>
                </a:solidFill>
              </a:rPr>
              <a:t>Professional Issues: Testing</a:t>
            </a:r>
            <a:br>
              <a:rPr lang="en-IE" dirty="0">
                <a:solidFill>
                  <a:schemeClr val="accent1">
                    <a:satMod val="150000"/>
                  </a:schemeClr>
                </a:solidFill>
              </a:rPr>
            </a:br>
            <a:r>
              <a:rPr lang="en-IE" sz="2700" dirty="0">
                <a:solidFill>
                  <a:schemeClr val="accent1">
                    <a:satMod val="150000"/>
                  </a:schemeClr>
                </a:solidFill>
              </a:rPr>
              <a:t>(see www.psychtesting.org.uk)</a:t>
            </a:r>
          </a:p>
        </p:txBody>
      </p:sp>
      <p:sp>
        <p:nvSpPr>
          <p:cNvPr id="3" name="Content Placeholder 2">
            <a:extLst>
              <a:ext uri="{FF2B5EF4-FFF2-40B4-BE49-F238E27FC236}">
                <a16:creationId xmlns:a16="http://schemas.microsoft.com/office/drawing/2014/main" id="{646B6366-BEFA-4475-9193-B68949654DB0}"/>
              </a:ext>
            </a:extLst>
          </p:cNvPr>
          <p:cNvSpPr>
            <a:spLocks noGrp="1"/>
          </p:cNvSpPr>
          <p:nvPr>
            <p:ph sz="half" idx="1"/>
          </p:nvPr>
        </p:nvSpPr>
        <p:spPr>
          <a:xfrm>
            <a:off x="1981200" y="1773239"/>
            <a:ext cx="4038600" cy="4624387"/>
          </a:xfrm>
        </p:spPr>
        <p:txBody>
          <a:bodyPr rtlCol="0">
            <a:normAutofit/>
          </a:bodyPr>
          <a:lstStyle/>
          <a:p>
            <a:pPr marL="438912" indent="-320040">
              <a:spcBef>
                <a:spcPts val="0"/>
              </a:spcBef>
              <a:spcAft>
                <a:spcPts val="0"/>
              </a:spcAft>
              <a:buFont typeface="Wingdings 2"/>
              <a:buChar char=""/>
              <a:defRPr/>
            </a:pPr>
            <a:r>
              <a:rPr lang="en-US" dirty="0"/>
              <a:t>Technical standards</a:t>
            </a:r>
          </a:p>
          <a:p>
            <a:pPr marL="438912" indent="-320040">
              <a:spcBef>
                <a:spcPts val="0"/>
              </a:spcBef>
              <a:spcAft>
                <a:spcPts val="0"/>
              </a:spcAft>
              <a:buFont typeface="Wingdings 2"/>
              <a:buChar char=""/>
              <a:defRPr/>
            </a:pPr>
            <a:endParaRPr lang="en-US" dirty="0"/>
          </a:p>
          <a:p>
            <a:pPr marL="438912" indent="-320040">
              <a:spcBef>
                <a:spcPts val="0"/>
              </a:spcBef>
              <a:spcAft>
                <a:spcPts val="0"/>
              </a:spcAft>
              <a:buFont typeface="Wingdings 2"/>
              <a:buChar char=""/>
              <a:defRPr/>
            </a:pPr>
            <a:r>
              <a:rPr lang="en-US" dirty="0"/>
              <a:t>Restricting use to situations of proven worth</a:t>
            </a:r>
          </a:p>
          <a:p>
            <a:pPr marL="438912" indent="-320040">
              <a:spcBef>
                <a:spcPts val="0"/>
              </a:spcBef>
              <a:spcAft>
                <a:spcPts val="0"/>
              </a:spcAft>
              <a:buFont typeface="Wingdings 2"/>
              <a:buChar char=""/>
              <a:defRPr/>
            </a:pPr>
            <a:endParaRPr lang="en-US" dirty="0"/>
          </a:p>
          <a:p>
            <a:pPr marL="438912" indent="-320040">
              <a:spcBef>
                <a:spcPts val="0"/>
              </a:spcBef>
              <a:spcAft>
                <a:spcPts val="0"/>
              </a:spcAft>
              <a:buFont typeface="Wingdings 2"/>
              <a:buChar char=""/>
              <a:defRPr/>
            </a:pPr>
            <a:r>
              <a:rPr lang="en-US" dirty="0"/>
              <a:t>Using specially trained staff</a:t>
            </a:r>
          </a:p>
          <a:p>
            <a:pPr marL="438912" indent="-320040">
              <a:spcBef>
                <a:spcPts val="0"/>
              </a:spcBef>
              <a:spcAft>
                <a:spcPts val="0"/>
              </a:spcAft>
              <a:buFont typeface="Wingdings 2"/>
              <a:buChar char=""/>
              <a:defRPr/>
            </a:pPr>
            <a:endParaRPr lang="en-US" dirty="0"/>
          </a:p>
          <a:p>
            <a:pPr marL="438912" indent="-320040">
              <a:spcBef>
                <a:spcPts val="0"/>
              </a:spcBef>
              <a:spcAft>
                <a:spcPts val="0"/>
              </a:spcAft>
              <a:buFont typeface="Wingdings 2"/>
              <a:buChar char=""/>
              <a:defRPr/>
            </a:pPr>
            <a:r>
              <a:rPr lang="en-US" dirty="0"/>
              <a:t>Explaining the reasons for testing</a:t>
            </a:r>
          </a:p>
          <a:p>
            <a:pPr marL="438912" indent="-320040">
              <a:spcBef>
                <a:spcPts val="0"/>
              </a:spcBef>
              <a:spcAft>
                <a:spcPts val="0"/>
              </a:spcAft>
              <a:buFont typeface="Wingdings 2"/>
              <a:buChar char=""/>
              <a:defRPr/>
            </a:pPr>
            <a:endParaRPr lang="en-US" dirty="0"/>
          </a:p>
          <a:p>
            <a:pPr marL="438912" indent="-320040">
              <a:spcBef>
                <a:spcPts val="0"/>
              </a:spcBef>
              <a:spcAft>
                <a:spcPts val="0"/>
              </a:spcAft>
              <a:buFont typeface="Wingdings 2"/>
              <a:buChar char=""/>
              <a:defRPr/>
            </a:pPr>
            <a:r>
              <a:rPr lang="en-US" dirty="0"/>
              <a:t>Giving information in advance of testing</a:t>
            </a:r>
          </a:p>
          <a:p>
            <a:pPr marL="438912" indent="-320040">
              <a:spcBef>
                <a:spcPts val="0"/>
              </a:spcBef>
              <a:spcAft>
                <a:spcPts val="0"/>
              </a:spcAft>
              <a:buFont typeface="Wingdings 2"/>
              <a:buChar char=""/>
              <a:defRPr/>
            </a:pPr>
            <a:endParaRPr lang="en-US" dirty="0"/>
          </a:p>
          <a:p>
            <a:pPr marL="438912" indent="-320040">
              <a:spcBef>
                <a:spcPts val="0"/>
              </a:spcBef>
              <a:spcAft>
                <a:spcPts val="0"/>
              </a:spcAft>
              <a:buFont typeface="Wingdings 2"/>
              <a:buChar char=""/>
              <a:defRPr/>
            </a:pPr>
            <a:endParaRPr lang="en-US" dirty="0"/>
          </a:p>
          <a:p>
            <a:pPr marL="438912" indent="-320040">
              <a:spcBef>
                <a:spcPts val="0"/>
              </a:spcBef>
              <a:spcAft>
                <a:spcPts val="0"/>
              </a:spcAft>
              <a:buFont typeface="Wingdings 2"/>
              <a:buChar char=""/>
              <a:defRPr/>
            </a:pPr>
            <a:r>
              <a:rPr lang="en-US" dirty="0"/>
              <a:t>Monitoring, evaluating &amp; improving</a:t>
            </a:r>
          </a:p>
          <a:p>
            <a:pPr marL="438912" indent="-320040">
              <a:spcBef>
                <a:spcPts val="0"/>
              </a:spcBef>
              <a:spcAft>
                <a:spcPts val="0"/>
              </a:spcAft>
              <a:buFont typeface="Wingdings 2"/>
              <a:buChar char=""/>
              <a:defRPr/>
            </a:pPr>
            <a:endParaRPr lang="en-IE" dirty="0"/>
          </a:p>
        </p:txBody>
      </p:sp>
      <p:sp>
        <p:nvSpPr>
          <p:cNvPr id="4" name="Content Placeholder 3">
            <a:extLst>
              <a:ext uri="{FF2B5EF4-FFF2-40B4-BE49-F238E27FC236}">
                <a16:creationId xmlns:a16="http://schemas.microsoft.com/office/drawing/2014/main" id="{8AADFD63-5C90-4528-ABA6-2798FFD969C7}"/>
              </a:ext>
            </a:extLst>
          </p:cNvPr>
          <p:cNvSpPr>
            <a:spLocks noGrp="1"/>
          </p:cNvSpPr>
          <p:nvPr>
            <p:ph sz="half" idx="2"/>
          </p:nvPr>
        </p:nvSpPr>
        <p:spPr>
          <a:xfrm>
            <a:off x="6172200" y="1773239"/>
            <a:ext cx="4038600" cy="4624387"/>
          </a:xfrm>
        </p:spPr>
        <p:txBody>
          <a:bodyPr rtlCol="0">
            <a:normAutofit/>
          </a:bodyPr>
          <a:lstStyle/>
          <a:p>
            <a:pPr marL="438912" indent="-320040">
              <a:spcBef>
                <a:spcPts val="0"/>
              </a:spcBef>
              <a:spcAft>
                <a:spcPts val="0"/>
              </a:spcAft>
              <a:buFont typeface="Wingdings 2"/>
              <a:buChar char=""/>
              <a:defRPr/>
            </a:pPr>
            <a:r>
              <a:rPr lang="en-US" dirty="0"/>
              <a:t>The testing environment</a:t>
            </a:r>
          </a:p>
          <a:p>
            <a:pPr marL="438912" indent="-320040">
              <a:spcBef>
                <a:spcPts val="0"/>
              </a:spcBef>
              <a:spcAft>
                <a:spcPts val="0"/>
              </a:spcAft>
              <a:buFont typeface="Wingdings 2"/>
              <a:buChar char=""/>
              <a:defRPr/>
            </a:pPr>
            <a:endParaRPr lang="en-US" dirty="0"/>
          </a:p>
          <a:p>
            <a:pPr marL="438912" indent="-320040">
              <a:spcBef>
                <a:spcPts val="0"/>
              </a:spcBef>
              <a:spcAft>
                <a:spcPts val="0"/>
              </a:spcAft>
              <a:buFont typeface="Wingdings 2"/>
              <a:buChar char=""/>
              <a:defRPr/>
            </a:pPr>
            <a:r>
              <a:rPr lang="en-US" dirty="0"/>
              <a:t>Accurate scoring</a:t>
            </a:r>
          </a:p>
          <a:p>
            <a:pPr marL="438912" indent="-320040">
              <a:spcBef>
                <a:spcPts val="0"/>
              </a:spcBef>
              <a:spcAft>
                <a:spcPts val="0"/>
              </a:spcAft>
              <a:buFont typeface="Wingdings 2"/>
              <a:buChar char=""/>
              <a:defRPr/>
            </a:pPr>
            <a:endParaRPr lang="en-US" dirty="0"/>
          </a:p>
          <a:p>
            <a:pPr marL="438912" indent="-320040">
              <a:spcBef>
                <a:spcPts val="0"/>
              </a:spcBef>
              <a:spcAft>
                <a:spcPts val="0"/>
              </a:spcAft>
              <a:buFont typeface="Wingdings 2"/>
              <a:buChar char=""/>
              <a:defRPr/>
            </a:pPr>
            <a:r>
              <a:rPr lang="en-US" dirty="0"/>
              <a:t>Interpretation</a:t>
            </a:r>
          </a:p>
          <a:p>
            <a:pPr marL="438912" indent="-320040">
              <a:spcBef>
                <a:spcPts val="0"/>
              </a:spcBef>
              <a:spcAft>
                <a:spcPts val="0"/>
              </a:spcAft>
              <a:buFont typeface="Wingdings 2"/>
              <a:buChar char=""/>
              <a:defRPr/>
            </a:pPr>
            <a:endParaRPr lang="en-US" dirty="0"/>
          </a:p>
          <a:p>
            <a:pPr marL="438912" indent="-320040">
              <a:spcBef>
                <a:spcPts val="0"/>
              </a:spcBef>
              <a:spcAft>
                <a:spcPts val="0"/>
              </a:spcAft>
              <a:buFont typeface="Wingdings 2"/>
              <a:buChar char=""/>
              <a:defRPr/>
            </a:pPr>
            <a:r>
              <a:rPr lang="en-US" dirty="0"/>
              <a:t>Giving feedback</a:t>
            </a:r>
          </a:p>
          <a:p>
            <a:pPr marL="438912" indent="-320040">
              <a:spcBef>
                <a:spcPts val="0"/>
              </a:spcBef>
              <a:spcAft>
                <a:spcPts val="0"/>
              </a:spcAft>
              <a:buFont typeface="Wingdings 2"/>
              <a:buChar char=""/>
              <a:defRPr/>
            </a:pPr>
            <a:endParaRPr lang="en-US" dirty="0"/>
          </a:p>
          <a:p>
            <a:pPr marL="438912" indent="-320040">
              <a:spcBef>
                <a:spcPts val="0"/>
              </a:spcBef>
              <a:spcAft>
                <a:spcPts val="0"/>
              </a:spcAft>
              <a:buFont typeface="Wingdings 2"/>
              <a:buChar char=""/>
              <a:defRPr/>
            </a:pPr>
            <a:r>
              <a:rPr lang="en-US" dirty="0"/>
              <a:t>Availability of records of testing</a:t>
            </a:r>
          </a:p>
          <a:p>
            <a:pPr marL="438912" indent="-320040">
              <a:spcBef>
                <a:spcPts val="0"/>
              </a:spcBef>
              <a:spcAft>
                <a:spcPts val="0"/>
              </a:spcAft>
              <a:buFont typeface="Wingdings 2"/>
              <a:buChar char=""/>
              <a:defRPr/>
            </a:pPr>
            <a:endParaRPr lang="en-US" dirty="0"/>
          </a:p>
          <a:p>
            <a:pPr marL="438912" indent="-320040">
              <a:spcBef>
                <a:spcPts val="0"/>
              </a:spcBef>
              <a:spcAft>
                <a:spcPts val="0"/>
              </a:spcAft>
              <a:buFont typeface="Wingdings 2"/>
              <a:buChar char=""/>
              <a:defRPr/>
            </a:pPr>
            <a:r>
              <a:rPr lang="en-US" dirty="0"/>
              <a:t>Appropriate use of records of testing</a:t>
            </a:r>
          </a:p>
          <a:p>
            <a:pPr marL="438912" indent="-320040">
              <a:spcBef>
                <a:spcPts val="0"/>
              </a:spcBef>
              <a:spcAft>
                <a:spcPts val="0"/>
              </a:spcAft>
              <a:buFont typeface="Wingdings 2"/>
              <a:buChar char=""/>
              <a:defRPr/>
            </a:pPr>
            <a:endParaRPr lang="en-IE"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4DEFF-DF62-4C25-81FF-92A707334D5F}"/>
              </a:ext>
            </a:extLst>
          </p:cNvPr>
          <p:cNvSpPr>
            <a:spLocks noGrp="1"/>
          </p:cNvSpPr>
          <p:nvPr>
            <p:ph type="title"/>
          </p:nvPr>
        </p:nvSpPr>
        <p:spPr>
          <a:xfrm>
            <a:off x="1097280" y="286603"/>
            <a:ext cx="10058400" cy="1450757"/>
          </a:xfrm>
        </p:spPr>
        <p:txBody>
          <a:bodyPr>
            <a:normAutofit/>
          </a:bodyPr>
          <a:lstStyle/>
          <a:p>
            <a:pPr>
              <a:defRPr/>
            </a:pPr>
            <a:r>
              <a:rPr lang="en-IE"/>
              <a:t>Controversial Issues &amp; </a:t>
            </a:r>
            <a:br>
              <a:rPr lang="en-IE"/>
            </a:br>
            <a:r>
              <a:rPr lang="en-IE"/>
              <a:t>Possible Problems</a:t>
            </a:r>
          </a:p>
        </p:txBody>
      </p:sp>
      <p:graphicFrame>
        <p:nvGraphicFramePr>
          <p:cNvPr id="5" name="Content Placeholder 2">
            <a:extLst>
              <a:ext uri="{FF2B5EF4-FFF2-40B4-BE49-F238E27FC236}">
                <a16:creationId xmlns:a16="http://schemas.microsoft.com/office/drawing/2014/main" id="{2EEB8BF8-1ACA-B5C7-DD5B-BECE8695BE8A}"/>
              </a:ext>
            </a:extLst>
          </p:cNvPr>
          <p:cNvGraphicFramePr>
            <a:graphicFrameLocks noGrp="1"/>
          </p:cNvGraphicFramePr>
          <p:nvPr>
            <p:ph idx="1"/>
            <p:extLst>
              <p:ext uri="{D42A27DB-BD31-4B8C-83A1-F6EECF244321}">
                <p14:modId xmlns:p14="http://schemas.microsoft.com/office/powerpoint/2010/main" val="2999215763"/>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0AA6468-80AC-4DDF-9CFB-C7A9507E2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6" y="0"/>
            <a:ext cx="458473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Title 5">
            <a:extLst>
              <a:ext uri="{FF2B5EF4-FFF2-40B4-BE49-F238E27FC236}">
                <a16:creationId xmlns:a16="http://schemas.microsoft.com/office/drawing/2014/main" id="{7B19598A-4492-4D05-AF90-FCEAA3C8D9B6}"/>
              </a:ext>
            </a:extLst>
          </p:cNvPr>
          <p:cNvSpPr>
            <a:spLocks noGrp="1"/>
          </p:cNvSpPr>
          <p:nvPr>
            <p:ph type="ctrTitle"/>
          </p:nvPr>
        </p:nvSpPr>
        <p:spPr>
          <a:xfrm>
            <a:off x="457200" y="640080"/>
            <a:ext cx="3659246" cy="2926080"/>
          </a:xfrm>
        </p:spPr>
        <p:txBody>
          <a:bodyPr>
            <a:normAutofit/>
          </a:bodyPr>
          <a:lstStyle/>
          <a:p>
            <a:pPr>
              <a:defRPr/>
            </a:pPr>
            <a:r>
              <a:rPr lang="en-IE" sz="4100">
                <a:solidFill>
                  <a:srgbClr val="FFFFFF"/>
                </a:solidFill>
              </a:rPr>
              <a:t>Evaluating R &amp; S:</a:t>
            </a:r>
            <a:br>
              <a:rPr lang="en-IE" sz="4100">
                <a:solidFill>
                  <a:srgbClr val="FFFFFF"/>
                </a:solidFill>
              </a:rPr>
            </a:br>
            <a:r>
              <a:rPr lang="en-IE" sz="4100">
                <a:solidFill>
                  <a:srgbClr val="FFFFFF"/>
                </a:solidFill>
              </a:rPr>
              <a:t>An art in the Search of Science?</a:t>
            </a:r>
          </a:p>
        </p:txBody>
      </p:sp>
      <p:pic>
        <p:nvPicPr>
          <p:cNvPr id="8" name="Picture 7" descr="Close up of glass laboratory equipment">
            <a:extLst>
              <a:ext uri="{FF2B5EF4-FFF2-40B4-BE49-F238E27FC236}">
                <a16:creationId xmlns:a16="http://schemas.microsoft.com/office/drawing/2014/main" id="{E6B2815F-22AD-6C95-2DB9-B267D0A454AA}"/>
              </a:ext>
            </a:extLst>
          </p:cNvPr>
          <p:cNvPicPr>
            <a:picLocks noChangeAspect="1"/>
          </p:cNvPicPr>
          <p:nvPr/>
        </p:nvPicPr>
        <p:blipFill rotWithShape="1">
          <a:blip r:embed="rId2"/>
          <a:srcRect l="20980" r="5512" b="-1"/>
          <a:stretch/>
        </p:blipFill>
        <p:spPr>
          <a:xfrm>
            <a:off x="4639733" y="10"/>
            <a:ext cx="7552266" cy="6857990"/>
          </a:xfrm>
          <a:prstGeom prst="rect">
            <a:avLst/>
          </a:prstGeom>
        </p:spPr>
      </p:pic>
      <p:sp>
        <p:nvSpPr>
          <p:cNvPr id="14" name="Rectangle 13">
            <a:extLst>
              <a:ext uri="{FF2B5EF4-FFF2-40B4-BE49-F238E27FC236}">
                <a16:creationId xmlns:a16="http://schemas.microsoft.com/office/drawing/2014/main" id="{4AB900CC-5074-4746-A1A4-AF640455B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475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B5993E2-C02B-4335-ABA5-D8EC46555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0B801A2-5622-4BE8-9AD2-C337A2CD0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35A92078-A68B-47B5-B26D-C7BBF25EA33F}"/>
              </a:ext>
            </a:extLst>
          </p:cNvPr>
          <p:cNvSpPr>
            <a:spLocks noGrp="1"/>
          </p:cNvSpPr>
          <p:nvPr>
            <p:ph type="title"/>
          </p:nvPr>
        </p:nvSpPr>
        <p:spPr>
          <a:xfrm>
            <a:off x="492370" y="516835"/>
            <a:ext cx="3084844" cy="5772840"/>
          </a:xfrm>
        </p:spPr>
        <p:txBody>
          <a:bodyPr anchor="ctr">
            <a:normAutofit/>
          </a:bodyPr>
          <a:lstStyle/>
          <a:p>
            <a:pPr>
              <a:defRPr/>
            </a:pPr>
            <a:r>
              <a:rPr lang="en-IE" sz="3600">
                <a:solidFill>
                  <a:srgbClr val="FFFFFF"/>
                </a:solidFill>
              </a:rPr>
              <a:t>Practicality</a:t>
            </a:r>
          </a:p>
        </p:txBody>
      </p:sp>
      <p:sp>
        <p:nvSpPr>
          <p:cNvPr id="13" name="Rectangle 12">
            <a:extLst>
              <a:ext uri="{FF2B5EF4-FFF2-40B4-BE49-F238E27FC236}">
                <a16:creationId xmlns:a16="http://schemas.microsoft.com/office/drawing/2014/main" id="{B7AF614F-5BC3-4086-99F5-B87C5847A0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aphicFrame>
        <p:nvGraphicFramePr>
          <p:cNvPr id="5" name="Content Placeholder 2">
            <a:extLst>
              <a:ext uri="{FF2B5EF4-FFF2-40B4-BE49-F238E27FC236}">
                <a16:creationId xmlns:a16="http://schemas.microsoft.com/office/drawing/2014/main" id="{E4AD7462-A119-58D3-E694-5915EBBB7C5F}"/>
              </a:ext>
            </a:extLst>
          </p:cNvPr>
          <p:cNvGraphicFramePr>
            <a:graphicFrameLocks noGrp="1"/>
          </p:cNvGraphicFramePr>
          <p:nvPr>
            <p:ph idx="1"/>
            <p:extLst>
              <p:ext uri="{D42A27DB-BD31-4B8C-83A1-F6EECF244321}">
                <p14:modId xmlns:p14="http://schemas.microsoft.com/office/powerpoint/2010/main" val="963436625"/>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http://www.shldirect.com/en/practice-tests</a:t>
            </a:r>
          </a:p>
        </p:txBody>
      </p:sp>
      <p:pic>
        <p:nvPicPr>
          <p:cNvPr id="4" name="Content Placeholder 3"/>
          <p:cNvPicPr>
            <a:picLocks noGrp="1" noChangeAspect="1"/>
          </p:cNvPicPr>
          <p:nvPr>
            <p:ph idx="1"/>
          </p:nvPr>
        </p:nvPicPr>
        <p:blipFill>
          <a:blip r:embed="rId2"/>
          <a:stretch>
            <a:fillRect/>
          </a:stretch>
        </p:blipFill>
        <p:spPr>
          <a:xfrm>
            <a:off x="1981200" y="1646131"/>
            <a:ext cx="8229600" cy="4434103"/>
          </a:xfrm>
          <a:prstGeom prst="rect">
            <a:avLst/>
          </a:prstGeom>
        </p:spPr>
      </p:pic>
    </p:spTree>
    <p:extLst>
      <p:ext uri="{BB962C8B-B14F-4D97-AF65-F5344CB8AC3E}">
        <p14:creationId xmlns:p14="http://schemas.microsoft.com/office/powerpoint/2010/main" val="226139868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half" idx="2"/>
          </p:nvPr>
        </p:nvSpPr>
        <p:spPr/>
        <p:txBody>
          <a:bodyPr/>
          <a:lstStyle/>
          <a:p>
            <a:endParaRPr lang="en-IE" dirty="0"/>
          </a:p>
          <a:p>
            <a:endParaRPr lang="en-IE" dirty="0"/>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30310" y="1146219"/>
            <a:ext cx="3447203" cy="3447203"/>
          </a:xfrm>
          <a:prstGeom prst="rect">
            <a:avLst/>
          </a:prstGeom>
        </p:spPr>
      </p:pic>
      <p:sp>
        <p:nvSpPr>
          <p:cNvPr id="8" name="Title 2"/>
          <p:cNvSpPr>
            <a:spLocks noGrp="1"/>
          </p:cNvSpPr>
          <p:nvPr>
            <p:ph type="title"/>
          </p:nvPr>
        </p:nvSpPr>
        <p:spPr/>
        <p:txBody>
          <a:bodyPr/>
          <a:lstStyle/>
          <a:p>
            <a:pPr algn="ctr"/>
            <a:r>
              <a:rPr lang="en-IE" dirty="0"/>
              <a:t>Thank you for listening</a:t>
            </a:r>
          </a:p>
        </p:txBody>
      </p:sp>
      <p:pic>
        <p:nvPicPr>
          <p:cNvPr id="6" name="Picture 2" descr="Image result for tu dublin logo">
            <a:extLst>
              <a:ext uri="{FF2B5EF4-FFF2-40B4-BE49-F238E27FC236}">
                <a16:creationId xmlns:a16="http://schemas.microsoft.com/office/drawing/2014/main" id="{79ADFD35-FF8D-4187-8135-BD0DADA310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96425" y="0"/>
            <a:ext cx="2695575" cy="1695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742186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ebf7618b-a1c3-441c-8746-09344fadf37b"/>
</p:tagLst>
</file>

<file path=ppt/theme/theme1.xml><?xml version="1.0" encoding="utf-8"?>
<a:theme xmlns:a="http://schemas.openxmlformats.org/drawingml/2006/main" name="Retrospec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3001</TotalTime>
  <Words>6118</Words>
  <Application>Microsoft Office PowerPoint</Application>
  <PresentationFormat>Widescreen</PresentationFormat>
  <Paragraphs>820</Paragraphs>
  <Slides>82</Slides>
  <Notes>20</Notes>
  <HiddenSlides>0</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1</vt:i4>
      </vt:variant>
      <vt:variant>
        <vt:lpstr>Slide Titles</vt:lpstr>
      </vt:variant>
      <vt:variant>
        <vt:i4>82</vt:i4>
      </vt:variant>
    </vt:vector>
  </HeadingPairs>
  <TitlesOfParts>
    <vt:vector size="97" baseType="lpstr">
      <vt:lpstr>Arial</vt:lpstr>
      <vt:lpstr>Calibri</vt:lpstr>
      <vt:lpstr>Calibri Light</vt:lpstr>
      <vt:lpstr>Century Gothic</vt:lpstr>
      <vt:lpstr>Century Schoolbook</vt:lpstr>
      <vt:lpstr>Georgia</vt:lpstr>
      <vt:lpstr>Times</vt:lpstr>
      <vt:lpstr>Times New Roman</vt:lpstr>
      <vt:lpstr>Trebuchet MS</vt:lpstr>
      <vt:lpstr>Verdana</vt:lpstr>
      <vt:lpstr>Wingdings</vt:lpstr>
      <vt:lpstr>Wingdings 2</vt:lpstr>
      <vt:lpstr>Wingdings 3</vt:lpstr>
      <vt:lpstr>Retrospect</vt:lpstr>
      <vt:lpstr>Paint Shop Pro Image</vt:lpstr>
      <vt:lpstr>Introduction to Personality</vt:lpstr>
      <vt:lpstr>Learning Outcomes</vt:lpstr>
      <vt:lpstr>Individual Differences</vt:lpstr>
      <vt:lpstr>PERSONALITY  - KEY QUESTIONS</vt:lpstr>
      <vt:lpstr>PowerPoint Presentation</vt:lpstr>
      <vt:lpstr>PowerPoint Presentation</vt:lpstr>
      <vt:lpstr>DETERMINANTS OF PERSONALITY</vt:lpstr>
      <vt:lpstr>CONSEQUENCES OF DEBATE</vt:lpstr>
      <vt:lpstr>WHAT IS PERSONALITY?</vt:lpstr>
      <vt:lpstr>Why does it matter </vt:lpstr>
      <vt:lpstr>Trait approach</vt:lpstr>
      <vt:lpstr>You Fit a Type, You Have a Trait. </vt:lpstr>
      <vt:lpstr>TYPES AND TRAITS</vt:lpstr>
      <vt:lpstr>TYPES AND TRAITS</vt:lpstr>
      <vt:lpstr>PowerPoint Presentation</vt:lpstr>
      <vt:lpstr>CHAPTER EXERCISE</vt:lpstr>
      <vt:lpstr>PowerPoint Presentation</vt:lpstr>
      <vt:lpstr>Interpretation</vt:lpstr>
      <vt:lpstr>PERSONALITY TYPES A AND B</vt:lpstr>
      <vt:lpstr>PowerPoint Presentation</vt:lpstr>
      <vt:lpstr>PowerPoint Presentation</vt:lpstr>
      <vt:lpstr>PowerPoint Presentation</vt:lpstr>
      <vt:lpstr>Test Yourself</vt:lpstr>
      <vt:lpstr>PowerPoint Presentation</vt:lpstr>
      <vt:lpstr>Decision Time</vt:lpstr>
      <vt:lpstr>T/F: It’s all about how we approach decisions</vt:lpstr>
      <vt:lpstr>Criticism of MBTI </vt:lpstr>
      <vt:lpstr>Criticism of MBTI </vt:lpstr>
      <vt:lpstr>MBTI and Leadership </vt:lpstr>
      <vt:lpstr>MBTI and Big 5 </vt:lpstr>
      <vt:lpstr>Big FIVE Personality Model</vt:lpstr>
      <vt:lpstr>BIG 5 PERSONALITY FACTORS/ TRAIT CLUSTERS</vt:lpstr>
      <vt:lpstr>The Big 5 (OCEAN) (Costa &amp; McCrae, 1990)</vt:lpstr>
      <vt:lpstr>The “Big Five” – Costa &amp; McCrae</vt:lpstr>
      <vt:lpstr>The Big 5 (OCEAN) (Costa &amp; McCrae, 1990)</vt:lpstr>
      <vt:lpstr>PowerPoint Presentation</vt:lpstr>
      <vt:lpstr>PowerPoint Presentation</vt:lpstr>
      <vt:lpstr>PowerPoint Presentation</vt:lpstr>
      <vt:lpstr>PowerPoint Presentation</vt:lpstr>
      <vt:lpstr>PowerPoint Presentation</vt:lpstr>
      <vt:lpstr>PowerPoint Presentation</vt:lpstr>
      <vt:lpstr>The “Big Five” and Behaviour </vt:lpstr>
      <vt:lpstr>PowerPoint Presentation</vt:lpstr>
      <vt:lpstr>Important Note: </vt:lpstr>
      <vt:lpstr>Big Five + Performance</vt:lpstr>
      <vt:lpstr>Big Five + Performance</vt:lpstr>
      <vt:lpstr>Other work-related aspects of personality</vt:lpstr>
      <vt:lpstr>BIG 5, EYSENCK’S ETC. </vt:lpstr>
      <vt:lpstr>PowerPoint Presentation</vt:lpstr>
      <vt:lpstr>THE IDEOGRAPHIC APPROACH: ASSUMPTIONS</vt:lpstr>
      <vt:lpstr>PROJECTIVE TESTS</vt:lpstr>
      <vt:lpstr>THEMATIC APPERCEPTION TEST</vt:lpstr>
      <vt:lpstr>THE RORSCHACH INKBLOT TEST</vt:lpstr>
      <vt:lpstr>Idiographic approach and organisations</vt:lpstr>
      <vt:lpstr>PowerPoint Presentation</vt:lpstr>
      <vt:lpstr>Dark Side of Personality </vt:lpstr>
      <vt:lpstr>Dark Side of Personality </vt:lpstr>
      <vt:lpstr>PowerPoint Presentation</vt:lpstr>
      <vt:lpstr>Debate: Does it change? </vt:lpstr>
      <vt:lpstr>Psychometrics</vt:lpstr>
      <vt:lpstr>What are Psychometric Tests? </vt:lpstr>
      <vt:lpstr> Essential Features</vt:lpstr>
      <vt:lpstr>Use of psychometrics</vt:lpstr>
      <vt:lpstr>Advantages</vt:lpstr>
      <vt:lpstr>Disadvantages</vt:lpstr>
      <vt:lpstr>Popularity of different selection methods (zibarras, and woods, 2010)</vt:lpstr>
      <vt:lpstr>PowerPoint Presentation</vt:lpstr>
      <vt:lpstr> Personality Testing</vt:lpstr>
      <vt:lpstr>Common Types of Personality Tests</vt:lpstr>
      <vt:lpstr>Personality Testing </vt:lpstr>
      <vt:lpstr>Examples: Personality Tests</vt:lpstr>
      <vt:lpstr>Examples: Personality Tests</vt:lpstr>
      <vt:lpstr>Examples: Personality Tests</vt:lpstr>
      <vt:lpstr>Examples: Personality Tests</vt:lpstr>
      <vt:lpstr>Choosing the Test</vt:lpstr>
      <vt:lpstr>Is testing appropriate? </vt:lpstr>
      <vt:lpstr>Professional Issues: Testing (see www.psychtesting.org.uk)</vt:lpstr>
      <vt:lpstr>Controversial Issues &amp;  Possible Problems</vt:lpstr>
      <vt:lpstr>Evaluating R &amp; S: An art in the Search of Science?</vt:lpstr>
      <vt:lpstr>Practicality</vt:lpstr>
      <vt:lpstr>http://www.shldirect.com/en/practice-tests</vt:lpstr>
      <vt:lpstr>Thank you for listening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Mary Kinahan</dc:creator>
  <cp:lastModifiedBy>Mary Kinahan</cp:lastModifiedBy>
  <cp:revision>217</cp:revision>
  <cp:lastPrinted>2015-12-03T13:20:30Z</cp:lastPrinted>
  <dcterms:created xsi:type="dcterms:W3CDTF">2015-09-13T13:05:11Z</dcterms:created>
  <dcterms:modified xsi:type="dcterms:W3CDTF">2023-11-23T13:48:52Z</dcterms:modified>
</cp:coreProperties>
</file>